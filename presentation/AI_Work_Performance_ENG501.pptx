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Slides 1-5)" id="{634685b7-f5ec-e893-8e3f-34eaaca150ac}">
          <p14:sldIdLst>
            <p14:sldId id="256"/>
            <p14:sldId id="257"/>
            <p14:sldId id="258"/>
            <p14:sldId id="259"/>
            <p14:sldId id="260"/>
          </p14:sldIdLst>
        </p14:section>
        <p14:section name="ภาษาไทย (Slides 6-10)" id="{a2d8bb49-f92f-f433-b64c-24a12a24b020}">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A4A"/>
                </a:solidFill>
                <a:latin typeface="Poppins"/>
              </a:defRPr>
            </a:pPr>
            <a:r>
              <a:rPr sz="900" b="0" i="0" u="none" strike="noStrike">
                <a:solidFill>
                  <a:srgbClr val="1B2A4A"/>
                </a:solidFill>
                <a:latin typeface="Poppins"/>
              </a:rPr>
              <a:t>Change for consultants using AI, tasks inside the frontier</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Poppins"/>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Tasks completed</c:v>
                  </c:pt>
                  <c:pt idx="1">
                    <c:v>Task speed</c:v>
                  </c:pt>
                  <c:pt idx="2">
                    <c:v>Quality</c:v>
                  </c:pt>
                  <c:pt idx="3">
                    <c:v>Below-average</c:v>
                  </c:pt>
                  <c:pt idx="4">
                    <c:v>Above-average</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Poppins"/>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6B7280"/>
                </a:solidFill>
                <a:latin typeface="Poppins"/>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A4A"/>
                </a:solidFill>
                <a:latin typeface="Prompt"/>
              </a:defRPr>
            </a:pPr>
            <a:r>
              <a:rPr sz="900" b="0" i="0" u="none" strike="noStrike">
                <a:solidFill>
                  <a:srgbClr val="1B2A4A"/>
                </a:solidFill>
                <a:latin typeface="Prompt"/>
              </a:rPr>
              <a:t>การเปลี่ยนแปลงของที่ปรึกษาที่ใช้ AI ในงานภายในพรมแดน</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Promp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งานที่ทำเสร็จ</c:v>
                  </c:pt>
                  <c:pt idx="1">
                    <c:v>ความเร็ว</c:v>
                  </c:pt>
                  <c:pt idx="2">
                    <c:v>คุณภาพ</c:v>
                  </c:pt>
                  <c:pt idx="3">
                    <c:v>กลุ่มต่ำกว่าค่าเฉลี่ย</c:v>
                  </c:pt>
                  <c:pt idx="4">
                    <c:v>กลุ่มสูงกว่าค่าเฉลี่ย</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Promp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6B7280"/>
                </a:solidFill>
                <a:latin typeface="Promp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_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_DARK_TH-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_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rtlCol="0"/>
          <a:lstStyle>
            <a:lvl1pPr algn="l" indent="0" marL="0">
              <a:buNone/>
              <a:defRPr lang="en-US" sz="3200" b="1" dirty="0">
                <a:solidFill>
                  <a:schemeClr val="bg1"/>
                </a:solidFill>
                <a:latin typeface="Poppins" pitchFamily="34" charset="0"/>
                <a:ea typeface="Poppins" pitchFamily="34" charset="-122"/>
                <a:cs typeface="Poppins" pitchFamily="34" charset="-120"/>
              </a:defRPr>
            </a:lvl1pPr>
          </a:lstStyle>
          <a:p>
            <a:pPr algn="l" indent="0" marL="0">
              <a:buNone/>
            </a:pP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rtlCol="0"/>
          <a:lstStyle>
            <a:lvl1pPr algn="l" indent="0" marL="0">
              <a:buNone/>
              <a:defRPr lang="en-US" sz="1400" dirty="0">
                <a:solidFill>
                  <a:schemeClr val="accent4"/>
                </a:solidFill>
                <a:latin typeface="Poppins" pitchFamily="34" charset="0"/>
                <a:ea typeface="Poppins" pitchFamily="34" charset="-122"/>
                <a:cs typeface="Poppins"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EN">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rtlCol="0"/>
          <a:lstStyle>
            <a:lvl1pPr algn="l" indent="0" marL="0">
              <a:buNone/>
              <a:defRPr lang="en-US" sz="1000" b="1" spc="150" kern="0" dirty="0">
                <a:solidFill>
                  <a:schemeClr val="accent1"/>
                </a:solidFill>
                <a:latin typeface="Poppins" pitchFamily="34" charset="0"/>
                <a:ea typeface="Poppins" pitchFamily="34" charset="-122"/>
                <a:cs typeface="Poppins" pitchFamily="34" charset="-120"/>
              </a:defRPr>
            </a:lvl1pPr>
          </a:lstStyle>
          <a:p>
            <a:pPr algn="l" indent="0" marL="0">
              <a:buNone/>
            </a:pP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rtlCol="0"/>
          <a:lstStyle>
            <a:lvl1pPr algn="l" indent="0" marL="0">
              <a:buNone/>
              <a:defRPr lang="en-US" sz="2600" b="1" dirty="0">
                <a:solidFill>
                  <a:schemeClr val="tx1"/>
                </a:solidFill>
                <a:latin typeface="Poppins" pitchFamily="34" charset="0"/>
                <a:ea typeface="Poppins" pitchFamily="34" charset="-122"/>
                <a:cs typeface="Poppins" pitchFamily="34" charset="-120"/>
              </a:defRPr>
            </a:lvl1pPr>
          </a:lstStyle>
          <a:p>
            <a:pPr algn="l" indent="0" marL="0">
              <a:buNone/>
            </a:pPr>
            <a:endParaRPr lang="en-US" sz="2600" dirty="0"/>
          </a:p>
        </p:txBody>
      </p:sp>
      <p:sp>
        <p:nvSpPr>
          <p:cNvPr id="4" name="Text 0"/>
          <p:cNvSpPr/>
          <p:nvPr/>
        </p:nvSpPr>
        <p:spPr>
          <a:xfrm>
            <a:off x="502920" y="4773168"/>
            <a:ext cx="5486400" cy="274320"/>
          </a:xfrm>
          <a:prstGeom prst="rect">
            <a:avLst/>
          </a:prstGeom>
          <a:noFill/>
          <a:ln/>
        </p:spPr>
        <p:txBody>
          <a:bodyPr wrap="square" lIns="0" tIns="0" rIns="0" bIns="0" rtlCol="0" anchor="ctr"/>
          <a:lstStyle/>
          <a:p>
            <a:pPr indent="0" marL="0">
              <a:buNone/>
            </a:pPr>
            <a:r>
              <a:rPr lang="en-US" sz="850" dirty="0">
                <a:solidFill>
                  <a:srgbClr val="A3ADBB"/>
                </a:solidFill>
                <a:latin typeface="Poppins" pitchFamily="34" charset="0"/>
                <a:ea typeface="Poppins" pitchFamily="34" charset="-122"/>
                <a:cs typeface="Poppins" pitchFamily="34" charset="-120"/>
              </a:rPr>
              <a:t>Chayanun Sungsa-ard  ·  691401708  ·  MBA  ·  ENG 501</a:t>
            </a:r>
            <a:endParaRPr lang="en-US" sz="85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_T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rtlCol="0"/>
          <a:lstStyle>
            <a:lvl1pPr algn="l" indent="0" marL="0">
              <a:buNone/>
              <a:defRPr lang="en-US" sz="3200" b="1" dirty="0">
                <a:solidFill>
                  <a:schemeClr val="bg1"/>
                </a:solidFill>
                <a:latin typeface="Prompt" pitchFamily="34" charset="0"/>
                <a:ea typeface="Prompt" pitchFamily="34" charset="-122"/>
                <a:cs typeface="Prompt" pitchFamily="34" charset="-120"/>
              </a:defRPr>
            </a:lvl1pPr>
          </a:lstStyle>
          <a:p>
            <a:pPr algn="l" indent="0" marL="0">
              <a:buNone/>
            </a:pP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rtlCol="0"/>
          <a:lstStyle>
            <a:lvl1pPr algn="l" indent="0" marL="0">
              <a:buNone/>
              <a:defRPr lang="en-US" sz="1400" dirty="0">
                <a:solidFill>
                  <a:schemeClr val="accent4"/>
                </a:solidFill>
                <a:latin typeface="Prompt" pitchFamily="34" charset="0"/>
                <a:ea typeface="Prompt" pitchFamily="34" charset="-122"/>
                <a:cs typeface="Prompt"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rompt"/>
                <a:ea typeface="Prompt"/>
                <a:cs typeface="Prompt"/>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TH">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rtlCol="0"/>
          <a:lstStyle>
            <a:lvl1pPr algn="l" indent="0" marL="0">
              <a:buNone/>
              <a:defRPr lang="en-US" sz="1000" b="1" spc="150" kern="0" dirty="0">
                <a:solidFill>
                  <a:schemeClr val="accent1"/>
                </a:solidFill>
                <a:latin typeface="Prompt" pitchFamily="34" charset="0"/>
                <a:ea typeface="Prompt" pitchFamily="34" charset="-122"/>
                <a:cs typeface="Prompt" pitchFamily="34" charset="-120"/>
              </a:defRPr>
            </a:lvl1pPr>
          </a:lstStyle>
          <a:p>
            <a:pPr algn="l" indent="0" marL="0">
              <a:buNone/>
            </a:pP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rtlCol="0"/>
          <a:lstStyle>
            <a:lvl1pPr algn="l" indent="0" marL="0">
              <a:buNone/>
              <a:defRPr lang="en-US" sz="2600" b="1" dirty="0">
                <a:solidFill>
                  <a:schemeClr val="tx1"/>
                </a:solidFill>
                <a:latin typeface="Prompt" pitchFamily="34" charset="0"/>
                <a:ea typeface="Prompt" pitchFamily="34" charset="-122"/>
                <a:cs typeface="Prompt" pitchFamily="34" charset="-120"/>
              </a:defRPr>
            </a:lvl1pPr>
          </a:lstStyle>
          <a:p>
            <a:pPr algn="l" indent="0" marL="0">
              <a:buNone/>
            </a:pPr>
            <a:endParaRPr lang="en-US" sz="2600" dirty="0"/>
          </a:p>
        </p:txBody>
      </p:sp>
      <p:sp>
        <p:nvSpPr>
          <p:cNvPr id="4" name="Text 0"/>
          <p:cNvSpPr/>
          <p:nvPr/>
        </p:nvSpPr>
        <p:spPr>
          <a:xfrm>
            <a:off x="502920" y="4773168"/>
            <a:ext cx="5486400" cy="274320"/>
          </a:xfrm>
          <a:prstGeom prst="rect">
            <a:avLst/>
          </a:prstGeom>
          <a:noFill/>
          <a:ln/>
        </p:spPr>
        <p:txBody>
          <a:bodyPr wrap="square" lIns="0" tIns="0" rIns="0" bIns="0" rtlCol="0" anchor="ctr"/>
          <a:lstStyle/>
          <a:p>
            <a:pPr indent="0" marL="0">
              <a:buNone/>
            </a:pPr>
            <a:r>
              <a:rPr lang="en-US" sz="850" dirty="0">
                <a:solidFill>
                  <a:srgbClr val="A3ADBB"/>
                </a:solidFill>
                <a:latin typeface="Prompt" pitchFamily="34" charset="0"/>
                <a:ea typeface="Prompt" pitchFamily="34" charset="-122"/>
                <a:cs typeface="Prompt" pitchFamily="34" charset="-120"/>
              </a:rPr>
              <a:t>Chayanun Sungsa-ard  ·  691401708  ·  MBA  ·  ENG 501</a:t>
            </a:r>
            <a:endParaRPr lang="en-US" sz="85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5.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5.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5.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oppins" pitchFamily="34" charset="0"/>
                <a:ea typeface="Poppins" pitchFamily="34" charset="-122"/>
                <a:cs typeface="Poppins" pitchFamily="34" charset="-120"/>
              </a:rPr>
              <a:t>Artificial Intelligence and Work Performance</a:t>
            </a: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oppins" pitchFamily="34" charset="0"/>
                <a:ea typeface="Poppins" pitchFamily="34" charset="-122"/>
                <a:cs typeface="Poppins" pitchFamily="34" charset="-120"/>
              </a:rPr>
              <a:t>Evidence from two recent field experiments</a:t>
            </a:r>
            <a:endParaRPr lang="en-US" sz="1400" dirty="0"/>
          </a:p>
        </p:txBody>
      </p:sp>
      <p:pic>
        <p:nvPicPr>
          <p:cNvPr id="4" name="mascot waving" descr="preencoded.png">    </p:cNvPr>
          <p:cNvPicPr>
            <a:picLocks noChangeAspect="1"/>
          </p:cNvPicPr>
          <p:nvPr/>
        </p:nvPicPr>
        <p:blipFill>
          <a:blip r:embed="rId1"/>
          <a:stretch>
            <a:fillRect/>
          </a:stretch>
        </p:blipFill>
        <p:spPr>
          <a:xfrm>
            <a:off x="6858000" y="320040"/>
            <a:ext cx="1920240" cy="1664208"/>
          </a:xfrm>
          <a:prstGeom prst="rect">
            <a:avLst/>
          </a:prstGeom>
        </p:spPr>
      </p:pic>
      <p:sp>
        <p:nvSpPr>
          <p:cNvPr id="5" name="central question"/>
          <p:cNvSpPr txBox="1"/>
          <p:nvPr/>
        </p:nvSpPr>
        <p:spPr>
          <a:xfrm>
            <a:off x="502920" y="1938528"/>
            <a:ext cx="813816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How does AI affect productivity, work quality, and business performance?</a:t>
            </a:r>
            <a:endParaRPr lang="en-US" sz="1300" dirty="0"/>
          </a:p>
        </p:txBody>
      </p:sp>
      <p:sp>
        <p:nvSpPr>
          <p:cNvPr id="6" name="article card 1"/>
          <p:cNvSpPr/>
          <p:nvPr/>
        </p:nvSpPr>
        <p:spPr>
          <a:xfrm>
            <a:off x="502920" y="2432304"/>
            <a:ext cx="3931920" cy="1261872"/>
          </a:xfrm>
          <a:prstGeom prst="roundRect">
            <a:avLst>
              <a:gd name="adj" fmla="val 8696"/>
            </a:avLst>
          </a:prstGeom>
          <a:solidFill>
            <a:srgbClr val="2A3D63"/>
          </a:solidFill>
          <a:ln w="12700">
            <a:solidFill>
              <a:srgbClr val="2A3D63"/>
            </a:solidFill>
            <a:prstDash val="solid"/>
          </a:ln>
        </p:spPr>
      </p:sp>
      <p:sp>
        <p:nvSpPr>
          <p:cNvPr id="7" name="article label"/>
          <p:cNvSpPr txBox="1"/>
          <p:nvPr/>
        </p:nvSpPr>
        <p:spPr>
          <a:xfrm>
            <a:off x="704088" y="2542032"/>
            <a:ext cx="3529584" cy="201168"/>
          </a:xfrm>
          <a:prstGeom prst="rect">
            <a:avLst/>
          </a:prstGeom>
          <a:noFill/>
          <a:ln/>
        </p:spPr>
        <p:txBody>
          <a:bodyPr wrap="square" lIns="0" tIns="0" rIns="0" bIns="0" rtlCol="0" anchor="ctr"/>
          <a:lstStyle/>
          <a:p>
            <a:pPr indent="0" marL="0">
              <a:buNone/>
            </a:pPr>
            <a:r>
              <a:rPr lang="en-US" sz="850" b="1" spc="150" kern="0" dirty="0">
                <a:solidFill>
                  <a:srgbClr val="BFE6E0"/>
                </a:solidFill>
                <a:latin typeface="Poppins" pitchFamily="34" charset="0"/>
                <a:ea typeface="Poppins" pitchFamily="34" charset="-122"/>
                <a:cs typeface="Poppins" pitchFamily="34" charset="-120"/>
              </a:rPr>
              <a:t>Article 2</a:t>
            </a:r>
            <a:endParaRPr lang="en-US" sz="850" dirty="0"/>
          </a:p>
        </p:txBody>
      </p:sp>
      <p:sp>
        <p:nvSpPr>
          <p:cNvPr id="8" name="article title"/>
          <p:cNvSpPr txBox="1"/>
          <p:nvPr/>
        </p:nvSpPr>
        <p:spPr>
          <a:xfrm>
            <a:off x="704088" y="2761488"/>
            <a:ext cx="3529584" cy="603504"/>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50" dirty="0"/>
          </a:p>
        </p:txBody>
      </p:sp>
      <p:sp>
        <p:nvSpPr>
          <p:cNvPr id="9" name="article meta"/>
          <p:cNvSpPr txBox="1"/>
          <p:nvPr/>
        </p:nvSpPr>
        <p:spPr>
          <a:xfrm>
            <a:off x="704088" y="3364992"/>
            <a:ext cx="3529584" cy="292608"/>
          </a:xfrm>
          <a:prstGeom prst="rect">
            <a:avLst/>
          </a:prstGeom>
          <a:noFill/>
          <a:ln/>
        </p:spPr>
        <p:txBody>
          <a:bodyPr wrap="square" lIns="0" tIns="0" rIns="0" bIns="0" rtlCol="0" anchor="t"/>
          <a:lstStyle/>
          <a:p>
            <a:pPr indent="0" marL="0">
              <a:buNone/>
            </a:pPr>
            <a:r>
              <a:rPr lang="en-US" sz="75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750" dirty="0"/>
          </a:p>
        </p:txBody>
      </p:sp>
      <p:sp>
        <p:nvSpPr>
          <p:cNvPr id="10" name="article card 2"/>
          <p:cNvSpPr/>
          <p:nvPr/>
        </p:nvSpPr>
        <p:spPr>
          <a:xfrm>
            <a:off x="4709160" y="2432304"/>
            <a:ext cx="3931920" cy="1261872"/>
          </a:xfrm>
          <a:prstGeom prst="roundRect">
            <a:avLst>
              <a:gd name="adj" fmla="val 8696"/>
            </a:avLst>
          </a:prstGeom>
          <a:solidFill>
            <a:srgbClr val="2A3D63"/>
          </a:solidFill>
          <a:ln w="12700">
            <a:solidFill>
              <a:srgbClr val="2A3D63"/>
            </a:solidFill>
            <a:prstDash val="solid"/>
          </a:ln>
        </p:spPr>
      </p:sp>
      <p:sp>
        <p:nvSpPr>
          <p:cNvPr id="11" name="article label"/>
          <p:cNvSpPr txBox="1"/>
          <p:nvPr/>
        </p:nvSpPr>
        <p:spPr>
          <a:xfrm>
            <a:off x="4910328" y="2542032"/>
            <a:ext cx="3529584" cy="201168"/>
          </a:xfrm>
          <a:prstGeom prst="rect">
            <a:avLst/>
          </a:prstGeom>
          <a:noFill/>
          <a:ln/>
        </p:spPr>
        <p:txBody>
          <a:bodyPr wrap="square" lIns="0" tIns="0" rIns="0" bIns="0" rtlCol="0" anchor="ctr"/>
          <a:lstStyle/>
          <a:p>
            <a:pPr indent="0" marL="0">
              <a:buNone/>
            </a:pPr>
            <a:r>
              <a:rPr lang="en-US" sz="850" b="1" spc="150" kern="0" dirty="0">
                <a:solidFill>
                  <a:srgbClr val="BFE6E0"/>
                </a:solidFill>
                <a:latin typeface="Poppins" pitchFamily="34" charset="0"/>
                <a:ea typeface="Poppins" pitchFamily="34" charset="-122"/>
                <a:cs typeface="Poppins" pitchFamily="34" charset="-120"/>
              </a:rPr>
              <a:t>Article 5</a:t>
            </a:r>
            <a:endParaRPr lang="en-US" sz="850" dirty="0"/>
          </a:p>
        </p:txBody>
      </p:sp>
      <p:sp>
        <p:nvSpPr>
          <p:cNvPr id="12" name="article title"/>
          <p:cNvSpPr txBox="1"/>
          <p:nvPr/>
        </p:nvSpPr>
        <p:spPr>
          <a:xfrm>
            <a:off x="4910328" y="2761488"/>
            <a:ext cx="3529584" cy="603504"/>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50" dirty="0"/>
          </a:p>
        </p:txBody>
      </p:sp>
      <p:sp>
        <p:nvSpPr>
          <p:cNvPr id="13" name="article meta"/>
          <p:cNvSpPr txBox="1"/>
          <p:nvPr/>
        </p:nvSpPr>
        <p:spPr>
          <a:xfrm>
            <a:off x="4910328" y="3364992"/>
            <a:ext cx="3529584" cy="292608"/>
          </a:xfrm>
          <a:prstGeom prst="rect">
            <a:avLst/>
          </a:prstGeom>
          <a:noFill/>
          <a:ln/>
        </p:spPr>
        <p:txBody>
          <a:bodyPr wrap="square" lIns="0" tIns="0" rIns="0" bIns="0" rtlCol="0" anchor="t"/>
          <a:lstStyle/>
          <a:p>
            <a:pPr indent="0" marL="0">
              <a:buNone/>
            </a:pPr>
            <a:r>
              <a:rPr lang="en-US" sz="75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750" dirty="0"/>
          </a:p>
        </p:txBody>
      </p:sp>
      <p:sp>
        <p:nvSpPr>
          <p:cNvPr id="14" name="roadmap head"/>
          <p:cNvSpPr txBox="1"/>
          <p:nvPr/>
        </p:nvSpPr>
        <p:spPr>
          <a:xfrm>
            <a:off x="502920" y="3840480"/>
            <a:ext cx="1051560" cy="256032"/>
          </a:xfrm>
          <a:prstGeom prst="rect">
            <a:avLst/>
          </a:prstGeom>
          <a:noFill/>
          <a:ln/>
        </p:spPr>
        <p:txBody>
          <a:bodyPr wrap="square" lIns="0" tIns="0" rIns="0" bIns="0" rtlCol="0" anchor="ctr"/>
          <a:lstStyle/>
          <a:p>
            <a:pPr indent="0" marL="0">
              <a:buNone/>
            </a:pPr>
            <a:r>
              <a:rPr lang="en-US" sz="850" b="1" dirty="0">
                <a:solidFill>
                  <a:srgbClr val="BFE6E0"/>
                </a:solidFill>
                <a:latin typeface="Poppins" pitchFamily="34" charset="0"/>
                <a:ea typeface="Poppins" pitchFamily="34" charset="-122"/>
                <a:cs typeface="Poppins" pitchFamily="34" charset="-120"/>
              </a:rPr>
              <a:t>Today's path</a:t>
            </a:r>
            <a:endParaRPr lang="en-US" sz="850" dirty="0"/>
          </a:p>
        </p:txBody>
      </p:sp>
      <p:sp>
        <p:nvSpPr>
          <p:cNvPr id="15" name="roadmap chip 1"/>
          <p:cNvSpPr/>
          <p:nvPr/>
        </p:nvSpPr>
        <p:spPr>
          <a:xfrm>
            <a:off x="1645920" y="3840480"/>
            <a:ext cx="1325880" cy="256032"/>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4592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1  Introduction</a:t>
            </a:r>
            <a:endParaRPr lang="en-US" sz="750" dirty="0"/>
          </a:p>
        </p:txBody>
      </p:sp>
      <p:sp>
        <p:nvSpPr>
          <p:cNvPr id="17" name="roadmap chip 2"/>
          <p:cNvSpPr/>
          <p:nvPr/>
        </p:nvSpPr>
        <p:spPr>
          <a:xfrm>
            <a:off x="3063240" y="3840480"/>
            <a:ext cx="1325880" cy="256032"/>
          </a:xfrm>
          <a:prstGeom prst="roundRect">
            <a:avLst>
              <a:gd name="adj" fmla="val 50000"/>
            </a:avLst>
          </a:prstGeom>
          <a:solidFill>
            <a:srgbClr val="2A3D63"/>
          </a:solidFill>
          <a:ln w="12700">
            <a:solidFill>
              <a:srgbClr val="2A3D63"/>
            </a:solidFill>
            <a:prstDash val="solid"/>
          </a:ln>
        </p:spPr>
      </p:sp>
      <p:sp>
        <p:nvSpPr>
          <p:cNvPr id="18" name="roadmap chip text"/>
          <p:cNvSpPr txBox="1"/>
          <p:nvPr/>
        </p:nvSpPr>
        <p:spPr>
          <a:xfrm>
            <a:off x="306324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2  Article 2: Method</a:t>
            </a:r>
            <a:endParaRPr lang="en-US" sz="750" dirty="0"/>
          </a:p>
        </p:txBody>
      </p:sp>
      <p:sp>
        <p:nvSpPr>
          <p:cNvPr id="19" name="roadmap chip 3"/>
          <p:cNvSpPr/>
          <p:nvPr/>
        </p:nvSpPr>
        <p:spPr>
          <a:xfrm>
            <a:off x="4480560" y="3840480"/>
            <a:ext cx="1325880" cy="256032"/>
          </a:xfrm>
          <a:prstGeom prst="roundRect">
            <a:avLst>
              <a:gd name="adj" fmla="val 50000"/>
            </a:avLst>
          </a:prstGeom>
          <a:solidFill>
            <a:srgbClr val="2A3D63"/>
          </a:solidFill>
          <a:ln w="12700">
            <a:solidFill>
              <a:srgbClr val="2A3D63"/>
            </a:solidFill>
            <a:prstDash val="solid"/>
          </a:ln>
        </p:spPr>
      </p:sp>
      <p:sp>
        <p:nvSpPr>
          <p:cNvPr id="20" name="roadmap chip text"/>
          <p:cNvSpPr txBox="1"/>
          <p:nvPr/>
        </p:nvSpPr>
        <p:spPr>
          <a:xfrm>
            <a:off x="448056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3  Article 2: Findings</a:t>
            </a:r>
            <a:endParaRPr lang="en-US" sz="750" dirty="0"/>
          </a:p>
        </p:txBody>
      </p:sp>
      <p:sp>
        <p:nvSpPr>
          <p:cNvPr id="21" name="roadmap chip 4"/>
          <p:cNvSpPr/>
          <p:nvPr/>
        </p:nvSpPr>
        <p:spPr>
          <a:xfrm>
            <a:off x="5897880" y="3840480"/>
            <a:ext cx="1325880" cy="256032"/>
          </a:xfrm>
          <a:prstGeom prst="roundRect">
            <a:avLst>
              <a:gd name="adj" fmla="val 50000"/>
            </a:avLst>
          </a:prstGeom>
          <a:solidFill>
            <a:srgbClr val="2A3D63"/>
          </a:solidFill>
          <a:ln w="12700">
            <a:solidFill>
              <a:srgbClr val="2A3D63"/>
            </a:solidFill>
            <a:prstDash val="solid"/>
          </a:ln>
        </p:spPr>
      </p:sp>
      <p:sp>
        <p:nvSpPr>
          <p:cNvPr id="22" name="roadmap chip text"/>
          <p:cNvSpPr txBox="1"/>
          <p:nvPr/>
        </p:nvSpPr>
        <p:spPr>
          <a:xfrm>
            <a:off x="589788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4  Article 5: Entrepreneurs</a:t>
            </a:r>
            <a:endParaRPr lang="en-US" sz="750" dirty="0"/>
          </a:p>
        </p:txBody>
      </p:sp>
      <p:sp>
        <p:nvSpPr>
          <p:cNvPr id="23" name="roadmap chip 5"/>
          <p:cNvSpPr/>
          <p:nvPr/>
        </p:nvSpPr>
        <p:spPr>
          <a:xfrm>
            <a:off x="7315200" y="3840480"/>
            <a:ext cx="1325880" cy="256032"/>
          </a:xfrm>
          <a:prstGeom prst="roundRect">
            <a:avLst>
              <a:gd name="adj" fmla="val 50000"/>
            </a:avLst>
          </a:prstGeom>
          <a:solidFill>
            <a:srgbClr val="2A3D63"/>
          </a:solidFill>
          <a:ln w="12700">
            <a:solidFill>
              <a:srgbClr val="2A3D63"/>
            </a:solidFill>
            <a:prstDash val="solid"/>
          </a:ln>
        </p:spPr>
      </p:sp>
      <p:sp>
        <p:nvSpPr>
          <p:cNvPr id="24" name="roadmap chip text"/>
          <p:cNvSpPr txBox="1"/>
          <p:nvPr/>
        </p:nvSpPr>
        <p:spPr>
          <a:xfrm>
            <a:off x="731520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5  Discussion</a:t>
            </a:r>
            <a:endParaRPr lang="en-US" sz="750" dirty="0"/>
          </a:p>
        </p:txBody>
      </p:sp>
      <p:sp>
        <p:nvSpPr>
          <p:cNvPr id="25" name="presenter"/>
          <p:cNvSpPr txBox="1"/>
          <p:nvPr/>
        </p:nvSpPr>
        <p:spPr>
          <a:xfrm>
            <a:off x="502920" y="4261104"/>
            <a:ext cx="8138160" cy="457200"/>
          </a:xfrm>
          <a:prstGeom prst="rect">
            <a:avLst/>
          </a:prstGeom>
          <a:noFill/>
          <a:ln/>
        </p:spPr>
        <p:txBody>
          <a:bodyPr wrap="square" lIns="0" tIns="0" rIns="0" bIns="0" rtlCol="0" anchor="t"/>
          <a:lstStyle/>
          <a:p>
            <a:pPr indent="0" marL="0">
              <a:buNone/>
            </a:pPr>
            <a:r>
              <a:rPr lang="en-US" sz="1100" b="1" dirty="0">
                <a:solidFill>
                  <a:srgbClr val="FFFFFF"/>
                </a:solidFill>
                <a:latin typeface="Poppins" pitchFamily="34" charset="0"/>
                <a:ea typeface="Poppins" pitchFamily="34" charset="-122"/>
                <a:cs typeface="Poppins" pitchFamily="34" charset="-120"/>
              </a:rPr>
              <a:t>Chayanun Sungsa-ard</a:t>
            </a:r>
            <a:endParaRPr lang="en-US" sz="1100" dirty="0"/>
          </a:p>
          <a:p>
            <a:pPr indent="0" marL="0">
              <a:buNone/>
            </a:pPr>
            <a:r>
              <a:rPr lang="en-US" sz="900" dirty="0">
                <a:solidFill>
                  <a:srgbClr val="BFE6E0"/>
                </a:solidFill>
                <a:latin typeface="Poppins" pitchFamily="34" charset="0"/>
                <a:ea typeface="Poppins" pitchFamily="34" charset="-122"/>
                <a:cs typeface="Poppins" pitchFamily="34" charset="-120"/>
              </a:rPr>
              <a:t>Student ID 691401708  ·  MBA  ·  ENG 501 English for Master's Degree</a:t>
            </a:r>
            <a:endParaRPr lang="en-US" sz="11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2  ·  Research purpose and method</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Navigating the Jagged Technological Frontier</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2E8B86"/>
          </a:solidFill>
          <a:ln w="12700">
            <a:solidFill>
              <a:srgbClr val="2E8B86"/>
            </a:solidFill>
            <a:prstDash val="solid"/>
          </a:ln>
        </p:spPr>
      </p:sp>
      <p:sp>
        <p:nvSpPr>
          <p:cNvPr id="6" name="progress dot 3"/>
          <p:cNvSpPr/>
          <p:nvPr/>
        </p:nvSpPr>
        <p:spPr>
          <a:xfrm>
            <a:off x="8174736" y="342900"/>
            <a:ext cx="100584" cy="100584"/>
          </a:xfrm>
          <a:prstGeom prst="ellipse">
            <a:avLst/>
          </a:prstGeom>
          <a:solidFill>
            <a:srgbClr val="E3E8EE"/>
          </a:solidFill>
          <a:ln w="12700">
            <a:solidFill>
              <a:srgbClr val="E3E8EE"/>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2 / 5</a:t>
            </a:r>
            <a:endParaRPr lang="en-US" sz="8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Briefcase"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Partner"/>
          <p:cNvSpPr txBox="1"/>
          <p:nvPr/>
        </p:nvSpPr>
        <p:spPr>
          <a:xfrm>
            <a:off x="1005840" y="1435608"/>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Partner</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Field experiment with Boston Consulting Group (BCG)</a:t>
            </a:r>
            <a:endParaRPr lang="en-US" sz="11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Users"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Participants"/>
          <p:cNvSpPr txBox="1"/>
          <p:nvPr/>
        </p:nvSpPr>
        <p:spPr>
          <a:xfrm>
            <a:off x="1005840" y="2020824"/>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Participants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758 consultants</a:t>
            </a:r>
            <a:endParaRPr lang="en-US" sz="11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Target"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Focus"/>
          <p:cNvSpPr txBox="1"/>
          <p:nvPr/>
        </p:nvSpPr>
        <p:spPr>
          <a:xfrm>
            <a:off x="1005840" y="2606040"/>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Focus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Productivity, work quality, and the limits of AI</a:t>
            </a:r>
            <a:endParaRPr lang="en-US" sz="1100" dirty="0"/>
          </a:p>
        </p:txBody>
      </p:sp>
      <p:sp>
        <p:nvSpPr>
          <p:cNvPr id="19" name="conditions head"/>
          <p:cNvSpPr txBox="1"/>
          <p:nvPr/>
        </p:nvSpPr>
        <p:spPr>
          <a:xfrm>
            <a:off x="502920" y="3273552"/>
            <a:ext cx="3931920" cy="237744"/>
          </a:xfrm>
          <a:prstGeom prst="rect">
            <a:avLst/>
          </a:prstGeom>
          <a:noFill/>
          <a:ln/>
        </p:spPr>
        <p:txBody>
          <a:bodyPr wrap="square" lIns="0" tIns="0" rIns="0" bIns="0" rtlCol="0" anchor="ctr"/>
          <a:lstStyle/>
          <a:p>
            <a:pPr indent="0" marL="0">
              <a:buNone/>
            </a:pPr>
            <a:r>
              <a:rPr lang="en-US" sz="1050" b="1" dirty="0">
                <a:solidFill>
                  <a:schemeClr val="tx1"/>
                </a:solidFill>
                <a:latin typeface="Poppins" pitchFamily="34" charset="0"/>
                <a:ea typeface="Poppins" pitchFamily="34" charset="-122"/>
                <a:cs typeface="Poppins" pitchFamily="34" charset="-120"/>
              </a:rPr>
              <a:t>Three experimental conditions</a:t>
            </a:r>
            <a:endParaRPr lang="en-US" sz="1050" dirty="0"/>
          </a:p>
        </p:txBody>
      </p:sp>
      <p:sp>
        <p:nvSpPr>
          <p:cNvPr id="20" name="condition 1"/>
          <p:cNvSpPr/>
          <p:nvPr/>
        </p:nvSpPr>
        <p:spPr>
          <a:xfrm>
            <a:off x="502920" y="3566160"/>
            <a:ext cx="1219200" cy="749808"/>
          </a:xfrm>
          <a:prstGeom prst="roundRect">
            <a:avLst>
              <a:gd name="adj" fmla="val 14634"/>
            </a:avLst>
          </a:prstGeom>
          <a:solidFill>
            <a:srgbClr val="F3F5F8"/>
          </a:solidFill>
          <a:ln w="12700">
            <a:solidFill>
              <a:srgbClr val="F3F5F8"/>
            </a:solidFill>
            <a:prstDash val="solid"/>
          </a:ln>
        </p:spPr>
      </p:sp>
      <p:sp>
        <p:nvSpPr>
          <p:cNvPr id="21" name="condition number"/>
          <p:cNvSpPr txBox="1"/>
          <p:nvPr/>
        </p:nvSpPr>
        <p:spPr>
          <a:xfrm>
            <a:off x="61264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22" name="condition text"/>
          <p:cNvSpPr txBox="1"/>
          <p:nvPr/>
        </p:nvSpPr>
        <p:spPr>
          <a:xfrm>
            <a:off x="612648" y="3840480"/>
            <a:ext cx="999744" cy="438912"/>
          </a:xfrm>
          <a:prstGeom prst="rect">
            <a:avLst/>
          </a:prstGeom>
          <a:noFill/>
          <a:ln/>
        </p:spPr>
        <p:txBody>
          <a:bodyPr wrap="square" lIns="0" tIns="0" rIns="0" bIns="0" rtlCol="0" anchor="t"/>
          <a:lstStyle/>
          <a:p>
            <a:pPr indent="0" marL="0">
              <a:buNone/>
            </a:pPr>
            <a:r>
              <a:rPr lang="en-US" sz="850" dirty="0">
                <a:solidFill>
                  <a:schemeClr val="tx1"/>
                </a:solidFill>
                <a:latin typeface="Poppins" pitchFamily="34" charset="0"/>
                <a:ea typeface="Poppins" pitchFamily="34" charset="-122"/>
                <a:cs typeface="Poppins" pitchFamily="34" charset="-120"/>
              </a:rPr>
              <a:t>No AI access</a:t>
            </a:r>
            <a:endParaRPr lang="en-US" sz="850" dirty="0"/>
          </a:p>
        </p:txBody>
      </p:sp>
      <p:sp>
        <p:nvSpPr>
          <p:cNvPr id="23" name="condition 2"/>
          <p:cNvSpPr/>
          <p:nvPr/>
        </p:nvSpPr>
        <p:spPr>
          <a:xfrm>
            <a:off x="1859280" y="3566160"/>
            <a:ext cx="1219200" cy="749808"/>
          </a:xfrm>
          <a:prstGeom prst="roundRect">
            <a:avLst>
              <a:gd name="adj" fmla="val 14634"/>
            </a:avLst>
          </a:prstGeom>
          <a:solidFill>
            <a:srgbClr val="F3F5F8"/>
          </a:solidFill>
          <a:ln w="12700">
            <a:solidFill>
              <a:srgbClr val="F3F5F8"/>
            </a:solidFill>
            <a:prstDash val="solid"/>
          </a:ln>
        </p:spPr>
      </p:sp>
      <p:sp>
        <p:nvSpPr>
          <p:cNvPr id="24" name="condition number"/>
          <p:cNvSpPr txBox="1"/>
          <p:nvPr/>
        </p:nvSpPr>
        <p:spPr>
          <a:xfrm>
            <a:off x="196900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25" name="condition text"/>
          <p:cNvSpPr txBox="1"/>
          <p:nvPr/>
        </p:nvSpPr>
        <p:spPr>
          <a:xfrm>
            <a:off x="1969008" y="3840480"/>
            <a:ext cx="999744" cy="438912"/>
          </a:xfrm>
          <a:prstGeom prst="rect">
            <a:avLst/>
          </a:prstGeom>
          <a:noFill/>
          <a:ln/>
        </p:spPr>
        <p:txBody>
          <a:bodyPr wrap="square" lIns="0" tIns="0" rIns="0" bIns="0" rtlCol="0" anchor="t"/>
          <a:lstStyle/>
          <a:p>
            <a:pPr indent="0" marL="0">
              <a:buNone/>
            </a:pPr>
            <a:r>
              <a:rPr lang="en-US" sz="850" dirty="0">
                <a:solidFill>
                  <a:schemeClr val="tx1"/>
                </a:solidFill>
                <a:latin typeface="Poppins" pitchFamily="34" charset="0"/>
                <a:ea typeface="Poppins" pitchFamily="34" charset="-122"/>
                <a:cs typeface="Poppins" pitchFamily="34" charset="-120"/>
              </a:rPr>
              <a:t>GPT-4 access</a:t>
            </a:r>
            <a:endParaRPr lang="en-US" sz="850" dirty="0"/>
          </a:p>
        </p:txBody>
      </p:sp>
      <p:sp>
        <p:nvSpPr>
          <p:cNvPr id="26" name="condition 3"/>
          <p:cNvSpPr/>
          <p:nvPr/>
        </p:nvSpPr>
        <p:spPr>
          <a:xfrm>
            <a:off x="3215640" y="3566160"/>
            <a:ext cx="1219200" cy="749808"/>
          </a:xfrm>
          <a:prstGeom prst="roundRect">
            <a:avLst>
              <a:gd name="adj" fmla="val 14634"/>
            </a:avLst>
          </a:prstGeom>
          <a:solidFill>
            <a:srgbClr val="1B2A4A"/>
          </a:solidFill>
          <a:ln w="12700">
            <a:solidFill>
              <a:srgbClr val="1B2A4A"/>
            </a:solidFill>
            <a:prstDash val="solid"/>
          </a:ln>
        </p:spPr>
      </p:sp>
      <p:sp>
        <p:nvSpPr>
          <p:cNvPr id="27" name="condition number"/>
          <p:cNvSpPr txBox="1"/>
          <p:nvPr/>
        </p:nvSpPr>
        <p:spPr>
          <a:xfrm>
            <a:off x="3325368" y="3611880"/>
            <a:ext cx="274320" cy="237744"/>
          </a:xfrm>
          <a:prstGeom prst="rect">
            <a:avLst/>
          </a:prstGeom>
          <a:noFill/>
          <a:ln/>
        </p:spPr>
        <p:txBody>
          <a:bodyPr wrap="square" lIns="0" tIns="0" rIns="0" bIns="0" rtlCol="0" anchor="ctr"/>
          <a:lstStyle/>
          <a:p>
            <a:pPr indent="0" marL="0">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8" name="condition text"/>
          <p:cNvSpPr txBox="1"/>
          <p:nvPr/>
        </p:nvSpPr>
        <p:spPr>
          <a:xfrm>
            <a:off x="3325368" y="3840480"/>
            <a:ext cx="999744" cy="438912"/>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GPT-4 + prompt engineering guidance</a:t>
            </a:r>
            <a:endParaRPr lang="en-US" sz="850" dirty="0"/>
          </a:p>
        </p:txBody>
      </p:sp>
      <p:sp>
        <p:nvSpPr>
          <p:cNvPr id="29" name="divider"/>
          <p:cNvSpPr/>
          <p:nvPr/>
        </p:nvSpPr>
        <p:spPr>
          <a:xfrm>
            <a:off x="4663440" y="1481328"/>
            <a:ext cx="0" cy="0"/>
          </a:xfrm>
          <a:prstGeom prst="line">
            <a:avLst/>
          </a:prstGeom>
          <a:noFill/>
          <a:ln w="9525">
            <a:solidFill>
              <a:srgbClr val="E3E8EE"/>
            </a:solidFill>
            <a:prstDash val="solid"/>
          </a:ln>
        </p:spPr>
      </p:sp>
      <p:sp>
        <p:nvSpPr>
          <p:cNvPr id="30" name="column divider"/>
          <p:cNvSpPr/>
          <p:nvPr/>
        </p:nvSpPr>
        <p:spPr>
          <a:xfrm>
            <a:off x="4663440" y="1481328"/>
            <a:ext cx="0" cy="2834640"/>
          </a:xfrm>
          <a:prstGeom prst="line">
            <a:avLst/>
          </a:prstGeom>
          <a:noFill/>
          <a:ln w="9525">
            <a:solidFill>
              <a:srgbClr val="E3E8EE"/>
            </a:solidFill>
            <a:prstDash val="solid"/>
          </a:ln>
        </p:spPr>
      </p:sp>
      <p:sp>
        <p:nvSpPr>
          <p:cNvPr id="31" name="tag concept"/>
          <p:cNvSpPr/>
          <p:nvPr/>
        </p:nvSpPr>
        <p:spPr>
          <a:xfrm>
            <a:off x="4892040" y="1481328"/>
            <a:ext cx="1143000" cy="201168"/>
          </a:xfrm>
          <a:prstGeom prst="roundRect">
            <a:avLst>
              <a:gd name="adj" fmla="val 50000"/>
            </a:avLst>
          </a:prstGeom>
          <a:solidFill>
            <a:srgbClr val="F3F5F8"/>
          </a:solidFill>
          <a:ln w="12700">
            <a:solidFill>
              <a:srgbClr val="F3F5F8"/>
            </a:solidFill>
            <a:prstDash val="solid"/>
          </a:ln>
        </p:spPr>
      </p:sp>
      <p:sp>
        <p:nvSpPr>
          <p:cNvPr id="32" name="tag text"/>
          <p:cNvSpPr txBox="1"/>
          <p:nvPr/>
        </p:nvSpPr>
        <p:spPr>
          <a:xfrm>
            <a:off x="4892040" y="1481328"/>
            <a:ext cx="1143000" cy="201168"/>
          </a:xfrm>
          <a:prstGeom prst="rect">
            <a:avLst/>
          </a:prstGeom>
          <a:noFill/>
          <a:ln/>
        </p:spPr>
        <p:txBody>
          <a:bodyPr wrap="square" lIns="0" tIns="0" rIns="0" bIns="0" rtlCol="0" anchor="ctr"/>
          <a:lstStyle/>
          <a:p>
            <a:pPr algn="ctr" indent="0" marL="0">
              <a:buNone/>
            </a:pPr>
            <a:r>
              <a:rPr lang="en-US" sz="750" b="1" spc="150" kern="0" dirty="0">
                <a:solidFill>
                  <a:srgbClr val="6B7280"/>
                </a:solidFill>
                <a:latin typeface="Poppins" pitchFamily="34" charset="0"/>
                <a:ea typeface="Poppins" pitchFamily="34" charset="-122"/>
                <a:cs typeface="Poppins" pitchFamily="34" charset="-120"/>
              </a:rPr>
              <a:t>CONCEPT</a:t>
            </a:r>
            <a:endParaRPr lang="en-US" sz="750" dirty="0"/>
          </a:p>
        </p:txBody>
      </p:sp>
      <p:sp>
        <p:nvSpPr>
          <p:cNvPr id="33" name="concept head"/>
          <p:cNvSpPr txBox="1"/>
          <p:nvPr/>
        </p:nvSpPr>
        <p:spPr>
          <a:xfrm>
            <a:off x="4892040" y="1755648"/>
            <a:ext cx="2651760" cy="274320"/>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The Jagged Technological Frontier</a:t>
            </a:r>
            <a:endParaRPr lang="en-US" sz="1150" dirty="0"/>
          </a:p>
        </p:txBody>
      </p:sp>
      <p:sp>
        <p:nvSpPr>
          <p:cNvPr id="34" name="concept body"/>
          <p:cNvSpPr txBox="1"/>
          <p:nvPr/>
        </p:nvSpPr>
        <p:spPr>
          <a:xfrm>
            <a:off x="4892040" y="2048256"/>
            <a:ext cx="2606040" cy="731520"/>
          </a:xfrm>
          <a:prstGeom prst="rect">
            <a:avLst/>
          </a:prstGeom>
          <a:noFill/>
          <a:ln/>
        </p:spPr>
        <p:txBody>
          <a:bodyPr wrap="square" lIns="0" tIns="0" rIns="0" bIns="0" rtlCol="0" anchor="t"/>
          <a:lstStyle/>
          <a:p>
            <a:pPr indent="0" marL="0">
              <a:buNone/>
            </a:pPr>
            <a:r>
              <a:rPr lang="en-US" sz="950" dirty="0">
                <a:solidFill>
                  <a:schemeClr val="tx2"/>
                </a:solidFill>
                <a:latin typeface="Poppins" pitchFamily="34" charset="0"/>
                <a:ea typeface="Poppins" pitchFamily="34" charset="-122"/>
                <a:cs typeface="Poppins" pitchFamily="34" charset="-120"/>
              </a:rPr>
              <a:t>AI performs some tasks well yet struggles with others that look equally difficult. The boundary is uneven and hard to see.</a:t>
            </a:r>
            <a:endParaRPr lang="en-US" sz="950" dirty="0"/>
          </a:p>
        </p:txBody>
      </p:sp>
      <p:pic>
        <p:nvPicPr>
          <p:cNvPr id="35" name="mascot searching" descr="preencoded.png">    </p:cNvPr>
          <p:cNvPicPr>
            <a:picLocks noChangeAspect="1"/>
          </p:cNvPicPr>
          <p:nvPr/>
        </p:nvPicPr>
        <p:blipFill>
          <a:blip r:embed="rId4"/>
          <a:stretch>
            <a:fillRect/>
          </a:stretch>
        </p:blipFill>
        <p:spPr>
          <a:xfrm>
            <a:off x="7589520" y="1481328"/>
            <a:ext cx="1005840" cy="868680"/>
          </a:xfrm>
          <a:prstGeom prst="rect">
            <a:avLst/>
          </a:prstGeom>
        </p:spPr>
      </p:pic>
      <p:pic>
        <p:nvPicPr>
          <p:cNvPr id="36" name="frontier illustration" descr="preencoded.png">    </p:cNvPr>
          <p:cNvPicPr>
            <a:picLocks noChangeAspect="1"/>
          </p:cNvPicPr>
          <p:nvPr/>
        </p:nvPicPr>
        <p:blipFill>
          <a:blip r:embed="rId5"/>
          <a:stretch>
            <a:fillRect/>
          </a:stretch>
        </p:blipFill>
        <p:spPr>
          <a:xfrm>
            <a:off x="4892040" y="2926080"/>
            <a:ext cx="3749040" cy="1371600"/>
          </a:xfrm>
          <a:prstGeom prst="rect">
            <a:avLst/>
          </a:prstGeom>
        </p:spPr>
      </p:pic>
      <p:sp>
        <p:nvSpPr>
          <p:cNvPr id="37" name="outside label"/>
          <p:cNvSpPr txBox="1"/>
          <p:nvPr/>
        </p:nvSpPr>
        <p:spPr>
          <a:xfrm>
            <a:off x="5001768" y="2999232"/>
            <a:ext cx="3529584" cy="182880"/>
          </a:xfrm>
          <a:prstGeom prst="rect">
            <a:avLst/>
          </a:prstGeom>
          <a:noFill/>
          <a:ln/>
        </p:spPr>
        <p:txBody>
          <a:bodyPr wrap="square" lIns="0" tIns="0" rIns="0" bIns="0" rtlCol="0" anchor="ctr"/>
          <a:lstStyle/>
          <a:p>
            <a:pPr algn="r" indent="0" marL="0">
              <a:buNone/>
            </a:pPr>
            <a:r>
              <a:rPr lang="en-US" sz="750" b="1" dirty="0">
                <a:solidFill>
                  <a:schemeClr val="tx2"/>
                </a:solidFill>
                <a:latin typeface="Poppins" pitchFamily="34" charset="0"/>
                <a:ea typeface="Poppins" pitchFamily="34" charset="-122"/>
                <a:cs typeface="Poppins" pitchFamily="34" charset="-120"/>
              </a:rPr>
              <a:t>Outside: AI struggles</a:t>
            </a:r>
            <a:endParaRPr lang="en-US" sz="750" dirty="0"/>
          </a:p>
        </p:txBody>
      </p:sp>
      <p:sp>
        <p:nvSpPr>
          <p:cNvPr id="38" name="inside label"/>
          <p:cNvSpPr txBox="1"/>
          <p:nvPr/>
        </p:nvSpPr>
        <p:spPr>
          <a:xfrm>
            <a:off x="5001768" y="4023360"/>
            <a:ext cx="3529584" cy="182880"/>
          </a:xfrm>
          <a:prstGeom prst="rect">
            <a:avLst/>
          </a:prstGeom>
          <a:noFill/>
          <a:ln/>
        </p:spPr>
        <p:txBody>
          <a:bodyPr wrap="square" lIns="0" tIns="0" rIns="0" bIns="0" rtlCol="0" anchor="ctr"/>
          <a:lstStyle/>
          <a:p>
            <a:pPr indent="0" marL="0">
              <a:buNone/>
            </a:pPr>
            <a:r>
              <a:rPr lang="en-US" sz="750" b="1" dirty="0">
                <a:solidFill>
                  <a:srgbClr val="2E8B86"/>
                </a:solidFill>
                <a:latin typeface="Poppins" pitchFamily="34" charset="0"/>
                <a:ea typeface="Poppins" pitchFamily="34" charset="-122"/>
                <a:cs typeface="Poppins" pitchFamily="34" charset="-120"/>
              </a:rPr>
              <a:t>Inside: AI performs well</a:t>
            </a:r>
            <a:endParaRPr lang="en-US" sz="750" dirty="0"/>
          </a:p>
        </p:txBody>
      </p:sp>
      <p:sp>
        <p:nvSpPr>
          <p:cNvPr id="39"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F., et al. (2023). Navigating the Jagged Technological Frontier. Harvard Business School Working Paper 24-013.</a:t>
            </a:r>
            <a:endParaRPr lang="en-US" sz="700" dirty="0"/>
          </a:p>
        </p:txBody>
      </p:sp>
      <p:sp>
        <p:nvSpPr>
          <p:cNvPr id="40"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What happened when 758 consultants used GPT-4?</a:t>
            </a:r>
            <a:endParaRPr lang="en-US" sz="850" dirty="0"/>
          </a:p>
        </p:txBody>
      </p:sp>
      <p:pic>
        <p:nvPicPr>
          <p:cNvPr id="41"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2  ·  Key findings</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Can Improve Productivity, but Has Limits</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2E8B86"/>
          </a:solidFill>
          <a:ln w="12700">
            <a:solidFill>
              <a:srgbClr val="2E8B86"/>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3 / 5</a:t>
            </a:r>
            <a:endParaRPr lang="en-US" sz="8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graphicFrame>
        <p:nvGraphicFramePr>
          <p:cNvPr id="12" name="findings chart" descr=""/>
          <p:cNvGraphicFramePr/>
          <p:nvPr/>
        </p:nvGraphicFramePr>
        <p:xfrm>
          <a:off x="502920" y="1609344"/>
          <a:ext cx="475488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502920" y="3730752"/>
            <a:ext cx="4754880" cy="329184"/>
          </a:xfrm>
          <a:prstGeom prst="rect">
            <a:avLst/>
          </a:prstGeom>
          <a:noFill/>
          <a:ln/>
        </p:spPr>
        <p:txBody>
          <a:bodyPr wrap="square" lIns="0" tIns="0" rIns="0" bIns="0" rtlCol="0" anchor="t"/>
          <a:lstStyle/>
          <a:p>
            <a:pPr indent="0" marL="0">
              <a:buNone/>
            </a:pPr>
            <a:r>
              <a:rPr lang="en-US" sz="750" dirty="0">
                <a:solidFill>
                  <a:srgbClr val="A3ADBB"/>
                </a:solidFill>
                <a:latin typeface="Poppins" pitchFamily="34" charset="0"/>
                <a:ea typeface="Poppins" pitchFamily="34" charset="-122"/>
                <a:cs typeface="Poppins" pitchFamily="34" charset="-120"/>
              </a:rPr>
              <a:t>Quality reported as "more than 40%" vs. control, plotted at 40. Below-/above-average = performer groups, each vs. its own baseline.</a:t>
            </a:r>
            <a:endParaRPr lang="en-US" sz="750" dirty="0"/>
          </a:p>
        </p:txBody>
      </p:sp>
      <p:sp>
        <p:nvSpPr>
          <p:cNvPr id="14" name="outside callout"/>
          <p:cNvSpPr/>
          <p:nvPr/>
        </p:nvSpPr>
        <p:spPr>
          <a:xfrm>
            <a:off x="5623560" y="1371600"/>
            <a:ext cx="3017520" cy="1828800"/>
          </a:xfrm>
          <a:prstGeom prst="roundRect">
            <a:avLst>
              <a:gd name="adj" fmla="val 6000"/>
            </a:avLst>
          </a:prstGeom>
          <a:solidFill>
            <a:srgbClr val="1B2A4A"/>
          </a:solidFill>
          <a:ln w="12700">
            <a:solidFill>
              <a:srgbClr val="1B2A4A"/>
            </a:solidFill>
            <a:prstDash val="solid"/>
          </a:ln>
        </p:spPr>
      </p:sp>
      <p:sp>
        <p:nvSpPr>
          <p:cNvPr id="15" name="outside head"/>
          <p:cNvSpPr txBox="1"/>
          <p:nvPr/>
        </p:nvSpPr>
        <p:spPr>
          <a:xfrm>
            <a:off x="5852160" y="1499616"/>
            <a:ext cx="2560320" cy="219456"/>
          </a:xfrm>
          <a:prstGeom prst="rect">
            <a:avLst/>
          </a:prstGeom>
          <a:noFill/>
          <a:ln/>
        </p:spPr>
        <p:txBody>
          <a:bodyPr wrap="square" lIns="0" tIns="0" rIns="0" bIns="0" rtlCol="0" anchor="ctr"/>
          <a:lstStyle/>
          <a:p>
            <a:pPr indent="0" marL="0">
              <a:buNone/>
            </a:pPr>
            <a:r>
              <a:rPr lang="en-US" sz="900" b="1" spc="100"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16" name="outside stat"/>
          <p:cNvSpPr txBox="1"/>
          <p:nvPr/>
        </p:nvSpPr>
        <p:spPr>
          <a:xfrm>
            <a:off x="5852160" y="1719072"/>
            <a:ext cx="1463040" cy="512064"/>
          </a:xfrm>
          <a:prstGeom prst="rect">
            <a:avLst/>
          </a:prstGeom>
          <a:noFill/>
          <a:ln/>
        </p:spPr>
        <p:txBody>
          <a:bodyPr wrap="square" lIns="0" tIns="0" rIns="0" bIns="0" rtlCol="0" anchor="ctr"/>
          <a:lstStyle/>
          <a:p>
            <a:pPr indent="0" marL="0">
              <a:buNone/>
            </a:pPr>
            <a:r>
              <a:rPr lang="en-US" sz="4400" b="1" dirty="0">
                <a:solidFill>
                  <a:srgbClr val="FFFFFF"/>
                </a:solidFill>
                <a:latin typeface="Poppins" pitchFamily="34" charset="0"/>
                <a:ea typeface="Poppins" pitchFamily="34" charset="-122"/>
                <a:cs typeface="Poppins" pitchFamily="34" charset="-120"/>
              </a:rPr>
              <a:t>−19</a:t>
            </a:r>
            <a:endParaRPr lang="en-US" sz="4400" dirty="0"/>
          </a:p>
        </p:txBody>
      </p:sp>
      <p:sp>
        <p:nvSpPr>
          <p:cNvPr id="17" name="outside unit"/>
          <p:cNvSpPr txBox="1"/>
          <p:nvPr/>
        </p:nvSpPr>
        <p:spPr>
          <a:xfrm>
            <a:off x="5852160" y="2231136"/>
            <a:ext cx="1737360" cy="201168"/>
          </a:xfrm>
          <a:prstGeom prst="rect">
            <a:avLst/>
          </a:prstGeom>
          <a:noFill/>
          <a:ln/>
        </p:spPr>
        <p:txBody>
          <a:bodyPr wrap="square" lIns="0" tIns="0" rIns="0" bIns="0" rtlCol="0" anchor="ctr"/>
          <a:lstStyle/>
          <a:p>
            <a:pPr indent="0" marL="0">
              <a:buNone/>
            </a:pPr>
            <a:r>
              <a:rPr lang="en-US" sz="850" dirty="0">
                <a:solidFill>
                  <a:srgbClr val="BFE6E0"/>
                </a:solidFill>
                <a:latin typeface="Poppins" pitchFamily="34" charset="0"/>
                <a:ea typeface="Poppins" pitchFamily="34" charset="-122"/>
                <a:cs typeface="Poppins" pitchFamily="34" charset="-120"/>
              </a:rPr>
              <a:t>percentage points</a:t>
            </a:r>
            <a:endParaRPr lang="en-US" sz="850" dirty="0"/>
          </a:p>
        </p:txBody>
      </p:sp>
      <p:pic>
        <p:nvPicPr>
          <p:cNvPr id="18" name="mascot confused" descr="preencoded.png">    </p:cNvPr>
          <p:cNvPicPr>
            <a:picLocks noChangeAspect="1"/>
          </p:cNvPicPr>
          <p:nvPr/>
        </p:nvPicPr>
        <p:blipFill>
          <a:blip r:embed="rId2"/>
          <a:stretch>
            <a:fillRect/>
          </a:stretch>
        </p:blipFill>
        <p:spPr>
          <a:xfrm>
            <a:off x="7498080" y="1591056"/>
            <a:ext cx="1005840" cy="868680"/>
          </a:xfrm>
          <a:prstGeom prst="rect">
            <a:avLst/>
          </a:prstGeom>
        </p:spPr>
      </p:pic>
      <p:sp>
        <p:nvSpPr>
          <p:cNvPr id="19" name="outside body"/>
          <p:cNvSpPr txBox="1"/>
          <p:nvPr/>
        </p:nvSpPr>
        <p:spPr>
          <a:xfrm>
            <a:off x="5852160" y="2487168"/>
            <a:ext cx="2560320" cy="64008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AI users were 19 percentage points less likely to produce correct solutions than consultants without AI.</a:t>
            </a:r>
            <a:endParaRPr lang="en-US" sz="900" dirty="0"/>
          </a:p>
        </p:txBody>
      </p:sp>
      <p:sp>
        <p:nvSpPr>
          <p:cNvPr id="20" name="unit note"/>
          <p:cNvSpPr txBox="1"/>
          <p:nvPr/>
        </p:nvSpPr>
        <p:spPr>
          <a:xfrm>
            <a:off x="5623560" y="3255264"/>
            <a:ext cx="3017520" cy="310896"/>
          </a:xfrm>
          <a:prstGeom prst="rect">
            <a:avLst/>
          </a:prstGeom>
          <a:noFill/>
          <a:ln/>
        </p:spPr>
        <p:txBody>
          <a:bodyPr wrap="square" lIns="0" tIns="0" rIns="0" bIns="0" rtlCol="0" anchor="t"/>
          <a:lstStyle/>
          <a:p>
            <a:pPr indent="0" marL="0">
              <a:buNone/>
            </a:pPr>
            <a:r>
              <a:rPr lang="en-US" sz="800" dirty="0">
                <a:solidFill>
                  <a:srgbClr val="6B7280"/>
                </a:solidFill>
                <a:latin typeface="Poppins" pitchFamily="34" charset="0"/>
                <a:ea typeface="Poppins" pitchFamily="34" charset="-122"/>
                <a:cs typeface="Poppins" pitchFamily="34" charset="-120"/>
              </a:rPr>
              <a:t>A gap between two success rates, not a percentage change.</a:t>
            </a:r>
            <a:endParaRPr lang="en-US" sz="800" dirty="0"/>
          </a:p>
        </p:txBody>
      </p:sp>
      <p:sp>
        <p:nvSpPr>
          <p:cNvPr id="21" name="divider"/>
          <p:cNvSpPr/>
          <p:nvPr/>
        </p:nvSpPr>
        <p:spPr>
          <a:xfrm>
            <a:off x="5623560" y="3657600"/>
            <a:ext cx="3017520" cy="0"/>
          </a:xfrm>
          <a:prstGeom prst="line">
            <a:avLst/>
          </a:prstGeom>
          <a:noFill/>
          <a:ln w="9525">
            <a:solidFill>
              <a:srgbClr val="E3E8EE"/>
            </a:solidFill>
            <a:prstDash val="solid"/>
          </a:ln>
        </p:spPr>
      </p:sp>
      <p:sp>
        <p:nvSpPr>
          <p:cNvPr id="22" name="approach head"/>
          <p:cNvSpPr txBox="1"/>
          <p:nvPr/>
        </p:nvSpPr>
        <p:spPr>
          <a:xfrm>
            <a:off x="5623560" y="3712464"/>
            <a:ext cx="3017520" cy="201168"/>
          </a:xfrm>
          <a:prstGeom prst="rect">
            <a:avLst/>
          </a:prstGeom>
          <a:noFill/>
          <a:ln/>
        </p:spPr>
        <p:txBody>
          <a:bodyPr wrap="square" lIns="0" tIns="0" rIns="0" bIns="0" rtlCol="0" anchor="ctr"/>
          <a:lstStyle/>
          <a:p>
            <a:pPr indent="0" marL="0">
              <a:buNone/>
            </a:pPr>
            <a:r>
              <a:rPr lang="en-US" sz="950" b="1" dirty="0">
                <a:solidFill>
                  <a:schemeClr val="tx1"/>
                </a:solidFill>
                <a:latin typeface="Poppins" pitchFamily="34" charset="0"/>
                <a:ea typeface="Poppins" pitchFamily="34" charset="-122"/>
                <a:cs typeface="Poppins" pitchFamily="34" charset="-120"/>
              </a:rPr>
              <a:t>Two successful patterns of AI use</a:t>
            </a:r>
            <a:endParaRPr lang="en-US" sz="950" dirty="0"/>
          </a:p>
        </p:txBody>
      </p:sp>
      <p:pic>
        <p:nvPicPr>
          <p:cNvPr id="23" name="glyph Centaurs" descr="preencoded.png">    </p:cNvPr>
          <p:cNvPicPr>
            <a:picLocks noChangeAspect="1"/>
          </p:cNvPicPr>
          <p:nvPr/>
        </p:nvPicPr>
        <p:blipFill>
          <a:blip r:embed="rId3"/>
          <a:stretch>
            <a:fillRect/>
          </a:stretch>
        </p:blipFill>
        <p:spPr>
          <a:xfrm>
            <a:off x="5623560" y="3950208"/>
            <a:ext cx="329184" cy="219456"/>
          </a:xfrm>
          <a:prstGeom prst="rect">
            <a:avLst/>
          </a:prstGeom>
        </p:spPr>
      </p:pic>
      <p:sp>
        <p:nvSpPr>
          <p:cNvPr id="24" name="approach text"/>
          <p:cNvSpPr txBox="1"/>
          <p:nvPr/>
        </p:nvSpPr>
        <p:spPr>
          <a:xfrm>
            <a:off x="6044184" y="3931920"/>
            <a:ext cx="2596896" cy="256032"/>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Centaurs  </a:t>
            </a:r>
            <a:pPr indent="0" marL="0">
              <a:buNone/>
            </a:pPr>
            <a:r>
              <a:rPr lang="en-US" sz="850" dirty="0">
                <a:solidFill>
                  <a:schemeClr val="tx2"/>
                </a:solidFill>
                <a:latin typeface="Poppins" pitchFamily="34" charset="0"/>
                <a:ea typeface="Poppins" pitchFamily="34" charset="-122"/>
                <a:cs typeface="Poppins" pitchFamily="34" charset="-120"/>
              </a:rPr>
              <a:t>divide tasks between human and AI</a:t>
            </a:r>
            <a:endParaRPr lang="en-US" sz="900" dirty="0"/>
          </a:p>
        </p:txBody>
      </p:sp>
      <p:pic>
        <p:nvPicPr>
          <p:cNvPr id="25" name="glyph Cyborgs" descr="preencoded.png">    </p:cNvPr>
          <p:cNvPicPr>
            <a:picLocks noChangeAspect="1"/>
          </p:cNvPicPr>
          <p:nvPr/>
        </p:nvPicPr>
        <p:blipFill>
          <a:blip r:embed="rId4"/>
          <a:stretch>
            <a:fillRect/>
          </a:stretch>
        </p:blipFill>
        <p:spPr>
          <a:xfrm>
            <a:off x="5623560" y="4187952"/>
            <a:ext cx="329184" cy="219456"/>
          </a:xfrm>
          <a:prstGeom prst="rect">
            <a:avLst/>
          </a:prstGeom>
        </p:spPr>
      </p:pic>
      <p:sp>
        <p:nvSpPr>
          <p:cNvPr id="26" name="approach text"/>
          <p:cNvSpPr txBox="1"/>
          <p:nvPr/>
        </p:nvSpPr>
        <p:spPr>
          <a:xfrm>
            <a:off x="6044184" y="4169664"/>
            <a:ext cx="2596896" cy="256032"/>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Cyborgs  </a:t>
            </a:r>
            <a:pPr indent="0" marL="0">
              <a:buNone/>
            </a:pPr>
            <a:r>
              <a:rPr lang="en-US" sz="850" dirty="0">
                <a:solidFill>
                  <a:schemeClr val="tx2"/>
                </a:solidFill>
                <a:latin typeface="Poppins" pitchFamily="34" charset="0"/>
                <a:ea typeface="Poppins" pitchFamily="34" charset="-122"/>
                <a:cs typeface="Poppins" pitchFamily="34" charset="-120"/>
              </a:rPr>
              <a:t>integrate AI into every step</a:t>
            </a:r>
            <a:endParaRPr lang="en-US" sz="900" dirty="0"/>
          </a:p>
        </p:txBody>
      </p:sp>
      <p:sp>
        <p:nvSpPr>
          <p:cNvPr id="27"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F., et al. (2023). Navigating the Jagged Technological Frontier. Harvard Business School Working Paper 24-013.</a:t>
            </a:r>
            <a:endParaRPr lang="en-US" sz="700" dirty="0"/>
          </a:p>
        </p:txBody>
      </p:sp>
      <p:sp>
        <p:nvSpPr>
          <p:cNvPr id="28"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Does this hold for real small businesses?</a:t>
            </a:r>
            <a:endParaRPr lang="en-US" sz="850" dirty="0"/>
          </a:p>
        </p:txBody>
      </p:sp>
      <p:pic>
        <p:nvPicPr>
          <p:cNvPr id="29" name="icon FiArrowRight" descr="preencoded.png">    </p:cNvPr>
          <p:cNvPicPr>
            <a:picLocks noChangeAspect="1"/>
          </p:cNvPicPr>
          <p:nvPr/>
        </p:nvPicPr>
        <p:blipFill>
          <a:blip r:embed="rId5"/>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5  ·  Research purpose and findings</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The Uneven Impact of Generative AI on Entrepreneurial Performance</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2E8B86"/>
          </a:solidFill>
          <a:ln w="12700">
            <a:solidFill>
              <a:srgbClr val="2E8B86"/>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4 / 5</a:t>
            </a:r>
            <a:endParaRPr lang="en-US" sz="8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MapPin"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Setting"/>
          <p:cNvSpPr txBox="1"/>
          <p:nvPr/>
        </p:nvSpPr>
        <p:spPr>
          <a:xfrm>
            <a:off x="1005840" y="1435608"/>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Setting</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Small-business entrepreneurs in Kenya</a:t>
            </a:r>
            <a:endParaRPr lang="en-US" sz="11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MessageSquare"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Intervention"/>
          <p:cNvSpPr txBox="1"/>
          <p:nvPr/>
        </p:nvSpPr>
        <p:spPr>
          <a:xfrm>
            <a:off x="1005840" y="2020824"/>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Intervention</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GPT-4-powered AI business assistant giving business advice</a:t>
            </a:r>
            <a:endParaRPr lang="en-US" sz="11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DollarSign"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Outcomes"/>
          <p:cNvSpPr txBox="1"/>
          <p:nvPr/>
        </p:nvSpPr>
        <p:spPr>
          <a:xfrm>
            <a:off x="1005840" y="2606040"/>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Outcomes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Revenue and profit</a:t>
            </a:r>
            <a:endParaRPr lang="en-US" sz="1100" dirty="0"/>
          </a:p>
        </p:txBody>
      </p:sp>
      <p:sp>
        <p:nvSpPr>
          <p:cNvPr id="19" name="main effect card"/>
          <p:cNvSpPr/>
          <p:nvPr/>
        </p:nvSpPr>
        <p:spPr>
          <a:xfrm>
            <a:off x="502920" y="3291840"/>
            <a:ext cx="3749040" cy="1097280"/>
          </a:xfrm>
          <a:prstGeom prst="roundRect">
            <a:avLst>
              <a:gd name="adj" fmla="val 10000"/>
            </a:avLst>
          </a:prstGeom>
          <a:solidFill>
            <a:srgbClr val="1B2A4A"/>
          </a:solidFill>
          <a:ln w="12700">
            <a:solidFill>
              <a:srgbClr val="1B2A4A"/>
            </a:solidFill>
            <a:prstDash val="solid"/>
          </a:ln>
        </p:spPr>
      </p:sp>
      <p:sp>
        <p:nvSpPr>
          <p:cNvPr id="20" name="tag finding"/>
          <p:cNvSpPr/>
          <p:nvPr/>
        </p:nvSpPr>
        <p:spPr>
          <a:xfrm>
            <a:off x="704088" y="3438144"/>
            <a:ext cx="1143000" cy="201168"/>
          </a:xfrm>
          <a:prstGeom prst="roundRect">
            <a:avLst>
              <a:gd name="adj" fmla="val 50000"/>
            </a:avLst>
          </a:prstGeom>
          <a:solidFill>
            <a:srgbClr val="BFE6E0"/>
          </a:solidFill>
          <a:ln w="12700">
            <a:solidFill>
              <a:srgbClr val="BFE6E0"/>
            </a:solidFill>
            <a:prstDash val="solid"/>
          </a:ln>
        </p:spPr>
      </p:sp>
      <p:sp>
        <p:nvSpPr>
          <p:cNvPr id="21" name="tag text"/>
          <p:cNvSpPr txBox="1"/>
          <p:nvPr/>
        </p:nvSpPr>
        <p:spPr>
          <a:xfrm>
            <a:off x="704088" y="3438144"/>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sp>
        <p:nvSpPr>
          <p:cNvPr id="22" name="main head"/>
          <p:cNvSpPr txBox="1"/>
          <p:nvPr/>
        </p:nvSpPr>
        <p:spPr>
          <a:xfrm>
            <a:off x="704088" y="3657600"/>
            <a:ext cx="2468880" cy="201168"/>
          </a:xfrm>
          <a:prstGeom prst="rect">
            <a:avLst/>
          </a:prstGeom>
          <a:noFill/>
          <a:ln/>
        </p:spPr>
        <p:txBody>
          <a:bodyPr wrap="square" lIns="0" tIns="0" rIns="0" bIns="0" rtlCol="0" anchor="ctr"/>
          <a:lstStyle/>
          <a:p>
            <a:pPr indent="0" marL="0">
              <a:buNone/>
            </a:pPr>
            <a:r>
              <a:rPr lang="en-US" sz="900" b="1" spc="100" kern="0" dirty="0">
                <a:solidFill>
                  <a:srgbClr val="BFE6E0"/>
                </a:solidFill>
                <a:latin typeface="Poppins" pitchFamily="34" charset="0"/>
                <a:ea typeface="Poppins" pitchFamily="34" charset="-122"/>
                <a:cs typeface="Poppins" pitchFamily="34" charset="-120"/>
              </a:rPr>
              <a:t>Average effect</a:t>
            </a:r>
            <a:endParaRPr lang="en-US" sz="900" dirty="0"/>
          </a:p>
        </p:txBody>
      </p:sp>
      <p:sp>
        <p:nvSpPr>
          <p:cNvPr id="23" name="main body"/>
          <p:cNvSpPr txBox="1"/>
          <p:nvPr/>
        </p:nvSpPr>
        <p:spPr>
          <a:xfrm>
            <a:off x="704088" y="3840480"/>
            <a:ext cx="2468880" cy="512064"/>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00" dirty="0"/>
          </a:p>
        </p:txBody>
      </p:sp>
      <p:pic>
        <p:nvPicPr>
          <p:cNvPr id="24" name="mascot with phone" descr="preencoded.png">    </p:cNvPr>
          <p:cNvPicPr>
            <a:picLocks noChangeAspect="1"/>
          </p:cNvPicPr>
          <p:nvPr/>
        </p:nvPicPr>
        <p:blipFill>
          <a:blip r:embed="rId4"/>
          <a:stretch>
            <a:fillRect/>
          </a:stretch>
        </p:blipFill>
        <p:spPr>
          <a:xfrm>
            <a:off x="3154680" y="3456432"/>
            <a:ext cx="960120" cy="822960"/>
          </a:xfrm>
          <a:prstGeom prst="rect">
            <a:avLst/>
          </a:prstGeom>
        </p:spPr>
      </p:pic>
      <p:sp>
        <p:nvSpPr>
          <p:cNvPr id="25" name="column divider"/>
          <p:cNvSpPr/>
          <p:nvPr/>
        </p:nvSpPr>
        <p:spPr>
          <a:xfrm>
            <a:off x="4480560" y="1481328"/>
            <a:ext cx="0" cy="2834640"/>
          </a:xfrm>
          <a:prstGeom prst="line">
            <a:avLst/>
          </a:prstGeom>
          <a:noFill/>
          <a:ln w="9525">
            <a:solidFill>
              <a:srgbClr val="E3E8EE"/>
            </a:solidFill>
            <a:prstDash val="solid"/>
          </a:ln>
        </p:spPr>
      </p:sp>
      <p:sp>
        <p:nvSpPr>
          <p:cNvPr id="26" name="tag finding"/>
          <p:cNvSpPr/>
          <p:nvPr/>
        </p:nvSpPr>
        <p:spPr>
          <a:xfrm>
            <a:off x="4709160" y="1481328"/>
            <a:ext cx="1143000" cy="201168"/>
          </a:xfrm>
          <a:prstGeom prst="roundRect">
            <a:avLst>
              <a:gd name="adj" fmla="val 50000"/>
            </a:avLst>
          </a:prstGeom>
          <a:solidFill>
            <a:srgbClr val="BFE6E0"/>
          </a:solidFill>
          <a:ln w="12700">
            <a:solidFill>
              <a:srgbClr val="BFE6E0"/>
            </a:solidFill>
            <a:prstDash val="solid"/>
          </a:ln>
        </p:spPr>
      </p:sp>
      <p:sp>
        <p:nvSpPr>
          <p:cNvPr id="27" name="tag text"/>
          <p:cNvSpPr txBox="1"/>
          <p:nvPr/>
        </p:nvSpPr>
        <p:spPr>
          <a:xfrm>
            <a:off x="4709160" y="1481328"/>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sp>
        <p:nvSpPr>
          <p:cNvPr id="28" name="subgroup head"/>
          <p:cNvSpPr txBox="1"/>
          <p:nvPr/>
        </p:nvSpPr>
        <p:spPr>
          <a:xfrm>
            <a:off x="4709160" y="1755648"/>
            <a:ext cx="2834640" cy="256032"/>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By baseline performance</a:t>
            </a:r>
            <a:endParaRPr lang="en-US" sz="1150" dirty="0"/>
          </a:p>
        </p:txBody>
      </p:sp>
      <p:pic>
        <p:nvPicPr>
          <p:cNvPr id="29" name="entrepreneur with phone" descr="preencoded.png">    </p:cNvPr>
          <p:cNvPicPr>
            <a:picLocks noChangeAspect="1"/>
          </p:cNvPicPr>
          <p:nvPr/>
        </p:nvPicPr>
        <p:blipFill>
          <a:blip r:embed="rId5"/>
          <a:stretch>
            <a:fillRect/>
          </a:stretch>
        </p:blipFill>
        <p:spPr>
          <a:xfrm>
            <a:off x="7680960" y="1426464"/>
            <a:ext cx="914400" cy="960120"/>
          </a:xfrm>
          <a:prstGeom prst="rect">
            <a:avLst/>
          </a:prstGeom>
        </p:spPr>
      </p:pic>
      <p:sp>
        <p:nvSpPr>
          <p:cNvPr id="30" name="zero line"/>
          <p:cNvSpPr/>
          <p:nvPr/>
        </p:nvSpPr>
        <p:spPr>
          <a:xfrm>
            <a:off x="6126480" y="2286000"/>
            <a:ext cx="0" cy="1005840"/>
          </a:xfrm>
          <a:prstGeom prst="line">
            <a:avLst/>
          </a:prstGeom>
          <a:noFill/>
          <a:ln w="9525">
            <a:solidFill>
              <a:srgbClr val="A3ADBB"/>
            </a:solidFill>
            <a:prstDash val="dash"/>
          </a:ln>
        </p:spPr>
      </p:sp>
      <p:sp>
        <p:nvSpPr>
          <p:cNvPr id="31" name="bar label 0"/>
          <p:cNvSpPr txBox="1"/>
          <p:nvPr/>
        </p:nvSpPr>
        <p:spPr>
          <a:xfrm>
            <a:off x="4709160" y="2093976"/>
            <a:ext cx="3931920" cy="219456"/>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Low performers  </a:t>
            </a:r>
            <a:pPr indent="0" marL="0">
              <a:buNone/>
            </a:pPr>
            <a:r>
              <a:rPr lang="en-US" sz="900" b="1" dirty="0">
                <a:solidFill>
                  <a:srgbClr val="6B7280"/>
                </a:solidFill>
                <a:latin typeface="Poppins" pitchFamily="34" charset="0"/>
                <a:ea typeface="Poppins" pitchFamily="34" charset="-122"/>
                <a:cs typeface="Poppins" pitchFamily="34" charset="-120"/>
              </a:rPr>
              <a:t>nearly 10% worse</a:t>
            </a:r>
            <a:endParaRPr lang="en-US" sz="900" dirty="0"/>
          </a:p>
        </p:txBody>
      </p:sp>
      <p:sp>
        <p:nvSpPr>
          <p:cNvPr id="32" name="bar 0"/>
          <p:cNvSpPr/>
          <p:nvPr/>
        </p:nvSpPr>
        <p:spPr>
          <a:xfrm>
            <a:off x="5294986" y="2340864"/>
            <a:ext cx="831494" cy="219456"/>
          </a:xfrm>
          <a:prstGeom prst="rect">
            <a:avLst/>
          </a:prstGeom>
          <a:solidFill>
            <a:srgbClr val="A3ADBB"/>
          </a:solidFill>
          <a:ln w="12700">
            <a:solidFill>
              <a:srgbClr val="A3ADBB"/>
            </a:solidFill>
            <a:prstDash val="solid"/>
          </a:ln>
        </p:spPr>
      </p:sp>
      <p:sp>
        <p:nvSpPr>
          <p:cNvPr id="33" name="bar label 1"/>
          <p:cNvSpPr txBox="1"/>
          <p:nvPr/>
        </p:nvSpPr>
        <p:spPr>
          <a:xfrm>
            <a:off x="4709160" y="2642616"/>
            <a:ext cx="3931920" cy="219456"/>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High performers  </a:t>
            </a:r>
            <a:pPr indent="0" marL="0">
              <a:buNone/>
            </a:pPr>
            <a:r>
              <a:rPr lang="en-US" sz="900" b="1" dirty="0">
                <a:solidFill>
                  <a:srgbClr val="2E8B86"/>
                </a:solidFill>
                <a:latin typeface="Poppins" pitchFamily="34" charset="0"/>
                <a:ea typeface="Poppins" pitchFamily="34" charset="-122"/>
                <a:cs typeface="Poppins" pitchFamily="34" charset="-120"/>
              </a:rPr>
              <a:t>may have benefited by more than 15%</a:t>
            </a:r>
            <a:endParaRPr lang="en-US" sz="900" dirty="0"/>
          </a:p>
        </p:txBody>
      </p:sp>
      <p:sp>
        <p:nvSpPr>
          <p:cNvPr id="34" name="bar 1"/>
          <p:cNvSpPr/>
          <p:nvPr/>
        </p:nvSpPr>
        <p:spPr>
          <a:xfrm>
            <a:off x="6126480" y="2889504"/>
            <a:ext cx="1247242" cy="219456"/>
          </a:xfrm>
          <a:prstGeom prst="rect">
            <a:avLst/>
          </a:prstGeom>
          <a:solidFill>
            <a:srgbClr val="2E8B86"/>
          </a:solidFill>
          <a:ln w="12700">
            <a:solidFill>
              <a:srgbClr val="2E8B86"/>
            </a:solidFill>
            <a:prstDash val="solid"/>
          </a:ln>
        </p:spPr>
      </p:sp>
      <p:sp>
        <p:nvSpPr>
          <p:cNvPr id="35" name="bar note"/>
          <p:cNvSpPr txBox="1"/>
          <p:nvPr/>
        </p:nvSpPr>
        <p:spPr>
          <a:xfrm>
            <a:off x="4709160" y="3236976"/>
            <a:ext cx="3931920" cy="164592"/>
          </a:xfrm>
          <a:prstGeom prst="rect">
            <a:avLst/>
          </a:prstGeom>
          <a:noFill/>
          <a:ln/>
        </p:spPr>
        <p:txBody>
          <a:bodyPr wrap="square" lIns="0" tIns="0" rIns="0" bIns="0" rtlCol="0" anchor="ctr"/>
          <a:lstStyle/>
          <a:p>
            <a:pPr algn="r" indent="0" marL="0">
              <a:buNone/>
            </a:pPr>
            <a:r>
              <a:rPr lang="en-US" sz="700" dirty="0">
                <a:solidFill>
                  <a:srgbClr val="A3ADBB"/>
                </a:solidFill>
                <a:latin typeface="Poppins" pitchFamily="34" charset="0"/>
                <a:ea typeface="Poppins" pitchFamily="34" charset="-122"/>
                <a:cs typeface="Poppins" pitchFamily="34" charset="-120"/>
              </a:rPr>
              <a:t>Bar lengths are illustrative</a:t>
            </a:r>
            <a:endParaRPr lang="en-US" sz="700" dirty="0"/>
          </a:p>
        </p:txBody>
      </p:sp>
      <p:sp>
        <p:nvSpPr>
          <p:cNvPr id="36" name="divider"/>
          <p:cNvSpPr/>
          <p:nvPr/>
        </p:nvSpPr>
        <p:spPr>
          <a:xfrm>
            <a:off x="4709160" y="3364992"/>
            <a:ext cx="3931920" cy="0"/>
          </a:xfrm>
          <a:prstGeom prst="line">
            <a:avLst/>
          </a:prstGeom>
          <a:noFill/>
          <a:ln w="9525">
            <a:solidFill>
              <a:srgbClr val="E3E8EE"/>
            </a:solidFill>
            <a:prstDash val="solid"/>
          </a:ln>
        </p:spPr>
      </p:sp>
      <p:pic>
        <p:nvPicPr>
          <p:cNvPr id="37" name="icon FiMessageCircle" descr="preencoded.png">    </p:cNvPr>
          <p:cNvPicPr>
            <a:picLocks noChangeAspect="1"/>
          </p:cNvPicPr>
          <p:nvPr/>
        </p:nvPicPr>
        <p:blipFill>
          <a:blip r:embed="rId6"/>
          <a:stretch>
            <a:fillRect/>
          </a:stretch>
        </p:blipFill>
        <p:spPr>
          <a:xfrm>
            <a:off x="4709160" y="3474720"/>
            <a:ext cx="219456" cy="219456"/>
          </a:xfrm>
          <a:prstGeom prst="rect">
            <a:avLst/>
          </a:prstGeom>
        </p:spPr>
      </p:pic>
      <p:sp>
        <p:nvSpPr>
          <p:cNvPr id="38" name="mechanism"/>
          <p:cNvSpPr txBox="1"/>
          <p:nvPr/>
        </p:nvSpPr>
        <p:spPr>
          <a:xfrm>
            <a:off x="5038344" y="3419856"/>
            <a:ext cx="3602736" cy="384048"/>
          </a:xfrm>
          <a:prstGeom prst="rect">
            <a:avLst/>
          </a:prstGeom>
          <a:noFill/>
          <a:ln/>
        </p:spPr>
        <p:txBody>
          <a:bodyPr wrap="square" lIns="0" tIns="0" rIns="0" bIns="0" rtlCol="0" anchor="ctr"/>
          <a:lstStyle/>
          <a:p>
            <a:pPr indent="0" marL="0">
              <a:buNone/>
            </a:pPr>
            <a:r>
              <a:rPr lang="en-US" sz="850" dirty="0">
                <a:solidFill>
                  <a:schemeClr val="tx1"/>
                </a:solidFill>
                <a:latin typeface="Poppins" pitchFamily="34" charset="0"/>
                <a:ea typeface="Poppins" pitchFamily="34" charset="-122"/>
                <a:cs typeface="Poppins" pitchFamily="34" charset="-120"/>
              </a:rPr>
              <a:t>Similar questions, similar advice. The difference lay in which advice entrepreneurs chose to implement.</a:t>
            </a:r>
            <a:endParaRPr lang="en-US" sz="850" dirty="0"/>
          </a:p>
        </p:txBody>
      </p:sp>
      <p:pic>
        <p:nvPicPr>
          <p:cNvPr id="39" name="icon FiAlertTriangle" descr="preencoded.png">    </p:cNvPr>
          <p:cNvPicPr>
            <a:picLocks noChangeAspect="1"/>
          </p:cNvPicPr>
          <p:nvPr/>
        </p:nvPicPr>
        <p:blipFill>
          <a:blip r:embed="rId7"/>
          <a:stretch>
            <a:fillRect/>
          </a:stretch>
        </p:blipFill>
        <p:spPr>
          <a:xfrm>
            <a:off x="4709160" y="3968496"/>
            <a:ext cx="219456" cy="219456"/>
          </a:xfrm>
          <a:prstGeom prst="rect">
            <a:avLst/>
          </a:prstGeom>
        </p:spPr>
      </p:pic>
      <p:sp>
        <p:nvSpPr>
          <p:cNvPr id="40" name="caution"/>
          <p:cNvSpPr txBox="1"/>
          <p:nvPr/>
        </p:nvSpPr>
        <p:spPr>
          <a:xfrm>
            <a:off x="5038344" y="3913632"/>
            <a:ext cx="3602736" cy="384048"/>
          </a:xfrm>
          <a:prstGeom prst="rect">
            <a:avLst/>
          </a:prstGeom>
          <a:noFill/>
          <a:ln/>
        </p:spPr>
        <p:txBody>
          <a:bodyPr wrap="square" lIns="0" tIns="0" rIns="0" bIns="0" rtlCol="0" anchor="ctr"/>
          <a:lstStyle/>
          <a:p>
            <a:pPr indent="0" marL="0">
              <a:buNone/>
            </a:pPr>
            <a:r>
              <a:rPr lang="en-US" sz="850" dirty="0">
                <a:solidFill>
                  <a:schemeClr val="tx2"/>
                </a:solidFill>
                <a:latin typeface="Poppins" pitchFamily="34" charset="0"/>
                <a:ea typeface="Poppins" pitchFamily="34" charset="-122"/>
                <a:cs typeface="Poppins" pitchFamily="34" charset="-120"/>
              </a:rPr>
              <a:t>Subgroup averages only: not every high performer gains, and not every low performer loses.</a:t>
            </a:r>
            <a:endParaRPr lang="en-US" sz="850" dirty="0"/>
          </a:p>
        </p:txBody>
      </p:sp>
      <p:sp>
        <p:nvSpPr>
          <p:cNvPr id="41"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Otis, N. G., et al. (2026). The Uneven Impact of Generative AI on Entrepreneurial Performance. Management Science, 72(7). doi.org/10.1287/mnsc.2024.06909</a:t>
            </a:r>
            <a:endParaRPr lang="en-US" sz="700" dirty="0"/>
          </a:p>
        </p:txBody>
      </p:sp>
      <p:sp>
        <p:nvSpPr>
          <p:cNvPr id="42"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Two studies, one lesson</a:t>
            </a:r>
            <a:endParaRPr lang="en-US" sz="850" dirty="0"/>
          </a:p>
        </p:txBody>
      </p:sp>
      <p:pic>
        <p:nvPicPr>
          <p:cNvPr id="43" name="icon FiArrowRight" descr="preencoded.png">    </p:cNvPr>
          <p:cNvPicPr>
            <a:picLocks noChangeAspect="1"/>
          </p:cNvPicPr>
          <p:nvPr/>
        </p:nvPicPr>
        <p:blipFill>
          <a:blip r:embed="rId8"/>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Discussion and comparison</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Is a Tool, Not a Guarantee of Success</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BFE6E0"/>
          </a:solidFill>
          <a:ln w="12700">
            <a:solidFill>
              <a:srgbClr val="BFE6E0"/>
            </a:solidFill>
            <a:prstDash val="solid"/>
          </a:ln>
        </p:spPr>
      </p:sp>
      <p:sp>
        <p:nvSpPr>
          <p:cNvPr id="8" name="progress dot 5"/>
          <p:cNvSpPr/>
          <p:nvPr/>
        </p:nvSpPr>
        <p:spPr>
          <a:xfrm>
            <a:off x="8540496" y="342900"/>
            <a:ext cx="100584" cy="100584"/>
          </a:xfrm>
          <a:prstGeom prst="ellipse">
            <a:avLst/>
          </a:prstGeom>
          <a:solidFill>
            <a:srgbClr val="2E8B86"/>
          </a:solidFill>
          <a:ln w="12700">
            <a:solidFill>
              <a:srgbClr val="2E8B86"/>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5 / 5</a:t>
            </a:r>
            <a:endParaRPr lang="en-US" sz="8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502920" y="1627632"/>
          <a:ext cx="8138160" cy="914400"/>
        </p:xfrm>
        <a:graphic>
          <a:graphicData uri="http://schemas.openxmlformats.org/drawingml/2006/table">
            <a:tbl>
              <a:tblPr/>
              <a:tblGrid>
                <a:gridCol w="1463040"/>
                <a:gridCol w="3337560"/>
                <a:gridCol w="3337560"/>
              </a:tblGrid>
              <a:tr h="329184">
                <a:tc>
                  <a:txBody>
                    <a:bodyPr/>
                    <a:lstStyle/>
                    <a:p>
                      <a:pPr indent="0" marL="0">
                        <a:buNone/>
                      </a:pP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Article 2  ·  Consultants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Article 5  ·  Entrepreneurs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Focus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Knowledge workers at BCG</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Small businesses in Kenya</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Main result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Higher productivity and quality inside AI's capability frontier</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No established average effect on revenue and profit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Key insight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Lower correctness on a task outside the frontier</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Outcomes depended on baseline performance and the advice implemented</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502920" y="3456432"/>
            <a:ext cx="8138160" cy="932688"/>
          </a:xfrm>
          <a:prstGeom prst="roundRect">
            <a:avLst>
              <a:gd name="adj" fmla="val 11765"/>
            </a:avLst>
          </a:prstGeom>
          <a:solidFill>
            <a:srgbClr val="2E8B86"/>
          </a:solidFill>
          <a:ln w="12700">
            <a:solidFill>
              <a:srgbClr val="2E8B86"/>
            </a:solidFill>
            <a:prstDash val="solid"/>
          </a:ln>
        </p:spPr>
      </p:sp>
      <p:sp>
        <p:nvSpPr>
          <p:cNvPr id="14" name="tag interp"/>
          <p:cNvSpPr/>
          <p:nvPr/>
        </p:nvSpPr>
        <p:spPr>
          <a:xfrm>
            <a:off x="731520" y="3584448"/>
            <a:ext cx="1143000" cy="201168"/>
          </a:xfrm>
          <a:prstGeom prst="roundRect">
            <a:avLst>
              <a:gd name="adj" fmla="val 50000"/>
            </a:avLst>
          </a:prstGeom>
          <a:solidFill>
            <a:srgbClr val="FFFFFF"/>
          </a:solidFill>
          <a:ln w="12700">
            <a:solidFill>
              <a:srgbClr val="FFFFFF"/>
            </a:solidFill>
            <a:prstDash val="solid"/>
          </a:ln>
        </p:spPr>
      </p:sp>
      <p:sp>
        <p:nvSpPr>
          <p:cNvPr id="15" name="tag text"/>
          <p:cNvSpPr txBox="1"/>
          <p:nvPr/>
        </p:nvSpPr>
        <p:spPr>
          <a:xfrm>
            <a:off x="731520" y="3584448"/>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INTERPRETATION</a:t>
            </a:r>
            <a:endParaRPr lang="en-US" sz="750" dirty="0"/>
          </a:p>
        </p:txBody>
      </p:sp>
      <p:sp>
        <p:nvSpPr>
          <p:cNvPr id="16" name="conclusion"/>
          <p:cNvSpPr txBox="1"/>
          <p:nvPr/>
        </p:nvSpPr>
        <p:spPr>
          <a:xfrm>
            <a:off x="731520" y="3840480"/>
            <a:ext cx="4160520" cy="475488"/>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AI can influence real-world performance, but its impact depends on task suitability, user behavior, and human judgment.</a:t>
            </a:r>
            <a:endParaRPr lang="en-US" sz="950" dirty="0"/>
          </a:p>
        </p:txBody>
      </p:sp>
      <p:pic>
        <p:nvPicPr>
          <p:cNvPr id="17" name="icon check" descr="preencoded.png">    </p:cNvPr>
          <p:cNvPicPr>
            <a:picLocks noChangeAspect="1"/>
          </p:cNvPicPr>
          <p:nvPr/>
        </p:nvPicPr>
        <p:blipFill>
          <a:blip r:embed="rId1"/>
          <a:stretch>
            <a:fillRect/>
          </a:stretch>
        </p:blipFill>
        <p:spPr>
          <a:xfrm>
            <a:off x="4983480" y="3621024"/>
            <a:ext cx="164592" cy="164592"/>
          </a:xfrm>
          <a:prstGeom prst="rect">
            <a:avLst/>
          </a:prstGeom>
        </p:spPr>
      </p:pic>
      <p:sp>
        <p:nvSpPr>
          <p:cNvPr id="18" name="takeaway 1"/>
          <p:cNvSpPr txBox="1"/>
          <p:nvPr/>
        </p:nvSpPr>
        <p:spPr>
          <a:xfrm>
            <a:off x="5239512" y="3584448"/>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Match the task to AI's strengths</a:t>
            </a:r>
            <a:endParaRPr lang="en-US" sz="850" dirty="0"/>
          </a:p>
        </p:txBody>
      </p:sp>
      <p:pic>
        <p:nvPicPr>
          <p:cNvPr id="19" name="icon check" descr="preencoded.png">    </p:cNvPr>
          <p:cNvPicPr>
            <a:picLocks noChangeAspect="1"/>
          </p:cNvPicPr>
          <p:nvPr/>
        </p:nvPicPr>
        <p:blipFill>
          <a:blip r:embed="rId2"/>
          <a:stretch>
            <a:fillRect/>
          </a:stretch>
        </p:blipFill>
        <p:spPr>
          <a:xfrm>
            <a:off x="4983480" y="3867912"/>
            <a:ext cx="164592" cy="164592"/>
          </a:xfrm>
          <a:prstGeom prst="rect">
            <a:avLst/>
          </a:prstGeom>
        </p:spPr>
      </p:pic>
      <p:sp>
        <p:nvSpPr>
          <p:cNvPr id="20" name="takeaway 2"/>
          <p:cNvSpPr txBox="1"/>
          <p:nvPr/>
        </p:nvSpPr>
        <p:spPr>
          <a:xfrm>
            <a:off x="5239512" y="3831336"/>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Evaluate AI advice critically</a:t>
            </a:r>
            <a:endParaRPr lang="en-US" sz="850" dirty="0"/>
          </a:p>
        </p:txBody>
      </p:sp>
      <p:pic>
        <p:nvPicPr>
          <p:cNvPr id="21" name="icon check" descr="preencoded.png">    </p:cNvPr>
          <p:cNvPicPr>
            <a:picLocks noChangeAspect="1"/>
          </p:cNvPicPr>
          <p:nvPr/>
        </p:nvPicPr>
        <p:blipFill>
          <a:blip r:embed="rId3"/>
          <a:stretch>
            <a:fillRect/>
          </a:stretch>
        </p:blipFill>
        <p:spPr>
          <a:xfrm>
            <a:off x="4983480" y="4114800"/>
            <a:ext cx="164592" cy="164592"/>
          </a:xfrm>
          <a:prstGeom prst="rect">
            <a:avLst/>
          </a:prstGeom>
        </p:spPr>
      </p:pic>
      <p:sp>
        <p:nvSpPr>
          <p:cNvPr id="22" name="takeaway 3"/>
          <p:cNvSpPr txBox="1"/>
          <p:nvPr/>
        </p:nvSpPr>
        <p:spPr>
          <a:xfrm>
            <a:off x="5239512" y="4078224"/>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Keep human judgment in the loop</a:t>
            </a:r>
            <a:endParaRPr lang="en-US" sz="850" dirty="0"/>
          </a:p>
        </p:txBody>
      </p:sp>
      <p:pic>
        <p:nvPicPr>
          <p:cNvPr id="23" name="human handshake" descr="preencoded.png">    </p:cNvPr>
          <p:cNvPicPr>
            <a:picLocks noChangeAspect="1"/>
          </p:cNvPicPr>
          <p:nvPr/>
        </p:nvPicPr>
        <p:blipFill>
          <a:blip r:embed="rId4"/>
          <a:stretch>
            <a:fillRect/>
          </a:stretch>
        </p:blipFill>
        <p:spPr>
          <a:xfrm>
            <a:off x="7068312" y="3547872"/>
            <a:ext cx="749808" cy="786384"/>
          </a:xfrm>
          <a:prstGeom prst="rect">
            <a:avLst/>
          </a:prstGeom>
        </p:spPr>
      </p:pic>
      <p:pic>
        <p:nvPicPr>
          <p:cNvPr id="24" name="mascot handshake" descr="preencoded.png">    </p:cNvPr>
          <p:cNvPicPr>
            <a:picLocks noChangeAspect="1"/>
          </p:cNvPicPr>
          <p:nvPr/>
        </p:nvPicPr>
        <p:blipFill>
          <a:blip r:embed="rId5"/>
          <a:stretch>
            <a:fillRect/>
          </a:stretch>
        </p:blipFill>
        <p:spPr>
          <a:xfrm>
            <a:off x="7744968" y="3547872"/>
            <a:ext cx="822960" cy="786384"/>
          </a:xfrm>
          <a:prstGeom prst="rect">
            <a:avLst/>
          </a:prstGeom>
        </p:spPr>
      </p:pic>
      <p:sp>
        <p:nvSpPr>
          <p:cNvPr id="25"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700" dirty="0"/>
          </a:p>
        </p:txBody>
      </p:sp>
      <p:sp>
        <p:nvSpPr>
          <p:cNvPr id="26"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Thank you. Questions are welcome.</a:t>
            </a:r>
            <a:endParaRPr lang="en-US" sz="850" dirty="0"/>
          </a:p>
        </p:txBody>
      </p:sp>
      <p:pic>
        <p:nvPicPr>
          <p:cNvPr id="27"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rompt" pitchFamily="34" charset="0"/>
                <a:ea typeface="Prompt" pitchFamily="34" charset="-122"/>
                <a:cs typeface="Prompt" pitchFamily="34" charset="-120"/>
              </a:rPr>
              <a:t>ปัญญาประดิษฐ์กับประสิทธิภาพการทำงาน</a:t>
            </a: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400" dirty="0"/>
          </a:p>
        </p:txBody>
      </p:sp>
      <p:pic>
        <p:nvPicPr>
          <p:cNvPr id="4" name="mascot waving" descr="preencoded.png">    </p:cNvPr>
          <p:cNvPicPr>
            <a:picLocks noChangeAspect="1"/>
          </p:cNvPicPr>
          <p:nvPr/>
        </p:nvPicPr>
        <p:blipFill>
          <a:blip r:embed="rId1"/>
          <a:stretch>
            <a:fillRect/>
          </a:stretch>
        </p:blipFill>
        <p:spPr>
          <a:xfrm>
            <a:off x="6858000" y="320040"/>
            <a:ext cx="1920240" cy="1664208"/>
          </a:xfrm>
          <a:prstGeom prst="rect">
            <a:avLst/>
          </a:prstGeom>
        </p:spPr>
      </p:pic>
      <p:sp>
        <p:nvSpPr>
          <p:cNvPr id="5" name="central question"/>
          <p:cNvSpPr txBox="1"/>
          <p:nvPr/>
        </p:nvSpPr>
        <p:spPr>
          <a:xfrm>
            <a:off x="502920" y="1938528"/>
            <a:ext cx="8138160" cy="365760"/>
          </a:xfrm>
          <a:prstGeom prst="rect">
            <a:avLst/>
          </a:prstGeom>
          <a:noFill/>
          <a:ln/>
        </p:spPr>
        <p:txBody>
          <a:bodyPr wrap="square" lIns="0" tIns="0" rIns="0" bIns="0" rtlCol="0" anchor="ctr"/>
          <a:lstStyle/>
          <a:p>
            <a:pPr indent="0" marL="0">
              <a:buNone/>
            </a:pPr>
            <a:r>
              <a:rPr lang="en-US" sz="1300" b="1" dirty="0">
                <a:solidFill>
                  <a:srgbClr val="FFFFFF"/>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300" dirty="0"/>
          </a:p>
        </p:txBody>
      </p:sp>
      <p:sp>
        <p:nvSpPr>
          <p:cNvPr id="6" name="article card 1"/>
          <p:cNvSpPr/>
          <p:nvPr/>
        </p:nvSpPr>
        <p:spPr>
          <a:xfrm>
            <a:off x="502920" y="2432304"/>
            <a:ext cx="3931920" cy="1261872"/>
          </a:xfrm>
          <a:prstGeom prst="roundRect">
            <a:avLst>
              <a:gd name="adj" fmla="val 8696"/>
            </a:avLst>
          </a:prstGeom>
          <a:solidFill>
            <a:srgbClr val="2A3D63"/>
          </a:solidFill>
          <a:ln w="12700">
            <a:solidFill>
              <a:srgbClr val="2A3D63"/>
            </a:solidFill>
            <a:prstDash val="solid"/>
          </a:ln>
        </p:spPr>
      </p:sp>
      <p:sp>
        <p:nvSpPr>
          <p:cNvPr id="7" name="article label"/>
          <p:cNvSpPr txBox="1"/>
          <p:nvPr/>
        </p:nvSpPr>
        <p:spPr>
          <a:xfrm>
            <a:off x="704088" y="2542032"/>
            <a:ext cx="3529584" cy="201168"/>
          </a:xfrm>
          <a:prstGeom prst="rect">
            <a:avLst/>
          </a:prstGeom>
          <a:noFill/>
          <a:ln/>
        </p:spPr>
        <p:txBody>
          <a:bodyPr wrap="square" lIns="0" tIns="0" rIns="0" bIns="0" rtlCol="0" anchor="ctr"/>
          <a:lstStyle/>
          <a:p>
            <a:pPr indent="0" marL="0">
              <a:buNone/>
            </a:pPr>
            <a:r>
              <a:rPr lang="en-US" sz="950" b="1" spc="150" kern="0" dirty="0">
                <a:solidFill>
                  <a:srgbClr val="BFE6E0"/>
                </a:solidFill>
                <a:latin typeface="Prompt" pitchFamily="34" charset="0"/>
                <a:ea typeface="Prompt" pitchFamily="34" charset="-122"/>
                <a:cs typeface="Prompt" pitchFamily="34" charset="-120"/>
              </a:rPr>
              <a:t>บทความที่ 2</a:t>
            </a:r>
            <a:endParaRPr lang="en-US" sz="950" dirty="0"/>
          </a:p>
        </p:txBody>
      </p:sp>
      <p:sp>
        <p:nvSpPr>
          <p:cNvPr id="8" name="article title"/>
          <p:cNvSpPr txBox="1"/>
          <p:nvPr/>
        </p:nvSpPr>
        <p:spPr>
          <a:xfrm>
            <a:off x="704088" y="2761488"/>
            <a:ext cx="3529584" cy="603504"/>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Navigating the Jagged Technological Frontier: Field Experimental Evidence of the Effects of AI on Knowledge Worker Productivity and Quality</a:t>
            </a:r>
            <a:endParaRPr lang="en-US" sz="1050" dirty="0"/>
          </a:p>
        </p:txBody>
      </p:sp>
      <p:sp>
        <p:nvSpPr>
          <p:cNvPr id="9" name="article meta"/>
          <p:cNvSpPr txBox="1"/>
          <p:nvPr/>
        </p:nvSpPr>
        <p:spPr>
          <a:xfrm>
            <a:off x="704088" y="3364992"/>
            <a:ext cx="3529584" cy="292608"/>
          </a:xfrm>
          <a:prstGeom prst="rect">
            <a:avLst/>
          </a:prstGeom>
          <a:noFill/>
          <a:ln/>
        </p:spPr>
        <p:txBody>
          <a:bodyPr wrap="square" lIns="0" tIns="0" rIns="0" bIns="0" rtlCol="0" anchor="t"/>
          <a:lstStyle/>
          <a:p>
            <a:pPr indent="0" marL="0">
              <a:buNone/>
            </a:pPr>
            <a:r>
              <a:rPr lang="en-US" sz="85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850" dirty="0"/>
          </a:p>
        </p:txBody>
      </p:sp>
      <p:sp>
        <p:nvSpPr>
          <p:cNvPr id="10" name="article card 2"/>
          <p:cNvSpPr/>
          <p:nvPr/>
        </p:nvSpPr>
        <p:spPr>
          <a:xfrm>
            <a:off x="4709160" y="2432304"/>
            <a:ext cx="3931920" cy="1261872"/>
          </a:xfrm>
          <a:prstGeom prst="roundRect">
            <a:avLst>
              <a:gd name="adj" fmla="val 8696"/>
            </a:avLst>
          </a:prstGeom>
          <a:solidFill>
            <a:srgbClr val="2A3D63"/>
          </a:solidFill>
          <a:ln w="12700">
            <a:solidFill>
              <a:srgbClr val="2A3D63"/>
            </a:solidFill>
            <a:prstDash val="solid"/>
          </a:ln>
        </p:spPr>
      </p:sp>
      <p:sp>
        <p:nvSpPr>
          <p:cNvPr id="11" name="article label"/>
          <p:cNvSpPr txBox="1"/>
          <p:nvPr/>
        </p:nvSpPr>
        <p:spPr>
          <a:xfrm>
            <a:off x="4910328" y="2542032"/>
            <a:ext cx="3529584" cy="201168"/>
          </a:xfrm>
          <a:prstGeom prst="rect">
            <a:avLst/>
          </a:prstGeom>
          <a:noFill/>
          <a:ln/>
        </p:spPr>
        <p:txBody>
          <a:bodyPr wrap="square" lIns="0" tIns="0" rIns="0" bIns="0" rtlCol="0" anchor="ctr"/>
          <a:lstStyle/>
          <a:p>
            <a:pPr indent="0" marL="0">
              <a:buNone/>
            </a:pPr>
            <a:r>
              <a:rPr lang="en-US" sz="950" b="1" spc="150" kern="0" dirty="0">
                <a:solidFill>
                  <a:srgbClr val="BFE6E0"/>
                </a:solidFill>
                <a:latin typeface="Prompt" pitchFamily="34" charset="0"/>
                <a:ea typeface="Prompt" pitchFamily="34" charset="-122"/>
                <a:cs typeface="Prompt" pitchFamily="34" charset="-120"/>
              </a:rPr>
              <a:t>บทความที่ 5</a:t>
            </a:r>
            <a:endParaRPr lang="en-US" sz="950" dirty="0"/>
          </a:p>
        </p:txBody>
      </p:sp>
      <p:sp>
        <p:nvSpPr>
          <p:cNvPr id="12" name="article title"/>
          <p:cNvSpPr txBox="1"/>
          <p:nvPr/>
        </p:nvSpPr>
        <p:spPr>
          <a:xfrm>
            <a:off x="4910328" y="2761488"/>
            <a:ext cx="3529584" cy="603504"/>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The Uneven Impact of Generative Artificial Intelligence on Entrepreneurial Performance: Evidence from a Field Experiment in Kenya</a:t>
            </a:r>
            <a:endParaRPr lang="en-US" sz="1050" dirty="0"/>
          </a:p>
        </p:txBody>
      </p:sp>
      <p:sp>
        <p:nvSpPr>
          <p:cNvPr id="13" name="article meta"/>
          <p:cNvSpPr txBox="1"/>
          <p:nvPr/>
        </p:nvSpPr>
        <p:spPr>
          <a:xfrm>
            <a:off x="4910328" y="3364992"/>
            <a:ext cx="3529584" cy="292608"/>
          </a:xfrm>
          <a:prstGeom prst="rect">
            <a:avLst/>
          </a:prstGeom>
          <a:noFill/>
          <a:ln/>
        </p:spPr>
        <p:txBody>
          <a:bodyPr wrap="square" lIns="0" tIns="0" rIns="0" bIns="0" rtlCol="0" anchor="t"/>
          <a:lstStyle/>
          <a:p>
            <a:pPr indent="0" marL="0">
              <a:buNone/>
            </a:pPr>
            <a:r>
              <a:rPr lang="en-US" sz="85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850" dirty="0"/>
          </a:p>
        </p:txBody>
      </p:sp>
      <p:sp>
        <p:nvSpPr>
          <p:cNvPr id="14" name="roadmap head"/>
          <p:cNvSpPr txBox="1"/>
          <p:nvPr/>
        </p:nvSpPr>
        <p:spPr>
          <a:xfrm>
            <a:off x="502920" y="3840480"/>
            <a:ext cx="1051560" cy="256032"/>
          </a:xfrm>
          <a:prstGeom prst="rect">
            <a:avLst/>
          </a:prstGeom>
          <a:noFill/>
          <a:ln/>
        </p:spPr>
        <p:txBody>
          <a:bodyPr wrap="square" lIns="0" tIns="0" rIns="0" bIns="0" rtlCol="0" anchor="ctr"/>
          <a:lstStyle/>
          <a:p>
            <a:pPr indent="0" marL="0">
              <a:buNone/>
            </a:pPr>
            <a:r>
              <a:rPr lang="en-US" sz="950" b="1" dirty="0">
                <a:solidFill>
                  <a:srgbClr val="BFE6E0"/>
                </a:solidFill>
                <a:latin typeface="Prompt" pitchFamily="34" charset="0"/>
                <a:ea typeface="Prompt" pitchFamily="34" charset="-122"/>
                <a:cs typeface="Prompt" pitchFamily="34" charset="-120"/>
              </a:rPr>
              <a:t>ลำดับการนำเสนอ</a:t>
            </a:r>
            <a:endParaRPr lang="en-US" sz="950" dirty="0"/>
          </a:p>
        </p:txBody>
      </p:sp>
      <p:sp>
        <p:nvSpPr>
          <p:cNvPr id="15" name="roadmap chip 1"/>
          <p:cNvSpPr/>
          <p:nvPr/>
        </p:nvSpPr>
        <p:spPr>
          <a:xfrm>
            <a:off x="1645920" y="3840480"/>
            <a:ext cx="1325880" cy="256032"/>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4592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1  บทนำ</a:t>
            </a:r>
            <a:endParaRPr lang="en-US" sz="750" dirty="0"/>
          </a:p>
        </p:txBody>
      </p:sp>
      <p:sp>
        <p:nvSpPr>
          <p:cNvPr id="17" name="roadmap chip 2"/>
          <p:cNvSpPr/>
          <p:nvPr/>
        </p:nvSpPr>
        <p:spPr>
          <a:xfrm>
            <a:off x="3063240" y="3840480"/>
            <a:ext cx="1325880" cy="256032"/>
          </a:xfrm>
          <a:prstGeom prst="roundRect">
            <a:avLst>
              <a:gd name="adj" fmla="val 50000"/>
            </a:avLst>
          </a:prstGeom>
          <a:solidFill>
            <a:srgbClr val="2A3D63"/>
          </a:solidFill>
          <a:ln w="12700">
            <a:solidFill>
              <a:srgbClr val="2A3D63"/>
            </a:solidFill>
            <a:prstDash val="solid"/>
          </a:ln>
        </p:spPr>
      </p:sp>
      <p:sp>
        <p:nvSpPr>
          <p:cNvPr id="18" name="roadmap chip text"/>
          <p:cNvSpPr txBox="1"/>
          <p:nvPr/>
        </p:nvSpPr>
        <p:spPr>
          <a:xfrm>
            <a:off x="306324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2  บทความ 2: วิธีวิจัย</a:t>
            </a:r>
            <a:endParaRPr lang="en-US" sz="750" dirty="0"/>
          </a:p>
        </p:txBody>
      </p:sp>
      <p:sp>
        <p:nvSpPr>
          <p:cNvPr id="19" name="roadmap chip 3"/>
          <p:cNvSpPr/>
          <p:nvPr/>
        </p:nvSpPr>
        <p:spPr>
          <a:xfrm>
            <a:off x="4480560" y="3840480"/>
            <a:ext cx="1325880" cy="256032"/>
          </a:xfrm>
          <a:prstGeom prst="roundRect">
            <a:avLst>
              <a:gd name="adj" fmla="val 50000"/>
            </a:avLst>
          </a:prstGeom>
          <a:solidFill>
            <a:srgbClr val="2A3D63"/>
          </a:solidFill>
          <a:ln w="12700">
            <a:solidFill>
              <a:srgbClr val="2A3D63"/>
            </a:solidFill>
            <a:prstDash val="solid"/>
          </a:ln>
        </p:spPr>
      </p:sp>
      <p:sp>
        <p:nvSpPr>
          <p:cNvPr id="20" name="roadmap chip text"/>
          <p:cNvSpPr txBox="1"/>
          <p:nvPr/>
        </p:nvSpPr>
        <p:spPr>
          <a:xfrm>
            <a:off x="448056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3  บทความ 2: ผลการศึกษา</a:t>
            </a:r>
            <a:endParaRPr lang="en-US" sz="750" dirty="0"/>
          </a:p>
        </p:txBody>
      </p:sp>
      <p:sp>
        <p:nvSpPr>
          <p:cNvPr id="21" name="roadmap chip 4"/>
          <p:cNvSpPr/>
          <p:nvPr/>
        </p:nvSpPr>
        <p:spPr>
          <a:xfrm>
            <a:off x="5897880" y="3840480"/>
            <a:ext cx="1325880" cy="256032"/>
          </a:xfrm>
          <a:prstGeom prst="roundRect">
            <a:avLst>
              <a:gd name="adj" fmla="val 50000"/>
            </a:avLst>
          </a:prstGeom>
          <a:solidFill>
            <a:srgbClr val="2A3D63"/>
          </a:solidFill>
          <a:ln w="12700">
            <a:solidFill>
              <a:srgbClr val="2A3D63"/>
            </a:solidFill>
            <a:prstDash val="solid"/>
          </a:ln>
        </p:spPr>
      </p:sp>
      <p:sp>
        <p:nvSpPr>
          <p:cNvPr id="22" name="roadmap chip text"/>
          <p:cNvSpPr txBox="1"/>
          <p:nvPr/>
        </p:nvSpPr>
        <p:spPr>
          <a:xfrm>
            <a:off x="589788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4  บทความ 5: ผู้ประกอบการ</a:t>
            </a:r>
            <a:endParaRPr lang="en-US" sz="750" dirty="0"/>
          </a:p>
        </p:txBody>
      </p:sp>
      <p:sp>
        <p:nvSpPr>
          <p:cNvPr id="23" name="roadmap chip 5"/>
          <p:cNvSpPr/>
          <p:nvPr/>
        </p:nvSpPr>
        <p:spPr>
          <a:xfrm>
            <a:off x="7315200" y="3840480"/>
            <a:ext cx="1325880" cy="256032"/>
          </a:xfrm>
          <a:prstGeom prst="roundRect">
            <a:avLst>
              <a:gd name="adj" fmla="val 50000"/>
            </a:avLst>
          </a:prstGeom>
          <a:solidFill>
            <a:srgbClr val="2A3D63"/>
          </a:solidFill>
          <a:ln w="12700">
            <a:solidFill>
              <a:srgbClr val="2A3D63"/>
            </a:solidFill>
            <a:prstDash val="solid"/>
          </a:ln>
        </p:spPr>
      </p:sp>
      <p:sp>
        <p:nvSpPr>
          <p:cNvPr id="24" name="roadmap chip text"/>
          <p:cNvSpPr txBox="1"/>
          <p:nvPr/>
        </p:nvSpPr>
        <p:spPr>
          <a:xfrm>
            <a:off x="731520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5  อภิปรายผล</a:t>
            </a:r>
            <a:endParaRPr lang="en-US" sz="750" dirty="0"/>
          </a:p>
        </p:txBody>
      </p:sp>
      <p:sp>
        <p:nvSpPr>
          <p:cNvPr id="25" name="presenter"/>
          <p:cNvSpPr txBox="1"/>
          <p:nvPr/>
        </p:nvSpPr>
        <p:spPr>
          <a:xfrm>
            <a:off x="502920" y="4261104"/>
            <a:ext cx="8138160" cy="457200"/>
          </a:xfrm>
          <a:prstGeom prst="rect">
            <a:avLst/>
          </a:prstGeom>
          <a:noFill/>
          <a:ln/>
        </p:spPr>
        <p:txBody>
          <a:bodyPr wrap="square" lIns="0" tIns="0" rIns="0" bIns="0" rtlCol="0" anchor="t"/>
          <a:lstStyle/>
          <a:p>
            <a:pPr indent="0" marL="0">
              <a:buNone/>
            </a:pPr>
            <a:r>
              <a:rPr lang="en-US" sz="1200" b="1" dirty="0">
                <a:solidFill>
                  <a:srgbClr val="FFFFFF"/>
                </a:solidFill>
                <a:latin typeface="Prompt" pitchFamily="34" charset="0"/>
                <a:ea typeface="Prompt" pitchFamily="34" charset="-122"/>
                <a:cs typeface="Prompt" pitchFamily="34" charset="-120"/>
              </a:rPr>
              <a:t>Chayanun Sungsa-ard</a:t>
            </a:r>
            <a:endParaRPr lang="en-US" sz="1200" dirty="0"/>
          </a:p>
          <a:p>
            <a:pPr indent="0" marL="0">
              <a:buNone/>
            </a:pPr>
            <a:r>
              <a:rPr lang="en-US" sz="1000" dirty="0">
                <a:solidFill>
                  <a:srgbClr val="BFE6E0"/>
                </a:solidFill>
                <a:latin typeface="Prompt" pitchFamily="34" charset="0"/>
                <a:ea typeface="Prompt" pitchFamily="34" charset="-122"/>
                <a:cs typeface="Prompt" pitchFamily="34" charset="-120"/>
              </a:rPr>
              <a:t>รหัสนักศึกษา 691401708  ·  MBA  ·  ENG 501 English for Master's Degree</a:t>
            </a:r>
            <a:endParaRPr lang="en-US" sz="12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rompt"/>
                <a:ea typeface="Prompt"/>
                <a:cs typeface="Promp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2  ·  วัตถุประสงค์และวิธีวิจัย</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2E8B86"/>
          </a:solidFill>
          <a:ln w="12700">
            <a:solidFill>
              <a:srgbClr val="2E8B86"/>
            </a:solidFill>
            <a:prstDash val="solid"/>
          </a:ln>
        </p:spPr>
      </p:sp>
      <p:sp>
        <p:nvSpPr>
          <p:cNvPr id="6" name="progress dot 3"/>
          <p:cNvSpPr/>
          <p:nvPr/>
        </p:nvSpPr>
        <p:spPr>
          <a:xfrm>
            <a:off x="8174736" y="342900"/>
            <a:ext cx="100584" cy="100584"/>
          </a:xfrm>
          <a:prstGeom prst="ellipse">
            <a:avLst/>
          </a:prstGeom>
          <a:solidFill>
            <a:srgbClr val="E3E8EE"/>
          </a:solidFill>
          <a:ln w="12700">
            <a:solidFill>
              <a:srgbClr val="E3E8EE"/>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2 / 5</a:t>
            </a:r>
            <a:endParaRPr lang="en-US" sz="9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Briefcase"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องค์กรที่ร่วมวิจัย"/>
          <p:cNvSpPr txBox="1"/>
          <p:nvPr/>
        </p:nvSpPr>
        <p:spPr>
          <a:xfrm>
            <a:off x="1005840" y="1435608"/>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องค์กรที่ร่วมวิจัย</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การทดลองภาคสนามร่วมกับ Boston Consulting Group (BCG)</a:t>
            </a:r>
            <a:endParaRPr lang="en-US" sz="12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Users"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ผู้เข้าร่วม"/>
          <p:cNvSpPr txBox="1"/>
          <p:nvPr/>
        </p:nvSpPr>
        <p:spPr>
          <a:xfrm>
            <a:off x="1005840" y="2020824"/>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ผู้เข้าร่วม</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ที่ปรึกษา 758 คน</a:t>
            </a:r>
            <a:endParaRPr lang="en-US" sz="12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Target"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ประเด็นที่ศึกษา"/>
          <p:cNvSpPr txBox="1"/>
          <p:nvPr/>
        </p:nvSpPr>
        <p:spPr>
          <a:xfrm>
            <a:off x="1005840" y="2606040"/>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ประเด็นที่ศึกษา</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1200" dirty="0"/>
          </a:p>
        </p:txBody>
      </p:sp>
      <p:sp>
        <p:nvSpPr>
          <p:cNvPr id="19" name="conditions head"/>
          <p:cNvSpPr txBox="1"/>
          <p:nvPr/>
        </p:nvSpPr>
        <p:spPr>
          <a:xfrm>
            <a:off x="502920" y="3273552"/>
            <a:ext cx="3931920" cy="237744"/>
          </a:xfrm>
          <a:prstGeom prst="rect">
            <a:avLst/>
          </a:prstGeom>
          <a:noFill/>
          <a:ln/>
        </p:spPr>
        <p:txBody>
          <a:bodyPr wrap="square" lIns="0" tIns="0" rIns="0" bIns="0" rtlCol="0" anchor="ctr"/>
          <a:lstStyle/>
          <a:p>
            <a:pPr indent="0" marL="0">
              <a:buNone/>
            </a:pPr>
            <a:r>
              <a:rPr lang="en-US" sz="1150" b="1" dirty="0">
                <a:solidFill>
                  <a:schemeClr val="tx1"/>
                </a:solidFill>
                <a:latin typeface="Prompt" pitchFamily="34" charset="0"/>
                <a:ea typeface="Prompt" pitchFamily="34" charset="-122"/>
                <a:cs typeface="Prompt" pitchFamily="34" charset="-120"/>
              </a:rPr>
              <a:t>เงื่อนไขการทดลองสามกลุ่ม</a:t>
            </a:r>
            <a:endParaRPr lang="en-US" sz="1150" dirty="0"/>
          </a:p>
        </p:txBody>
      </p:sp>
      <p:sp>
        <p:nvSpPr>
          <p:cNvPr id="20" name="condition 1"/>
          <p:cNvSpPr/>
          <p:nvPr/>
        </p:nvSpPr>
        <p:spPr>
          <a:xfrm>
            <a:off x="502920" y="3566160"/>
            <a:ext cx="1219200" cy="749808"/>
          </a:xfrm>
          <a:prstGeom prst="roundRect">
            <a:avLst>
              <a:gd name="adj" fmla="val 14634"/>
            </a:avLst>
          </a:prstGeom>
          <a:solidFill>
            <a:srgbClr val="F3F5F8"/>
          </a:solidFill>
          <a:ln w="12700">
            <a:solidFill>
              <a:srgbClr val="F3F5F8"/>
            </a:solidFill>
            <a:prstDash val="solid"/>
          </a:ln>
        </p:spPr>
      </p:sp>
      <p:sp>
        <p:nvSpPr>
          <p:cNvPr id="21" name="condition number"/>
          <p:cNvSpPr txBox="1"/>
          <p:nvPr/>
        </p:nvSpPr>
        <p:spPr>
          <a:xfrm>
            <a:off x="61264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22" name="condition text"/>
          <p:cNvSpPr txBox="1"/>
          <p:nvPr/>
        </p:nvSpPr>
        <p:spPr>
          <a:xfrm>
            <a:off x="612648" y="3840480"/>
            <a:ext cx="999744" cy="438912"/>
          </a:xfrm>
          <a:prstGeom prst="rect">
            <a:avLst/>
          </a:prstGeom>
          <a:noFill/>
          <a:ln/>
        </p:spPr>
        <p:txBody>
          <a:bodyPr wrap="square" lIns="0" tIns="0" rIns="0" bIns="0" rtlCol="0" anchor="t"/>
          <a:lstStyle/>
          <a:p>
            <a:pPr indent="0" marL="0">
              <a:buNone/>
            </a:pPr>
            <a:r>
              <a:rPr lang="en-US" sz="950" dirty="0">
                <a:solidFill>
                  <a:schemeClr val="tx1"/>
                </a:solidFill>
                <a:latin typeface="Prompt" pitchFamily="34" charset="0"/>
                <a:ea typeface="Prompt" pitchFamily="34" charset="-122"/>
                <a:cs typeface="Prompt" pitchFamily="34" charset="-120"/>
              </a:rPr>
              <a:t>ไม่ใช้ AI</a:t>
            </a:r>
            <a:endParaRPr lang="en-US" sz="950" dirty="0"/>
          </a:p>
        </p:txBody>
      </p:sp>
      <p:sp>
        <p:nvSpPr>
          <p:cNvPr id="23" name="condition 2"/>
          <p:cNvSpPr/>
          <p:nvPr/>
        </p:nvSpPr>
        <p:spPr>
          <a:xfrm>
            <a:off x="1859280" y="3566160"/>
            <a:ext cx="1219200" cy="749808"/>
          </a:xfrm>
          <a:prstGeom prst="roundRect">
            <a:avLst>
              <a:gd name="adj" fmla="val 14634"/>
            </a:avLst>
          </a:prstGeom>
          <a:solidFill>
            <a:srgbClr val="F3F5F8"/>
          </a:solidFill>
          <a:ln w="12700">
            <a:solidFill>
              <a:srgbClr val="F3F5F8"/>
            </a:solidFill>
            <a:prstDash val="solid"/>
          </a:ln>
        </p:spPr>
      </p:sp>
      <p:sp>
        <p:nvSpPr>
          <p:cNvPr id="24" name="condition number"/>
          <p:cNvSpPr txBox="1"/>
          <p:nvPr/>
        </p:nvSpPr>
        <p:spPr>
          <a:xfrm>
            <a:off x="196900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25" name="condition text"/>
          <p:cNvSpPr txBox="1"/>
          <p:nvPr/>
        </p:nvSpPr>
        <p:spPr>
          <a:xfrm>
            <a:off x="1969008" y="3840480"/>
            <a:ext cx="999744" cy="438912"/>
          </a:xfrm>
          <a:prstGeom prst="rect">
            <a:avLst/>
          </a:prstGeom>
          <a:noFill/>
          <a:ln/>
        </p:spPr>
        <p:txBody>
          <a:bodyPr wrap="square" lIns="0" tIns="0" rIns="0" bIns="0" rtlCol="0" anchor="t"/>
          <a:lstStyle/>
          <a:p>
            <a:pPr indent="0" marL="0">
              <a:buNone/>
            </a:pPr>
            <a:r>
              <a:rPr lang="en-US" sz="950" dirty="0">
                <a:solidFill>
                  <a:schemeClr val="tx1"/>
                </a:solidFill>
                <a:latin typeface="Prompt" pitchFamily="34" charset="0"/>
                <a:ea typeface="Prompt" pitchFamily="34" charset="-122"/>
                <a:cs typeface="Prompt" pitchFamily="34" charset="-120"/>
              </a:rPr>
              <a:t>ใช้ GPT-4</a:t>
            </a:r>
            <a:endParaRPr lang="en-US" sz="950" dirty="0"/>
          </a:p>
        </p:txBody>
      </p:sp>
      <p:sp>
        <p:nvSpPr>
          <p:cNvPr id="26" name="condition 3"/>
          <p:cNvSpPr/>
          <p:nvPr/>
        </p:nvSpPr>
        <p:spPr>
          <a:xfrm>
            <a:off x="3215640" y="3566160"/>
            <a:ext cx="1219200" cy="749808"/>
          </a:xfrm>
          <a:prstGeom prst="roundRect">
            <a:avLst>
              <a:gd name="adj" fmla="val 14634"/>
            </a:avLst>
          </a:prstGeom>
          <a:solidFill>
            <a:srgbClr val="1B2A4A"/>
          </a:solidFill>
          <a:ln w="12700">
            <a:solidFill>
              <a:srgbClr val="1B2A4A"/>
            </a:solidFill>
            <a:prstDash val="solid"/>
          </a:ln>
        </p:spPr>
      </p:sp>
      <p:sp>
        <p:nvSpPr>
          <p:cNvPr id="27" name="condition number"/>
          <p:cNvSpPr txBox="1"/>
          <p:nvPr/>
        </p:nvSpPr>
        <p:spPr>
          <a:xfrm>
            <a:off x="3325368" y="3611880"/>
            <a:ext cx="274320" cy="237744"/>
          </a:xfrm>
          <a:prstGeom prst="rect">
            <a:avLst/>
          </a:prstGeom>
          <a:noFill/>
          <a:ln/>
        </p:spPr>
        <p:txBody>
          <a:bodyPr wrap="square" lIns="0" tIns="0" rIns="0" bIns="0" rtlCol="0" anchor="ctr"/>
          <a:lstStyle/>
          <a:p>
            <a:pPr indent="0" marL="0">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8" name="condition text"/>
          <p:cNvSpPr txBox="1"/>
          <p:nvPr/>
        </p:nvSpPr>
        <p:spPr>
          <a:xfrm>
            <a:off x="3325368" y="3840480"/>
            <a:ext cx="999744" cy="438912"/>
          </a:xfrm>
          <a:prstGeom prst="rect">
            <a:avLst/>
          </a:prstGeom>
          <a:noFill/>
          <a:ln/>
        </p:spPr>
        <p:txBody>
          <a:bodyPr wrap="square" lIns="0" tIns="0" rIns="0" bIns="0" rtlCol="0" anchor="t"/>
          <a:lstStyle/>
          <a:p>
            <a:pPr indent="0" marL="0">
              <a:buNone/>
            </a:pPr>
            <a:r>
              <a:rPr lang="en-US" sz="950" dirty="0">
                <a:solidFill>
                  <a:srgbClr val="FFFFFF"/>
                </a:solidFill>
                <a:latin typeface="Prompt" pitchFamily="34" charset="0"/>
                <a:ea typeface="Prompt" pitchFamily="34" charset="-122"/>
                <a:cs typeface="Prompt" pitchFamily="34" charset="-120"/>
              </a:rPr>
              <a:t>ใช้ GPT-4 + คำแนะนำการเขียน prompt</a:t>
            </a:r>
            <a:endParaRPr lang="en-US" sz="950" dirty="0"/>
          </a:p>
        </p:txBody>
      </p:sp>
      <p:sp>
        <p:nvSpPr>
          <p:cNvPr id="29" name="divider"/>
          <p:cNvSpPr/>
          <p:nvPr/>
        </p:nvSpPr>
        <p:spPr>
          <a:xfrm>
            <a:off x="4663440" y="1481328"/>
            <a:ext cx="0" cy="0"/>
          </a:xfrm>
          <a:prstGeom prst="line">
            <a:avLst/>
          </a:prstGeom>
          <a:noFill/>
          <a:ln w="9525">
            <a:solidFill>
              <a:srgbClr val="E3E8EE"/>
            </a:solidFill>
            <a:prstDash val="solid"/>
          </a:ln>
        </p:spPr>
      </p:sp>
      <p:sp>
        <p:nvSpPr>
          <p:cNvPr id="30" name="column divider"/>
          <p:cNvSpPr/>
          <p:nvPr/>
        </p:nvSpPr>
        <p:spPr>
          <a:xfrm>
            <a:off x="4663440" y="1481328"/>
            <a:ext cx="0" cy="2834640"/>
          </a:xfrm>
          <a:prstGeom prst="line">
            <a:avLst/>
          </a:prstGeom>
          <a:noFill/>
          <a:ln w="9525">
            <a:solidFill>
              <a:srgbClr val="E3E8EE"/>
            </a:solidFill>
            <a:prstDash val="solid"/>
          </a:ln>
        </p:spPr>
      </p:sp>
      <p:sp>
        <p:nvSpPr>
          <p:cNvPr id="31" name="tag concept"/>
          <p:cNvSpPr/>
          <p:nvPr/>
        </p:nvSpPr>
        <p:spPr>
          <a:xfrm>
            <a:off x="4892040" y="1481328"/>
            <a:ext cx="1143000" cy="201168"/>
          </a:xfrm>
          <a:prstGeom prst="roundRect">
            <a:avLst>
              <a:gd name="adj" fmla="val 50000"/>
            </a:avLst>
          </a:prstGeom>
          <a:solidFill>
            <a:srgbClr val="F3F5F8"/>
          </a:solidFill>
          <a:ln w="12700">
            <a:solidFill>
              <a:srgbClr val="F3F5F8"/>
            </a:solidFill>
            <a:prstDash val="solid"/>
          </a:ln>
        </p:spPr>
      </p:sp>
      <p:sp>
        <p:nvSpPr>
          <p:cNvPr id="32" name="tag text"/>
          <p:cNvSpPr txBox="1"/>
          <p:nvPr/>
        </p:nvSpPr>
        <p:spPr>
          <a:xfrm>
            <a:off x="4892040" y="1481328"/>
            <a:ext cx="1143000" cy="201168"/>
          </a:xfrm>
          <a:prstGeom prst="rect">
            <a:avLst/>
          </a:prstGeom>
          <a:noFill/>
          <a:ln/>
        </p:spPr>
        <p:txBody>
          <a:bodyPr wrap="square" lIns="0" tIns="0" rIns="0" bIns="0" rtlCol="0" anchor="ctr"/>
          <a:lstStyle/>
          <a:p>
            <a:pPr algn="ctr" indent="0" marL="0">
              <a:buNone/>
            </a:pPr>
            <a:r>
              <a:rPr lang="en-US" sz="850" b="1" spc="150" kern="0" dirty="0">
                <a:solidFill>
                  <a:srgbClr val="6B7280"/>
                </a:solidFill>
                <a:latin typeface="Prompt" pitchFamily="34" charset="0"/>
                <a:ea typeface="Prompt" pitchFamily="34" charset="-122"/>
                <a:cs typeface="Prompt" pitchFamily="34" charset="-120"/>
              </a:rPr>
              <a:t>แนวคิด</a:t>
            </a:r>
            <a:endParaRPr lang="en-US" sz="850" dirty="0"/>
          </a:p>
        </p:txBody>
      </p:sp>
      <p:sp>
        <p:nvSpPr>
          <p:cNvPr id="33" name="concept head"/>
          <p:cNvSpPr txBox="1"/>
          <p:nvPr/>
        </p:nvSpPr>
        <p:spPr>
          <a:xfrm>
            <a:off x="4892040" y="1755648"/>
            <a:ext cx="2651760" cy="274320"/>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Jagged Technological Frontier</a:t>
            </a:r>
            <a:endParaRPr lang="en-US" sz="1250" dirty="0"/>
          </a:p>
        </p:txBody>
      </p:sp>
      <p:sp>
        <p:nvSpPr>
          <p:cNvPr id="34" name="concept body"/>
          <p:cNvSpPr txBox="1"/>
          <p:nvPr/>
        </p:nvSpPr>
        <p:spPr>
          <a:xfrm>
            <a:off x="4892040" y="2048256"/>
            <a:ext cx="2606040" cy="731520"/>
          </a:xfrm>
          <a:prstGeom prst="rect">
            <a:avLst/>
          </a:prstGeom>
          <a:noFill/>
          <a:ln/>
        </p:spPr>
        <p:txBody>
          <a:bodyPr wrap="square" lIns="0" tIns="0" rIns="0" bIns="0" rtlCol="0" anchor="t"/>
          <a:lstStyle/>
          <a:p>
            <a:pPr indent="0" marL="0">
              <a:buNone/>
            </a:pPr>
            <a:r>
              <a:rPr lang="en-US" sz="1050" dirty="0">
                <a:solidFill>
                  <a:schemeClr val="tx2"/>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เส้นแบ่งนี้ไม่สม่ำเสมอและมองเห็นได้ยาก</a:t>
            </a:r>
            <a:endParaRPr lang="en-US" sz="1050" dirty="0"/>
          </a:p>
        </p:txBody>
      </p:sp>
      <p:pic>
        <p:nvPicPr>
          <p:cNvPr id="35" name="mascot searching" descr="preencoded.png">    </p:cNvPr>
          <p:cNvPicPr>
            <a:picLocks noChangeAspect="1"/>
          </p:cNvPicPr>
          <p:nvPr/>
        </p:nvPicPr>
        <p:blipFill>
          <a:blip r:embed="rId4"/>
          <a:stretch>
            <a:fillRect/>
          </a:stretch>
        </p:blipFill>
        <p:spPr>
          <a:xfrm>
            <a:off x="7589520" y="1481328"/>
            <a:ext cx="1005840" cy="868680"/>
          </a:xfrm>
          <a:prstGeom prst="rect">
            <a:avLst/>
          </a:prstGeom>
        </p:spPr>
      </p:pic>
      <p:pic>
        <p:nvPicPr>
          <p:cNvPr id="36" name="frontier illustration" descr="preencoded.png">    </p:cNvPr>
          <p:cNvPicPr>
            <a:picLocks noChangeAspect="1"/>
          </p:cNvPicPr>
          <p:nvPr/>
        </p:nvPicPr>
        <p:blipFill>
          <a:blip r:embed="rId5"/>
          <a:stretch>
            <a:fillRect/>
          </a:stretch>
        </p:blipFill>
        <p:spPr>
          <a:xfrm>
            <a:off x="4892040" y="2926080"/>
            <a:ext cx="3749040" cy="1371600"/>
          </a:xfrm>
          <a:prstGeom prst="rect">
            <a:avLst/>
          </a:prstGeom>
        </p:spPr>
      </p:pic>
      <p:sp>
        <p:nvSpPr>
          <p:cNvPr id="37" name="outside label"/>
          <p:cNvSpPr txBox="1"/>
          <p:nvPr/>
        </p:nvSpPr>
        <p:spPr>
          <a:xfrm>
            <a:off x="5001768" y="2999232"/>
            <a:ext cx="3529584" cy="182880"/>
          </a:xfrm>
          <a:prstGeom prst="rect">
            <a:avLst/>
          </a:prstGeom>
          <a:noFill/>
          <a:ln/>
        </p:spPr>
        <p:txBody>
          <a:bodyPr wrap="square" lIns="0" tIns="0" rIns="0" bIns="0" rtlCol="0" anchor="ctr"/>
          <a:lstStyle/>
          <a:p>
            <a:pPr algn="r" indent="0" marL="0">
              <a:buNone/>
            </a:pPr>
            <a:r>
              <a:rPr lang="en-US" sz="850" b="1" dirty="0">
                <a:solidFill>
                  <a:schemeClr val="tx2"/>
                </a:solidFill>
                <a:latin typeface="Prompt" pitchFamily="34" charset="0"/>
                <a:ea typeface="Prompt" pitchFamily="34" charset="-122"/>
                <a:cs typeface="Prompt" pitchFamily="34" charset="-120"/>
              </a:rPr>
              <a:t>ภายนอก: AI ทำได้ไม่ดี</a:t>
            </a:r>
            <a:endParaRPr lang="en-US" sz="850" dirty="0"/>
          </a:p>
        </p:txBody>
      </p:sp>
      <p:sp>
        <p:nvSpPr>
          <p:cNvPr id="38" name="inside label"/>
          <p:cNvSpPr txBox="1"/>
          <p:nvPr/>
        </p:nvSpPr>
        <p:spPr>
          <a:xfrm>
            <a:off x="5001768" y="4023360"/>
            <a:ext cx="3529584" cy="182880"/>
          </a:xfrm>
          <a:prstGeom prst="rect">
            <a:avLst/>
          </a:prstGeom>
          <a:noFill/>
          <a:ln/>
        </p:spPr>
        <p:txBody>
          <a:bodyPr wrap="square" lIns="0" tIns="0" rIns="0" bIns="0" rtlCol="0" anchor="ctr"/>
          <a:lstStyle/>
          <a:p>
            <a:pPr indent="0" marL="0">
              <a:buNone/>
            </a:pPr>
            <a:r>
              <a:rPr lang="en-US" sz="850" b="1" dirty="0">
                <a:solidFill>
                  <a:srgbClr val="2E8B86"/>
                </a:solidFill>
                <a:latin typeface="Prompt" pitchFamily="34" charset="0"/>
                <a:ea typeface="Prompt" pitchFamily="34" charset="-122"/>
                <a:cs typeface="Prompt" pitchFamily="34" charset="-120"/>
              </a:rPr>
              <a:t>ภายใน: AI ทำได้ดี</a:t>
            </a:r>
            <a:endParaRPr lang="en-US" sz="850" dirty="0"/>
          </a:p>
        </p:txBody>
      </p:sp>
      <p:sp>
        <p:nvSpPr>
          <p:cNvPr id="39"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F., et al. (2023). Navigating the Jagged Technological Frontier. Harvard Business School Working Paper 24-013.</a:t>
            </a:r>
            <a:endParaRPr lang="en-US" sz="700" dirty="0"/>
          </a:p>
        </p:txBody>
      </p:sp>
      <p:sp>
        <p:nvSpPr>
          <p:cNvPr id="40"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เมื่อที่ปรึกษา 758 คนใช้ GPT-4 จริง เกิดอะไรขึ้น?</a:t>
            </a:r>
            <a:endParaRPr lang="en-US" sz="950" dirty="0"/>
          </a:p>
        </p:txBody>
      </p:sp>
      <p:pic>
        <p:nvPicPr>
          <p:cNvPr id="41"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2  ·  ผลการศึกษาที่สำคัญ</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ช่วยเพิ่มประสิทธิภาพ แต่มีข้อจำกัด</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2E8B86"/>
          </a:solidFill>
          <a:ln w="12700">
            <a:solidFill>
              <a:srgbClr val="2E8B86"/>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3 / 5</a:t>
            </a:r>
            <a:endParaRPr lang="en-US" sz="9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graphicFrame>
        <p:nvGraphicFramePr>
          <p:cNvPr id="12" name="findings chart" descr=""/>
          <p:cNvGraphicFramePr/>
          <p:nvPr/>
        </p:nvGraphicFramePr>
        <p:xfrm>
          <a:off x="502920" y="1609344"/>
          <a:ext cx="475488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502920" y="3730752"/>
            <a:ext cx="4754880" cy="329184"/>
          </a:xfrm>
          <a:prstGeom prst="rect">
            <a:avLst/>
          </a:prstGeom>
          <a:noFill/>
          <a:ln/>
        </p:spPr>
        <p:txBody>
          <a:bodyPr wrap="square" lIns="0" tIns="0" rIns="0" bIns="0" rtlCol="0" anchor="t"/>
          <a:lstStyle/>
          <a:p>
            <a:pPr indent="0" marL="0">
              <a:buNone/>
            </a:pPr>
            <a:r>
              <a:rPr lang="en-US" sz="850" dirty="0">
                <a:solidFill>
                  <a:srgbClr val="A3ADBB"/>
                </a:solidFill>
                <a:latin typeface="Prompt" pitchFamily="34" charset="0"/>
                <a:ea typeface="Prompt" pitchFamily="34" charset="-122"/>
                <a:cs typeface="Prompt" pitchFamily="34" charset="-120"/>
              </a:rPr>
              <a:t>คุณภาพรายงานว่า "มากกว่า 40%" เทียบกลุ่มควบคุม แสดงที่ 40 ส่วนกลุ่มต่ำ/สูงกว่าค่าเฉลี่ยคือการพัฒนาเทียบคะแนนเดิมของกลุ่มนั้น</a:t>
            </a:r>
            <a:endParaRPr lang="en-US" sz="850" dirty="0"/>
          </a:p>
        </p:txBody>
      </p:sp>
      <p:sp>
        <p:nvSpPr>
          <p:cNvPr id="14" name="outside callout"/>
          <p:cNvSpPr/>
          <p:nvPr/>
        </p:nvSpPr>
        <p:spPr>
          <a:xfrm>
            <a:off x="5623560" y="1371600"/>
            <a:ext cx="3017520" cy="1828800"/>
          </a:xfrm>
          <a:prstGeom prst="roundRect">
            <a:avLst>
              <a:gd name="adj" fmla="val 6000"/>
            </a:avLst>
          </a:prstGeom>
          <a:solidFill>
            <a:srgbClr val="1B2A4A"/>
          </a:solidFill>
          <a:ln w="12700">
            <a:solidFill>
              <a:srgbClr val="1B2A4A"/>
            </a:solidFill>
            <a:prstDash val="solid"/>
          </a:ln>
        </p:spPr>
      </p:sp>
      <p:sp>
        <p:nvSpPr>
          <p:cNvPr id="15" name="outside head"/>
          <p:cNvSpPr txBox="1"/>
          <p:nvPr/>
        </p:nvSpPr>
        <p:spPr>
          <a:xfrm>
            <a:off x="5852160" y="1499616"/>
            <a:ext cx="2560320" cy="219456"/>
          </a:xfrm>
          <a:prstGeom prst="rect">
            <a:avLst/>
          </a:prstGeom>
          <a:noFill/>
          <a:ln/>
        </p:spPr>
        <p:txBody>
          <a:bodyPr wrap="square" lIns="0" tIns="0" rIns="0" bIns="0" rtlCol="0" anchor="ctr"/>
          <a:lstStyle/>
          <a:p>
            <a:pPr indent="0" marL="0">
              <a:buNone/>
            </a:pPr>
            <a:r>
              <a:rPr lang="en-US" sz="1000" b="1" spc="100" kern="0" dirty="0">
                <a:solidFill>
                  <a:srgbClr val="BFE6E0"/>
                </a:solidFill>
                <a:latin typeface="Prompt" pitchFamily="34" charset="0"/>
                <a:ea typeface="Prompt" pitchFamily="34" charset="-122"/>
                <a:cs typeface="Prompt" pitchFamily="34" charset="-120"/>
              </a:rPr>
              <a:t>งานภายนอกพรมแดน</a:t>
            </a:r>
            <a:endParaRPr lang="en-US" sz="1000" dirty="0"/>
          </a:p>
        </p:txBody>
      </p:sp>
      <p:sp>
        <p:nvSpPr>
          <p:cNvPr id="16" name="outside stat"/>
          <p:cNvSpPr txBox="1"/>
          <p:nvPr/>
        </p:nvSpPr>
        <p:spPr>
          <a:xfrm>
            <a:off x="5852160" y="1719072"/>
            <a:ext cx="1463040" cy="512064"/>
          </a:xfrm>
          <a:prstGeom prst="rect">
            <a:avLst/>
          </a:prstGeom>
          <a:noFill/>
          <a:ln/>
        </p:spPr>
        <p:txBody>
          <a:bodyPr wrap="square" lIns="0" tIns="0" rIns="0" bIns="0" rtlCol="0" anchor="ctr"/>
          <a:lstStyle/>
          <a:p>
            <a:pPr indent="0" marL="0">
              <a:buNone/>
            </a:pPr>
            <a:r>
              <a:rPr lang="en-US" sz="4400" b="1" dirty="0">
                <a:solidFill>
                  <a:srgbClr val="FFFFFF"/>
                </a:solidFill>
                <a:latin typeface="Prompt" pitchFamily="34" charset="0"/>
                <a:ea typeface="Prompt" pitchFamily="34" charset="-122"/>
                <a:cs typeface="Prompt" pitchFamily="34" charset="-120"/>
              </a:rPr>
              <a:t>−19</a:t>
            </a:r>
            <a:endParaRPr lang="en-US" sz="4400" dirty="0"/>
          </a:p>
        </p:txBody>
      </p:sp>
      <p:sp>
        <p:nvSpPr>
          <p:cNvPr id="17" name="outside unit"/>
          <p:cNvSpPr txBox="1"/>
          <p:nvPr/>
        </p:nvSpPr>
        <p:spPr>
          <a:xfrm>
            <a:off x="5852160" y="2231136"/>
            <a:ext cx="1737360" cy="201168"/>
          </a:xfrm>
          <a:prstGeom prst="rect">
            <a:avLst/>
          </a:prstGeom>
          <a:noFill/>
          <a:ln/>
        </p:spPr>
        <p:txBody>
          <a:bodyPr wrap="square" lIns="0" tIns="0" rIns="0" bIns="0" rtlCol="0" anchor="ctr"/>
          <a:lstStyle/>
          <a:p>
            <a:pPr indent="0" marL="0">
              <a:buNone/>
            </a:pPr>
            <a:r>
              <a:rPr lang="en-US" sz="950" dirty="0">
                <a:solidFill>
                  <a:srgbClr val="BFE6E0"/>
                </a:solidFill>
                <a:latin typeface="Prompt" pitchFamily="34" charset="0"/>
                <a:ea typeface="Prompt" pitchFamily="34" charset="-122"/>
                <a:cs typeface="Prompt" pitchFamily="34" charset="-120"/>
              </a:rPr>
              <a:t>จุดร้อยละ (percentage points)</a:t>
            </a:r>
            <a:endParaRPr lang="en-US" sz="950" dirty="0"/>
          </a:p>
        </p:txBody>
      </p:sp>
      <p:pic>
        <p:nvPicPr>
          <p:cNvPr id="18" name="mascot confused" descr="preencoded.png">    </p:cNvPr>
          <p:cNvPicPr>
            <a:picLocks noChangeAspect="1"/>
          </p:cNvPicPr>
          <p:nvPr/>
        </p:nvPicPr>
        <p:blipFill>
          <a:blip r:embed="rId2"/>
          <a:stretch>
            <a:fillRect/>
          </a:stretch>
        </p:blipFill>
        <p:spPr>
          <a:xfrm>
            <a:off x="7498080" y="1591056"/>
            <a:ext cx="1005840" cy="868680"/>
          </a:xfrm>
          <a:prstGeom prst="rect">
            <a:avLst/>
          </a:prstGeom>
        </p:spPr>
      </p:pic>
      <p:sp>
        <p:nvSpPr>
          <p:cNvPr id="19" name="outside body"/>
          <p:cNvSpPr txBox="1"/>
          <p:nvPr/>
        </p:nvSpPr>
        <p:spPr>
          <a:xfrm>
            <a:off x="5852160" y="2487168"/>
            <a:ext cx="2560320" cy="640080"/>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ผู้ใช้ AI มีโอกาสได้คำตอบที่ถูกต้องน้อยกว่าผู้ไม่ใช้ AI อยู่ 19 จุดร้อยละ</a:t>
            </a:r>
            <a:endParaRPr lang="en-US" sz="1000" dirty="0"/>
          </a:p>
        </p:txBody>
      </p:sp>
      <p:sp>
        <p:nvSpPr>
          <p:cNvPr id="20" name="unit note"/>
          <p:cNvSpPr txBox="1"/>
          <p:nvPr/>
        </p:nvSpPr>
        <p:spPr>
          <a:xfrm>
            <a:off x="5623560" y="3255264"/>
            <a:ext cx="3017520" cy="310896"/>
          </a:xfrm>
          <a:prstGeom prst="rect">
            <a:avLst/>
          </a:prstGeom>
          <a:noFill/>
          <a:ln/>
        </p:spPr>
        <p:txBody>
          <a:bodyPr wrap="square" lIns="0" tIns="0" rIns="0" bIns="0" rtlCol="0" anchor="t"/>
          <a:lstStyle/>
          <a:p>
            <a:pPr indent="0" marL="0">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21" name="divider"/>
          <p:cNvSpPr/>
          <p:nvPr/>
        </p:nvSpPr>
        <p:spPr>
          <a:xfrm>
            <a:off x="5623560" y="3657600"/>
            <a:ext cx="3017520" cy="0"/>
          </a:xfrm>
          <a:prstGeom prst="line">
            <a:avLst/>
          </a:prstGeom>
          <a:noFill/>
          <a:ln w="9525">
            <a:solidFill>
              <a:srgbClr val="E3E8EE"/>
            </a:solidFill>
            <a:prstDash val="solid"/>
          </a:ln>
        </p:spPr>
      </p:sp>
      <p:sp>
        <p:nvSpPr>
          <p:cNvPr id="22" name="approach head"/>
          <p:cNvSpPr txBox="1"/>
          <p:nvPr/>
        </p:nvSpPr>
        <p:spPr>
          <a:xfrm>
            <a:off x="5623560" y="3712464"/>
            <a:ext cx="3017520" cy="201168"/>
          </a:xfrm>
          <a:prstGeom prst="rect">
            <a:avLst/>
          </a:prstGeom>
          <a:noFill/>
          <a:ln/>
        </p:spPr>
        <p:txBody>
          <a:bodyPr wrap="square" lIns="0" tIns="0" rIns="0" bIns="0" rtlCol="0" anchor="ctr"/>
          <a:lstStyle/>
          <a:p>
            <a:pPr indent="0" marL="0">
              <a:buNone/>
            </a:pPr>
            <a:r>
              <a:rPr lang="en-US" sz="1050" b="1" dirty="0">
                <a:solidFill>
                  <a:schemeClr val="tx1"/>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23" name="glyph Centaurs (เซนทอร์)" descr="preencoded.png">    </p:cNvPr>
          <p:cNvPicPr>
            <a:picLocks noChangeAspect="1"/>
          </p:cNvPicPr>
          <p:nvPr/>
        </p:nvPicPr>
        <p:blipFill>
          <a:blip r:embed="rId3"/>
          <a:stretch>
            <a:fillRect/>
          </a:stretch>
        </p:blipFill>
        <p:spPr>
          <a:xfrm>
            <a:off x="5623560" y="3950208"/>
            <a:ext cx="329184" cy="219456"/>
          </a:xfrm>
          <a:prstGeom prst="rect">
            <a:avLst/>
          </a:prstGeom>
        </p:spPr>
      </p:pic>
      <p:sp>
        <p:nvSpPr>
          <p:cNvPr id="24" name="approach text"/>
          <p:cNvSpPr txBox="1"/>
          <p:nvPr/>
        </p:nvSpPr>
        <p:spPr>
          <a:xfrm>
            <a:off x="6044184" y="3931920"/>
            <a:ext cx="2596896" cy="256032"/>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Centaurs (เซนทอร์)  </a:t>
            </a:r>
            <a:pPr indent="0" marL="0">
              <a:buNone/>
            </a:pPr>
            <a:r>
              <a:rPr lang="en-US" sz="950" dirty="0">
                <a:solidFill>
                  <a:schemeClr val="tx2"/>
                </a:solidFill>
                <a:latin typeface="Prompt" pitchFamily="34" charset="0"/>
                <a:ea typeface="Prompt" pitchFamily="34" charset="-122"/>
                <a:cs typeface="Prompt" pitchFamily="34" charset="-120"/>
              </a:rPr>
              <a:t>แบ่งงานระหว่างคนกับ AI</a:t>
            </a:r>
            <a:endParaRPr lang="en-US" sz="1000" dirty="0"/>
          </a:p>
        </p:txBody>
      </p:sp>
      <p:pic>
        <p:nvPicPr>
          <p:cNvPr id="25" name="glyph Cyborgs (ไซบอร์ก)" descr="preencoded.png">    </p:cNvPr>
          <p:cNvPicPr>
            <a:picLocks noChangeAspect="1"/>
          </p:cNvPicPr>
          <p:nvPr/>
        </p:nvPicPr>
        <p:blipFill>
          <a:blip r:embed="rId4"/>
          <a:stretch>
            <a:fillRect/>
          </a:stretch>
        </p:blipFill>
        <p:spPr>
          <a:xfrm>
            <a:off x="5623560" y="4187952"/>
            <a:ext cx="329184" cy="219456"/>
          </a:xfrm>
          <a:prstGeom prst="rect">
            <a:avLst/>
          </a:prstGeom>
        </p:spPr>
      </p:pic>
      <p:sp>
        <p:nvSpPr>
          <p:cNvPr id="26" name="approach text"/>
          <p:cNvSpPr txBox="1"/>
          <p:nvPr/>
        </p:nvSpPr>
        <p:spPr>
          <a:xfrm>
            <a:off x="6044184" y="4169664"/>
            <a:ext cx="2596896" cy="256032"/>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Cyborgs (ไซบอร์ก)  </a:t>
            </a:r>
            <a:pPr indent="0" marL="0">
              <a:buNone/>
            </a:pPr>
            <a:r>
              <a:rPr lang="en-US" sz="950" dirty="0">
                <a:solidFill>
                  <a:schemeClr val="tx2"/>
                </a:solidFill>
                <a:latin typeface="Prompt" pitchFamily="34" charset="0"/>
                <a:ea typeface="Prompt" pitchFamily="34" charset="-122"/>
                <a:cs typeface="Prompt" pitchFamily="34" charset="-120"/>
              </a:rPr>
              <a:t>ผสาน AI เข้าไปในทุกขั้นตอน</a:t>
            </a:r>
            <a:endParaRPr lang="en-US" sz="1000" dirty="0"/>
          </a:p>
        </p:txBody>
      </p:sp>
      <p:sp>
        <p:nvSpPr>
          <p:cNvPr id="27"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F., et al. (2023). Navigating the Jagged Technological Frontier. Harvard Business School Working Paper 24-013.</a:t>
            </a:r>
            <a:endParaRPr lang="en-US" sz="700" dirty="0"/>
          </a:p>
        </p:txBody>
      </p:sp>
      <p:sp>
        <p:nvSpPr>
          <p:cNvPr id="28"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ผลแบบนี้จะเป็นจริงกับธุรกิจขนาดเล็กจริงหรือไม่?</a:t>
            </a:r>
            <a:endParaRPr lang="en-US" sz="950" dirty="0"/>
          </a:p>
        </p:txBody>
      </p:sp>
      <p:pic>
        <p:nvPicPr>
          <p:cNvPr id="29" name="icon FiArrowRight" descr="preencoded.png">    </p:cNvPr>
          <p:cNvPicPr>
            <a:picLocks noChangeAspect="1"/>
          </p:cNvPicPr>
          <p:nvPr/>
        </p:nvPicPr>
        <p:blipFill>
          <a:blip r:embed="rId5"/>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5  ·  วัตถุประสงค์และผลการศึกษา</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ผลกระทบของ AI ต่อผู้ประกอบการที่แตกต่างกัน</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2E8B86"/>
          </a:solidFill>
          <a:ln w="12700">
            <a:solidFill>
              <a:srgbClr val="2E8B86"/>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4 / 5</a:t>
            </a:r>
            <a:endParaRPr lang="en-US" sz="9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MapPin"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บริบท"/>
          <p:cNvSpPr txBox="1"/>
          <p:nvPr/>
        </p:nvSpPr>
        <p:spPr>
          <a:xfrm>
            <a:off x="1005840" y="1435608"/>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บริบท</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12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MessageSquare"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สิ่งที่ทดลอง"/>
          <p:cNvSpPr txBox="1"/>
          <p:nvPr/>
        </p:nvSpPr>
        <p:spPr>
          <a:xfrm>
            <a:off x="1005840" y="2020824"/>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สิ่งที่ทดลอง</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12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DollarSign"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ตัวแปรผลลัพธ์"/>
          <p:cNvSpPr txBox="1"/>
          <p:nvPr/>
        </p:nvSpPr>
        <p:spPr>
          <a:xfrm>
            <a:off x="1005840" y="2606040"/>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ตัวแปรผลลัพธ์</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รายได้และกำไร</a:t>
            </a:r>
            <a:endParaRPr lang="en-US" sz="1200" dirty="0"/>
          </a:p>
        </p:txBody>
      </p:sp>
      <p:sp>
        <p:nvSpPr>
          <p:cNvPr id="19" name="main effect card"/>
          <p:cNvSpPr/>
          <p:nvPr/>
        </p:nvSpPr>
        <p:spPr>
          <a:xfrm>
            <a:off x="502920" y="3291840"/>
            <a:ext cx="3749040" cy="1097280"/>
          </a:xfrm>
          <a:prstGeom prst="roundRect">
            <a:avLst>
              <a:gd name="adj" fmla="val 10000"/>
            </a:avLst>
          </a:prstGeom>
          <a:solidFill>
            <a:srgbClr val="1B2A4A"/>
          </a:solidFill>
          <a:ln w="12700">
            <a:solidFill>
              <a:srgbClr val="1B2A4A"/>
            </a:solidFill>
            <a:prstDash val="solid"/>
          </a:ln>
        </p:spPr>
      </p:sp>
      <p:sp>
        <p:nvSpPr>
          <p:cNvPr id="20" name="tag finding"/>
          <p:cNvSpPr/>
          <p:nvPr/>
        </p:nvSpPr>
        <p:spPr>
          <a:xfrm>
            <a:off x="704088" y="3438144"/>
            <a:ext cx="1143000" cy="201168"/>
          </a:xfrm>
          <a:prstGeom prst="roundRect">
            <a:avLst>
              <a:gd name="adj" fmla="val 50000"/>
            </a:avLst>
          </a:prstGeom>
          <a:solidFill>
            <a:srgbClr val="BFE6E0"/>
          </a:solidFill>
          <a:ln w="12700">
            <a:solidFill>
              <a:srgbClr val="BFE6E0"/>
            </a:solidFill>
            <a:prstDash val="solid"/>
          </a:ln>
        </p:spPr>
      </p:sp>
      <p:sp>
        <p:nvSpPr>
          <p:cNvPr id="21" name="tag text"/>
          <p:cNvSpPr txBox="1"/>
          <p:nvPr/>
        </p:nvSpPr>
        <p:spPr>
          <a:xfrm>
            <a:off x="704088" y="3438144"/>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sp>
        <p:nvSpPr>
          <p:cNvPr id="22" name="main head"/>
          <p:cNvSpPr txBox="1"/>
          <p:nvPr/>
        </p:nvSpPr>
        <p:spPr>
          <a:xfrm>
            <a:off x="704088" y="3657600"/>
            <a:ext cx="2468880" cy="201168"/>
          </a:xfrm>
          <a:prstGeom prst="rect">
            <a:avLst/>
          </a:prstGeom>
          <a:noFill/>
          <a:ln/>
        </p:spPr>
        <p:txBody>
          <a:bodyPr wrap="square" lIns="0" tIns="0" rIns="0" bIns="0" rtlCol="0" anchor="ctr"/>
          <a:lstStyle/>
          <a:p>
            <a:pPr indent="0" marL="0">
              <a:buNone/>
            </a:pPr>
            <a:r>
              <a:rPr lang="en-US" sz="1000" b="1" spc="100" kern="0" dirty="0">
                <a:solidFill>
                  <a:srgbClr val="BFE6E0"/>
                </a:solidFill>
                <a:latin typeface="Prompt" pitchFamily="34" charset="0"/>
                <a:ea typeface="Prompt" pitchFamily="34" charset="-122"/>
                <a:cs typeface="Prompt" pitchFamily="34" charset="-120"/>
              </a:rPr>
              <a:t>ผลโดยเฉลี่ย</a:t>
            </a:r>
            <a:endParaRPr lang="en-US" sz="1000" dirty="0"/>
          </a:p>
        </p:txBody>
      </p:sp>
      <p:sp>
        <p:nvSpPr>
          <p:cNvPr id="23" name="main body"/>
          <p:cNvSpPr txBox="1"/>
          <p:nvPr/>
        </p:nvSpPr>
        <p:spPr>
          <a:xfrm>
            <a:off x="704088" y="3840480"/>
            <a:ext cx="2468880" cy="512064"/>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1000" dirty="0"/>
          </a:p>
        </p:txBody>
      </p:sp>
      <p:pic>
        <p:nvPicPr>
          <p:cNvPr id="24" name="mascot with phone" descr="preencoded.png">    </p:cNvPr>
          <p:cNvPicPr>
            <a:picLocks noChangeAspect="1"/>
          </p:cNvPicPr>
          <p:nvPr/>
        </p:nvPicPr>
        <p:blipFill>
          <a:blip r:embed="rId4"/>
          <a:stretch>
            <a:fillRect/>
          </a:stretch>
        </p:blipFill>
        <p:spPr>
          <a:xfrm>
            <a:off x="3154680" y="3456432"/>
            <a:ext cx="960120" cy="822960"/>
          </a:xfrm>
          <a:prstGeom prst="rect">
            <a:avLst/>
          </a:prstGeom>
        </p:spPr>
      </p:pic>
      <p:sp>
        <p:nvSpPr>
          <p:cNvPr id="25" name="column divider"/>
          <p:cNvSpPr/>
          <p:nvPr/>
        </p:nvSpPr>
        <p:spPr>
          <a:xfrm>
            <a:off x="4480560" y="1481328"/>
            <a:ext cx="0" cy="2834640"/>
          </a:xfrm>
          <a:prstGeom prst="line">
            <a:avLst/>
          </a:prstGeom>
          <a:noFill/>
          <a:ln w="9525">
            <a:solidFill>
              <a:srgbClr val="E3E8EE"/>
            </a:solidFill>
            <a:prstDash val="solid"/>
          </a:ln>
        </p:spPr>
      </p:sp>
      <p:sp>
        <p:nvSpPr>
          <p:cNvPr id="26" name="tag finding"/>
          <p:cNvSpPr/>
          <p:nvPr/>
        </p:nvSpPr>
        <p:spPr>
          <a:xfrm>
            <a:off x="4709160" y="1481328"/>
            <a:ext cx="1143000" cy="201168"/>
          </a:xfrm>
          <a:prstGeom prst="roundRect">
            <a:avLst>
              <a:gd name="adj" fmla="val 50000"/>
            </a:avLst>
          </a:prstGeom>
          <a:solidFill>
            <a:srgbClr val="BFE6E0"/>
          </a:solidFill>
          <a:ln w="12700">
            <a:solidFill>
              <a:srgbClr val="BFE6E0"/>
            </a:solidFill>
            <a:prstDash val="solid"/>
          </a:ln>
        </p:spPr>
      </p:sp>
      <p:sp>
        <p:nvSpPr>
          <p:cNvPr id="27" name="tag text"/>
          <p:cNvSpPr txBox="1"/>
          <p:nvPr/>
        </p:nvSpPr>
        <p:spPr>
          <a:xfrm>
            <a:off x="4709160" y="1481328"/>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sp>
        <p:nvSpPr>
          <p:cNvPr id="28" name="subgroup head"/>
          <p:cNvSpPr txBox="1"/>
          <p:nvPr/>
        </p:nvSpPr>
        <p:spPr>
          <a:xfrm>
            <a:off x="4709160" y="1755648"/>
            <a:ext cx="2834640" cy="256032"/>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แยกตามผลงานตั้งต้น</a:t>
            </a:r>
            <a:endParaRPr lang="en-US" sz="1250" dirty="0"/>
          </a:p>
        </p:txBody>
      </p:sp>
      <p:pic>
        <p:nvPicPr>
          <p:cNvPr id="29" name="entrepreneur with phone" descr="preencoded.png">    </p:cNvPr>
          <p:cNvPicPr>
            <a:picLocks noChangeAspect="1"/>
          </p:cNvPicPr>
          <p:nvPr/>
        </p:nvPicPr>
        <p:blipFill>
          <a:blip r:embed="rId5"/>
          <a:stretch>
            <a:fillRect/>
          </a:stretch>
        </p:blipFill>
        <p:spPr>
          <a:xfrm>
            <a:off x="7680960" y="1426464"/>
            <a:ext cx="914400" cy="960120"/>
          </a:xfrm>
          <a:prstGeom prst="rect">
            <a:avLst/>
          </a:prstGeom>
        </p:spPr>
      </p:pic>
      <p:sp>
        <p:nvSpPr>
          <p:cNvPr id="30" name="zero line"/>
          <p:cNvSpPr/>
          <p:nvPr/>
        </p:nvSpPr>
        <p:spPr>
          <a:xfrm>
            <a:off x="6126480" y="2286000"/>
            <a:ext cx="0" cy="1005840"/>
          </a:xfrm>
          <a:prstGeom prst="line">
            <a:avLst/>
          </a:prstGeom>
          <a:noFill/>
          <a:ln w="9525">
            <a:solidFill>
              <a:srgbClr val="A3ADBB"/>
            </a:solidFill>
            <a:prstDash val="dash"/>
          </a:ln>
        </p:spPr>
      </p:sp>
      <p:sp>
        <p:nvSpPr>
          <p:cNvPr id="31" name="bar label 0"/>
          <p:cNvSpPr txBox="1"/>
          <p:nvPr/>
        </p:nvSpPr>
        <p:spPr>
          <a:xfrm>
            <a:off x="4709160" y="2093976"/>
            <a:ext cx="3931920" cy="219456"/>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กลุ่มผลงานต่ำ  </a:t>
            </a:r>
            <a:pPr indent="0" marL="0">
              <a:buNone/>
            </a:pPr>
            <a:r>
              <a:rPr lang="en-US" sz="1000" b="1" dirty="0">
                <a:solidFill>
                  <a:srgbClr val="6B7280"/>
                </a:solidFill>
                <a:latin typeface="Prompt" pitchFamily="34" charset="0"/>
                <a:ea typeface="Prompt" pitchFamily="34" charset="-122"/>
                <a:cs typeface="Prompt" pitchFamily="34" charset="-120"/>
              </a:rPr>
              <a:t>แย่ลงเกือบ 10%</a:t>
            </a:r>
            <a:endParaRPr lang="en-US" sz="1000" dirty="0"/>
          </a:p>
        </p:txBody>
      </p:sp>
      <p:sp>
        <p:nvSpPr>
          <p:cNvPr id="32" name="bar 0"/>
          <p:cNvSpPr/>
          <p:nvPr/>
        </p:nvSpPr>
        <p:spPr>
          <a:xfrm>
            <a:off x="5294986" y="2340864"/>
            <a:ext cx="831494" cy="219456"/>
          </a:xfrm>
          <a:prstGeom prst="rect">
            <a:avLst/>
          </a:prstGeom>
          <a:solidFill>
            <a:srgbClr val="A3ADBB"/>
          </a:solidFill>
          <a:ln w="12700">
            <a:solidFill>
              <a:srgbClr val="A3ADBB"/>
            </a:solidFill>
            <a:prstDash val="solid"/>
          </a:ln>
        </p:spPr>
      </p:sp>
      <p:sp>
        <p:nvSpPr>
          <p:cNvPr id="33" name="bar label 1"/>
          <p:cNvSpPr txBox="1"/>
          <p:nvPr/>
        </p:nvSpPr>
        <p:spPr>
          <a:xfrm>
            <a:off x="4709160" y="2642616"/>
            <a:ext cx="3931920" cy="219456"/>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กลุ่มผลงานสูง  </a:t>
            </a:r>
            <a:pPr indent="0" marL="0">
              <a:buNone/>
            </a:pPr>
            <a:r>
              <a:rPr lang="en-US" sz="1000" b="1" dirty="0">
                <a:solidFill>
                  <a:srgbClr val="2E8B86"/>
                </a:solidFill>
                <a:latin typeface="Prompt" pitchFamily="34" charset="0"/>
                <a:ea typeface="Prompt" pitchFamily="34" charset="-122"/>
                <a:cs typeface="Prompt" pitchFamily="34" charset="-120"/>
              </a:rPr>
              <a:t>อาจได้ประโยชน์มากกว่า 15%</a:t>
            </a:r>
            <a:endParaRPr lang="en-US" sz="1000" dirty="0"/>
          </a:p>
        </p:txBody>
      </p:sp>
      <p:sp>
        <p:nvSpPr>
          <p:cNvPr id="34" name="bar 1"/>
          <p:cNvSpPr/>
          <p:nvPr/>
        </p:nvSpPr>
        <p:spPr>
          <a:xfrm>
            <a:off x="6126480" y="2889504"/>
            <a:ext cx="1247242" cy="219456"/>
          </a:xfrm>
          <a:prstGeom prst="rect">
            <a:avLst/>
          </a:prstGeom>
          <a:solidFill>
            <a:srgbClr val="2E8B86"/>
          </a:solidFill>
          <a:ln w="12700">
            <a:solidFill>
              <a:srgbClr val="2E8B86"/>
            </a:solidFill>
            <a:prstDash val="solid"/>
          </a:ln>
        </p:spPr>
      </p:sp>
      <p:sp>
        <p:nvSpPr>
          <p:cNvPr id="35" name="bar note"/>
          <p:cNvSpPr txBox="1"/>
          <p:nvPr/>
        </p:nvSpPr>
        <p:spPr>
          <a:xfrm>
            <a:off x="4709160" y="3236976"/>
            <a:ext cx="3931920" cy="164592"/>
          </a:xfrm>
          <a:prstGeom prst="rect">
            <a:avLst/>
          </a:prstGeom>
          <a:noFill/>
          <a:ln/>
        </p:spPr>
        <p:txBody>
          <a:bodyPr wrap="square" lIns="0" tIns="0" rIns="0" bIns="0" rtlCol="0" anchor="ctr"/>
          <a:lstStyle/>
          <a:p>
            <a:pPr algn="r" indent="0" marL="0">
              <a:buNone/>
            </a:pPr>
            <a:r>
              <a:rPr lang="en-US" sz="800" dirty="0">
                <a:solidFill>
                  <a:srgbClr val="A3ADBB"/>
                </a:solidFill>
                <a:latin typeface="Prompt" pitchFamily="34" charset="0"/>
                <a:ea typeface="Prompt" pitchFamily="34" charset="-122"/>
                <a:cs typeface="Prompt" pitchFamily="34" charset="-120"/>
              </a:rPr>
              <a:t>ความยาวแท่งเป็นเพียงภาพประกอบ</a:t>
            </a:r>
            <a:endParaRPr lang="en-US" sz="800" dirty="0"/>
          </a:p>
        </p:txBody>
      </p:sp>
      <p:sp>
        <p:nvSpPr>
          <p:cNvPr id="36" name="divider"/>
          <p:cNvSpPr/>
          <p:nvPr/>
        </p:nvSpPr>
        <p:spPr>
          <a:xfrm>
            <a:off x="4709160" y="3364992"/>
            <a:ext cx="3931920" cy="0"/>
          </a:xfrm>
          <a:prstGeom prst="line">
            <a:avLst/>
          </a:prstGeom>
          <a:noFill/>
          <a:ln w="9525">
            <a:solidFill>
              <a:srgbClr val="E3E8EE"/>
            </a:solidFill>
            <a:prstDash val="solid"/>
          </a:ln>
        </p:spPr>
      </p:sp>
      <p:pic>
        <p:nvPicPr>
          <p:cNvPr id="37" name="icon FiMessageCircle" descr="preencoded.png">    </p:cNvPr>
          <p:cNvPicPr>
            <a:picLocks noChangeAspect="1"/>
          </p:cNvPicPr>
          <p:nvPr/>
        </p:nvPicPr>
        <p:blipFill>
          <a:blip r:embed="rId6"/>
          <a:stretch>
            <a:fillRect/>
          </a:stretch>
        </p:blipFill>
        <p:spPr>
          <a:xfrm>
            <a:off x="4709160" y="3474720"/>
            <a:ext cx="219456" cy="219456"/>
          </a:xfrm>
          <a:prstGeom prst="rect">
            <a:avLst/>
          </a:prstGeom>
        </p:spPr>
      </p:pic>
      <p:sp>
        <p:nvSpPr>
          <p:cNvPr id="38" name="mechanism"/>
          <p:cNvSpPr txBox="1"/>
          <p:nvPr/>
        </p:nvSpPr>
        <p:spPr>
          <a:xfrm>
            <a:off x="5038344" y="3419856"/>
            <a:ext cx="3602736" cy="384048"/>
          </a:xfrm>
          <a:prstGeom prst="rect">
            <a:avLst/>
          </a:prstGeom>
          <a:noFill/>
          <a:ln/>
        </p:spPr>
        <p:txBody>
          <a:bodyPr wrap="square" lIns="0" tIns="0" rIns="0" bIns="0" rtlCol="0" anchor="ctr"/>
          <a:lstStyle/>
          <a:p>
            <a:pPr indent="0" marL="0">
              <a:buNone/>
            </a:pPr>
            <a:r>
              <a:rPr lang="en-US" sz="950" dirty="0">
                <a:solidFill>
                  <a:schemeClr val="tx1"/>
                </a:solidFill>
                <a:latin typeface="Prompt" pitchFamily="34" charset="0"/>
                <a:ea typeface="Prompt" pitchFamily="34" charset="-122"/>
                <a:cs typeface="Prompt" pitchFamily="34" charset="-120"/>
              </a:rPr>
              <a:t>คำถามและคำแนะนำใกล้เคียงกัน ความต่างอยู่ที่คำแนะนำที่ผู้ประกอบการเลือกนำไปปฏิบัติ</a:t>
            </a:r>
            <a:endParaRPr lang="en-US" sz="950" dirty="0"/>
          </a:p>
        </p:txBody>
      </p:sp>
      <p:pic>
        <p:nvPicPr>
          <p:cNvPr id="39" name="icon FiAlertTriangle" descr="preencoded.png">    </p:cNvPr>
          <p:cNvPicPr>
            <a:picLocks noChangeAspect="1"/>
          </p:cNvPicPr>
          <p:nvPr/>
        </p:nvPicPr>
        <p:blipFill>
          <a:blip r:embed="rId7"/>
          <a:stretch>
            <a:fillRect/>
          </a:stretch>
        </p:blipFill>
        <p:spPr>
          <a:xfrm>
            <a:off x="4709160" y="3968496"/>
            <a:ext cx="219456" cy="219456"/>
          </a:xfrm>
          <a:prstGeom prst="rect">
            <a:avLst/>
          </a:prstGeom>
        </p:spPr>
      </p:pic>
      <p:sp>
        <p:nvSpPr>
          <p:cNvPr id="40" name="caution"/>
          <p:cNvSpPr txBox="1"/>
          <p:nvPr/>
        </p:nvSpPr>
        <p:spPr>
          <a:xfrm>
            <a:off x="5038344" y="3913632"/>
            <a:ext cx="3602736" cy="384048"/>
          </a:xfrm>
          <a:prstGeom prst="rect">
            <a:avLst/>
          </a:prstGeom>
          <a:noFill/>
          <a:ln/>
        </p:spPr>
        <p:txBody>
          <a:bodyPr wrap="square" lIns="0" tIns="0" rIns="0" bIns="0" rtlCol="0" anchor="ctr"/>
          <a:lstStyle/>
          <a:p>
            <a:pPr indent="0" marL="0">
              <a:buNone/>
            </a:pPr>
            <a:r>
              <a:rPr lang="en-US" sz="950" dirty="0">
                <a:solidFill>
                  <a:schemeClr val="tx2"/>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50" dirty="0"/>
          </a:p>
        </p:txBody>
      </p:sp>
      <p:sp>
        <p:nvSpPr>
          <p:cNvPr id="41"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Otis, N. G., et al. (2026). The Uneven Impact of Generative AI on Entrepreneurial Performance. Management Science, 72(7). doi.org/10.1287/mnsc.2024.06909</a:t>
            </a:r>
            <a:endParaRPr lang="en-US" sz="700" dirty="0"/>
          </a:p>
        </p:txBody>
      </p:sp>
      <p:sp>
        <p:nvSpPr>
          <p:cNvPr id="42"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สองงานวิจัย บทเรียนเดียว</a:t>
            </a:r>
            <a:endParaRPr lang="en-US" sz="950" dirty="0"/>
          </a:p>
        </p:txBody>
      </p:sp>
      <p:pic>
        <p:nvPicPr>
          <p:cNvPr id="43" name="icon FiArrowRight" descr="preencoded.png">    </p:cNvPr>
          <p:cNvPicPr>
            <a:picLocks noChangeAspect="1"/>
          </p:cNvPicPr>
          <p:nvPr/>
        </p:nvPicPr>
        <p:blipFill>
          <a:blip r:embed="rId8"/>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อภิปรายผลและเปรียบเทียบ</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เป็นเครื่องมือ ไม่ใช่หลักประกันความสำเร็จ</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BFE6E0"/>
          </a:solidFill>
          <a:ln w="12700">
            <a:solidFill>
              <a:srgbClr val="BFE6E0"/>
            </a:solidFill>
            <a:prstDash val="solid"/>
          </a:ln>
        </p:spPr>
      </p:sp>
      <p:sp>
        <p:nvSpPr>
          <p:cNvPr id="8" name="progress dot 5"/>
          <p:cNvSpPr/>
          <p:nvPr/>
        </p:nvSpPr>
        <p:spPr>
          <a:xfrm>
            <a:off x="8540496" y="342900"/>
            <a:ext cx="100584" cy="100584"/>
          </a:xfrm>
          <a:prstGeom prst="ellipse">
            <a:avLst/>
          </a:prstGeom>
          <a:solidFill>
            <a:srgbClr val="2E8B86"/>
          </a:solidFill>
          <a:ln w="12700">
            <a:solidFill>
              <a:srgbClr val="2E8B86"/>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5 / 5</a:t>
            </a:r>
            <a:endParaRPr lang="en-US" sz="9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502920" y="1627632"/>
          <a:ext cx="8138160" cy="914400"/>
        </p:xfrm>
        <a:graphic>
          <a:graphicData uri="http://schemas.openxmlformats.org/drawingml/2006/table">
            <a:tbl>
              <a:tblPr/>
              <a:tblGrid>
                <a:gridCol w="1463040"/>
                <a:gridCol w="3337560"/>
                <a:gridCol w="3337560"/>
              </a:tblGrid>
              <a:tr h="329184">
                <a:tc>
                  <a:txBody>
                    <a:bodyPr/>
                    <a:lstStyle/>
                    <a:p>
                      <a:pPr indent="0" marL="0">
                        <a:buNone/>
                      </a:pP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บทความที่ 2  ·  ที่ปรึกษา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บทความที่ 5  ·  ผู้ประกอบการ</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กลุ่มที่ศึกษา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พนักงานความรู้ที่ BCG</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ธุรกิจขนาดเล็กในเคนยา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ผลหลัก</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ข้อค้นพบสำคัญ</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ความถูกต้องลดลงในงานนอกพรมแดน</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502920" y="3456432"/>
            <a:ext cx="8138160" cy="932688"/>
          </a:xfrm>
          <a:prstGeom prst="roundRect">
            <a:avLst>
              <a:gd name="adj" fmla="val 11765"/>
            </a:avLst>
          </a:prstGeom>
          <a:solidFill>
            <a:srgbClr val="2E8B86"/>
          </a:solidFill>
          <a:ln w="12700">
            <a:solidFill>
              <a:srgbClr val="2E8B86"/>
            </a:solidFill>
            <a:prstDash val="solid"/>
          </a:ln>
        </p:spPr>
      </p:sp>
      <p:sp>
        <p:nvSpPr>
          <p:cNvPr id="14" name="tag interp"/>
          <p:cNvSpPr/>
          <p:nvPr/>
        </p:nvSpPr>
        <p:spPr>
          <a:xfrm>
            <a:off x="731520" y="3584448"/>
            <a:ext cx="1143000" cy="201168"/>
          </a:xfrm>
          <a:prstGeom prst="roundRect">
            <a:avLst>
              <a:gd name="adj" fmla="val 50000"/>
            </a:avLst>
          </a:prstGeom>
          <a:solidFill>
            <a:srgbClr val="FFFFFF"/>
          </a:solidFill>
          <a:ln w="12700">
            <a:solidFill>
              <a:srgbClr val="FFFFFF"/>
            </a:solidFill>
            <a:prstDash val="solid"/>
          </a:ln>
        </p:spPr>
      </p:sp>
      <p:sp>
        <p:nvSpPr>
          <p:cNvPr id="15" name="tag text"/>
          <p:cNvSpPr txBox="1"/>
          <p:nvPr/>
        </p:nvSpPr>
        <p:spPr>
          <a:xfrm>
            <a:off x="731520" y="3584448"/>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การตีความ</a:t>
            </a:r>
            <a:endParaRPr lang="en-US" sz="850" dirty="0"/>
          </a:p>
        </p:txBody>
      </p:sp>
      <p:sp>
        <p:nvSpPr>
          <p:cNvPr id="16" name="conclusion"/>
          <p:cNvSpPr txBox="1"/>
          <p:nvPr/>
        </p:nvSpPr>
        <p:spPr>
          <a:xfrm>
            <a:off x="731520" y="3840480"/>
            <a:ext cx="4160520" cy="475488"/>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และวิจารณญาณของมนุษย์</a:t>
            </a:r>
            <a:endParaRPr lang="en-US" sz="1050" dirty="0"/>
          </a:p>
        </p:txBody>
      </p:sp>
      <p:pic>
        <p:nvPicPr>
          <p:cNvPr id="17" name="icon check" descr="preencoded.png">    </p:cNvPr>
          <p:cNvPicPr>
            <a:picLocks noChangeAspect="1"/>
          </p:cNvPicPr>
          <p:nvPr/>
        </p:nvPicPr>
        <p:blipFill>
          <a:blip r:embed="rId1"/>
          <a:stretch>
            <a:fillRect/>
          </a:stretch>
        </p:blipFill>
        <p:spPr>
          <a:xfrm>
            <a:off x="4983480" y="3621024"/>
            <a:ext cx="164592" cy="164592"/>
          </a:xfrm>
          <a:prstGeom prst="rect">
            <a:avLst/>
          </a:prstGeom>
        </p:spPr>
      </p:pic>
      <p:sp>
        <p:nvSpPr>
          <p:cNvPr id="18" name="takeaway 1"/>
          <p:cNvSpPr txBox="1"/>
          <p:nvPr/>
        </p:nvSpPr>
        <p:spPr>
          <a:xfrm>
            <a:off x="5239512" y="3584448"/>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เลือกงานให้ตรงกับจุดแข็งของ AI</a:t>
            </a:r>
            <a:endParaRPr lang="en-US" sz="950" dirty="0"/>
          </a:p>
        </p:txBody>
      </p:sp>
      <p:pic>
        <p:nvPicPr>
          <p:cNvPr id="19" name="icon check" descr="preencoded.png">    </p:cNvPr>
          <p:cNvPicPr>
            <a:picLocks noChangeAspect="1"/>
          </p:cNvPicPr>
          <p:nvPr/>
        </p:nvPicPr>
        <p:blipFill>
          <a:blip r:embed="rId2"/>
          <a:stretch>
            <a:fillRect/>
          </a:stretch>
        </p:blipFill>
        <p:spPr>
          <a:xfrm>
            <a:off x="4983480" y="3867912"/>
            <a:ext cx="164592" cy="164592"/>
          </a:xfrm>
          <a:prstGeom prst="rect">
            <a:avLst/>
          </a:prstGeom>
        </p:spPr>
      </p:pic>
      <p:sp>
        <p:nvSpPr>
          <p:cNvPr id="20" name="takeaway 2"/>
          <p:cNvSpPr txBox="1"/>
          <p:nvPr/>
        </p:nvSpPr>
        <p:spPr>
          <a:xfrm>
            <a:off x="5239512" y="3831336"/>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ประเมินคำแนะนำของ AI อย่างมีวิจารณญาณ</a:t>
            </a:r>
            <a:endParaRPr lang="en-US" sz="950" dirty="0"/>
          </a:p>
        </p:txBody>
      </p:sp>
      <p:pic>
        <p:nvPicPr>
          <p:cNvPr id="21" name="icon check" descr="preencoded.png">    </p:cNvPr>
          <p:cNvPicPr>
            <a:picLocks noChangeAspect="1"/>
          </p:cNvPicPr>
          <p:nvPr/>
        </p:nvPicPr>
        <p:blipFill>
          <a:blip r:embed="rId3"/>
          <a:stretch>
            <a:fillRect/>
          </a:stretch>
        </p:blipFill>
        <p:spPr>
          <a:xfrm>
            <a:off x="4983480" y="4114800"/>
            <a:ext cx="164592" cy="164592"/>
          </a:xfrm>
          <a:prstGeom prst="rect">
            <a:avLst/>
          </a:prstGeom>
        </p:spPr>
      </p:pic>
      <p:sp>
        <p:nvSpPr>
          <p:cNvPr id="22" name="takeaway 3"/>
          <p:cNvSpPr txBox="1"/>
          <p:nvPr/>
        </p:nvSpPr>
        <p:spPr>
          <a:xfrm>
            <a:off x="5239512" y="4078224"/>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ให้มนุษย์ตัดสินใจขั้นสุดท้าย</a:t>
            </a:r>
            <a:endParaRPr lang="en-US" sz="950" dirty="0"/>
          </a:p>
        </p:txBody>
      </p:sp>
      <p:pic>
        <p:nvPicPr>
          <p:cNvPr id="23" name="human handshake" descr="preencoded.png">    </p:cNvPr>
          <p:cNvPicPr>
            <a:picLocks noChangeAspect="1"/>
          </p:cNvPicPr>
          <p:nvPr/>
        </p:nvPicPr>
        <p:blipFill>
          <a:blip r:embed="rId4"/>
          <a:stretch>
            <a:fillRect/>
          </a:stretch>
        </p:blipFill>
        <p:spPr>
          <a:xfrm>
            <a:off x="7068312" y="3547872"/>
            <a:ext cx="749808" cy="786384"/>
          </a:xfrm>
          <a:prstGeom prst="rect">
            <a:avLst/>
          </a:prstGeom>
        </p:spPr>
      </p:pic>
      <p:pic>
        <p:nvPicPr>
          <p:cNvPr id="24" name="mascot handshake" descr="preencoded.png">    </p:cNvPr>
          <p:cNvPicPr>
            <a:picLocks noChangeAspect="1"/>
          </p:cNvPicPr>
          <p:nvPr/>
        </p:nvPicPr>
        <p:blipFill>
          <a:blip r:embed="rId5"/>
          <a:stretch>
            <a:fillRect/>
          </a:stretch>
        </p:blipFill>
        <p:spPr>
          <a:xfrm>
            <a:off x="7744968" y="3547872"/>
            <a:ext cx="822960" cy="786384"/>
          </a:xfrm>
          <a:prstGeom prst="rect">
            <a:avLst/>
          </a:prstGeom>
        </p:spPr>
      </p:pic>
      <p:sp>
        <p:nvSpPr>
          <p:cNvPr id="25"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700" dirty="0"/>
          </a:p>
        </p:txBody>
      </p:sp>
      <p:sp>
        <p:nvSpPr>
          <p:cNvPr id="26"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ขอบคุณครับ ยินดีรับคำถาม</a:t>
            </a:r>
            <a:endParaRPr lang="en-US" sz="950" dirty="0"/>
          </a:p>
        </p:txBody>
      </p:sp>
      <p:pic>
        <p:nvPicPr>
          <p:cNvPr id="27"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I Navy Teal Minimal">
  <a:themeElements>
    <a:clrScheme name="AI Navy Teal Minimal">
      <a:dk1>
        <a:srgbClr val="1B2A4A"/>
      </a:dk1>
      <a:lt1>
        <a:srgbClr val="FFFFFF"/>
      </a:lt1>
      <a:dk2>
        <a:srgbClr val="6B7280"/>
      </a:dk2>
      <a:lt2>
        <a:srgbClr val="F3F5F8"/>
      </a:lt2>
      <a:accent1>
        <a:srgbClr val="2E8B86"/>
      </a:accent1>
      <a:accent2>
        <a:srgbClr val="1B2A4A"/>
      </a:accent2>
      <a:accent3>
        <a:srgbClr val="A3ADBB"/>
      </a:accent3>
      <a:accent4>
        <a:srgbClr val="BFE6E0"/>
      </a:accent4>
      <a:accent5>
        <a:srgbClr val="E3E8EE"/>
      </a:accent5>
      <a:accent6>
        <a:srgbClr val="2A3D63"/>
      </a:accent6>
      <a:hlink>
        <a:srgbClr val="2E8B86"/>
      </a:hlink>
      <a:folHlink>
        <a:srgbClr val="6B7280"/>
      </a:folHlink>
    </a:clrScheme>
    <a:fontScheme name="AI Navy Teal Minim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and Work Performance</dc:title>
  <dc:subject>ENG 501 English for Master's Degree</dc:subject>
  <dc:creator>Chayanun Sungsa-ard</dc:creator>
  <cp:lastModifiedBy>Chayanun Sungsa-ard</cp:lastModifiedBy>
  <cp:revision>1</cp:revision>
  <dcterms:created xsi:type="dcterms:W3CDTF">2026-10-09T15:34:51Z</dcterms:created>
  <dcterms:modified xsi:type="dcterms:W3CDTF">2026-10-09T15:34:51Z</dcterms:modified>
</cp:coreProperties>
</file>