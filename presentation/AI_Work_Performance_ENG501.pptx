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nglish (Slides 1-5)" id="{58d66c0d-2ef4-732c-3a0b-0c45bc4ff314}">
          <p14:sldIdLst>
            <p14:sldId id="256"/>
            <p14:sldId id="257"/>
            <p14:sldId id="258"/>
            <p14:sldId id="259"/>
            <p14:sldId id="260"/>
          </p14:sldIdLst>
        </p14:section>
        <p14:section name="ภาษาไทย (Slides 6-10)" id="{75e8ac88-95ac-c807-9bab-8c4f89a07d1b}">
          <p14:sldIdLst>
            <p14:sldId id="261"/>
            <p14:sldId id="262"/>
            <p14:sldId id="263"/>
            <p14:sldId id="264"/>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00" b="0" i="0" u="none" strike="noStrike">
                <a:solidFill>
                  <a:srgbClr val="1B2A4A"/>
                </a:solidFill>
                <a:latin typeface="Poppins"/>
              </a:defRPr>
            </a:pPr>
            <a:r>
              <a:rPr sz="900" b="0" i="0" u="none" strike="noStrike">
                <a:solidFill>
                  <a:srgbClr val="1B2A4A"/>
                </a:solidFill>
                <a:latin typeface="Poppins"/>
              </a:rPr>
              <a:t>Change for consultants using AI, tasks inside the frontier</a:t>
            </a:r>
          </a:p>
        </c:rich>
      </c:tx>
      <c:layout/>
      <c:overlay val="0"/>
    </c:title>
    <c:autoTitleDeleted val="0"/>
    <c:plotArea>
      <c:layout/>
      <c:barChart>
        <c:barDir val="bar"/>
        <c:grouping val="clustered"/>
        <c:varyColors val="0"/>
        <c:ser>
          <c:idx val="0"/>
          <c:order val="0"/>
          <c:tx>
            <c:strRef>
              <c:f>Sheet1!$B$1</c:f>
              <c:strCache>
                <c:ptCount val="1"/>
                <c:pt idx="0">
                  <c:v>Change (%)</c:v>
                </c:pt>
              </c:strCache>
            </c:strRef>
          </c:tx>
          <c:spPr>
            <a:solidFill>
              <a:srgbClr val="2E8B86"/>
            </a:solidFill>
            <a:effectLst/>
          </c:spPr>
          <c:invertIfNegative val="0"/>
          <c:dLbls>
            <c:numFmt formatCode="+0.0&quot;%&quot;" sourceLinked="0"/>
            <c:txPr>
              <a:bodyPr/>
              <a:lstStyle/>
              <a:p>
                <a:pPr>
                  <a:defRPr b="0" i="0" strike="noStrike" sz="900" u="none">
                    <a:solidFill>
                      <a:srgbClr val="1B2A4A"/>
                    </a:solidFill>
                    <a:latin typeface="Poppins"/>
                  </a:defRPr>
                </a:pPr>
              </a:p>
            </c:txPr>
            <c:showLegendKey val="0"/>
            <c:showVal val="1"/>
            <c:showCatName val="0"/>
            <c:showSerName val="0"/>
            <c:showPercent val="0"/>
            <c:showBubbleSize val="0"/>
            <c:showLeaderLines val="0"/>
          </c:dLbls>
          <c:dPt>
            <c:idx val="0"/>
            <c:invertIfNegative val="0"/>
            <c:bubble3D val="0"/>
            <c:spPr>
              <a:solidFill>
                <a:srgbClr val="2E8B86"/>
              </a:solidFill>
              <a:effectLst/>
            </c:spPr>
          </c:dPt>
          <c:dPt>
            <c:idx val="1"/>
            <c:invertIfNegative val="0"/>
            <c:bubble3D val="0"/>
            <c:spPr>
              <a:solidFill>
                <a:srgbClr val="2E8B86"/>
              </a:solidFill>
              <a:effectLst/>
            </c:spPr>
          </c:dPt>
          <c:dPt>
            <c:idx val="2"/>
            <c:invertIfNegative val="0"/>
            <c:bubble3D val="0"/>
            <c:spPr>
              <a:solidFill>
                <a:srgbClr val="2E8B86"/>
              </a:solidFill>
              <a:effectLst/>
            </c:spPr>
          </c:dPt>
          <c:dPt>
            <c:idx val="3"/>
            <c:invertIfNegative val="0"/>
            <c:bubble3D val="0"/>
            <c:spPr>
              <a:solidFill>
                <a:srgbClr val="1B2A4A"/>
              </a:solidFill>
              <a:effectLst/>
            </c:spPr>
          </c:dPt>
          <c:dPt>
            <c:idx val="4"/>
            <c:invertIfNegative val="0"/>
            <c:bubble3D val="0"/>
            <c:spPr>
              <a:solidFill>
                <a:srgbClr val="1B2A4A"/>
              </a:solidFill>
              <a:effectLst/>
            </c:spPr>
          </c:dPt>
          <c:cat>
            <c:multiLvlStrRef>
              <c:f>Sheet1!$A$2:$A$6</c:f>
              <c:multiLvlStrCache>
                <c:ptCount val="5"/>
                <c:lvl>
                  <c:pt idx="0">
                    <c:v>Tasks completed</c:v>
                  </c:pt>
                  <c:pt idx="1">
                    <c:v>Task speed</c:v>
                  </c:pt>
                  <c:pt idx="2">
                    <c:v>Quality</c:v>
                  </c:pt>
                  <c:pt idx="3">
                    <c:v>Below-average</c:v>
                  </c:pt>
                  <c:pt idx="4">
                    <c:v>Above-average</c:v>
                  </c:pt>
                </c:lvl>
              </c:multiLvlStrCache>
            </c:multiLvlStrRef>
          </c:cat>
          <c:val>
            <c:numRef>
              <c:f>Sheet1!$B$2:$B$6</c:f>
              <c:numCache>
                <c:formatCode>General</c:formatCode>
                <c:ptCount val="5"/>
                <c:pt idx="0">
                  <c:v>12.2</c:v>
                </c:pt>
                <c:pt idx="1">
                  <c:v>25.1</c:v>
                </c:pt>
                <c:pt idx="2">
                  <c:v>40</c:v>
                </c:pt>
                <c:pt idx="3">
                  <c:v>43</c:v>
                </c:pt>
                <c:pt idx="4">
                  <c:v>17</c:v>
                </c:pt>
              </c:numCache>
            </c:numRef>
          </c:val>
        </c:ser>
        <c:dLbls>
          <c:numFmt formatCode="+0.0&quot;%&quot;" sourceLinked="0"/>
          <c:txPr>
            <a:bodyPr/>
            <a:lstStyle/>
            <a:p>
              <a:pPr>
                <a:defRPr b="0" i="0" strike="noStrike" sz="900" u="none">
                  <a:solidFill>
                    <a:srgbClr val="1B2A4A"/>
                  </a:solidFill>
                  <a:latin typeface="Poppins"/>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6B7280"/>
                </a:solidFill>
                <a:latin typeface="Poppins"/>
              </a:defRPr>
            </a:pPr>
            <a:endParaRPr lang="en-US"/>
          </a:p>
        </c:txPr>
        <c:crossAx val="2094734552"/>
        <c:crosses val="autoZero"/>
        <c:auto val="1"/>
        <c:lblAlgn val="ctr"/>
        <c:noMultiLvlLbl val="1"/>
      </c:catAx>
      <c:valAx>
        <c:axId val="2094734552"/>
        <c:scaling>
          <c:orientation val="minMax"/>
          <c:max val="5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00" b="0" i="0" u="none" strike="noStrike">
                <a:solidFill>
                  <a:srgbClr val="1B2A4A"/>
                </a:solidFill>
                <a:latin typeface="Prompt"/>
              </a:defRPr>
            </a:pPr>
            <a:r>
              <a:rPr sz="900" b="0" i="0" u="none" strike="noStrike">
                <a:solidFill>
                  <a:srgbClr val="1B2A4A"/>
                </a:solidFill>
                <a:latin typeface="Prompt"/>
              </a:rPr>
              <a:t>การเปลี่ยนแปลงของที่ปรึกษาที่ใช้ AI ในงานภายในพรมแดน</a:t>
            </a:r>
          </a:p>
        </c:rich>
      </c:tx>
      <c:layout/>
      <c:overlay val="0"/>
    </c:title>
    <c:autoTitleDeleted val="0"/>
    <c:plotArea>
      <c:layout/>
      <c:barChart>
        <c:barDir val="bar"/>
        <c:grouping val="clustered"/>
        <c:varyColors val="0"/>
        <c:ser>
          <c:idx val="0"/>
          <c:order val="0"/>
          <c:tx>
            <c:strRef>
              <c:f>Sheet1!$B$1</c:f>
              <c:strCache>
                <c:ptCount val="1"/>
                <c:pt idx="0">
                  <c:v>Change (%)</c:v>
                </c:pt>
              </c:strCache>
            </c:strRef>
          </c:tx>
          <c:spPr>
            <a:solidFill>
              <a:srgbClr val="2E8B86"/>
            </a:solidFill>
            <a:effectLst/>
          </c:spPr>
          <c:invertIfNegative val="0"/>
          <c:dLbls>
            <c:numFmt formatCode="+0.0&quot;%&quot;" sourceLinked="0"/>
            <c:txPr>
              <a:bodyPr/>
              <a:lstStyle/>
              <a:p>
                <a:pPr>
                  <a:defRPr b="0" i="0" strike="noStrike" sz="900" u="none">
                    <a:solidFill>
                      <a:srgbClr val="1B2A4A"/>
                    </a:solidFill>
                    <a:latin typeface="Prompt"/>
                  </a:defRPr>
                </a:pPr>
              </a:p>
            </c:txPr>
            <c:showLegendKey val="0"/>
            <c:showVal val="1"/>
            <c:showCatName val="0"/>
            <c:showSerName val="0"/>
            <c:showPercent val="0"/>
            <c:showBubbleSize val="0"/>
            <c:showLeaderLines val="0"/>
          </c:dLbls>
          <c:dPt>
            <c:idx val="0"/>
            <c:invertIfNegative val="0"/>
            <c:bubble3D val="0"/>
            <c:spPr>
              <a:solidFill>
                <a:srgbClr val="2E8B86"/>
              </a:solidFill>
              <a:effectLst/>
            </c:spPr>
          </c:dPt>
          <c:dPt>
            <c:idx val="1"/>
            <c:invertIfNegative val="0"/>
            <c:bubble3D val="0"/>
            <c:spPr>
              <a:solidFill>
                <a:srgbClr val="2E8B86"/>
              </a:solidFill>
              <a:effectLst/>
            </c:spPr>
          </c:dPt>
          <c:dPt>
            <c:idx val="2"/>
            <c:invertIfNegative val="0"/>
            <c:bubble3D val="0"/>
            <c:spPr>
              <a:solidFill>
                <a:srgbClr val="2E8B86"/>
              </a:solidFill>
              <a:effectLst/>
            </c:spPr>
          </c:dPt>
          <c:dPt>
            <c:idx val="3"/>
            <c:invertIfNegative val="0"/>
            <c:bubble3D val="0"/>
            <c:spPr>
              <a:solidFill>
                <a:srgbClr val="1B2A4A"/>
              </a:solidFill>
              <a:effectLst/>
            </c:spPr>
          </c:dPt>
          <c:dPt>
            <c:idx val="4"/>
            <c:invertIfNegative val="0"/>
            <c:bubble3D val="0"/>
            <c:spPr>
              <a:solidFill>
                <a:srgbClr val="1B2A4A"/>
              </a:solidFill>
              <a:effectLst/>
            </c:spPr>
          </c:dPt>
          <c:cat>
            <c:multiLvlStrRef>
              <c:f>Sheet1!$A$2:$A$6</c:f>
              <c:multiLvlStrCache>
                <c:ptCount val="5"/>
                <c:lvl>
                  <c:pt idx="0">
                    <c:v>งานที่ทำเสร็จ</c:v>
                  </c:pt>
                  <c:pt idx="1">
                    <c:v>ความเร็ว</c:v>
                  </c:pt>
                  <c:pt idx="2">
                    <c:v>คุณภาพ</c:v>
                  </c:pt>
                  <c:pt idx="3">
                    <c:v>กลุ่มต่ำกว่าค่าเฉลี่ย</c:v>
                  </c:pt>
                  <c:pt idx="4">
                    <c:v>กลุ่มสูงกว่าค่าเฉลี่ย</c:v>
                  </c:pt>
                </c:lvl>
              </c:multiLvlStrCache>
            </c:multiLvlStrRef>
          </c:cat>
          <c:val>
            <c:numRef>
              <c:f>Sheet1!$B$2:$B$6</c:f>
              <c:numCache>
                <c:formatCode>General</c:formatCode>
                <c:ptCount val="5"/>
                <c:pt idx="0">
                  <c:v>12.2</c:v>
                </c:pt>
                <c:pt idx="1">
                  <c:v>25.1</c:v>
                </c:pt>
                <c:pt idx="2">
                  <c:v>40</c:v>
                </c:pt>
                <c:pt idx="3">
                  <c:v>43</c:v>
                </c:pt>
                <c:pt idx="4">
                  <c:v>17</c:v>
                </c:pt>
              </c:numCache>
            </c:numRef>
          </c:val>
        </c:ser>
        <c:dLbls>
          <c:numFmt formatCode="+0.0&quot;%&quot;" sourceLinked="0"/>
          <c:txPr>
            <a:bodyPr/>
            <a:lstStyle/>
            <a:p>
              <a:pPr>
                <a:defRPr b="0" i="0" strike="noStrike" sz="900" u="none">
                  <a:solidFill>
                    <a:srgbClr val="1B2A4A"/>
                  </a:solidFill>
                  <a:latin typeface="Promp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6B7280"/>
                </a:solidFill>
                <a:latin typeface="Prompt"/>
              </a:defRPr>
            </a:pPr>
            <a:endParaRPr lang="en-US"/>
          </a:p>
        </c:txPr>
        <c:crossAx val="2094734552"/>
        <c:crosses val="autoZero"/>
        <c:auto val="1"/>
        <c:lblAlgn val="ctr"/>
        <c:noMultiLvlLbl val="1"/>
      </c:catAx>
      <c:valAx>
        <c:axId val="2094734552"/>
        <c:scaling>
          <c:orientation val="minMax"/>
          <c:max val="5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Today I will look at one question: how does AI affect productivity, work quality and business performance? I will use two recent field experiments. Article 2 studies consultants at BCG working with GPT-4. Article 5 studies small-business entrepreneurs in Kenya who received a GPT-4 business assistant. First the office, then the marketplace, and finally what the two studies tell us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Article 2 is a field experiment run with Boston Consulting Group. 758 consultants were randomly assigned to one of three conditions: no AI, GPT-4, or GPT-4 plus a short prompt-engineering overview. The authors study productivity, quality, and where AI's abilities end. They call that boundary the jagged technological frontier: AI handles some tasks well but struggles with others that look equally hard. Keep that picture in mind, because the results split exactly along that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Inside the frontier the gains were large: 12.2% more tasks completed, 25.1% faster, and more than 40% higher quality than the control group. Below-average performers improved by 43% and above-average performers by 17%, each against their own baseline. But for a task chosen to sit outside the frontier, AI users were 19 percentage points less likely to produce a correct solution. Note the unit: that is a gap between two success rates, not a percentage change. The consultants who did well used AI in two ways: Centaurs divided tasks between themselves and the AI, and Cyborgs wove AI into every step. The office result is clear. The next study asks whether it survives contact with a real business.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Article 5 moves from consultants to entrepreneurs in Kenya. Half of the small-business owners received a GPT-4-powered business assistant that gave advice; the outcomes were revenue and profit. On average, the researchers could not reject the null hypothesis of no treatment effect. But the average hides two stories. Entrepreneurs who were low performers at baseline did nearly 10% worse with the assistant, while high performers may have benefited by more than 15%. The questions and the AI advice were similar; the difference lay in which advice the entrepreneurs chose to implement. I want to be careful here: these are subgroup averages, not a rule for every individual.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the two studies side by side. Article 2 shows higher productivity and quality for knowledge work inside AI's frontier, and lower correctness outside it. Article 5 shows no established average effect on revenue and profit, with outcomes that depended on baseline performance and on which recommendations were implemented. The common thread is the human in the loop. AI can influence real performance, but the impact depends on task suitability, user behavior and human judgment. That is why I framed the title as AI being a tool, not a guarantee of success. Thank you, and I welcome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สวัสดีครับ วันนี้ผมจะตอบคำถามเดียวคือ AI ส่งผลต่อผลิตภาพ คุณภาพงาน และผลการดำเนินธุรกิจอย่างไร โดยใช้การทดลองภาคสนามสองชิ้น บทความที่ 2 ศึกษาที่ปรึกษาของ BCG ที่ใช้ GPT-4 ส่วนบทความที่ 5 ศึกษาผู้ประกอบการรายย่อยในเคนยาที่ได้รับผู้ช่วยธุรกิจ GPT-4 เราจะเริ่มจากในสำนักงาน ไปสู่ตลาดจริง แล้วสรุปสิ่งที่สองงานบอกเราร่วมกัน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บทความที่ 2 เป็นการทดลองภาคสนามร่วมกับ Boston Consulting Group ที่ปรึกษา 758 คนถูกสุ่มเข้าสามกลุ่ม คือไม่ใช้ AI ใช้ GPT-4 และใช้ GPT-4 พร้อมคำแนะนำการเขียน prompt ผู้วิจัยศึกษาผลิตภาพ คุณภาพ และจุดที่ความสามารถของ AI สิ้นสุด ซึ่งเรียกว่า jagged technological frontier คือ AI ทำงานบางอย่างได้ดี แต่ทำงานอื่นที่ดูยากพอกันได้ไม่ดี ขอให้จำภาพนี้ไว้ เพราะผลการศึกษาแยกตามเส้นนี้พอดี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ภายในพรมแดน ผลดีมีขนาดใหญ่ คือทำงานเสร็จเพิ่มขึ้น 12.2% เร็วขึ้น 25.1% และคุณภาพสูงกว่ากลุ่มควบคุมมากกว่า 40% กลุ่มผลงานต่ำกว่าค่าเฉลี่ยดีขึ้น 43% กลุ่มสูงกว่าค่าเฉลี่ยดีขึ้น 17% เทียบกับคะแนนเดิมของตนเอง แต่สำหรับงานที่เลือกให้อยู่นอกพรมแดน ผู้ใช้ AI มีโอกาสได้คำตอบถูกน้อยกว่า 19 จุดร้อยละ สังเกตหน่วยด้วยครับ นี่คือส่วนต่างของอัตราความถูกต้อง ไม่ใช่ร้อยละการเปลี่ยนแปลง ที่ปรึกษาที่ทำได้ดีใช้ AI สองแบบ คือ Centaurs ที่แบ่งงานระหว่างตัวเองกับ AI และ Cyborgs ที่ผสาน AI เข้าไปทุกขั้นตอน ผลในสำนักงานชัดเจน งานถัดไปถามว่าผลนี้จะอยู่รอดเมื่อเจอธุรกิจจริงหรือไม่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บทความที่ 5 ย้ายจากที่ปรึกษาไปสู่ผู้ประกอบการในเคนยา เจ้าของธุรกิจขนาดเล็กครึ่งหนึ่งได้รับผู้ช่วยธุรกิจที่ขับเคลื่อนด้วย GPT-4 ซึ่งให้คำแนะนำ ตัวแปรผลลัพธ์คือรายได้และกำไร โดยเฉลี่ยผู้วิจัยไม่สามารถปฏิเสธสมมติฐานว่างที่ว่าไม่มีผลของการทดลอง แต่ค่าเฉลี่ยซ่อนสองเรื่องไว้ ผู้ประกอบการที่ผลงานต่ำตั้งแต่ต้นแย่ลงเกือบ 10% ขณะที่กลุ่มผลงานสูงอาจได้ประโยชน์มากกว่า 15% คำถามและคำแนะนำของ AI ใกล้เคียงกัน ความต่างอยู่ที่คำแนะนำที่ผู้ประกอบการเลือกนำไปปฏิบัติ ขอย้ำว่านี่คือค่าเฉลี่ยของกลุ่มย่อย ไม่ใช่กฎสำหรับทุกคน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เมื่อวางสองงานเคียงกัน บทความที่ 2 แสดงว่าผลิตภาพและคุณภาพของงานความรู้สูงขึ้นภายในพรมแดนของ AI แต่ความถูกต้องลดลงนอกพรมแดน บทความที่ 5 ไม่พบผลเฉลี่ยต่อรายได้และกำไรอย่างชัดเจน และผลลัพธ์ขึ้นกับผลงานตั้งต้นและคำแนะนำที่เลือกนำไปใช้ จุดร่วมคือมนุษย์ที่อยู่ในกระบวนการ AI ส่งผลต่อผลการทำงานจริงได้ แต่ขึ้นอยู่กับความเหมาะสมของงาน พฤติกรรมของผู้ใช้ และวิจารณญาณของมนุษย์ นี่คือเหตุผลที่ผมตั้งชื่อว่า AI เป็นเครื่องมือ ไม่ใช่หลักประกันความสำเร็จ ขอบคุณครับ ยินดีรับคำถาม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TITLE_DARK_EN-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TITLE_DARK_TH-image-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_EN">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6309360" cy="1143000"/>
          </a:xfrm>
          <a:prstGeom prst="rect">
            <a:avLst/>
          </a:prstGeom>
          <a:noFill/>
          <a:ln/>
        </p:spPr>
        <p:txBody>
          <a:bodyPr wrap="square" rtlCol="0"/>
          <a:lstStyle>
            <a:lvl1pPr algn="l" indent="0" marL="0">
              <a:buNone/>
              <a:defRPr lang="en-US" sz="3200" b="1" dirty="0">
                <a:solidFill>
                  <a:schemeClr val="bg1"/>
                </a:solidFill>
                <a:latin typeface="Poppins" pitchFamily="34" charset="0"/>
                <a:ea typeface="Poppins" pitchFamily="34" charset="-122"/>
                <a:cs typeface="Poppins" pitchFamily="34" charset="-120"/>
              </a:defRPr>
            </a:lvl1pPr>
          </a:lstStyle>
          <a:p>
            <a:pPr algn="l" indent="0" marL="0">
              <a:buNone/>
            </a:pPr>
            <a:endParaRPr lang="en-US" sz="3200" dirty="0"/>
          </a:p>
        </p:txBody>
      </p:sp>
      <p:sp>
        <p:nvSpPr>
          <p:cNvPr id="3" name="Text 0"/>
          <p:cNvSpPr/>
          <p:nvPr>
            <p:ph idx="101" type="body" hasCustomPrompt="1"/>
          </p:nvPr>
        </p:nvSpPr>
        <p:spPr>
          <a:xfrm>
            <a:off x="502920" y="1463040"/>
            <a:ext cx="6309360" cy="365760"/>
          </a:xfrm>
          <a:prstGeom prst="rect">
            <a:avLst/>
          </a:prstGeom>
          <a:noFill/>
          <a:ln/>
        </p:spPr>
        <p:txBody>
          <a:bodyPr wrap="square" rtlCol="0"/>
          <a:lstStyle>
            <a:lvl1pPr algn="l" indent="0" marL="0">
              <a:buNone/>
              <a:defRPr lang="en-US" sz="1400" dirty="0">
                <a:solidFill>
                  <a:schemeClr val="accent4"/>
                </a:solidFill>
                <a:latin typeface="Poppins" pitchFamily="34" charset="0"/>
                <a:ea typeface="Poppins" pitchFamily="34" charset="-122"/>
                <a:cs typeface="Poppins" pitchFamily="34" charset="-120"/>
              </a:defRPr>
            </a:lvl1pPr>
          </a:lstStyle>
          <a:p>
            <a:pPr algn="l" indent="0" marL="0">
              <a:buNone/>
            </a:pPr>
            <a:endParaRPr lang="en-US" sz="1400" dirty="0"/>
          </a:p>
        </p:txBody>
      </p:sp>
      <p:sp>
        <p:nvSpPr>
          <p:cNvPr id="25" name="Slide Number Placeholder 0"/>
          <p:cNvSpPr>
            <a:spLocks noGrp="1"/>
          </p:cNvSpPr>
          <p:nvPr>
            <p:ph type="sldNum" sz="quarter" idx="4294967295"/>
          </p:nvPr>
        </p:nvSpPr>
        <p:spPr>
          <a:xfrm>
            <a:off x="8092440" y="477316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3ADBB"/>
                </a:solidFill>
                <a:latin typeface="Poppins"/>
                <a:ea typeface="Poppins"/>
                <a:cs typeface="Poppins"/>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_EN">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02920" y="274320"/>
            <a:ext cx="5943600" cy="237744"/>
          </a:xfrm>
          <a:prstGeom prst="rect">
            <a:avLst/>
          </a:prstGeom>
          <a:noFill/>
          <a:ln/>
        </p:spPr>
        <p:txBody>
          <a:bodyPr wrap="square" rtlCol="0"/>
          <a:lstStyle>
            <a:lvl1pPr algn="l" indent="0" marL="0">
              <a:buNone/>
              <a:defRPr lang="en-US" sz="1000" b="1" spc="150" kern="0" dirty="0">
                <a:solidFill>
                  <a:schemeClr val="accent1"/>
                </a:solidFill>
                <a:latin typeface="Poppins" pitchFamily="34" charset="0"/>
                <a:ea typeface="Poppins" pitchFamily="34" charset="-122"/>
                <a:cs typeface="Poppins" pitchFamily="34" charset="-120"/>
              </a:defRPr>
            </a:lvl1pPr>
          </a:lstStyle>
          <a:p>
            <a:pPr algn="l" indent="0" marL="0">
              <a:buNone/>
            </a:pPr>
            <a:endParaRPr lang="en-US" sz="1000" dirty="0"/>
          </a:p>
        </p:txBody>
      </p:sp>
      <p:sp>
        <p:nvSpPr>
          <p:cNvPr id="3" name="Text 0"/>
          <p:cNvSpPr/>
          <p:nvPr>
            <p:ph idx="101" type="title" hasCustomPrompt="1"/>
          </p:nvPr>
        </p:nvSpPr>
        <p:spPr>
          <a:xfrm>
            <a:off x="502920" y="512064"/>
            <a:ext cx="8138160" cy="731520"/>
          </a:xfrm>
          <a:prstGeom prst="rect">
            <a:avLst/>
          </a:prstGeom>
          <a:noFill/>
          <a:ln/>
        </p:spPr>
        <p:txBody>
          <a:bodyPr wrap="square" rtlCol="0"/>
          <a:lstStyle>
            <a:lvl1pPr algn="l" indent="0" marL="0">
              <a:buNone/>
              <a:defRPr lang="en-US" sz="2600" b="1" dirty="0">
                <a:solidFill>
                  <a:schemeClr val="tx1"/>
                </a:solidFill>
                <a:latin typeface="Poppins" pitchFamily="34" charset="0"/>
                <a:ea typeface="Poppins" pitchFamily="34" charset="-122"/>
                <a:cs typeface="Poppins" pitchFamily="34" charset="-120"/>
              </a:defRPr>
            </a:lvl1pPr>
          </a:lstStyle>
          <a:p>
            <a:pPr algn="l" indent="0" marL="0">
              <a:buNone/>
            </a:pPr>
            <a:endParaRPr lang="en-US" sz="2600" dirty="0"/>
          </a:p>
        </p:txBody>
      </p:sp>
      <p:sp>
        <p:nvSpPr>
          <p:cNvPr id="4" name="Text 0"/>
          <p:cNvSpPr/>
          <p:nvPr/>
        </p:nvSpPr>
        <p:spPr>
          <a:xfrm>
            <a:off x="502920" y="4773168"/>
            <a:ext cx="5486400" cy="274320"/>
          </a:xfrm>
          <a:prstGeom prst="rect">
            <a:avLst/>
          </a:prstGeom>
          <a:noFill/>
          <a:ln/>
        </p:spPr>
        <p:txBody>
          <a:bodyPr wrap="square" lIns="0" tIns="0" rIns="0" bIns="0" rtlCol="0" anchor="ctr"/>
          <a:lstStyle/>
          <a:p>
            <a:pPr indent="0" marL="0">
              <a:buNone/>
            </a:pPr>
            <a:r>
              <a:rPr lang="en-US" sz="850" dirty="0">
                <a:solidFill>
                  <a:srgbClr val="A3ADBB"/>
                </a:solidFill>
                <a:latin typeface="Poppins" pitchFamily="34" charset="0"/>
                <a:ea typeface="Poppins" pitchFamily="34" charset="-122"/>
                <a:cs typeface="Poppins" pitchFamily="34" charset="-120"/>
              </a:rPr>
              <a:t>Chayanun Sungsa-ard  ·  691401708  ·  MBA  ·  ENG 501</a:t>
            </a:r>
            <a:endParaRPr lang="en-US" sz="850" dirty="0"/>
          </a:p>
        </p:txBody>
      </p:sp>
      <p:sp>
        <p:nvSpPr>
          <p:cNvPr id="25" name="Slide Number Placeholder 0"/>
          <p:cNvSpPr>
            <a:spLocks noGrp="1"/>
          </p:cNvSpPr>
          <p:nvPr>
            <p:ph type="sldNum" sz="quarter" idx="4294967295"/>
          </p:nvPr>
        </p:nvSpPr>
        <p:spPr>
          <a:xfrm>
            <a:off x="8092440" y="4773168"/>
            <a:ext cx="548640" cy="274320"/>
          </a:xfrm>
          <a:prstGeom prst="rect">
            <a:avLst/>
          </a:prstGeom>
          <a:extLst>
            <a:ext uri="{C572A759-6A51-4108-AA02-DFA0A04FC94B}">
              <ma14:wrappingTextBoxFlag xmlns:ma14="http://schemas.microsoft.com/office/mac/drawingml/2011/main" val="0"/>
            </a:ext>
          </a:extLst>
        </p:spPr>
        <p:txBody>
          <a:bodyPr/>
          <a:lstStyle>
            <a:lvl1pPr>
              <a:defRPr sz="850">
                <a:solidFill>
                  <a:srgbClr val="A3ADBB"/>
                </a:solidFill>
                <a:latin typeface="Poppins"/>
                <a:ea typeface="Poppins"/>
                <a:cs typeface="Poppins"/>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_DARK_TH">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6309360" cy="1143000"/>
          </a:xfrm>
          <a:prstGeom prst="rect">
            <a:avLst/>
          </a:prstGeom>
          <a:noFill/>
          <a:ln/>
        </p:spPr>
        <p:txBody>
          <a:bodyPr wrap="square" rtlCol="0"/>
          <a:lstStyle>
            <a:lvl1pPr algn="l" indent="0" marL="0">
              <a:buNone/>
              <a:defRPr lang="en-US" sz="3200" b="1" dirty="0">
                <a:solidFill>
                  <a:schemeClr val="bg1"/>
                </a:solidFill>
                <a:latin typeface="Prompt" pitchFamily="34" charset="0"/>
                <a:ea typeface="Prompt" pitchFamily="34" charset="-122"/>
                <a:cs typeface="Prompt" pitchFamily="34" charset="-120"/>
              </a:defRPr>
            </a:lvl1pPr>
          </a:lstStyle>
          <a:p>
            <a:pPr algn="l" indent="0" marL="0">
              <a:buNone/>
            </a:pPr>
            <a:endParaRPr lang="en-US" sz="3200" dirty="0"/>
          </a:p>
        </p:txBody>
      </p:sp>
      <p:sp>
        <p:nvSpPr>
          <p:cNvPr id="3" name="Text 0"/>
          <p:cNvSpPr/>
          <p:nvPr>
            <p:ph idx="101" type="body" hasCustomPrompt="1"/>
          </p:nvPr>
        </p:nvSpPr>
        <p:spPr>
          <a:xfrm>
            <a:off x="502920" y="1463040"/>
            <a:ext cx="6309360" cy="365760"/>
          </a:xfrm>
          <a:prstGeom prst="rect">
            <a:avLst/>
          </a:prstGeom>
          <a:noFill/>
          <a:ln/>
        </p:spPr>
        <p:txBody>
          <a:bodyPr wrap="square" rtlCol="0"/>
          <a:lstStyle>
            <a:lvl1pPr algn="l" indent="0" marL="0">
              <a:buNone/>
              <a:defRPr lang="en-US" sz="1400" dirty="0">
                <a:solidFill>
                  <a:schemeClr val="accent4"/>
                </a:solidFill>
                <a:latin typeface="Prompt" pitchFamily="34" charset="0"/>
                <a:ea typeface="Prompt" pitchFamily="34" charset="-122"/>
                <a:cs typeface="Prompt" pitchFamily="34" charset="-120"/>
              </a:defRPr>
            </a:lvl1pPr>
          </a:lstStyle>
          <a:p>
            <a:pPr algn="l" indent="0" marL="0">
              <a:buNone/>
            </a:pPr>
            <a:endParaRPr lang="en-US" sz="1400" dirty="0"/>
          </a:p>
        </p:txBody>
      </p:sp>
      <p:sp>
        <p:nvSpPr>
          <p:cNvPr id="25" name="Slide Number Placeholder 0"/>
          <p:cNvSpPr>
            <a:spLocks noGrp="1"/>
          </p:cNvSpPr>
          <p:nvPr>
            <p:ph type="sldNum" sz="quarter" idx="4294967295"/>
          </p:nvPr>
        </p:nvSpPr>
        <p:spPr>
          <a:xfrm>
            <a:off x="8092440" y="477316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3ADBB"/>
                </a:solidFill>
                <a:latin typeface="Prompt"/>
                <a:ea typeface="Prompt"/>
                <a:cs typeface="Prompt"/>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NTENT_TH">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02920" y="274320"/>
            <a:ext cx="5943600" cy="237744"/>
          </a:xfrm>
          <a:prstGeom prst="rect">
            <a:avLst/>
          </a:prstGeom>
          <a:noFill/>
          <a:ln/>
        </p:spPr>
        <p:txBody>
          <a:bodyPr wrap="square" rtlCol="0"/>
          <a:lstStyle>
            <a:lvl1pPr algn="l" indent="0" marL="0">
              <a:buNone/>
              <a:defRPr lang="en-US" sz="1000" b="1" spc="150" kern="0" dirty="0">
                <a:solidFill>
                  <a:schemeClr val="accent1"/>
                </a:solidFill>
                <a:latin typeface="Prompt" pitchFamily="34" charset="0"/>
                <a:ea typeface="Prompt" pitchFamily="34" charset="-122"/>
                <a:cs typeface="Prompt" pitchFamily="34" charset="-120"/>
              </a:defRPr>
            </a:lvl1pPr>
          </a:lstStyle>
          <a:p>
            <a:pPr algn="l" indent="0" marL="0">
              <a:buNone/>
            </a:pPr>
            <a:endParaRPr lang="en-US" sz="1000" dirty="0"/>
          </a:p>
        </p:txBody>
      </p:sp>
      <p:sp>
        <p:nvSpPr>
          <p:cNvPr id="3" name="Text 0"/>
          <p:cNvSpPr/>
          <p:nvPr>
            <p:ph idx="101" type="title" hasCustomPrompt="1"/>
          </p:nvPr>
        </p:nvSpPr>
        <p:spPr>
          <a:xfrm>
            <a:off x="502920" y="512064"/>
            <a:ext cx="8138160" cy="731520"/>
          </a:xfrm>
          <a:prstGeom prst="rect">
            <a:avLst/>
          </a:prstGeom>
          <a:noFill/>
          <a:ln/>
        </p:spPr>
        <p:txBody>
          <a:bodyPr wrap="square" rtlCol="0"/>
          <a:lstStyle>
            <a:lvl1pPr algn="l" indent="0" marL="0">
              <a:buNone/>
              <a:defRPr lang="en-US" sz="2600" b="1" dirty="0">
                <a:solidFill>
                  <a:schemeClr val="tx1"/>
                </a:solidFill>
                <a:latin typeface="Prompt" pitchFamily="34" charset="0"/>
                <a:ea typeface="Prompt" pitchFamily="34" charset="-122"/>
                <a:cs typeface="Prompt" pitchFamily="34" charset="-120"/>
              </a:defRPr>
            </a:lvl1pPr>
          </a:lstStyle>
          <a:p>
            <a:pPr algn="l" indent="0" marL="0">
              <a:buNone/>
            </a:pPr>
            <a:endParaRPr lang="en-US" sz="2600" dirty="0"/>
          </a:p>
        </p:txBody>
      </p:sp>
      <p:sp>
        <p:nvSpPr>
          <p:cNvPr id="4" name="Text 0"/>
          <p:cNvSpPr/>
          <p:nvPr/>
        </p:nvSpPr>
        <p:spPr>
          <a:xfrm>
            <a:off x="502920" y="4773168"/>
            <a:ext cx="5486400" cy="274320"/>
          </a:xfrm>
          <a:prstGeom prst="rect">
            <a:avLst/>
          </a:prstGeom>
          <a:noFill/>
          <a:ln/>
        </p:spPr>
        <p:txBody>
          <a:bodyPr wrap="square" lIns="0" tIns="0" rIns="0" bIns="0" rtlCol="0" anchor="ctr"/>
          <a:lstStyle/>
          <a:p>
            <a:pPr indent="0" marL="0">
              <a:buNone/>
            </a:pPr>
            <a:r>
              <a:rPr lang="en-US" sz="850" dirty="0">
                <a:solidFill>
                  <a:srgbClr val="A3ADBB"/>
                </a:solidFill>
                <a:latin typeface="Prompt" pitchFamily="34" charset="0"/>
                <a:ea typeface="Prompt" pitchFamily="34" charset="-122"/>
                <a:cs typeface="Prompt" pitchFamily="34" charset="-120"/>
              </a:rPr>
              <a:t>Chayanun Sungsa-ard  ·  691401708  ·  MBA  ·  ENG 501</a:t>
            </a:r>
            <a:endParaRPr lang="en-US" sz="850" dirty="0"/>
          </a:p>
        </p:txBody>
      </p:sp>
      <p:sp>
        <p:nvSpPr>
          <p:cNvPr id="25" name="Slide Number Placeholder 0"/>
          <p:cNvSpPr>
            <a:spLocks noGrp="1"/>
          </p:cNvSpPr>
          <p:nvPr>
            <p:ph type="sldNum" sz="quarter" idx="4294967295"/>
          </p:nvPr>
        </p:nvSpPr>
        <p:spPr>
          <a:xfrm>
            <a:off x="8092440" y="4773168"/>
            <a:ext cx="548640" cy="274320"/>
          </a:xfrm>
          <a:prstGeom prst="rect">
            <a:avLst/>
          </a:prstGeom>
          <a:extLst>
            <a:ext uri="{C572A759-6A51-4108-AA02-DFA0A04FC94B}">
              <ma14:wrappingTextBoxFlag xmlns:ma14="http://schemas.microsoft.com/office/mac/drawingml/2011/main" val="0"/>
            </a:ext>
          </a:extLst>
        </p:spPr>
        <p:txBody>
          <a:bodyPr/>
          <a:lstStyle>
            <a:lvl1pPr>
              <a:defRPr sz="850">
                <a:solidFill>
                  <a:srgbClr val="A3ADBB"/>
                </a:solidFill>
                <a:latin typeface="Prompt"/>
                <a:ea typeface="Prompt"/>
                <a:cs typeface="Prompt"/>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092440" y="477316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3ADBB"/>
                </a:solidFill>
                <a:latin typeface="Poppins"/>
                <a:ea typeface="Poppins"/>
                <a:cs typeface="Poppin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3.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3-1.png"/><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image" Target="../media/image-3-4.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slideLayout" Target="../slideLayouts/slideLayout3.xml"/><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3.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4.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5.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8-1.png"/><Relationship Id="rId3" Type="http://schemas.openxmlformats.org/officeDocument/2006/relationships/image" Target="../media/image-8-2.png"/><Relationship Id="rId4" Type="http://schemas.openxmlformats.org/officeDocument/2006/relationships/image" Target="../media/image-8-3.png"/><Relationship Id="rId5" Type="http://schemas.openxmlformats.org/officeDocument/2006/relationships/image" Target="../media/image-8-4.png"/><Relationship Id="rId6" Type="http://schemas.openxmlformats.org/officeDocument/2006/relationships/slideLayout" Target="../slideLayouts/slideLayout5.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slideLayout" Target="../slideLayouts/slideLayout5.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5.xml"/><Relationship Id="rId8"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6309360" cy="1143000"/>
          </a:xfrm>
          <a:prstGeom prst="rect">
            <a:avLst/>
          </a:prstGeom>
          <a:noFill/>
          <a:ln/>
        </p:spPr>
        <p:txBody>
          <a:bodyPr wrap="square" lIns="0" tIns="0" rIns="0" bIns="0" rtlCol="0" anchor="b"/>
          <a:lstStyle/>
          <a:p>
            <a:pPr algn="l" indent="0" marL="0">
              <a:buNone/>
            </a:pPr>
            <a:r>
              <a:rPr lang="en-US" sz="3200" b="1" dirty="0">
                <a:solidFill>
                  <a:schemeClr val="bg1"/>
                </a:solidFill>
                <a:latin typeface="Poppins" pitchFamily="34" charset="0"/>
                <a:ea typeface="Poppins" pitchFamily="34" charset="-122"/>
                <a:cs typeface="Poppins" pitchFamily="34" charset="-120"/>
              </a:rPr>
              <a:t>Artificial Intelligence and Work Performance</a:t>
            </a:r>
            <a:endParaRPr lang="en-US" sz="3200" dirty="0"/>
          </a:p>
        </p:txBody>
      </p:sp>
      <p:sp>
        <p:nvSpPr>
          <p:cNvPr id="3" name="Text 0"/>
          <p:cNvSpPr/>
          <p:nvPr>
            <p:ph idx="101" type="body" hasCustomPrompt="1"/>
          </p:nvPr>
        </p:nvSpPr>
        <p:spPr>
          <a:xfrm>
            <a:off x="502920" y="1463040"/>
            <a:ext cx="6309360" cy="365760"/>
          </a:xfrm>
          <a:prstGeom prst="rect">
            <a:avLst/>
          </a:prstGeom>
          <a:noFill/>
          <a:ln/>
        </p:spPr>
        <p:txBody>
          <a:bodyPr wrap="square" lIns="0" tIns="0" rIns="0" bIns="0" rtlCol="0" anchor="t"/>
          <a:lstStyle/>
          <a:p>
            <a:pPr algn="l" indent="0" marL="0">
              <a:buNone/>
            </a:pPr>
            <a:r>
              <a:rPr lang="en-US" sz="1400" dirty="0">
                <a:solidFill>
                  <a:schemeClr val="accent4"/>
                </a:solidFill>
                <a:latin typeface="Poppins" pitchFamily="34" charset="0"/>
                <a:ea typeface="Poppins" pitchFamily="34" charset="-122"/>
                <a:cs typeface="Poppins" pitchFamily="34" charset="-120"/>
              </a:rPr>
              <a:t>Evidence from two recent field experiments</a:t>
            </a:r>
            <a:endParaRPr lang="en-US" sz="1400" dirty="0"/>
          </a:p>
        </p:txBody>
      </p:sp>
      <p:pic>
        <p:nvPicPr>
          <p:cNvPr id="4" name="mascot waving" descr="preencoded.png">    </p:cNvPr>
          <p:cNvPicPr>
            <a:picLocks noChangeAspect="1"/>
          </p:cNvPicPr>
          <p:nvPr/>
        </p:nvPicPr>
        <p:blipFill>
          <a:blip r:embed="rId1"/>
          <a:stretch>
            <a:fillRect/>
          </a:stretch>
        </p:blipFill>
        <p:spPr>
          <a:xfrm>
            <a:off x="6858000" y="320040"/>
            <a:ext cx="1920240" cy="1664208"/>
          </a:xfrm>
          <a:prstGeom prst="rect">
            <a:avLst/>
          </a:prstGeom>
        </p:spPr>
      </p:pic>
      <p:sp>
        <p:nvSpPr>
          <p:cNvPr id="5" name="central question"/>
          <p:cNvSpPr txBox="1"/>
          <p:nvPr/>
        </p:nvSpPr>
        <p:spPr>
          <a:xfrm>
            <a:off x="502920" y="1938528"/>
            <a:ext cx="8138160" cy="365760"/>
          </a:xfrm>
          <a:prstGeom prst="rect">
            <a:avLst/>
          </a:prstGeom>
          <a:noFill/>
          <a:ln/>
        </p:spPr>
        <p:txBody>
          <a:bodyPr wrap="square" lIns="0" tIns="0" rIns="0" bIns="0" rtlCol="0" anchor="ctr"/>
          <a:lstStyle/>
          <a:p>
            <a:pPr indent="0" marL="0">
              <a:buNone/>
            </a:pPr>
            <a:r>
              <a:rPr lang="en-US" sz="1300" b="1" dirty="0">
                <a:solidFill>
                  <a:srgbClr val="FFFFFF"/>
                </a:solidFill>
                <a:latin typeface="Poppins" pitchFamily="34" charset="0"/>
                <a:ea typeface="Poppins" pitchFamily="34" charset="-122"/>
                <a:cs typeface="Poppins" pitchFamily="34" charset="-120"/>
              </a:rPr>
              <a:t>How does AI affect productivity, work quality, and business performance?</a:t>
            </a:r>
            <a:endParaRPr lang="en-US" sz="1300" dirty="0"/>
          </a:p>
        </p:txBody>
      </p:sp>
      <p:sp>
        <p:nvSpPr>
          <p:cNvPr id="6" name="article card 1"/>
          <p:cNvSpPr/>
          <p:nvPr/>
        </p:nvSpPr>
        <p:spPr>
          <a:xfrm>
            <a:off x="502920" y="2432304"/>
            <a:ext cx="3931920" cy="1261872"/>
          </a:xfrm>
          <a:prstGeom prst="roundRect">
            <a:avLst>
              <a:gd name="adj" fmla="val 8696"/>
            </a:avLst>
          </a:prstGeom>
          <a:solidFill>
            <a:srgbClr val="2A3D63"/>
          </a:solidFill>
          <a:ln w="12700">
            <a:solidFill>
              <a:srgbClr val="2A3D63"/>
            </a:solidFill>
            <a:prstDash val="solid"/>
          </a:ln>
        </p:spPr>
      </p:sp>
      <p:sp>
        <p:nvSpPr>
          <p:cNvPr id="7" name="article label"/>
          <p:cNvSpPr txBox="1"/>
          <p:nvPr/>
        </p:nvSpPr>
        <p:spPr>
          <a:xfrm>
            <a:off x="704088" y="2542032"/>
            <a:ext cx="3529584" cy="201168"/>
          </a:xfrm>
          <a:prstGeom prst="rect">
            <a:avLst/>
          </a:prstGeom>
          <a:noFill/>
          <a:ln/>
        </p:spPr>
        <p:txBody>
          <a:bodyPr wrap="square" lIns="0" tIns="0" rIns="0" bIns="0" rtlCol="0" anchor="ctr"/>
          <a:lstStyle/>
          <a:p>
            <a:pPr indent="0" marL="0">
              <a:buNone/>
            </a:pPr>
            <a:r>
              <a:rPr lang="en-US" sz="850" b="1" spc="150" kern="0" dirty="0">
                <a:solidFill>
                  <a:srgbClr val="BFE6E0"/>
                </a:solidFill>
                <a:latin typeface="Poppins" pitchFamily="34" charset="0"/>
                <a:ea typeface="Poppins" pitchFamily="34" charset="-122"/>
                <a:cs typeface="Poppins" pitchFamily="34" charset="-120"/>
              </a:rPr>
              <a:t>Article 2</a:t>
            </a:r>
            <a:endParaRPr lang="en-US" sz="850" dirty="0"/>
          </a:p>
        </p:txBody>
      </p:sp>
      <p:sp>
        <p:nvSpPr>
          <p:cNvPr id="8" name="article title"/>
          <p:cNvSpPr txBox="1"/>
          <p:nvPr/>
        </p:nvSpPr>
        <p:spPr>
          <a:xfrm>
            <a:off x="704088" y="2761488"/>
            <a:ext cx="3529584" cy="603504"/>
          </a:xfrm>
          <a:prstGeom prst="rect">
            <a:avLst/>
          </a:prstGeom>
          <a:noFill/>
          <a:ln/>
        </p:spPr>
        <p:txBody>
          <a:bodyPr wrap="square" lIns="0" tIns="0" rIns="0" bIns="0" rtlCol="0" anchor="t"/>
          <a:lstStyle/>
          <a:p>
            <a:pPr indent="0" marL="0">
              <a:buNone/>
            </a:pPr>
            <a:r>
              <a:rPr lang="en-US" sz="950" b="1" dirty="0">
                <a:solidFill>
                  <a:srgbClr val="FFFFFF"/>
                </a:solidFill>
                <a:latin typeface="Poppins" pitchFamily="34" charset="0"/>
                <a:ea typeface="Poppins" pitchFamily="34" charset="-122"/>
                <a:cs typeface="Poppins" pitchFamily="34" charset="-120"/>
              </a:rPr>
              <a:t>Navigating the Jagged Technological Frontier: Field Experimental Evidence of the Effects of AI on Knowledge Worker Productivity and Quality</a:t>
            </a:r>
            <a:endParaRPr lang="en-US" sz="950" dirty="0"/>
          </a:p>
        </p:txBody>
      </p:sp>
      <p:sp>
        <p:nvSpPr>
          <p:cNvPr id="9" name="article meta"/>
          <p:cNvSpPr txBox="1"/>
          <p:nvPr/>
        </p:nvSpPr>
        <p:spPr>
          <a:xfrm>
            <a:off x="704088" y="3364992"/>
            <a:ext cx="3529584" cy="292608"/>
          </a:xfrm>
          <a:prstGeom prst="rect">
            <a:avLst/>
          </a:prstGeom>
          <a:noFill/>
          <a:ln/>
        </p:spPr>
        <p:txBody>
          <a:bodyPr wrap="square" lIns="0" tIns="0" rIns="0" bIns="0" rtlCol="0" anchor="t"/>
          <a:lstStyle/>
          <a:p>
            <a:pPr indent="0" marL="0">
              <a:buNone/>
            </a:pPr>
            <a:r>
              <a:rPr lang="en-US" sz="750" dirty="0">
                <a:solidFill>
                  <a:srgbClr val="BFE6E0"/>
                </a:solidFill>
                <a:latin typeface="Poppins" pitchFamily="34" charset="0"/>
                <a:ea typeface="Poppins" pitchFamily="34" charset="-122"/>
                <a:cs typeface="Poppins" pitchFamily="34" charset="-120"/>
              </a:rPr>
              <a:t>Fabrizio Dell'Acqua et al.  ·  Harvard Business School Working Paper 24-013, 2023</a:t>
            </a:r>
            <a:endParaRPr lang="en-US" sz="750" dirty="0"/>
          </a:p>
        </p:txBody>
      </p:sp>
      <p:sp>
        <p:nvSpPr>
          <p:cNvPr id="10" name="article card 2"/>
          <p:cNvSpPr/>
          <p:nvPr/>
        </p:nvSpPr>
        <p:spPr>
          <a:xfrm>
            <a:off x="4709160" y="2432304"/>
            <a:ext cx="3931920" cy="1261872"/>
          </a:xfrm>
          <a:prstGeom prst="roundRect">
            <a:avLst>
              <a:gd name="adj" fmla="val 8696"/>
            </a:avLst>
          </a:prstGeom>
          <a:solidFill>
            <a:srgbClr val="2A3D63"/>
          </a:solidFill>
          <a:ln w="12700">
            <a:solidFill>
              <a:srgbClr val="2A3D63"/>
            </a:solidFill>
            <a:prstDash val="solid"/>
          </a:ln>
        </p:spPr>
      </p:sp>
      <p:sp>
        <p:nvSpPr>
          <p:cNvPr id="11" name="article label"/>
          <p:cNvSpPr txBox="1"/>
          <p:nvPr/>
        </p:nvSpPr>
        <p:spPr>
          <a:xfrm>
            <a:off x="4910328" y="2542032"/>
            <a:ext cx="3529584" cy="201168"/>
          </a:xfrm>
          <a:prstGeom prst="rect">
            <a:avLst/>
          </a:prstGeom>
          <a:noFill/>
          <a:ln/>
        </p:spPr>
        <p:txBody>
          <a:bodyPr wrap="square" lIns="0" tIns="0" rIns="0" bIns="0" rtlCol="0" anchor="ctr"/>
          <a:lstStyle/>
          <a:p>
            <a:pPr indent="0" marL="0">
              <a:buNone/>
            </a:pPr>
            <a:r>
              <a:rPr lang="en-US" sz="850" b="1" spc="150" kern="0" dirty="0">
                <a:solidFill>
                  <a:srgbClr val="BFE6E0"/>
                </a:solidFill>
                <a:latin typeface="Poppins" pitchFamily="34" charset="0"/>
                <a:ea typeface="Poppins" pitchFamily="34" charset="-122"/>
                <a:cs typeface="Poppins" pitchFamily="34" charset="-120"/>
              </a:rPr>
              <a:t>Article 5</a:t>
            </a:r>
            <a:endParaRPr lang="en-US" sz="850" dirty="0"/>
          </a:p>
        </p:txBody>
      </p:sp>
      <p:sp>
        <p:nvSpPr>
          <p:cNvPr id="12" name="article title"/>
          <p:cNvSpPr txBox="1"/>
          <p:nvPr/>
        </p:nvSpPr>
        <p:spPr>
          <a:xfrm>
            <a:off x="4910328" y="2761488"/>
            <a:ext cx="3529584" cy="603504"/>
          </a:xfrm>
          <a:prstGeom prst="rect">
            <a:avLst/>
          </a:prstGeom>
          <a:noFill/>
          <a:ln/>
        </p:spPr>
        <p:txBody>
          <a:bodyPr wrap="square" lIns="0" tIns="0" rIns="0" bIns="0" rtlCol="0" anchor="t"/>
          <a:lstStyle/>
          <a:p>
            <a:pPr indent="0" marL="0">
              <a:buNone/>
            </a:pPr>
            <a:r>
              <a:rPr lang="en-US" sz="950" b="1" dirty="0">
                <a:solidFill>
                  <a:srgbClr val="FFFFFF"/>
                </a:solidFill>
                <a:latin typeface="Poppins" pitchFamily="34" charset="0"/>
                <a:ea typeface="Poppins" pitchFamily="34" charset="-122"/>
                <a:cs typeface="Poppins" pitchFamily="34" charset="-120"/>
              </a:rPr>
              <a:t>The Uneven Impact of Generative Artificial Intelligence on Entrepreneurial Performance: Evidence from a Field Experiment in Kenya</a:t>
            </a:r>
            <a:endParaRPr lang="en-US" sz="950" dirty="0"/>
          </a:p>
        </p:txBody>
      </p:sp>
      <p:sp>
        <p:nvSpPr>
          <p:cNvPr id="13" name="article meta"/>
          <p:cNvSpPr txBox="1"/>
          <p:nvPr/>
        </p:nvSpPr>
        <p:spPr>
          <a:xfrm>
            <a:off x="4910328" y="3364992"/>
            <a:ext cx="3529584" cy="292608"/>
          </a:xfrm>
          <a:prstGeom prst="rect">
            <a:avLst/>
          </a:prstGeom>
          <a:noFill/>
          <a:ln/>
        </p:spPr>
        <p:txBody>
          <a:bodyPr wrap="square" lIns="0" tIns="0" rIns="0" bIns="0" rtlCol="0" anchor="t"/>
          <a:lstStyle/>
          <a:p>
            <a:pPr indent="0" marL="0">
              <a:buNone/>
            </a:pPr>
            <a:r>
              <a:rPr lang="en-US" sz="750" dirty="0">
                <a:solidFill>
                  <a:srgbClr val="BFE6E0"/>
                </a:solidFill>
                <a:latin typeface="Poppins" pitchFamily="34" charset="0"/>
                <a:ea typeface="Poppins" pitchFamily="34" charset="-122"/>
                <a:cs typeface="Poppins" pitchFamily="34" charset="-120"/>
              </a:rPr>
              <a:t>Nicholas G. Otis et al.  ·  Management Science, Vol. 72, No. 7, 2026  ·  DOI 10.1287/mnsc.2024.06909</a:t>
            </a:r>
            <a:endParaRPr lang="en-US" sz="750" dirty="0"/>
          </a:p>
        </p:txBody>
      </p:sp>
      <p:sp>
        <p:nvSpPr>
          <p:cNvPr id="14" name="roadmap head"/>
          <p:cNvSpPr txBox="1"/>
          <p:nvPr/>
        </p:nvSpPr>
        <p:spPr>
          <a:xfrm>
            <a:off x="502920" y="3840480"/>
            <a:ext cx="1051560" cy="256032"/>
          </a:xfrm>
          <a:prstGeom prst="rect">
            <a:avLst/>
          </a:prstGeom>
          <a:noFill/>
          <a:ln/>
        </p:spPr>
        <p:txBody>
          <a:bodyPr wrap="square" lIns="0" tIns="0" rIns="0" bIns="0" rtlCol="0" anchor="ctr"/>
          <a:lstStyle/>
          <a:p>
            <a:pPr indent="0" marL="0">
              <a:buNone/>
            </a:pPr>
            <a:r>
              <a:rPr lang="en-US" sz="850" b="1" dirty="0">
                <a:solidFill>
                  <a:srgbClr val="BFE6E0"/>
                </a:solidFill>
                <a:latin typeface="Poppins" pitchFamily="34" charset="0"/>
                <a:ea typeface="Poppins" pitchFamily="34" charset="-122"/>
                <a:cs typeface="Poppins" pitchFamily="34" charset="-120"/>
              </a:rPr>
              <a:t>Today's path</a:t>
            </a:r>
            <a:endParaRPr lang="en-US" sz="850" dirty="0"/>
          </a:p>
        </p:txBody>
      </p:sp>
      <p:sp>
        <p:nvSpPr>
          <p:cNvPr id="15" name="roadmap chip 1"/>
          <p:cNvSpPr/>
          <p:nvPr/>
        </p:nvSpPr>
        <p:spPr>
          <a:xfrm>
            <a:off x="1645920" y="3840480"/>
            <a:ext cx="1325880" cy="256032"/>
          </a:xfrm>
          <a:prstGeom prst="roundRect">
            <a:avLst>
              <a:gd name="adj" fmla="val 50000"/>
            </a:avLst>
          </a:prstGeom>
          <a:solidFill>
            <a:srgbClr val="2E8B86"/>
          </a:solidFill>
          <a:ln w="12700">
            <a:solidFill>
              <a:srgbClr val="2E8B86"/>
            </a:solidFill>
            <a:prstDash val="solid"/>
          </a:ln>
        </p:spPr>
      </p:sp>
      <p:sp>
        <p:nvSpPr>
          <p:cNvPr id="16" name="roadmap chip text"/>
          <p:cNvSpPr txBox="1"/>
          <p:nvPr/>
        </p:nvSpPr>
        <p:spPr>
          <a:xfrm>
            <a:off x="1645920" y="3840480"/>
            <a:ext cx="1325880" cy="256032"/>
          </a:xfrm>
          <a:prstGeom prst="rect">
            <a:avLst/>
          </a:prstGeom>
          <a:noFill/>
          <a:ln/>
        </p:spPr>
        <p:txBody>
          <a:bodyPr wrap="square" lIns="0" tIns="0" rIns="0" bIns="0" rtlCol="0" anchor="ctr"/>
          <a:lstStyle/>
          <a:p>
            <a:pPr algn="ctr" indent="0" marL="0">
              <a:buNone/>
            </a:pPr>
            <a:r>
              <a:rPr lang="en-US" sz="750" b="1" dirty="0">
                <a:solidFill>
                  <a:srgbClr val="FFFFFF"/>
                </a:solidFill>
                <a:latin typeface="Poppins" pitchFamily="34" charset="0"/>
                <a:ea typeface="Poppins" pitchFamily="34" charset="-122"/>
                <a:cs typeface="Poppins" pitchFamily="34" charset="-120"/>
              </a:rPr>
              <a:t>1  Introduction</a:t>
            </a:r>
            <a:endParaRPr lang="en-US" sz="750" dirty="0"/>
          </a:p>
        </p:txBody>
      </p:sp>
      <p:sp>
        <p:nvSpPr>
          <p:cNvPr id="17" name="roadmap chip 2"/>
          <p:cNvSpPr/>
          <p:nvPr/>
        </p:nvSpPr>
        <p:spPr>
          <a:xfrm>
            <a:off x="3063240" y="3840480"/>
            <a:ext cx="1325880" cy="256032"/>
          </a:xfrm>
          <a:prstGeom prst="roundRect">
            <a:avLst>
              <a:gd name="adj" fmla="val 50000"/>
            </a:avLst>
          </a:prstGeom>
          <a:solidFill>
            <a:srgbClr val="2A3D63"/>
          </a:solidFill>
          <a:ln w="12700">
            <a:solidFill>
              <a:srgbClr val="2A3D63"/>
            </a:solidFill>
            <a:prstDash val="solid"/>
          </a:ln>
        </p:spPr>
      </p:sp>
      <p:sp>
        <p:nvSpPr>
          <p:cNvPr id="18" name="roadmap chip text"/>
          <p:cNvSpPr txBox="1"/>
          <p:nvPr/>
        </p:nvSpPr>
        <p:spPr>
          <a:xfrm>
            <a:off x="3063240" y="3840480"/>
            <a:ext cx="1325880" cy="256032"/>
          </a:xfrm>
          <a:prstGeom prst="rect">
            <a:avLst/>
          </a:prstGeom>
          <a:noFill/>
          <a:ln/>
        </p:spPr>
        <p:txBody>
          <a:bodyPr wrap="square" lIns="0" tIns="0" rIns="0" bIns="0" rtlCol="0" anchor="ctr"/>
          <a:lstStyle/>
          <a:p>
            <a:pPr algn="ctr" indent="0" marL="0">
              <a:buNone/>
            </a:pPr>
            <a:r>
              <a:rPr lang="en-US" sz="750" b="1" dirty="0">
                <a:solidFill>
                  <a:srgbClr val="FFFFFF"/>
                </a:solidFill>
                <a:latin typeface="Poppins" pitchFamily="34" charset="0"/>
                <a:ea typeface="Poppins" pitchFamily="34" charset="-122"/>
                <a:cs typeface="Poppins" pitchFamily="34" charset="-120"/>
              </a:rPr>
              <a:t>2  Article 2: Method</a:t>
            </a:r>
            <a:endParaRPr lang="en-US" sz="750" dirty="0"/>
          </a:p>
        </p:txBody>
      </p:sp>
      <p:sp>
        <p:nvSpPr>
          <p:cNvPr id="19" name="roadmap chip 3"/>
          <p:cNvSpPr/>
          <p:nvPr/>
        </p:nvSpPr>
        <p:spPr>
          <a:xfrm>
            <a:off x="4480560" y="3840480"/>
            <a:ext cx="1325880" cy="256032"/>
          </a:xfrm>
          <a:prstGeom prst="roundRect">
            <a:avLst>
              <a:gd name="adj" fmla="val 50000"/>
            </a:avLst>
          </a:prstGeom>
          <a:solidFill>
            <a:srgbClr val="2A3D63"/>
          </a:solidFill>
          <a:ln w="12700">
            <a:solidFill>
              <a:srgbClr val="2A3D63"/>
            </a:solidFill>
            <a:prstDash val="solid"/>
          </a:ln>
        </p:spPr>
      </p:sp>
      <p:sp>
        <p:nvSpPr>
          <p:cNvPr id="20" name="roadmap chip text"/>
          <p:cNvSpPr txBox="1"/>
          <p:nvPr/>
        </p:nvSpPr>
        <p:spPr>
          <a:xfrm>
            <a:off x="4480560" y="3840480"/>
            <a:ext cx="1325880" cy="256032"/>
          </a:xfrm>
          <a:prstGeom prst="rect">
            <a:avLst/>
          </a:prstGeom>
          <a:noFill/>
          <a:ln/>
        </p:spPr>
        <p:txBody>
          <a:bodyPr wrap="square" lIns="0" tIns="0" rIns="0" bIns="0" rtlCol="0" anchor="ctr"/>
          <a:lstStyle/>
          <a:p>
            <a:pPr algn="ctr" indent="0" marL="0">
              <a:buNone/>
            </a:pPr>
            <a:r>
              <a:rPr lang="en-US" sz="750" b="1" dirty="0">
                <a:solidFill>
                  <a:srgbClr val="FFFFFF"/>
                </a:solidFill>
                <a:latin typeface="Poppins" pitchFamily="34" charset="0"/>
                <a:ea typeface="Poppins" pitchFamily="34" charset="-122"/>
                <a:cs typeface="Poppins" pitchFamily="34" charset="-120"/>
              </a:rPr>
              <a:t>3  Article 2: Findings</a:t>
            </a:r>
            <a:endParaRPr lang="en-US" sz="750" dirty="0"/>
          </a:p>
        </p:txBody>
      </p:sp>
      <p:sp>
        <p:nvSpPr>
          <p:cNvPr id="21" name="roadmap chip 4"/>
          <p:cNvSpPr/>
          <p:nvPr/>
        </p:nvSpPr>
        <p:spPr>
          <a:xfrm>
            <a:off x="5897880" y="3840480"/>
            <a:ext cx="1325880" cy="256032"/>
          </a:xfrm>
          <a:prstGeom prst="roundRect">
            <a:avLst>
              <a:gd name="adj" fmla="val 50000"/>
            </a:avLst>
          </a:prstGeom>
          <a:solidFill>
            <a:srgbClr val="2A3D63"/>
          </a:solidFill>
          <a:ln w="12700">
            <a:solidFill>
              <a:srgbClr val="2A3D63"/>
            </a:solidFill>
            <a:prstDash val="solid"/>
          </a:ln>
        </p:spPr>
      </p:sp>
      <p:sp>
        <p:nvSpPr>
          <p:cNvPr id="22" name="roadmap chip text"/>
          <p:cNvSpPr txBox="1"/>
          <p:nvPr/>
        </p:nvSpPr>
        <p:spPr>
          <a:xfrm>
            <a:off x="5897880" y="3840480"/>
            <a:ext cx="1325880" cy="256032"/>
          </a:xfrm>
          <a:prstGeom prst="rect">
            <a:avLst/>
          </a:prstGeom>
          <a:noFill/>
          <a:ln/>
        </p:spPr>
        <p:txBody>
          <a:bodyPr wrap="square" lIns="0" tIns="0" rIns="0" bIns="0" rtlCol="0" anchor="ctr"/>
          <a:lstStyle/>
          <a:p>
            <a:pPr algn="ctr" indent="0" marL="0">
              <a:buNone/>
            </a:pPr>
            <a:r>
              <a:rPr lang="en-US" sz="750" b="1" dirty="0">
                <a:solidFill>
                  <a:srgbClr val="FFFFFF"/>
                </a:solidFill>
                <a:latin typeface="Poppins" pitchFamily="34" charset="0"/>
                <a:ea typeface="Poppins" pitchFamily="34" charset="-122"/>
                <a:cs typeface="Poppins" pitchFamily="34" charset="-120"/>
              </a:rPr>
              <a:t>4  Article 5: Entrepreneurs</a:t>
            </a:r>
            <a:endParaRPr lang="en-US" sz="750" dirty="0"/>
          </a:p>
        </p:txBody>
      </p:sp>
      <p:sp>
        <p:nvSpPr>
          <p:cNvPr id="23" name="roadmap chip 5"/>
          <p:cNvSpPr/>
          <p:nvPr/>
        </p:nvSpPr>
        <p:spPr>
          <a:xfrm>
            <a:off x="7315200" y="3840480"/>
            <a:ext cx="1325880" cy="256032"/>
          </a:xfrm>
          <a:prstGeom prst="roundRect">
            <a:avLst>
              <a:gd name="adj" fmla="val 50000"/>
            </a:avLst>
          </a:prstGeom>
          <a:solidFill>
            <a:srgbClr val="2A3D63"/>
          </a:solidFill>
          <a:ln w="12700">
            <a:solidFill>
              <a:srgbClr val="2A3D63"/>
            </a:solidFill>
            <a:prstDash val="solid"/>
          </a:ln>
        </p:spPr>
      </p:sp>
      <p:sp>
        <p:nvSpPr>
          <p:cNvPr id="24" name="roadmap chip text"/>
          <p:cNvSpPr txBox="1"/>
          <p:nvPr/>
        </p:nvSpPr>
        <p:spPr>
          <a:xfrm>
            <a:off x="7315200" y="3840480"/>
            <a:ext cx="1325880" cy="256032"/>
          </a:xfrm>
          <a:prstGeom prst="rect">
            <a:avLst/>
          </a:prstGeom>
          <a:noFill/>
          <a:ln/>
        </p:spPr>
        <p:txBody>
          <a:bodyPr wrap="square" lIns="0" tIns="0" rIns="0" bIns="0" rtlCol="0" anchor="ctr"/>
          <a:lstStyle/>
          <a:p>
            <a:pPr algn="ctr" indent="0" marL="0">
              <a:buNone/>
            </a:pPr>
            <a:r>
              <a:rPr lang="en-US" sz="750" b="1" dirty="0">
                <a:solidFill>
                  <a:srgbClr val="FFFFFF"/>
                </a:solidFill>
                <a:latin typeface="Poppins" pitchFamily="34" charset="0"/>
                <a:ea typeface="Poppins" pitchFamily="34" charset="-122"/>
                <a:cs typeface="Poppins" pitchFamily="34" charset="-120"/>
              </a:rPr>
              <a:t>5  Discussion</a:t>
            </a:r>
            <a:endParaRPr lang="en-US" sz="750" dirty="0"/>
          </a:p>
        </p:txBody>
      </p:sp>
      <p:sp>
        <p:nvSpPr>
          <p:cNvPr id="25" name="presenter"/>
          <p:cNvSpPr txBox="1"/>
          <p:nvPr/>
        </p:nvSpPr>
        <p:spPr>
          <a:xfrm>
            <a:off x="502920" y="4261104"/>
            <a:ext cx="8138160" cy="457200"/>
          </a:xfrm>
          <a:prstGeom prst="rect">
            <a:avLst/>
          </a:prstGeom>
          <a:noFill/>
          <a:ln/>
        </p:spPr>
        <p:txBody>
          <a:bodyPr wrap="square" lIns="0" tIns="0" rIns="0" bIns="0" rtlCol="0" anchor="t"/>
          <a:lstStyle/>
          <a:p>
            <a:pPr indent="0" marL="0">
              <a:buNone/>
            </a:pPr>
            <a:r>
              <a:rPr lang="en-US" sz="1100" b="1" dirty="0">
                <a:solidFill>
                  <a:srgbClr val="FFFFFF"/>
                </a:solidFill>
                <a:latin typeface="Poppins" pitchFamily="34" charset="0"/>
                <a:ea typeface="Poppins" pitchFamily="34" charset="-122"/>
                <a:cs typeface="Poppins" pitchFamily="34" charset="-120"/>
              </a:rPr>
              <a:t>Chayanun Sungsa-ard</a:t>
            </a:r>
            <a:endParaRPr lang="en-US" sz="1100" dirty="0"/>
          </a:p>
          <a:p>
            <a:pPr indent="0" marL="0">
              <a:buNone/>
            </a:pPr>
            <a:r>
              <a:rPr lang="en-US" sz="900" dirty="0">
                <a:solidFill>
                  <a:srgbClr val="BFE6E0"/>
                </a:solidFill>
                <a:latin typeface="Poppins" pitchFamily="34" charset="0"/>
                <a:ea typeface="Poppins" pitchFamily="34" charset="-122"/>
                <a:cs typeface="Poppins" pitchFamily="34" charset="-120"/>
              </a:rPr>
              <a:t>Student ID 691401708  ·  MBA  ·  ENG 501 English for Master's Degree</a:t>
            </a:r>
            <a:endParaRPr lang="en-US" sz="1100" dirty="0"/>
          </a:p>
        </p:txBody>
      </p:sp>
      <p:sp>
        <p:nvSpPr>
          <p:cNvPr id="25" name="Slide Number Placeholder 0"/>
          <p:cNvSpPr>
            <a:spLocks noGrp="1"/>
          </p:cNvSpPr>
          <p:nvPr>
            <p:ph type="sldNum" sz="quarter" idx="4294967295"/>
          </p:nvPr>
        </p:nvSpPr>
        <p:spPr>
          <a:xfrm>
            <a:off x="8092440" y="477316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3ADBB"/>
                </a:solidFill>
                <a:latin typeface="Poppins"/>
                <a:ea typeface="Poppins"/>
                <a:cs typeface="Poppins"/>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02920" y="274320"/>
            <a:ext cx="5943600" cy="237744"/>
          </a:xfrm>
          <a:prstGeom prst="rect">
            <a:avLst/>
          </a:prstGeom>
          <a:noFill/>
          <a:ln/>
        </p:spPr>
        <p:txBody>
          <a:bodyPr wrap="square" lIns="0" tIns="0" rIns="0" bIns="0" rtlCol="0" anchor="ctr"/>
          <a:lstStyle/>
          <a:p>
            <a:pPr algn="l" indent="0" marL="0">
              <a:buNone/>
            </a:pPr>
            <a:r>
              <a:rPr lang="en-US" sz="1000" b="1" spc="150" kern="0" dirty="0">
                <a:solidFill>
                  <a:schemeClr val="accent1"/>
                </a:solidFill>
                <a:latin typeface="Poppins" pitchFamily="34" charset="0"/>
                <a:ea typeface="Poppins" pitchFamily="34" charset="-122"/>
                <a:cs typeface="Poppins" pitchFamily="34" charset="-120"/>
              </a:rPr>
              <a:t>Article 2  ·  Research purpose and method</a:t>
            </a:r>
            <a:endParaRPr lang="en-US" sz="1000" dirty="0"/>
          </a:p>
        </p:txBody>
      </p:sp>
      <p:sp>
        <p:nvSpPr>
          <p:cNvPr id="3" name="Text 0"/>
          <p:cNvSpPr/>
          <p:nvPr>
            <p:ph idx="101" type="title" hasCustomPrompt="1"/>
          </p:nvPr>
        </p:nvSpPr>
        <p:spPr>
          <a:xfrm>
            <a:off x="502920" y="512064"/>
            <a:ext cx="8138160" cy="731520"/>
          </a:xfrm>
          <a:prstGeom prst="rect">
            <a:avLst/>
          </a:prstGeom>
          <a:noFill/>
          <a:ln/>
        </p:spPr>
        <p:txBody>
          <a:bodyPr wrap="square" lIns="0" tIns="0" rIns="0" bIns="0" rtlCol="0" anchor="ctr">
            <a:normAutofit/>
          </a:bodyPr>
          <a:lstStyle/>
          <a:p>
            <a:pPr algn="l" indent="0" marL="0">
              <a:buNone/>
            </a:pPr>
            <a:r>
              <a:rPr lang="en-US" sz="2600" b="1" dirty="0">
                <a:solidFill>
                  <a:schemeClr val="tx1"/>
                </a:solidFill>
                <a:latin typeface="Poppins" pitchFamily="34" charset="0"/>
                <a:ea typeface="Poppins" pitchFamily="34" charset="-122"/>
                <a:cs typeface="Poppins" pitchFamily="34" charset="-120"/>
              </a:rPr>
              <a:t>Navigating the Jagged Technological Frontier</a:t>
            </a:r>
            <a:endParaRPr lang="en-US" sz="2600" dirty="0"/>
          </a:p>
        </p:txBody>
      </p:sp>
      <p:sp>
        <p:nvSpPr>
          <p:cNvPr id="4" name="progress dot 1"/>
          <p:cNvSpPr/>
          <p:nvPr/>
        </p:nvSpPr>
        <p:spPr>
          <a:xfrm>
            <a:off x="7808976" y="342900"/>
            <a:ext cx="100584" cy="100584"/>
          </a:xfrm>
          <a:prstGeom prst="ellipse">
            <a:avLst/>
          </a:prstGeom>
          <a:solidFill>
            <a:srgbClr val="BFE6E0"/>
          </a:solidFill>
          <a:ln w="12700">
            <a:solidFill>
              <a:srgbClr val="BFE6E0"/>
            </a:solidFill>
            <a:prstDash val="solid"/>
          </a:ln>
        </p:spPr>
      </p:sp>
      <p:sp>
        <p:nvSpPr>
          <p:cNvPr id="5" name="progress dot 2"/>
          <p:cNvSpPr/>
          <p:nvPr/>
        </p:nvSpPr>
        <p:spPr>
          <a:xfrm>
            <a:off x="7991856" y="342900"/>
            <a:ext cx="100584" cy="100584"/>
          </a:xfrm>
          <a:prstGeom prst="ellipse">
            <a:avLst/>
          </a:prstGeom>
          <a:solidFill>
            <a:srgbClr val="2E8B86"/>
          </a:solidFill>
          <a:ln w="12700">
            <a:solidFill>
              <a:srgbClr val="2E8B86"/>
            </a:solidFill>
            <a:prstDash val="solid"/>
          </a:ln>
        </p:spPr>
      </p:sp>
      <p:sp>
        <p:nvSpPr>
          <p:cNvPr id="6" name="progress dot 3"/>
          <p:cNvSpPr/>
          <p:nvPr/>
        </p:nvSpPr>
        <p:spPr>
          <a:xfrm>
            <a:off x="8174736" y="342900"/>
            <a:ext cx="100584" cy="100584"/>
          </a:xfrm>
          <a:prstGeom prst="ellipse">
            <a:avLst/>
          </a:prstGeom>
          <a:solidFill>
            <a:srgbClr val="E3E8EE"/>
          </a:solidFill>
          <a:ln w="12700">
            <a:solidFill>
              <a:srgbClr val="E3E8EE"/>
            </a:solidFill>
            <a:prstDash val="solid"/>
          </a:ln>
        </p:spPr>
      </p:sp>
      <p:sp>
        <p:nvSpPr>
          <p:cNvPr id="7" name="progress dot 4"/>
          <p:cNvSpPr/>
          <p:nvPr/>
        </p:nvSpPr>
        <p:spPr>
          <a:xfrm>
            <a:off x="8357616" y="342900"/>
            <a:ext cx="100584" cy="100584"/>
          </a:xfrm>
          <a:prstGeom prst="ellipse">
            <a:avLst/>
          </a:prstGeom>
          <a:solidFill>
            <a:srgbClr val="E3E8EE"/>
          </a:solidFill>
          <a:ln w="12700">
            <a:solidFill>
              <a:srgbClr val="E3E8EE"/>
            </a:solidFill>
            <a:prstDash val="solid"/>
          </a:ln>
        </p:spPr>
      </p:sp>
      <p:sp>
        <p:nvSpPr>
          <p:cNvPr id="8" name="progress dot 5"/>
          <p:cNvSpPr/>
          <p:nvPr/>
        </p:nvSpPr>
        <p:spPr>
          <a:xfrm>
            <a:off x="8540496" y="342900"/>
            <a:ext cx="100584" cy="100584"/>
          </a:xfrm>
          <a:prstGeom prst="ellipse">
            <a:avLst/>
          </a:prstGeom>
          <a:solidFill>
            <a:srgbClr val="E3E8EE"/>
          </a:solidFill>
          <a:ln w="12700">
            <a:solidFill>
              <a:srgbClr val="E3E8EE"/>
            </a:solidFill>
            <a:prstDash val="solid"/>
          </a:ln>
        </p:spPr>
      </p:sp>
      <p:sp>
        <p:nvSpPr>
          <p:cNvPr id="9" name="progress label"/>
          <p:cNvSpPr txBox="1"/>
          <p:nvPr/>
        </p:nvSpPr>
        <p:spPr>
          <a:xfrm>
            <a:off x="7077456" y="274320"/>
            <a:ext cx="640080" cy="237744"/>
          </a:xfrm>
          <a:prstGeom prst="rect">
            <a:avLst/>
          </a:prstGeom>
          <a:noFill/>
          <a:ln/>
        </p:spPr>
        <p:txBody>
          <a:bodyPr wrap="square" lIns="0" tIns="0" rIns="0" bIns="0" rtlCol="0" anchor="ctr"/>
          <a:lstStyle/>
          <a:p>
            <a:pPr algn="r" indent="0" marL="0">
              <a:buNone/>
            </a:pPr>
            <a:r>
              <a:rPr lang="en-US" sz="800" dirty="0">
                <a:solidFill>
                  <a:srgbClr val="A3ADBB"/>
                </a:solidFill>
                <a:latin typeface="Poppins" pitchFamily="34" charset="0"/>
                <a:ea typeface="Poppins" pitchFamily="34" charset="-122"/>
                <a:cs typeface="Poppins" pitchFamily="34" charset="-120"/>
              </a:rPr>
              <a:t>2 / 5</a:t>
            </a:r>
            <a:endParaRPr lang="en-US" sz="800" dirty="0"/>
          </a:p>
        </p:txBody>
      </p:sp>
      <p:sp>
        <p:nvSpPr>
          <p:cNvPr id="10" name="icon circle"/>
          <p:cNvSpPr/>
          <p:nvPr/>
        </p:nvSpPr>
        <p:spPr>
          <a:xfrm>
            <a:off x="502920" y="1481328"/>
            <a:ext cx="365760" cy="365760"/>
          </a:xfrm>
          <a:prstGeom prst="ellipse">
            <a:avLst/>
          </a:prstGeom>
          <a:solidFill>
            <a:srgbClr val="F3F5F8"/>
          </a:solidFill>
          <a:ln w="12700">
            <a:solidFill>
              <a:srgbClr val="F3F5F8"/>
            </a:solidFill>
            <a:prstDash val="solid"/>
          </a:ln>
        </p:spPr>
      </p:sp>
      <p:pic>
        <p:nvPicPr>
          <p:cNvPr id="11" name="icon FiBriefcase" descr="preencoded.png">    </p:cNvPr>
          <p:cNvPicPr>
            <a:picLocks noChangeAspect="1"/>
          </p:cNvPicPr>
          <p:nvPr/>
        </p:nvPicPr>
        <p:blipFill>
          <a:blip r:embed="rId1"/>
          <a:stretch>
            <a:fillRect/>
          </a:stretch>
        </p:blipFill>
        <p:spPr>
          <a:xfrm>
            <a:off x="585216" y="1563624"/>
            <a:ext cx="201168" cy="201168"/>
          </a:xfrm>
          <a:prstGeom prst="rect">
            <a:avLst/>
          </a:prstGeom>
        </p:spPr>
      </p:pic>
      <p:sp>
        <p:nvSpPr>
          <p:cNvPr id="12" name="fact Partner"/>
          <p:cNvSpPr txBox="1"/>
          <p:nvPr/>
        </p:nvSpPr>
        <p:spPr>
          <a:xfrm>
            <a:off x="1005840" y="1435608"/>
            <a:ext cx="3429000" cy="539496"/>
          </a:xfrm>
          <a:prstGeom prst="rect">
            <a:avLst/>
          </a:prstGeom>
          <a:noFill/>
          <a:ln/>
        </p:spPr>
        <p:txBody>
          <a:bodyPr wrap="square" lIns="0" tIns="0" rIns="0" bIns="0" rtlCol="0" anchor="t"/>
          <a:lstStyle/>
          <a:p>
            <a:pPr indent="0" marL="0">
              <a:buNone/>
            </a:pPr>
            <a:r>
              <a:rPr lang="en-US" sz="1100" b="1" dirty="0">
                <a:solidFill>
                  <a:schemeClr val="tx1"/>
                </a:solidFill>
                <a:latin typeface="Poppins" pitchFamily="34" charset="0"/>
                <a:ea typeface="Poppins" pitchFamily="34" charset="-122"/>
                <a:cs typeface="Poppins" pitchFamily="34" charset="-120"/>
              </a:rPr>
              <a:t>Partner</a:t>
            </a:r>
            <a:endParaRPr lang="en-US" sz="1100" dirty="0"/>
          </a:p>
          <a:p>
            <a:pPr indent="0" marL="0">
              <a:buNone/>
            </a:pPr>
            <a:r>
              <a:rPr lang="en-US" sz="1000" dirty="0">
                <a:solidFill>
                  <a:schemeClr val="tx2"/>
                </a:solidFill>
                <a:latin typeface="Poppins" pitchFamily="34" charset="0"/>
                <a:ea typeface="Poppins" pitchFamily="34" charset="-122"/>
                <a:cs typeface="Poppins" pitchFamily="34" charset="-120"/>
              </a:rPr>
              <a:t>Field experiment with Boston Consulting Group (BCG)</a:t>
            </a:r>
            <a:endParaRPr lang="en-US" sz="1100" dirty="0"/>
          </a:p>
        </p:txBody>
      </p:sp>
      <p:sp>
        <p:nvSpPr>
          <p:cNvPr id="13" name="icon circle"/>
          <p:cNvSpPr/>
          <p:nvPr/>
        </p:nvSpPr>
        <p:spPr>
          <a:xfrm>
            <a:off x="502920" y="2066544"/>
            <a:ext cx="365760" cy="365760"/>
          </a:xfrm>
          <a:prstGeom prst="ellipse">
            <a:avLst/>
          </a:prstGeom>
          <a:solidFill>
            <a:srgbClr val="F3F5F8"/>
          </a:solidFill>
          <a:ln w="12700">
            <a:solidFill>
              <a:srgbClr val="F3F5F8"/>
            </a:solidFill>
            <a:prstDash val="solid"/>
          </a:ln>
        </p:spPr>
      </p:sp>
      <p:pic>
        <p:nvPicPr>
          <p:cNvPr id="14" name="icon FiUsers" descr="preencoded.png">    </p:cNvPr>
          <p:cNvPicPr>
            <a:picLocks noChangeAspect="1"/>
          </p:cNvPicPr>
          <p:nvPr/>
        </p:nvPicPr>
        <p:blipFill>
          <a:blip r:embed="rId2"/>
          <a:stretch>
            <a:fillRect/>
          </a:stretch>
        </p:blipFill>
        <p:spPr>
          <a:xfrm>
            <a:off x="585216" y="2148840"/>
            <a:ext cx="201168" cy="201168"/>
          </a:xfrm>
          <a:prstGeom prst="rect">
            <a:avLst/>
          </a:prstGeom>
        </p:spPr>
      </p:pic>
      <p:sp>
        <p:nvSpPr>
          <p:cNvPr id="15" name="fact Participants"/>
          <p:cNvSpPr txBox="1"/>
          <p:nvPr/>
        </p:nvSpPr>
        <p:spPr>
          <a:xfrm>
            <a:off x="1005840" y="2020824"/>
            <a:ext cx="3429000" cy="539496"/>
          </a:xfrm>
          <a:prstGeom prst="rect">
            <a:avLst/>
          </a:prstGeom>
          <a:noFill/>
          <a:ln/>
        </p:spPr>
        <p:txBody>
          <a:bodyPr wrap="square" lIns="0" tIns="0" rIns="0" bIns="0" rtlCol="0" anchor="t"/>
          <a:lstStyle/>
          <a:p>
            <a:pPr indent="0" marL="0">
              <a:buNone/>
            </a:pPr>
            <a:r>
              <a:rPr lang="en-US" sz="1100" b="1" dirty="0">
                <a:solidFill>
                  <a:schemeClr val="tx1"/>
                </a:solidFill>
                <a:latin typeface="Poppins" pitchFamily="34" charset="0"/>
                <a:ea typeface="Poppins" pitchFamily="34" charset="-122"/>
                <a:cs typeface="Poppins" pitchFamily="34" charset="-120"/>
              </a:rPr>
              <a:t>Participants</a:t>
            </a:r>
            <a:endParaRPr lang="en-US" sz="1100" dirty="0"/>
          </a:p>
          <a:p>
            <a:pPr indent="0" marL="0">
              <a:buNone/>
            </a:pPr>
            <a:r>
              <a:rPr lang="en-US" sz="1000" dirty="0">
                <a:solidFill>
                  <a:schemeClr val="tx2"/>
                </a:solidFill>
                <a:latin typeface="Poppins" pitchFamily="34" charset="0"/>
                <a:ea typeface="Poppins" pitchFamily="34" charset="-122"/>
                <a:cs typeface="Poppins" pitchFamily="34" charset="-120"/>
              </a:rPr>
              <a:t>758 consultants</a:t>
            </a:r>
            <a:endParaRPr lang="en-US" sz="1100" dirty="0"/>
          </a:p>
        </p:txBody>
      </p:sp>
      <p:sp>
        <p:nvSpPr>
          <p:cNvPr id="16" name="icon circle"/>
          <p:cNvSpPr/>
          <p:nvPr/>
        </p:nvSpPr>
        <p:spPr>
          <a:xfrm>
            <a:off x="502920" y="2651760"/>
            <a:ext cx="365760" cy="365760"/>
          </a:xfrm>
          <a:prstGeom prst="ellipse">
            <a:avLst/>
          </a:prstGeom>
          <a:solidFill>
            <a:srgbClr val="F3F5F8"/>
          </a:solidFill>
          <a:ln w="12700">
            <a:solidFill>
              <a:srgbClr val="F3F5F8"/>
            </a:solidFill>
            <a:prstDash val="solid"/>
          </a:ln>
        </p:spPr>
      </p:sp>
      <p:pic>
        <p:nvPicPr>
          <p:cNvPr id="17" name="icon FiTarget" descr="preencoded.png">    </p:cNvPr>
          <p:cNvPicPr>
            <a:picLocks noChangeAspect="1"/>
          </p:cNvPicPr>
          <p:nvPr/>
        </p:nvPicPr>
        <p:blipFill>
          <a:blip r:embed="rId3"/>
          <a:stretch>
            <a:fillRect/>
          </a:stretch>
        </p:blipFill>
        <p:spPr>
          <a:xfrm>
            <a:off x="585216" y="2734056"/>
            <a:ext cx="201168" cy="201168"/>
          </a:xfrm>
          <a:prstGeom prst="rect">
            <a:avLst/>
          </a:prstGeom>
        </p:spPr>
      </p:pic>
      <p:sp>
        <p:nvSpPr>
          <p:cNvPr id="18" name="fact Focus"/>
          <p:cNvSpPr txBox="1"/>
          <p:nvPr/>
        </p:nvSpPr>
        <p:spPr>
          <a:xfrm>
            <a:off x="1005840" y="2606040"/>
            <a:ext cx="3429000" cy="539496"/>
          </a:xfrm>
          <a:prstGeom prst="rect">
            <a:avLst/>
          </a:prstGeom>
          <a:noFill/>
          <a:ln/>
        </p:spPr>
        <p:txBody>
          <a:bodyPr wrap="square" lIns="0" tIns="0" rIns="0" bIns="0" rtlCol="0" anchor="t"/>
          <a:lstStyle/>
          <a:p>
            <a:pPr indent="0" marL="0">
              <a:buNone/>
            </a:pPr>
            <a:r>
              <a:rPr lang="en-US" sz="1100" b="1" dirty="0">
                <a:solidFill>
                  <a:schemeClr val="tx1"/>
                </a:solidFill>
                <a:latin typeface="Poppins" pitchFamily="34" charset="0"/>
                <a:ea typeface="Poppins" pitchFamily="34" charset="-122"/>
                <a:cs typeface="Poppins" pitchFamily="34" charset="-120"/>
              </a:rPr>
              <a:t>Focus</a:t>
            </a:r>
            <a:endParaRPr lang="en-US" sz="1100" dirty="0"/>
          </a:p>
          <a:p>
            <a:pPr indent="0" marL="0">
              <a:buNone/>
            </a:pPr>
            <a:r>
              <a:rPr lang="en-US" sz="1000" dirty="0">
                <a:solidFill>
                  <a:schemeClr val="tx2"/>
                </a:solidFill>
                <a:latin typeface="Poppins" pitchFamily="34" charset="0"/>
                <a:ea typeface="Poppins" pitchFamily="34" charset="-122"/>
                <a:cs typeface="Poppins" pitchFamily="34" charset="-120"/>
              </a:rPr>
              <a:t>Productivity, work quality, and the limits of AI</a:t>
            </a:r>
            <a:endParaRPr lang="en-US" sz="1100" dirty="0"/>
          </a:p>
        </p:txBody>
      </p:sp>
      <p:sp>
        <p:nvSpPr>
          <p:cNvPr id="19" name="conditions head"/>
          <p:cNvSpPr txBox="1"/>
          <p:nvPr/>
        </p:nvSpPr>
        <p:spPr>
          <a:xfrm>
            <a:off x="502920" y="3273552"/>
            <a:ext cx="3931920" cy="237744"/>
          </a:xfrm>
          <a:prstGeom prst="rect">
            <a:avLst/>
          </a:prstGeom>
          <a:noFill/>
          <a:ln/>
        </p:spPr>
        <p:txBody>
          <a:bodyPr wrap="square" lIns="0" tIns="0" rIns="0" bIns="0" rtlCol="0" anchor="ctr"/>
          <a:lstStyle/>
          <a:p>
            <a:pPr indent="0" marL="0">
              <a:buNone/>
            </a:pPr>
            <a:r>
              <a:rPr lang="en-US" sz="1050" b="1" dirty="0">
                <a:solidFill>
                  <a:schemeClr val="tx1"/>
                </a:solidFill>
                <a:latin typeface="Poppins" pitchFamily="34" charset="0"/>
                <a:ea typeface="Poppins" pitchFamily="34" charset="-122"/>
                <a:cs typeface="Poppins" pitchFamily="34" charset="-120"/>
              </a:rPr>
              <a:t>Three experimental conditions</a:t>
            </a:r>
            <a:endParaRPr lang="en-US" sz="1050" dirty="0"/>
          </a:p>
        </p:txBody>
      </p:sp>
      <p:sp>
        <p:nvSpPr>
          <p:cNvPr id="20" name="condition 1"/>
          <p:cNvSpPr/>
          <p:nvPr/>
        </p:nvSpPr>
        <p:spPr>
          <a:xfrm>
            <a:off x="502920" y="3566160"/>
            <a:ext cx="1219200" cy="749808"/>
          </a:xfrm>
          <a:prstGeom prst="roundRect">
            <a:avLst>
              <a:gd name="adj" fmla="val 14634"/>
            </a:avLst>
          </a:prstGeom>
          <a:solidFill>
            <a:srgbClr val="F3F5F8"/>
          </a:solidFill>
          <a:ln w="12700">
            <a:solidFill>
              <a:srgbClr val="F3F5F8"/>
            </a:solidFill>
            <a:prstDash val="solid"/>
          </a:ln>
        </p:spPr>
      </p:sp>
      <p:sp>
        <p:nvSpPr>
          <p:cNvPr id="21" name="condition number"/>
          <p:cNvSpPr txBox="1"/>
          <p:nvPr/>
        </p:nvSpPr>
        <p:spPr>
          <a:xfrm>
            <a:off x="612648" y="3611880"/>
            <a:ext cx="274320" cy="237744"/>
          </a:xfrm>
          <a:prstGeom prst="rect">
            <a:avLst/>
          </a:prstGeom>
          <a:noFill/>
          <a:ln/>
        </p:spPr>
        <p:txBody>
          <a:bodyPr wrap="square" lIns="0" tIns="0" rIns="0" bIns="0" rtlCol="0" anchor="ctr"/>
          <a:lstStyle/>
          <a:p>
            <a:pPr indent="0" marL="0">
              <a:buNone/>
            </a:pPr>
            <a:r>
              <a:rPr lang="en-US" sz="1200" b="1" dirty="0">
                <a:solidFill>
                  <a:srgbClr val="2E8B86"/>
                </a:solidFill>
                <a:latin typeface="Poppins" pitchFamily="34" charset="0"/>
                <a:ea typeface="Poppins" pitchFamily="34" charset="-122"/>
                <a:cs typeface="Poppins" pitchFamily="34" charset="-120"/>
              </a:rPr>
              <a:t>1</a:t>
            </a:r>
            <a:endParaRPr lang="en-US" sz="1200" dirty="0"/>
          </a:p>
        </p:txBody>
      </p:sp>
      <p:sp>
        <p:nvSpPr>
          <p:cNvPr id="22" name="condition text"/>
          <p:cNvSpPr txBox="1"/>
          <p:nvPr/>
        </p:nvSpPr>
        <p:spPr>
          <a:xfrm>
            <a:off x="612648" y="3840480"/>
            <a:ext cx="999744" cy="438912"/>
          </a:xfrm>
          <a:prstGeom prst="rect">
            <a:avLst/>
          </a:prstGeom>
          <a:noFill/>
          <a:ln/>
        </p:spPr>
        <p:txBody>
          <a:bodyPr wrap="square" lIns="0" tIns="0" rIns="0" bIns="0" rtlCol="0" anchor="t"/>
          <a:lstStyle/>
          <a:p>
            <a:pPr indent="0" marL="0">
              <a:buNone/>
            </a:pPr>
            <a:r>
              <a:rPr lang="en-US" sz="850" dirty="0">
                <a:solidFill>
                  <a:schemeClr val="tx1"/>
                </a:solidFill>
                <a:latin typeface="Poppins" pitchFamily="34" charset="0"/>
                <a:ea typeface="Poppins" pitchFamily="34" charset="-122"/>
                <a:cs typeface="Poppins" pitchFamily="34" charset="-120"/>
              </a:rPr>
              <a:t>No AI access</a:t>
            </a:r>
            <a:endParaRPr lang="en-US" sz="850" dirty="0"/>
          </a:p>
        </p:txBody>
      </p:sp>
      <p:sp>
        <p:nvSpPr>
          <p:cNvPr id="23" name="condition 2"/>
          <p:cNvSpPr/>
          <p:nvPr/>
        </p:nvSpPr>
        <p:spPr>
          <a:xfrm>
            <a:off x="1859280" y="3566160"/>
            <a:ext cx="1219200" cy="749808"/>
          </a:xfrm>
          <a:prstGeom prst="roundRect">
            <a:avLst>
              <a:gd name="adj" fmla="val 14634"/>
            </a:avLst>
          </a:prstGeom>
          <a:solidFill>
            <a:srgbClr val="F3F5F8"/>
          </a:solidFill>
          <a:ln w="12700">
            <a:solidFill>
              <a:srgbClr val="F3F5F8"/>
            </a:solidFill>
            <a:prstDash val="solid"/>
          </a:ln>
        </p:spPr>
      </p:sp>
      <p:sp>
        <p:nvSpPr>
          <p:cNvPr id="24" name="condition number"/>
          <p:cNvSpPr txBox="1"/>
          <p:nvPr/>
        </p:nvSpPr>
        <p:spPr>
          <a:xfrm>
            <a:off x="1969008" y="3611880"/>
            <a:ext cx="274320" cy="237744"/>
          </a:xfrm>
          <a:prstGeom prst="rect">
            <a:avLst/>
          </a:prstGeom>
          <a:noFill/>
          <a:ln/>
        </p:spPr>
        <p:txBody>
          <a:bodyPr wrap="square" lIns="0" tIns="0" rIns="0" bIns="0" rtlCol="0" anchor="ctr"/>
          <a:lstStyle/>
          <a:p>
            <a:pPr indent="0" marL="0">
              <a:buNone/>
            </a:pPr>
            <a:r>
              <a:rPr lang="en-US" sz="1200" b="1" dirty="0">
                <a:solidFill>
                  <a:srgbClr val="2E8B86"/>
                </a:solidFill>
                <a:latin typeface="Poppins" pitchFamily="34" charset="0"/>
                <a:ea typeface="Poppins" pitchFamily="34" charset="-122"/>
                <a:cs typeface="Poppins" pitchFamily="34" charset="-120"/>
              </a:rPr>
              <a:t>2</a:t>
            </a:r>
            <a:endParaRPr lang="en-US" sz="1200" dirty="0"/>
          </a:p>
        </p:txBody>
      </p:sp>
      <p:sp>
        <p:nvSpPr>
          <p:cNvPr id="25" name="condition text"/>
          <p:cNvSpPr txBox="1"/>
          <p:nvPr/>
        </p:nvSpPr>
        <p:spPr>
          <a:xfrm>
            <a:off x="1969008" y="3840480"/>
            <a:ext cx="999744" cy="438912"/>
          </a:xfrm>
          <a:prstGeom prst="rect">
            <a:avLst/>
          </a:prstGeom>
          <a:noFill/>
          <a:ln/>
        </p:spPr>
        <p:txBody>
          <a:bodyPr wrap="square" lIns="0" tIns="0" rIns="0" bIns="0" rtlCol="0" anchor="t"/>
          <a:lstStyle/>
          <a:p>
            <a:pPr indent="0" marL="0">
              <a:buNone/>
            </a:pPr>
            <a:r>
              <a:rPr lang="en-US" sz="850" dirty="0">
                <a:solidFill>
                  <a:schemeClr val="tx1"/>
                </a:solidFill>
                <a:latin typeface="Poppins" pitchFamily="34" charset="0"/>
                <a:ea typeface="Poppins" pitchFamily="34" charset="-122"/>
                <a:cs typeface="Poppins" pitchFamily="34" charset="-120"/>
              </a:rPr>
              <a:t>GPT-4 access</a:t>
            </a:r>
            <a:endParaRPr lang="en-US" sz="850" dirty="0"/>
          </a:p>
        </p:txBody>
      </p:sp>
      <p:sp>
        <p:nvSpPr>
          <p:cNvPr id="26" name="condition 3"/>
          <p:cNvSpPr/>
          <p:nvPr/>
        </p:nvSpPr>
        <p:spPr>
          <a:xfrm>
            <a:off x="3215640" y="3566160"/>
            <a:ext cx="1219200" cy="749808"/>
          </a:xfrm>
          <a:prstGeom prst="roundRect">
            <a:avLst>
              <a:gd name="adj" fmla="val 14634"/>
            </a:avLst>
          </a:prstGeom>
          <a:solidFill>
            <a:srgbClr val="1B2A4A"/>
          </a:solidFill>
          <a:ln w="12700">
            <a:solidFill>
              <a:srgbClr val="1B2A4A"/>
            </a:solidFill>
            <a:prstDash val="solid"/>
          </a:ln>
        </p:spPr>
      </p:sp>
      <p:sp>
        <p:nvSpPr>
          <p:cNvPr id="27" name="condition number"/>
          <p:cNvSpPr txBox="1"/>
          <p:nvPr/>
        </p:nvSpPr>
        <p:spPr>
          <a:xfrm>
            <a:off x="3325368" y="3611880"/>
            <a:ext cx="274320" cy="237744"/>
          </a:xfrm>
          <a:prstGeom prst="rect">
            <a:avLst/>
          </a:prstGeom>
          <a:noFill/>
          <a:ln/>
        </p:spPr>
        <p:txBody>
          <a:bodyPr wrap="square" lIns="0" tIns="0" rIns="0" bIns="0" rtlCol="0" anchor="ctr"/>
          <a:lstStyle/>
          <a:p>
            <a:pPr indent="0" marL="0">
              <a:buNone/>
            </a:pPr>
            <a:r>
              <a:rPr lang="en-US" sz="1200" b="1" dirty="0">
                <a:solidFill>
                  <a:srgbClr val="BFE6E0"/>
                </a:solidFill>
                <a:latin typeface="Poppins" pitchFamily="34" charset="0"/>
                <a:ea typeface="Poppins" pitchFamily="34" charset="-122"/>
                <a:cs typeface="Poppins" pitchFamily="34" charset="-120"/>
              </a:rPr>
              <a:t>3</a:t>
            </a:r>
            <a:endParaRPr lang="en-US" sz="1200" dirty="0"/>
          </a:p>
        </p:txBody>
      </p:sp>
      <p:sp>
        <p:nvSpPr>
          <p:cNvPr id="28" name="condition text"/>
          <p:cNvSpPr txBox="1"/>
          <p:nvPr/>
        </p:nvSpPr>
        <p:spPr>
          <a:xfrm>
            <a:off x="3325368" y="3840480"/>
            <a:ext cx="999744" cy="438912"/>
          </a:xfrm>
          <a:prstGeom prst="rect">
            <a:avLst/>
          </a:prstGeom>
          <a:noFill/>
          <a:ln/>
        </p:spPr>
        <p:txBody>
          <a:bodyPr wrap="square" lIns="0" tIns="0" rIns="0" bIns="0" rtlCol="0" anchor="t"/>
          <a:lstStyle/>
          <a:p>
            <a:pPr indent="0" marL="0">
              <a:buNone/>
            </a:pPr>
            <a:r>
              <a:rPr lang="en-US" sz="850" dirty="0">
                <a:solidFill>
                  <a:srgbClr val="FFFFFF"/>
                </a:solidFill>
                <a:latin typeface="Poppins" pitchFamily="34" charset="0"/>
                <a:ea typeface="Poppins" pitchFamily="34" charset="-122"/>
                <a:cs typeface="Poppins" pitchFamily="34" charset="-120"/>
              </a:rPr>
              <a:t>GPT-4 + prompt engineering guidance</a:t>
            </a:r>
            <a:endParaRPr lang="en-US" sz="850" dirty="0"/>
          </a:p>
        </p:txBody>
      </p:sp>
      <p:sp>
        <p:nvSpPr>
          <p:cNvPr id="29" name="divider"/>
          <p:cNvSpPr/>
          <p:nvPr/>
        </p:nvSpPr>
        <p:spPr>
          <a:xfrm>
            <a:off x="4663440" y="1481328"/>
            <a:ext cx="0" cy="0"/>
          </a:xfrm>
          <a:prstGeom prst="line">
            <a:avLst/>
          </a:prstGeom>
          <a:noFill/>
          <a:ln w="9525">
            <a:solidFill>
              <a:srgbClr val="E3E8EE"/>
            </a:solidFill>
            <a:prstDash val="solid"/>
          </a:ln>
        </p:spPr>
      </p:sp>
      <p:sp>
        <p:nvSpPr>
          <p:cNvPr id="30" name="column divider"/>
          <p:cNvSpPr/>
          <p:nvPr/>
        </p:nvSpPr>
        <p:spPr>
          <a:xfrm>
            <a:off x="4663440" y="1481328"/>
            <a:ext cx="0" cy="2834640"/>
          </a:xfrm>
          <a:prstGeom prst="line">
            <a:avLst/>
          </a:prstGeom>
          <a:noFill/>
          <a:ln w="9525">
            <a:solidFill>
              <a:srgbClr val="E3E8EE"/>
            </a:solidFill>
            <a:prstDash val="solid"/>
          </a:ln>
        </p:spPr>
      </p:sp>
      <p:sp>
        <p:nvSpPr>
          <p:cNvPr id="31" name="tag concept"/>
          <p:cNvSpPr/>
          <p:nvPr/>
        </p:nvSpPr>
        <p:spPr>
          <a:xfrm>
            <a:off x="4892040" y="1481328"/>
            <a:ext cx="1143000" cy="201168"/>
          </a:xfrm>
          <a:prstGeom prst="roundRect">
            <a:avLst>
              <a:gd name="adj" fmla="val 50000"/>
            </a:avLst>
          </a:prstGeom>
          <a:solidFill>
            <a:srgbClr val="F3F5F8"/>
          </a:solidFill>
          <a:ln w="12700">
            <a:solidFill>
              <a:srgbClr val="F3F5F8"/>
            </a:solidFill>
            <a:prstDash val="solid"/>
          </a:ln>
        </p:spPr>
      </p:sp>
      <p:sp>
        <p:nvSpPr>
          <p:cNvPr id="32" name="tag text"/>
          <p:cNvSpPr txBox="1"/>
          <p:nvPr/>
        </p:nvSpPr>
        <p:spPr>
          <a:xfrm>
            <a:off x="4892040" y="1481328"/>
            <a:ext cx="1143000" cy="201168"/>
          </a:xfrm>
          <a:prstGeom prst="rect">
            <a:avLst/>
          </a:prstGeom>
          <a:noFill/>
          <a:ln/>
        </p:spPr>
        <p:txBody>
          <a:bodyPr wrap="square" lIns="0" tIns="0" rIns="0" bIns="0" rtlCol="0" anchor="ctr"/>
          <a:lstStyle/>
          <a:p>
            <a:pPr algn="ctr" indent="0" marL="0">
              <a:buNone/>
            </a:pPr>
            <a:r>
              <a:rPr lang="en-US" sz="750" b="1" spc="150" kern="0" dirty="0">
                <a:solidFill>
                  <a:srgbClr val="6B7280"/>
                </a:solidFill>
                <a:latin typeface="Poppins" pitchFamily="34" charset="0"/>
                <a:ea typeface="Poppins" pitchFamily="34" charset="-122"/>
                <a:cs typeface="Poppins" pitchFamily="34" charset="-120"/>
              </a:rPr>
              <a:t>CONCEPT</a:t>
            </a:r>
            <a:endParaRPr lang="en-US" sz="750" dirty="0"/>
          </a:p>
        </p:txBody>
      </p:sp>
      <p:sp>
        <p:nvSpPr>
          <p:cNvPr id="33" name="concept head"/>
          <p:cNvSpPr txBox="1"/>
          <p:nvPr/>
        </p:nvSpPr>
        <p:spPr>
          <a:xfrm>
            <a:off x="4892040" y="1755648"/>
            <a:ext cx="2651760" cy="274320"/>
          </a:xfrm>
          <a:prstGeom prst="rect">
            <a:avLst/>
          </a:prstGeom>
          <a:noFill/>
          <a:ln/>
        </p:spPr>
        <p:txBody>
          <a:bodyPr wrap="square" lIns="0" tIns="0" rIns="0" bIns="0" rtlCol="0" anchor="ctr"/>
          <a:lstStyle/>
          <a:p>
            <a:pPr indent="0" marL="0">
              <a:buNone/>
            </a:pPr>
            <a:r>
              <a:rPr lang="en-US" sz="1150" b="1" dirty="0">
                <a:solidFill>
                  <a:schemeClr val="tx1"/>
                </a:solidFill>
                <a:latin typeface="Poppins" pitchFamily="34" charset="0"/>
                <a:ea typeface="Poppins" pitchFamily="34" charset="-122"/>
                <a:cs typeface="Poppins" pitchFamily="34" charset="-120"/>
              </a:rPr>
              <a:t>The Jagged Technological Frontier</a:t>
            </a:r>
            <a:endParaRPr lang="en-US" sz="1150" dirty="0"/>
          </a:p>
        </p:txBody>
      </p:sp>
      <p:sp>
        <p:nvSpPr>
          <p:cNvPr id="34" name="concept body"/>
          <p:cNvSpPr txBox="1"/>
          <p:nvPr/>
        </p:nvSpPr>
        <p:spPr>
          <a:xfrm>
            <a:off x="4892040" y="2048256"/>
            <a:ext cx="2606040" cy="731520"/>
          </a:xfrm>
          <a:prstGeom prst="rect">
            <a:avLst/>
          </a:prstGeom>
          <a:noFill/>
          <a:ln/>
        </p:spPr>
        <p:txBody>
          <a:bodyPr wrap="square" lIns="0" tIns="0" rIns="0" bIns="0" rtlCol="0" anchor="t"/>
          <a:lstStyle/>
          <a:p>
            <a:pPr indent="0" marL="0">
              <a:buNone/>
            </a:pPr>
            <a:r>
              <a:rPr lang="en-US" sz="950" dirty="0">
                <a:solidFill>
                  <a:schemeClr val="tx2"/>
                </a:solidFill>
                <a:latin typeface="Poppins" pitchFamily="34" charset="0"/>
                <a:ea typeface="Poppins" pitchFamily="34" charset="-122"/>
                <a:cs typeface="Poppins" pitchFamily="34" charset="-120"/>
              </a:rPr>
              <a:t>AI performs some tasks well yet struggles with others that look equally difficult. The boundary is uneven and hard to see.</a:t>
            </a:r>
            <a:endParaRPr lang="en-US" sz="950" dirty="0"/>
          </a:p>
        </p:txBody>
      </p:sp>
      <p:pic>
        <p:nvPicPr>
          <p:cNvPr id="35" name="mascot searching" descr="preencoded.png">    </p:cNvPr>
          <p:cNvPicPr>
            <a:picLocks noChangeAspect="1"/>
          </p:cNvPicPr>
          <p:nvPr/>
        </p:nvPicPr>
        <p:blipFill>
          <a:blip r:embed="rId4"/>
          <a:stretch>
            <a:fillRect/>
          </a:stretch>
        </p:blipFill>
        <p:spPr>
          <a:xfrm>
            <a:off x="7589520" y="1481328"/>
            <a:ext cx="1005840" cy="868680"/>
          </a:xfrm>
          <a:prstGeom prst="rect">
            <a:avLst/>
          </a:prstGeom>
        </p:spPr>
      </p:pic>
      <p:pic>
        <p:nvPicPr>
          <p:cNvPr id="36" name="frontier illustration" descr="preencoded.png">    </p:cNvPr>
          <p:cNvPicPr>
            <a:picLocks noChangeAspect="1"/>
          </p:cNvPicPr>
          <p:nvPr/>
        </p:nvPicPr>
        <p:blipFill>
          <a:blip r:embed="rId5"/>
          <a:stretch>
            <a:fillRect/>
          </a:stretch>
        </p:blipFill>
        <p:spPr>
          <a:xfrm>
            <a:off x="4892040" y="2926080"/>
            <a:ext cx="3749040" cy="1371600"/>
          </a:xfrm>
          <a:prstGeom prst="rect">
            <a:avLst/>
          </a:prstGeom>
        </p:spPr>
      </p:pic>
      <p:sp>
        <p:nvSpPr>
          <p:cNvPr id="37" name="outside label"/>
          <p:cNvSpPr txBox="1"/>
          <p:nvPr/>
        </p:nvSpPr>
        <p:spPr>
          <a:xfrm>
            <a:off x="5001768" y="2999232"/>
            <a:ext cx="3529584" cy="182880"/>
          </a:xfrm>
          <a:prstGeom prst="rect">
            <a:avLst/>
          </a:prstGeom>
          <a:noFill/>
          <a:ln/>
        </p:spPr>
        <p:txBody>
          <a:bodyPr wrap="square" lIns="0" tIns="0" rIns="0" bIns="0" rtlCol="0" anchor="ctr"/>
          <a:lstStyle/>
          <a:p>
            <a:pPr algn="r" indent="0" marL="0">
              <a:buNone/>
            </a:pPr>
            <a:r>
              <a:rPr lang="en-US" sz="750" b="1" dirty="0">
                <a:solidFill>
                  <a:schemeClr val="tx2"/>
                </a:solidFill>
                <a:latin typeface="Poppins" pitchFamily="34" charset="0"/>
                <a:ea typeface="Poppins" pitchFamily="34" charset="-122"/>
                <a:cs typeface="Poppins" pitchFamily="34" charset="-120"/>
              </a:rPr>
              <a:t>Outside: AI struggles</a:t>
            </a:r>
            <a:endParaRPr lang="en-US" sz="750" dirty="0"/>
          </a:p>
        </p:txBody>
      </p:sp>
      <p:sp>
        <p:nvSpPr>
          <p:cNvPr id="38" name="inside label"/>
          <p:cNvSpPr txBox="1"/>
          <p:nvPr/>
        </p:nvSpPr>
        <p:spPr>
          <a:xfrm>
            <a:off x="5001768" y="4023360"/>
            <a:ext cx="3529584" cy="182880"/>
          </a:xfrm>
          <a:prstGeom prst="rect">
            <a:avLst/>
          </a:prstGeom>
          <a:noFill/>
          <a:ln/>
        </p:spPr>
        <p:txBody>
          <a:bodyPr wrap="square" lIns="0" tIns="0" rIns="0" bIns="0" rtlCol="0" anchor="ctr"/>
          <a:lstStyle/>
          <a:p>
            <a:pPr indent="0" marL="0">
              <a:buNone/>
            </a:pPr>
            <a:r>
              <a:rPr lang="en-US" sz="750" b="1" dirty="0">
                <a:solidFill>
                  <a:srgbClr val="2E8B86"/>
                </a:solidFill>
                <a:latin typeface="Poppins" pitchFamily="34" charset="0"/>
                <a:ea typeface="Poppins" pitchFamily="34" charset="-122"/>
                <a:cs typeface="Poppins" pitchFamily="34" charset="-120"/>
              </a:rPr>
              <a:t>Inside: AI performs well</a:t>
            </a:r>
            <a:endParaRPr lang="en-US" sz="750" dirty="0"/>
          </a:p>
        </p:txBody>
      </p:sp>
      <p:sp>
        <p:nvSpPr>
          <p:cNvPr id="39" name="reference"/>
          <p:cNvSpPr txBox="1"/>
          <p:nvPr/>
        </p:nvSpPr>
        <p:spPr>
          <a:xfrm>
            <a:off x="502920" y="4480560"/>
            <a:ext cx="4937760" cy="274320"/>
          </a:xfrm>
          <a:prstGeom prst="rect">
            <a:avLst/>
          </a:prstGeom>
          <a:noFill/>
          <a:ln/>
        </p:spPr>
        <p:txBody>
          <a:bodyPr wrap="square" lIns="0" tIns="0" rIns="0" bIns="0" rtlCol="0" anchor="t"/>
          <a:lstStyle/>
          <a:p>
            <a:pPr indent="0" marL="0">
              <a:buNone/>
            </a:pPr>
            <a:r>
              <a:rPr lang="en-US" sz="700" dirty="0">
                <a:solidFill>
                  <a:srgbClr val="A3ADBB"/>
                </a:solidFill>
                <a:latin typeface="Poppins" pitchFamily="34" charset="0"/>
                <a:ea typeface="Poppins" pitchFamily="34" charset="-122"/>
                <a:cs typeface="Poppins" pitchFamily="34" charset="-120"/>
              </a:rPr>
              <a:t>Dell'Acqua, F., et al. (2023). Navigating the Jagged Technological Frontier. Harvard Business School Working Paper 24-013.</a:t>
            </a:r>
            <a:endParaRPr lang="en-US" sz="700" dirty="0"/>
          </a:p>
        </p:txBody>
      </p:sp>
      <p:sp>
        <p:nvSpPr>
          <p:cNvPr id="40" name="bridge text"/>
          <p:cNvSpPr txBox="1"/>
          <p:nvPr/>
        </p:nvSpPr>
        <p:spPr>
          <a:xfrm>
            <a:off x="5623560" y="4443984"/>
            <a:ext cx="2743200" cy="310896"/>
          </a:xfrm>
          <a:prstGeom prst="rect">
            <a:avLst/>
          </a:prstGeom>
          <a:noFill/>
          <a:ln/>
        </p:spPr>
        <p:txBody>
          <a:bodyPr wrap="square" lIns="0" tIns="0" rIns="0" bIns="0" rtlCol="0" anchor="ctr"/>
          <a:lstStyle/>
          <a:p>
            <a:pPr algn="r" indent="0" marL="0">
              <a:buNone/>
            </a:pPr>
            <a:r>
              <a:rPr lang="en-US" sz="850" b="1" dirty="0">
                <a:solidFill>
                  <a:srgbClr val="2E8B86"/>
                </a:solidFill>
                <a:latin typeface="Poppins" pitchFamily="34" charset="0"/>
                <a:ea typeface="Poppins" pitchFamily="34" charset="-122"/>
                <a:cs typeface="Poppins" pitchFamily="34" charset="-120"/>
              </a:rPr>
              <a:t>Next  </a:t>
            </a:r>
            <a:pPr algn="r" indent="0" marL="0">
              <a:buNone/>
            </a:pPr>
            <a:r>
              <a:rPr lang="en-US" sz="850" dirty="0">
                <a:solidFill>
                  <a:srgbClr val="1B2A4A"/>
                </a:solidFill>
                <a:latin typeface="Poppins" pitchFamily="34" charset="0"/>
                <a:ea typeface="Poppins" pitchFamily="34" charset="-122"/>
                <a:cs typeface="Poppins" pitchFamily="34" charset="-120"/>
              </a:rPr>
              <a:t>What happened when 758 consultants used GPT-4?</a:t>
            </a:r>
            <a:endParaRPr lang="en-US" sz="850" dirty="0"/>
          </a:p>
        </p:txBody>
      </p:sp>
      <p:pic>
        <p:nvPicPr>
          <p:cNvPr id="41" name="icon FiArrowRight" descr="preencoded.png">    </p:cNvPr>
          <p:cNvPicPr>
            <a:picLocks noChangeAspect="1"/>
          </p:cNvPicPr>
          <p:nvPr/>
        </p:nvPicPr>
        <p:blipFill>
          <a:blip r:embed="rId6"/>
          <a:stretch>
            <a:fillRect/>
          </a:stretch>
        </p:blipFill>
        <p:spPr>
          <a:xfrm>
            <a:off x="8439912" y="4498848"/>
            <a:ext cx="201168" cy="201168"/>
          </a:xfrm>
          <a:prstGeom prst="rect">
            <a:avLst/>
          </a:prstGeom>
        </p:spPr>
      </p:pic>
      <p:sp>
        <p:nvSpPr>
          <p:cNvPr id="25" name="Slide Number Placeholder 0"/>
          <p:cNvSpPr>
            <a:spLocks noGrp="1"/>
          </p:cNvSpPr>
          <p:nvPr>
            <p:ph type="sldNum" sz="quarter" idx="4294967295"/>
          </p:nvPr>
        </p:nvSpPr>
        <p:spPr>
          <a:xfrm>
            <a:off x="8092440" y="4773168"/>
            <a:ext cx="548640" cy="274320"/>
          </a:xfrm>
          <a:prstGeom prst="rect">
            <a:avLst/>
          </a:prstGeom>
          <a:extLst>
            <a:ext uri="{C572A759-6A51-4108-AA02-DFA0A04FC94B}">
              <ma14:wrappingTextBoxFlag xmlns:ma14="http://schemas.microsoft.com/office/mac/drawingml/2011/main" val="0"/>
            </a:ext>
          </a:extLst>
        </p:spPr>
        <p:txBody>
          <a:bodyPr/>
          <a:lstStyle>
            <a:lvl1pPr>
              <a:defRPr sz="850">
                <a:solidFill>
                  <a:srgbClr val="A3ADBB"/>
                </a:solidFill>
                <a:latin typeface="Poppins"/>
                <a:ea typeface="Poppins"/>
                <a:cs typeface="Poppin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02920" y="274320"/>
            <a:ext cx="5943600" cy="237744"/>
          </a:xfrm>
          <a:prstGeom prst="rect">
            <a:avLst/>
          </a:prstGeom>
          <a:noFill/>
          <a:ln/>
        </p:spPr>
        <p:txBody>
          <a:bodyPr wrap="square" lIns="0" tIns="0" rIns="0" bIns="0" rtlCol="0" anchor="ctr"/>
          <a:lstStyle/>
          <a:p>
            <a:pPr algn="l" indent="0" marL="0">
              <a:buNone/>
            </a:pPr>
            <a:r>
              <a:rPr lang="en-US" sz="1000" b="1" spc="150" kern="0" dirty="0">
                <a:solidFill>
                  <a:schemeClr val="accent1"/>
                </a:solidFill>
                <a:latin typeface="Poppins" pitchFamily="34" charset="0"/>
                <a:ea typeface="Poppins" pitchFamily="34" charset="-122"/>
                <a:cs typeface="Poppins" pitchFamily="34" charset="-120"/>
              </a:rPr>
              <a:t>Article 2  ·  Key findings</a:t>
            </a:r>
            <a:endParaRPr lang="en-US" sz="1000" dirty="0"/>
          </a:p>
        </p:txBody>
      </p:sp>
      <p:sp>
        <p:nvSpPr>
          <p:cNvPr id="3" name="Text 0"/>
          <p:cNvSpPr/>
          <p:nvPr>
            <p:ph idx="101" type="title" hasCustomPrompt="1"/>
          </p:nvPr>
        </p:nvSpPr>
        <p:spPr>
          <a:xfrm>
            <a:off x="502920" y="512064"/>
            <a:ext cx="8138160" cy="731520"/>
          </a:xfrm>
          <a:prstGeom prst="rect">
            <a:avLst/>
          </a:prstGeom>
          <a:noFill/>
          <a:ln/>
        </p:spPr>
        <p:txBody>
          <a:bodyPr wrap="square" lIns="0" tIns="0" rIns="0" bIns="0" rtlCol="0" anchor="ctr">
            <a:normAutofit/>
          </a:bodyPr>
          <a:lstStyle/>
          <a:p>
            <a:pPr algn="l" indent="0" marL="0">
              <a:buNone/>
            </a:pPr>
            <a:r>
              <a:rPr lang="en-US" sz="2600" b="1" dirty="0">
                <a:solidFill>
                  <a:schemeClr val="tx1"/>
                </a:solidFill>
                <a:latin typeface="Poppins" pitchFamily="34" charset="0"/>
                <a:ea typeface="Poppins" pitchFamily="34" charset="-122"/>
                <a:cs typeface="Poppins" pitchFamily="34" charset="-120"/>
              </a:rPr>
              <a:t>AI Can Improve Productivity, but Has Limits</a:t>
            </a:r>
            <a:endParaRPr lang="en-US" sz="2600" dirty="0"/>
          </a:p>
        </p:txBody>
      </p:sp>
      <p:sp>
        <p:nvSpPr>
          <p:cNvPr id="4" name="progress dot 1"/>
          <p:cNvSpPr/>
          <p:nvPr/>
        </p:nvSpPr>
        <p:spPr>
          <a:xfrm>
            <a:off x="7808976" y="342900"/>
            <a:ext cx="100584" cy="100584"/>
          </a:xfrm>
          <a:prstGeom prst="ellipse">
            <a:avLst/>
          </a:prstGeom>
          <a:solidFill>
            <a:srgbClr val="BFE6E0"/>
          </a:solidFill>
          <a:ln w="12700">
            <a:solidFill>
              <a:srgbClr val="BFE6E0"/>
            </a:solidFill>
            <a:prstDash val="solid"/>
          </a:ln>
        </p:spPr>
      </p:sp>
      <p:sp>
        <p:nvSpPr>
          <p:cNvPr id="5" name="progress dot 2"/>
          <p:cNvSpPr/>
          <p:nvPr/>
        </p:nvSpPr>
        <p:spPr>
          <a:xfrm>
            <a:off x="7991856" y="342900"/>
            <a:ext cx="100584" cy="100584"/>
          </a:xfrm>
          <a:prstGeom prst="ellipse">
            <a:avLst/>
          </a:prstGeom>
          <a:solidFill>
            <a:srgbClr val="BFE6E0"/>
          </a:solidFill>
          <a:ln w="12700">
            <a:solidFill>
              <a:srgbClr val="BFE6E0"/>
            </a:solidFill>
            <a:prstDash val="solid"/>
          </a:ln>
        </p:spPr>
      </p:sp>
      <p:sp>
        <p:nvSpPr>
          <p:cNvPr id="6" name="progress dot 3"/>
          <p:cNvSpPr/>
          <p:nvPr/>
        </p:nvSpPr>
        <p:spPr>
          <a:xfrm>
            <a:off x="8174736" y="342900"/>
            <a:ext cx="100584" cy="100584"/>
          </a:xfrm>
          <a:prstGeom prst="ellipse">
            <a:avLst/>
          </a:prstGeom>
          <a:solidFill>
            <a:srgbClr val="2E8B86"/>
          </a:solidFill>
          <a:ln w="12700">
            <a:solidFill>
              <a:srgbClr val="2E8B86"/>
            </a:solidFill>
            <a:prstDash val="solid"/>
          </a:ln>
        </p:spPr>
      </p:sp>
      <p:sp>
        <p:nvSpPr>
          <p:cNvPr id="7" name="progress dot 4"/>
          <p:cNvSpPr/>
          <p:nvPr/>
        </p:nvSpPr>
        <p:spPr>
          <a:xfrm>
            <a:off x="8357616" y="342900"/>
            <a:ext cx="100584" cy="100584"/>
          </a:xfrm>
          <a:prstGeom prst="ellipse">
            <a:avLst/>
          </a:prstGeom>
          <a:solidFill>
            <a:srgbClr val="E3E8EE"/>
          </a:solidFill>
          <a:ln w="12700">
            <a:solidFill>
              <a:srgbClr val="E3E8EE"/>
            </a:solidFill>
            <a:prstDash val="solid"/>
          </a:ln>
        </p:spPr>
      </p:sp>
      <p:sp>
        <p:nvSpPr>
          <p:cNvPr id="8" name="progress dot 5"/>
          <p:cNvSpPr/>
          <p:nvPr/>
        </p:nvSpPr>
        <p:spPr>
          <a:xfrm>
            <a:off x="8540496" y="342900"/>
            <a:ext cx="100584" cy="100584"/>
          </a:xfrm>
          <a:prstGeom prst="ellipse">
            <a:avLst/>
          </a:prstGeom>
          <a:solidFill>
            <a:srgbClr val="E3E8EE"/>
          </a:solidFill>
          <a:ln w="12700">
            <a:solidFill>
              <a:srgbClr val="E3E8EE"/>
            </a:solidFill>
            <a:prstDash val="solid"/>
          </a:ln>
        </p:spPr>
      </p:sp>
      <p:sp>
        <p:nvSpPr>
          <p:cNvPr id="9" name="progress label"/>
          <p:cNvSpPr txBox="1"/>
          <p:nvPr/>
        </p:nvSpPr>
        <p:spPr>
          <a:xfrm>
            <a:off x="7077456" y="274320"/>
            <a:ext cx="640080" cy="237744"/>
          </a:xfrm>
          <a:prstGeom prst="rect">
            <a:avLst/>
          </a:prstGeom>
          <a:noFill/>
          <a:ln/>
        </p:spPr>
        <p:txBody>
          <a:bodyPr wrap="square" lIns="0" tIns="0" rIns="0" bIns="0" rtlCol="0" anchor="ctr"/>
          <a:lstStyle/>
          <a:p>
            <a:pPr algn="r" indent="0" marL="0">
              <a:buNone/>
            </a:pPr>
            <a:r>
              <a:rPr lang="en-US" sz="800" dirty="0">
                <a:solidFill>
                  <a:srgbClr val="A3ADBB"/>
                </a:solidFill>
                <a:latin typeface="Poppins" pitchFamily="34" charset="0"/>
                <a:ea typeface="Poppins" pitchFamily="34" charset="-122"/>
                <a:cs typeface="Poppins" pitchFamily="34" charset="-120"/>
              </a:rPr>
              <a:t>3 / 5</a:t>
            </a:r>
            <a:endParaRPr lang="en-US" sz="800" dirty="0"/>
          </a:p>
        </p:txBody>
      </p:sp>
      <p:sp>
        <p:nvSpPr>
          <p:cNvPr id="10" name="tag finding"/>
          <p:cNvSpPr/>
          <p:nvPr/>
        </p:nvSpPr>
        <p:spPr>
          <a:xfrm>
            <a:off x="502920" y="1371600"/>
            <a:ext cx="1143000" cy="201168"/>
          </a:xfrm>
          <a:prstGeom prst="roundRect">
            <a:avLst>
              <a:gd name="adj" fmla="val 50000"/>
            </a:avLst>
          </a:prstGeom>
          <a:solidFill>
            <a:srgbClr val="BFE6E0"/>
          </a:solidFill>
          <a:ln w="12700">
            <a:solidFill>
              <a:srgbClr val="BFE6E0"/>
            </a:solidFill>
            <a:prstDash val="solid"/>
          </a:ln>
        </p:spPr>
      </p:sp>
      <p:sp>
        <p:nvSpPr>
          <p:cNvPr id="11" name="tag text"/>
          <p:cNvSpPr txBox="1"/>
          <p:nvPr/>
        </p:nvSpPr>
        <p:spPr>
          <a:xfrm>
            <a:off x="502920" y="1371600"/>
            <a:ext cx="1143000" cy="201168"/>
          </a:xfrm>
          <a:prstGeom prst="rect">
            <a:avLst/>
          </a:prstGeom>
          <a:noFill/>
          <a:ln/>
        </p:spPr>
        <p:txBody>
          <a:bodyPr wrap="square" lIns="0" tIns="0" rIns="0" bIns="0" rtlCol="0" anchor="ctr"/>
          <a:lstStyle/>
          <a:p>
            <a:pPr algn="ctr" indent="0" marL="0">
              <a:buNone/>
            </a:pPr>
            <a:r>
              <a:rPr lang="en-US" sz="750" b="1" spc="150" kern="0" dirty="0">
                <a:solidFill>
                  <a:srgbClr val="1B2A4A"/>
                </a:solidFill>
                <a:latin typeface="Poppins" pitchFamily="34" charset="0"/>
                <a:ea typeface="Poppins" pitchFamily="34" charset="-122"/>
                <a:cs typeface="Poppins" pitchFamily="34" charset="-120"/>
              </a:rPr>
              <a:t>FINDING</a:t>
            </a:r>
            <a:endParaRPr lang="en-US" sz="750" dirty="0"/>
          </a:p>
        </p:txBody>
      </p:sp>
      <p:graphicFrame>
        <p:nvGraphicFramePr>
          <p:cNvPr id="12" name="findings chart" descr=""/>
          <p:cNvGraphicFramePr/>
          <p:nvPr/>
        </p:nvGraphicFramePr>
        <p:xfrm>
          <a:off x="502920" y="1609344"/>
          <a:ext cx="4754880" cy="2103120"/>
        </p:xfrm>
        <a:graphic xmlns:a="http://schemas.openxmlformats.org/drawingml/2006/main">
          <a:graphicData uri="http://schemas.openxmlformats.org/drawingml/2006/chart">
            <c:chart xmlns:c="http://schemas.openxmlformats.org/drawingml/2006/chart" r:id="rId1"/>
          </a:graphicData>
        </a:graphic>
      </p:graphicFrame>
      <p:sp>
        <p:nvSpPr>
          <p:cNvPr id="13" name="chart note"/>
          <p:cNvSpPr txBox="1"/>
          <p:nvPr/>
        </p:nvSpPr>
        <p:spPr>
          <a:xfrm>
            <a:off x="502920" y="3730752"/>
            <a:ext cx="4754880" cy="329184"/>
          </a:xfrm>
          <a:prstGeom prst="rect">
            <a:avLst/>
          </a:prstGeom>
          <a:noFill/>
          <a:ln/>
        </p:spPr>
        <p:txBody>
          <a:bodyPr wrap="square" lIns="0" tIns="0" rIns="0" bIns="0" rtlCol="0" anchor="t"/>
          <a:lstStyle/>
          <a:p>
            <a:pPr indent="0" marL="0">
              <a:buNone/>
            </a:pPr>
            <a:r>
              <a:rPr lang="en-US" sz="750" dirty="0">
                <a:solidFill>
                  <a:srgbClr val="A3ADBB"/>
                </a:solidFill>
                <a:latin typeface="Poppins" pitchFamily="34" charset="0"/>
                <a:ea typeface="Poppins" pitchFamily="34" charset="-122"/>
                <a:cs typeface="Poppins" pitchFamily="34" charset="-120"/>
              </a:rPr>
              <a:t>Quality reported as "more than 40%" vs. control, plotted at 40. Below-/above-average = performer groups, each vs. its own baseline.</a:t>
            </a:r>
            <a:endParaRPr lang="en-US" sz="750" dirty="0"/>
          </a:p>
        </p:txBody>
      </p:sp>
      <p:sp>
        <p:nvSpPr>
          <p:cNvPr id="14" name="outside callout"/>
          <p:cNvSpPr/>
          <p:nvPr/>
        </p:nvSpPr>
        <p:spPr>
          <a:xfrm>
            <a:off x="5623560" y="1371600"/>
            <a:ext cx="3017520" cy="1828800"/>
          </a:xfrm>
          <a:prstGeom prst="roundRect">
            <a:avLst>
              <a:gd name="adj" fmla="val 6000"/>
            </a:avLst>
          </a:prstGeom>
          <a:solidFill>
            <a:srgbClr val="1B2A4A"/>
          </a:solidFill>
          <a:ln w="12700">
            <a:solidFill>
              <a:srgbClr val="1B2A4A"/>
            </a:solidFill>
            <a:prstDash val="solid"/>
          </a:ln>
        </p:spPr>
      </p:sp>
      <p:sp>
        <p:nvSpPr>
          <p:cNvPr id="15" name="outside head"/>
          <p:cNvSpPr txBox="1"/>
          <p:nvPr/>
        </p:nvSpPr>
        <p:spPr>
          <a:xfrm>
            <a:off x="5852160" y="1499616"/>
            <a:ext cx="2560320" cy="219456"/>
          </a:xfrm>
          <a:prstGeom prst="rect">
            <a:avLst/>
          </a:prstGeom>
          <a:noFill/>
          <a:ln/>
        </p:spPr>
        <p:txBody>
          <a:bodyPr wrap="square" lIns="0" tIns="0" rIns="0" bIns="0" rtlCol="0" anchor="ctr"/>
          <a:lstStyle/>
          <a:p>
            <a:pPr indent="0" marL="0">
              <a:buNone/>
            </a:pPr>
            <a:r>
              <a:rPr lang="en-US" sz="900" b="1" spc="100" kern="0" dirty="0">
                <a:solidFill>
                  <a:srgbClr val="BFE6E0"/>
                </a:solidFill>
                <a:latin typeface="Poppins" pitchFamily="34" charset="0"/>
                <a:ea typeface="Poppins" pitchFamily="34" charset="-122"/>
                <a:cs typeface="Poppins" pitchFamily="34" charset="-120"/>
              </a:rPr>
              <a:t>Outside the frontier</a:t>
            </a:r>
            <a:endParaRPr lang="en-US" sz="900" dirty="0"/>
          </a:p>
        </p:txBody>
      </p:sp>
      <p:sp>
        <p:nvSpPr>
          <p:cNvPr id="16" name="outside stat"/>
          <p:cNvSpPr txBox="1"/>
          <p:nvPr/>
        </p:nvSpPr>
        <p:spPr>
          <a:xfrm>
            <a:off x="5852160" y="1719072"/>
            <a:ext cx="1463040" cy="512064"/>
          </a:xfrm>
          <a:prstGeom prst="rect">
            <a:avLst/>
          </a:prstGeom>
          <a:noFill/>
          <a:ln/>
        </p:spPr>
        <p:txBody>
          <a:bodyPr wrap="square" lIns="0" tIns="0" rIns="0" bIns="0" rtlCol="0" anchor="ctr"/>
          <a:lstStyle/>
          <a:p>
            <a:pPr indent="0" marL="0">
              <a:buNone/>
            </a:pPr>
            <a:r>
              <a:rPr lang="en-US" sz="4400" b="1" dirty="0">
                <a:solidFill>
                  <a:srgbClr val="FFFFFF"/>
                </a:solidFill>
                <a:latin typeface="Poppins" pitchFamily="34" charset="0"/>
                <a:ea typeface="Poppins" pitchFamily="34" charset="-122"/>
                <a:cs typeface="Poppins" pitchFamily="34" charset="-120"/>
              </a:rPr>
              <a:t>−19</a:t>
            </a:r>
            <a:endParaRPr lang="en-US" sz="4400" dirty="0"/>
          </a:p>
        </p:txBody>
      </p:sp>
      <p:sp>
        <p:nvSpPr>
          <p:cNvPr id="17" name="outside unit"/>
          <p:cNvSpPr txBox="1"/>
          <p:nvPr/>
        </p:nvSpPr>
        <p:spPr>
          <a:xfrm>
            <a:off x="5852160" y="2231136"/>
            <a:ext cx="1737360" cy="201168"/>
          </a:xfrm>
          <a:prstGeom prst="rect">
            <a:avLst/>
          </a:prstGeom>
          <a:noFill/>
          <a:ln/>
        </p:spPr>
        <p:txBody>
          <a:bodyPr wrap="square" lIns="0" tIns="0" rIns="0" bIns="0" rtlCol="0" anchor="ctr"/>
          <a:lstStyle/>
          <a:p>
            <a:pPr indent="0" marL="0">
              <a:buNone/>
            </a:pPr>
            <a:r>
              <a:rPr lang="en-US" sz="850" dirty="0">
                <a:solidFill>
                  <a:srgbClr val="BFE6E0"/>
                </a:solidFill>
                <a:latin typeface="Poppins" pitchFamily="34" charset="0"/>
                <a:ea typeface="Poppins" pitchFamily="34" charset="-122"/>
                <a:cs typeface="Poppins" pitchFamily="34" charset="-120"/>
              </a:rPr>
              <a:t>percentage points</a:t>
            </a:r>
            <a:endParaRPr lang="en-US" sz="850" dirty="0"/>
          </a:p>
        </p:txBody>
      </p:sp>
      <p:pic>
        <p:nvPicPr>
          <p:cNvPr id="18" name="mascot confused" descr="preencoded.png">    </p:cNvPr>
          <p:cNvPicPr>
            <a:picLocks noChangeAspect="1"/>
          </p:cNvPicPr>
          <p:nvPr/>
        </p:nvPicPr>
        <p:blipFill>
          <a:blip r:embed="rId2"/>
          <a:stretch>
            <a:fillRect/>
          </a:stretch>
        </p:blipFill>
        <p:spPr>
          <a:xfrm>
            <a:off x="7498080" y="1591056"/>
            <a:ext cx="1005840" cy="868680"/>
          </a:xfrm>
          <a:prstGeom prst="rect">
            <a:avLst/>
          </a:prstGeom>
        </p:spPr>
      </p:pic>
      <p:sp>
        <p:nvSpPr>
          <p:cNvPr id="19" name="outside body"/>
          <p:cNvSpPr txBox="1"/>
          <p:nvPr/>
        </p:nvSpPr>
        <p:spPr>
          <a:xfrm>
            <a:off x="5852160" y="2487168"/>
            <a:ext cx="2560320" cy="640080"/>
          </a:xfrm>
          <a:prstGeom prst="rect">
            <a:avLst/>
          </a:prstGeom>
          <a:noFill/>
          <a:ln/>
        </p:spPr>
        <p:txBody>
          <a:bodyPr wrap="square" lIns="0" tIns="0" rIns="0" bIns="0" rtlCol="0" anchor="t"/>
          <a:lstStyle/>
          <a:p>
            <a:pPr indent="0" marL="0">
              <a:buNone/>
            </a:pPr>
            <a:r>
              <a:rPr lang="en-US" sz="900" dirty="0">
                <a:solidFill>
                  <a:srgbClr val="FFFFFF"/>
                </a:solidFill>
                <a:latin typeface="Poppins" pitchFamily="34" charset="0"/>
                <a:ea typeface="Poppins" pitchFamily="34" charset="-122"/>
                <a:cs typeface="Poppins" pitchFamily="34" charset="-120"/>
              </a:rPr>
              <a:t>AI users were 19 percentage points less likely to produce correct solutions than consultants without AI.</a:t>
            </a:r>
            <a:endParaRPr lang="en-US" sz="900" dirty="0"/>
          </a:p>
        </p:txBody>
      </p:sp>
      <p:sp>
        <p:nvSpPr>
          <p:cNvPr id="20" name="unit note"/>
          <p:cNvSpPr txBox="1"/>
          <p:nvPr/>
        </p:nvSpPr>
        <p:spPr>
          <a:xfrm>
            <a:off x="5623560" y="3255264"/>
            <a:ext cx="3017520" cy="310896"/>
          </a:xfrm>
          <a:prstGeom prst="rect">
            <a:avLst/>
          </a:prstGeom>
          <a:noFill/>
          <a:ln/>
        </p:spPr>
        <p:txBody>
          <a:bodyPr wrap="square" lIns="0" tIns="0" rIns="0" bIns="0" rtlCol="0" anchor="t"/>
          <a:lstStyle/>
          <a:p>
            <a:pPr indent="0" marL="0">
              <a:buNone/>
            </a:pPr>
            <a:r>
              <a:rPr lang="en-US" sz="800" dirty="0">
                <a:solidFill>
                  <a:srgbClr val="6B7280"/>
                </a:solidFill>
                <a:latin typeface="Poppins" pitchFamily="34" charset="0"/>
                <a:ea typeface="Poppins" pitchFamily="34" charset="-122"/>
                <a:cs typeface="Poppins" pitchFamily="34" charset="-120"/>
              </a:rPr>
              <a:t>A gap between two success rates, not a percentage change.</a:t>
            </a:r>
            <a:endParaRPr lang="en-US" sz="800" dirty="0"/>
          </a:p>
        </p:txBody>
      </p:sp>
      <p:sp>
        <p:nvSpPr>
          <p:cNvPr id="21" name="divider"/>
          <p:cNvSpPr/>
          <p:nvPr/>
        </p:nvSpPr>
        <p:spPr>
          <a:xfrm>
            <a:off x="5623560" y="3657600"/>
            <a:ext cx="3017520" cy="0"/>
          </a:xfrm>
          <a:prstGeom prst="line">
            <a:avLst/>
          </a:prstGeom>
          <a:noFill/>
          <a:ln w="9525">
            <a:solidFill>
              <a:srgbClr val="E3E8EE"/>
            </a:solidFill>
            <a:prstDash val="solid"/>
          </a:ln>
        </p:spPr>
      </p:sp>
      <p:sp>
        <p:nvSpPr>
          <p:cNvPr id="22" name="approach head"/>
          <p:cNvSpPr txBox="1"/>
          <p:nvPr/>
        </p:nvSpPr>
        <p:spPr>
          <a:xfrm>
            <a:off x="5623560" y="3712464"/>
            <a:ext cx="3017520" cy="201168"/>
          </a:xfrm>
          <a:prstGeom prst="rect">
            <a:avLst/>
          </a:prstGeom>
          <a:noFill/>
          <a:ln/>
        </p:spPr>
        <p:txBody>
          <a:bodyPr wrap="square" lIns="0" tIns="0" rIns="0" bIns="0" rtlCol="0" anchor="ctr"/>
          <a:lstStyle/>
          <a:p>
            <a:pPr indent="0" marL="0">
              <a:buNone/>
            </a:pPr>
            <a:r>
              <a:rPr lang="en-US" sz="950" b="1" dirty="0">
                <a:solidFill>
                  <a:schemeClr val="tx1"/>
                </a:solidFill>
                <a:latin typeface="Poppins" pitchFamily="34" charset="0"/>
                <a:ea typeface="Poppins" pitchFamily="34" charset="-122"/>
                <a:cs typeface="Poppins" pitchFamily="34" charset="-120"/>
              </a:rPr>
              <a:t>Two successful patterns of AI use</a:t>
            </a:r>
            <a:endParaRPr lang="en-US" sz="950" dirty="0"/>
          </a:p>
        </p:txBody>
      </p:sp>
      <p:pic>
        <p:nvPicPr>
          <p:cNvPr id="23" name="glyph Centaurs" descr="preencoded.png">    </p:cNvPr>
          <p:cNvPicPr>
            <a:picLocks noChangeAspect="1"/>
          </p:cNvPicPr>
          <p:nvPr/>
        </p:nvPicPr>
        <p:blipFill>
          <a:blip r:embed="rId3"/>
          <a:stretch>
            <a:fillRect/>
          </a:stretch>
        </p:blipFill>
        <p:spPr>
          <a:xfrm>
            <a:off x="5623560" y="3950208"/>
            <a:ext cx="329184" cy="219456"/>
          </a:xfrm>
          <a:prstGeom prst="rect">
            <a:avLst/>
          </a:prstGeom>
        </p:spPr>
      </p:pic>
      <p:sp>
        <p:nvSpPr>
          <p:cNvPr id="24" name="approach text"/>
          <p:cNvSpPr txBox="1"/>
          <p:nvPr/>
        </p:nvSpPr>
        <p:spPr>
          <a:xfrm>
            <a:off x="6044184" y="3931920"/>
            <a:ext cx="2596896" cy="256032"/>
          </a:xfrm>
          <a:prstGeom prst="rect">
            <a:avLst/>
          </a:prstGeom>
          <a:noFill/>
          <a:ln/>
        </p:spPr>
        <p:txBody>
          <a:bodyPr wrap="square" lIns="0" tIns="0" rIns="0" bIns="0" rtlCol="0" anchor="ctr"/>
          <a:lstStyle/>
          <a:p>
            <a:pPr indent="0" marL="0">
              <a:buNone/>
            </a:pPr>
            <a:r>
              <a:rPr lang="en-US" sz="900" b="1" dirty="0">
                <a:solidFill>
                  <a:schemeClr val="tx1"/>
                </a:solidFill>
                <a:latin typeface="Poppins" pitchFamily="34" charset="0"/>
                <a:ea typeface="Poppins" pitchFamily="34" charset="-122"/>
                <a:cs typeface="Poppins" pitchFamily="34" charset="-120"/>
              </a:rPr>
              <a:t>Centaurs  </a:t>
            </a:r>
            <a:pPr indent="0" marL="0">
              <a:buNone/>
            </a:pPr>
            <a:r>
              <a:rPr lang="en-US" sz="850" dirty="0">
                <a:solidFill>
                  <a:schemeClr val="tx2"/>
                </a:solidFill>
                <a:latin typeface="Poppins" pitchFamily="34" charset="0"/>
                <a:ea typeface="Poppins" pitchFamily="34" charset="-122"/>
                <a:cs typeface="Poppins" pitchFamily="34" charset="-120"/>
              </a:rPr>
              <a:t>divide tasks between human and AI</a:t>
            </a:r>
            <a:endParaRPr lang="en-US" sz="900" dirty="0"/>
          </a:p>
        </p:txBody>
      </p:sp>
      <p:pic>
        <p:nvPicPr>
          <p:cNvPr id="25" name="glyph Cyborgs" descr="preencoded.png">    </p:cNvPr>
          <p:cNvPicPr>
            <a:picLocks noChangeAspect="1"/>
          </p:cNvPicPr>
          <p:nvPr/>
        </p:nvPicPr>
        <p:blipFill>
          <a:blip r:embed="rId4"/>
          <a:stretch>
            <a:fillRect/>
          </a:stretch>
        </p:blipFill>
        <p:spPr>
          <a:xfrm>
            <a:off x="5623560" y="4187952"/>
            <a:ext cx="329184" cy="219456"/>
          </a:xfrm>
          <a:prstGeom prst="rect">
            <a:avLst/>
          </a:prstGeom>
        </p:spPr>
      </p:pic>
      <p:sp>
        <p:nvSpPr>
          <p:cNvPr id="26" name="approach text"/>
          <p:cNvSpPr txBox="1"/>
          <p:nvPr/>
        </p:nvSpPr>
        <p:spPr>
          <a:xfrm>
            <a:off x="6044184" y="4169664"/>
            <a:ext cx="2596896" cy="256032"/>
          </a:xfrm>
          <a:prstGeom prst="rect">
            <a:avLst/>
          </a:prstGeom>
          <a:noFill/>
          <a:ln/>
        </p:spPr>
        <p:txBody>
          <a:bodyPr wrap="square" lIns="0" tIns="0" rIns="0" bIns="0" rtlCol="0" anchor="ctr"/>
          <a:lstStyle/>
          <a:p>
            <a:pPr indent="0" marL="0">
              <a:buNone/>
            </a:pPr>
            <a:r>
              <a:rPr lang="en-US" sz="900" b="1" dirty="0">
                <a:solidFill>
                  <a:schemeClr val="tx1"/>
                </a:solidFill>
                <a:latin typeface="Poppins" pitchFamily="34" charset="0"/>
                <a:ea typeface="Poppins" pitchFamily="34" charset="-122"/>
                <a:cs typeface="Poppins" pitchFamily="34" charset="-120"/>
              </a:rPr>
              <a:t>Cyborgs  </a:t>
            </a:r>
            <a:pPr indent="0" marL="0">
              <a:buNone/>
            </a:pPr>
            <a:r>
              <a:rPr lang="en-US" sz="850" dirty="0">
                <a:solidFill>
                  <a:schemeClr val="tx2"/>
                </a:solidFill>
                <a:latin typeface="Poppins" pitchFamily="34" charset="0"/>
                <a:ea typeface="Poppins" pitchFamily="34" charset="-122"/>
                <a:cs typeface="Poppins" pitchFamily="34" charset="-120"/>
              </a:rPr>
              <a:t>integrate AI into every step</a:t>
            </a:r>
            <a:endParaRPr lang="en-US" sz="900" dirty="0"/>
          </a:p>
        </p:txBody>
      </p:sp>
      <p:sp>
        <p:nvSpPr>
          <p:cNvPr id="27" name="reference"/>
          <p:cNvSpPr txBox="1"/>
          <p:nvPr/>
        </p:nvSpPr>
        <p:spPr>
          <a:xfrm>
            <a:off x="502920" y="4480560"/>
            <a:ext cx="4937760" cy="274320"/>
          </a:xfrm>
          <a:prstGeom prst="rect">
            <a:avLst/>
          </a:prstGeom>
          <a:noFill/>
          <a:ln/>
        </p:spPr>
        <p:txBody>
          <a:bodyPr wrap="square" lIns="0" tIns="0" rIns="0" bIns="0" rtlCol="0" anchor="t"/>
          <a:lstStyle/>
          <a:p>
            <a:pPr indent="0" marL="0">
              <a:buNone/>
            </a:pPr>
            <a:r>
              <a:rPr lang="en-US" sz="700" dirty="0">
                <a:solidFill>
                  <a:srgbClr val="A3ADBB"/>
                </a:solidFill>
                <a:latin typeface="Poppins" pitchFamily="34" charset="0"/>
                <a:ea typeface="Poppins" pitchFamily="34" charset="-122"/>
                <a:cs typeface="Poppins" pitchFamily="34" charset="-120"/>
              </a:rPr>
              <a:t>Dell'Acqua, F., et al. (2023). Navigating the Jagged Technological Frontier. Harvard Business School Working Paper 24-013.</a:t>
            </a:r>
            <a:endParaRPr lang="en-US" sz="700" dirty="0"/>
          </a:p>
        </p:txBody>
      </p:sp>
      <p:sp>
        <p:nvSpPr>
          <p:cNvPr id="28" name="bridge text"/>
          <p:cNvSpPr txBox="1"/>
          <p:nvPr/>
        </p:nvSpPr>
        <p:spPr>
          <a:xfrm>
            <a:off x="5623560" y="4443984"/>
            <a:ext cx="2743200" cy="310896"/>
          </a:xfrm>
          <a:prstGeom prst="rect">
            <a:avLst/>
          </a:prstGeom>
          <a:noFill/>
          <a:ln/>
        </p:spPr>
        <p:txBody>
          <a:bodyPr wrap="square" lIns="0" tIns="0" rIns="0" bIns="0" rtlCol="0" anchor="ctr"/>
          <a:lstStyle/>
          <a:p>
            <a:pPr algn="r" indent="0" marL="0">
              <a:buNone/>
            </a:pPr>
            <a:r>
              <a:rPr lang="en-US" sz="850" b="1" dirty="0">
                <a:solidFill>
                  <a:srgbClr val="2E8B86"/>
                </a:solidFill>
                <a:latin typeface="Poppins" pitchFamily="34" charset="0"/>
                <a:ea typeface="Poppins" pitchFamily="34" charset="-122"/>
                <a:cs typeface="Poppins" pitchFamily="34" charset="-120"/>
              </a:rPr>
              <a:t>Next  </a:t>
            </a:r>
            <a:pPr algn="r" indent="0" marL="0">
              <a:buNone/>
            </a:pPr>
            <a:r>
              <a:rPr lang="en-US" sz="850" dirty="0">
                <a:solidFill>
                  <a:srgbClr val="1B2A4A"/>
                </a:solidFill>
                <a:latin typeface="Poppins" pitchFamily="34" charset="0"/>
                <a:ea typeface="Poppins" pitchFamily="34" charset="-122"/>
                <a:cs typeface="Poppins" pitchFamily="34" charset="-120"/>
              </a:rPr>
              <a:t>Does this hold for real small businesses?</a:t>
            </a:r>
            <a:endParaRPr lang="en-US" sz="850" dirty="0"/>
          </a:p>
        </p:txBody>
      </p:sp>
      <p:pic>
        <p:nvPicPr>
          <p:cNvPr id="29" name="icon FiArrowRight" descr="preencoded.png">    </p:cNvPr>
          <p:cNvPicPr>
            <a:picLocks noChangeAspect="1"/>
          </p:cNvPicPr>
          <p:nvPr/>
        </p:nvPicPr>
        <p:blipFill>
          <a:blip r:embed="rId5"/>
          <a:stretch>
            <a:fillRect/>
          </a:stretch>
        </p:blipFill>
        <p:spPr>
          <a:xfrm>
            <a:off x="8439912" y="4498848"/>
            <a:ext cx="201168" cy="201168"/>
          </a:xfrm>
          <a:prstGeom prst="rect">
            <a:avLst/>
          </a:prstGeom>
        </p:spPr>
      </p:pic>
      <p:sp>
        <p:nvSpPr>
          <p:cNvPr id="25" name="Slide Number Placeholder 0"/>
          <p:cNvSpPr>
            <a:spLocks noGrp="1"/>
          </p:cNvSpPr>
          <p:nvPr>
            <p:ph type="sldNum" sz="quarter" idx="4294967295"/>
          </p:nvPr>
        </p:nvSpPr>
        <p:spPr>
          <a:xfrm>
            <a:off x="8092440" y="4773168"/>
            <a:ext cx="548640" cy="274320"/>
          </a:xfrm>
          <a:prstGeom prst="rect">
            <a:avLst/>
          </a:prstGeom>
          <a:extLst>
            <a:ext uri="{C572A759-6A51-4108-AA02-DFA0A04FC94B}">
              <ma14:wrappingTextBoxFlag xmlns:ma14="http://schemas.microsoft.com/office/mac/drawingml/2011/main" val="0"/>
            </a:ext>
          </a:extLst>
        </p:spPr>
        <p:txBody>
          <a:bodyPr/>
          <a:lstStyle>
            <a:lvl1pPr>
              <a:defRPr sz="850">
                <a:solidFill>
                  <a:srgbClr val="A3ADBB"/>
                </a:solidFill>
                <a:latin typeface="Poppins"/>
                <a:ea typeface="Poppins"/>
                <a:cs typeface="Poppin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02920" y="274320"/>
            <a:ext cx="5943600" cy="237744"/>
          </a:xfrm>
          <a:prstGeom prst="rect">
            <a:avLst/>
          </a:prstGeom>
          <a:noFill/>
          <a:ln/>
        </p:spPr>
        <p:txBody>
          <a:bodyPr wrap="square" lIns="0" tIns="0" rIns="0" bIns="0" rtlCol="0" anchor="ctr"/>
          <a:lstStyle/>
          <a:p>
            <a:pPr algn="l" indent="0" marL="0">
              <a:buNone/>
            </a:pPr>
            <a:r>
              <a:rPr lang="en-US" sz="1000" b="1" spc="150" kern="0" dirty="0">
                <a:solidFill>
                  <a:schemeClr val="accent1"/>
                </a:solidFill>
                <a:latin typeface="Poppins" pitchFamily="34" charset="0"/>
                <a:ea typeface="Poppins" pitchFamily="34" charset="-122"/>
                <a:cs typeface="Poppins" pitchFamily="34" charset="-120"/>
              </a:rPr>
              <a:t>Article 5  ·  Research purpose and findings</a:t>
            </a:r>
            <a:endParaRPr lang="en-US" sz="1000" dirty="0"/>
          </a:p>
        </p:txBody>
      </p:sp>
      <p:sp>
        <p:nvSpPr>
          <p:cNvPr id="3" name="Text 0"/>
          <p:cNvSpPr/>
          <p:nvPr>
            <p:ph idx="101" type="title" hasCustomPrompt="1"/>
          </p:nvPr>
        </p:nvSpPr>
        <p:spPr>
          <a:xfrm>
            <a:off x="502920" y="512064"/>
            <a:ext cx="8138160" cy="731520"/>
          </a:xfrm>
          <a:prstGeom prst="rect">
            <a:avLst/>
          </a:prstGeom>
          <a:noFill/>
          <a:ln/>
        </p:spPr>
        <p:txBody>
          <a:bodyPr wrap="square" lIns="0" tIns="0" rIns="0" bIns="0" rtlCol="0" anchor="ctr">
            <a:normAutofit/>
          </a:bodyPr>
          <a:lstStyle/>
          <a:p>
            <a:pPr algn="l" indent="0" marL="0">
              <a:buNone/>
            </a:pPr>
            <a:r>
              <a:rPr lang="en-US" sz="2600" b="1" dirty="0">
                <a:solidFill>
                  <a:schemeClr val="tx1"/>
                </a:solidFill>
                <a:latin typeface="Poppins" pitchFamily="34" charset="0"/>
                <a:ea typeface="Poppins" pitchFamily="34" charset="-122"/>
                <a:cs typeface="Poppins" pitchFamily="34" charset="-120"/>
              </a:rPr>
              <a:t>The Uneven Impact of Generative AI on Entrepreneurial Performance</a:t>
            </a:r>
            <a:endParaRPr lang="en-US" sz="2600" dirty="0"/>
          </a:p>
        </p:txBody>
      </p:sp>
      <p:sp>
        <p:nvSpPr>
          <p:cNvPr id="4" name="progress dot 1"/>
          <p:cNvSpPr/>
          <p:nvPr/>
        </p:nvSpPr>
        <p:spPr>
          <a:xfrm>
            <a:off x="7808976" y="342900"/>
            <a:ext cx="100584" cy="100584"/>
          </a:xfrm>
          <a:prstGeom prst="ellipse">
            <a:avLst/>
          </a:prstGeom>
          <a:solidFill>
            <a:srgbClr val="BFE6E0"/>
          </a:solidFill>
          <a:ln w="12700">
            <a:solidFill>
              <a:srgbClr val="BFE6E0"/>
            </a:solidFill>
            <a:prstDash val="solid"/>
          </a:ln>
        </p:spPr>
      </p:sp>
      <p:sp>
        <p:nvSpPr>
          <p:cNvPr id="5" name="progress dot 2"/>
          <p:cNvSpPr/>
          <p:nvPr/>
        </p:nvSpPr>
        <p:spPr>
          <a:xfrm>
            <a:off x="7991856" y="342900"/>
            <a:ext cx="100584" cy="100584"/>
          </a:xfrm>
          <a:prstGeom prst="ellipse">
            <a:avLst/>
          </a:prstGeom>
          <a:solidFill>
            <a:srgbClr val="BFE6E0"/>
          </a:solidFill>
          <a:ln w="12700">
            <a:solidFill>
              <a:srgbClr val="BFE6E0"/>
            </a:solidFill>
            <a:prstDash val="solid"/>
          </a:ln>
        </p:spPr>
      </p:sp>
      <p:sp>
        <p:nvSpPr>
          <p:cNvPr id="6" name="progress dot 3"/>
          <p:cNvSpPr/>
          <p:nvPr/>
        </p:nvSpPr>
        <p:spPr>
          <a:xfrm>
            <a:off x="8174736" y="342900"/>
            <a:ext cx="100584" cy="100584"/>
          </a:xfrm>
          <a:prstGeom prst="ellipse">
            <a:avLst/>
          </a:prstGeom>
          <a:solidFill>
            <a:srgbClr val="BFE6E0"/>
          </a:solidFill>
          <a:ln w="12700">
            <a:solidFill>
              <a:srgbClr val="BFE6E0"/>
            </a:solidFill>
            <a:prstDash val="solid"/>
          </a:ln>
        </p:spPr>
      </p:sp>
      <p:sp>
        <p:nvSpPr>
          <p:cNvPr id="7" name="progress dot 4"/>
          <p:cNvSpPr/>
          <p:nvPr/>
        </p:nvSpPr>
        <p:spPr>
          <a:xfrm>
            <a:off x="8357616" y="342900"/>
            <a:ext cx="100584" cy="100584"/>
          </a:xfrm>
          <a:prstGeom prst="ellipse">
            <a:avLst/>
          </a:prstGeom>
          <a:solidFill>
            <a:srgbClr val="2E8B86"/>
          </a:solidFill>
          <a:ln w="12700">
            <a:solidFill>
              <a:srgbClr val="2E8B86"/>
            </a:solidFill>
            <a:prstDash val="solid"/>
          </a:ln>
        </p:spPr>
      </p:sp>
      <p:sp>
        <p:nvSpPr>
          <p:cNvPr id="8" name="progress dot 5"/>
          <p:cNvSpPr/>
          <p:nvPr/>
        </p:nvSpPr>
        <p:spPr>
          <a:xfrm>
            <a:off x="8540496" y="342900"/>
            <a:ext cx="100584" cy="100584"/>
          </a:xfrm>
          <a:prstGeom prst="ellipse">
            <a:avLst/>
          </a:prstGeom>
          <a:solidFill>
            <a:srgbClr val="E3E8EE"/>
          </a:solidFill>
          <a:ln w="12700">
            <a:solidFill>
              <a:srgbClr val="E3E8EE"/>
            </a:solidFill>
            <a:prstDash val="solid"/>
          </a:ln>
        </p:spPr>
      </p:sp>
      <p:sp>
        <p:nvSpPr>
          <p:cNvPr id="9" name="progress label"/>
          <p:cNvSpPr txBox="1"/>
          <p:nvPr/>
        </p:nvSpPr>
        <p:spPr>
          <a:xfrm>
            <a:off x="7077456" y="274320"/>
            <a:ext cx="640080" cy="237744"/>
          </a:xfrm>
          <a:prstGeom prst="rect">
            <a:avLst/>
          </a:prstGeom>
          <a:noFill/>
          <a:ln/>
        </p:spPr>
        <p:txBody>
          <a:bodyPr wrap="square" lIns="0" tIns="0" rIns="0" bIns="0" rtlCol="0" anchor="ctr"/>
          <a:lstStyle/>
          <a:p>
            <a:pPr algn="r" indent="0" marL="0">
              <a:buNone/>
            </a:pPr>
            <a:r>
              <a:rPr lang="en-US" sz="800" dirty="0">
                <a:solidFill>
                  <a:srgbClr val="A3ADBB"/>
                </a:solidFill>
                <a:latin typeface="Poppins" pitchFamily="34" charset="0"/>
                <a:ea typeface="Poppins" pitchFamily="34" charset="-122"/>
                <a:cs typeface="Poppins" pitchFamily="34" charset="-120"/>
              </a:rPr>
              <a:t>4 / 5</a:t>
            </a:r>
            <a:endParaRPr lang="en-US" sz="800" dirty="0"/>
          </a:p>
        </p:txBody>
      </p:sp>
      <p:sp>
        <p:nvSpPr>
          <p:cNvPr id="10" name="icon circle"/>
          <p:cNvSpPr/>
          <p:nvPr/>
        </p:nvSpPr>
        <p:spPr>
          <a:xfrm>
            <a:off x="502920" y="1481328"/>
            <a:ext cx="365760" cy="365760"/>
          </a:xfrm>
          <a:prstGeom prst="ellipse">
            <a:avLst/>
          </a:prstGeom>
          <a:solidFill>
            <a:srgbClr val="F3F5F8"/>
          </a:solidFill>
          <a:ln w="12700">
            <a:solidFill>
              <a:srgbClr val="F3F5F8"/>
            </a:solidFill>
            <a:prstDash val="solid"/>
          </a:ln>
        </p:spPr>
      </p:sp>
      <p:pic>
        <p:nvPicPr>
          <p:cNvPr id="11" name="icon FiMapPin" descr="preencoded.png">    </p:cNvPr>
          <p:cNvPicPr>
            <a:picLocks noChangeAspect="1"/>
          </p:cNvPicPr>
          <p:nvPr/>
        </p:nvPicPr>
        <p:blipFill>
          <a:blip r:embed="rId1"/>
          <a:stretch>
            <a:fillRect/>
          </a:stretch>
        </p:blipFill>
        <p:spPr>
          <a:xfrm>
            <a:off x="585216" y="1563624"/>
            <a:ext cx="201168" cy="201168"/>
          </a:xfrm>
          <a:prstGeom prst="rect">
            <a:avLst/>
          </a:prstGeom>
        </p:spPr>
      </p:pic>
      <p:sp>
        <p:nvSpPr>
          <p:cNvPr id="12" name="fact Setting"/>
          <p:cNvSpPr txBox="1"/>
          <p:nvPr/>
        </p:nvSpPr>
        <p:spPr>
          <a:xfrm>
            <a:off x="1005840" y="1435608"/>
            <a:ext cx="3246120" cy="539496"/>
          </a:xfrm>
          <a:prstGeom prst="rect">
            <a:avLst/>
          </a:prstGeom>
          <a:noFill/>
          <a:ln/>
        </p:spPr>
        <p:txBody>
          <a:bodyPr wrap="square" lIns="0" tIns="0" rIns="0" bIns="0" rtlCol="0" anchor="t"/>
          <a:lstStyle/>
          <a:p>
            <a:pPr indent="0" marL="0">
              <a:buNone/>
            </a:pPr>
            <a:r>
              <a:rPr lang="en-US" sz="1100" b="1" dirty="0">
                <a:solidFill>
                  <a:schemeClr val="tx1"/>
                </a:solidFill>
                <a:latin typeface="Poppins" pitchFamily="34" charset="0"/>
                <a:ea typeface="Poppins" pitchFamily="34" charset="-122"/>
                <a:cs typeface="Poppins" pitchFamily="34" charset="-120"/>
              </a:rPr>
              <a:t>Setting</a:t>
            </a:r>
            <a:endParaRPr lang="en-US" sz="1100" dirty="0"/>
          </a:p>
          <a:p>
            <a:pPr indent="0" marL="0">
              <a:buNone/>
            </a:pPr>
            <a:r>
              <a:rPr lang="en-US" sz="1000" dirty="0">
                <a:solidFill>
                  <a:schemeClr val="tx2"/>
                </a:solidFill>
                <a:latin typeface="Poppins" pitchFamily="34" charset="0"/>
                <a:ea typeface="Poppins" pitchFamily="34" charset="-122"/>
                <a:cs typeface="Poppins" pitchFamily="34" charset="-120"/>
              </a:rPr>
              <a:t>Small-business entrepreneurs in Kenya</a:t>
            </a:r>
            <a:endParaRPr lang="en-US" sz="1100" dirty="0"/>
          </a:p>
        </p:txBody>
      </p:sp>
      <p:sp>
        <p:nvSpPr>
          <p:cNvPr id="13" name="icon circle"/>
          <p:cNvSpPr/>
          <p:nvPr/>
        </p:nvSpPr>
        <p:spPr>
          <a:xfrm>
            <a:off x="502920" y="2066544"/>
            <a:ext cx="365760" cy="365760"/>
          </a:xfrm>
          <a:prstGeom prst="ellipse">
            <a:avLst/>
          </a:prstGeom>
          <a:solidFill>
            <a:srgbClr val="F3F5F8"/>
          </a:solidFill>
          <a:ln w="12700">
            <a:solidFill>
              <a:srgbClr val="F3F5F8"/>
            </a:solidFill>
            <a:prstDash val="solid"/>
          </a:ln>
        </p:spPr>
      </p:sp>
      <p:pic>
        <p:nvPicPr>
          <p:cNvPr id="14" name="icon FiMessageSquare" descr="preencoded.png">    </p:cNvPr>
          <p:cNvPicPr>
            <a:picLocks noChangeAspect="1"/>
          </p:cNvPicPr>
          <p:nvPr/>
        </p:nvPicPr>
        <p:blipFill>
          <a:blip r:embed="rId2"/>
          <a:stretch>
            <a:fillRect/>
          </a:stretch>
        </p:blipFill>
        <p:spPr>
          <a:xfrm>
            <a:off x="585216" y="2148840"/>
            <a:ext cx="201168" cy="201168"/>
          </a:xfrm>
          <a:prstGeom prst="rect">
            <a:avLst/>
          </a:prstGeom>
        </p:spPr>
      </p:pic>
      <p:sp>
        <p:nvSpPr>
          <p:cNvPr id="15" name="fact Intervention"/>
          <p:cNvSpPr txBox="1"/>
          <p:nvPr/>
        </p:nvSpPr>
        <p:spPr>
          <a:xfrm>
            <a:off x="1005840" y="2020824"/>
            <a:ext cx="3246120" cy="539496"/>
          </a:xfrm>
          <a:prstGeom prst="rect">
            <a:avLst/>
          </a:prstGeom>
          <a:noFill/>
          <a:ln/>
        </p:spPr>
        <p:txBody>
          <a:bodyPr wrap="square" lIns="0" tIns="0" rIns="0" bIns="0" rtlCol="0" anchor="t"/>
          <a:lstStyle/>
          <a:p>
            <a:pPr indent="0" marL="0">
              <a:buNone/>
            </a:pPr>
            <a:r>
              <a:rPr lang="en-US" sz="1100" b="1" dirty="0">
                <a:solidFill>
                  <a:schemeClr val="tx1"/>
                </a:solidFill>
                <a:latin typeface="Poppins" pitchFamily="34" charset="0"/>
                <a:ea typeface="Poppins" pitchFamily="34" charset="-122"/>
                <a:cs typeface="Poppins" pitchFamily="34" charset="-120"/>
              </a:rPr>
              <a:t>Intervention</a:t>
            </a:r>
            <a:endParaRPr lang="en-US" sz="1100" dirty="0"/>
          </a:p>
          <a:p>
            <a:pPr indent="0" marL="0">
              <a:buNone/>
            </a:pPr>
            <a:r>
              <a:rPr lang="en-US" sz="1000" dirty="0">
                <a:solidFill>
                  <a:schemeClr val="tx2"/>
                </a:solidFill>
                <a:latin typeface="Poppins" pitchFamily="34" charset="0"/>
                <a:ea typeface="Poppins" pitchFamily="34" charset="-122"/>
                <a:cs typeface="Poppins" pitchFamily="34" charset="-120"/>
              </a:rPr>
              <a:t>GPT-4-powered AI business assistant giving business advice</a:t>
            </a:r>
            <a:endParaRPr lang="en-US" sz="1100" dirty="0"/>
          </a:p>
        </p:txBody>
      </p:sp>
      <p:sp>
        <p:nvSpPr>
          <p:cNvPr id="16" name="icon circle"/>
          <p:cNvSpPr/>
          <p:nvPr/>
        </p:nvSpPr>
        <p:spPr>
          <a:xfrm>
            <a:off x="502920" y="2651760"/>
            <a:ext cx="365760" cy="365760"/>
          </a:xfrm>
          <a:prstGeom prst="ellipse">
            <a:avLst/>
          </a:prstGeom>
          <a:solidFill>
            <a:srgbClr val="F3F5F8"/>
          </a:solidFill>
          <a:ln w="12700">
            <a:solidFill>
              <a:srgbClr val="F3F5F8"/>
            </a:solidFill>
            <a:prstDash val="solid"/>
          </a:ln>
        </p:spPr>
      </p:sp>
      <p:pic>
        <p:nvPicPr>
          <p:cNvPr id="17" name="icon FiDollarSign" descr="preencoded.png">    </p:cNvPr>
          <p:cNvPicPr>
            <a:picLocks noChangeAspect="1"/>
          </p:cNvPicPr>
          <p:nvPr/>
        </p:nvPicPr>
        <p:blipFill>
          <a:blip r:embed="rId3"/>
          <a:stretch>
            <a:fillRect/>
          </a:stretch>
        </p:blipFill>
        <p:spPr>
          <a:xfrm>
            <a:off x="585216" y="2734056"/>
            <a:ext cx="201168" cy="201168"/>
          </a:xfrm>
          <a:prstGeom prst="rect">
            <a:avLst/>
          </a:prstGeom>
        </p:spPr>
      </p:pic>
      <p:sp>
        <p:nvSpPr>
          <p:cNvPr id="18" name="fact Outcomes"/>
          <p:cNvSpPr txBox="1"/>
          <p:nvPr/>
        </p:nvSpPr>
        <p:spPr>
          <a:xfrm>
            <a:off x="1005840" y="2606040"/>
            <a:ext cx="3246120" cy="539496"/>
          </a:xfrm>
          <a:prstGeom prst="rect">
            <a:avLst/>
          </a:prstGeom>
          <a:noFill/>
          <a:ln/>
        </p:spPr>
        <p:txBody>
          <a:bodyPr wrap="square" lIns="0" tIns="0" rIns="0" bIns="0" rtlCol="0" anchor="t"/>
          <a:lstStyle/>
          <a:p>
            <a:pPr indent="0" marL="0">
              <a:buNone/>
            </a:pPr>
            <a:r>
              <a:rPr lang="en-US" sz="1100" b="1" dirty="0">
                <a:solidFill>
                  <a:schemeClr val="tx1"/>
                </a:solidFill>
                <a:latin typeface="Poppins" pitchFamily="34" charset="0"/>
                <a:ea typeface="Poppins" pitchFamily="34" charset="-122"/>
                <a:cs typeface="Poppins" pitchFamily="34" charset="-120"/>
              </a:rPr>
              <a:t>Outcomes</a:t>
            </a:r>
            <a:endParaRPr lang="en-US" sz="1100" dirty="0"/>
          </a:p>
          <a:p>
            <a:pPr indent="0" marL="0">
              <a:buNone/>
            </a:pPr>
            <a:r>
              <a:rPr lang="en-US" sz="1000" dirty="0">
                <a:solidFill>
                  <a:schemeClr val="tx2"/>
                </a:solidFill>
                <a:latin typeface="Poppins" pitchFamily="34" charset="0"/>
                <a:ea typeface="Poppins" pitchFamily="34" charset="-122"/>
                <a:cs typeface="Poppins" pitchFamily="34" charset="-120"/>
              </a:rPr>
              <a:t>Revenue and profit</a:t>
            </a:r>
            <a:endParaRPr lang="en-US" sz="1100" dirty="0"/>
          </a:p>
        </p:txBody>
      </p:sp>
      <p:sp>
        <p:nvSpPr>
          <p:cNvPr id="19" name="main effect card"/>
          <p:cNvSpPr/>
          <p:nvPr/>
        </p:nvSpPr>
        <p:spPr>
          <a:xfrm>
            <a:off x="502920" y="3291840"/>
            <a:ext cx="3749040" cy="1097280"/>
          </a:xfrm>
          <a:prstGeom prst="roundRect">
            <a:avLst>
              <a:gd name="adj" fmla="val 10000"/>
            </a:avLst>
          </a:prstGeom>
          <a:solidFill>
            <a:srgbClr val="1B2A4A"/>
          </a:solidFill>
          <a:ln w="12700">
            <a:solidFill>
              <a:srgbClr val="1B2A4A"/>
            </a:solidFill>
            <a:prstDash val="solid"/>
          </a:ln>
        </p:spPr>
      </p:sp>
      <p:sp>
        <p:nvSpPr>
          <p:cNvPr id="20" name="tag finding"/>
          <p:cNvSpPr/>
          <p:nvPr/>
        </p:nvSpPr>
        <p:spPr>
          <a:xfrm>
            <a:off x="704088" y="3438144"/>
            <a:ext cx="1143000" cy="201168"/>
          </a:xfrm>
          <a:prstGeom prst="roundRect">
            <a:avLst>
              <a:gd name="adj" fmla="val 50000"/>
            </a:avLst>
          </a:prstGeom>
          <a:solidFill>
            <a:srgbClr val="BFE6E0"/>
          </a:solidFill>
          <a:ln w="12700">
            <a:solidFill>
              <a:srgbClr val="BFE6E0"/>
            </a:solidFill>
            <a:prstDash val="solid"/>
          </a:ln>
        </p:spPr>
      </p:sp>
      <p:sp>
        <p:nvSpPr>
          <p:cNvPr id="21" name="tag text"/>
          <p:cNvSpPr txBox="1"/>
          <p:nvPr/>
        </p:nvSpPr>
        <p:spPr>
          <a:xfrm>
            <a:off x="704088" y="3438144"/>
            <a:ext cx="1143000" cy="201168"/>
          </a:xfrm>
          <a:prstGeom prst="rect">
            <a:avLst/>
          </a:prstGeom>
          <a:noFill/>
          <a:ln/>
        </p:spPr>
        <p:txBody>
          <a:bodyPr wrap="square" lIns="0" tIns="0" rIns="0" bIns="0" rtlCol="0" anchor="ctr"/>
          <a:lstStyle/>
          <a:p>
            <a:pPr algn="ctr" indent="0" marL="0">
              <a:buNone/>
            </a:pPr>
            <a:r>
              <a:rPr lang="en-US" sz="750" b="1" spc="150" kern="0" dirty="0">
                <a:solidFill>
                  <a:srgbClr val="1B2A4A"/>
                </a:solidFill>
                <a:latin typeface="Poppins" pitchFamily="34" charset="0"/>
                <a:ea typeface="Poppins" pitchFamily="34" charset="-122"/>
                <a:cs typeface="Poppins" pitchFamily="34" charset="-120"/>
              </a:rPr>
              <a:t>FINDING</a:t>
            </a:r>
            <a:endParaRPr lang="en-US" sz="750" dirty="0"/>
          </a:p>
        </p:txBody>
      </p:sp>
      <p:sp>
        <p:nvSpPr>
          <p:cNvPr id="22" name="main head"/>
          <p:cNvSpPr txBox="1"/>
          <p:nvPr/>
        </p:nvSpPr>
        <p:spPr>
          <a:xfrm>
            <a:off x="704088" y="3657600"/>
            <a:ext cx="2468880" cy="201168"/>
          </a:xfrm>
          <a:prstGeom prst="rect">
            <a:avLst/>
          </a:prstGeom>
          <a:noFill/>
          <a:ln/>
        </p:spPr>
        <p:txBody>
          <a:bodyPr wrap="square" lIns="0" tIns="0" rIns="0" bIns="0" rtlCol="0" anchor="ctr"/>
          <a:lstStyle/>
          <a:p>
            <a:pPr indent="0" marL="0">
              <a:buNone/>
            </a:pPr>
            <a:r>
              <a:rPr lang="en-US" sz="900" b="1" spc="100" kern="0" dirty="0">
                <a:solidFill>
                  <a:srgbClr val="BFE6E0"/>
                </a:solidFill>
                <a:latin typeface="Poppins" pitchFamily="34" charset="0"/>
                <a:ea typeface="Poppins" pitchFamily="34" charset="-122"/>
                <a:cs typeface="Poppins" pitchFamily="34" charset="-120"/>
              </a:rPr>
              <a:t>Average effect</a:t>
            </a:r>
            <a:endParaRPr lang="en-US" sz="900" dirty="0"/>
          </a:p>
        </p:txBody>
      </p:sp>
      <p:sp>
        <p:nvSpPr>
          <p:cNvPr id="23" name="main body"/>
          <p:cNvSpPr txBox="1"/>
          <p:nvPr/>
        </p:nvSpPr>
        <p:spPr>
          <a:xfrm>
            <a:off x="704088" y="3840480"/>
            <a:ext cx="2468880" cy="512064"/>
          </a:xfrm>
          <a:prstGeom prst="rect">
            <a:avLst/>
          </a:prstGeom>
          <a:noFill/>
          <a:ln/>
        </p:spPr>
        <p:txBody>
          <a:bodyPr wrap="square" lIns="0" tIns="0" rIns="0" bIns="0" rtlCol="0" anchor="t"/>
          <a:lstStyle/>
          <a:p>
            <a:pPr indent="0" marL="0">
              <a:buNone/>
            </a:pPr>
            <a:r>
              <a:rPr lang="en-US" sz="900" dirty="0">
                <a:solidFill>
                  <a:srgbClr val="FFFFFF"/>
                </a:solidFill>
                <a:latin typeface="Poppins" pitchFamily="34" charset="0"/>
                <a:ea typeface="Poppins" pitchFamily="34" charset="-122"/>
                <a:cs typeface="Poppins" pitchFamily="34" charset="-120"/>
              </a:rPr>
              <a:t>The null hypothesis of no average treatment effect on revenue and profits could not be rejected.</a:t>
            </a:r>
            <a:endParaRPr lang="en-US" sz="900" dirty="0"/>
          </a:p>
        </p:txBody>
      </p:sp>
      <p:pic>
        <p:nvPicPr>
          <p:cNvPr id="24" name="mascot with phone" descr="preencoded.png">    </p:cNvPr>
          <p:cNvPicPr>
            <a:picLocks noChangeAspect="1"/>
          </p:cNvPicPr>
          <p:nvPr/>
        </p:nvPicPr>
        <p:blipFill>
          <a:blip r:embed="rId4"/>
          <a:stretch>
            <a:fillRect/>
          </a:stretch>
        </p:blipFill>
        <p:spPr>
          <a:xfrm>
            <a:off x="3154680" y="3456432"/>
            <a:ext cx="960120" cy="822960"/>
          </a:xfrm>
          <a:prstGeom prst="rect">
            <a:avLst/>
          </a:prstGeom>
        </p:spPr>
      </p:pic>
      <p:sp>
        <p:nvSpPr>
          <p:cNvPr id="25" name="column divider"/>
          <p:cNvSpPr/>
          <p:nvPr/>
        </p:nvSpPr>
        <p:spPr>
          <a:xfrm>
            <a:off x="4480560" y="1481328"/>
            <a:ext cx="0" cy="2834640"/>
          </a:xfrm>
          <a:prstGeom prst="line">
            <a:avLst/>
          </a:prstGeom>
          <a:noFill/>
          <a:ln w="9525">
            <a:solidFill>
              <a:srgbClr val="E3E8EE"/>
            </a:solidFill>
            <a:prstDash val="solid"/>
          </a:ln>
        </p:spPr>
      </p:sp>
      <p:sp>
        <p:nvSpPr>
          <p:cNvPr id="26" name="tag finding"/>
          <p:cNvSpPr/>
          <p:nvPr/>
        </p:nvSpPr>
        <p:spPr>
          <a:xfrm>
            <a:off x="4709160" y="1481328"/>
            <a:ext cx="1143000" cy="201168"/>
          </a:xfrm>
          <a:prstGeom prst="roundRect">
            <a:avLst>
              <a:gd name="adj" fmla="val 50000"/>
            </a:avLst>
          </a:prstGeom>
          <a:solidFill>
            <a:srgbClr val="BFE6E0"/>
          </a:solidFill>
          <a:ln w="12700">
            <a:solidFill>
              <a:srgbClr val="BFE6E0"/>
            </a:solidFill>
            <a:prstDash val="solid"/>
          </a:ln>
        </p:spPr>
      </p:sp>
      <p:sp>
        <p:nvSpPr>
          <p:cNvPr id="27" name="tag text"/>
          <p:cNvSpPr txBox="1"/>
          <p:nvPr/>
        </p:nvSpPr>
        <p:spPr>
          <a:xfrm>
            <a:off x="4709160" y="1481328"/>
            <a:ext cx="1143000" cy="201168"/>
          </a:xfrm>
          <a:prstGeom prst="rect">
            <a:avLst/>
          </a:prstGeom>
          <a:noFill/>
          <a:ln/>
        </p:spPr>
        <p:txBody>
          <a:bodyPr wrap="square" lIns="0" tIns="0" rIns="0" bIns="0" rtlCol="0" anchor="ctr"/>
          <a:lstStyle/>
          <a:p>
            <a:pPr algn="ctr" indent="0" marL="0">
              <a:buNone/>
            </a:pPr>
            <a:r>
              <a:rPr lang="en-US" sz="750" b="1" spc="150" kern="0" dirty="0">
                <a:solidFill>
                  <a:srgbClr val="1B2A4A"/>
                </a:solidFill>
                <a:latin typeface="Poppins" pitchFamily="34" charset="0"/>
                <a:ea typeface="Poppins" pitchFamily="34" charset="-122"/>
                <a:cs typeface="Poppins" pitchFamily="34" charset="-120"/>
              </a:rPr>
              <a:t>FINDING</a:t>
            </a:r>
            <a:endParaRPr lang="en-US" sz="750" dirty="0"/>
          </a:p>
        </p:txBody>
      </p:sp>
      <p:sp>
        <p:nvSpPr>
          <p:cNvPr id="28" name="subgroup head"/>
          <p:cNvSpPr txBox="1"/>
          <p:nvPr/>
        </p:nvSpPr>
        <p:spPr>
          <a:xfrm>
            <a:off x="4709160" y="1755648"/>
            <a:ext cx="2834640" cy="256032"/>
          </a:xfrm>
          <a:prstGeom prst="rect">
            <a:avLst/>
          </a:prstGeom>
          <a:noFill/>
          <a:ln/>
        </p:spPr>
        <p:txBody>
          <a:bodyPr wrap="square" lIns="0" tIns="0" rIns="0" bIns="0" rtlCol="0" anchor="ctr"/>
          <a:lstStyle/>
          <a:p>
            <a:pPr indent="0" marL="0">
              <a:buNone/>
            </a:pPr>
            <a:r>
              <a:rPr lang="en-US" sz="1150" b="1" dirty="0">
                <a:solidFill>
                  <a:schemeClr val="tx1"/>
                </a:solidFill>
                <a:latin typeface="Poppins" pitchFamily="34" charset="0"/>
                <a:ea typeface="Poppins" pitchFamily="34" charset="-122"/>
                <a:cs typeface="Poppins" pitchFamily="34" charset="-120"/>
              </a:rPr>
              <a:t>By baseline performance</a:t>
            </a:r>
            <a:endParaRPr lang="en-US" sz="1150" dirty="0"/>
          </a:p>
        </p:txBody>
      </p:sp>
      <p:pic>
        <p:nvPicPr>
          <p:cNvPr id="29" name="entrepreneur with phone" descr="preencoded.png">    </p:cNvPr>
          <p:cNvPicPr>
            <a:picLocks noChangeAspect="1"/>
          </p:cNvPicPr>
          <p:nvPr/>
        </p:nvPicPr>
        <p:blipFill>
          <a:blip r:embed="rId5"/>
          <a:stretch>
            <a:fillRect/>
          </a:stretch>
        </p:blipFill>
        <p:spPr>
          <a:xfrm>
            <a:off x="7680960" y="1426464"/>
            <a:ext cx="914400" cy="960120"/>
          </a:xfrm>
          <a:prstGeom prst="rect">
            <a:avLst/>
          </a:prstGeom>
        </p:spPr>
      </p:pic>
      <p:sp>
        <p:nvSpPr>
          <p:cNvPr id="30" name="zero line"/>
          <p:cNvSpPr/>
          <p:nvPr/>
        </p:nvSpPr>
        <p:spPr>
          <a:xfrm>
            <a:off x="6126480" y="2286000"/>
            <a:ext cx="0" cy="1005840"/>
          </a:xfrm>
          <a:prstGeom prst="line">
            <a:avLst/>
          </a:prstGeom>
          <a:noFill/>
          <a:ln w="9525">
            <a:solidFill>
              <a:srgbClr val="A3ADBB"/>
            </a:solidFill>
            <a:prstDash val="dash"/>
          </a:ln>
        </p:spPr>
      </p:sp>
      <p:sp>
        <p:nvSpPr>
          <p:cNvPr id="31" name="bar label 0"/>
          <p:cNvSpPr txBox="1"/>
          <p:nvPr/>
        </p:nvSpPr>
        <p:spPr>
          <a:xfrm>
            <a:off x="4709160" y="2093976"/>
            <a:ext cx="3931920" cy="219456"/>
          </a:xfrm>
          <a:prstGeom prst="rect">
            <a:avLst/>
          </a:prstGeom>
          <a:noFill/>
          <a:ln/>
        </p:spPr>
        <p:txBody>
          <a:bodyPr wrap="square" lIns="0" tIns="0" rIns="0" bIns="0" rtlCol="0" anchor="ctr"/>
          <a:lstStyle/>
          <a:p>
            <a:pPr indent="0" marL="0">
              <a:buNone/>
            </a:pPr>
            <a:r>
              <a:rPr lang="en-US" sz="900" b="1" dirty="0">
                <a:solidFill>
                  <a:schemeClr val="tx1"/>
                </a:solidFill>
                <a:latin typeface="Poppins" pitchFamily="34" charset="0"/>
                <a:ea typeface="Poppins" pitchFamily="34" charset="-122"/>
                <a:cs typeface="Poppins" pitchFamily="34" charset="-120"/>
              </a:rPr>
              <a:t>Low performers  </a:t>
            </a:r>
            <a:pPr indent="0" marL="0">
              <a:buNone/>
            </a:pPr>
            <a:r>
              <a:rPr lang="en-US" sz="900" b="1" dirty="0">
                <a:solidFill>
                  <a:srgbClr val="6B7280"/>
                </a:solidFill>
                <a:latin typeface="Poppins" pitchFamily="34" charset="0"/>
                <a:ea typeface="Poppins" pitchFamily="34" charset="-122"/>
                <a:cs typeface="Poppins" pitchFamily="34" charset="-120"/>
              </a:rPr>
              <a:t>nearly 10% worse</a:t>
            </a:r>
            <a:endParaRPr lang="en-US" sz="900" dirty="0"/>
          </a:p>
        </p:txBody>
      </p:sp>
      <p:sp>
        <p:nvSpPr>
          <p:cNvPr id="32" name="bar 0"/>
          <p:cNvSpPr/>
          <p:nvPr/>
        </p:nvSpPr>
        <p:spPr>
          <a:xfrm>
            <a:off x="5294986" y="2340864"/>
            <a:ext cx="831494" cy="219456"/>
          </a:xfrm>
          <a:prstGeom prst="rect">
            <a:avLst/>
          </a:prstGeom>
          <a:solidFill>
            <a:srgbClr val="A3ADBB"/>
          </a:solidFill>
          <a:ln w="12700">
            <a:solidFill>
              <a:srgbClr val="A3ADBB"/>
            </a:solidFill>
            <a:prstDash val="solid"/>
          </a:ln>
        </p:spPr>
      </p:sp>
      <p:sp>
        <p:nvSpPr>
          <p:cNvPr id="33" name="bar label 1"/>
          <p:cNvSpPr txBox="1"/>
          <p:nvPr/>
        </p:nvSpPr>
        <p:spPr>
          <a:xfrm>
            <a:off x="4709160" y="2642616"/>
            <a:ext cx="3931920" cy="219456"/>
          </a:xfrm>
          <a:prstGeom prst="rect">
            <a:avLst/>
          </a:prstGeom>
          <a:noFill/>
          <a:ln/>
        </p:spPr>
        <p:txBody>
          <a:bodyPr wrap="square" lIns="0" tIns="0" rIns="0" bIns="0" rtlCol="0" anchor="ctr"/>
          <a:lstStyle/>
          <a:p>
            <a:pPr indent="0" marL="0">
              <a:buNone/>
            </a:pPr>
            <a:r>
              <a:rPr lang="en-US" sz="900" b="1" dirty="0">
                <a:solidFill>
                  <a:schemeClr val="tx1"/>
                </a:solidFill>
                <a:latin typeface="Poppins" pitchFamily="34" charset="0"/>
                <a:ea typeface="Poppins" pitchFamily="34" charset="-122"/>
                <a:cs typeface="Poppins" pitchFamily="34" charset="-120"/>
              </a:rPr>
              <a:t>High performers  </a:t>
            </a:r>
            <a:pPr indent="0" marL="0">
              <a:buNone/>
            </a:pPr>
            <a:r>
              <a:rPr lang="en-US" sz="900" b="1" dirty="0">
                <a:solidFill>
                  <a:srgbClr val="2E8B86"/>
                </a:solidFill>
                <a:latin typeface="Poppins" pitchFamily="34" charset="0"/>
                <a:ea typeface="Poppins" pitchFamily="34" charset="-122"/>
                <a:cs typeface="Poppins" pitchFamily="34" charset="-120"/>
              </a:rPr>
              <a:t>may have benefited by more than 15%</a:t>
            </a:r>
            <a:endParaRPr lang="en-US" sz="900" dirty="0"/>
          </a:p>
        </p:txBody>
      </p:sp>
      <p:sp>
        <p:nvSpPr>
          <p:cNvPr id="34" name="bar 1"/>
          <p:cNvSpPr/>
          <p:nvPr/>
        </p:nvSpPr>
        <p:spPr>
          <a:xfrm>
            <a:off x="6126480" y="2889504"/>
            <a:ext cx="1247242" cy="219456"/>
          </a:xfrm>
          <a:prstGeom prst="rect">
            <a:avLst/>
          </a:prstGeom>
          <a:solidFill>
            <a:srgbClr val="2E8B86"/>
          </a:solidFill>
          <a:ln w="12700">
            <a:solidFill>
              <a:srgbClr val="2E8B86"/>
            </a:solidFill>
            <a:prstDash val="solid"/>
          </a:ln>
        </p:spPr>
      </p:sp>
      <p:sp>
        <p:nvSpPr>
          <p:cNvPr id="35" name="bar note"/>
          <p:cNvSpPr txBox="1"/>
          <p:nvPr/>
        </p:nvSpPr>
        <p:spPr>
          <a:xfrm>
            <a:off x="4709160" y="3236976"/>
            <a:ext cx="3931920" cy="164592"/>
          </a:xfrm>
          <a:prstGeom prst="rect">
            <a:avLst/>
          </a:prstGeom>
          <a:noFill/>
          <a:ln/>
        </p:spPr>
        <p:txBody>
          <a:bodyPr wrap="square" lIns="0" tIns="0" rIns="0" bIns="0" rtlCol="0" anchor="ctr"/>
          <a:lstStyle/>
          <a:p>
            <a:pPr algn="r" indent="0" marL="0">
              <a:buNone/>
            </a:pPr>
            <a:r>
              <a:rPr lang="en-US" sz="700" dirty="0">
                <a:solidFill>
                  <a:srgbClr val="A3ADBB"/>
                </a:solidFill>
                <a:latin typeface="Poppins" pitchFamily="34" charset="0"/>
                <a:ea typeface="Poppins" pitchFamily="34" charset="-122"/>
                <a:cs typeface="Poppins" pitchFamily="34" charset="-120"/>
              </a:rPr>
              <a:t>Bar lengths are illustrative</a:t>
            </a:r>
            <a:endParaRPr lang="en-US" sz="700" dirty="0"/>
          </a:p>
        </p:txBody>
      </p:sp>
      <p:sp>
        <p:nvSpPr>
          <p:cNvPr id="36" name="divider"/>
          <p:cNvSpPr/>
          <p:nvPr/>
        </p:nvSpPr>
        <p:spPr>
          <a:xfrm>
            <a:off x="4709160" y="3364992"/>
            <a:ext cx="3931920" cy="0"/>
          </a:xfrm>
          <a:prstGeom prst="line">
            <a:avLst/>
          </a:prstGeom>
          <a:noFill/>
          <a:ln w="9525">
            <a:solidFill>
              <a:srgbClr val="E3E8EE"/>
            </a:solidFill>
            <a:prstDash val="solid"/>
          </a:ln>
        </p:spPr>
      </p:sp>
      <p:pic>
        <p:nvPicPr>
          <p:cNvPr id="37" name="icon FiMessageCircle" descr="preencoded.png">    </p:cNvPr>
          <p:cNvPicPr>
            <a:picLocks noChangeAspect="1"/>
          </p:cNvPicPr>
          <p:nvPr/>
        </p:nvPicPr>
        <p:blipFill>
          <a:blip r:embed="rId6"/>
          <a:stretch>
            <a:fillRect/>
          </a:stretch>
        </p:blipFill>
        <p:spPr>
          <a:xfrm>
            <a:off x="4709160" y="3474720"/>
            <a:ext cx="219456" cy="219456"/>
          </a:xfrm>
          <a:prstGeom prst="rect">
            <a:avLst/>
          </a:prstGeom>
        </p:spPr>
      </p:pic>
      <p:sp>
        <p:nvSpPr>
          <p:cNvPr id="38" name="mechanism"/>
          <p:cNvSpPr txBox="1"/>
          <p:nvPr/>
        </p:nvSpPr>
        <p:spPr>
          <a:xfrm>
            <a:off x="5038344" y="3419856"/>
            <a:ext cx="3602736" cy="384048"/>
          </a:xfrm>
          <a:prstGeom prst="rect">
            <a:avLst/>
          </a:prstGeom>
          <a:noFill/>
          <a:ln/>
        </p:spPr>
        <p:txBody>
          <a:bodyPr wrap="square" lIns="0" tIns="0" rIns="0" bIns="0" rtlCol="0" anchor="ctr"/>
          <a:lstStyle/>
          <a:p>
            <a:pPr indent="0" marL="0">
              <a:buNone/>
            </a:pPr>
            <a:r>
              <a:rPr lang="en-US" sz="850" dirty="0">
                <a:solidFill>
                  <a:schemeClr val="tx1"/>
                </a:solidFill>
                <a:latin typeface="Poppins" pitchFamily="34" charset="0"/>
                <a:ea typeface="Poppins" pitchFamily="34" charset="-122"/>
                <a:cs typeface="Poppins" pitchFamily="34" charset="-120"/>
              </a:rPr>
              <a:t>Similar questions, similar advice. The difference lay in which advice entrepreneurs chose to implement.</a:t>
            </a:r>
            <a:endParaRPr lang="en-US" sz="850" dirty="0"/>
          </a:p>
        </p:txBody>
      </p:sp>
      <p:pic>
        <p:nvPicPr>
          <p:cNvPr id="39" name="icon FiAlertTriangle" descr="preencoded.png">    </p:cNvPr>
          <p:cNvPicPr>
            <a:picLocks noChangeAspect="1"/>
          </p:cNvPicPr>
          <p:nvPr/>
        </p:nvPicPr>
        <p:blipFill>
          <a:blip r:embed="rId7"/>
          <a:stretch>
            <a:fillRect/>
          </a:stretch>
        </p:blipFill>
        <p:spPr>
          <a:xfrm>
            <a:off x="4709160" y="3968496"/>
            <a:ext cx="219456" cy="219456"/>
          </a:xfrm>
          <a:prstGeom prst="rect">
            <a:avLst/>
          </a:prstGeom>
        </p:spPr>
      </p:pic>
      <p:sp>
        <p:nvSpPr>
          <p:cNvPr id="40" name="caution"/>
          <p:cNvSpPr txBox="1"/>
          <p:nvPr/>
        </p:nvSpPr>
        <p:spPr>
          <a:xfrm>
            <a:off x="5038344" y="3913632"/>
            <a:ext cx="3602736" cy="384048"/>
          </a:xfrm>
          <a:prstGeom prst="rect">
            <a:avLst/>
          </a:prstGeom>
          <a:noFill/>
          <a:ln/>
        </p:spPr>
        <p:txBody>
          <a:bodyPr wrap="square" lIns="0" tIns="0" rIns="0" bIns="0" rtlCol="0" anchor="ctr"/>
          <a:lstStyle/>
          <a:p>
            <a:pPr indent="0" marL="0">
              <a:buNone/>
            </a:pPr>
            <a:r>
              <a:rPr lang="en-US" sz="850" dirty="0">
                <a:solidFill>
                  <a:schemeClr val="tx2"/>
                </a:solidFill>
                <a:latin typeface="Poppins" pitchFamily="34" charset="0"/>
                <a:ea typeface="Poppins" pitchFamily="34" charset="-122"/>
                <a:cs typeface="Poppins" pitchFamily="34" charset="-120"/>
              </a:rPr>
              <a:t>Subgroup averages only: not every high performer gains, and not every low performer loses.</a:t>
            </a:r>
            <a:endParaRPr lang="en-US" sz="850" dirty="0"/>
          </a:p>
        </p:txBody>
      </p:sp>
      <p:sp>
        <p:nvSpPr>
          <p:cNvPr id="41" name="reference"/>
          <p:cNvSpPr txBox="1"/>
          <p:nvPr/>
        </p:nvSpPr>
        <p:spPr>
          <a:xfrm>
            <a:off x="502920" y="4480560"/>
            <a:ext cx="4937760" cy="274320"/>
          </a:xfrm>
          <a:prstGeom prst="rect">
            <a:avLst/>
          </a:prstGeom>
          <a:noFill/>
          <a:ln/>
        </p:spPr>
        <p:txBody>
          <a:bodyPr wrap="square" lIns="0" tIns="0" rIns="0" bIns="0" rtlCol="0" anchor="t"/>
          <a:lstStyle/>
          <a:p>
            <a:pPr indent="0" marL="0">
              <a:buNone/>
            </a:pPr>
            <a:r>
              <a:rPr lang="en-US" sz="700" dirty="0">
                <a:solidFill>
                  <a:srgbClr val="A3ADBB"/>
                </a:solidFill>
                <a:latin typeface="Poppins" pitchFamily="34" charset="0"/>
                <a:ea typeface="Poppins" pitchFamily="34" charset="-122"/>
                <a:cs typeface="Poppins" pitchFamily="34" charset="-120"/>
              </a:rPr>
              <a:t>Otis, N. G., et al. (2026). The Uneven Impact of Generative AI on Entrepreneurial Performance. Management Science, 72(7). doi.org/10.1287/mnsc.2024.06909</a:t>
            </a:r>
            <a:endParaRPr lang="en-US" sz="700" dirty="0"/>
          </a:p>
        </p:txBody>
      </p:sp>
      <p:sp>
        <p:nvSpPr>
          <p:cNvPr id="42" name="bridge text"/>
          <p:cNvSpPr txBox="1"/>
          <p:nvPr/>
        </p:nvSpPr>
        <p:spPr>
          <a:xfrm>
            <a:off x="5623560" y="4443984"/>
            <a:ext cx="2743200" cy="310896"/>
          </a:xfrm>
          <a:prstGeom prst="rect">
            <a:avLst/>
          </a:prstGeom>
          <a:noFill/>
          <a:ln/>
        </p:spPr>
        <p:txBody>
          <a:bodyPr wrap="square" lIns="0" tIns="0" rIns="0" bIns="0" rtlCol="0" anchor="ctr"/>
          <a:lstStyle/>
          <a:p>
            <a:pPr algn="r" indent="0" marL="0">
              <a:buNone/>
            </a:pPr>
            <a:r>
              <a:rPr lang="en-US" sz="850" b="1" dirty="0">
                <a:solidFill>
                  <a:srgbClr val="2E8B86"/>
                </a:solidFill>
                <a:latin typeface="Poppins" pitchFamily="34" charset="0"/>
                <a:ea typeface="Poppins" pitchFamily="34" charset="-122"/>
                <a:cs typeface="Poppins" pitchFamily="34" charset="-120"/>
              </a:rPr>
              <a:t>Next  </a:t>
            </a:r>
            <a:pPr algn="r" indent="0" marL="0">
              <a:buNone/>
            </a:pPr>
            <a:r>
              <a:rPr lang="en-US" sz="850" dirty="0">
                <a:solidFill>
                  <a:srgbClr val="1B2A4A"/>
                </a:solidFill>
                <a:latin typeface="Poppins" pitchFamily="34" charset="0"/>
                <a:ea typeface="Poppins" pitchFamily="34" charset="-122"/>
                <a:cs typeface="Poppins" pitchFamily="34" charset="-120"/>
              </a:rPr>
              <a:t>Two studies, one lesson</a:t>
            </a:r>
            <a:endParaRPr lang="en-US" sz="850" dirty="0"/>
          </a:p>
        </p:txBody>
      </p:sp>
      <p:pic>
        <p:nvPicPr>
          <p:cNvPr id="43" name="icon FiArrowRight" descr="preencoded.png">    </p:cNvPr>
          <p:cNvPicPr>
            <a:picLocks noChangeAspect="1"/>
          </p:cNvPicPr>
          <p:nvPr/>
        </p:nvPicPr>
        <p:blipFill>
          <a:blip r:embed="rId8"/>
          <a:stretch>
            <a:fillRect/>
          </a:stretch>
        </p:blipFill>
        <p:spPr>
          <a:xfrm>
            <a:off x="8439912" y="4498848"/>
            <a:ext cx="201168" cy="201168"/>
          </a:xfrm>
          <a:prstGeom prst="rect">
            <a:avLst/>
          </a:prstGeom>
        </p:spPr>
      </p:pic>
      <p:sp>
        <p:nvSpPr>
          <p:cNvPr id="25" name="Slide Number Placeholder 0"/>
          <p:cNvSpPr>
            <a:spLocks noGrp="1"/>
          </p:cNvSpPr>
          <p:nvPr>
            <p:ph type="sldNum" sz="quarter" idx="4294967295"/>
          </p:nvPr>
        </p:nvSpPr>
        <p:spPr>
          <a:xfrm>
            <a:off x="8092440" y="4773168"/>
            <a:ext cx="548640" cy="274320"/>
          </a:xfrm>
          <a:prstGeom prst="rect">
            <a:avLst/>
          </a:prstGeom>
          <a:extLst>
            <a:ext uri="{C572A759-6A51-4108-AA02-DFA0A04FC94B}">
              <ma14:wrappingTextBoxFlag xmlns:ma14="http://schemas.microsoft.com/office/mac/drawingml/2011/main" val="0"/>
            </a:ext>
          </a:extLst>
        </p:spPr>
        <p:txBody>
          <a:bodyPr/>
          <a:lstStyle>
            <a:lvl1pPr>
              <a:defRPr sz="850">
                <a:solidFill>
                  <a:srgbClr val="A3ADBB"/>
                </a:solidFill>
                <a:latin typeface="Poppins"/>
                <a:ea typeface="Poppins"/>
                <a:cs typeface="Poppin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02920" y="274320"/>
            <a:ext cx="5943600" cy="237744"/>
          </a:xfrm>
          <a:prstGeom prst="rect">
            <a:avLst/>
          </a:prstGeom>
          <a:noFill/>
          <a:ln/>
        </p:spPr>
        <p:txBody>
          <a:bodyPr wrap="square" lIns="0" tIns="0" rIns="0" bIns="0" rtlCol="0" anchor="ctr"/>
          <a:lstStyle/>
          <a:p>
            <a:pPr algn="l" indent="0" marL="0">
              <a:buNone/>
            </a:pPr>
            <a:r>
              <a:rPr lang="en-US" sz="1000" b="1" spc="150" kern="0" dirty="0">
                <a:solidFill>
                  <a:schemeClr val="accent1"/>
                </a:solidFill>
                <a:latin typeface="Poppins" pitchFamily="34" charset="0"/>
                <a:ea typeface="Poppins" pitchFamily="34" charset="-122"/>
                <a:cs typeface="Poppins" pitchFamily="34" charset="-120"/>
              </a:rPr>
              <a:t>Discussion and comparison</a:t>
            </a:r>
            <a:endParaRPr lang="en-US" sz="1000" dirty="0"/>
          </a:p>
        </p:txBody>
      </p:sp>
      <p:sp>
        <p:nvSpPr>
          <p:cNvPr id="3" name="Text 0"/>
          <p:cNvSpPr/>
          <p:nvPr>
            <p:ph idx="101" type="title" hasCustomPrompt="1"/>
          </p:nvPr>
        </p:nvSpPr>
        <p:spPr>
          <a:xfrm>
            <a:off x="502920" y="512064"/>
            <a:ext cx="8138160" cy="731520"/>
          </a:xfrm>
          <a:prstGeom prst="rect">
            <a:avLst/>
          </a:prstGeom>
          <a:noFill/>
          <a:ln/>
        </p:spPr>
        <p:txBody>
          <a:bodyPr wrap="square" lIns="0" tIns="0" rIns="0" bIns="0" rtlCol="0" anchor="ctr">
            <a:normAutofit/>
          </a:bodyPr>
          <a:lstStyle/>
          <a:p>
            <a:pPr algn="l" indent="0" marL="0">
              <a:buNone/>
            </a:pPr>
            <a:r>
              <a:rPr lang="en-US" sz="2600" b="1" dirty="0">
                <a:solidFill>
                  <a:schemeClr val="tx1"/>
                </a:solidFill>
                <a:latin typeface="Poppins" pitchFamily="34" charset="0"/>
                <a:ea typeface="Poppins" pitchFamily="34" charset="-122"/>
                <a:cs typeface="Poppins" pitchFamily="34" charset="-120"/>
              </a:rPr>
              <a:t>AI Is a Tool, Not a Guarantee of Success</a:t>
            </a:r>
            <a:endParaRPr lang="en-US" sz="2600" dirty="0"/>
          </a:p>
        </p:txBody>
      </p:sp>
      <p:sp>
        <p:nvSpPr>
          <p:cNvPr id="4" name="progress dot 1"/>
          <p:cNvSpPr/>
          <p:nvPr/>
        </p:nvSpPr>
        <p:spPr>
          <a:xfrm>
            <a:off x="7808976" y="342900"/>
            <a:ext cx="100584" cy="100584"/>
          </a:xfrm>
          <a:prstGeom prst="ellipse">
            <a:avLst/>
          </a:prstGeom>
          <a:solidFill>
            <a:srgbClr val="BFE6E0"/>
          </a:solidFill>
          <a:ln w="12700">
            <a:solidFill>
              <a:srgbClr val="BFE6E0"/>
            </a:solidFill>
            <a:prstDash val="solid"/>
          </a:ln>
        </p:spPr>
      </p:sp>
      <p:sp>
        <p:nvSpPr>
          <p:cNvPr id="5" name="progress dot 2"/>
          <p:cNvSpPr/>
          <p:nvPr/>
        </p:nvSpPr>
        <p:spPr>
          <a:xfrm>
            <a:off x="7991856" y="342900"/>
            <a:ext cx="100584" cy="100584"/>
          </a:xfrm>
          <a:prstGeom prst="ellipse">
            <a:avLst/>
          </a:prstGeom>
          <a:solidFill>
            <a:srgbClr val="BFE6E0"/>
          </a:solidFill>
          <a:ln w="12700">
            <a:solidFill>
              <a:srgbClr val="BFE6E0"/>
            </a:solidFill>
            <a:prstDash val="solid"/>
          </a:ln>
        </p:spPr>
      </p:sp>
      <p:sp>
        <p:nvSpPr>
          <p:cNvPr id="6" name="progress dot 3"/>
          <p:cNvSpPr/>
          <p:nvPr/>
        </p:nvSpPr>
        <p:spPr>
          <a:xfrm>
            <a:off x="8174736" y="342900"/>
            <a:ext cx="100584" cy="100584"/>
          </a:xfrm>
          <a:prstGeom prst="ellipse">
            <a:avLst/>
          </a:prstGeom>
          <a:solidFill>
            <a:srgbClr val="BFE6E0"/>
          </a:solidFill>
          <a:ln w="12700">
            <a:solidFill>
              <a:srgbClr val="BFE6E0"/>
            </a:solidFill>
            <a:prstDash val="solid"/>
          </a:ln>
        </p:spPr>
      </p:sp>
      <p:sp>
        <p:nvSpPr>
          <p:cNvPr id="7" name="progress dot 4"/>
          <p:cNvSpPr/>
          <p:nvPr/>
        </p:nvSpPr>
        <p:spPr>
          <a:xfrm>
            <a:off x="8357616" y="342900"/>
            <a:ext cx="100584" cy="100584"/>
          </a:xfrm>
          <a:prstGeom prst="ellipse">
            <a:avLst/>
          </a:prstGeom>
          <a:solidFill>
            <a:srgbClr val="BFE6E0"/>
          </a:solidFill>
          <a:ln w="12700">
            <a:solidFill>
              <a:srgbClr val="BFE6E0"/>
            </a:solidFill>
            <a:prstDash val="solid"/>
          </a:ln>
        </p:spPr>
      </p:sp>
      <p:sp>
        <p:nvSpPr>
          <p:cNvPr id="8" name="progress dot 5"/>
          <p:cNvSpPr/>
          <p:nvPr/>
        </p:nvSpPr>
        <p:spPr>
          <a:xfrm>
            <a:off x="8540496" y="342900"/>
            <a:ext cx="100584" cy="100584"/>
          </a:xfrm>
          <a:prstGeom prst="ellipse">
            <a:avLst/>
          </a:prstGeom>
          <a:solidFill>
            <a:srgbClr val="2E8B86"/>
          </a:solidFill>
          <a:ln w="12700">
            <a:solidFill>
              <a:srgbClr val="2E8B86"/>
            </a:solidFill>
            <a:prstDash val="solid"/>
          </a:ln>
        </p:spPr>
      </p:sp>
      <p:sp>
        <p:nvSpPr>
          <p:cNvPr id="9" name="progress label"/>
          <p:cNvSpPr txBox="1"/>
          <p:nvPr/>
        </p:nvSpPr>
        <p:spPr>
          <a:xfrm>
            <a:off x="7077456" y="274320"/>
            <a:ext cx="640080" cy="237744"/>
          </a:xfrm>
          <a:prstGeom prst="rect">
            <a:avLst/>
          </a:prstGeom>
          <a:noFill/>
          <a:ln/>
        </p:spPr>
        <p:txBody>
          <a:bodyPr wrap="square" lIns="0" tIns="0" rIns="0" bIns="0" rtlCol="0" anchor="ctr"/>
          <a:lstStyle/>
          <a:p>
            <a:pPr algn="r" indent="0" marL="0">
              <a:buNone/>
            </a:pPr>
            <a:r>
              <a:rPr lang="en-US" sz="800" dirty="0">
                <a:solidFill>
                  <a:srgbClr val="A3ADBB"/>
                </a:solidFill>
                <a:latin typeface="Poppins" pitchFamily="34" charset="0"/>
                <a:ea typeface="Poppins" pitchFamily="34" charset="-122"/>
                <a:cs typeface="Poppins" pitchFamily="34" charset="-120"/>
              </a:rPr>
              <a:t>5 / 5</a:t>
            </a:r>
            <a:endParaRPr lang="en-US" sz="800" dirty="0"/>
          </a:p>
        </p:txBody>
      </p:sp>
      <p:sp>
        <p:nvSpPr>
          <p:cNvPr id="10" name="tag finding"/>
          <p:cNvSpPr/>
          <p:nvPr/>
        </p:nvSpPr>
        <p:spPr>
          <a:xfrm>
            <a:off x="502920" y="1371600"/>
            <a:ext cx="1143000" cy="201168"/>
          </a:xfrm>
          <a:prstGeom prst="roundRect">
            <a:avLst>
              <a:gd name="adj" fmla="val 50000"/>
            </a:avLst>
          </a:prstGeom>
          <a:solidFill>
            <a:srgbClr val="BFE6E0"/>
          </a:solidFill>
          <a:ln w="12700">
            <a:solidFill>
              <a:srgbClr val="BFE6E0"/>
            </a:solidFill>
            <a:prstDash val="solid"/>
          </a:ln>
        </p:spPr>
      </p:sp>
      <p:sp>
        <p:nvSpPr>
          <p:cNvPr id="11" name="tag text"/>
          <p:cNvSpPr txBox="1"/>
          <p:nvPr/>
        </p:nvSpPr>
        <p:spPr>
          <a:xfrm>
            <a:off x="502920" y="1371600"/>
            <a:ext cx="1143000" cy="201168"/>
          </a:xfrm>
          <a:prstGeom prst="rect">
            <a:avLst/>
          </a:prstGeom>
          <a:noFill/>
          <a:ln/>
        </p:spPr>
        <p:txBody>
          <a:bodyPr wrap="square" lIns="0" tIns="0" rIns="0" bIns="0" rtlCol="0" anchor="ctr"/>
          <a:lstStyle/>
          <a:p>
            <a:pPr algn="ctr" indent="0" marL="0">
              <a:buNone/>
            </a:pPr>
            <a:r>
              <a:rPr lang="en-US" sz="750" b="1" spc="150" kern="0" dirty="0">
                <a:solidFill>
                  <a:srgbClr val="1B2A4A"/>
                </a:solidFill>
                <a:latin typeface="Poppins" pitchFamily="34" charset="0"/>
                <a:ea typeface="Poppins" pitchFamily="34" charset="-122"/>
                <a:cs typeface="Poppins" pitchFamily="34" charset="-120"/>
              </a:rPr>
              <a:t>FINDING</a:t>
            </a:r>
            <a:endParaRPr lang="en-US" sz="750" dirty="0"/>
          </a:p>
        </p:txBody>
      </p:sp>
      <p:graphicFrame>
        <p:nvGraphicFramePr>
          <p:cNvPr id="6" name="comparison table"/>
          <p:cNvGraphicFramePr>
            <a:graphicFrameLocks noGrp="1"/>
          </p:cNvGraphicFramePr>
          <p:nvPr>
            <p:extLst>
              <p:ext uri="{D42A27DB-BD31-4B8C-83A1-F6EECF244321}">
                <p14:modId xmlns:p14="http://schemas.microsoft.com/office/powerpoint/2010/main" val="1579011935"/>
              </p:ext>
            </p:extLst>
          </p:nvPr>
        </p:nvGraphicFramePr>
        <p:xfrm>
          <a:off x="502920" y="1627632"/>
          <a:ext cx="8138160" cy="914400"/>
        </p:xfrm>
        <a:graphic>
          <a:graphicData uri="http://schemas.openxmlformats.org/drawingml/2006/table">
            <a:tbl>
              <a:tblPr/>
              <a:tblGrid>
                <a:gridCol w="1463040"/>
                <a:gridCol w="3337560"/>
                <a:gridCol w="3337560"/>
              </a:tblGrid>
              <a:tr h="329184">
                <a:tc>
                  <a:txBody>
                    <a:bodyPr/>
                    <a:lstStyle/>
                    <a:p>
                      <a:pPr indent="0" marL="0">
                        <a:buNone/>
                      </a:pPr>
                      <a:endParaRPr lang="en-US" sz="950" dirty="0">
                        <a:latin typeface="Poppins" charset="0"/>
                        <a:ea typeface="Poppins" charset="0"/>
                        <a:cs typeface="Poppins" charset="0"/>
                      </a:endParaRPr>
                    </a:p>
                  </a:txBody>
                  <a:tcPr marL="18288" marR="91440" marT="54864" marB="54864" anchor="ctr">
                    <a:lnL w="0" cap="flat" cmpd="sng" algn="ctr">
                      <a:noFill/>
                    </a:lnL>
                    <a:lnR w="0" cap="flat" cmpd="sng" algn="ctr">
                      <a:noFill/>
                    </a:lnR>
                    <a:lnT w="0" cap="flat" cmpd="sng" algn="ctr">
                      <a:noFill/>
                    </a:lnT>
                    <a:lnB w="12700" cap="flat" cmpd="sng" algn="ctr">
                      <a:solidFill>
                        <a:srgbClr val="1B2A4A"/>
                      </a:solidFill>
                      <a:prstDash val="solid"/>
                      <a:round/>
                      <a:headEnd type="none" w="med" len="med"/>
                      <a:tailEnd type="none" w="med" len="med"/>
                    </a:lnB>
                    <a:solidFill>
                      <a:srgbClr val="FFFFFF"/>
                    </a:solidFill>
                  </a:tcPr>
                </a:tc>
                <a:tc>
                  <a:txBody>
                    <a:bodyPr/>
                    <a:lstStyle/>
                    <a:p>
                      <a:pPr indent="0" marL="0">
                        <a:buNone/>
                      </a:pPr>
                      <a:r>
                        <a:rPr lang="en-US" sz="950" b="1" dirty="0">
                          <a:solidFill>
                            <a:srgbClr val="1B2A4A"/>
                          </a:solidFill>
                          <a:latin typeface="Poppins" pitchFamily="34" charset="0"/>
                          <a:ea typeface="Poppins" pitchFamily="34" charset="-122"/>
                          <a:cs typeface="Poppins" pitchFamily="34" charset="-120"/>
                        </a:rPr>
                        <a:t>Article 2  ·  Consultants</a:t>
                      </a:r>
                      <a:endParaRPr lang="en-US" sz="950" dirty="0">
                        <a:latin typeface="Poppins" charset="0"/>
                        <a:ea typeface="Poppins" charset="0"/>
                        <a:cs typeface="Poppins" charset="0"/>
                      </a:endParaRPr>
                    </a:p>
                  </a:txBody>
                  <a:tcPr marL="18288" marR="91440" marT="54864" marB="54864" anchor="ctr">
                    <a:lnL w="0" cap="flat" cmpd="sng" algn="ctr">
                      <a:noFill/>
                    </a:lnL>
                    <a:lnR w="0" cap="flat" cmpd="sng" algn="ctr">
                      <a:noFill/>
                    </a:lnR>
                    <a:lnT w="0" cap="flat" cmpd="sng" algn="ctr">
                      <a:noFill/>
                    </a:lnT>
                    <a:lnB w="12700" cap="flat" cmpd="sng" algn="ctr">
                      <a:solidFill>
                        <a:srgbClr val="1B2A4A"/>
                      </a:solidFill>
                      <a:prstDash val="solid"/>
                      <a:round/>
                      <a:headEnd type="none" w="med" len="med"/>
                      <a:tailEnd type="none" w="med" len="med"/>
                    </a:lnB>
                    <a:solidFill>
                      <a:srgbClr val="FFFFFF"/>
                    </a:solidFill>
                  </a:tcPr>
                </a:tc>
                <a:tc>
                  <a:txBody>
                    <a:bodyPr/>
                    <a:lstStyle/>
                    <a:p>
                      <a:pPr indent="0" marL="0">
                        <a:buNone/>
                      </a:pPr>
                      <a:r>
                        <a:rPr lang="en-US" sz="950" b="1" dirty="0">
                          <a:solidFill>
                            <a:srgbClr val="1B2A4A"/>
                          </a:solidFill>
                          <a:latin typeface="Poppins" pitchFamily="34" charset="0"/>
                          <a:ea typeface="Poppins" pitchFamily="34" charset="-122"/>
                          <a:cs typeface="Poppins" pitchFamily="34" charset="-120"/>
                        </a:rPr>
                        <a:t>Article 5  ·  Entrepreneurs</a:t>
                      </a:r>
                      <a:endParaRPr lang="en-US" sz="950" dirty="0">
                        <a:latin typeface="Poppins" charset="0"/>
                        <a:ea typeface="Poppins" charset="0"/>
                        <a:cs typeface="Poppins" charset="0"/>
                      </a:endParaRPr>
                    </a:p>
                  </a:txBody>
                  <a:tcPr marL="18288" marR="91440" marT="54864" marB="54864" anchor="ctr">
                    <a:lnL w="0" cap="flat" cmpd="sng" algn="ctr">
                      <a:noFill/>
                    </a:lnL>
                    <a:lnR w="0" cap="flat" cmpd="sng" algn="ctr">
                      <a:noFill/>
                    </a:lnR>
                    <a:lnT w="0" cap="flat" cmpd="sng" algn="ctr">
                      <a:noFill/>
                    </a:lnT>
                    <a:lnB w="12700" cap="flat" cmpd="sng" algn="ctr">
                      <a:solidFill>
                        <a:srgbClr val="1B2A4A"/>
                      </a:solidFill>
                      <a:prstDash val="solid"/>
                      <a:round/>
                      <a:headEnd type="none" w="med" len="med"/>
                      <a:tailEnd type="none" w="med" len="med"/>
                    </a:lnB>
                    <a:solidFill>
                      <a:srgbClr val="FFFFFF"/>
                    </a:solidFill>
                  </a:tcPr>
                </a:tc>
              </a:tr>
              <a:tr h="402336">
                <a:tc>
                  <a:txBody>
                    <a:bodyPr/>
                    <a:lstStyle/>
                    <a:p>
                      <a:pPr indent="0" marL="0">
                        <a:buNone/>
                      </a:pPr>
                      <a:r>
                        <a:rPr lang="en-US" sz="950" b="1" dirty="0">
                          <a:solidFill>
                            <a:srgbClr val="1B2A4A"/>
                          </a:solidFill>
                          <a:latin typeface="Poppins" pitchFamily="34" charset="0"/>
                          <a:ea typeface="Poppins" pitchFamily="34" charset="-122"/>
                          <a:cs typeface="Poppins" pitchFamily="34" charset="-120"/>
                        </a:rPr>
                        <a:t>Focus</a:t>
                      </a:r>
                      <a:endParaRPr lang="en-US" sz="950" dirty="0">
                        <a:latin typeface="Poppins" charset="0"/>
                        <a:ea typeface="Poppins" charset="0"/>
                        <a:cs typeface="Poppins"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E3E8EE"/>
                      </a:solidFill>
                      <a:prstDash val="solid"/>
                      <a:round/>
                      <a:headEnd type="none" w="med" len="med"/>
                      <a:tailEnd type="none" w="med" len="med"/>
                    </a:lnB>
                    <a:solidFill>
                      <a:srgbClr val="FFFFFF"/>
                    </a:solidFill>
                  </a:tcPr>
                </a:tc>
                <a:tc>
                  <a:txBody>
                    <a:bodyPr/>
                    <a:lstStyle/>
                    <a:p>
                      <a:pPr indent="0" marL="0">
                        <a:buNone/>
                      </a:pPr>
                      <a:r>
                        <a:rPr lang="en-US" sz="950" dirty="0">
                          <a:solidFill>
                            <a:srgbClr val="6B7280"/>
                          </a:solidFill>
                          <a:latin typeface="Poppins" pitchFamily="34" charset="0"/>
                          <a:ea typeface="Poppins" pitchFamily="34" charset="-122"/>
                          <a:cs typeface="Poppins" pitchFamily="34" charset="-120"/>
                        </a:rPr>
                        <a:t>Knowledge workers at BCG</a:t>
                      </a:r>
                      <a:endParaRPr lang="en-US" sz="950" dirty="0">
                        <a:latin typeface="Poppins" charset="0"/>
                        <a:ea typeface="Poppins" charset="0"/>
                        <a:cs typeface="Poppins"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E3E8EE"/>
                      </a:solidFill>
                      <a:prstDash val="solid"/>
                      <a:round/>
                      <a:headEnd type="none" w="med" len="med"/>
                      <a:tailEnd type="none" w="med" len="med"/>
                    </a:lnB>
                    <a:solidFill>
                      <a:srgbClr val="FFFFFF"/>
                    </a:solidFill>
                  </a:tcPr>
                </a:tc>
                <a:tc>
                  <a:txBody>
                    <a:bodyPr/>
                    <a:lstStyle/>
                    <a:p>
                      <a:pPr indent="0" marL="0">
                        <a:buNone/>
                      </a:pPr>
                      <a:r>
                        <a:rPr lang="en-US" sz="950" dirty="0">
                          <a:solidFill>
                            <a:srgbClr val="6B7280"/>
                          </a:solidFill>
                          <a:latin typeface="Poppins" pitchFamily="34" charset="0"/>
                          <a:ea typeface="Poppins" pitchFamily="34" charset="-122"/>
                          <a:cs typeface="Poppins" pitchFamily="34" charset="-120"/>
                        </a:rPr>
                        <a:t>Small businesses in Kenya</a:t>
                      </a:r>
                      <a:endParaRPr lang="en-US" sz="950" dirty="0">
                        <a:latin typeface="Poppins" charset="0"/>
                        <a:ea typeface="Poppins" charset="0"/>
                        <a:cs typeface="Poppins"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E3E8EE"/>
                      </a:solidFill>
                      <a:prstDash val="solid"/>
                      <a:round/>
                      <a:headEnd type="none" w="med" len="med"/>
                      <a:tailEnd type="none" w="med" len="med"/>
                    </a:lnB>
                    <a:solidFill>
                      <a:srgbClr val="FFFFFF"/>
                    </a:solidFill>
                  </a:tcPr>
                </a:tc>
              </a:tr>
              <a:tr h="475488">
                <a:tc>
                  <a:txBody>
                    <a:bodyPr/>
                    <a:lstStyle/>
                    <a:p>
                      <a:pPr indent="0" marL="0">
                        <a:buNone/>
                      </a:pPr>
                      <a:r>
                        <a:rPr lang="en-US" sz="950" b="1" dirty="0">
                          <a:solidFill>
                            <a:srgbClr val="1B2A4A"/>
                          </a:solidFill>
                          <a:latin typeface="Poppins" pitchFamily="34" charset="0"/>
                          <a:ea typeface="Poppins" pitchFamily="34" charset="-122"/>
                          <a:cs typeface="Poppins" pitchFamily="34" charset="-120"/>
                        </a:rPr>
                        <a:t>Main result</a:t>
                      </a:r>
                      <a:endParaRPr lang="en-US" sz="950" dirty="0">
                        <a:latin typeface="Poppins" charset="0"/>
                        <a:ea typeface="Poppins" charset="0"/>
                        <a:cs typeface="Poppins"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E3E8EE"/>
                      </a:solidFill>
                      <a:prstDash val="solid"/>
                      <a:round/>
                      <a:headEnd type="none" w="med" len="med"/>
                      <a:tailEnd type="none" w="med" len="med"/>
                    </a:lnB>
                    <a:solidFill>
                      <a:srgbClr val="FFFFFF"/>
                    </a:solidFill>
                  </a:tcPr>
                </a:tc>
                <a:tc>
                  <a:txBody>
                    <a:bodyPr/>
                    <a:lstStyle/>
                    <a:p>
                      <a:pPr indent="0" marL="0">
                        <a:buNone/>
                      </a:pPr>
                      <a:r>
                        <a:rPr lang="en-US" sz="950" dirty="0">
                          <a:solidFill>
                            <a:srgbClr val="6B7280"/>
                          </a:solidFill>
                          <a:latin typeface="Poppins" pitchFamily="34" charset="0"/>
                          <a:ea typeface="Poppins" pitchFamily="34" charset="-122"/>
                          <a:cs typeface="Poppins" pitchFamily="34" charset="-120"/>
                        </a:rPr>
                        <a:t>Higher productivity and quality inside AI's capability frontier</a:t>
                      </a:r>
                      <a:endParaRPr lang="en-US" sz="950" dirty="0">
                        <a:latin typeface="Poppins" charset="0"/>
                        <a:ea typeface="Poppins" charset="0"/>
                        <a:cs typeface="Poppins"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E3E8EE"/>
                      </a:solidFill>
                      <a:prstDash val="solid"/>
                      <a:round/>
                      <a:headEnd type="none" w="med" len="med"/>
                      <a:tailEnd type="none" w="med" len="med"/>
                    </a:lnB>
                    <a:solidFill>
                      <a:srgbClr val="FFFFFF"/>
                    </a:solidFill>
                  </a:tcPr>
                </a:tc>
                <a:tc>
                  <a:txBody>
                    <a:bodyPr/>
                    <a:lstStyle/>
                    <a:p>
                      <a:pPr indent="0" marL="0">
                        <a:buNone/>
                      </a:pPr>
                      <a:r>
                        <a:rPr lang="en-US" sz="950" dirty="0">
                          <a:solidFill>
                            <a:srgbClr val="6B7280"/>
                          </a:solidFill>
                          <a:latin typeface="Poppins" pitchFamily="34" charset="0"/>
                          <a:ea typeface="Poppins" pitchFamily="34" charset="-122"/>
                          <a:cs typeface="Poppins" pitchFamily="34" charset="-120"/>
                        </a:rPr>
                        <a:t>No established average effect on revenue and profit</a:t>
                      </a:r>
                      <a:endParaRPr lang="en-US" sz="950" dirty="0">
                        <a:latin typeface="Poppins" charset="0"/>
                        <a:ea typeface="Poppins" charset="0"/>
                        <a:cs typeface="Poppins"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E3E8EE"/>
                      </a:solidFill>
                      <a:prstDash val="solid"/>
                      <a:round/>
                      <a:headEnd type="none" w="med" len="med"/>
                      <a:tailEnd type="none" w="med" len="med"/>
                    </a:lnB>
                    <a:solidFill>
                      <a:srgbClr val="FFFFFF"/>
                    </a:solidFill>
                  </a:tcPr>
                </a:tc>
              </a:tr>
              <a:tr h="475488">
                <a:tc>
                  <a:txBody>
                    <a:bodyPr/>
                    <a:lstStyle/>
                    <a:p>
                      <a:pPr indent="0" marL="0">
                        <a:buNone/>
                      </a:pPr>
                      <a:r>
                        <a:rPr lang="en-US" sz="950" b="1" dirty="0">
                          <a:solidFill>
                            <a:srgbClr val="1B2A4A"/>
                          </a:solidFill>
                          <a:latin typeface="Poppins" pitchFamily="34" charset="0"/>
                          <a:ea typeface="Poppins" pitchFamily="34" charset="-122"/>
                          <a:cs typeface="Poppins" pitchFamily="34" charset="-120"/>
                        </a:rPr>
                        <a:t>Key insight</a:t>
                      </a:r>
                      <a:endParaRPr lang="en-US" sz="950" dirty="0">
                        <a:latin typeface="Poppins" charset="0"/>
                        <a:ea typeface="Poppins" charset="0"/>
                        <a:cs typeface="Poppins"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E3E8EE"/>
                      </a:solidFill>
                      <a:prstDash val="solid"/>
                      <a:round/>
                      <a:headEnd type="none" w="med" len="med"/>
                      <a:tailEnd type="none" w="med" len="med"/>
                    </a:lnB>
                    <a:solidFill>
                      <a:srgbClr val="FFFFFF"/>
                    </a:solidFill>
                  </a:tcPr>
                </a:tc>
                <a:tc>
                  <a:txBody>
                    <a:bodyPr/>
                    <a:lstStyle/>
                    <a:p>
                      <a:pPr indent="0" marL="0">
                        <a:buNone/>
                      </a:pPr>
                      <a:r>
                        <a:rPr lang="en-US" sz="950" dirty="0">
                          <a:solidFill>
                            <a:srgbClr val="6B7280"/>
                          </a:solidFill>
                          <a:latin typeface="Poppins" pitchFamily="34" charset="0"/>
                          <a:ea typeface="Poppins" pitchFamily="34" charset="-122"/>
                          <a:cs typeface="Poppins" pitchFamily="34" charset="-120"/>
                        </a:rPr>
                        <a:t>Lower correctness on a task outside the frontier</a:t>
                      </a:r>
                      <a:endParaRPr lang="en-US" sz="950" dirty="0">
                        <a:latin typeface="Poppins" charset="0"/>
                        <a:ea typeface="Poppins" charset="0"/>
                        <a:cs typeface="Poppins"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E3E8EE"/>
                      </a:solidFill>
                      <a:prstDash val="solid"/>
                      <a:round/>
                      <a:headEnd type="none" w="med" len="med"/>
                      <a:tailEnd type="none" w="med" len="med"/>
                    </a:lnB>
                    <a:solidFill>
                      <a:srgbClr val="FFFFFF"/>
                    </a:solidFill>
                  </a:tcPr>
                </a:tc>
                <a:tc>
                  <a:txBody>
                    <a:bodyPr/>
                    <a:lstStyle/>
                    <a:p>
                      <a:pPr indent="0" marL="0">
                        <a:buNone/>
                      </a:pPr>
                      <a:r>
                        <a:rPr lang="en-US" sz="950" dirty="0">
                          <a:solidFill>
                            <a:srgbClr val="6B7280"/>
                          </a:solidFill>
                          <a:latin typeface="Poppins" pitchFamily="34" charset="0"/>
                          <a:ea typeface="Poppins" pitchFamily="34" charset="-122"/>
                          <a:cs typeface="Poppins" pitchFamily="34" charset="-120"/>
                        </a:rPr>
                        <a:t>Outcomes depended on baseline performance and the advice implemented</a:t>
                      </a:r>
                      <a:endParaRPr lang="en-US" sz="950" dirty="0">
                        <a:latin typeface="Poppins" charset="0"/>
                        <a:ea typeface="Poppins" charset="0"/>
                        <a:cs typeface="Poppins"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E3E8EE"/>
                      </a:solidFill>
                      <a:prstDash val="solid"/>
                      <a:round/>
                      <a:headEnd type="none" w="med" len="med"/>
                      <a:tailEnd type="none" w="med" len="med"/>
                    </a:lnB>
                    <a:solidFill>
                      <a:srgbClr val="FFFFFF"/>
                    </a:solidFill>
                  </a:tcPr>
                </a:tc>
              </a:tr>
            </a:tbl>
          </a:graphicData>
        </a:graphic>
      </p:graphicFrame>
      <p:sp>
        <p:nvSpPr>
          <p:cNvPr id="13" name="conclusion card"/>
          <p:cNvSpPr/>
          <p:nvPr/>
        </p:nvSpPr>
        <p:spPr>
          <a:xfrm>
            <a:off x="502920" y="3456432"/>
            <a:ext cx="8138160" cy="932688"/>
          </a:xfrm>
          <a:prstGeom prst="roundRect">
            <a:avLst>
              <a:gd name="adj" fmla="val 11765"/>
            </a:avLst>
          </a:prstGeom>
          <a:solidFill>
            <a:srgbClr val="2E8B86"/>
          </a:solidFill>
          <a:ln w="12700">
            <a:solidFill>
              <a:srgbClr val="2E8B86"/>
            </a:solidFill>
            <a:prstDash val="solid"/>
          </a:ln>
        </p:spPr>
      </p:sp>
      <p:sp>
        <p:nvSpPr>
          <p:cNvPr id="14" name="tag interp"/>
          <p:cNvSpPr/>
          <p:nvPr/>
        </p:nvSpPr>
        <p:spPr>
          <a:xfrm>
            <a:off x="731520" y="3584448"/>
            <a:ext cx="1143000" cy="201168"/>
          </a:xfrm>
          <a:prstGeom prst="roundRect">
            <a:avLst>
              <a:gd name="adj" fmla="val 50000"/>
            </a:avLst>
          </a:prstGeom>
          <a:solidFill>
            <a:srgbClr val="FFFFFF"/>
          </a:solidFill>
          <a:ln w="12700">
            <a:solidFill>
              <a:srgbClr val="FFFFFF"/>
            </a:solidFill>
            <a:prstDash val="solid"/>
          </a:ln>
        </p:spPr>
      </p:sp>
      <p:sp>
        <p:nvSpPr>
          <p:cNvPr id="15" name="tag text"/>
          <p:cNvSpPr txBox="1"/>
          <p:nvPr/>
        </p:nvSpPr>
        <p:spPr>
          <a:xfrm>
            <a:off x="731520" y="3584448"/>
            <a:ext cx="1143000" cy="201168"/>
          </a:xfrm>
          <a:prstGeom prst="rect">
            <a:avLst/>
          </a:prstGeom>
          <a:noFill/>
          <a:ln/>
        </p:spPr>
        <p:txBody>
          <a:bodyPr wrap="square" lIns="0" tIns="0" rIns="0" bIns="0" rtlCol="0" anchor="ctr"/>
          <a:lstStyle/>
          <a:p>
            <a:pPr algn="ctr" indent="0" marL="0">
              <a:buNone/>
            </a:pPr>
            <a:r>
              <a:rPr lang="en-US" sz="750" b="1" spc="150" kern="0" dirty="0">
                <a:solidFill>
                  <a:srgbClr val="1B2A4A"/>
                </a:solidFill>
                <a:latin typeface="Poppins" pitchFamily="34" charset="0"/>
                <a:ea typeface="Poppins" pitchFamily="34" charset="-122"/>
                <a:cs typeface="Poppins" pitchFamily="34" charset="-120"/>
              </a:rPr>
              <a:t>INTERPRETATION</a:t>
            </a:r>
            <a:endParaRPr lang="en-US" sz="750" dirty="0"/>
          </a:p>
        </p:txBody>
      </p:sp>
      <p:sp>
        <p:nvSpPr>
          <p:cNvPr id="16" name="conclusion"/>
          <p:cNvSpPr txBox="1"/>
          <p:nvPr/>
        </p:nvSpPr>
        <p:spPr>
          <a:xfrm>
            <a:off x="731520" y="3840480"/>
            <a:ext cx="4160520" cy="475488"/>
          </a:xfrm>
          <a:prstGeom prst="rect">
            <a:avLst/>
          </a:prstGeom>
          <a:noFill/>
          <a:ln/>
        </p:spPr>
        <p:txBody>
          <a:bodyPr wrap="square" lIns="0" tIns="0" rIns="0" bIns="0" rtlCol="0" anchor="t"/>
          <a:lstStyle/>
          <a:p>
            <a:pPr indent="0" marL="0">
              <a:buNone/>
            </a:pPr>
            <a:r>
              <a:rPr lang="en-US" sz="950" b="1" dirty="0">
                <a:solidFill>
                  <a:srgbClr val="FFFFFF"/>
                </a:solidFill>
                <a:latin typeface="Poppins" pitchFamily="34" charset="0"/>
                <a:ea typeface="Poppins" pitchFamily="34" charset="-122"/>
                <a:cs typeface="Poppins" pitchFamily="34" charset="-120"/>
              </a:rPr>
              <a:t>AI can influence real-world performance, but its impact depends on task suitability, user behavior, and human judgment.</a:t>
            </a:r>
            <a:endParaRPr lang="en-US" sz="950" dirty="0"/>
          </a:p>
        </p:txBody>
      </p:sp>
      <p:pic>
        <p:nvPicPr>
          <p:cNvPr id="17" name="icon check" descr="preencoded.png">    </p:cNvPr>
          <p:cNvPicPr>
            <a:picLocks noChangeAspect="1"/>
          </p:cNvPicPr>
          <p:nvPr/>
        </p:nvPicPr>
        <p:blipFill>
          <a:blip r:embed="rId1"/>
          <a:stretch>
            <a:fillRect/>
          </a:stretch>
        </p:blipFill>
        <p:spPr>
          <a:xfrm>
            <a:off x="4983480" y="3621024"/>
            <a:ext cx="164592" cy="164592"/>
          </a:xfrm>
          <a:prstGeom prst="rect">
            <a:avLst/>
          </a:prstGeom>
        </p:spPr>
      </p:pic>
      <p:sp>
        <p:nvSpPr>
          <p:cNvPr id="18" name="takeaway 1"/>
          <p:cNvSpPr txBox="1"/>
          <p:nvPr/>
        </p:nvSpPr>
        <p:spPr>
          <a:xfrm>
            <a:off x="5239512" y="3584448"/>
            <a:ext cx="1847088" cy="237744"/>
          </a:xfrm>
          <a:prstGeom prst="rect">
            <a:avLst/>
          </a:prstGeom>
          <a:noFill/>
          <a:ln/>
        </p:spPr>
        <p:txBody>
          <a:bodyPr wrap="square" lIns="0" tIns="0" rIns="0" bIns="0" rtlCol="0" anchor="ctr"/>
          <a:lstStyle/>
          <a:p>
            <a:pPr indent="0" marL="0">
              <a:buNone/>
            </a:pPr>
            <a:r>
              <a:rPr lang="en-US" sz="850" dirty="0">
                <a:solidFill>
                  <a:srgbClr val="FFFFFF"/>
                </a:solidFill>
                <a:latin typeface="Poppins" pitchFamily="34" charset="0"/>
                <a:ea typeface="Poppins" pitchFamily="34" charset="-122"/>
                <a:cs typeface="Poppins" pitchFamily="34" charset="-120"/>
              </a:rPr>
              <a:t>Match the task to AI's strengths</a:t>
            </a:r>
            <a:endParaRPr lang="en-US" sz="850" dirty="0"/>
          </a:p>
        </p:txBody>
      </p:sp>
      <p:pic>
        <p:nvPicPr>
          <p:cNvPr id="19" name="icon check" descr="preencoded.png">    </p:cNvPr>
          <p:cNvPicPr>
            <a:picLocks noChangeAspect="1"/>
          </p:cNvPicPr>
          <p:nvPr/>
        </p:nvPicPr>
        <p:blipFill>
          <a:blip r:embed="rId2"/>
          <a:stretch>
            <a:fillRect/>
          </a:stretch>
        </p:blipFill>
        <p:spPr>
          <a:xfrm>
            <a:off x="4983480" y="3867912"/>
            <a:ext cx="164592" cy="164592"/>
          </a:xfrm>
          <a:prstGeom prst="rect">
            <a:avLst/>
          </a:prstGeom>
        </p:spPr>
      </p:pic>
      <p:sp>
        <p:nvSpPr>
          <p:cNvPr id="20" name="takeaway 2"/>
          <p:cNvSpPr txBox="1"/>
          <p:nvPr/>
        </p:nvSpPr>
        <p:spPr>
          <a:xfrm>
            <a:off x="5239512" y="3831336"/>
            <a:ext cx="1847088" cy="237744"/>
          </a:xfrm>
          <a:prstGeom prst="rect">
            <a:avLst/>
          </a:prstGeom>
          <a:noFill/>
          <a:ln/>
        </p:spPr>
        <p:txBody>
          <a:bodyPr wrap="square" lIns="0" tIns="0" rIns="0" bIns="0" rtlCol="0" anchor="ctr"/>
          <a:lstStyle/>
          <a:p>
            <a:pPr indent="0" marL="0">
              <a:buNone/>
            </a:pPr>
            <a:r>
              <a:rPr lang="en-US" sz="850" dirty="0">
                <a:solidFill>
                  <a:srgbClr val="FFFFFF"/>
                </a:solidFill>
                <a:latin typeface="Poppins" pitchFamily="34" charset="0"/>
                <a:ea typeface="Poppins" pitchFamily="34" charset="-122"/>
                <a:cs typeface="Poppins" pitchFamily="34" charset="-120"/>
              </a:rPr>
              <a:t>Evaluate AI advice critically</a:t>
            </a:r>
            <a:endParaRPr lang="en-US" sz="850" dirty="0"/>
          </a:p>
        </p:txBody>
      </p:sp>
      <p:pic>
        <p:nvPicPr>
          <p:cNvPr id="21" name="icon check" descr="preencoded.png">    </p:cNvPr>
          <p:cNvPicPr>
            <a:picLocks noChangeAspect="1"/>
          </p:cNvPicPr>
          <p:nvPr/>
        </p:nvPicPr>
        <p:blipFill>
          <a:blip r:embed="rId3"/>
          <a:stretch>
            <a:fillRect/>
          </a:stretch>
        </p:blipFill>
        <p:spPr>
          <a:xfrm>
            <a:off x="4983480" y="4114800"/>
            <a:ext cx="164592" cy="164592"/>
          </a:xfrm>
          <a:prstGeom prst="rect">
            <a:avLst/>
          </a:prstGeom>
        </p:spPr>
      </p:pic>
      <p:sp>
        <p:nvSpPr>
          <p:cNvPr id="22" name="takeaway 3"/>
          <p:cNvSpPr txBox="1"/>
          <p:nvPr/>
        </p:nvSpPr>
        <p:spPr>
          <a:xfrm>
            <a:off x="5239512" y="4078224"/>
            <a:ext cx="1847088" cy="237744"/>
          </a:xfrm>
          <a:prstGeom prst="rect">
            <a:avLst/>
          </a:prstGeom>
          <a:noFill/>
          <a:ln/>
        </p:spPr>
        <p:txBody>
          <a:bodyPr wrap="square" lIns="0" tIns="0" rIns="0" bIns="0" rtlCol="0" anchor="ctr"/>
          <a:lstStyle/>
          <a:p>
            <a:pPr indent="0" marL="0">
              <a:buNone/>
            </a:pPr>
            <a:r>
              <a:rPr lang="en-US" sz="850" dirty="0">
                <a:solidFill>
                  <a:srgbClr val="FFFFFF"/>
                </a:solidFill>
                <a:latin typeface="Poppins" pitchFamily="34" charset="0"/>
                <a:ea typeface="Poppins" pitchFamily="34" charset="-122"/>
                <a:cs typeface="Poppins" pitchFamily="34" charset="-120"/>
              </a:rPr>
              <a:t>Keep human judgment in the loop</a:t>
            </a:r>
            <a:endParaRPr lang="en-US" sz="850" dirty="0"/>
          </a:p>
        </p:txBody>
      </p:sp>
      <p:pic>
        <p:nvPicPr>
          <p:cNvPr id="23" name="human handshake" descr="preencoded.png">    </p:cNvPr>
          <p:cNvPicPr>
            <a:picLocks noChangeAspect="1"/>
          </p:cNvPicPr>
          <p:nvPr/>
        </p:nvPicPr>
        <p:blipFill>
          <a:blip r:embed="rId4"/>
          <a:stretch>
            <a:fillRect/>
          </a:stretch>
        </p:blipFill>
        <p:spPr>
          <a:xfrm>
            <a:off x="7068312" y="3547872"/>
            <a:ext cx="749808" cy="786384"/>
          </a:xfrm>
          <a:prstGeom prst="rect">
            <a:avLst/>
          </a:prstGeom>
        </p:spPr>
      </p:pic>
      <p:pic>
        <p:nvPicPr>
          <p:cNvPr id="24" name="mascot handshake" descr="preencoded.png">    </p:cNvPr>
          <p:cNvPicPr>
            <a:picLocks noChangeAspect="1"/>
          </p:cNvPicPr>
          <p:nvPr/>
        </p:nvPicPr>
        <p:blipFill>
          <a:blip r:embed="rId5"/>
          <a:stretch>
            <a:fillRect/>
          </a:stretch>
        </p:blipFill>
        <p:spPr>
          <a:xfrm>
            <a:off x="7744968" y="3547872"/>
            <a:ext cx="822960" cy="786384"/>
          </a:xfrm>
          <a:prstGeom prst="rect">
            <a:avLst/>
          </a:prstGeom>
        </p:spPr>
      </p:pic>
      <p:sp>
        <p:nvSpPr>
          <p:cNvPr id="25" name="reference"/>
          <p:cNvSpPr txBox="1"/>
          <p:nvPr/>
        </p:nvSpPr>
        <p:spPr>
          <a:xfrm>
            <a:off x="502920" y="4480560"/>
            <a:ext cx="4937760" cy="274320"/>
          </a:xfrm>
          <a:prstGeom prst="rect">
            <a:avLst/>
          </a:prstGeom>
          <a:noFill/>
          <a:ln/>
        </p:spPr>
        <p:txBody>
          <a:bodyPr wrap="square" lIns="0" tIns="0" rIns="0" bIns="0" rtlCol="0" anchor="t"/>
          <a:lstStyle/>
          <a:p>
            <a:pPr indent="0" marL="0">
              <a:buNone/>
            </a:pPr>
            <a:r>
              <a:rPr lang="en-US" sz="700" dirty="0">
                <a:solidFill>
                  <a:srgbClr val="A3ADBB"/>
                </a:solidFill>
                <a:latin typeface="Poppins" pitchFamily="34" charset="0"/>
                <a:ea typeface="Poppins" pitchFamily="34" charset="-122"/>
                <a:cs typeface="Poppins" pitchFamily="34" charset="-120"/>
              </a:rPr>
              <a:t>Dell'Acqua et al. (2023), HBS Working Paper 24-013   ·   Otis et al. (2026), Management Science 72(7), doi.org/10.1287/mnsc.2024.06909</a:t>
            </a:r>
            <a:endParaRPr lang="en-US" sz="700" dirty="0"/>
          </a:p>
        </p:txBody>
      </p:sp>
      <p:sp>
        <p:nvSpPr>
          <p:cNvPr id="26" name="bridge text"/>
          <p:cNvSpPr txBox="1"/>
          <p:nvPr/>
        </p:nvSpPr>
        <p:spPr>
          <a:xfrm>
            <a:off x="5623560" y="4443984"/>
            <a:ext cx="2743200" cy="310896"/>
          </a:xfrm>
          <a:prstGeom prst="rect">
            <a:avLst/>
          </a:prstGeom>
          <a:noFill/>
          <a:ln/>
        </p:spPr>
        <p:txBody>
          <a:bodyPr wrap="square" lIns="0" tIns="0" rIns="0" bIns="0" rtlCol="0" anchor="ctr"/>
          <a:lstStyle/>
          <a:p>
            <a:pPr algn="r" indent="0" marL="0">
              <a:buNone/>
            </a:pPr>
            <a:r>
              <a:rPr lang="en-US" sz="850" b="1" dirty="0">
                <a:solidFill>
                  <a:srgbClr val="2E8B86"/>
                </a:solidFill>
                <a:latin typeface="Poppins" pitchFamily="34" charset="0"/>
                <a:ea typeface="Poppins" pitchFamily="34" charset="-122"/>
                <a:cs typeface="Poppins" pitchFamily="34" charset="-120"/>
              </a:rPr>
              <a:t>Next  </a:t>
            </a:r>
            <a:pPr algn="r" indent="0" marL="0">
              <a:buNone/>
            </a:pPr>
            <a:r>
              <a:rPr lang="en-US" sz="850" dirty="0">
                <a:solidFill>
                  <a:srgbClr val="1B2A4A"/>
                </a:solidFill>
                <a:latin typeface="Poppins" pitchFamily="34" charset="0"/>
                <a:ea typeface="Poppins" pitchFamily="34" charset="-122"/>
                <a:cs typeface="Poppins" pitchFamily="34" charset="-120"/>
              </a:rPr>
              <a:t>Thank you. Questions are welcome.</a:t>
            </a:r>
            <a:endParaRPr lang="en-US" sz="850" dirty="0"/>
          </a:p>
        </p:txBody>
      </p:sp>
      <p:pic>
        <p:nvPicPr>
          <p:cNvPr id="27" name="icon FiArrowRight" descr="preencoded.png">    </p:cNvPr>
          <p:cNvPicPr>
            <a:picLocks noChangeAspect="1"/>
          </p:cNvPicPr>
          <p:nvPr/>
        </p:nvPicPr>
        <p:blipFill>
          <a:blip r:embed="rId6"/>
          <a:stretch>
            <a:fillRect/>
          </a:stretch>
        </p:blipFill>
        <p:spPr>
          <a:xfrm>
            <a:off x="8439912" y="4498848"/>
            <a:ext cx="201168" cy="201168"/>
          </a:xfrm>
          <a:prstGeom prst="rect">
            <a:avLst/>
          </a:prstGeom>
        </p:spPr>
      </p:pic>
      <p:sp>
        <p:nvSpPr>
          <p:cNvPr id="25" name="Slide Number Placeholder 0"/>
          <p:cNvSpPr>
            <a:spLocks noGrp="1"/>
          </p:cNvSpPr>
          <p:nvPr>
            <p:ph type="sldNum" sz="quarter" idx="4294967295"/>
          </p:nvPr>
        </p:nvSpPr>
        <p:spPr>
          <a:xfrm>
            <a:off x="8092440" y="4773168"/>
            <a:ext cx="548640" cy="274320"/>
          </a:xfrm>
          <a:prstGeom prst="rect">
            <a:avLst/>
          </a:prstGeom>
          <a:extLst>
            <a:ext uri="{C572A759-6A51-4108-AA02-DFA0A04FC94B}">
              <ma14:wrappingTextBoxFlag xmlns:ma14="http://schemas.microsoft.com/office/mac/drawingml/2011/main" val="0"/>
            </a:ext>
          </a:extLst>
        </p:spPr>
        <p:txBody>
          <a:bodyPr/>
          <a:lstStyle>
            <a:lvl1pPr>
              <a:defRPr sz="850">
                <a:solidFill>
                  <a:srgbClr val="A3ADBB"/>
                </a:solidFill>
                <a:latin typeface="Poppins"/>
                <a:ea typeface="Poppins"/>
                <a:cs typeface="Poppin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6309360" cy="1143000"/>
          </a:xfrm>
          <a:prstGeom prst="rect">
            <a:avLst/>
          </a:prstGeom>
          <a:noFill/>
          <a:ln/>
        </p:spPr>
        <p:txBody>
          <a:bodyPr wrap="square" lIns="0" tIns="0" rIns="0" bIns="0" rtlCol="0" anchor="b"/>
          <a:lstStyle/>
          <a:p>
            <a:pPr algn="l" indent="0" marL="0">
              <a:buNone/>
            </a:pPr>
            <a:r>
              <a:rPr lang="en-US" sz="3200" b="1" dirty="0">
                <a:solidFill>
                  <a:schemeClr val="bg1"/>
                </a:solidFill>
                <a:latin typeface="Prompt" pitchFamily="34" charset="0"/>
                <a:ea typeface="Prompt" pitchFamily="34" charset="-122"/>
                <a:cs typeface="Prompt" pitchFamily="34" charset="-120"/>
              </a:rPr>
              <a:t>ปัญญาประดิษฐ์กับประสิทธิภาพการทำงาน</a:t>
            </a:r>
            <a:endParaRPr lang="en-US" sz="3200" dirty="0"/>
          </a:p>
        </p:txBody>
      </p:sp>
      <p:sp>
        <p:nvSpPr>
          <p:cNvPr id="3" name="Text 0"/>
          <p:cNvSpPr/>
          <p:nvPr>
            <p:ph idx="101" type="body" hasCustomPrompt="1"/>
          </p:nvPr>
        </p:nvSpPr>
        <p:spPr>
          <a:xfrm>
            <a:off x="502920" y="1463040"/>
            <a:ext cx="6309360" cy="365760"/>
          </a:xfrm>
          <a:prstGeom prst="rect">
            <a:avLst/>
          </a:prstGeom>
          <a:noFill/>
          <a:ln/>
        </p:spPr>
        <p:txBody>
          <a:bodyPr wrap="square" lIns="0" tIns="0" rIns="0" bIns="0" rtlCol="0" anchor="t"/>
          <a:lstStyle/>
          <a:p>
            <a:pPr algn="l" indent="0" marL="0">
              <a:buNone/>
            </a:pPr>
            <a:r>
              <a:rPr lang="en-US" sz="1400" dirty="0">
                <a:solidFill>
                  <a:schemeClr val="accent4"/>
                </a:solidFill>
                <a:latin typeface="Prompt" pitchFamily="34" charset="0"/>
                <a:ea typeface="Prompt" pitchFamily="34" charset="-122"/>
                <a:cs typeface="Prompt" pitchFamily="34" charset="-120"/>
              </a:rPr>
              <a:t>หลักฐานจากการทดลองภาคสนามสองชิ้นล่าสุด</a:t>
            </a:r>
            <a:endParaRPr lang="en-US" sz="1400" dirty="0"/>
          </a:p>
        </p:txBody>
      </p:sp>
      <p:pic>
        <p:nvPicPr>
          <p:cNvPr id="4" name="mascot waving" descr="preencoded.png">    </p:cNvPr>
          <p:cNvPicPr>
            <a:picLocks noChangeAspect="1"/>
          </p:cNvPicPr>
          <p:nvPr/>
        </p:nvPicPr>
        <p:blipFill>
          <a:blip r:embed="rId1"/>
          <a:stretch>
            <a:fillRect/>
          </a:stretch>
        </p:blipFill>
        <p:spPr>
          <a:xfrm>
            <a:off x="6858000" y="320040"/>
            <a:ext cx="1920240" cy="1664208"/>
          </a:xfrm>
          <a:prstGeom prst="rect">
            <a:avLst/>
          </a:prstGeom>
        </p:spPr>
      </p:pic>
      <p:sp>
        <p:nvSpPr>
          <p:cNvPr id="5" name="central question"/>
          <p:cNvSpPr txBox="1"/>
          <p:nvPr/>
        </p:nvSpPr>
        <p:spPr>
          <a:xfrm>
            <a:off x="502920" y="1938528"/>
            <a:ext cx="8138160" cy="365760"/>
          </a:xfrm>
          <a:prstGeom prst="rect">
            <a:avLst/>
          </a:prstGeom>
          <a:noFill/>
          <a:ln/>
        </p:spPr>
        <p:txBody>
          <a:bodyPr wrap="square" lIns="0" tIns="0" rIns="0" bIns="0" rtlCol="0" anchor="ctr"/>
          <a:lstStyle/>
          <a:p>
            <a:pPr indent="0" marL="0">
              <a:buNone/>
            </a:pPr>
            <a:r>
              <a:rPr lang="en-US" sz="1300" b="1" dirty="0">
                <a:solidFill>
                  <a:srgbClr val="FFFFFF"/>
                </a:solidFill>
                <a:latin typeface="Prompt" pitchFamily="34" charset="0"/>
                <a:ea typeface="Prompt" pitchFamily="34" charset="-122"/>
                <a:cs typeface="Prompt" pitchFamily="34" charset="-120"/>
              </a:rPr>
              <a:t>AI ส่งผลต่อผลิตภาพ คุณภาพงาน และผลการดำเนินธุรกิจอย่างไร?</a:t>
            </a:r>
            <a:endParaRPr lang="en-US" sz="1300" dirty="0"/>
          </a:p>
        </p:txBody>
      </p:sp>
      <p:sp>
        <p:nvSpPr>
          <p:cNvPr id="6" name="article card 1"/>
          <p:cNvSpPr/>
          <p:nvPr/>
        </p:nvSpPr>
        <p:spPr>
          <a:xfrm>
            <a:off x="502920" y="2432304"/>
            <a:ext cx="3931920" cy="1261872"/>
          </a:xfrm>
          <a:prstGeom prst="roundRect">
            <a:avLst>
              <a:gd name="adj" fmla="val 8696"/>
            </a:avLst>
          </a:prstGeom>
          <a:solidFill>
            <a:srgbClr val="2A3D63"/>
          </a:solidFill>
          <a:ln w="12700">
            <a:solidFill>
              <a:srgbClr val="2A3D63"/>
            </a:solidFill>
            <a:prstDash val="solid"/>
          </a:ln>
        </p:spPr>
      </p:sp>
      <p:sp>
        <p:nvSpPr>
          <p:cNvPr id="7" name="article label"/>
          <p:cNvSpPr txBox="1"/>
          <p:nvPr/>
        </p:nvSpPr>
        <p:spPr>
          <a:xfrm>
            <a:off x="704088" y="2542032"/>
            <a:ext cx="3529584" cy="201168"/>
          </a:xfrm>
          <a:prstGeom prst="rect">
            <a:avLst/>
          </a:prstGeom>
          <a:noFill/>
          <a:ln/>
        </p:spPr>
        <p:txBody>
          <a:bodyPr wrap="square" lIns="0" tIns="0" rIns="0" bIns="0" rtlCol="0" anchor="ctr"/>
          <a:lstStyle/>
          <a:p>
            <a:pPr indent="0" marL="0">
              <a:buNone/>
            </a:pPr>
            <a:r>
              <a:rPr lang="en-US" sz="950" b="1" spc="150" kern="0" dirty="0">
                <a:solidFill>
                  <a:srgbClr val="BFE6E0"/>
                </a:solidFill>
                <a:latin typeface="Prompt" pitchFamily="34" charset="0"/>
                <a:ea typeface="Prompt" pitchFamily="34" charset="-122"/>
                <a:cs typeface="Prompt" pitchFamily="34" charset="-120"/>
              </a:rPr>
              <a:t>บทความที่ 2</a:t>
            </a:r>
            <a:endParaRPr lang="en-US" sz="950" dirty="0"/>
          </a:p>
        </p:txBody>
      </p:sp>
      <p:sp>
        <p:nvSpPr>
          <p:cNvPr id="8" name="article title"/>
          <p:cNvSpPr txBox="1"/>
          <p:nvPr/>
        </p:nvSpPr>
        <p:spPr>
          <a:xfrm>
            <a:off x="704088" y="2761488"/>
            <a:ext cx="3529584" cy="603504"/>
          </a:xfrm>
          <a:prstGeom prst="rect">
            <a:avLst/>
          </a:prstGeom>
          <a:noFill/>
          <a:ln/>
        </p:spPr>
        <p:txBody>
          <a:bodyPr wrap="square" lIns="0" tIns="0" rIns="0" bIns="0" rtlCol="0" anchor="t"/>
          <a:lstStyle/>
          <a:p>
            <a:pPr indent="0" marL="0">
              <a:buNone/>
            </a:pPr>
            <a:r>
              <a:rPr lang="en-US" sz="1050" b="1" dirty="0">
                <a:solidFill>
                  <a:srgbClr val="FFFFFF"/>
                </a:solidFill>
                <a:latin typeface="Prompt" pitchFamily="34" charset="0"/>
                <a:ea typeface="Prompt" pitchFamily="34" charset="-122"/>
                <a:cs typeface="Prompt" pitchFamily="34" charset="-120"/>
              </a:rPr>
              <a:t>Navigating the Jagged Technological Frontier: Field Experimental Evidence of the Effects of AI on Knowledge Worker Productivity and Quality</a:t>
            </a:r>
            <a:endParaRPr lang="en-US" sz="1050" dirty="0"/>
          </a:p>
        </p:txBody>
      </p:sp>
      <p:sp>
        <p:nvSpPr>
          <p:cNvPr id="9" name="article meta"/>
          <p:cNvSpPr txBox="1"/>
          <p:nvPr/>
        </p:nvSpPr>
        <p:spPr>
          <a:xfrm>
            <a:off x="704088" y="3364992"/>
            <a:ext cx="3529584" cy="292608"/>
          </a:xfrm>
          <a:prstGeom prst="rect">
            <a:avLst/>
          </a:prstGeom>
          <a:noFill/>
          <a:ln/>
        </p:spPr>
        <p:txBody>
          <a:bodyPr wrap="square" lIns="0" tIns="0" rIns="0" bIns="0" rtlCol="0" anchor="t"/>
          <a:lstStyle/>
          <a:p>
            <a:pPr indent="0" marL="0">
              <a:buNone/>
            </a:pPr>
            <a:r>
              <a:rPr lang="en-US" sz="850" dirty="0">
                <a:solidFill>
                  <a:srgbClr val="BFE6E0"/>
                </a:solidFill>
                <a:latin typeface="Prompt" pitchFamily="34" charset="0"/>
                <a:ea typeface="Prompt" pitchFamily="34" charset="-122"/>
                <a:cs typeface="Prompt" pitchFamily="34" charset="-120"/>
              </a:rPr>
              <a:t>Fabrizio Dell'Acqua et al.  ·  Harvard Business School Working Paper 24-013, 2023</a:t>
            </a:r>
            <a:endParaRPr lang="en-US" sz="850" dirty="0"/>
          </a:p>
        </p:txBody>
      </p:sp>
      <p:sp>
        <p:nvSpPr>
          <p:cNvPr id="10" name="article card 2"/>
          <p:cNvSpPr/>
          <p:nvPr/>
        </p:nvSpPr>
        <p:spPr>
          <a:xfrm>
            <a:off x="4709160" y="2432304"/>
            <a:ext cx="3931920" cy="1261872"/>
          </a:xfrm>
          <a:prstGeom prst="roundRect">
            <a:avLst>
              <a:gd name="adj" fmla="val 8696"/>
            </a:avLst>
          </a:prstGeom>
          <a:solidFill>
            <a:srgbClr val="2A3D63"/>
          </a:solidFill>
          <a:ln w="12700">
            <a:solidFill>
              <a:srgbClr val="2A3D63"/>
            </a:solidFill>
            <a:prstDash val="solid"/>
          </a:ln>
        </p:spPr>
      </p:sp>
      <p:sp>
        <p:nvSpPr>
          <p:cNvPr id="11" name="article label"/>
          <p:cNvSpPr txBox="1"/>
          <p:nvPr/>
        </p:nvSpPr>
        <p:spPr>
          <a:xfrm>
            <a:off x="4910328" y="2542032"/>
            <a:ext cx="3529584" cy="201168"/>
          </a:xfrm>
          <a:prstGeom prst="rect">
            <a:avLst/>
          </a:prstGeom>
          <a:noFill/>
          <a:ln/>
        </p:spPr>
        <p:txBody>
          <a:bodyPr wrap="square" lIns="0" tIns="0" rIns="0" bIns="0" rtlCol="0" anchor="ctr"/>
          <a:lstStyle/>
          <a:p>
            <a:pPr indent="0" marL="0">
              <a:buNone/>
            </a:pPr>
            <a:r>
              <a:rPr lang="en-US" sz="950" b="1" spc="150" kern="0" dirty="0">
                <a:solidFill>
                  <a:srgbClr val="BFE6E0"/>
                </a:solidFill>
                <a:latin typeface="Prompt" pitchFamily="34" charset="0"/>
                <a:ea typeface="Prompt" pitchFamily="34" charset="-122"/>
                <a:cs typeface="Prompt" pitchFamily="34" charset="-120"/>
              </a:rPr>
              <a:t>บทความที่ 5</a:t>
            </a:r>
            <a:endParaRPr lang="en-US" sz="950" dirty="0"/>
          </a:p>
        </p:txBody>
      </p:sp>
      <p:sp>
        <p:nvSpPr>
          <p:cNvPr id="12" name="article title"/>
          <p:cNvSpPr txBox="1"/>
          <p:nvPr/>
        </p:nvSpPr>
        <p:spPr>
          <a:xfrm>
            <a:off x="4910328" y="2761488"/>
            <a:ext cx="3529584" cy="603504"/>
          </a:xfrm>
          <a:prstGeom prst="rect">
            <a:avLst/>
          </a:prstGeom>
          <a:noFill/>
          <a:ln/>
        </p:spPr>
        <p:txBody>
          <a:bodyPr wrap="square" lIns="0" tIns="0" rIns="0" bIns="0" rtlCol="0" anchor="t"/>
          <a:lstStyle/>
          <a:p>
            <a:pPr indent="0" marL="0">
              <a:buNone/>
            </a:pPr>
            <a:r>
              <a:rPr lang="en-US" sz="1050" b="1" dirty="0">
                <a:solidFill>
                  <a:srgbClr val="FFFFFF"/>
                </a:solidFill>
                <a:latin typeface="Prompt" pitchFamily="34" charset="0"/>
                <a:ea typeface="Prompt" pitchFamily="34" charset="-122"/>
                <a:cs typeface="Prompt" pitchFamily="34" charset="-120"/>
              </a:rPr>
              <a:t>The Uneven Impact of Generative Artificial Intelligence on Entrepreneurial Performance: Evidence from a Field Experiment in Kenya</a:t>
            </a:r>
            <a:endParaRPr lang="en-US" sz="1050" dirty="0"/>
          </a:p>
        </p:txBody>
      </p:sp>
      <p:sp>
        <p:nvSpPr>
          <p:cNvPr id="13" name="article meta"/>
          <p:cNvSpPr txBox="1"/>
          <p:nvPr/>
        </p:nvSpPr>
        <p:spPr>
          <a:xfrm>
            <a:off x="4910328" y="3364992"/>
            <a:ext cx="3529584" cy="292608"/>
          </a:xfrm>
          <a:prstGeom prst="rect">
            <a:avLst/>
          </a:prstGeom>
          <a:noFill/>
          <a:ln/>
        </p:spPr>
        <p:txBody>
          <a:bodyPr wrap="square" lIns="0" tIns="0" rIns="0" bIns="0" rtlCol="0" anchor="t"/>
          <a:lstStyle/>
          <a:p>
            <a:pPr indent="0" marL="0">
              <a:buNone/>
            </a:pPr>
            <a:r>
              <a:rPr lang="en-US" sz="850" dirty="0">
                <a:solidFill>
                  <a:srgbClr val="BFE6E0"/>
                </a:solidFill>
                <a:latin typeface="Prompt" pitchFamily="34" charset="0"/>
                <a:ea typeface="Prompt" pitchFamily="34" charset="-122"/>
                <a:cs typeface="Prompt" pitchFamily="34" charset="-120"/>
              </a:rPr>
              <a:t>Nicholas G. Otis et al.  ·  Management Science, Vol. 72, No. 7, 2026  ·  DOI 10.1287/mnsc.2024.06909</a:t>
            </a:r>
            <a:endParaRPr lang="en-US" sz="850" dirty="0"/>
          </a:p>
        </p:txBody>
      </p:sp>
      <p:sp>
        <p:nvSpPr>
          <p:cNvPr id="14" name="roadmap head"/>
          <p:cNvSpPr txBox="1"/>
          <p:nvPr/>
        </p:nvSpPr>
        <p:spPr>
          <a:xfrm>
            <a:off x="502920" y="3840480"/>
            <a:ext cx="1051560" cy="256032"/>
          </a:xfrm>
          <a:prstGeom prst="rect">
            <a:avLst/>
          </a:prstGeom>
          <a:noFill/>
          <a:ln/>
        </p:spPr>
        <p:txBody>
          <a:bodyPr wrap="square" lIns="0" tIns="0" rIns="0" bIns="0" rtlCol="0" anchor="ctr"/>
          <a:lstStyle/>
          <a:p>
            <a:pPr indent="0" marL="0">
              <a:buNone/>
            </a:pPr>
            <a:r>
              <a:rPr lang="en-US" sz="950" b="1" dirty="0">
                <a:solidFill>
                  <a:srgbClr val="BFE6E0"/>
                </a:solidFill>
                <a:latin typeface="Prompt" pitchFamily="34" charset="0"/>
                <a:ea typeface="Prompt" pitchFamily="34" charset="-122"/>
                <a:cs typeface="Prompt" pitchFamily="34" charset="-120"/>
              </a:rPr>
              <a:t>ลำดับการนำเสนอ</a:t>
            </a:r>
            <a:endParaRPr lang="en-US" sz="950" dirty="0"/>
          </a:p>
        </p:txBody>
      </p:sp>
      <p:sp>
        <p:nvSpPr>
          <p:cNvPr id="15" name="roadmap chip 1"/>
          <p:cNvSpPr/>
          <p:nvPr/>
        </p:nvSpPr>
        <p:spPr>
          <a:xfrm>
            <a:off x="1645920" y="3840480"/>
            <a:ext cx="1325880" cy="256032"/>
          </a:xfrm>
          <a:prstGeom prst="roundRect">
            <a:avLst>
              <a:gd name="adj" fmla="val 50000"/>
            </a:avLst>
          </a:prstGeom>
          <a:solidFill>
            <a:srgbClr val="2E8B86"/>
          </a:solidFill>
          <a:ln w="12700">
            <a:solidFill>
              <a:srgbClr val="2E8B86"/>
            </a:solidFill>
            <a:prstDash val="solid"/>
          </a:ln>
        </p:spPr>
      </p:sp>
      <p:sp>
        <p:nvSpPr>
          <p:cNvPr id="16" name="roadmap chip text"/>
          <p:cNvSpPr txBox="1"/>
          <p:nvPr/>
        </p:nvSpPr>
        <p:spPr>
          <a:xfrm>
            <a:off x="1645920" y="3840480"/>
            <a:ext cx="1325880" cy="256032"/>
          </a:xfrm>
          <a:prstGeom prst="rect">
            <a:avLst/>
          </a:prstGeom>
          <a:noFill/>
          <a:ln/>
        </p:spPr>
        <p:txBody>
          <a:bodyPr wrap="square" lIns="0" tIns="0" rIns="0" bIns="0" rtlCol="0" anchor="ctr"/>
          <a:lstStyle/>
          <a:p>
            <a:pPr algn="ctr" indent="0" marL="0">
              <a:buNone/>
            </a:pPr>
            <a:r>
              <a:rPr lang="en-US" sz="750" b="1" dirty="0">
                <a:solidFill>
                  <a:srgbClr val="FFFFFF"/>
                </a:solidFill>
                <a:latin typeface="Prompt" pitchFamily="34" charset="0"/>
                <a:ea typeface="Prompt" pitchFamily="34" charset="-122"/>
                <a:cs typeface="Prompt" pitchFamily="34" charset="-120"/>
              </a:rPr>
              <a:t>1  บทนำ</a:t>
            </a:r>
            <a:endParaRPr lang="en-US" sz="750" dirty="0"/>
          </a:p>
        </p:txBody>
      </p:sp>
      <p:sp>
        <p:nvSpPr>
          <p:cNvPr id="17" name="roadmap chip 2"/>
          <p:cNvSpPr/>
          <p:nvPr/>
        </p:nvSpPr>
        <p:spPr>
          <a:xfrm>
            <a:off x="3063240" y="3840480"/>
            <a:ext cx="1325880" cy="256032"/>
          </a:xfrm>
          <a:prstGeom prst="roundRect">
            <a:avLst>
              <a:gd name="adj" fmla="val 50000"/>
            </a:avLst>
          </a:prstGeom>
          <a:solidFill>
            <a:srgbClr val="2A3D63"/>
          </a:solidFill>
          <a:ln w="12700">
            <a:solidFill>
              <a:srgbClr val="2A3D63"/>
            </a:solidFill>
            <a:prstDash val="solid"/>
          </a:ln>
        </p:spPr>
      </p:sp>
      <p:sp>
        <p:nvSpPr>
          <p:cNvPr id="18" name="roadmap chip text"/>
          <p:cNvSpPr txBox="1"/>
          <p:nvPr/>
        </p:nvSpPr>
        <p:spPr>
          <a:xfrm>
            <a:off x="3063240" y="3840480"/>
            <a:ext cx="1325880" cy="256032"/>
          </a:xfrm>
          <a:prstGeom prst="rect">
            <a:avLst/>
          </a:prstGeom>
          <a:noFill/>
          <a:ln/>
        </p:spPr>
        <p:txBody>
          <a:bodyPr wrap="square" lIns="0" tIns="0" rIns="0" bIns="0" rtlCol="0" anchor="ctr"/>
          <a:lstStyle/>
          <a:p>
            <a:pPr algn="ctr" indent="0" marL="0">
              <a:buNone/>
            </a:pPr>
            <a:r>
              <a:rPr lang="en-US" sz="750" b="1" dirty="0">
                <a:solidFill>
                  <a:srgbClr val="FFFFFF"/>
                </a:solidFill>
                <a:latin typeface="Prompt" pitchFamily="34" charset="0"/>
                <a:ea typeface="Prompt" pitchFamily="34" charset="-122"/>
                <a:cs typeface="Prompt" pitchFamily="34" charset="-120"/>
              </a:rPr>
              <a:t>2  บทความ 2: วิธีวิจัย</a:t>
            </a:r>
            <a:endParaRPr lang="en-US" sz="750" dirty="0"/>
          </a:p>
        </p:txBody>
      </p:sp>
      <p:sp>
        <p:nvSpPr>
          <p:cNvPr id="19" name="roadmap chip 3"/>
          <p:cNvSpPr/>
          <p:nvPr/>
        </p:nvSpPr>
        <p:spPr>
          <a:xfrm>
            <a:off x="4480560" y="3840480"/>
            <a:ext cx="1325880" cy="256032"/>
          </a:xfrm>
          <a:prstGeom prst="roundRect">
            <a:avLst>
              <a:gd name="adj" fmla="val 50000"/>
            </a:avLst>
          </a:prstGeom>
          <a:solidFill>
            <a:srgbClr val="2A3D63"/>
          </a:solidFill>
          <a:ln w="12700">
            <a:solidFill>
              <a:srgbClr val="2A3D63"/>
            </a:solidFill>
            <a:prstDash val="solid"/>
          </a:ln>
        </p:spPr>
      </p:sp>
      <p:sp>
        <p:nvSpPr>
          <p:cNvPr id="20" name="roadmap chip text"/>
          <p:cNvSpPr txBox="1"/>
          <p:nvPr/>
        </p:nvSpPr>
        <p:spPr>
          <a:xfrm>
            <a:off x="4480560" y="3840480"/>
            <a:ext cx="1325880" cy="256032"/>
          </a:xfrm>
          <a:prstGeom prst="rect">
            <a:avLst/>
          </a:prstGeom>
          <a:noFill/>
          <a:ln/>
        </p:spPr>
        <p:txBody>
          <a:bodyPr wrap="square" lIns="0" tIns="0" rIns="0" bIns="0" rtlCol="0" anchor="ctr"/>
          <a:lstStyle/>
          <a:p>
            <a:pPr algn="ctr" indent="0" marL="0">
              <a:buNone/>
            </a:pPr>
            <a:r>
              <a:rPr lang="en-US" sz="750" b="1" dirty="0">
                <a:solidFill>
                  <a:srgbClr val="FFFFFF"/>
                </a:solidFill>
                <a:latin typeface="Prompt" pitchFamily="34" charset="0"/>
                <a:ea typeface="Prompt" pitchFamily="34" charset="-122"/>
                <a:cs typeface="Prompt" pitchFamily="34" charset="-120"/>
              </a:rPr>
              <a:t>3  บทความ 2: ผลการศึกษา</a:t>
            </a:r>
            <a:endParaRPr lang="en-US" sz="750" dirty="0"/>
          </a:p>
        </p:txBody>
      </p:sp>
      <p:sp>
        <p:nvSpPr>
          <p:cNvPr id="21" name="roadmap chip 4"/>
          <p:cNvSpPr/>
          <p:nvPr/>
        </p:nvSpPr>
        <p:spPr>
          <a:xfrm>
            <a:off x="5897880" y="3840480"/>
            <a:ext cx="1325880" cy="256032"/>
          </a:xfrm>
          <a:prstGeom prst="roundRect">
            <a:avLst>
              <a:gd name="adj" fmla="val 50000"/>
            </a:avLst>
          </a:prstGeom>
          <a:solidFill>
            <a:srgbClr val="2A3D63"/>
          </a:solidFill>
          <a:ln w="12700">
            <a:solidFill>
              <a:srgbClr val="2A3D63"/>
            </a:solidFill>
            <a:prstDash val="solid"/>
          </a:ln>
        </p:spPr>
      </p:sp>
      <p:sp>
        <p:nvSpPr>
          <p:cNvPr id="22" name="roadmap chip text"/>
          <p:cNvSpPr txBox="1"/>
          <p:nvPr/>
        </p:nvSpPr>
        <p:spPr>
          <a:xfrm>
            <a:off x="5897880" y="3840480"/>
            <a:ext cx="1325880" cy="256032"/>
          </a:xfrm>
          <a:prstGeom prst="rect">
            <a:avLst/>
          </a:prstGeom>
          <a:noFill/>
          <a:ln/>
        </p:spPr>
        <p:txBody>
          <a:bodyPr wrap="square" lIns="0" tIns="0" rIns="0" bIns="0" rtlCol="0" anchor="ctr"/>
          <a:lstStyle/>
          <a:p>
            <a:pPr algn="ctr" indent="0" marL="0">
              <a:buNone/>
            </a:pPr>
            <a:r>
              <a:rPr lang="en-US" sz="750" b="1" dirty="0">
                <a:solidFill>
                  <a:srgbClr val="FFFFFF"/>
                </a:solidFill>
                <a:latin typeface="Prompt" pitchFamily="34" charset="0"/>
                <a:ea typeface="Prompt" pitchFamily="34" charset="-122"/>
                <a:cs typeface="Prompt" pitchFamily="34" charset="-120"/>
              </a:rPr>
              <a:t>4  บทความ 5: ผู้ประกอบการ</a:t>
            </a:r>
            <a:endParaRPr lang="en-US" sz="750" dirty="0"/>
          </a:p>
        </p:txBody>
      </p:sp>
      <p:sp>
        <p:nvSpPr>
          <p:cNvPr id="23" name="roadmap chip 5"/>
          <p:cNvSpPr/>
          <p:nvPr/>
        </p:nvSpPr>
        <p:spPr>
          <a:xfrm>
            <a:off x="7315200" y="3840480"/>
            <a:ext cx="1325880" cy="256032"/>
          </a:xfrm>
          <a:prstGeom prst="roundRect">
            <a:avLst>
              <a:gd name="adj" fmla="val 50000"/>
            </a:avLst>
          </a:prstGeom>
          <a:solidFill>
            <a:srgbClr val="2A3D63"/>
          </a:solidFill>
          <a:ln w="12700">
            <a:solidFill>
              <a:srgbClr val="2A3D63"/>
            </a:solidFill>
            <a:prstDash val="solid"/>
          </a:ln>
        </p:spPr>
      </p:sp>
      <p:sp>
        <p:nvSpPr>
          <p:cNvPr id="24" name="roadmap chip text"/>
          <p:cNvSpPr txBox="1"/>
          <p:nvPr/>
        </p:nvSpPr>
        <p:spPr>
          <a:xfrm>
            <a:off x="7315200" y="3840480"/>
            <a:ext cx="1325880" cy="256032"/>
          </a:xfrm>
          <a:prstGeom prst="rect">
            <a:avLst/>
          </a:prstGeom>
          <a:noFill/>
          <a:ln/>
        </p:spPr>
        <p:txBody>
          <a:bodyPr wrap="square" lIns="0" tIns="0" rIns="0" bIns="0" rtlCol="0" anchor="ctr"/>
          <a:lstStyle/>
          <a:p>
            <a:pPr algn="ctr" indent="0" marL="0">
              <a:buNone/>
            </a:pPr>
            <a:r>
              <a:rPr lang="en-US" sz="750" b="1" dirty="0">
                <a:solidFill>
                  <a:srgbClr val="FFFFFF"/>
                </a:solidFill>
                <a:latin typeface="Prompt" pitchFamily="34" charset="0"/>
                <a:ea typeface="Prompt" pitchFamily="34" charset="-122"/>
                <a:cs typeface="Prompt" pitchFamily="34" charset="-120"/>
              </a:rPr>
              <a:t>5  อภิปรายผล</a:t>
            </a:r>
            <a:endParaRPr lang="en-US" sz="750" dirty="0"/>
          </a:p>
        </p:txBody>
      </p:sp>
      <p:sp>
        <p:nvSpPr>
          <p:cNvPr id="25" name="presenter"/>
          <p:cNvSpPr txBox="1"/>
          <p:nvPr/>
        </p:nvSpPr>
        <p:spPr>
          <a:xfrm>
            <a:off x="502920" y="4261104"/>
            <a:ext cx="8138160" cy="457200"/>
          </a:xfrm>
          <a:prstGeom prst="rect">
            <a:avLst/>
          </a:prstGeom>
          <a:noFill/>
          <a:ln/>
        </p:spPr>
        <p:txBody>
          <a:bodyPr wrap="square" lIns="0" tIns="0" rIns="0" bIns="0" rtlCol="0" anchor="t"/>
          <a:lstStyle/>
          <a:p>
            <a:pPr indent="0" marL="0">
              <a:buNone/>
            </a:pPr>
            <a:r>
              <a:rPr lang="en-US" sz="1200" b="1" dirty="0">
                <a:solidFill>
                  <a:srgbClr val="FFFFFF"/>
                </a:solidFill>
                <a:latin typeface="Prompt" pitchFamily="34" charset="0"/>
                <a:ea typeface="Prompt" pitchFamily="34" charset="-122"/>
                <a:cs typeface="Prompt" pitchFamily="34" charset="-120"/>
              </a:rPr>
              <a:t>Chayanun Sungsa-ard</a:t>
            </a:r>
            <a:endParaRPr lang="en-US" sz="1200" dirty="0"/>
          </a:p>
          <a:p>
            <a:pPr indent="0" marL="0">
              <a:buNone/>
            </a:pPr>
            <a:r>
              <a:rPr lang="en-US" sz="1000" dirty="0">
                <a:solidFill>
                  <a:srgbClr val="BFE6E0"/>
                </a:solidFill>
                <a:latin typeface="Prompt" pitchFamily="34" charset="0"/>
                <a:ea typeface="Prompt" pitchFamily="34" charset="-122"/>
                <a:cs typeface="Prompt" pitchFamily="34" charset="-120"/>
              </a:rPr>
              <a:t>รหัสนักศึกษา 691401708  ·  MBA  ·  ENG 501 English for Master's Degree</a:t>
            </a:r>
            <a:endParaRPr lang="en-US" sz="1200" dirty="0"/>
          </a:p>
        </p:txBody>
      </p:sp>
      <p:sp>
        <p:nvSpPr>
          <p:cNvPr id="25" name="Slide Number Placeholder 0"/>
          <p:cNvSpPr>
            <a:spLocks noGrp="1"/>
          </p:cNvSpPr>
          <p:nvPr>
            <p:ph type="sldNum" sz="quarter" idx="4294967295"/>
          </p:nvPr>
        </p:nvSpPr>
        <p:spPr>
          <a:xfrm>
            <a:off x="8092440" y="477316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3ADBB"/>
                </a:solidFill>
                <a:latin typeface="Prompt"/>
                <a:ea typeface="Prompt"/>
                <a:cs typeface="Prompt"/>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02920" y="274320"/>
            <a:ext cx="5943600" cy="237744"/>
          </a:xfrm>
          <a:prstGeom prst="rect">
            <a:avLst/>
          </a:prstGeom>
          <a:noFill/>
          <a:ln/>
        </p:spPr>
        <p:txBody>
          <a:bodyPr wrap="square" lIns="0" tIns="0" rIns="0" bIns="0" rtlCol="0" anchor="ctr"/>
          <a:lstStyle/>
          <a:p>
            <a:pPr algn="l" indent="0" marL="0">
              <a:buNone/>
            </a:pPr>
            <a:r>
              <a:rPr lang="en-US" sz="1000" b="1" spc="150" kern="0" dirty="0">
                <a:solidFill>
                  <a:schemeClr val="accent1"/>
                </a:solidFill>
                <a:latin typeface="Prompt" pitchFamily="34" charset="0"/>
                <a:ea typeface="Prompt" pitchFamily="34" charset="-122"/>
                <a:cs typeface="Prompt" pitchFamily="34" charset="-120"/>
              </a:rPr>
              <a:t>บทความที่ 2  ·  วัตถุประสงค์และวิธีวิจัย</a:t>
            </a:r>
            <a:endParaRPr lang="en-US" sz="1000" dirty="0"/>
          </a:p>
        </p:txBody>
      </p:sp>
      <p:sp>
        <p:nvSpPr>
          <p:cNvPr id="3" name="Text 0"/>
          <p:cNvSpPr/>
          <p:nvPr>
            <p:ph idx="101" type="title" hasCustomPrompt="1"/>
          </p:nvPr>
        </p:nvSpPr>
        <p:spPr>
          <a:xfrm>
            <a:off x="502920" y="512064"/>
            <a:ext cx="8138160" cy="731520"/>
          </a:xfrm>
          <a:prstGeom prst="rect">
            <a:avLst/>
          </a:prstGeom>
          <a:noFill/>
          <a:ln/>
        </p:spPr>
        <p:txBody>
          <a:bodyPr wrap="square" lIns="0" tIns="0" rIns="0" bIns="0" rtlCol="0" anchor="ctr">
            <a:normAutofit/>
          </a:bodyPr>
          <a:lstStyle/>
          <a:p>
            <a:pPr algn="l" indent="0" marL="0">
              <a:buNone/>
            </a:pPr>
            <a:r>
              <a:rPr lang="en-US" sz="2600" b="1" dirty="0">
                <a:solidFill>
                  <a:schemeClr val="tx1"/>
                </a:solidFill>
                <a:latin typeface="Prompt" pitchFamily="34" charset="0"/>
                <a:ea typeface="Prompt" pitchFamily="34" charset="-122"/>
                <a:cs typeface="Prompt" pitchFamily="34" charset="-120"/>
              </a:rPr>
              <a:t>การนำทางในพรมแดนเทคโนโลยีที่ไม่สม่ำเสมอ</a:t>
            </a:r>
            <a:endParaRPr lang="en-US" sz="2600" dirty="0"/>
          </a:p>
        </p:txBody>
      </p:sp>
      <p:sp>
        <p:nvSpPr>
          <p:cNvPr id="4" name="progress dot 1"/>
          <p:cNvSpPr/>
          <p:nvPr/>
        </p:nvSpPr>
        <p:spPr>
          <a:xfrm>
            <a:off x="7808976" y="342900"/>
            <a:ext cx="100584" cy="100584"/>
          </a:xfrm>
          <a:prstGeom prst="ellipse">
            <a:avLst/>
          </a:prstGeom>
          <a:solidFill>
            <a:srgbClr val="BFE6E0"/>
          </a:solidFill>
          <a:ln w="12700">
            <a:solidFill>
              <a:srgbClr val="BFE6E0"/>
            </a:solidFill>
            <a:prstDash val="solid"/>
          </a:ln>
        </p:spPr>
      </p:sp>
      <p:sp>
        <p:nvSpPr>
          <p:cNvPr id="5" name="progress dot 2"/>
          <p:cNvSpPr/>
          <p:nvPr/>
        </p:nvSpPr>
        <p:spPr>
          <a:xfrm>
            <a:off x="7991856" y="342900"/>
            <a:ext cx="100584" cy="100584"/>
          </a:xfrm>
          <a:prstGeom prst="ellipse">
            <a:avLst/>
          </a:prstGeom>
          <a:solidFill>
            <a:srgbClr val="2E8B86"/>
          </a:solidFill>
          <a:ln w="12700">
            <a:solidFill>
              <a:srgbClr val="2E8B86"/>
            </a:solidFill>
            <a:prstDash val="solid"/>
          </a:ln>
        </p:spPr>
      </p:sp>
      <p:sp>
        <p:nvSpPr>
          <p:cNvPr id="6" name="progress dot 3"/>
          <p:cNvSpPr/>
          <p:nvPr/>
        </p:nvSpPr>
        <p:spPr>
          <a:xfrm>
            <a:off x="8174736" y="342900"/>
            <a:ext cx="100584" cy="100584"/>
          </a:xfrm>
          <a:prstGeom prst="ellipse">
            <a:avLst/>
          </a:prstGeom>
          <a:solidFill>
            <a:srgbClr val="E3E8EE"/>
          </a:solidFill>
          <a:ln w="12700">
            <a:solidFill>
              <a:srgbClr val="E3E8EE"/>
            </a:solidFill>
            <a:prstDash val="solid"/>
          </a:ln>
        </p:spPr>
      </p:sp>
      <p:sp>
        <p:nvSpPr>
          <p:cNvPr id="7" name="progress dot 4"/>
          <p:cNvSpPr/>
          <p:nvPr/>
        </p:nvSpPr>
        <p:spPr>
          <a:xfrm>
            <a:off x="8357616" y="342900"/>
            <a:ext cx="100584" cy="100584"/>
          </a:xfrm>
          <a:prstGeom prst="ellipse">
            <a:avLst/>
          </a:prstGeom>
          <a:solidFill>
            <a:srgbClr val="E3E8EE"/>
          </a:solidFill>
          <a:ln w="12700">
            <a:solidFill>
              <a:srgbClr val="E3E8EE"/>
            </a:solidFill>
            <a:prstDash val="solid"/>
          </a:ln>
        </p:spPr>
      </p:sp>
      <p:sp>
        <p:nvSpPr>
          <p:cNvPr id="8" name="progress dot 5"/>
          <p:cNvSpPr/>
          <p:nvPr/>
        </p:nvSpPr>
        <p:spPr>
          <a:xfrm>
            <a:off x="8540496" y="342900"/>
            <a:ext cx="100584" cy="100584"/>
          </a:xfrm>
          <a:prstGeom prst="ellipse">
            <a:avLst/>
          </a:prstGeom>
          <a:solidFill>
            <a:srgbClr val="E3E8EE"/>
          </a:solidFill>
          <a:ln w="12700">
            <a:solidFill>
              <a:srgbClr val="E3E8EE"/>
            </a:solidFill>
            <a:prstDash val="solid"/>
          </a:ln>
        </p:spPr>
      </p:sp>
      <p:sp>
        <p:nvSpPr>
          <p:cNvPr id="9" name="progress label"/>
          <p:cNvSpPr txBox="1"/>
          <p:nvPr/>
        </p:nvSpPr>
        <p:spPr>
          <a:xfrm>
            <a:off x="7077456" y="274320"/>
            <a:ext cx="640080" cy="237744"/>
          </a:xfrm>
          <a:prstGeom prst="rect">
            <a:avLst/>
          </a:prstGeom>
          <a:noFill/>
          <a:ln/>
        </p:spPr>
        <p:txBody>
          <a:bodyPr wrap="square" lIns="0" tIns="0" rIns="0" bIns="0" rtlCol="0" anchor="ctr"/>
          <a:lstStyle/>
          <a:p>
            <a:pPr algn="r" indent="0" marL="0">
              <a:buNone/>
            </a:pPr>
            <a:r>
              <a:rPr lang="en-US" sz="900" dirty="0">
                <a:solidFill>
                  <a:srgbClr val="A3ADBB"/>
                </a:solidFill>
                <a:latin typeface="Prompt" pitchFamily="34" charset="0"/>
                <a:ea typeface="Prompt" pitchFamily="34" charset="-122"/>
                <a:cs typeface="Prompt" pitchFamily="34" charset="-120"/>
              </a:rPr>
              <a:t>2 / 5</a:t>
            </a:r>
            <a:endParaRPr lang="en-US" sz="900" dirty="0"/>
          </a:p>
        </p:txBody>
      </p:sp>
      <p:sp>
        <p:nvSpPr>
          <p:cNvPr id="10" name="icon circle"/>
          <p:cNvSpPr/>
          <p:nvPr/>
        </p:nvSpPr>
        <p:spPr>
          <a:xfrm>
            <a:off x="502920" y="1481328"/>
            <a:ext cx="365760" cy="365760"/>
          </a:xfrm>
          <a:prstGeom prst="ellipse">
            <a:avLst/>
          </a:prstGeom>
          <a:solidFill>
            <a:srgbClr val="F3F5F8"/>
          </a:solidFill>
          <a:ln w="12700">
            <a:solidFill>
              <a:srgbClr val="F3F5F8"/>
            </a:solidFill>
            <a:prstDash val="solid"/>
          </a:ln>
        </p:spPr>
      </p:sp>
      <p:pic>
        <p:nvPicPr>
          <p:cNvPr id="11" name="icon FiBriefcase" descr="preencoded.png">    </p:cNvPr>
          <p:cNvPicPr>
            <a:picLocks noChangeAspect="1"/>
          </p:cNvPicPr>
          <p:nvPr/>
        </p:nvPicPr>
        <p:blipFill>
          <a:blip r:embed="rId1"/>
          <a:stretch>
            <a:fillRect/>
          </a:stretch>
        </p:blipFill>
        <p:spPr>
          <a:xfrm>
            <a:off x="585216" y="1563624"/>
            <a:ext cx="201168" cy="201168"/>
          </a:xfrm>
          <a:prstGeom prst="rect">
            <a:avLst/>
          </a:prstGeom>
        </p:spPr>
      </p:pic>
      <p:sp>
        <p:nvSpPr>
          <p:cNvPr id="12" name="fact องค์กรที่ร่วมวิจัย"/>
          <p:cNvSpPr txBox="1"/>
          <p:nvPr/>
        </p:nvSpPr>
        <p:spPr>
          <a:xfrm>
            <a:off x="1005840" y="1435608"/>
            <a:ext cx="3429000" cy="539496"/>
          </a:xfrm>
          <a:prstGeom prst="rect">
            <a:avLst/>
          </a:prstGeom>
          <a:noFill/>
          <a:ln/>
        </p:spPr>
        <p:txBody>
          <a:bodyPr wrap="square" lIns="0" tIns="0" rIns="0" bIns="0" rtlCol="0" anchor="t"/>
          <a:lstStyle/>
          <a:p>
            <a:pPr indent="0" marL="0">
              <a:buNone/>
            </a:pPr>
            <a:r>
              <a:rPr lang="en-US" sz="1200" b="1" dirty="0">
                <a:solidFill>
                  <a:schemeClr val="tx1"/>
                </a:solidFill>
                <a:latin typeface="Prompt" pitchFamily="34" charset="0"/>
                <a:ea typeface="Prompt" pitchFamily="34" charset="-122"/>
                <a:cs typeface="Prompt" pitchFamily="34" charset="-120"/>
              </a:rPr>
              <a:t>องค์กรที่ร่วมวิจัย</a:t>
            </a:r>
            <a:endParaRPr lang="en-US" sz="1200" dirty="0"/>
          </a:p>
          <a:p>
            <a:pPr indent="0" marL="0">
              <a:buNone/>
            </a:pPr>
            <a:r>
              <a:rPr lang="en-US" sz="1100" dirty="0">
                <a:solidFill>
                  <a:schemeClr val="tx2"/>
                </a:solidFill>
                <a:latin typeface="Prompt" pitchFamily="34" charset="0"/>
                <a:ea typeface="Prompt" pitchFamily="34" charset="-122"/>
                <a:cs typeface="Prompt" pitchFamily="34" charset="-120"/>
              </a:rPr>
              <a:t>การทดลองภาคสนามร่วมกับ Boston Consulting Group (BCG)</a:t>
            </a:r>
            <a:endParaRPr lang="en-US" sz="1200" dirty="0"/>
          </a:p>
        </p:txBody>
      </p:sp>
      <p:sp>
        <p:nvSpPr>
          <p:cNvPr id="13" name="icon circle"/>
          <p:cNvSpPr/>
          <p:nvPr/>
        </p:nvSpPr>
        <p:spPr>
          <a:xfrm>
            <a:off x="502920" y="2066544"/>
            <a:ext cx="365760" cy="365760"/>
          </a:xfrm>
          <a:prstGeom prst="ellipse">
            <a:avLst/>
          </a:prstGeom>
          <a:solidFill>
            <a:srgbClr val="F3F5F8"/>
          </a:solidFill>
          <a:ln w="12700">
            <a:solidFill>
              <a:srgbClr val="F3F5F8"/>
            </a:solidFill>
            <a:prstDash val="solid"/>
          </a:ln>
        </p:spPr>
      </p:sp>
      <p:pic>
        <p:nvPicPr>
          <p:cNvPr id="14" name="icon FiUsers" descr="preencoded.png">    </p:cNvPr>
          <p:cNvPicPr>
            <a:picLocks noChangeAspect="1"/>
          </p:cNvPicPr>
          <p:nvPr/>
        </p:nvPicPr>
        <p:blipFill>
          <a:blip r:embed="rId2"/>
          <a:stretch>
            <a:fillRect/>
          </a:stretch>
        </p:blipFill>
        <p:spPr>
          <a:xfrm>
            <a:off x="585216" y="2148840"/>
            <a:ext cx="201168" cy="201168"/>
          </a:xfrm>
          <a:prstGeom prst="rect">
            <a:avLst/>
          </a:prstGeom>
        </p:spPr>
      </p:pic>
      <p:sp>
        <p:nvSpPr>
          <p:cNvPr id="15" name="fact ผู้เข้าร่วม"/>
          <p:cNvSpPr txBox="1"/>
          <p:nvPr/>
        </p:nvSpPr>
        <p:spPr>
          <a:xfrm>
            <a:off x="1005840" y="2020824"/>
            <a:ext cx="3429000" cy="539496"/>
          </a:xfrm>
          <a:prstGeom prst="rect">
            <a:avLst/>
          </a:prstGeom>
          <a:noFill/>
          <a:ln/>
        </p:spPr>
        <p:txBody>
          <a:bodyPr wrap="square" lIns="0" tIns="0" rIns="0" bIns="0" rtlCol="0" anchor="t"/>
          <a:lstStyle/>
          <a:p>
            <a:pPr indent="0" marL="0">
              <a:buNone/>
            </a:pPr>
            <a:r>
              <a:rPr lang="en-US" sz="1200" b="1" dirty="0">
                <a:solidFill>
                  <a:schemeClr val="tx1"/>
                </a:solidFill>
                <a:latin typeface="Prompt" pitchFamily="34" charset="0"/>
                <a:ea typeface="Prompt" pitchFamily="34" charset="-122"/>
                <a:cs typeface="Prompt" pitchFamily="34" charset="-120"/>
              </a:rPr>
              <a:t>ผู้เข้าร่วม</a:t>
            </a:r>
            <a:endParaRPr lang="en-US" sz="1200" dirty="0"/>
          </a:p>
          <a:p>
            <a:pPr indent="0" marL="0">
              <a:buNone/>
            </a:pPr>
            <a:r>
              <a:rPr lang="en-US" sz="1100" dirty="0">
                <a:solidFill>
                  <a:schemeClr val="tx2"/>
                </a:solidFill>
                <a:latin typeface="Prompt" pitchFamily="34" charset="0"/>
                <a:ea typeface="Prompt" pitchFamily="34" charset="-122"/>
                <a:cs typeface="Prompt" pitchFamily="34" charset="-120"/>
              </a:rPr>
              <a:t>ที่ปรึกษา 758 คน</a:t>
            </a:r>
            <a:endParaRPr lang="en-US" sz="1200" dirty="0"/>
          </a:p>
        </p:txBody>
      </p:sp>
      <p:sp>
        <p:nvSpPr>
          <p:cNvPr id="16" name="icon circle"/>
          <p:cNvSpPr/>
          <p:nvPr/>
        </p:nvSpPr>
        <p:spPr>
          <a:xfrm>
            <a:off x="502920" y="2651760"/>
            <a:ext cx="365760" cy="365760"/>
          </a:xfrm>
          <a:prstGeom prst="ellipse">
            <a:avLst/>
          </a:prstGeom>
          <a:solidFill>
            <a:srgbClr val="F3F5F8"/>
          </a:solidFill>
          <a:ln w="12700">
            <a:solidFill>
              <a:srgbClr val="F3F5F8"/>
            </a:solidFill>
            <a:prstDash val="solid"/>
          </a:ln>
        </p:spPr>
      </p:sp>
      <p:pic>
        <p:nvPicPr>
          <p:cNvPr id="17" name="icon FiTarget" descr="preencoded.png">    </p:cNvPr>
          <p:cNvPicPr>
            <a:picLocks noChangeAspect="1"/>
          </p:cNvPicPr>
          <p:nvPr/>
        </p:nvPicPr>
        <p:blipFill>
          <a:blip r:embed="rId3"/>
          <a:stretch>
            <a:fillRect/>
          </a:stretch>
        </p:blipFill>
        <p:spPr>
          <a:xfrm>
            <a:off x="585216" y="2734056"/>
            <a:ext cx="201168" cy="201168"/>
          </a:xfrm>
          <a:prstGeom prst="rect">
            <a:avLst/>
          </a:prstGeom>
        </p:spPr>
      </p:pic>
      <p:sp>
        <p:nvSpPr>
          <p:cNvPr id="18" name="fact ประเด็นที่ศึกษา"/>
          <p:cNvSpPr txBox="1"/>
          <p:nvPr/>
        </p:nvSpPr>
        <p:spPr>
          <a:xfrm>
            <a:off x="1005840" y="2606040"/>
            <a:ext cx="3429000" cy="539496"/>
          </a:xfrm>
          <a:prstGeom prst="rect">
            <a:avLst/>
          </a:prstGeom>
          <a:noFill/>
          <a:ln/>
        </p:spPr>
        <p:txBody>
          <a:bodyPr wrap="square" lIns="0" tIns="0" rIns="0" bIns="0" rtlCol="0" anchor="t"/>
          <a:lstStyle/>
          <a:p>
            <a:pPr indent="0" marL="0">
              <a:buNone/>
            </a:pPr>
            <a:r>
              <a:rPr lang="en-US" sz="1200" b="1" dirty="0">
                <a:solidFill>
                  <a:schemeClr val="tx1"/>
                </a:solidFill>
                <a:latin typeface="Prompt" pitchFamily="34" charset="0"/>
                <a:ea typeface="Prompt" pitchFamily="34" charset="-122"/>
                <a:cs typeface="Prompt" pitchFamily="34" charset="-120"/>
              </a:rPr>
              <a:t>ประเด็นที่ศึกษา</a:t>
            </a:r>
            <a:endParaRPr lang="en-US" sz="1200" dirty="0"/>
          </a:p>
          <a:p>
            <a:pPr indent="0" marL="0">
              <a:buNone/>
            </a:pPr>
            <a:r>
              <a:rPr lang="en-US" sz="1100" dirty="0">
                <a:solidFill>
                  <a:schemeClr val="tx2"/>
                </a:solidFill>
                <a:latin typeface="Prompt" pitchFamily="34" charset="0"/>
                <a:ea typeface="Prompt" pitchFamily="34" charset="-122"/>
                <a:cs typeface="Prompt" pitchFamily="34" charset="-120"/>
              </a:rPr>
              <a:t>ผลิตภาพ คุณภาพงาน และขอบเขตความสามารถของ AI</a:t>
            </a:r>
            <a:endParaRPr lang="en-US" sz="1200" dirty="0"/>
          </a:p>
        </p:txBody>
      </p:sp>
      <p:sp>
        <p:nvSpPr>
          <p:cNvPr id="19" name="conditions head"/>
          <p:cNvSpPr txBox="1"/>
          <p:nvPr/>
        </p:nvSpPr>
        <p:spPr>
          <a:xfrm>
            <a:off x="502920" y="3273552"/>
            <a:ext cx="3931920" cy="237744"/>
          </a:xfrm>
          <a:prstGeom prst="rect">
            <a:avLst/>
          </a:prstGeom>
          <a:noFill/>
          <a:ln/>
        </p:spPr>
        <p:txBody>
          <a:bodyPr wrap="square" lIns="0" tIns="0" rIns="0" bIns="0" rtlCol="0" anchor="ctr"/>
          <a:lstStyle/>
          <a:p>
            <a:pPr indent="0" marL="0">
              <a:buNone/>
            </a:pPr>
            <a:r>
              <a:rPr lang="en-US" sz="1150" b="1" dirty="0">
                <a:solidFill>
                  <a:schemeClr val="tx1"/>
                </a:solidFill>
                <a:latin typeface="Prompt" pitchFamily="34" charset="0"/>
                <a:ea typeface="Prompt" pitchFamily="34" charset="-122"/>
                <a:cs typeface="Prompt" pitchFamily="34" charset="-120"/>
              </a:rPr>
              <a:t>เงื่อนไขการทดลองสามกลุ่ม</a:t>
            </a:r>
            <a:endParaRPr lang="en-US" sz="1150" dirty="0"/>
          </a:p>
        </p:txBody>
      </p:sp>
      <p:sp>
        <p:nvSpPr>
          <p:cNvPr id="20" name="condition 1"/>
          <p:cNvSpPr/>
          <p:nvPr/>
        </p:nvSpPr>
        <p:spPr>
          <a:xfrm>
            <a:off x="502920" y="3566160"/>
            <a:ext cx="1219200" cy="749808"/>
          </a:xfrm>
          <a:prstGeom prst="roundRect">
            <a:avLst>
              <a:gd name="adj" fmla="val 14634"/>
            </a:avLst>
          </a:prstGeom>
          <a:solidFill>
            <a:srgbClr val="F3F5F8"/>
          </a:solidFill>
          <a:ln w="12700">
            <a:solidFill>
              <a:srgbClr val="F3F5F8"/>
            </a:solidFill>
            <a:prstDash val="solid"/>
          </a:ln>
        </p:spPr>
      </p:sp>
      <p:sp>
        <p:nvSpPr>
          <p:cNvPr id="21" name="condition number"/>
          <p:cNvSpPr txBox="1"/>
          <p:nvPr/>
        </p:nvSpPr>
        <p:spPr>
          <a:xfrm>
            <a:off x="612648" y="3611880"/>
            <a:ext cx="274320" cy="237744"/>
          </a:xfrm>
          <a:prstGeom prst="rect">
            <a:avLst/>
          </a:prstGeom>
          <a:noFill/>
          <a:ln/>
        </p:spPr>
        <p:txBody>
          <a:bodyPr wrap="square" lIns="0" tIns="0" rIns="0" bIns="0" rtlCol="0" anchor="ctr"/>
          <a:lstStyle/>
          <a:p>
            <a:pPr indent="0" marL="0">
              <a:buNone/>
            </a:pPr>
            <a:r>
              <a:rPr lang="en-US" sz="1200" b="1" dirty="0">
                <a:solidFill>
                  <a:srgbClr val="2E8B86"/>
                </a:solidFill>
                <a:latin typeface="Prompt" pitchFamily="34" charset="0"/>
                <a:ea typeface="Prompt" pitchFamily="34" charset="-122"/>
                <a:cs typeface="Prompt" pitchFamily="34" charset="-120"/>
              </a:rPr>
              <a:t>1</a:t>
            </a:r>
            <a:endParaRPr lang="en-US" sz="1200" dirty="0"/>
          </a:p>
        </p:txBody>
      </p:sp>
      <p:sp>
        <p:nvSpPr>
          <p:cNvPr id="22" name="condition text"/>
          <p:cNvSpPr txBox="1"/>
          <p:nvPr/>
        </p:nvSpPr>
        <p:spPr>
          <a:xfrm>
            <a:off x="612648" y="3840480"/>
            <a:ext cx="999744" cy="438912"/>
          </a:xfrm>
          <a:prstGeom prst="rect">
            <a:avLst/>
          </a:prstGeom>
          <a:noFill/>
          <a:ln/>
        </p:spPr>
        <p:txBody>
          <a:bodyPr wrap="square" lIns="0" tIns="0" rIns="0" bIns="0" rtlCol="0" anchor="t"/>
          <a:lstStyle/>
          <a:p>
            <a:pPr indent="0" marL="0">
              <a:buNone/>
            </a:pPr>
            <a:r>
              <a:rPr lang="en-US" sz="950" dirty="0">
                <a:solidFill>
                  <a:schemeClr val="tx1"/>
                </a:solidFill>
                <a:latin typeface="Prompt" pitchFamily="34" charset="0"/>
                <a:ea typeface="Prompt" pitchFamily="34" charset="-122"/>
                <a:cs typeface="Prompt" pitchFamily="34" charset="-120"/>
              </a:rPr>
              <a:t>ไม่ใช้ AI</a:t>
            </a:r>
            <a:endParaRPr lang="en-US" sz="950" dirty="0"/>
          </a:p>
        </p:txBody>
      </p:sp>
      <p:sp>
        <p:nvSpPr>
          <p:cNvPr id="23" name="condition 2"/>
          <p:cNvSpPr/>
          <p:nvPr/>
        </p:nvSpPr>
        <p:spPr>
          <a:xfrm>
            <a:off x="1859280" y="3566160"/>
            <a:ext cx="1219200" cy="749808"/>
          </a:xfrm>
          <a:prstGeom prst="roundRect">
            <a:avLst>
              <a:gd name="adj" fmla="val 14634"/>
            </a:avLst>
          </a:prstGeom>
          <a:solidFill>
            <a:srgbClr val="F3F5F8"/>
          </a:solidFill>
          <a:ln w="12700">
            <a:solidFill>
              <a:srgbClr val="F3F5F8"/>
            </a:solidFill>
            <a:prstDash val="solid"/>
          </a:ln>
        </p:spPr>
      </p:sp>
      <p:sp>
        <p:nvSpPr>
          <p:cNvPr id="24" name="condition number"/>
          <p:cNvSpPr txBox="1"/>
          <p:nvPr/>
        </p:nvSpPr>
        <p:spPr>
          <a:xfrm>
            <a:off x="1969008" y="3611880"/>
            <a:ext cx="274320" cy="237744"/>
          </a:xfrm>
          <a:prstGeom prst="rect">
            <a:avLst/>
          </a:prstGeom>
          <a:noFill/>
          <a:ln/>
        </p:spPr>
        <p:txBody>
          <a:bodyPr wrap="square" lIns="0" tIns="0" rIns="0" bIns="0" rtlCol="0" anchor="ctr"/>
          <a:lstStyle/>
          <a:p>
            <a:pPr indent="0" marL="0">
              <a:buNone/>
            </a:pPr>
            <a:r>
              <a:rPr lang="en-US" sz="1200" b="1" dirty="0">
                <a:solidFill>
                  <a:srgbClr val="2E8B86"/>
                </a:solidFill>
                <a:latin typeface="Prompt" pitchFamily="34" charset="0"/>
                <a:ea typeface="Prompt" pitchFamily="34" charset="-122"/>
                <a:cs typeface="Prompt" pitchFamily="34" charset="-120"/>
              </a:rPr>
              <a:t>2</a:t>
            </a:r>
            <a:endParaRPr lang="en-US" sz="1200" dirty="0"/>
          </a:p>
        </p:txBody>
      </p:sp>
      <p:sp>
        <p:nvSpPr>
          <p:cNvPr id="25" name="condition text"/>
          <p:cNvSpPr txBox="1"/>
          <p:nvPr/>
        </p:nvSpPr>
        <p:spPr>
          <a:xfrm>
            <a:off x="1969008" y="3840480"/>
            <a:ext cx="999744" cy="438912"/>
          </a:xfrm>
          <a:prstGeom prst="rect">
            <a:avLst/>
          </a:prstGeom>
          <a:noFill/>
          <a:ln/>
        </p:spPr>
        <p:txBody>
          <a:bodyPr wrap="square" lIns="0" tIns="0" rIns="0" bIns="0" rtlCol="0" anchor="t"/>
          <a:lstStyle/>
          <a:p>
            <a:pPr indent="0" marL="0">
              <a:buNone/>
            </a:pPr>
            <a:r>
              <a:rPr lang="en-US" sz="950" dirty="0">
                <a:solidFill>
                  <a:schemeClr val="tx1"/>
                </a:solidFill>
                <a:latin typeface="Prompt" pitchFamily="34" charset="0"/>
                <a:ea typeface="Prompt" pitchFamily="34" charset="-122"/>
                <a:cs typeface="Prompt" pitchFamily="34" charset="-120"/>
              </a:rPr>
              <a:t>ใช้ GPT-4</a:t>
            </a:r>
            <a:endParaRPr lang="en-US" sz="950" dirty="0"/>
          </a:p>
        </p:txBody>
      </p:sp>
      <p:sp>
        <p:nvSpPr>
          <p:cNvPr id="26" name="condition 3"/>
          <p:cNvSpPr/>
          <p:nvPr/>
        </p:nvSpPr>
        <p:spPr>
          <a:xfrm>
            <a:off x="3215640" y="3566160"/>
            <a:ext cx="1219200" cy="749808"/>
          </a:xfrm>
          <a:prstGeom prst="roundRect">
            <a:avLst>
              <a:gd name="adj" fmla="val 14634"/>
            </a:avLst>
          </a:prstGeom>
          <a:solidFill>
            <a:srgbClr val="1B2A4A"/>
          </a:solidFill>
          <a:ln w="12700">
            <a:solidFill>
              <a:srgbClr val="1B2A4A"/>
            </a:solidFill>
            <a:prstDash val="solid"/>
          </a:ln>
        </p:spPr>
      </p:sp>
      <p:sp>
        <p:nvSpPr>
          <p:cNvPr id="27" name="condition number"/>
          <p:cNvSpPr txBox="1"/>
          <p:nvPr/>
        </p:nvSpPr>
        <p:spPr>
          <a:xfrm>
            <a:off x="3325368" y="3611880"/>
            <a:ext cx="274320" cy="237744"/>
          </a:xfrm>
          <a:prstGeom prst="rect">
            <a:avLst/>
          </a:prstGeom>
          <a:noFill/>
          <a:ln/>
        </p:spPr>
        <p:txBody>
          <a:bodyPr wrap="square" lIns="0" tIns="0" rIns="0" bIns="0" rtlCol="0" anchor="ctr"/>
          <a:lstStyle/>
          <a:p>
            <a:pPr indent="0" marL="0">
              <a:buNone/>
            </a:pPr>
            <a:r>
              <a:rPr lang="en-US" sz="1200" b="1" dirty="0">
                <a:solidFill>
                  <a:srgbClr val="BFE6E0"/>
                </a:solidFill>
                <a:latin typeface="Prompt" pitchFamily="34" charset="0"/>
                <a:ea typeface="Prompt" pitchFamily="34" charset="-122"/>
                <a:cs typeface="Prompt" pitchFamily="34" charset="-120"/>
              </a:rPr>
              <a:t>3</a:t>
            </a:r>
            <a:endParaRPr lang="en-US" sz="1200" dirty="0"/>
          </a:p>
        </p:txBody>
      </p:sp>
      <p:sp>
        <p:nvSpPr>
          <p:cNvPr id="28" name="condition text"/>
          <p:cNvSpPr txBox="1"/>
          <p:nvPr/>
        </p:nvSpPr>
        <p:spPr>
          <a:xfrm>
            <a:off x="3325368" y="3840480"/>
            <a:ext cx="999744" cy="438912"/>
          </a:xfrm>
          <a:prstGeom prst="rect">
            <a:avLst/>
          </a:prstGeom>
          <a:noFill/>
          <a:ln/>
        </p:spPr>
        <p:txBody>
          <a:bodyPr wrap="square" lIns="0" tIns="0" rIns="0" bIns="0" rtlCol="0" anchor="t"/>
          <a:lstStyle/>
          <a:p>
            <a:pPr indent="0" marL="0">
              <a:buNone/>
            </a:pPr>
            <a:r>
              <a:rPr lang="en-US" sz="950" dirty="0">
                <a:solidFill>
                  <a:srgbClr val="FFFFFF"/>
                </a:solidFill>
                <a:latin typeface="Prompt" pitchFamily="34" charset="0"/>
                <a:ea typeface="Prompt" pitchFamily="34" charset="-122"/>
                <a:cs typeface="Prompt" pitchFamily="34" charset="-120"/>
              </a:rPr>
              <a:t>ใช้ GPT-4 + คำแนะนำการเขียน prompt</a:t>
            </a:r>
            <a:endParaRPr lang="en-US" sz="950" dirty="0"/>
          </a:p>
        </p:txBody>
      </p:sp>
      <p:sp>
        <p:nvSpPr>
          <p:cNvPr id="29" name="divider"/>
          <p:cNvSpPr/>
          <p:nvPr/>
        </p:nvSpPr>
        <p:spPr>
          <a:xfrm>
            <a:off x="4663440" y="1481328"/>
            <a:ext cx="0" cy="0"/>
          </a:xfrm>
          <a:prstGeom prst="line">
            <a:avLst/>
          </a:prstGeom>
          <a:noFill/>
          <a:ln w="9525">
            <a:solidFill>
              <a:srgbClr val="E3E8EE"/>
            </a:solidFill>
            <a:prstDash val="solid"/>
          </a:ln>
        </p:spPr>
      </p:sp>
      <p:sp>
        <p:nvSpPr>
          <p:cNvPr id="30" name="column divider"/>
          <p:cNvSpPr/>
          <p:nvPr/>
        </p:nvSpPr>
        <p:spPr>
          <a:xfrm>
            <a:off x="4663440" y="1481328"/>
            <a:ext cx="0" cy="2834640"/>
          </a:xfrm>
          <a:prstGeom prst="line">
            <a:avLst/>
          </a:prstGeom>
          <a:noFill/>
          <a:ln w="9525">
            <a:solidFill>
              <a:srgbClr val="E3E8EE"/>
            </a:solidFill>
            <a:prstDash val="solid"/>
          </a:ln>
        </p:spPr>
      </p:sp>
      <p:sp>
        <p:nvSpPr>
          <p:cNvPr id="31" name="tag concept"/>
          <p:cNvSpPr/>
          <p:nvPr/>
        </p:nvSpPr>
        <p:spPr>
          <a:xfrm>
            <a:off x="4892040" y="1481328"/>
            <a:ext cx="1143000" cy="201168"/>
          </a:xfrm>
          <a:prstGeom prst="roundRect">
            <a:avLst>
              <a:gd name="adj" fmla="val 50000"/>
            </a:avLst>
          </a:prstGeom>
          <a:solidFill>
            <a:srgbClr val="F3F5F8"/>
          </a:solidFill>
          <a:ln w="12700">
            <a:solidFill>
              <a:srgbClr val="F3F5F8"/>
            </a:solidFill>
            <a:prstDash val="solid"/>
          </a:ln>
        </p:spPr>
      </p:sp>
      <p:sp>
        <p:nvSpPr>
          <p:cNvPr id="32" name="tag text"/>
          <p:cNvSpPr txBox="1"/>
          <p:nvPr/>
        </p:nvSpPr>
        <p:spPr>
          <a:xfrm>
            <a:off x="4892040" y="1481328"/>
            <a:ext cx="1143000" cy="201168"/>
          </a:xfrm>
          <a:prstGeom prst="rect">
            <a:avLst/>
          </a:prstGeom>
          <a:noFill/>
          <a:ln/>
        </p:spPr>
        <p:txBody>
          <a:bodyPr wrap="square" lIns="0" tIns="0" rIns="0" bIns="0" rtlCol="0" anchor="ctr"/>
          <a:lstStyle/>
          <a:p>
            <a:pPr algn="ctr" indent="0" marL="0">
              <a:buNone/>
            </a:pPr>
            <a:r>
              <a:rPr lang="en-US" sz="850" b="1" spc="150" kern="0" dirty="0">
                <a:solidFill>
                  <a:srgbClr val="6B7280"/>
                </a:solidFill>
                <a:latin typeface="Prompt" pitchFamily="34" charset="0"/>
                <a:ea typeface="Prompt" pitchFamily="34" charset="-122"/>
                <a:cs typeface="Prompt" pitchFamily="34" charset="-120"/>
              </a:rPr>
              <a:t>แนวคิด</a:t>
            </a:r>
            <a:endParaRPr lang="en-US" sz="850" dirty="0"/>
          </a:p>
        </p:txBody>
      </p:sp>
      <p:sp>
        <p:nvSpPr>
          <p:cNvPr id="33" name="concept head"/>
          <p:cNvSpPr txBox="1"/>
          <p:nvPr/>
        </p:nvSpPr>
        <p:spPr>
          <a:xfrm>
            <a:off x="4892040" y="1755648"/>
            <a:ext cx="2651760" cy="274320"/>
          </a:xfrm>
          <a:prstGeom prst="rect">
            <a:avLst/>
          </a:prstGeom>
          <a:noFill/>
          <a:ln/>
        </p:spPr>
        <p:txBody>
          <a:bodyPr wrap="square" lIns="0" tIns="0" rIns="0" bIns="0" rtlCol="0" anchor="ctr"/>
          <a:lstStyle/>
          <a:p>
            <a:pPr indent="0" marL="0">
              <a:buNone/>
            </a:pPr>
            <a:r>
              <a:rPr lang="en-US" sz="1250" b="1" dirty="0">
                <a:solidFill>
                  <a:schemeClr val="tx1"/>
                </a:solidFill>
                <a:latin typeface="Prompt" pitchFamily="34" charset="0"/>
                <a:ea typeface="Prompt" pitchFamily="34" charset="-122"/>
                <a:cs typeface="Prompt" pitchFamily="34" charset="-120"/>
              </a:rPr>
              <a:t>Jagged Technological Frontier</a:t>
            </a:r>
            <a:endParaRPr lang="en-US" sz="1250" dirty="0"/>
          </a:p>
        </p:txBody>
      </p:sp>
      <p:sp>
        <p:nvSpPr>
          <p:cNvPr id="34" name="concept body"/>
          <p:cNvSpPr txBox="1"/>
          <p:nvPr/>
        </p:nvSpPr>
        <p:spPr>
          <a:xfrm>
            <a:off x="4892040" y="2048256"/>
            <a:ext cx="2606040" cy="731520"/>
          </a:xfrm>
          <a:prstGeom prst="rect">
            <a:avLst/>
          </a:prstGeom>
          <a:noFill/>
          <a:ln/>
        </p:spPr>
        <p:txBody>
          <a:bodyPr wrap="square" lIns="0" tIns="0" rIns="0" bIns="0" rtlCol="0" anchor="t"/>
          <a:lstStyle/>
          <a:p>
            <a:pPr indent="0" marL="0">
              <a:buNone/>
            </a:pPr>
            <a:r>
              <a:rPr lang="en-US" sz="1050" dirty="0">
                <a:solidFill>
                  <a:schemeClr val="tx2"/>
                </a:solidFill>
                <a:latin typeface="Prompt" pitchFamily="34" charset="0"/>
                <a:ea typeface="Prompt" pitchFamily="34" charset="-122"/>
                <a:cs typeface="Prompt" pitchFamily="34" charset="-120"/>
              </a:rPr>
              <a:t>AI ทำงานบางอย่างได้ดี แต่ทำงานอื่นที่ดูยากพอกันได้ไม่ดี เส้นแบ่งนี้ไม่สม่ำเสมอและมองเห็นได้ยาก</a:t>
            </a:r>
            <a:endParaRPr lang="en-US" sz="1050" dirty="0"/>
          </a:p>
        </p:txBody>
      </p:sp>
      <p:pic>
        <p:nvPicPr>
          <p:cNvPr id="35" name="mascot searching" descr="preencoded.png">    </p:cNvPr>
          <p:cNvPicPr>
            <a:picLocks noChangeAspect="1"/>
          </p:cNvPicPr>
          <p:nvPr/>
        </p:nvPicPr>
        <p:blipFill>
          <a:blip r:embed="rId4"/>
          <a:stretch>
            <a:fillRect/>
          </a:stretch>
        </p:blipFill>
        <p:spPr>
          <a:xfrm>
            <a:off x="7589520" y="1481328"/>
            <a:ext cx="1005840" cy="868680"/>
          </a:xfrm>
          <a:prstGeom prst="rect">
            <a:avLst/>
          </a:prstGeom>
        </p:spPr>
      </p:pic>
      <p:pic>
        <p:nvPicPr>
          <p:cNvPr id="36" name="frontier illustration" descr="preencoded.png">    </p:cNvPr>
          <p:cNvPicPr>
            <a:picLocks noChangeAspect="1"/>
          </p:cNvPicPr>
          <p:nvPr/>
        </p:nvPicPr>
        <p:blipFill>
          <a:blip r:embed="rId5"/>
          <a:stretch>
            <a:fillRect/>
          </a:stretch>
        </p:blipFill>
        <p:spPr>
          <a:xfrm>
            <a:off x="4892040" y="2926080"/>
            <a:ext cx="3749040" cy="1371600"/>
          </a:xfrm>
          <a:prstGeom prst="rect">
            <a:avLst/>
          </a:prstGeom>
        </p:spPr>
      </p:pic>
      <p:sp>
        <p:nvSpPr>
          <p:cNvPr id="37" name="outside label"/>
          <p:cNvSpPr txBox="1"/>
          <p:nvPr/>
        </p:nvSpPr>
        <p:spPr>
          <a:xfrm>
            <a:off x="5001768" y="2999232"/>
            <a:ext cx="3529584" cy="182880"/>
          </a:xfrm>
          <a:prstGeom prst="rect">
            <a:avLst/>
          </a:prstGeom>
          <a:noFill/>
          <a:ln/>
        </p:spPr>
        <p:txBody>
          <a:bodyPr wrap="square" lIns="0" tIns="0" rIns="0" bIns="0" rtlCol="0" anchor="ctr"/>
          <a:lstStyle/>
          <a:p>
            <a:pPr algn="r" indent="0" marL="0">
              <a:buNone/>
            </a:pPr>
            <a:r>
              <a:rPr lang="en-US" sz="850" b="1" dirty="0">
                <a:solidFill>
                  <a:schemeClr val="tx2"/>
                </a:solidFill>
                <a:latin typeface="Prompt" pitchFamily="34" charset="0"/>
                <a:ea typeface="Prompt" pitchFamily="34" charset="-122"/>
                <a:cs typeface="Prompt" pitchFamily="34" charset="-120"/>
              </a:rPr>
              <a:t>ภายนอก: AI ทำได้ไม่ดี</a:t>
            </a:r>
            <a:endParaRPr lang="en-US" sz="850" dirty="0"/>
          </a:p>
        </p:txBody>
      </p:sp>
      <p:sp>
        <p:nvSpPr>
          <p:cNvPr id="38" name="inside label"/>
          <p:cNvSpPr txBox="1"/>
          <p:nvPr/>
        </p:nvSpPr>
        <p:spPr>
          <a:xfrm>
            <a:off x="5001768" y="4023360"/>
            <a:ext cx="3529584" cy="182880"/>
          </a:xfrm>
          <a:prstGeom prst="rect">
            <a:avLst/>
          </a:prstGeom>
          <a:noFill/>
          <a:ln/>
        </p:spPr>
        <p:txBody>
          <a:bodyPr wrap="square" lIns="0" tIns="0" rIns="0" bIns="0" rtlCol="0" anchor="ctr"/>
          <a:lstStyle/>
          <a:p>
            <a:pPr indent="0" marL="0">
              <a:buNone/>
            </a:pPr>
            <a:r>
              <a:rPr lang="en-US" sz="850" b="1" dirty="0">
                <a:solidFill>
                  <a:srgbClr val="2E8B86"/>
                </a:solidFill>
                <a:latin typeface="Prompt" pitchFamily="34" charset="0"/>
                <a:ea typeface="Prompt" pitchFamily="34" charset="-122"/>
                <a:cs typeface="Prompt" pitchFamily="34" charset="-120"/>
              </a:rPr>
              <a:t>ภายใน: AI ทำได้ดี</a:t>
            </a:r>
            <a:endParaRPr lang="en-US" sz="850" dirty="0"/>
          </a:p>
        </p:txBody>
      </p:sp>
      <p:sp>
        <p:nvSpPr>
          <p:cNvPr id="39" name="reference"/>
          <p:cNvSpPr txBox="1"/>
          <p:nvPr/>
        </p:nvSpPr>
        <p:spPr>
          <a:xfrm>
            <a:off x="502920" y="4480560"/>
            <a:ext cx="4937760" cy="274320"/>
          </a:xfrm>
          <a:prstGeom prst="rect">
            <a:avLst/>
          </a:prstGeom>
          <a:noFill/>
          <a:ln/>
        </p:spPr>
        <p:txBody>
          <a:bodyPr wrap="square" lIns="0" tIns="0" rIns="0" bIns="0" rtlCol="0" anchor="t"/>
          <a:lstStyle/>
          <a:p>
            <a:pPr indent="0" marL="0">
              <a:buNone/>
            </a:pPr>
            <a:r>
              <a:rPr lang="en-US" sz="700" dirty="0">
                <a:solidFill>
                  <a:srgbClr val="A3ADBB"/>
                </a:solidFill>
                <a:latin typeface="Prompt" pitchFamily="34" charset="0"/>
                <a:ea typeface="Prompt" pitchFamily="34" charset="-122"/>
                <a:cs typeface="Prompt" pitchFamily="34" charset="-120"/>
              </a:rPr>
              <a:t>Dell'Acqua, F., et al. (2023). Navigating the Jagged Technological Frontier. Harvard Business School Working Paper 24-013.</a:t>
            </a:r>
            <a:endParaRPr lang="en-US" sz="700" dirty="0"/>
          </a:p>
        </p:txBody>
      </p:sp>
      <p:sp>
        <p:nvSpPr>
          <p:cNvPr id="40" name="bridge text"/>
          <p:cNvSpPr txBox="1"/>
          <p:nvPr/>
        </p:nvSpPr>
        <p:spPr>
          <a:xfrm>
            <a:off x="5623560" y="4443984"/>
            <a:ext cx="2743200" cy="310896"/>
          </a:xfrm>
          <a:prstGeom prst="rect">
            <a:avLst/>
          </a:prstGeom>
          <a:noFill/>
          <a:ln/>
        </p:spPr>
        <p:txBody>
          <a:bodyPr wrap="square" lIns="0" tIns="0" rIns="0" bIns="0" rtlCol="0" anchor="ctr"/>
          <a:lstStyle/>
          <a:p>
            <a:pPr algn="r" indent="0" marL="0">
              <a:buNone/>
            </a:pPr>
            <a:r>
              <a:rPr lang="en-US" sz="950" b="1" dirty="0">
                <a:solidFill>
                  <a:srgbClr val="2E8B86"/>
                </a:solidFill>
                <a:latin typeface="Prompt" pitchFamily="34" charset="0"/>
                <a:ea typeface="Prompt" pitchFamily="34" charset="-122"/>
                <a:cs typeface="Prompt" pitchFamily="34" charset="-120"/>
              </a:rPr>
              <a:t>ถัดไป  </a:t>
            </a:r>
            <a:pPr algn="r" indent="0" marL="0">
              <a:buNone/>
            </a:pPr>
            <a:r>
              <a:rPr lang="en-US" sz="950" dirty="0">
                <a:solidFill>
                  <a:srgbClr val="1B2A4A"/>
                </a:solidFill>
                <a:latin typeface="Prompt" pitchFamily="34" charset="0"/>
                <a:ea typeface="Prompt" pitchFamily="34" charset="-122"/>
                <a:cs typeface="Prompt" pitchFamily="34" charset="-120"/>
              </a:rPr>
              <a:t>เมื่อที่ปรึกษา 758 คนใช้ GPT-4 จริง เกิดอะไรขึ้น?</a:t>
            </a:r>
            <a:endParaRPr lang="en-US" sz="950" dirty="0"/>
          </a:p>
        </p:txBody>
      </p:sp>
      <p:pic>
        <p:nvPicPr>
          <p:cNvPr id="41" name="icon FiArrowRight" descr="preencoded.png">    </p:cNvPr>
          <p:cNvPicPr>
            <a:picLocks noChangeAspect="1"/>
          </p:cNvPicPr>
          <p:nvPr/>
        </p:nvPicPr>
        <p:blipFill>
          <a:blip r:embed="rId6"/>
          <a:stretch>
            <a:fillRect/>
          </a:stretch>
        </p:blipFill>
        <p:spPr>
          <a:xfrm>
            <a:off x="8439912" y="4498848"/>
            <a:ext cx="201168" cy="201168"/>
          </a:xfrm>
          <a:prstGeom prst="rect">
            <a:avLst/>
          </a:prstGeom>
        </p:spPr>
      </p:pic>
      <p:sp>
        <p:nvSpPr>
          <p:cNvPr id="25" name="Slide Number Placeholder 0"/>
          <p:cNvSpPr>
            <a:spLocks noGrp="1"/>
          </p:cNvSpPr>
          <p:nvPr>
            <p:ph type="sldNum" sz="quarter" idx="4294967295"/>
          </p:nvPr>
        </p:nvSpPr>
        <p:spPr>
          <a:xfrm>
            <a:off x="8092440" y="4773168"/>
            <a:ext cx="548640" cy="274320"/>
          </a:xfrm>
          <a:prstGeom prst="rect">
            <a:avLst/>
          </a:prstGeom>
          <a:extLst>
            <a:ext uri="{C572A759-6A51-4108-AA02-DFA0A04FC94B}">
              <ma14:wrappingTextBoxFlag xmlns:ma14="http://schemas.microsoft.com/office/mac/drawingml/2011/main" val="0"/>
            </a:ext>
          </a:extLst>
        </p:spPr>
        <p:txBody>
          <a:bodyPr/>
          <a:lstStyle>
            <a:lvl1pPr>
              <a:defRPr sz="850">
                <a:solidFill>
                  <a:srgbClr val="A3ADBB"/>
                </a:solidFill>
                <a:latin typeface="Prompt"/>
                <a:ea typeface="Prompt"/>
                <a:cs typeface="Prompt"/>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02920" y="274320"/>
            <a:ext cx="5943600" cy="237744"/>
          </a:xfrm>
          <a:prstGeom prst="rect">
            <a:avLst/>
          </a:prstGeom>
          <a:noFill/>
          <a:ln/>
        </p:spPr>
        <p:txBody>
          <a:bodyPr wrap="square" lIns="0" tIns="0" rIns="0" bIns="0" rtlCol="0" anchor="ctr"/>
          <a:lstStyle/>
          <a:p>
            <a:pPr algn="l" indent="0" marL="0">
              <a:buNone/>
            </a:pPr>
            <a:r>
              <a:rPr lang="en-US" sz="1000" b="1" spc="150" kern="0" dirty="0">
                <a:solidFill>
                  <a:schemeClr val="accent1"/>
                </a:solidFill>
                <a:latin typeface="Prompt" pitchFamily="34" charset="0"/>
                <a:ea typeface="Prompt" pitchFamily="34" charset="-122"/>
                <a:cs typeface="Prompt" pitchFamily="34" charset="-120"/>
              </a:rPr>
              <a:t>บทความที่ 2  ·  ผลการศึกษาที่สำคัญ</a:t>
            </a:r>
            <a:endParaRPr lang="en-US" sz="1000" dirty="0"/>
          </a:p>
        </p:txBody>
      </p:sp>
      <p:sp>
        <p:nvSpPr>
          <p:cNvPr id="3" name="Text 0"/>
          <p:cNvSpPr/>
          <p:nvPr>
            <p:ph idx="101" type="title" hasCustomPrompt="1"/>
          </p:nvPr>
        </p:nvSpPr>
        <p:spPr>
          <a:xfrm>
            <a:off x="502920" y="512064"/>
            <a:ext cx="8138160" cy="731520"/>
          </a:xfrm>
          <a:prstGeom prst="rect">
            <a:avLst/>
          </a:prstGeom>
          <a:noFill/>
          <a:ln/>
        </p:spPr>
        <p:txBody>
          <a:bodyPr wrap="square" lIns="0" tIns="0" rIns="0" bIns="0" rtlCol="0" anchor="ctr">
            <a:normAutofit/>
          </a:bodyPr>
          <a:lstStyle/>
          <a:p>
            <a:pPr algn="l" indent="0" marL="0">
              <a:buNone/>
            </a:pPr>
            <a:r>
              <a:rPr lang="en-US" sz="2600" b="1" dirty="0">
                <a:solidFill>
                  <a:schemeClr val="tx1"/>
                </a:solidFill>
                <a:latin typeface="Prompt" pitchFamily="34" charset="0"/>
                <a:ea typeface="Prompt" pitchFamily="34" charset="-122"/>
                <a:cs typeface="Prompt" pitchFamily="34" charset="-120"/>
              </a:rPr>
              <a:t>AI ช่วยเพิ่มประสิทธิภาพ แต่มีข้อจำกัด</a:t>
            </a:r>
            <a:endParaRPr lang="en-US" sz="2600" dirty="0"/>
          </a:p>
        </p:txBody>
      </p:sp>
      <p:sp>
        <p:nvSpPr>
          <p:cNvPr id="4" name="progress dot 1"/>
          <p:cNvSpPr/>
          <p:nvPr/>
        </p:nvSpPr>
        <p:spPr>
          <a:xfrm>
            <a:off x="7808976" y="342900"/>
            <a:ext cx="100584" cy="100584"/>
          </a:xfrm>
          <a:prstGeom prst="ellipse">
            <a:avLst/>
          </a:prstGeom>
          <a:solidFill>
            <a:srgbClr val="BFE6E0"/>
          </a:solidFill>
          <a:ln w="12700">
            <a:solidFill>
              <a:srgbClr val="BFE6E0"/>
            </a:solidFill>
            <a:prstDash val="solid"/>
          </a:ln>
        </p:spPr>
      </p:sp>
      <p:sp>
        <p:nvSpPr>
          <p:cNvPr id="5" name="progress dot 2"/>
          <p:cNvSpPr/>
          <p:nvPr/>
        </p:nvSpPr>
        <p:spPr>
          <a:xfrm>
            <a:off x="7991856" y="342900"/>
            <a:ext cx="100584" cy="100584"/>
          </a:xfrm>
          <a:prstGeom prst="ellipse">
            <a:avLst/>
          </a:prstGeom>
          <a:solidFill>
            <a:srgbClr val="BFE6E0"/>
          </a:solidFill>
          <a:ln w="12700">
            <a:solidFill>
              <a:srgbClr val="BFE6E0"/>
            </a:solidFill>
            <a:prstDash val="solid"/>
          </a:ln>
        </p:spPr>
      </p:sp>
      <p:sp>
        <p:nvSpPr>
          <p:cNvPr id="6" name="progress dot 3"/>
          <p:cNvSpPr/>
          <p:nvPr/>
        </p:nvSpPr>
        <p:spPr>
          <a:xfrm>
            <a:off x="8174736" y="342900"/>
            <a:ext cx="100584" cy="100584"/>
          </a:xfrm>
          <a:prstGeom prst="ellipse">
            <a:avLst/>
          </a:prstGeom>
          <a:solidFill>
            <a:srgbClr val="2E8B86"/>
          </a:solidFill>
          <a:ln w="12700">
            <a:solidFill>
              <a:srgbClr val="2E8B86"/>
            </a:solidFill>
            <a:prstDash val="solid"/>
          </a:ln>
        </p:spPr>
      </p:sp>
      <p:sp>
        <p:nvSpPr>
          <p:cNvPr id="7" name="progress dot 4"/>
          <p:cNvSpPr/>
          <p:nvPr/>
        </p:nvSpPr>
        <p:spPr>
          <a:xfrm>
            <a:off x="8357616" y="342900"/>
            <a:ext cx="100584" cy="100584"/>
          </a:xfrm>
          <a:prstGeom prst="ellipse">
            <a:avLst/>
          </a:prstGeom>
          <a:solidFill>
            <a:srgbClr val="E3E8EE"/>
          </a:solidFill>
          <a:ln w="12700">
            <a:solidFill>
              <a:srgbClr val="E3E8EE"/>
            </a:solidFill>
            <a:prstDash val="solid"/>
          </a:ln>
        </p:spPr>
      </p:sp>
      <p:sp>
        <p:nvSpPr>
          <p:cNvPr id="8" name="progress dot 5"/>
          <p:cNvSpPr/>
          <p:nvPr/>
        </p:nvSpPr>
        <p:spPr>
          <a:xfrm>
            <a:off x="8540496" y="342900"/>
            <a:ext cx="100584" cy="100584"/>
          </a:xfrm>
          <a:prstGeom prst="ellipse">
            <a:avLst/>
          </a:prstGeom>
          <a:solidFill>
            <a:srgbClr val="E3E8EE"/>
          </a:solidFill>
          <a:ln w="12700">
            <a:solidFill>
              <a:srgbClr val="E3E8EE"/>
            </a:solidFill>
            <a:prstDash val="solid"/>
          </a:ln>
        </p:spPr>
      </p:sp>
      <p:sp>
        <p:nvSpPr>
          <p:cNvPr id="9" name="progress label"/>
          <p:cNvSpPr txBox="1"/>
          <p:nvPr/>
        </p:nvSpPr>
        <p:spPr>
          <a:xfrm>
            <a:off x="7077456" y="274320"/>
            <a:ext cx="640080" cy="237744"/>
          </a:xfrm>
          <a:prstGeom prst="rect">
            <a:avLst/>
          </a:prstGeom>
          <a:noFill/>
          <a:ln/>
        </p:spPr>
        <p:txBody>
          <a:bodyPr wrap="square" lIns="0" tIns="0" rIns="0" bIns="0" rtlCol="0" anchor="ctr"/>
          <a:lstStyle/>
          <a:p>
            <a:pPr algn="r" indent="0" marL="0">
              <a:buNone/>
            </a:pPr>
            <a:r>
              <a:rPr lang="en-US" sz="900" dirty="0">
                <a:solidFill>
                  <a:srgbClr val="A3ADBB"/>
                </a:solidFill>
                <a:latin typeface="Prompt" pitchFamily="34" charset="0"/>
                <a:ea typeface="Prompt" pitchFamily="34" charset="-122"/>
                <a:cs typeface="Prompt" pitchFamily="34" charset="-120"/>
              </a:rPr>
              <a:t>3 / 5</a:t>
            </a:r>
            <a:endParaRPr lang="en-US" sz="900" dirty="0"/>
          </a:p>
        </p:txBody>
      </p:sp>
      <p:sp>
        <p:nvSpPr>
          <p:cNvPr id="10" name="tag finding"/>
          <p:cNvSpPr/>
          <p:nvPr/>
        </p:nvSpPr>
        <p:spPr>
          <a:xfrm>
            <a:off x="502920" y="1371600"/>
            <a:ext cx="1143000" cy="201168"/>
          </a:xfrm>
          <a:prstGeom prst="roundRect">
            <a:avLst>
              <a:gd name="adj" fmla="val 50000"/>
            </a:avLst>
          </a:prstGeom>
          <a:solidFill>
            <a:srgbClr val="BFE6E0"/>
          </a:solidFill>
          <a:ln w="12700">
            <a:solidFill>
              <a:srgbClr val="BFE6E0"/>
            </a:solidFill>
            <a:prstDash val="solid"/>
          </a:ln>
        </p:spPr>
      </p:sp>
      <p:sp>
        <p:nvSpPr>
          <p:cNvPr id="11" name="tag text"/>
          <p:cNvSpPr txBox="1"/>
          <p:nvPr/>
        </p:nvSpPr>
        <p:spPr>
          <a:xfrm>
            <a:off x="502920" y="1371600"/>
            <a:ext cx="1143000" cy="201168"/>
          </a:xfrm>
          <a:prstGeom prst="rect">
            <a:avLst/>
          </a:prstGeom>
          <a:noFill/>
          <a:ln/>
        </p:spPr>
        <p:txBody>
          <a:bodyPr wrap="square" lIns="0" tIns="0" rIns="0" bIns="0" rtlCol="0" anchor="ctr"/>
          <a:lstStyle/>
          <a:p>
            <a:pPr algn="ctr" indent="0" marL="0">
              <a:buNone/>
            </a:pPr>
            <a:r>
              <a:rPr lang="en-US" sz="850" b="1" spc="150" kern="0" dirty="0">
                <a:solidFill>
                  <a:srgbClr val="1B2A4A"/>
                </a:solidFill>
                <a:latin typeface="Prompt" pitchFamily="34" charset="0"/>
                <a:ea typeface="Prompt" pitchFamily="34" charset="-122"/>
                <a:cs typeface="Prompt" pitchFamily="34" charset="-120"/>
              </a:rPr>
              <a:t>ผลการวิจัย</a:t>
            </a:r>
            <a:endParaRPr lang="en-US" sz="850" dirty="0"/>
          </a:p>
        </p:txBody>
      </p:sp>
      <p:graphicFrame>
        <p:nvGraphicFramePr>
          <p:cNvPr id="12" name="findings chart" descr=""/>
          <p:cNvGraphicFramePr/>
          <p:nvPr/>
        </p:nvGraphicFramePr>
        <p:xfrm>
          <a:off x="502920" y="1609344"/>
          <a:ext cx="4754880" cy="2103120"/>
        </p:xfrm>
        <a:graphic xmlns:a="http://schemas.openxmlformats.org/drawingml/2006/main">
          <a:graphicData uri="http://schemas.openxmlformats.org/drawingml/2006/chart">
            <c:chart xmlns:c="http://schemas.openxmlformats.org/drawingml/2006/chart" r:id="rId1"/>
          </a:graphicData>
        </a:graphic>
      </p:graphicFrame>
      <p:sp>
        <p:nvSpPr>
          <p:cNvPr id="13" name="chart note"/>
          <p:cNvSpPr txBox="1"/>
          <p:nvPr/>
        </p:nvSpPr>
        <p:spPr>
          <a:xfrm>
            <a:off x="502920" y="3730752"/>
            <a:ext cx="4754880" cy="329184"/>
          </a:xfrm>
          <a:prstGeom prst="rect">
            <a:avLst/>
          </a:prstGeom>
          <a:noFill/>
          <a:ln/>
        </p:spPr>
        <p:txBody>
          <a:bodyPr wrap="square" lIns="0" tIns="0" rIns="0" bIns="0" rtlCol="0" anchor="t"/>
          <a:lstStyle/>
          <a:p>
            <a:pPr indent="0" marL="0">
              <a:buNone/>
            </a:pPr>
            <a:r>
              <a:rPr lang="en-US" sz="850" dirty="0">
                <a:solidFill>
                  <a:srgbClr val="A3ADBB"/>
                </a:solidFill>
                <a:latin typeface="Prompt" pitchFamily="34" charset="0"/>
                <a:ea typeface="Prompt" pitchFamily="34" charset="-122"/>
                <a:cs typeface="Prompt" pitchFamily="34" charset="-120"/>
              </a:rPr>
              <a:t>คุณภาพรายงานว่า "มากกว่า 40%" เทียบกลุ่มควบคุม แสดงที่ 40 ส่วนกลุ่มต่ำ/สูงกว่าค่าเฉลี่ยคือการพัฒนาเทียบคะแนนเดิมของกลุ่มนั้น</a:t>
            </a:r>
            <a:endParaRPr lang="en-US" sz="850" dirty="0"/>
          </a:p>
        </p:txBody>
      </p:sp>
      <p:sp>
        <p:nvSpPr>
          <p:cNvPr id="14" name="outside callout"/>
          <p:cNvSpPr/>
          <p:nvPr/>
        </p:nvSpPr>
        <p:spPr>
          <a:xfrm>
            <a:off x="5623560" y="1371600"/>
            <a:ext cx="3017520" cy="1828800"/>
          </a:xfrm>
          <a:prstGeom prst="roundRect">
            <a:avLst>
              <a:gd name="adj" fmla="val 6000"/>
            </a:avLst>
          </a:prstGeom>
          <a:solidFill>
            <a:srgbClr val="1B2A4A"/>
          </a:solidFill>
          <a:ln w="12700">
            <a:solidFill>
              <a:srgbClr val="1B2A4A"/>
            </a:solidFill>
            <a:prstDash val="solid"/>
          </a:ln>
        </p:spPr>
      </p:sp>
      <p:sp>
        <p:nvSpPr>
          <p:cNvPr id="15" name="outside head"/>
          <p:cNvSpPr txBox="1"/>
          <p:nvPr/>
        </p:nvSpPr>
        <p:spPr>
          <a:xfrm>
            <a:off x="5852160" y="1499616"/>
            <a:ext cx="2560320" cy="219456"/>
          </a:xfrm>
          <a:prstGeom prst="rect">
            <a:avLst/>
          </a:prstGeom>
          <a:noFill/>
          <a:ln/>
        </p:spPr>
        <p:txBody>
          <a:bodyPr wrap="square" lIns="0" tIns="0" rIns="0" bIns="0" rtlCol="0" anchor="ctr"/>
          <a:lstStyle/>
          <a:p>
            <a:pPr indent="0" marL="0">
              <a:buNone/>
            </a:pPr>
            <a:r>
              <a:rPr lang="en-US" sz="1000" b="1" spc="100" kern="0" dirty="0">
                <a:solidFill>
                  <a:srgbClr val="BFE6E0"/>
                </a:solidFill>
                <a:latin typeface="Prompt" pitchFamily="34" charset="0"/>
                <a:ea typeface="Prompt" pitchFamily="34" charset="-122"/>
                <a:cs typeface="Prompt" pitchFamily="34" charset="-120"/>
              </a:rPr>
              <a:t>งานภายนอกพรมแดน</a:t>
            </a:r>
            <a:endParaRPr lang="en-US" sz="1000" dirty="0"/>
          </a:p>
        </p:txBody>
      </p:sp>
      <p:sp>
        <p:nvSpPr>
          <p:cNvPr id="16" name="outside stat"/>
          <p:cNvSpPr txBox="1"/>
          <p:nvPr/>
        </p:nvSpPr>
        <p:spPr>
          <a:xfrm>
            <a:off x="5852160" y="1719072"/>
            <a:ext cx="1463040" cy="512064"/>
          </a:xfrm>
          <a:prstGeom prst="rect">
            <a:avLst/>
          </a:prstGeom>
          <a:noFill/>
          <a:ln/>
        </p:spPr>
        <p:txBody>
          <a:bodyPr wrap="square" lIns="0" tIns="0" rIns="0" bIns="0" rtlCol="0" anchor="ctr"/>
          <a:lstStyle/>
          <a:p>
            <a:pPr indent="0" marL="0">
              <a:buNone/>
            </a:pPr>
            <a:r>
              <a:rPr lang="en-US" sz="4400" b="1" dirty="0">
                <a:solidFill>
                  <a:srgbClr val="FFFFFF"/>
                </a:solidFill>
                <a:latin typeface="Prompt" pitchFamily="34" charset="0"/>
                <a:ea typeface="Prompt" pitchFamily="34" charset="-122"/>
                <a:cs typeface="Prompt" pitchFamily="34" charset="-120"/>
              </a:rPr>
              <a:t>−19</a:t>
            </a:r>
            <a:endParaRPr lang="en-US" sz="4400" dirty="0"/>
          </a:p>
        </p:txBody>
      </p:sp>
      <p:sp>
        <p:nvSpPr>
          <p:cNvPr id="17" name="outside unit"/>
          <p:cNvSpPr txBox="1"/>
          <p:nvPr/>
        </p:nvSpPr>
        <p:spPr>
          <a:xfrm>
            <a:off x="5852160" y="2231136"/>
            <a:ext cx="1737360" cy="201168"/>
          </a:xfrm>
          <a:prstGeom prst="rect">
            <a:avLst/>
          </a:prstGeom>
          <a:noFill/>
          <a:ln/>
        </p:spPr>
        <p:txBody>
          <a:bodyPr wrap="square" lIns="0" tIns="0" rIns="0" bIns="0" rtlCol="0" anchor="ctr"/>
          <a:lstStyle/>
          <a:p>
            <a:pPr indent="0" marL="0">
              <a:buNone/>
            </a:pPr>
            <a:r>
              <a:rPr lang="en-US" sz="950" dirty="0">
                <a:solidFill>
                  <a:srgbClr val="BFE6E0"/>
                </a:solidFill>
                <a:latin typeface="Prompt" pitchFamily="34" charset="0"/>
                <a:ea typeface="Prompt" pitchFamily="34" charset="-122"/>
                <a:cs typeface="Prompt" pitchFamily="34" charset="-120"/>
              </a:rPr>
              <a:t>จุดร้อยละ (percentage points)</a:t>
            </a:r>
            <a:endParaRPr lang="en-US" sz="950" dirty="0"/>
          </a:p>
        </p:txBody>
      </p:sp>
      <p:pic>
        <p:nvPicPr>
          <p:cNvPr id="18" name="mascot confused" descr="preencoded.png">    </p:cNvPr>
          <p:cNvPicPr>
            <a:picLocks noChangeAspect="1"/>
          </p:cNvPicPr>
          <p:nvPr/>
        </p:nvPicPr>
        <p:blipFill>
          <a:blip r:embed="rId2"/>
          <a:stretch>
            <a:fillRect/>
          </a:stretch>
        </p:blipFill>
        <p:spPr>
          <a:xfrm>
            <a:off x="7498080" y="1591056"/>
            <a:ext cx="1005840" cy="868680"/>
          </a:xfrm>
          <a:prstGeom prst="rect">
            <a:avLst/>
          </a:prstGeom>
        </p:spPr>
      </p:pic>
      <p:sp>
        <p:nvSpPr>
          <p:cNvPr id="19" name="outside body"/>
          <p:cNvSpPr txBox="1"/>
          <p:nvPr/>
        </p:nvSpPr>
        <p:spPr>
          <a:xfrm>
            <a:off x="5852160" y="2487168"/>
            <a:ext cx="2560320" cy="640080"/>
          </a:xfrm>
          <a:prstGeom prst="rect">
            <a:avLst/>
          </a:prstGeom>
          <a:noFill/>
          <a:ln/>
        </p:spPr>
        <p:txBody>
          <a:bodyPr wrap="square" lIns="0" tIns="0" rIns="0" bIns="0" rtlCol="0" anchor="t"/>
          <a:lstStyle/>
          <a:p>
            <a:pPr indent="0" marL="0">
              <a:buNone/>
            </a:pPr>
            <a:r>
              <a:rPr lang="en-US" sz="1000" dirty="0">
                <a:solidFill>
                  <a:srgbClr val="FFFFFF"/>
                </a:solidFill>
                <a:latin typeface="Prompt" pitchFamily="34" charset="0"/>
                <a:ea typeface="Prompt" pitchFamily="34" charset="-122"/>
                <a:cs typeface="Prompt" pitchFamily="34" charset="-120"/>
              </a:rPr>
              <a:t>ผู้ใช้ AI มีโอกาสได้คำตอบที่ถูกต้องน้อยกว่าผู้ไม่ใช้ AI อยู่ 19 จุดร้อยละ</a:t>
            </a:r>
            <a:endParaRPr lang="en-US" sz="1000" dirty="0"/>
          </a:p>
        </p:txBody>
      </p:sp>
      <p:sp>
        <p:nvSpPr>
          <p:cNvPr id="20" name="unit note"/>
          <p:cNvSpPr txBox="1"/>
          <p:nvPr/>
        </p:nvSpPr>
        <p:spPr>
          <a:xfrm>
            <a:off x="5623560" y="3255264"/>
            <a:ext cx="3017520" cy="310896"/>
          </a:xfrm>
          <a:prstGeom prst="rect">
            <a:avLst/>
          </a:prstGeom>
          <a:noFill/>
          <a:ln/>
        </p:spPr>
        <p:txBody>
          <a:bodyPr wrap="square" lIns="0" tIns="0" rIns="0" bIns="0" rtlCol="0" anchor="t"/>
          <a:lstStyle/>
          <a:p>
            <a:pPr indent="0" marL="0">
              <a:buNone/>
            </a:pPr>
            <a:r>
              <a:rPr lang="en-US" sz="900" dirty="0">
                <a:solidFill>
                  <a:srgbClr val="6B7280"/>
                </a:solidFill>
                <a:latin typeface="Prompt" pitchFamily="34" charset="0"/>
                <a:ea typeface="Prompt" pitchFamily="34" charset="-122"/>
                <a:cs typeface="Prompt" pitchFamily="34" charset="-120"/>
              </a:rPr>
              <a:t>คือส่วนต่างของอัตราความถูกต้องสองกลุ่ม ไม่ใช่ร้อยละการเปลี่ยนแปลง</a:t>
            </a:r>
            <a:endParaRPr lang="en-US" sz="900" dirty="0"/>
          </a:p>
        </p:txBody>
      </p:sp>
      <p:sp>
        <p:nvSpPr>
          <p:cNvPr id="21" name="divider"/>
          <p:cNvSpPr/>
          <p:nvPr/>
        </p:nvSpPr>
        <p:spPr>
          <a:xfrm>
            <a:off x="5623560" y="3657600"/>
            <a:ext cx="3017520" cy="0"/>
          </a:xfrm>
          <a:prstGeom prst="line">
            <a:avLst/>
          </a:prstGeom>
          <a:noFill/>
          <a:ln w="9525">
            <a:solidFill>
              <a:srgbClr val="E3E8EE"/>
            </a:solidFill>
            <a:prstDash val="solid"/>
          </a:ln>
        </p:spPr>
      </p:sp>
      <p:sp>
        <p:nvSpPr>
          <p:cNvPr id="22" name="approach head"/>
          <p:cNvSpPr txBox="1"/>
          <p:nvPr/>
        </p:nvSpPr>
        <p:spPr>
          <a:xfrm>
            <a:off x="5623560" y="3712464"/>
            <a:ext cx="3017520" cy="201168"/>
          </a:xfrm>
          <a:prstGeom prst="rect">
            <a:avLst/>
          </a:prstGeom>
          <a:noFill/>
          <a:ln/>
        </p:spPr>
        <p:txBody>
          <a:bodyPr wrap="square" lIns="0" tIns="0" rIns="0" bIns="0" rtlCol="0" anchor="ctr"/>
          <a:lstStyle/>
          <a:p>
            <a:pPr indent="0" marL="0">
              <a:buNone/>
            </a:pPr>
            <a:r>
              <a:rPr lang="en-US" sz="1050" b="1" dirty="0">
                <a:solidFill>
                  <a:schemeClr val="tx1"/>
                </a:solidFill>
                <a:latin typeface="Prompt" pitchFamily="34" charset="0"/>
                <a:ea typeface="Prompt" pitchFamily="34" charset="-122"/>
                <a:cs typeface="Prompt" pitchFamily="34" charset="-120"/>
              </a:rPr>
              <a:t>รูปแบบการใช้ AI ที่ประสบความสำเร็จสองแบบ</a:t>
            </a:r>
            <a:endParaRPr lang="en-US" sz="1050" dirty="0"/>
          </a:p>
        </p:txBody>
      </p:sp>
      <p:pic>
        <p:nvPicPr>
          <p:cNvPr id="23" name="glyph Centaurs (เซนทอร์)" descr="preencoded.png">    </p:cNvPr>
          <p:cNvPicPr>
            <a:picLocks noChangeAspect="1"/>
          </p:cNvPicPr>
          <p:nvPr/>
        </p:nvPicPr>
        <p:blipFill>
          <a:blip r:embed="rId3"/>
          <a:stretch>
            <a:fillRect/>
          </a:stretch>
        </p:blipFill>
        <p:spPr>
          <a:xfrm>
            <a:off x="5623560" y="3950208"/>
            <a:ext cx="329184" cy="219456"/>
          </a:xfrm>
          <a:prstGeom prst="rect">
            <a:avLst/>
          </a:prstGeom>
        </p:spPr>
      </p:pic>
      <p:sp>
        <p:nvSpPr>
          <p:cNvPr id="24" name="approach text"/>
          <p:cNvSpPr txBox="1"/>
          <p:nvPr/>
        </p:nvSpPr>
        <p:spPr>
          <a:xfrm>
            <a:off x="6044184" y="3931920"/>
            <a:ext cx="2596896" cy="256032"/>
          </a:xfrm>
          <a:prstGeom prst="rect">
            <a:avLst/>
          </a:prstGeom>
          <a:noFill/>
          <a:ln/>
        </p:spPr>
        <p:txBody>
          <a:bodyPr wrap="square" lIns="0" tIns="0" rIns="0" bIns="0" rtlCol="0" anchor="ctr"/>
          <a:lstStyle/>
          <a:p>
            <a:pPr indent="0" marL="0">
              <a:buNone/>
            </a:pPr>
            <a:r>
              <a:rPr lang="en-US" sz="1000" b="1" dirty="0">
                <a:solidFill>
                  <a:schemeClr val="tx1"/>
                </a:solidFill>
                <a:latin typeface="Prompt" pitchFamily="34" charset="0"/>
                <a:ea typeface="Prompt" pitchFamily="34" charset="-122"/>
                <a:cs typeface="Prompt" pitchFamily="34" charset="-120"/>
              </a:rPr>
              <a:t>Centaurs (เซนทอร์)  </a:t>
            </a:r>
            <a:pPr indent="0" marL="0">
              <a:buNone/>
            </a:pPr>
            <a:r>
              <a:rPr lang="en-US" sz="950" dirty="0">
                <a:solidFill>
                  <a:schemeClr val="tx2"/>
                </a:solidFill>
                <a:latin typeface="Prompt" pitchFamily="34" charset="0"/>
                <a:ea typeface="Prompt" pitchFamily="34" charset="-122"/>
                <a:cs typeface="Prompt" pitchFamily="34" charset="-120"/>
              </a:rPr>
              <a:t>แบ่งงานระหว่างคนกับ AI</a:t>
            </a:r>
            <a:endParaRPr lang="en-US" sz="1000" dirty="0"/>
          </a:p>
        </p:txBody>
      </p:sp>
      <p:pic>
        <p:nvPicPr>
          <p:cNvPr id="25" name="glyph Cyborgs (ไซบอร์ก)" descr="preencoded.png">    </p:cNvPr>
          <p:cNvPicPr>
            <a:picLocks noChangeAspect="1"/>
          </p:cNvPicPr>
          <p:nvPr/>
        </p:nvPicPr>
        <p:blipFill>
          <a:blip r:embed="rId4"/>
          <a:stretch>
            <a:fillRect/>
          </a:stretch>
        </p:blipFill>
        <p:spPr>
          <a:xfrm>
            <a:off x="5623560" y="4187952"/>
            <a:ext cx="329184" cy="219456"/>
          </a:xfrm>
          <a:prstGeom prst="rect">
            <a:avLst/>
          </a:prstGeom>
        </p:spPr>
      </p:pic>
      <p:sp>
        <p:nvSpPr>
          <p:cNvPr id="26" name="approach text"/>
          <p:cNvSpPr txBox="1"/>
          <p:nvPr/>
        </p:nvSpPr>
        <p:spPr>
          <a:xfrm>
            <a:off x="6044184" y="4169664"/>
            <a:ext cx="2596896" cy="256032"/>
          </a:xfrm>
          <a:prstGeom prst="rect">
            <a:avLst/>
          </a:prstGeom>
          <a:noFill/>
          <a:ln/>
        </p:spPr>
        <p:txBody>
          <a:bodyPr wrap="square" lIns="0" tIns="0" rIns="0" bIns="0" rtlCol="0" anchor="ctr"/>
          <a:lstStyle/>
          <a:p>
            <a:pPr indent="0" marL="0">
              <a:buNone/>
            </a:pPr>
            <a:r>
              <a:rPr lang="en-US" sz="1000" b="1" dirty="0">
                <a:solidFill>
                  <a:schemeClr val="tx1"/>
                </a:solidFill>
                <a:latin typeface="Prompt" pitchFamily="34" charset="0"/>
                <a:ea typeface="Prompt" pitchFamily="34" charset="-122"/>
                <a:cs typeface="Prompt" pitchFamily="34" charset="-120"/>
              </a:rPr>
              <a:t>Cyborgs (ไซบอร์ก)  </a:t>
            </a:r>
            <a:pPr indent="0" marL="0">
              <a:buNone/>
            </a:pPr>
            <a:r>
              <a:rPr lang="en-US" sz="950" dirty="0">
                <a:solidFill>
                  <a:schemeClr val="tx2"/>
                </a:solidFill>
                <a:latin typeface="Prompt" pitchFamily="34" charset="0"/>
                <a:ea typeface="Prompt" pitchFamily="34" charset="-122"/>
                <a:cs typeface="Prompt" pitchFamily="34" charset="-120"/>
              </a:rPr>
              <a:t>ผสาน AI เข้าไปในทุกขั้นตอน</a:t>
            </a:r>
            <a:endParaRPr lang="en-US" sz="1000" dirty="0"/>
          </a:p>
        </p:txBody>
      </p:sp>
      <p:sp>
        <p:nvSpPr>
          <p:cNvPr id="27" name="reference"/>
          <p:cNvSpPr txBox="1"/>
          <p:nvPr/>
        </p:nvSpPr>
        <p:spPr>
          <a:xfrm>
            <a:off x="502920" y="4480560"/>
            <a:ext cx="4937760" cy="274320"/>
          </a:xfrm>
          <a:prstGeom prst="rect">
            <a:avLst/>
          </a:prstGeom>
          <a:noFill/>
          <a:ln/>
        </p:spPr>
        <p:txBody>
          <a:bodyPr wrap="square" lIns="0" tIns="0" rIns="0" bIns="0" rtlCol="0" anchor="t"/>
          <a:lstStyle/>
          <a:p>
            <a:pPr indent="0" marL="0">
              <a:buNone/>
            </a:pPr>
            <a:r>
              <a:rPr lang="en-US" sz="700" dirty="0">
                <a:solidFill>
                  <a:srgbClr val="A3ADBB"/>
                </a:solidFill>
                <a:latin typeface="Prompt" pitchFamily="34" charset="0"/>
                <a:ea typeface="Prompt" pitchFamily="34" charset="-122"/>
                <a:cs typeface="Prompt" pitchFamily="34" charset="-120"/>
              </a:rPr>
              <a:t>Dell'Acqua, F., et al. (2023). Navigating the Jagged Technological Frontier. Harvard Business School Working Paper 24-013.</a:t>
            </a:r>
            <a:endParaRPr lang="en-US" sz="700" dirty="0"/>
          </a:p>
        </p:txBody>
      </p:sp>
      <p:sp>
        <p:nvSpPr>
          <p:cNvPr id="28" name="bridge text"/>
          <p:cNvSpPr txBox="1"/>
          <p:nvPr/>
        </p:nvSpPr>
        <p:spPr>
          <a:xfrm>
            <a:off x="5623560" y="4443984"/>
            <a:ext cx="2743200" cy="310896"/>
          </a:xfrm>
          <a:prstGeom prst="rect">
            <a:avLst/>
          </a:prstGeom>
          <a:noFill/>
          <a:ln/>
        </p:spPr>
        <p:txBody>
          <a:bodyPr wrap="square" lIns="0" tIns="0" rIns="0" bIns="0" rtlCol="0" anchor="ctr"/>
          <a:lstStyle/>
          <a:p>
            <a:pPr algn="r" indent="0" marL="0">
              <a:buNone/>
            </a:pPr>
            <a:r>
              <a:rPr lang="en-US" sz="950" b="1" dirty="0">
                <a:solidFill>
                  <a:srgbClr val="2E8B86"/>
                </a:solidFill>
                <a:latin typeface="Prompt" pitchFamily="34" charset="0"/>
                <a:ea typeface="Prompt" pitchFamily="34" charset="-122"/>
                <a:cs typeface="Prompt" pitchFamily="34" charset="-120"/>
              </a:rPr>
              <a:t>ถัดไป  </a:t>
            </a:r>
            <a:pPr algn="r" indent="0" marL="0">
              <a:buNone/>
            </a:pPr>
            <a:r>
              <a:rPr lang="en-US" sz="950" dirty="0">
                <a:solidFill>
                  <a:srgbClr val="1B2A4A"/>
                </a:solidFill>
                <a:latin typeface="Prompt" pitchFamily="34" charset="0"/>
                <a:ea typeface="Prompt" pitchFamily="34" charset="-122"/>
                <a:cs typeface="Prompt" pitchFamily="34" charset="-120"/>
              </a:rPr>
              <a:t>ผลแบบนี้จะเป็นจริงกับธุรกิจขนาดเล็กจริงหรือไม่?</a:t>
            </a:r>
            <a:endParaRPr lang="en-US" sz="950" dirty="0"/>
          </a:p>
        </p:txBody>
      </p:sp>
      <p:pic>
        <p:nvPicPr>
          <p:cNvPr id="29" name="icon FiArrowRight" descr="preencoded.png">    </p:cNvPr>
          <p:cNvPicPr>
            <a:picLocks noChangeAspect="1"/>
          </p:cNvPicPr>
          <p:nvPr/>
        </p:nvPicPr>
        <p:blipFill>
          <a:blip r:embed="rId5"/>
          <a:stretch>
            <a:fillRect/>
          </a:stretch>
        </p:blipFill>
        <p:spPr>
          <a:xfrm>
            <a:off x="8439912" y="4498848"/>
            <a:ext cx="201168" cy="201168"/>
          </a:xfrm>
          <a:prstGeom prst="rect">
            <a:avLst/>
          </a:prstGeom>
        </p:spPr>
      </p:pic>
      <p:sp>
        <p:nvSpPr>
          <p:cNvPr id="25" name="Slide Number Placeholder 0"/>
          <p:cNvSpPr>
            <a:spLocks noGrp="1"/>
          </p:cNvSpPr>
          <p:nvPr>
            <p:ph type="sldNum" sz="quarter" idx="4294967295"/>
          </p:nvPr>
        </p:nvSpPr>
        <p:spPr>
          <a:xfrm>
            <a:off x="8092440" y="4773168"/>
            <a:ext cx="548640" cy="274320"/>
          </a:xfrm>
          <a:prstGeom prst="rect">
            <a:avLst/>
          </a:prstGeom>
          <a:extLst>
            <a:ext uri="{C572A759-6A51-4108-AA02-DFA0A04FC94B}">
              <ma14:wrappingTextBoxFlag xmlns:ma14="http://schemas.microsoft.com/office/mac/drawingml/2011/main" val="0"/>
            </a:ext>
          </a:extLst>
        </p:spPr>
        <p:txBody>
          <a:bodyPr/>
          <a:lstStyle>
            <a:lvl1pPr>
              <a:defRPr sz="850">
                <a:solidFill>
                  <a:srgbClr val="A3ADBB"/>
                </a:solidFill>
                <a:latin typeface="Prompt"/>
                <a:ea typeface="Prompt"/>
                <a:cs typeface="Prompt"/>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02920" y="274320"/>
            <a:ext cx="5943600" cy="237744"/>
          </a:xfrm>
          <a:prstGeom prst="rect">
            <a:avLst/>
          </a:prstGeom>
          <a:noFill/>
          <a:ln/>
        </p:spPr>
        <p:txBody>
          <a:bodyPr wrap="square" lIns="0" tIns="0" rIns="0" bIns="0" rtlCol="0" anchor="ctr"/>
          <a:lstStyle/>
          <a:p>
            <a:pPr algn="l" indent="0" marL="0">
              <a:buNone/>
            </a:pPr>
            <a:r>
              <a:rPr lang="en-US" sz="1000" b="1" spc="150" kern="0" dirty="0">
                <a:solidFill>
                  <a:schemeClr val="accent1"/>
                </a:solidFill>
                <a:latin typeface="Prompt" pitchFamily="34" charset="0"/>
                <a:ea typeface="Prompt" pitchFamily="34" charset="-122"/>
                <a:cs typeface="Prompt" pitchFamily="34" charset="-120"/>
              </a:rPr>
              <a:t>บทความที่ 5  ·  วัตถุประสงค์และผลการศึกษา</a:t>
            </a:r>
            <a:endParaRPr lang="en-US" sz="1000" dirty="0"/>
          </a:p>
        </p:txBody>
      </p:sp>
      <p:sp>
        <p:nvSpPr>
          <p:cNvPr id="3" name="Text 0"/>
          <p:cNvSpPr/>
          <p:nvPr>
            <p:ph idx="101" type="title" hasCustomPrompt="1"/>
          </p:nvPr>
        </p:nvSpPr>
        <p:spPr>
          <a:xfrm>
            <a:off x="502920" y="512064"/>
            <a:ext cx="8138160" cy="731520"/>
          </a:xfrm>
          <a:prstGeom prst="rect">
            <a:avLst/>
          </a:prstGeom>
          <a:noFill/>
          <a:ln/>
        </p:spPr>
        <p:txBody>
          <a:bodyPr wrap="square" lIns="0" tIns="0" rIns="0" bIns="0" rtlCol="0" anchor="ctr">
            <a:normAutofit/>
          </a:bodyPr>
          <a:lstStyle/>
          <a:p>
            <a:pPr algn="l" indent="0" marL="0">
              <a:buNone/>
            </a:pPr>
            <a:r>
              <a:rPr lang="en-US" sz="2600" b="1" dirty="0">
                <a:solidFill>
                  <a:schemeClr val="tx1"/>
                </a:solidFill>
                <a:latin typeface="Prompt" pitchFamily="34" charset="0"/>
                <a:ea typeface="Prompt" pitchFamily="34" charset="-122"/>
                <a:cs typeface="Prompt" pitchFamily="34" charset="-120"/>
              </a:rPr>
              <a:t>ผลกระทบของ AI ต่อผู้ประกอบการที่แตกต่างกัน</a:t>
            </a:r>
            <a:endParaRPr lang="en-US" sz="2600" dirty="0"/>
          </a:p>
        </p:txBody>
      </p:sp>
      <p:sp>
        <p:nvSpPr>
          <p:cNvPr id="4" name="progress dot 1"/>
          <p:cNvSpPr/>
          <p:nvPr/>
        </p:nvSpPr>
        <p:spPr>
          <a:xfrm>
            <a:off x="7808976" y="342900"/>
            <a:ext cx="100584" cy="100584"/>
          </a:xfrm>
          <a:prstGeom prst="ellipse">
            <a:avLst/>
          </a:prstGeom>
          <a:solidFill>
            <a:srgbClr val="BFE6E0"/>
          </a:solidFill>
          <a:ln w="12700">
            <a:solidFill>
              <a:srgbClr val="BFE6E0"/>
            </a:solidFill>
            <a:prstDash val="solid"/>
          </a:ln>
        </p:spPr>
      </p:sp>
      <p:sp>
        <p:nvSpPr>
          <p:cNvPr id="5" name="progress dot 2"/>
          <p:cNvSpPr/>
          <p:nvPr/>
        </p:nvSpPr>
        <p:spPr>
          <a:xfrm>
            <a:off x="7991856" y="342900"/>
            <a:ext cx="100584" cy="100584"/>
          </a:xfrm>
          <a:prstGeom prst="ellipse">
            <a:avLst/>
          </a:prstGeom>
          <a:solidFill>
            <a:srgbClr val="BFE6E0"/>
          </a:solidFill>
          <a:ln w="12700">
            <a:solidFill>
              <a:srgbClr val="BFE6E0"/>
            </a:solidFill>
            <a:prstDash val="solid"/>
          </a:ln>
        </p:spPr>
      </p:sp>
      <p:sp>
        <p:nvSpPr>
          <p:cNvPr id="6" name="progress dot 3"/>
          <p:cNvSpPr/>
          <p:nvPr/>
        </p:nvSpPr>
        <p:spPr>
          <a:xfrm>
            <a:off x="8174736" y="342900"/>
            <a:ext cx="100584" cy="100584"/>
          </a:xfrm>
          <a:prstGeom prst="ellipse">
            <a:avLst/>
          </a:prstGeom>
          <a:solidFill>
            <a:srgbClr val="BFE6E0"/>
          </a:solidFill>
          <a:ln w="12700">
            <a:solidFill>
              <a:srgbClr val="BFE6E0"/>
            </a:solidFill>
            <a:prstDash val="solid"/>
          </a:ln>
        </p:spPr>
      </p:sp>
      <p:sp>
        <p:nvSpPr>
          <p:cNvPr id="7" name="progress dot 4"/>
          <p:cNvSpPr/>
          <p:nvPr/>
        </p:nvSpPr>
        <p:spPr>
          <a:xfrm>
            <a:off x="8357616" y="342900"/>
            <a:ext cx="100584" cy="100584"/>
          </a:xfrm>
          <a:prstGeom prst="ellipse">
            <a:avLst/>
          </a:prstGeom>
          <a:solidFill>
            <a:srgbClr val="2E8B86"/>
          </a:solidFill>
          <a:ln w="12700">
            <a:solidFill>
              <a:srgbClr val="2E8B86"/>
            </a:solidFill>
            <a:prstDash val="solid"/>
          </a:ln>
        </p:spPr>
      </p:sp>
      <p:sp>
        <p:nvSpPr>
          <p:cNvPr id="8" name="progress dot 5"/>
          <p:cNvSpPr/>
          <p:nvPr/>
        </p:nvSpPr>
        <p:spPr>
          <a:xfrm>
            <a:off x="8540496" y="342900"/>
            <a:ext cx="100584" cy="100584"/>
          </a:xfrm>
          <a:prstGeom prst="ellipse">
            <a:avLst/>
          </a:prstGeom>
          <a:solidFill>
            <a:srgbClr val="E3E8EE"/>
          </a:solidFill>
          <a:ln w="12700">
            <a:solidFill>
              <a:srgbClr val="E3E8EE"/>
            </a:solidFill>
            <a:prstDash val="solid"/>
          </a:ln>
        </p:spPr>
      </p:sp>
      <p:sp>
        <p:nvSpPr>
          <p:cNvPr id="9" name="progress label"/>
          <p:cNvSpPr txBox="1"/>
          <p:nvPr/>
        </p:nvSpPr>
        <p:spPr>
          <a:xfrm>
            <a:off x="7077456" y="274320"/>
            <a:ext cx="640080" cy="237744"/>
          </a:xfrm>
          <a:prstGeom prst="rect">
            <a:avLst/>
          </a:prstGeom>
          <a:noFill/>
          <a:ln/>
        </p:spPr>
        <p:txBody>
          <a:bodyPr wrap="square" lIns="0" tIns="0" rIns="0" bIns="0" rtlCol="0" anchor="ctr"/>
          <a:lstStyle/>
          <a:p>
            <a:pPr algn="r" indent="0" marL="0">
              <a:buNone/>
            </a:pPr>
            <a:r>
              <a:rPr lang="en-US" sz="900" dirty="0">
                <a:solidFill>
                  <a:srgbClr val="A3ADBB"/>
                </a:solidFill>
                <a:latin typeface="Prompt" pitchFamily="34" charset="0"/>
                <a:ea typeface="Prompt" pitchFamily="34" charset="-122"/>
                <a:cs typeface="Prompt" pitchFamily="34" charset="-120"/>
              </a:rPr>
              <a:t>4 / 5</a:t>
            </a:r>
            <a:endParaRPr lang="en-US" sz="900" dirty="0"/>
          </a:p>
        </p:txBody>
      </p:sp>
      <p:sp>
        <p:nvSpPr>
          <p:cNvPr id="10" name="icon circle"/>
          <p:cNvSpPr/>
          <p:nvPr/>
        </p:nvSpPr>
        <p:spPr>
          <a:xfrm>
            <a:off x="502920" y="1481328"/>
            <a:ext cx="365760" cy="365760"/>
          </a:xfrm>
          <a:prstGeom prst="ellipse">
            <a:avLst/>
          </a:prstGeom>
          <a:solidFill>
            <a:srgbClr val="F3F5F8"/>
          </a:solidFill>
          <a:ln w="12700">
            <a:solidFill>
              <a:srgbClr val="F3F5F8"/>
            </a:solidFill>
            <a:prstDash val="solid"/>
          </a:ln>
        </p:spPr>
      </p:sp>
      <p:pic>
        <p:nvPicPr>
          <p:cNvPr id="11" name="icon FiMapPin" descr="preencoded.png">    </p:cNvPr>
          <p:cNvPicPr>
            <a:picLocks noChangeAspect="1"/>
          </p:cNvPicPr>
          <p:nvPr/>
        </p:nvPicPr>
        <p:blipFill>
          <a:blip r:embed="rId1"/>
          <a:stretch>
            <a:fillRect/>
          </a:stretch>
        </p:blipFill>
        <p:spPr>
          <a:xfrm>
            <a:off x="585216" y="1563624"/>
            <a:ext cx="201168" cy="201168"/>
          </a:xfrm>
          <a:prstGeom prst="rect">
            <a:avLst/>
          </a:prstGeom>
        </p:spPr>
      </p:pic>
      <p:sp>
        <p:nvSpPr>
          <p:cNvPr id="12" name="fact บริบท"/>
          <p:cNvSpPr txBox="1"/>
          <p:nvPr/>
        </p:nvSpPr>
        <p:spPr>
          <a:xfrm>
            <a:off x="1005840" y="1435608"/>
            <a:ext cx="3246120" cy="539496"/>
          </a:xfrm>
          <a:prstGeom prst="rect">
            <a:avLst/>
          </a:prstGeom>
          <a:noFill/>
          <a:ln/>
        </p:spPr>
        <p:txBody>
          <a:bodyPr wrap="square" lIns="0" tIns="0" rIns="0" bIns="0" rtlCol="0" anchor="t"/>
          <a:lstStyle/>
          <a:p>
            <a:pPr indent="0" marL="0">
              <a:buNone/>
            </a:pPr>
            <a:r>
              <a:rPr lang="en-US" sz="1200" b="1" dirty="0">
                <a:solidFill>
                  <a:schemeClr val="tx1"/>
                </a:solidFill>
                <a:latin typeface="Prompt" pitchFamily="34" charset="0"/>
                <a:ea typeface="Prompt" pitchFamily="34" charset="-122"/>
                <a:cs typeface="Prompt" pitchFamily="34" charset="-120"/>
              </a:rPr>
              <a:t>บริบท</a:t>
            </a:r>
            <a:endParaRPr lang="en-US" sz="1200" dirty="0"/>
          </a:p>
          <a:p>
            <a:pPr indent="0" marL="0">
              <a:buNone/>
            </a:pPr>
            <a:r>
              <a:rPr lang="en-US" sz="1100" dirty="0">
                <a:solidFill>
                  <a:schemeClr val="tx2"/>
                </a:solidFill>
                <a:latin typeface="Prompt" pitchFamily="34" charset="0"/>
                <a:ea typeface="Prompt" pitchFamily="34" charset="-122"/>
                <a:cs typeface="Prompt" pitchFamily="34" charset="-120"/>
              </a:rPr>
              <a:t>ผู้ประกอบการธุรกิจขนาดเล็กในประเทศเคนยา</a:t>
            </a:r>
            <a:endParaRPr lang="en-US" sz="1200" dirty="0"/>
          </a:p>
        </p:txBody>
      </p:sp>
      <p:sp>
        <p:nvSpPr>
          <p:cNvPr id="13" name="icon circle"/>
          <p:cNvSpPr/>
          <p:nvPr/>
        </p:nvSpPr>
        <p:spPr>
          <a:xfrm>
            <a:off x="502920" y="2066544"/>
            <a:ext cx="365760" cy="365760"/>
          </a:xfrm>
          <a:prstGeom prst="ellipse">
            <a:avLst/>
          </a:prstGeom>
          <a:solidFill>
            <a:srgbClr val="F3F5F8"/>
          </a:solidFill>
          <a:ln w="12700">
            <a:solidFill>
              <a:srgbClr val="F3F5F8"/>
            </a:solidFill>
            <a:prstDash val="solid"/>
          </a:ln>
        </p:spPr>
      </p:sp>
      <p:pic>
        <p:nvPicPr>
          <p:cNvPr id="14" name="icon FiMessageSquare" descr="preencoded.png">    </p:cNvPr>
          <p:cNvPicPr>
            <a:picLocks noChangeAspect="1"/>
          </p:cNvPicPr>
          <p:nvPr/>
        </p:nvPicPr>
        <p:blipFill>
          <a:blip r:embed="rId2"/>
          <a:stretch>
            <a:fillRect/>
          </a:stretch>
        </p:blipFill>
        <p:spPr>
          <a:xfrm>
            <a:off x="585216" y="2148840"/>
            <a:ext cx="201168" cy="201168"/>
          </a:xfrm>
          <a:prstGeom prst="rect">
            <a:avLst/>
          </a:prstGeom>
        </p:spPr>
      </p:pic>
      <p:sp>
        <p:nvSpPr>
          <p:cNvPr id="15" name="fact สิ่งที่ทดลอง"/>
          <p:cNvSpPr txBox="1"/>
          <p:nvPr/>
        </p:nvSpPr>
        <p:spPr>
          <a:xfrm>
            <a:off x="1005840" y="2020824"/>
            <a:ext cx="3246120" cy="539496"/>
          </a:xfrm>
          <a:prstGeom prst="rect">
            <a:avLst/>
          </a:prstGeom>
          <a:noFill/>
          <a:ln/>
        </p:spPr>
        <p:txBody>
          <a:bodyPr wrap="square" lIns="0" tIns="0" rIns="0" bIns="0" rtlCol="0" anchor="t"/>
          <a:lstStyle/>
          <a:p>
            <a:pPr indent="0" marL="0">
              <a:buNone/>
            </a:pPr>
            <a:r>
              <a:rPr lang="en-US" sz="1200" b="1" dirty="0">
                <a:solidFill>
                  <a:schemeClr val="tx1"/>
                </a:solidFill>
                <a:latin typeface="Prompt" pitchFamily="34" charset="0"/>
                <a:ea typeface="Prompt" pitchFamily="34" charset="-122"/>
                <a:cs typeface="Prompt" pitchFamily="34" charset="-120"/>
              </a:rPr>
              <a:t>สิ่งที่ทดลอง</a:t>
            </a:r>
            <a:endParaRPr lang="en-US" sz="1200" dirty="0"/>
          </a:p>
          <a:p>
            <a:pPr indent="0" marL="0">
              <a:buNone/>
            </a:pPr>
            <a:r>
              <a:rPr lang="en-US" sz="1100" dirty="0">
                <a:solidFill>
                  <a:schemeClr val="tx2"/>
                </a:solidFill>
                <a:latin typeface="Prompt" pitchFamily="34" charset="0"/>
                <a:ea typeface="Prompt" pitchFamily="34" charset="-122"/>
                <a:cs typeface="Prompt" pitchFamily="34" charset="-120"/>
              </a:rPr>
              <a:t>ผู้ช่วยธุรกิจ AI ที่ขับเคลื่อนด้วย GPT-4 ให้คำแนะนำทางธุรกิจ</a:t>
            </a:r>
            <a:endParaRPr lang="en-US" sz="1200" dirty="0"/>
          </a:p>
        </p:txBody>
      </p:sp>
      <p:sp>
        <p:nvSpPr>
          <p:cNvPr id="16" name="icon circle"/>
          <p:cNvSpPr/>
          <p:nvPr/>
        </p:nvSpPr>
        <p:spPr>
          <a:xfrm>
            <a:off x="502920" y="2651760"/>
            <a:ext cx="365760" cy="365760"/>
          </a:xfrm>
          <a:prstGeom prst="ellipse">
            <a:avLst/>
          </a:prstGeom>
          <a:solidFill>
            <a:srgbClr val="F3F5F8"/>
          </a:solidFill>
          <a:ln w="12700">
            <a:solidFill>
              <a:srgbClr val="F3F5F8"/>
            </a:solidFill>
            <a:prstDash val="solid"/>
          </a:ln>
        </p:spPr>
      </p:sp>
      <p:pic>
        <p:nvPicPr>
          <p:cNvPr id="17" name="icon FiDollarSign" descr="preencoded.png">    </p:cNvPr>
          <p:cNvPicPr>
            <a:picLocks noChangeAspect="1"/>
          </p:cNvPicPr>
          <p:nvPr/>
        </p:nvPicPr>
        <p:blipFill>
          <a:blip r:embed="rId3"/>
          <a:stretch>
            <a:fillRect/>
          </a:stretch>
        </p:blipFill>
        <p:spPr>
          <a:xfrm>
            <a:off x="585216" y="2734056"/>
            <a:ext cx="201168" cy="201168"/>
          </a:xfrm>
          <a:prstGeom prst="rect">
            <a:avLst/>
          </a:prstGeom>
        </p:spPr>
      </p:pic>
      <p:sp>
        <p:nvSpPr>
          <p:cNvPr id="18" name="fact ตัวแปรผลลัพธ์"/>
          <p:cNvSpPr txBox="1"/>
          <p:nvPr/>
        </p:nvSpPr>
        <p:spPr>
          <a:xfrm>
            <a:off x="1005840" y="2606040"/>
            <a:ext cx="3246120" cy="539496"/>
          </a:xfrm>
          <a:prstGeom prst="rect">
            <a:avLst/>
          </a:prstGeom>
          <a:noFill/>
          <a:ln/>
        </p:spPr>
        <p:txBody>
          <a:bodyPr wrap="square" lIns="0" tIns="0" rIns="0" bIns="0" rtlCol="0" anchor="t"/>
          <a:lstStyle/>
          <a:p>
            <a:pPr indent="0" marL="0">
              <a:buNone/>
            </a:pPr>
            <a:r>
              <a:rPr lang="en-US" sz="1200" b="1" dirty="0">
                <a:solidFill>
                  <a:schemeClr val="tx1"/>
                </a:solidFill>
                <a:latin typeface="Prompt" pitchFamily="34" charset="0"/>
                <a:ea typeface="Prompt" pitchFamily="34" charset="-122"/>
                <a:cs typeface="Prompt" pitchFamily="34" charset="-120"/>
              </a:rPr>
              <a:t>ตัวแปรผลลัพธ์</a:t>
            </a:r>
            <a:endParaRPr lang="en-US" sz="1200" dirty="0"/>
          </a:p>
          <a:p>
            <a:pPr indent="0" marL="0">
              <a:buNone/>
            </a:pPr>
            <a:r>
              <a:rPr lang="en-US" sz="1100" dirty="0">
                <a:solidFill>
                  <a:schemeClr val="tx2"/>
                </a:solidFill>
                <a:latin typeface="Prompt" pitchFamily="34" charset="0"/>
                <a:ea typeface="Prompt" pitchFamily="34" charset="-122"/>
                <a:cs typeface="Prompt" pitchFamily="34" charset="-120"/>
              </a:rPr>
              <a:t>รายได้และกำไร</a:t>
            </a:r>
            <a:endParaRPr lang="en-US" sz="1200" dirty="0"/>
          </a:p>
        </p:txBody>
      </p:sp>
      <p:sp>
        <p:nvSpPr>
          <p:cNvPr id="19" name="main effect card"/>
          <p:cNvSpPr/>
          <p:nvPr/>
        </p:nvSpPr>
        <p:spPr>
          <a:xfrm>
            <a:off x="502920" y="3291840"/>
            <a:ext cx="3749040" cy="1097280"/>
          </a:xfrm>
          <a:prstGeom prst="roundRect">
            <a:avLst>
              <a:gd name="adj" fmla="val 10000"/>
            </a:avLst>
          </a:prstGeom>
          <a:solidFill>
            <a:srgbClr val="1B2A4A"/>
          </a:solidFill>
          <a:ln w="12700">
            <a:solidFill>
              <a:srgbClr val="1B2A4A"/>
            </a:solidFill>
            <a:prstDash val="solid"/>
          </a:ln>
        </p:spPr>
      </p:sp>
      <p:sp>
        <p:nvSpPr>
          <p:cNvPr id="20" name="tag finding"/>
          <p:cNvSpPr/>
          <p:nvPr/>
        </p:nvSpPr>
        <p:spPr>
          <a:xfrm>
            <a:off x="704088" y="3438144"/>
            <a:ext cx="1143000" cy="201168"/>
          </a:xfrm>
          <a:prstGeom prst="roundRect">
            <a:avLst>
              <a:gd name="adj" fmla="val 50000"/>
            </a:avLst>
          </a:prstGeom>
          <a:solidFill>
            <a:srgbClr val="BFE6E0"/>
          </a:solidFill>
          <a:ln w="12700">
            <a:solidFill>
              <a:srgbClr val="BFE6E0"/>
            </a:solidFill>
            <a:prstDash val="solid"/>
          </a:ln>
        </p:spPr>
      </p:sp>
      <p:sp>
        <p:nvSpPr>
          <p:cNvPr id="21" name="tag text"/>
          <p:cNvSpPr txBox="1"/>
          <p:nvPr/>
        </p:nvSpPr>
        <p:spPr>
          <a:xfrm>
            <a:off x="704088" y="3438144"/>
            <a:ext cx="1143000" cy="201168"/>
          </a:xfrm>
          <a:prstGeom prst="rect">
            <a:avLst/>
          </a:prstGeom>
          <a:noFill/>
          <a:ln/>
        </p:spPr>
        <p:txBody>
          <a:bodyPr wrap="square" lIns="0" tIns="0" rIns="0" bIns="0" rtlCol="0" anchor="ctr"/>
          <a:lstStyle/>
          <a:p>
            <a:pPr algn="ctr" indent="0" marL="0">
              <a:buNone/>
            </a:pPr>
            <a:r>
              <a:rPr lang="en-US" sz="850" b="1" spc="150" kern="0" dirty="0">
                <a:solidFill>
                  <a:srgbClr val="1B2A4A"/>
                </a:solidFill>
                <a:latin typeface="Prompt" pitchFamily="34" charset="0"/>
                <a:ea typeface="Prompt" pitchFamily="34" charset="-122"/>
                <a:cs typeface="Prompt" pitchFamily="34" charset="-120"/>
              </a:rPr>
              <a:t>ผลการวิจัย</a:t>
            </a:r>
            <a:endParaRPr lang="en-US" sz="850" dirty="0"/>
          </a:p>
        </p:txBody>
      </p:sp>
      <p:sp>
        <p:nvSpPr>
          <p:cNvPr id="22" name="main head"/>
          <p:cNvSpPr txBox="1"/>
          <p:nvPr/>
        </p:nvSpPr>
        <p:spPr>
          <a:xfrm>
            <a:off x="704088" y="3657600"/>
            <a:ext cx="2468880" cy="201168"/>
          </a:xfrm>
          <a:prstGeom prst="rect">
            <a:avLst/>
          </a:prstGeom>
          <a:noFill/>
          <a:ln/>
        </p:spPr>
        <p:txBody>
          <a:bodyPr wrap="square" lIns="0" tIns="0" rIns="0" bIns="0" rtlCol="0" anchor="ctr"/>
          <a:lstStyle/>
          <a:p>
            <a:pPr indent="0" marL="0">
              <a:buNone/>
            </a:pPr>
            <a:r>
              <a:rPr lang="en-US" sz="1000" b="1" spc="100" kern="0" dirty="0">
                <a:solidFill>
                  <a:srgbClr val="BFE6E0"/>
                </a:solidFill>
                <a:latin typeface="Prompt" pitchFamily="34" charset="0"/>
                <a:ea typeface="Prompt" pitchFamily="34" charset="-122"/>
                <a:cs typeface="Prompt" pitchFamily="34" charset="-120"/>
              </a:rPr>
              <a:t>ผลโดยเฉลี่ย</a:t>
            </a:r>
            <a:endParaRPr lang="en-US" sz="1000" dirty="0"/>
          </a:p>
        </p:txBody>
      </p:sp>
      <p:sp>
        <p:nvSpPr>
          <p:cNvPr id="23" name="main body"/>
          <p:cNvSpPr txBox="1"/>
          <p:nvPr/>
        </p:nvSpPr>
        <p:spPr>
          <a:xfrm>
            <a:off x="704088" y="3840480"/>
            <a:ext cx="2468880" cy="512064"/>
          </a:xfrm>
          <a:prstGeom prst="rect">
            <a:avLst/>
          </a:prstGeom>
          <a:noFill/>
          <a:ln/>
        </p:spPr>
        <p:txBody>
          <a:bodyPr wrap="square" lIns="0" tIns="0" rIns="0" bIns="0" rtlCol="0" anchor="t"/>
          <a:lstStyle/>
          <a:p>
            <a:pPr indent="0" marL="0">
              <a:buNone/>
            </a:pPr>
            <a:r>
              <a:rPr lang="en-US" sz="1000" dirty="0">
                <a:solidFill>
                  <a:srgbClr val="FFFFFF"/>
                </a:solidFill>
                <a:latin typeface="Prompt" pitchFamily="34" charset="0"/>
                <a:ea typeface="Prompt" pitchFamily="34" charset="-122"/>
                <a:cs typeface="Prompt" pitchFamily="34" charset="-120"/>
              </a:rPr>
              <a:t>ไม่สามารถปฏิเสธสมมติฐานว่าง (null hypothesis) ที่ว่าไม่มีผลเฉลี่ยต่อรายได้และกำไร</a:t>
            </a:r>
            <a:endParaRPr lang="en-US" sz="1000" dirty="0"/>
          </a:p>
        </p:txBody>
      </p:sp>
      <p:pic>
        <p:nvPicPr>
          <p:cNvPr id="24" name="mascot with phone" descr="preencoded.png">    </p:cNvPr>
          <p:cNvPicPr>
            <a:picLocks noChangeAspect="1"/>
          </p:cNvPicPr>
          <p:nvPr/>
        </p:nvPicPr>
        <p:blipFill>
          <a:blip r:embed="rId4"/>
          <a:stretch>
            <a:fillRect/>
          </a:stretch>
        </p:blipFill>
        <p:spPr>
          <a:xfrm>
            <a:off x="3154680" y="3456432"/>
            <a:ext cx="960120" cy="822960"/>
          </a:xfrm>
          <a:prstGeom prst="rect">
            <a:avLst/>
          </a:prstGeom>
        </p:spPr>
      </p:pic>
      <p:sp>
        <p:nvSpPr>
          <p:cNvPr id="25" name="column divider"/>
          <p:cNvSpPr/>
          <p:nvPr/>
        </p:nvSpPr>
        <p:spPr>
          <a:xfrm>
            <a:off x="4480560" y="1481328"/>
            <a:ext cx="0" cy="2834640"/>
          </a:xfrm>
          <a:prstGeom prst="line">
            <a:avLst/>
          </a:prstGeom>
          <a:noFill/>
          <a:ln w="9525">
            <a:solidFill>
              <a:srgbClr val="E3E8EE"/>
            </a:solidFill>
            <a:prstDash val="solid"/>
          </a:ln>
        </p:spPr>
      </p:sp>
      <p:sp>
        <p:nvSpPr>
          <p:cNvPr id="26" name="tag finding"/>
          <p:cNvSpPr/>
          <p:nvPr/>
        </p:nvSpPr>
        <p:spPr>
          <a:xfrm>
            <a:off x="4709160" y="1481328"/>
            <a:ext cx="1143000" cy="201168"/>
          </a:xfrm>
          <a:prstGeom prst="roundRect">
            <a:avLst>
              <a:gd name="adj" fmla="val 50000"/>
            </a:avLst>
          </a:prstGeom>
          <a:solidFill>
            <a:srgbClr val="BFE6E0"/>
          </a:solidFill>
          <a:ln w="12700">
            <a:solidFill>
              <a:srgbClr val="BFE6E0"/>
            </a:solidFill>
            <a:prstDash val="solid"/>
          </a:ln>
        </p:spPr>
      </p:sp>
      <p:sp>
        <p:nvSpPr>
          <p:cNvPr id="27" name="tag text"/>
          <p:cNvSpPr txBox="1"/>
          <p:nvPr/>
        </p:nvSpPr>
        <p:spPr>
          <a:xfrm>
            <a:off x="4709160" y="1481328"/>
            <a:ext cx="1143000" cy="201168"/>
          </a:xfrm>
          <a:prstGeom prst="rect">
            <a:avLst/>
          </a:prstGeom>
          <a:noFill/>
          <a:ln/>
        </p:spPr>
        <p:txBody>
          <a:bodyPr wrap="square" lIns="0" tIns="0" rIns="0" bIns="0" rtlCol="0" anchor="ctr"/>
          <a:lstStyle/>
          <a:p>
            <a:pPr algn="ctr" indent="0" marL="0">
              <a:buNone/>
            </a:pPr>
            <a:r>
              <a:rPr lang="en-US" sz="850" b="1" spc="150" kern="0" dirty="0">
                <a:solidFill>
                  <a:srgbClr val="1B2A4A"/>
                </a:solidFill>
                <a:latin typeface="Prompt" pitchFamily="34" charset="0"/>
                <a:ea typeface="Prompt" pitchFamily="34" charset="-122"/>
                <a:cs typeface="Prompt" pitchFamily="34" charset="-120"/>
              </a:rPr>
              <a:t>ผลการวิจัย</a:t>
            </a:r>
            <a:endParaRPr lang="en-US" sz="850" dirty="0"/>
          </a:p>
        </p:txBody>
      </p:sp>
      <p:sp>
        <p:nvSpPr>
          <p:cNvPr id="28" name="subgroup head"/>
          <p:cNvSpPr txBox="1"/>
          <p:nvPr/>
        </p:nvSpPr>
        <p:spPr>
          <a:xfrm>
            <a:off x="4709160" y="1755648"/>
            <a:ext cx="2834640" cy="256032"/>
          </a:xfrm>
          <a:prstGeom prst="rect">
            <a:avLst/>
          </a:prstGeom>
          <a:noFill/>
          <a:ln/>
        </p:spPr>
        <p:txBody>
          <a:bodyPr wrap="square" lIns="0" tIns="0" rIns="0" bIns="0" rtlCol="0" anchor="ctr"/>
          <a:lstStyle/>
          <a:p>
            <a:pPr indent="0" marL="0">
              <a:buNone/>
            </a:pPr>
            <a:r>
              <a:rPr lang="en-US" sz="1250" b="1" dirty="0">
                <a:solidFill>
                  <a:schemeClr val="tx1"/>
                </a:solidFill>
                <a:latin typeface="Prompt" pitchFamily="34" charset="0"/>
                <a:ea typeface="Prompt" pitchFamily="34" charset="-122"/>
                <a:cs typeface="Prompt" pitchFamily="34" charset="-120"/>
              </a:rPr>
              <a:t>แยกตามผลงานตั้งต้น</a:t>
            </a:r>
            <a:endParaRPr lang="en-US" sz="1250" dirty="0"/>
          </a:p>
        </p:txBody>
      </p:sp>
      <p:pic>
        <p:nvPicPr>
          <p:cNvPr id="29" name="entrepreneur with phone" descr="preencoded.png">    </p:cNvPr>
          <p:cNvPicPr>
            <a:picLocks noChangeAspect="1"/>
          </p:cNvPicPr>
          <p:nvPr/>
        </p:nvPicPr>
        <p:blipFill>
          <a:blip r:embed="rId5"/>
          <a:stretch>
            <a:fillRect/>
          </a:stretch>
        </p:blipFill>
        <p:spPr>
          <a:xfrm>
            <a:off x="7680960" y="1426464"/>
            <a:ext cx="914400" cy="960120"/>
          </a:xfrm>
          <a:prstGeom prst="rect">
            <a:avLst/>
          </a:prstGeom>
        </p:spPr>
      </p:pic>
      <p:sp>
        <p:nvSpPr>
          <p:cNvPr id="30" name="zero line"/>
          <p:cNvSpPr/>
          <p:nvPr/>
        </p:nvSpPr>
        <p:spPr>
          <a:xfrm>
            <a:off x="6126480" y="2286000"/>
            <a:ext cx="0" cy="1005840"/>
          </a:xfrm>
          <a:prstGeom prst="line">
            <a:avLst/>
          </a:prstGeom>
          <a:noFill/>
          <a:ln w="9525">
            <a:solidFill>
              <a:srgbClr val="A3ADBB"/>
            </a:solidFill>
            <a:prstDash val="dash"/>
          </a:ln>
        </p:spPr>
      </p:sp>
      <p:sp>
        <p:nvSpPr>
          <p:cNvPr id="31" name="bar label 0"/>
          <p:cNvSpPr txBox="1"/>
          <p:nvPr/>
        </p:nvSpPr>
        <p:spPr>
          <a:xfrm>
            <a:off x="4709160" y="2093976"/>
            <a:ext cx="3931920" cy="219456"/>
          </a:xfrm>
          <a:prstGeom prst="rect">
            <a:avLst/>
          </a:prstGeom>
          <a:noFill/>
          <a:ln/>
        </p:spPr>
        <p:txBody>
          <a:bodyPr wrap="square" lIns="0" tIns="0" rIns="0" bIns="0" rtlCol="0" anchor="ctr"/>
          <a:lstStyle/>
          <a:p>
            <a:pPr indent="0" marL="0">
              <a:buNone/>
            </a:pPr>
            <a:r>
              <a:rPr lang="en-US" sz="1000" b="1" dirty="0">
                <a:solidFill>
                  <a:schemeClr val="tx1"/>
                </a:solidFill>
                <a:latin typeface="Prompt" pitchFamily="34" charset="0"/>
                <a:ea typeface="Prompt" pitchFamily="34" charset="-122"/>
                <a:cs typeface="Prompt" pitchFamily="34" charset="-120"/>
              </a:rPr>
              <a:t>กลุ่มผลงานต่ำ  </a:t>
            </a:r>
            <a:pPr indent="0" marL="0">
              <a:buNone/>
            </a:pPr>
            <a:r>
              <a:rPr lang="en-US" sz="1000" b="1" dirty="0">
                <a:solidFill>
                  <a:srgbClr val="6B7280"/>
                </a:solidFill>
                <a:latin typeface="Prompt" pitchFamily="34" charset="0"/>
                <a:ea typeface="Prompt" pitchFamily="34" charset="-122"/>
                <a:cs typeface="Prompt" pitchFamily="34" charset="-120"/>
              </a:rPr>
              <a:t>แย่ลงเกือบ 10%</a:t>
            </a:r>
            <a:endParaRPr lang="en-US" sz="1000" dirty="0"/>
          </a:p>
        </p:txBody>
      </p:sp>
      <p:sp>
        <p:nvSpPr>
          <p:cNvPr id="32" name="bar 0"/>
          <p:cNvSpPr/>
          <p:nvPr/>
        </p:nvSpPr>
        <p:spPr>
          <a:xfrm>
            <a:off x="5294986" y="2340864"/>
            <a:ext cx="831494" cy="219456"/>
          </a:xfrm>
          <a:prstGeom prst="rect">
            <a:avLst/>
          </a:prstGeom>
          <a:solidFill>
            <a:srgbClr val="A3ADBB"/>
          </a:solidFill>
          <a:ln w="12700">
            <a:solidFill>
              <a:srgbClr val="A3ADBB"/>
            </a:solidFill>
            <a:prstDash val="solid"/>
          </a:ln>
        </p:spPr>
      </p:sp>
      <p:sp>
        <p:nvSpPr>
          <p:cNvPr id="33" name="bar label 1"/>
          <p:cNvSpPr txBox="1"/>
          <p:nvPr/>
        </p:nvSpPr>
        <p:spPr>
          <a:xfrm>
            <a:off x="4709160" y="2642616"/>
            <a:ext cx="3931920" cy="219456"/>
          </a:xfrm>
          <a:prstGeom prst="rect">
            <a:avLst/>
          </a:prstGeom>
          <a:noFill/>
          <a:ln/>
        </p:spPr>
        <p:txBody>
          <a:bodyPr wrap="square" lIns="0" tIns="0" rIns="0" bIns="0" rtlCol="0" anchor="ctr"/>
          <a:lstStyle/>
          <a:p>
            <a:pPr indent="0" marL="0">
              <a:buNone/>
            </a:pPr>
            <a:r>
              <a:rPr lang="en-US" sz="1000" b="1" dirty="0">
                <a:solidFill>
                  <a:schemeClr val="tx1"/>
                </a:solidFill>
                <a:latin typeface="Prompt" pitchFamily="34" charset="0"/>
                <a:ea typeface="Prompt" pitchFamily="34" charset="-122"/>
                <a:cs typeface="Prompt" pitchFamily="34" charset="-120"/>
              </a:rPr>
              <a:t>กลุ่มผลงานสูง  </a:t>
            </a:r>
            <a:pPr indent="0" marL="0">
              <a:buNone/>
            </a:pPr>
            <a:r>
              <a:rPr lang="en-US" sz="1000" b="1" dirty="0">
                <a:solidFill>
                  <a:srgbClr val="2E8B86"/>
                </a:solidFill>
                <a:latin typeface="Prompt" pitchFamily="34" charset="0"/>
                <a:ea typeface="Prompt" pitchFamily="34" charset="-122"/>
                <a:cs typeface="Prompt" pitchFamily="34" charset="-120"/>
              </a:rPr>
              <a:t>อาจได้ประโยชน์มากกว่า 15%</a:t>
            </a:r>
            <a:endParaRPr lang="en-US" sz="1000" dirty="0"/>
          </a:p>
        </p:txBody>
      </p:sp>
      <p:sp>
        <p:nvSpPr>
          <p:cNvPr id="34" name="bar 1"/>
          <p:cNvSpPr/>
          <p:nvPr/>
        </p:nvSpPr>
        <p:spPr>
          <a:xfrm>
            <a:off x="6126480" y="2889504"/>
            <a:ext cx="1247242" cy="219456"/>
          </a:xfrm>
          <a:prstGeom prst="rect">
            <a:avLst/>
          </a:prstGeom>
          <a:solidFill>
            <a:srgbClr val="2E8B86"/>
          </a:solidFill>
          <a:ln w="12700">
            <a:solidFill>
              <a:srgbClr val="2E8B86"/>
            </a:solidFill>
            <a:prstDash val="solid"/>
          </a:ln>
        </p:spPr>
      </p:sp>
      <p:sp>
        <p:nvSpPr>
          <p:cNvPr id="35" name="bar note"/>
          <p:cNvSpPr txBox="1"/>
          <p:nvPr/>
        </p:nvSpPr>
        <p:spPr>
          <a:xfrm>
            <a:off x="4709160" y="3236976"/>
            <a:ext cx="3931920" cy="164592"/>
          </a:xfrm>
          <a:prstGeom prst="rect">
            <a:avLst/>
          </a:prstGeom>
          <a:noFill/>
          <a:ln/>
        </p:spPr>
        <p:txBody>
          <a:bodyPr wrap="square" lIns="0" tIns="0" rIns="0" bIns="0" rtlCol="0" anchor="ctr"/>
          <a:lstStyle/>
          <a:p>
            <a:pPr algn="r" indent="0" marL="0">
              <a:buNone/>
            </a:pPr>
            <a:r>
              <a:rPr lang="en-US" sz="800" dirty="0">
                <a:solidFill>
                  <a:srgbClr val="A3ADBB"/>
                </a:solidFill>
                <a:latin typeface="Prompt" pitchFamily="34" charset="0"/>
                <a:ea typeface="Prompt" pitchFamily="34" charset="-122"/>
                <a:cs typeface="Prompt" pitchFamily="34" charset="-120"/>
              </a:rPr>
              <a:t>ความยาวแท่งเป็นเพียงภาพประกอบ</a:t>
            </a:r>
            <a:endParaRPr lang="en-US" sz="800" dirty="0"/>
          </a:p>
        </p:txBody>
      </p:sp>
      <p:sp>
        <p:nvSpPr>
          <p:cNvPr id="36" name="divider"/>
          <p:cNvSpPr/>
          <p:nvPr/>
        </p:nvSpPr>
        <p:spPr>
          <a:xfrm>
            <a:off x="4709160" y="3364992"/>
            <a:ext cx="3931920" cy="0"/>
          </a:xfrm>
          <a:prstGeom prst="line">
            <a:avLst/>
          </a:prstGeom>
          <a:noFill/>
          <a:ln w="9525">
            <a:solidFill>
              <a:srgbClr val="E3E8EE"/>
            </a:solidFill>
            <a:prstDash val="solid"/>
          </a:ln>
        </p:spPr>
      </p:sp>
      <p:pic>
        <p:nvPicPr>
          <p:cNvPr id="37" name="icon FiMessageCircle" descr="preencoded.png">    </p:cNvPr>
          <p:cNvPicPr>
            <a:picLocks noChangeAspect="1"/>
          </p:cNvPicPr>
          <p:nvPr/>
        </p:nvPicPr>
        <p:blipFill>
          <a:blip r:embed="rId6"/>
          <a:stretch>
            <a:fillRect/>
          </a:stretch>
        </p:blipFill>
        <p:spPr>
          <a:xfrm>
            <a:off x="4709160" y="3474720"/>
            <a:ext cx="219456" cy="219456"/>
          </a:xfrm>
          <a:prstGeom prst="rect">
            <a:avLst/>
          </a:prstGeom>
        </p:spPr>
      </p:pic>
      <p:sp>
        <p:nvSpPr>
          <p:cNvPr id="38" name="mechanism"/>
          <p:cNvSpPr txBox="1"/>
          <p:nvPr/>
        </p:nvSpPr>
        <p:spPr>
          <a:xfrm>
            <a:off x="5038344" y="3419856"/>
            <a:ext cx="3602736" cy="384048"/>
          </a:xfrm>
          <a:prstGeom prst="rect">
            <a:avLst/>
          </a:prstGeom>
          <a:noFill/>
          <a:ln/>
        </p:spPr>
        <p:txBody>
          <a:bodyPr wrap="square" lIns="0" tIns="0" rIns="0" bIns="0" rtlCol="0" anchor="ctr"/>
          <a:lstStyle/>
          <a:p>
            <a:pPr indent="0" marL="0">
              <a:buNone/>
            </a:pPr>
            <a:r>
              <a:rPr lang="en-US" sz="950" dirty="0">
                <a:solidFill>
                  <a:schemeClr val="tx1"/>
                </a:solidFill>
                <a:latin typeface="Prompt" pitchFamily="34" charset="0"/>
                <a:ea typeface="Prompt" pitchFamily="34" charset="-122"/>
                <a:cs typeface="Prompt" pitchFamily="34" charset="-120"/>
              </a:rPr>
              <a:t>คำถามและคำแนะนำใกล้เคียงกัน ความต่างอยู่ที่คำแนะนำที่ผู้ประกอบการเลือกนำไปปฏิบัติ</a:t>
            </a:r>
            <a:endParaRPr lang="en-US" sz="950" dirty="0"/>
          </a:p>
        </p:txBody>
      </p:sp>
      <p:pic>
        <p:nvPicPr>
          <p:cNvPr id="39" name="icon FiAlertTriangle" descr="preencoded.png">    </p:cNvPr>
          <p:cNvPicPr>
            <a:picLocks noChangeAspect="1"/>
          </p:cNvPicPr>
          <p:nvPr/>
        </p:nvPicPr>
        <p:blipFill>
          <a:blip r:embed="rId7"/>
          <a:stretch>
            <a:fillRect/>
          </a:stretch>
        </p:blipFill>
        <p:spPr>
          <a:xfrm>
            <a:off x="4709160" y="3968496"/>
            <a:ext cx="219456" cy="219456"/>
          </a:xfrm>
          <a:prstGeom prst="rect">
            <a:avLst/>
          </a:prstGeom>
        </p:spPr>
      </p:pic>
      <p:sp>
        <p:nvSpPr>
          <p:cNvPr id="40" name="caution"/>
          <p:cNvSpPr txBox="1"/>
          <p:nvPr/>
        </p:nvSpPr>
        <p:spPr>
          <a:xfrm>
            <a:off x="5038344" y="3913632"/>
            <a:ext cx="3602736" cy="384048"/>
          </a:xfrm>
          <a:prstGeom prst="rect">
            <a:avLst/>
          </a:prstGeom>
          <a:noFill/>
          <a:ln/>
        </p:spPr>
        <p:txBody>
          <a:bodyPr wrap="square" lIns="0" tIns="0" rIns="0" bIns="0" rtlCol="0" anchor="ctr"/>
          <a:lstStyle/>
          <a:p>
            <a:pPr indent="0" marL="0">
              <a:buNone/>
            </a:pPr>
            <a:r>
              <a:rPr lang="en-US" sz="950" dirty="0">
                <a:solidFill>
                  <a:schemeClr val="tx2"/>
                </a:solidFill>
                <a:latin typeface="Prompt" pitchFamily="34" charset="0"/>
                <a:ea typeface="Prompt" pitchFamily="34" charset="-122"/>
                <a:cs typeface="Prompt" pitchFamily="34" charset="-120"/>
              </a:rPr>
              <a:t>เป็นค่าเฉลี่ยของกลุ่มย่อย ไม่ใช่ว่าคนเก่งทุกคนจะได้ประโยชน์ หรือคนอ่อนทุกคนจะเสียประโยชน์</a:t>
            </a:r>
            <a:endParaRPr lang="en-US" sz="950" dirty="0"/>
          </a:p>
        </p:txBody>
      </p:sp>
      <p:sp>
        <p:nvSpPr>
          <p:cNvPr id="41" name="reference"/>
          <p:cNvSpPr txBox="1"/>
          <p:nvPr/>
        </p:nvSpPr>
        <p:spPr>
          <a:xfrm>
            <a:off x="502920" y="4480560"/>
            <a:ext cx="4937760" cy="274320"/>
          </a:xfrm>
          <a:prstGeom prst="rect">
            <a:avLst/>
          </a:prstGeom>
          <a:noFill/>
          <a:ln/>
        </p:spPr>
        <p:txBody>
          <a:bodyPr wrap="square" lIns="0" tIns="0" rIns="0" bIns="0" rtlCol="0" anchor="t"/>
          <a:lstStyle/>
          <a:p>
            <a:pPr indent="0" marL="0">
              <a:buNone/>
            </a:pPr>
            <a:r>
              <a:rPr lang="en-US" sz="700" dirty="0">
                <a:solidFill>
                  <a:srgbClr val="A3ADBB"/>
                </a:solidFill>
                <a:latin typeface="Prompt" pitchFamily="34" charset="0"/>
                <a:ea typeface="Prompt" pitchFamily="34" charset="-122"/>
                <a:cs typeface="Prompt" pitchFamily="34" charset="-120"/>
              </a:rPr>
              <a:t>Otis, N. G., et al. (2026). The Uneven Impact of Generative AI on Entrepreneurial Performance. Management Science, 72(7). doi.org/10.1287/mnsc.2024.06909</a:t>
            </a:r>
            <a:endParaRPr lang="en-US" sz="700" dirty="0"/>
          </a:p>
        </p:txBody>
      </p:sp>
      <p:sp>
        <p:nvSpPr>
          <p:cNvPr id="42" name="bridge text"/>
          <p:cNvSpPr txBox="1"/>
          <p:nvPr/>
        </p:nvSpPr>
        <p:spPr>
          <a:xfrm>
            <a:off x="5623560" y="4443984"/>
            <a:ext cx="2743200" cy="310896"/>
          </a:xfrm>
          <a:prstGeom prst="rect">
            <a:avLst/>
          </a:prstGeom>
          <a:noFill/>
          <a:ln/>
        </p:spPr>
        <p:txBody>
          <a:bodyPr wrap="square" lIns="0" tIns="0" rIns="0" bIns="0" rtlCol="0" anchor="ctr"/>
          <a:lstStyle/>
          <a:p>
            <a:pPr algn="r" indent="0" marL="0">
              <a:buNone/>
            </a:pPr>
            <a:r>
              <a:rPr lang="en-US" sz="950" b="1" dirty="0">
                <a:solidFill>
                  <a:srgbClr val="2E8B86"/>
                </a:solidFill>
                <a:latin typeface="Prompt" pitchFamily="34" charset="0"/>
                <a:ea typeface="Prompt" pitchFamily="34" charset="-122"/>
                <a:cs typeface="Prompt" pitchFamily="34" charset="-120"/>
              </a:rPr>
              <a:t>ถัดไป  </a:t>
            </a:r>
            <a:pPr algn="r" indent="0" marL="0">
              <a:buNone/>
            </a:pPr>
            <a:r>
              <a:rPr lang="en-US" sz="950" dirty="0">
                <a:solidFill>
                  <a:srgbClr val="1B2A4A"/>
                </a:solidFill>
                <a:latin typeface="Prompt" pitchFamily="34" charset="0"/>
                <a:ea typeface="Prompt" pitchFamily="34" charset="-122"/>
                <a:cs typeface="Prompt" pitchFamily="34" charset="-120"/>
              </a:rPr>
              <a:t>สองงานวิจัย บทเรียนเดียว</a:t>
            </a:r>
            <a:endParaRPr lang="en-US" sz="950" dirty="0"/>
          </a:p>
        </p:txBody>
      </p:sp>
      <p:pic>
        <p:nvPicPr>
          <p:cNvPr id="43" name="icon FiArrowRight" descr="preencoded.png">    </p:cNvPr>
          <p:cNvPicPr>
            <a:picLocks noChangeAspect="1"/>
          </p:cNvPicPr>
          <p:nvPr/>
        </p:nvPicPr>
        <p:blipFill>
          <a:blip r:embed="rId8"/>
          <a:stretch>
            <a:fillRect/>
          </a:stretch>
        </p:blipFill>
        <p:spPr>
          <a:xfrm>
            <a:off x="8439912" y="4498848"/>
            <a:ext cx="201168" cy="201168"/>
          </a:xfrm>
          <a:prstGeom prst="rect">
            <a:avLst/>
          </a:prstGeom>
        </p:spPr>
      </p:pic>
      <p:sp>
        <p:nvSpPr>
          <p:cNvPr id="25" name="Slide Number Placeholder 0"/>
          <p:cNvSpPr>
            <a:spLocks noGrp="1"/>
          </p:cNvSpPr>
          <p:nvPr>
            <p:ph type="sldNum" sz="quarter" idx="4294967295"/>
          </p:nvPr>
        </p:nvSpPr>
        <p:spPr>
          <a:xfrm>
            <a:off x="8092440" y="4773168"/>
            <a:ext cx="548640" cy="274320"/>
          </a:xfrm>
          <a:prstGeom prst="rect">
            <a:avLst/>
          </a:prstGeom>
          <a:extLst>
            <a:ext uri="{C572A759-6A51-4108-AA02-DFA0A04FC94B}">
              <ma14:wrappingTextBoxFlag xmlns:ma14="http://schemas.microsoft.com/office/mac/drawingml/2011/main" val="0"/>
            </a:ext>
          </a:extLst>
        </p:spPr>
        <p:txBody>
          <a:bodyPr/>
          <a:lstStyle>
            <a:lvl1pPr>
              <a:defRPr sz="850">
                <a:solidFill>
                  <a:srgbClr val="A3ADBB"/>
                </a:solidFill>
                <a:latin typeface="Prompt"/>
                <a:ea typeface="Prompt"/>
                <a:cs typeface="Prompt"/>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02920" y="274320"/>
            <a:ext cx="5943600" cy="237744"/>
          </a:xfrm>
          <a:prstGeom prst="rect">
            <a:avLst/>
          </a:prstGeom>
          <a:noFill/>
          <a:ln/>
        </p:spPr>
        <p:txBody>
          <a:bodyPr wrap="square" lIns="0" tIns="0" rIns="0" bIns="0" rtlCol="0" anchor="ctr"/>
          <a:lstStyle/>
          <a:p>
            <a:pPr algn="l" indent="0" marL="0">
              <a:buNone/>
            </a:pPr>
            <a:r>
              <a:rPr lang="en-US" sz="1000" b="1" spc="150" kern="0" dirty="0">
                <a:solidFill>
                  <a:schemeClr val="accent1"/>
                </a:solidFill>
                <a:latin typeface="Prompt" pitchFamily="34" charset="0"/>
                <a:ea typeface="Prompt" pitchFamily="34" charset="-122"/>
                <a:cs typeface="Prompt" pitchFamily="34" charset="-120"/>
              </a:rPr>
              <a:t>อภิปรายผลและเปรียบเทียบ</a:t>
            </a:r>
            <a:endParaRPr lang="en-US" sz="1000" dirty="0"/>
          </a:p>
        </p:txBody>
      </p:sp>
      <p:sp>
        <p:nvSpPr>
          <p:cNvPr id="3" name="Text 0"/>
          <p:cNvSpPr/>
          <p:nvPr>
            <p:ph idx="101" type="title" hasCustomPrompt="1"/>
          </p:nvPr>
        </p:nvSpPr>
        <p:spPr>
          <a:xfrm>
            <a:off x="502920" y="512064"/>
            <a:ext cx="8138160" cy="731520"/>
          </a:xfrm>
          <a:prstGeom prst="rect">
            <a:avLst/>
          </a:prstGeom>
          <a:noFill/>
          <a:ln/>
        </p:spPr>
        <p:txBody>
          <a:bodyPr wrap="square" lIns="0" tIns="0" rIns="0" bIns="0" rtlCol="0" anchor="ctr">
            <a:normAutofit/>
          </a:bodyPr>
          <a:lstStyle/>
          <a:p>
            <a:pPr algn="l" indent="0" marL="0">
              <a:buNone/>
            </a:pPr>
            <a:r>
              <a:rPr lang="en-US" sz="2600" b="1" dirty="0">
                <a:solidFill>
                  <a:schemeClr val="tx1"/>
                </a:solidFill>
                <a:latin typeface="Prompt" pitchFamily="34" charset="0"/>
                <a:ea typeface="Prompt" pitchFamily="34" charset="-122"/>
                <a:cs typeface="Prompt" pitchFamily="34" charset="-120"/>
              </a:rPr>
              <a:t>AI เป็นเครื่องมือ ไม่ใช่หลักประกันความสำเร็จ</a:t>
            </a:r>
            <a:endParaRPr lang="en-US" sz="2600" dirty="0"/>
          </a:p>
        </p:txBody>
      </p:sp>
      <p:sp>
        <p:nvSpPr>
          <p:cNvPr id="4" name="progress dot 1"/>
          <p:cNvSpPr/>
          <p:nvPr/>
        </p:nvSpPr>
        <p:spPr>
          <a:xfrm>
            <a:off x="7808976" y="342900"/>
            <a:ext cx="100584" cy="100584"/>
          </a:xfrm>
          <a:prstGeom prst="ellipse">
            <a:avLst/>
          </a:prstGeom>
          <a:solidFill>
            <a:srgbClr val="BFE6E0"/>
          </a:solidFill>
          <a:ln w="12700">
            <a:solidFill>
              <a:srgbClr val="BFE6E0"/>
            </a:solidFill>
            <a:prstDash val="solid"/>
          </a:ln>
        </p:spPr>
      </p:sp>
      <p:sp>
        <p:nvSpPr>
          <p:cNvPr id="5" name="progress dot 2"/>
          <p:cNvSpPr/>
          <p:nvPr/>
        </p:nvSpPr>
        <p:spPr>
          <a:xfrm>
            <a:off x="7991856" y="342900"/>
            <a:ext cx="100584" cy="100584"/>
          </a:xfrm>
          <a:prstGeom prst="ellipse">
            <a:avLst/>
          </a:prstGeom>
          <a:solidFill>
            <a:srgbClr val="BFE6E0"/>
          </a:solidFill>
          <a:ln w="12700">
            <a:solidFill>
              <a:srgbClr val="BFE6E0"/>
            </a:solidFill>
            <a:prstDash val="solid"/>
          </a:ln>
        </p:spPr>
      </p:sp>
      <p:sp>
        <p:nvSpPr>
          <p:cNvPr id="6" name="progress dot 3"/>
          <p:cNvSpPr/>
          <p:nvPr/>
        </p:nvSpPr>
        <p:spPr>
          <a:xfrm>
            <a:off x="8174736" y="342900"/>
            <a:ext cx="100584" cy="100584"/>
          </a:xfrm>
          <a:prstGeom prst="ellipse">
            <a:avLst/>
          </a:prstGeom>
          <a:solidFill>
            <a:srgbClr val="BFE6E0"/>
          </a:solidFill>
          <a:ln w="12700">
            <a:solidFill>
              <a:srgbClr val="BFE6E0"/>
            </a:solidFill>
            <a:prstDash val="solid"/>
          </a:ln>
        </p:spPr>
      </p:sp>
      <p:sp>
        <p:nvSpPr>
          <p:cNvPr id="7" name="progress dot 4"/>
          <p:cNvSpPr/>
          <p:nvPr/>
        </p:nvSpPr>
        <p:spPr>
          <a:xfrm>
            <a:off x="8357616" y="342900"/>
            <a:ext cx="100584" cy="100584"/>
          </a:xfrm>
          <a:prstGeom prst="ellipse">
            <a:avLst/>
          </a:prstGeom>
          <a:solidFill>
            <a:srgbClr val="BFE6E0"/>
          </a:solidFill>
          <a:ln w="12700">
            <a:solidFill>
              <a:srgbClr val="BFE6E0"/>
            </a:solidFill>
            <a:prstDash val="solid"/>
          </a:ln>
        </p:spPr>
      </p:sp>
      <p:sp>
        <p:nvSpPr>
          <p:cNvPr id="8" name="progress dot 5"/>
          <p:cNvSpPr/>
          <p:nvPr/>
        </p:nvSpPr>
        <p:spPr>
          <a:xfrm>
            <a:off x="8540496" y="342900"/>
            <a:ext cx="100584" cy="100584"/>
          </a:xfrm>
          <a:prstGeom prst="ellipse">
            <a:avLst/>
          </a:prstGeom>
          <a:solidFill>
            <a:srgbClr val="2E8B86"/>
          </a:solidFill>
          <a:ln w="12700">
            <a:solidFill>
              <a:srgbClr val="2E8B86"/>
            </a:solidFill>
            <a:prstDash val="solid"/>
          </a:ln>
        </p:spPr>
      </p:sp>
      <p:sp>
        <p:nvSpPr>
          <p:cNvPr id="9" name="progress label"/>
          <p:cNvSpPr txBox="1"/>
          <p:nvPr/>
        </p:nvSpPr>
        <p:spPr>
          <a:xfrm>
            <a:off x="7077456" y="274320"/>
            <a:ext cx="640080" cy="237744"/>
          </a:xfrm>
          <a:prstGeom prst="rect">
            <a:avLst/>
          </a:prstGeom>
          <a:noFill/>
          <a:ln/>
        </p:spPr>
        <p:txBody>
          <a:bodyPr wrap="square" lIns="0" tIns="0" rIns="0" bIns="0" rtlCol="0" anchor="ctr"/>
          <a:lstStyle/>
          <a:p>
            <a:pPr algn="r" indent="0" marL="0">
              <a:buNone/>
            </a:pPr>
            <a:r>
              <a:rPr lang="en-US" sz="900" dirty="0">
                <a:solidFill>
                  <a:srgbClr val="A3ADBB"/>
                </a:solidFill>
                <a:latin typeface="Prompt" pitchFamily="34" charset="0"/>
                <a:ea typeface="Prompt" pitchFamily="34" charset="-122"/>
                <a:cs typeface="Prompt" pitchFamily="34" charset="-120"/>
              </a:rPr>
              <a:t>5 / 5</a:t>
            </a:r>
            <a:endParaRPr lang="en-US" sz="900" dirty="0"/>
          </a:p>
        </p:txBody>
      </p:sp>
      <p:sp>
        <p:nvSpPr>
          <p:cNvPr id="10" name="tag finding"/>
          <p:cNvSpPr/>
          <p:nvPr/>
        </p:nvSpPr>
        <p:spPr>
          <a:xfrm>
            <a:off x="502920" y="1371600"/>
            <a:ext cx="1143000" cy="201168"/>
          </a:xfrm>
          <a:prstGeom prst="roundRect">
            <a:avLst>
              <a:gd name="adj" fmla="val 50000"/>
            </a:avLst>
          </a:prstGeom>
          <a:solidFill>
            <a:srgbClr val="BFE6E0"/>
          </a:solidFill>
          <a:ln w="12700">
            <a:solidFill>
              <a:srgbClr val="BFE6E0"/>
            </a:solidFill>
            <a:prstDash val="solid"/>
          </a:ln>
        </p:spPr>
      </p:sp>
      <p:sp>
        <p:nvSpPr>
          <p:cNvPr id="11" name="tag text"/>
          <p:cNvSpPr txBox="1"/>
          <p:nvPr/>
        </p:nvSpPr>
        <p:spPr>
          <a:xfrm>
            <a:off x="502920" y="1371600"/>
            <a:ext cx="1143000" cy="201168"/>
          </a:xfrm>
          <a:prstGeom prst="rect">
            <a:avLst/>
          </a:prstGeom>
          <a:noFill/>
          <a:ln/>
        </p:spPr>
        <p:txBody>
          <a:bodyPr wrap="square" lIns="0" tIns="0" rIns="0" bIns="0" rtlCol="0" anchor="ctr"/>
          <a:lstStyle/>
          <a:p>
            <a:pPr algn="ctr" indent="0" marL="0">
              <a:buNone/>
            </a:pPr>
            <a:r>
              <a:rPr lang="en-US" sz="850" b="1" spc="150" kern="0" dirty="0">
                <a:solidFill>
                  <a:srgbClr val="1B2A4A"/>
                </a:solidFill>
                <a:latin typeface="Prompt" pitchFamily="34" charset="0"/>
                <a:ea typeface="Prompt" pitchFamily="34" charset="-122"/>
                <a:cs typeface="Prompt" pitchFamily="34" charset="-120"/>
              </a:rPr>
              <a:t>ผลการวิจัย</a:t>
            </a:r>
            <a:endParaRPr lang="en-US" sz="850" dirty="0"/>
          </a:p>
        </p:txBody>
      </p:sp>
      <p:graphicFrame>
        <p:nvGraphicFramePr>
          <p:cNvPr id="11" name="comparison table"/>
          <p:cNvGraphicFramePr>
            <a:graphicFrameLocks noGrp="1"/>
          </p:cNvGraphicFramePr>
          <p:nvPr>
            <p:extLst>
              <p:ext uri="{D42A27DB-BD31-4B8C-83A1-F6EECF244321}">
                <p14:modId xmlns:p14="http://schemas.microsoft.com/office/powerpoint/2010/main" val="1579011935"/>
              </p:ext>
            </p:extLst>
          </p:nvPr>
        </p:nvGraphicFramePr>
        <p:xfrm>
          <a:off x="502920" y="1627632"/>
          <a:ext cx="8138160" cy="914400"/>
        </p:xfrm>
        <a:graphic>
          <a:graphicData uri="http://schemas.openxmlformats.org/drawingml/2006/table">
            <a:tbl>
              <a:tblPr/>
              <a:tblGrid>
                <a:gridCol w="1463040"/>
                <a:gridCol w="3337560"/>
                <a:gridCol w="3337560"/>
              </a:tblGrid>
              <a:tr h="329184">
                <a:tc>
                  <a:txBody>
                    <a:bodyPr/>
                    <a:lstStyle/>
                    <a:p>
                      <a:pPr indent="0" marL="0">
                        <a:buNone/>
                      </a:pPr>
                      <a:endParaRPr lang="en-US" sz="1050" dirty="0">
                        <a:latin typeface="Prompt" charset="0"/>
                        <a:ea typeface="Prompt" charset="0"/>
                        <a:cs typeface="Prompt" charset="0"/>
                      </a:endParaRPr>
                    </a:p>
                  </a:txBody>
                  <a:tcPr marL="18288" marR="91440" marT="54864" marB="54864" anchor="ctr">
                    <a:lnL w="0" cap="flat" cmpd="sng" algn="ctr">
                      <a:noFill/>
                    </a:lnL>
                    <a:lnR w="0" cap="flat" cmpd="sng" algn="ctr">
                      <a:noFill/>
                    </a:lnR>
                    <a:lnT w="0" cap="flat" cmpd="sng" algn="ctr">
                      <a:noFill/>
                    </a:lnT>
                    <a:lnB w="12700" cap="flat" cmpd="sng" algn="ctr">
                      <a:solidFill>
                        <a:srgbClr val="1B2A4A"/>
                      </a:solidFill>
                      <a:prstDash val="solid"/>
                      <a:round/>
                      <a:headEnd type="none" w="med" len="med"/>
                      <a:tailEnd type="none" w="med" len="med"/>
                    </a:lnB>
                    <a:solidFill>
                      <a:srgbClr val="FFFFFF"/>
                    </a:solidFill>
                  </a:tcPr>
                </a:tc>
                <a:tc>
                  <a:txBody>
                    <a:bodyPr/>
                    <a:lstStyle/>
                    <a:p>
                      <a:pPr indent="0" marL="0">
                        <a:buNone/>
                      </a:pPr>
                      <a:r>
                        <a:rPr lang="en-US" sz="1050" b="1" dirty="0">
                          <a:solidFill>
                            <a:srgbClr val="1B2A4A"/>
                          </a:solidFill>
                          <a:latin typeface="Prompt" pitchFamily="34" charset="0"/>
                          <a:ea typeface="Prompt" pitchFamily="34" charset="-122"/>
                          <a:cs typeface="Prompt" pitchFamily="34" charset="-120"/>
                        </a:rPr>
                        <a:t>บทความที่ 2  ·  ที่ปรึกษา</a:t>
                      </a:r>
                      <a:endParaRPr lang="en-US" sz="1050" dirty="0">
                        <a:latin typeface="Prompt" charset="0"/>
                        <a:ea typeface="Prompt" charset="0"/>
                        <a:cs typeface="Prompt" charset="0"/>
                      </a:endParaRPr>
                    </a:p>
                  </a:txBody>
                  <a:tcPr marL="18288" marR="91440" marT="54864" marB="54864" anchor="ctr">
                    <a:lnL w="0" cap="flat" cmpd="sng" algn="ctr">
                      <a:noFill/>
                    </a:lnL>
                    <a:lnR w="0" cap="flat" cmpd="sng" algn="ctr">
                      <a:noFill/>
                    </a:lnR>
                    <a:lnT w="0" cap="flat" cmpd="sng" algn="ctr">
                      <a:noFill/>
                    </a:lnT>
                    <a:lnB w="12700" cap="flat" cmpd="sng" algn="ctr">
                      <a:solidFill>
                        <a:srgbClr val="1B2A4A"/>
                      </a:solidFill>
                      <a:prstDash val="solid"/>
                      <a:round/>
                      <a:headEnd type="none" w="med" len="med"/>
                      <a:tailEnd type="none" w="med" len="med"/>
                    </a:lnB>
                    <a:solidFill>
                      <a:srgbClr val="FFFFFF"/>
                    </a:solidFill>
                  </a:tcPr>
                </a:tc>
                <a:tc>
                  <a:txBody>
                    <a:bodyPr/>
                    <a:lstStyle/>
                    <a:p>
                      <a:pPr indent="0" marL="0">
                        <a:buNone/>
                      </a:pPr>
                      <a:r>
                        <a:rPr lang="en-US" sz="1050" b="1" dirty="0">
                          <a:solidFill>
                            <a:srgbClr val="1B2A4A"/>
                          </a:solidFill>
                          <a:latin typeface="Prompt" pitchFamily="34" charset="0"/>
                          <a:ea typeface="Prompt" pitchFamily="34" charset="-122"/>
                          <a:cs typeface="Prompt" pitchFamily="34" charset="-120"/>
                        </a:rPr>
                        <a:t>บทความที่ 5  ·  ผู้ประกอบการ</a:t>
                      </a:r>
                      <a:endParaRPr lang="en-US" sz="1050" dirty="0">
                        <a:latin typeface="Prompt" charset="0"/>
                        <a:ea typeface="Prompt" charset="0"/>
                        <a:cs typeface="Prompt" charset="0"/>
                      </a:endParaRPr>
                    </a:p>
                  </a:txBody>
                  <a:tcPr marL="18288" marR="91440" marT="54864" marB="54864" anchor="ctr">
                    <a:lnL w="0" cap="flat" cmpd="sng" algn="ctr">
                      <a:noFill/>
                    </a:lnL>
                    <a:lnR w="0" cap="flat" cmpd="sng" algn="ctr">
                      <a:noFill/>
                    </a:lnR>
                    <a:lnT w="0" cap="flat" cmpd="sng" algn="ctr">
                      <a:noFill/>
                    </a:lnT>
                    <a:lnB w="12700" cap="flat" cmpd="sng" algn="ctr">
                      <a:solidFill>
                        <a:srgbClr val="1B2A4A"/>
                      </a:solidFill>
                      <a:prstDash val="solid"/>
                      <a:round/>
                      <a:headEnd type="none" w="med" len="med"/>
                      <a:tailEnd type="none" w="med" len="med"/>
                    </a:lnB>
                    <a:solidFill>
                      <a:srgbClr val="FFFFFF"/>
                    </a:solidFill>
                  </a:tcPr>
                </a:tc>
              </a:tr>
              <a:tr h="402336">
                <a:tc>
                  <a:txBody>
                    <a:bodyPr/>
                    <a:lstStyle/>
                    <a:p>
                      <a:pPr indent="0" marL="0">
                        <a:buNone/>
                      </a:pPr>
                      <a:r>
                        <a:rPr lang="en-US" sz="1050" b="1" dirty="0">
                          <a:solidFill>
                            <a:srgbClr val="1B2A4A"/>
                          </a:solidFill>
                          <a:latin typeface="Prompt" pitchFamily="34" charset="0"/>
                          <a:ea typeface="Prompt" pitchFamily="34" charset="-122"/>
                          <a:cs typeface="Prompt" pitchFamily="34" charset="-120"/>
                        </a:rPr>
                        <a:t>กลุ่มที่ศึกษา</a:t>
                      </a:r>
                      <a:endParaRPr lang="en-US" sz="1050" dirty="0">
                        <a:latin typeface="Prompt" charset="0"/>
                        <a:ea typeface="Prompt" charset="0"/>
                        <a:cs typeface="Prompt"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E3E8EE"/>
                      </a:solidFill>
                      <a:prstDash val="solid"/>
                      <a:round/>
                      <a:headEnd type="none" w="med" len="med"/>
                      <a:tailEnd type="none" w="med" len="med"/>
                    </a:lnB>
                    <a:solidFill>
                      <a:srgbClr val="FFFFFF"/>
                    </a:solidFill>
                  </a:tcPr>
                </a:tc>
                <a:tc>
                  <a:txBody>
                    <a:bodyPr/>
                    <a:lstStyle/>
                    <a:p>
                      <a:pPr indent="0" marL="0">
                        <a:buNone/>
                      </a:pPr>
                      <a:r>
                        <a:rPr lang="en-US" sz="1050" dirty="0">
                          <a:solidFill>
                            <a:srgbClr val="6B7280"/>
                          </a:solidFill>
                          <a:latin typeface="Prompt" pitchFamily="34" charset="0"/>
                          <a:ea typeface="Prompt" pitchFamily="34" charset="-122"/>
                          <a:cs typeface="Prompt" pitchFamily="34" charset="-120"/>
                        </a:rPr>
                        <a:t>พนักงานความรู้ที่ BCG</a:t>
                      </a:r>
                      <a:endParaRPr lang="en-US" sz="1050" dirty="0">
                        <a:latin typeface="Prompt" charset="0"/>
                        <a:ea typeface="Prompt" charset="0"/>
                        <a:cs typeface="Prompt"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E3E8EE"/>
                      </a:solidFill>
                      <a:prstDash val="solid"/>
                      <a:round/>
                      <a:headEnd type="none" w="med" len="med"/>
                      <a:tailEnd type="none" w="med" len="med"/>
                    </a:lnB>
                    <a:solidFill>
                      <a:srgbClr val="FFFFFF"/>
                    </a:solidFill>
                  </a:tcPr>
                </a:tc>
                <a:tc>
                  <a:txBody>
                    <a:bodyPr/>
                    <a:lstStyle/>
                    <a:p>
                      <a:pPr indent="0" marL="0">
                        <a:buNone/>
                      </a:pPr>
                      <a:r>
                        <a:rPr lang="en-US" sz="1050" dirty="0">
                          <a:solidFill>
                            <a:srgbClr val="6B7280"/>
                          </a:solidFill>
                          <a:latin typeface="Prompt" pitchFamily="34" charset="0"/>
                          <a:ea typeface="Prompt" pitchFamily="34" charset="-122"/>
                          <a:cs typeface="Prompt" pitchFamily="34" charset="-120"/>
                        </a:rPr>
                        <a:t>ธุรกิจขนาดเล็กในเคนยา</a:t>
                      </a:r>
                      <a:endParaRPr lang="en-US" sz="1050" dirty="0">
                        <a:latin typeface="Prompt" charset="0"/>
                        <a:ea typeface="Prompt" charset="0"/>
                        <a:cs typeface="Prompt"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E3E8EE"/>
                      </a:solidFill>
                      <a:prstDash val="solid"/>
                      <a:round/>
                      <a:headEnd type="none" w="med" len="med"/>
                      <a:tailEnd type="none" w="med" len="med"/>
                    </a:lnB>
                    <a:solidFill>
                      <a:srgbClr val="FFFFFF"/>
                    </a:solidFill>
                  </a:tcPr>
                </a:tc>
              </a:tr>
              <a:tr h="475488">
                <a:tc>
                  <a:txBody>
                    <a:bodyPr/>
                    <a:lstStyle/>
                    <a:p>
                      <a:pPr indent="0" marL="0">
                        <a:buNone/>
                      </a:pPr>
                      <a:r>
                        <a:rPr lang="en-US" sz="1050" b="1" dirty="0">
                          <a:solidFill>
                            <a:srgbClr val="1B2A4A"/>
                          </a:solidFill>
                          <a:latin typeface="Prompt" pitchFamily="34" charset="0"/>
                          <a:ea typeface="Prompt" pitchFamily="34" charset="-122"/>
                          <a:cs typeface="Prompt" pitchFamily="34" charset="-120"/>
                        </a:rPr>
                        <a:t>ผลหลัก</a:t>
                      </a:r>
                      <a:endParaRPr lang="en-US" sz="1050" dirty="0">
                        <a:latin typeface="Prompt" charset="0"/>
                        <a:ea typeface="Prompt" charset="0"/>
                        <a:cs typeface="Prompt"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E3E8EE"/>
                      </a:solidFill>
                      <a:prstDash val="solid"/>
                      <a:round/>
                      <a:headEnd type="none" w="med" len="med"/>
                      <a:tailEnd type="none" w="med" len="med"/>
                    </a:lnB>
                    <a:solidFill>
                      <a:srgbClr val="FFFFFF"/>
                    </a:solidFill>
                  </a:tcPr>
                </a:tc>
                <a:tc>
                  <a:txBody>
                    <a:bodyPr/>
                    <a:lstStyle/>
                    <a:p>
                      <a:pPr indent="0" marL="0">
                        <a:buNone/>
                      </a:pPr>
                      <a:r>
                        <a:rPr lang="en-US" sz="1050" dirty="0">
                          <a:solidFill>
                            <a:srgbClr val="6B7280"/>
                          </a:solidFill>
                          <a:latin typeface="Prompt" pitchFamily="34" charset="0"/>
                          <a:ea typeface="Prompt" pitchFamily="34" charset="-122"/>
                          <a:cs typeface="Prompt" pitchFamily="34" charset="-120"/>
                        </a:rPr>
                        <a:t>ผลิตภาพและคุณภาพสูงขึ้นภายในพรมแดนความสามารถของ AI</a:t>
                      </a:r>
                      <a:endParaRPr lang="en-US" sz="1050" dirty="0">
                        <a:latin typeface="Prompt" charset="0"/>
                        <a:ea typeface="Prompt" charset="0"/>
                        <a:cs typeface="Prompt"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E3E8EE"/>
                      </a:solidFill>
                      <a:prstDash val="solid"/>
                      <a:round/>
                      <a:headEnd type="none" w="med" len="med"/>
                      <a:tailEnd type="none" w="med" len="med"/>
                    </a:lnB>
                    <a:solidFill>
                      <a:srgbClr val="FFFFFF"/>
                    </a:solidFill>
                  </a:tcPr>
                </a:tc>
                <a:tc>
                  <a:txBody>
                    <a:bodyPr/>
                    <a:lstStyle/>
                    <a:p>
                      <a:pPr indent="0" marL="0">
                        <a:buNone/>
                      </a:pPr>
                      <a:r>
                        <a:rPr lang="en-US" sz="1050" dirty="0">
                          <a:solidFill>
                            <a:srgbClr val="6B7280"/>
                          </a:solidFill>
                          <a:latin typeface="Prompt" pitchFamily="34" charset="0"/>
                          <a:ea typeface="Prompt" pitchFamily="34" charset="-122"/>
                          <a:cs typeface="Prompt" pitchFamily="34" charset="-120"/>
                        </a:rPr>
                        <a:t>ไม่พบผลเฉลี่ยต่อรายได้และกำไรอย่างชัดเจน</a:t>
                      </a:r>
                      <a:endParaRPr lang="en-US" sz="1050" dirty="0">
                        <a:latin typeface="Prompt" charset="0"/>
                        <a:ea typeface="Prompt" charset="0"/>
                        <a:cs typeface="Prompt"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E3E8EE"/>
                      </a:solidFill>
                      <a:prstDash val="solid"/>
                      <a:round/>
                      <a:headEnd type="none" w="med" len="med"/>
                      <a:tailEnd type="none" w="med" len="med"/>
                    </a:lnB>
                    <a:solidFill>
                      <a:srgbClr val="FFFFFF"/>
                    </a:solidFill>
                  </a:tcPr>
                </a:tc>
              </a:tr>
              <a:tr h="475488">
                <a:tc>
                  <a:txBody>
                    <a:bodyPr/>
                    <a:lstStyle/>
                    <a:p>
                      <a:pPr indent="0" marL="0">
                        <a:buNone/>
                      </a:pPr>
                      <a:r>
                        <a:rPr lang="en-US" sz="1050" b="1" dirty="0">
                          <a:solidFill>
                            <a:srgbClr val="1B2A4A"/>
                          </a:solidFill>
                          <a:latin typeface="Prompt" pitchFamily="34" charset="0"/>
                          <a:ea typeface="Prompt" pitchFamily="34" charset="-122"/>
                          <a:cs typeface="Prompt" pitchFamily="34" charset="-120"/>
                        </a:rPr>
                        <a:t>ข้อค้นพบสำคัญ</a:t>
                      </a:r>
                      <a:endParaRPr lang="en-US" sz="1050" dirty="0">
                        <a:latin typeface="Prompt" charset="0"/>
                        <a:ea typeface="Prompt" charset="0"/>
                        <a:cs typeface="Prompt"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E3E8EE"/>
                      </a:solidFill>
                      <a:prstDash val="solid"/>
                      <a:round/>
                      <a:headEnd type="none" w="med" len="med"/>
                      <a:tailEnd type="none" w="med" len="med"/>
                    </a:lnB>
                    <a:solidFill>
                      <a:srgbClr val="FFFFFF"/>
                    </a:solidFill>
                  </a:tcPr>
                </a:tc>
                <a:tc>
                  <a:txBody>
                    <a:bodyPr/>
                    <a:lstStyle/>
                    <a:p>
                      <a:pPr indent="0" marL="0">
                        <a:buNone/>
                      </a:pPr>
                      <a:r>
                        <a:rPr lang="en-US" sz="1050" dirty="0">
                          <a:solidFill>
                            <a:srgbClr val="6B7280"/>
                          </a:solidFill>
                          <a:latin typeface="Prompt" pitchFamily="34" charset="0"/>
                          <a:ea typeface="Prompt" pitchFamily="34" charset="-122"/>
                          <a:cs typeface="Prompt" pitchFamily="34" charset="-120"/>
                        </a:rPr>
                        <a:t>ความถูกต้องลดลงในงานนอกพรมแดน</a:t>
                      </a:r>
                      <a:endParaRPr lang="en-US" sz="1050" dirty="0">
                        <a:latin typeface="Prompt" charset="0"/>
                        <a:ea typeface="Prompt" charset="0"/>
                        <a:cs typeface="Prompt"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E3E8EE"/>
                      </a:solidFill>
                      <a:prstDash val="solid"/>
                      <a:round/>
                      <a:headEnd type="none" w="med" len="med"/>
                      <a:tailEnd type="none" w="med" len="med"/>
                    </a:lnB>
                    <a:solidFill>
                      <a:srgbClr val="FFFFFF"/>
                    </a:solidFill>
                  </a:tcPr>
                </a:tc>
                <a:tc>
                  <a:txBody>
                    <a:bodyPr/>
                    <a:lstStyle/>
                    <a:p>
                      <a:pPr indent="0" marL="0">
                        <a:buNone/>
                      </a:pPr>
                      <a:r>
                        <a:rPr lang="en-US" sz="1050" dirty="0">
                          <a:solidFill>
                            <a:srgbClr val="6B7280"/>
                          </a:solidFill>
                          <a:latin typeface="Prompt" pitchFamily="34" charset="0"/>
                          <a:ea typeface="Prompt" pitchFamily="34" charset="-122"/>
                          <a:cs typeface="Prompt" pitchFamily="34" charset="-120"/>
                        </a:rPr>
                        <a:t>ผลขึ้นกับผลงานตั้งต้นและคำแนะนำที่เลือกนำไปใช้</a:t>
                      </a:r>
                      <a:endParaRPr lang="en-US" sz="1050" dirty="0">
                        <a:latin typeface="Prompt" charset="0"/>
                        <a:ea typeface="Prompt" charset="0"/>
                        <a:cs typeface="Prompt"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E3E8EE"/>
                      </a:solidFill>
                      <a:prstDash val="solid"/>
                      <a:round/>
                      <a:headEnd type="none" w="med" len="med"/>
                      <a:tailEnd type="none" w="med" len="med"/>
                    </a:lnB>
                    <a:solidFill>
                      <a:srgbClr val="FFFFFF"/>
                    </a:solidFill>
                  </a:tcPr>
                </a:tc>
              </a:tr>
            </a:tbl>
          </a:graphicData>
        </a:graphic>
      </p:graphicFrame>
      <p:sp>
        <p:nvSpPr>
          <p:cNvPr id="13" name="conclusion card"/>
          <p:cNvSpPr/>
          <p:nvPr/>
        </p:nvSpPr>
        <p:spPr>
          <a:xfrm>
            <a:off x="502920" y="3456432"/>
            <a:ext cx="8138160" cy="932688"/>
          </a:xfrm>
          <a:prstGeom prst="roundRect">
            <a:avLst>
              <a:gd name="adj" fmla="val 11765"/>
            </a:avLst>
          </a:prstGeom>
          <a:solidFill>
            <a:srgbClr val="2E8B86"/>
          </a:solidFill>
          <a:ln w="12700">
            <a:solidFill>
              <a:srgbClr val="2E8B86"/>
            </a:solidFill>
            <a:prstDash val="solid"/>
          </a:ln>
        </p:spPr>
      </p:sp>
      <p:sp>
        <p:nvSpPr>
          <p:cNvPr id="14" name="tag interp"/>
          <p:cNvSpPr/>
          <p:nvPr/>
        </p:nvSpPr>
        <p:spPr>
          <a:xfrm>
            <a:off x="731520" y="3584448"/>
            <a:ext cx="1143000" cy="201168"/>
          </a:xfrm>
          <a:prstGeom prst="roundRect">
            <a:avLst>
              <a:gd name="adj" fmla="val 50000"/>
            </a:avLst>
          </a:prstGeom>
          <a:solidFill>
            <a:srgbClr val="FFFFFF"/>
          </a:solidFill>
          <a:ln w="12700">
            <a:solidFill>
              <a:srgbClr val="FFFFFF"/>
            </a:solidFill>
            <a:prstDash val="solid"/>
          </a:ln>
        </p:spPr>
      </p:sp>
      <p:sp>
        <p:nvSpPr>
          <p:cNvPr id="15" name="tag text"/>
          <p:cNvSpPr txBox="1"/>
          <p:nvPr/>
        </p:nvSpPr>
        <p:spPr>
          <a:xfrm>
            <a:off x="731520" y="3584448"/>
            <a:ext cx="1143000" cy="201168"/>
          </a:xfrm>
          <a:prstGeom prst="rect">
            <a:avLst/>
          </a:prstGeom>
          <a:noFill/>
          <a:ln/>
        </p:spPr>
        <p:txBody>
          <a:bodyPr wrap="square" lIns="0" tIns="0" rIns="0" bIns="0" rtlCol="0" anchor="ctr"/>
          <a:lstStyle/>
          <a:p>
            <a:pPr algn="ctr" indent="0" marL="0">
              <a:buNone/>
            </a:pPr>
            <a:r>
              <a:rPr lang="en-US" sz="850" b="1" spc="150" kern="0" dirty="0">
                <a:solidFill>
                  <a:srgbClr val="1B2A4A"/>
                </a:solidFill>
                <a:latin typeface="Prompt" pitchFamily="34" charset="0"/>
                <a:ea typeface="Prompt" pitchFamily="34" charset="-122"/>
                <a:cs typeface="Prompt" pitchFamily="34" charset="-120"/>
              </a:rPr>
              <a:t>การตีความ</a:t>
            </a:r>
            <a:endParaRPr lang="en-US" sz="850" dirty="0"/>
          </a:p>
        </p:txBody>
      </p:sp>
      <p:sp>
        <p:nvSpPr>
          <p:cNvPr id="16" name="conclusion"/>
          <p:cNvSpPr txBox="1"/>
          <p:nvPr/>
        </p:nvSpPr>
        <p:spPr>
          <a:xfrm>
            <a:off x="731520" y="3840480"/>
            <a:ext cx="4160520" cy="475488"/>
          </a:xfrm>
          <a:prstGeom prst="rect">
            <a:avLst/>
          </a:prstGeom>
          <a:noFill/>
          <a:ln/>
        </p:spPr>
        <p:txBody>
          <a:bodyPr wrap="square" lIns="0" tIns="0" rIns="0" bIns="0" rtlCol="0" anchor="t"/>
          <a:lstStyle/>
          <a:p>
            <a:pPr indent="0" marL="0">
              <a:buNone/>
            </a:pPr>
            <a:r>
              <a:rPr lang="en-US" sz="1050" b="1" dirty="0">
                <a:solidFill>
                  <a:srgbClr val="FFFFFF"/>
                </a:solidFill>
                <a:latin typeface="Prompt" pitchFamily="34" charset="0"/>
                <a:ea typeface="Prompt" pitchFamily="34" charset="-122"/>
                <a:cs typeface="Prompt" pitchFamily="34" charset="-120"/>
              </a:rPr>
              <a:t>AI ส่งผลต่อผลการทำงานจริงได้ แต่ผลกระทบขึ้นอยู่กับความเหมาะสมของงาน พฤติกรรมของผู้ใช้ และวิจารณญาณของมนุษย์</a:t>
            </a:r>
            <a:endParaRPr lang="en-US" sz="1050" dirty="0"/>
          </a:p>
        </p:txBody>
      </p:sp>
      <p:pic>
        <p:nvPicPr>
          <p:cNvPr id="17" name="icon check" descr="preencoded.png">    </p:cNvPr>
          <p:cNvPicPr>
            <a:picLocks noChangeAspect="1"/>
          </p:cNvPicPr>
          <p:nvPr/>
        </p:nvPicPr>
        <p:blipFill>
          <a:blip r:embed="rId1"/>
          <a:stretch>
            <a:fillRect/>
          </a:stretch>
        </p:blipFill>
        <p:spPr>
          <a:xfrm>
            <a:off x="4983480" y="3621024"/>
            <a:ext cx="164592" cy="164592"/>
          </a:xfrm>
          <a:prstGeom prst="rect">
            <a:avLst/>
          </a:prstGeom>
        </p:spPr>
      </p:pic>
      <p:sp>
        <p:nvSpPr>
          <p:cNvPr id="18" name="takeaway 1"/>
          <p:cNvSpPr txBox="1"/>
          <p:nvPr/>
        </p:nvSpPr>
        <p:spPr>
          <a:xfrm>
            <a:off x="5239512" y="3584448"/>
            <a:ext cx="1847088" cy="237744"/>
          </a:xfrm>
          <a:prstGeom prst="rect">
            <a:avLst/>
          </a:prstGeom>
          <a:noFill/>
          <a:ln/>
        </p:spPr>
        <p:txBody>
          <a:bodyPr wrap="square" lIns="0" tIns="0" rIns="0" bIns="0" rtlCol="0" anchor="ctr"/>
          <a:lstStyle/>
          <a:p>
            <a:pPr indent="0" marL="0">
              <a:buNone/>
            </a:pPr>
            <a:r>
              <a:rPr lang="en-US" sz="950" dirty="0">
                <a:solidFill>
                  <a:srgbClr val="FFFFFF"/>
                </a:solidFill>
                <a:latin typeface="Prompt" pitchFamily="34" charset="0"/>
                <a:ea typeface="Prompt" pitchFamily="34" charset="-122"/>
                <a:cs typeface="Prompt" pitchFamily="34" charset="-120"/>
              </a:rPr>
              <a:t>เลือกงานให้ตรงกับจุดแข็งของ AI</a:t>
            </a:r>
            <a:endParaRPr lang="en-US" sz="950" dirty="0"/>
          </a:p>
        </p:txBody>
      </p:sp>
      <p:pic>
        <p:nvPicPr>
          <p:cNvPr id="19" name="icon check" descr="preencoded.png">    </p:cNvPr>
          <p:cNvPicPr>
            <a:picLocks noChangeAspect="1"/>
          </p:cNvPicPr>
          <p:nvPr/>
        </p:nvPicPr>
        <p:blipFill>
          <a:blip r:embed="rId2"/>
          <a:stretch>
            <a:fillRect/>
          </a:stretch>
        </p:blipFill>
        <p:spPr>
          <a:xfrm>
            <a:off x="4983480" y="3867912"/>
            <a:ext cx="164592" cy="164592"/>
          </a:xfrm>
          <a:prstGeom prst="rect">
            <a:avLst/>
          </a:prstGeom>
        </p:spPr>
      </p:pic>
      <p:sp>
        <p:nvSpPr>
          <p:cNvPr id="20" name="takeaway 2"/>
          <p:cNvSpPr txBox="1"/>
          <p:nvPr/>
        </p:nvSpPr>
        <p:spPr>
          <a:xfrm>
            <a:off x="5239512" y="3831336"/>
            <a:ext cx="1847088" cy="237744"/>
          </a:xfrm>
          <a:prstGeom prst="rect">
            <a:avLst/>
          </a:prstGeom>
          <a:noFill/>
          <a:ln/>
        </p:spPr>
        <p:txBody>
          <a:bodyPr wrap="square" lIns="0" tIns="0" rIns="0" bIns="0" rtlCol="0" anchor="ctr"/>
          <a:lstStyle/>
          <a:p>
            <a:pPr indent="0" marL="0">
              <a:buNone/>
            </a:pPr>
            <a:r>
              <a:rPr lang="en-US" sz="950" dirty="0">
                <a:solidFill>
                  <a:srgbClr val="FFFFFF"/>
                </a:solidFill>
                <a:latin typeface="Prompt" pitchFamily="34" charset="0"/>
                <a:ea typeface="Prompt" pitchFamily="34" charset="-122"/>
                <a:cs typeface="Prompt" pitchFamily="34" charset="-120"/>
              </a:rPr>
              <a:t>ประเมินคำแนะนำของ AI อย่างมีวิจารณญาณ</a:t>
            </a:r>
            <a:endParaRPr lang="en-US" sz="950" dirty="0"/>
          </a:p>
        </p:txBody>
      </p:sp>
      <p:pic>
        <p:nvPicPr>
          <p:cNvPr id="21" name="icon check" descr="preencoded.png">    </p:cNvPr>
          <p:cNvPicPr>
            <a:picLocks noChangeAspect="1"/>
          </p:cNvPicPr>
          <p:nvPr/>
        </p:nvPicPr>
        <p:blipFill>
          <a:blip r:embed="rId3"/>
          <a:stretch>
            <a:fillRect/>
          </a:stretch>
        </p:blipFill>
        <p:spPr>
          <a:xfrm>
            <a:off x="4983480" y="4114800"/>
            <a:ext cx="164592" cy="164592"/>
          </a:xfrm>
          <a:prstGeom prst="rect">
            <a:avLst/>
          </a:prstGeom>
        </p:spPr>
      </p:pic>
      <p:sp>
        <p:nvSpPr>
          <p:cNvPr id="22" name="takeaway 3"/>
          <p:cNvSpPr txBox="1"/>
          <p:nvPr/>
        </p:nvSpPr>
        <p:spPr>
          <a:xfrm>
            <a:off x="5239512" y="4078224"/>
            <a:ext cx="1847088" cy="237744"/>
          </a:xfrm>
          <a:prstGeom prst="rect">
            <a:avLst/>
          </a:prstGeom>
          <a:noFill/>
          <a:ln/>
        </p:spPr>
        <p:txBody>
          <a:bodyPr wrap="square" lIns="0" tIns="0" rIns="0" bIns="0" rtlCol="0" anchor="ctr"/>
          <a:lstStyle/>
          <a:p>
            <a:pPr indent="0" marL="0">
              <a:buNone/>
            </a:pPr>
            <a:r>
              <a:rPr lang="en-US" sz="950" dirty="0">
                <a:solidFill>
                  <a:srgbClr val="FFFFFF"/>
                </a:solidFill>
                <a:latin typeface="Prompt" pitchFamily="34" charset="0"/>
                <a:ea typeface="Prompt" pitchFamily="34" charset="-122"/>
                <a:cs typeface="Prompt" pitchFamily="34" charset="-120"/>
              </a:rPr>
              <a:t>ให้มนุษย์ตัดสินใจขั้นสุดท้าย</a:t>
            </a:r>
            <a:endParaRPr lang="en-US" sz="950" dirty="0"/>
          </a:p>
        </p:txBody>
      </p:sp>
      <p:pic>
        <p:nvPicPr>
          <p:cNvPr id="23" name="human handshake" descr="preencoded.png">    </p:cNvPr>
          <p:cNvPicPr>
            <a:picLocks noChangeAspect="1"/>
          </p:cNvPicPr>
          <p:nvPr/>
        </p:nvPicPr>
        <p:blipFill>
          <a:blip r:embed="rId4"/>
          <a:stretch>
            <a:fillRect/>
          </a:stretch>
        </p:blipFill>
        <p:spPr>
          <a:xfrm>
            <a:off x="7068312" y="3547872"/>
            <a:ext cx="749808" cy="786384"/>
          </a:xfrm>
          <a:prstGeom prst="rect">
            <a:avLst/>
          </a:prstGeom>
        </p:spPr>
      </p:pic>
      <p:pic>
        <p:nvPicPr>
          <p:cNvPr id="24" name="mascot handshake" descr="preencoded.png">    </p:cNvPr>
          <p:cNvPicPr>
            <a:picLocks noChangeAspect="1"/>
          </p:cNvPicPr>
          <p:nvPr/>
        </p:nvPicPr>
        <p:blipFill>
          <a:blip r:embed="rId5"/>
          <a:stretch>
            <a:fillRect/>
          </a:stretch>
        </p:blipFill>
        <p:spPr>
          <a:xfrm>
            <a:off x="7744968" y="3547872"/>
            <a:ext cx="822960" cy="786384"/>
          </a:xfrm>
          <a:prstGeom prst="rect">
            <a:avLst/>
          </a:prstGeom>
        </p:spPr>
      </p:pic>
      <p:sp>
        <p:nvSpPr>
          <p:cNvPr id="25" name="reference"/>
          <p:cNvSpPr txBox="1"/>
          <p:nvPr/>
        </p:nvSpPr>
        <p:spPr>
          <a:xfrm>
            <a:off x="502920" y="4480560"/>
            <a:ext cx="4937760" cy="274320"/>
          </a:xfrm>
          <a:prstGeom prst="rect">
            <a:avLst/>
          </a:prstGeom>
          <a:noFill/>
          <a:ln/>
        </p:spPr>
        <p:txBody>
          <a:bodyPr wrap="square" lIns="0" tIns="0" rIns="0" bIns="0" rtlCol="0" anchor="t"/>
          <a:lstStyle/>
          <a:p>
            <a:pPr indent="0" marL="0">
              <a:buNone/>
            </a:pPr>
            <a:r>
              <a:rPr lang="en-US" sz="700" dirty="0">
                <a:solidFill>
                  <a:srgbClr val="A3ADBB"/>
                </a:solidFill>
                <a:latin typeface="Prompt" pitchFamily="34" charset="0"/>
                <a:ea typeface="Prompt" pitchFamily="34" charset="-122"/>
                <a:cs typeface="Prompt" pitchFamily="34" charset="-120"/>
              </a:rPr>
              <a:t>Dell'Acqua et al. (2023), HBS Working Paper 24-013   ·   Otis et al. (2026), Management Science 72(7), doi.org/10.1287/mnsc.2024.06909</a:t>
            </a:r>
            <a:endParaRPr lang="en-US" sz="700" dirty="0"/>
          </a:p>
        </p:txBody>
      </p:sp>
      <p:sp>
        <p:nvSpPr>
          <p:cNvPr id="26" name="bridge text"/>
          <p:cNvSpPr txBox="1"/>
          <p:nvPr/>
        </p:nvSpPr>
        <p:spPr>
          <a:xfrm>
            <a:off x="5623560" y="4443984"/>
            <a:ext cx="2743200" cy="310896"/>
          </a:xfrm>
          <a:prstGeom prst="rect">
            <a:avLst/>
          </a:prstGeom>
          <a:noFill/>
          <a:ln/>
        </p:spPr>
        <p:txBody>
          <a:bodyPr wrap="square" lIns="0" tIns="0" rIns="0" bIns="0" rtlCol="0" anchor="ctr"/>
          <a:lstStyle/>
          <a:p>
            <a:pPr algn="r" indent="0" marL="0">
              <a:buNone/>
            </a:pPr>
            <a:r>
              <a:rPr lang="en-US" sz="950" b="1" dirty="0">
                <a:solidFill>
                  <a:srgbClr val="2E8B86"/>
                </a:solidFill>
                <a:latin typeface="Prompt" pitchFamily="34" charset="0"/>
                <a:ea typeface="Prompt" pitchFamily="34" charset="-122"/>
                <a:cs typeface="Prompt" pitchFamily="34" charset="-120"/>
              </a:rPr>
              <a:t>ถัดไป  </a:t>
            </a:r>
            <a:pPr algn="r" indent="0" marL="0">
              <a:buNone/>
            </a:pPr>
            <a:r>
              <a:rPr lang="en-US" sz="950" dirty="0">
                <a:solidFill>
                  <a:srgbClr val="1B2A4A"/>
                </a:solidFill>
                <a:latin typeface="Prompt" pitchFamily="34" charset="0"/>
                <a:ea typeface="Prompt" pitchFamily="34" charset="-122"/>
                <a:cs typeface="Prompt" pitchFamily="34" charset="-120"/>
              </a:rPr>
              <a:t>ขอบคุณครับ ยินดีรับคำถาม</a:t>
            </a:r>
            <a:endParaRPr lang="en-US" sz="950" dirty="0"/>
          </a:p>
        </p:txBody>
      </p:sp>
      <p:pic>
        <p:nvPicPr>
          <p:cNvPr id="27" name="icon FiArrowRight" descr="preencoded.png">    </p:cNvPr>
          <p:cNvPicPr>
            <a:picLocks noChangeAspect="1"/>
          </p:cNvPicPr>
          <p:nvPr/>
        </p:nvPicPr>
        <p:blipFill>
          <a:blip r:embed="rId6"/>
          <a:stretch>
            <a:fillRect/>
          </a:stretch>
        </p:blipFill>
        <p:spPr>
          <a:xfrm>
            <a:off x="8439912" y="4498848"/>
            <a:ext cx="201168" cy="201168"/>
          </a:xfrm>
          <a:prstGeom prst="rect">
            <a:avLst/>
          </a:prstGeom>
        </p:spPr>
      </p:pic>
      <p:sp>
        <p:nvSpPr>
          <p:cNvPr id="25" name="Slide Number Placeholder 0"/>
          <p:cNvSpPr>
            <a:spLocks noGrp="1"/>
          </p:cNvSpPr>
          <p:nvPr>
            <p:ph type="sldNum" sz="quarter" idx="4294967295"/>
          </p:nvPr>
        </p:nvSpPr>
        <p:spPr>
          <a:xfrm>
            <a:off x="8092440" y="4773168"/>
            <a:ext cx="548640" cy="274320"/>
          </a:xfrm>
          <a:prstGeom prst="rect">
            <a:avLst/>
          </a:prstGeom>
          <a:extLst>
            <a:ext uri="{C572A759-6A51-4108-AA02-DFA0A04FC94B}">
              <ma14:wrappingTextBoxFlag xmlns:ma14="http://schemas.microsoft.com/office/mac/drawingml/2011/main" val="0"/>
            </a:ext>
          </a:extLst>
        </p:spPr>
        <p:txBody>
          <a:bodyPr/>
          <a:lstStyle>
            <a:lvl1pPr>
              <a:defRPr sz="850">
                <a:solidFill>
                  <a:srgbClr val="A3ADBB"/>
                </a:solidFill>
                <a:latin typeface="Prompt"/>
                <a:ea typeface="Prompt"/>
                <a:cs typeface="Prompt"/>
              </a:defRPr>
            </a:lvl1pPr>
          </a:lstStyle>
          <a:p>
            <a:pPr algn="r"/>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AI Navy Teal Minimal">
  <a:themeElements>
    <a:clrScheme name="AI Navy Teal Minimal">
      <a:dk1>
        <a:srgbClr val="1B2A4A"/>
      </a:dk1>
      <a:lt1>
        <a:srgbClr val="FFFFFF"/>
      </a:lt1>
      <a:dk2>
        <a:srgbClr val="6B7280"/>
      </a:dk2>
      <a:lt2>
        <a:srgbClr val="F3F5F8"/>
      </a:lt2>
      <a:accent1>
        <a:srgbClr val="2E8B86"/>
      </a:accent1>
      <a:accent2>
        <a:srgbClr val="1B2A4A"/>
      </a:accent2>
      <a:accent3>
        <a:srgbClr val="A3ADBB"/>
      </a:accent3>
      <a:accent4>
        <a:srgbClr val="BFE6E0"/>
      </a:accent4>
      <a:accent5>
        <a:srgbClr val="E3E8EE"/>
      </a:accent5>
      <a:accent6>
        <a:srgbClr val="2A3D63"/>
      </a:accent6>
      <a:hlink>
        <a:srgbClr val="2E8B86"/>
      </a:hlink>
      <a:folHlink>
        <a:srgbClr val="6B7280"/>
      </a:folHlink>
    </a:clrScheme>
    <a:fontScheme name="AI Navy Teal Minimal">
      <a:majorFont>
        <a:latin typeface="Poppi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oppi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Artificial Intelligence and Work Performance</dc:title>
  <dc:subject>ENG 501 English for Master's Degree</dc:subject>
  <dc:creator>Chayanun Sungsa-ard</dc:creator>
  <cp:lastModifiedBy>Chayanun Sungsa-ard</cp:lastModifiedBy>
  <cp:revision>1</cp:revision>
  <dcterms:created xsi:type="dcterms:W3CDTF">2026-10-09T15:58:20Z</dcterms:created>
  <dcterms:modified xsi:type="dcterms:W3CDTF">2026-10-09T15:58:20Z</dcterms:modified>
</cp:coreProperties>
</file>