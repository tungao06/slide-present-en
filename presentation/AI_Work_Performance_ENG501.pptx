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version: two field experiments on AI, productivity and business performance." id="{a4191d4c-2f5c-4ce6-f622-e5471820d11e}">
          <p14:sldIdLst>
            <p14:sldId id="256"/>
            <p14:sldId id="257"/>
            <p14:sldId id="258"/>
            <p14:sldId id="259"/>
            <p14:sldId id="260"/>
            <p14:sldId id="261"/>
            <p14:sldId id="262"/>
            <p14:sldId id="263"/>
            <p14:sldId id="264"/>
            <p14:sldId id="265"/>
          </p14:sldIdLst>
        </p14:section>
        <p14:section name="ฉบับภาษาไทย: การทดลองภาคสนามสองชิ้นเรื่อง AI ผลิตภาพ และผลการดำเนินธุรกิจ" id="{b2802288-ed4d-3b8f-cbc6-2dd6fae267a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BFE6E0"/>
                </a:solidFill>
                <a:latin typeface="Poppins" pitchFamily="34" charset="0"/>
                <a:ea typeface="Poppins" pitchFamily="34" charset="-122"/>
                <a:cs typeface="Poppins" pitchFamily="34" charset="-120"/>
              </a:rPr>
              <a:t>ENG 501 · ENGLISH FOR MASTER'S DEGREE</a:t>
            </a:r>
            <a:endParaRPr lang="en-US" sz="900" dirty="0"/>
          </a:p>
        </p:txBody>
      </p:sp>
      <p:sp>
        <p:nvSpPr>
          <p:cNvPr id="4" name="static"/>
          <p:cNvSpPr txBox="1"/>
          <p:nvPr/>
        </p:nvSpPr>
        <p:spPr>
          <a:xfrm>
            <a:off x="609600" y="693390"/>
            <a:ext cx="5943600" cy="1015305"/>
          </a:xfrm>
          <a:prstGeom prst="rect">
            <a:avLst/>
          </a:prstGeom>
          <a:noFill/>
          <a:ln/>
        </p:spPr>
        <p:txBody>
          <a:bodyPr wrap="square" lIns="0" tIns="95250" rIns="0" bIns="0" rtlCol="0" anchor="t"/>
          <a:lstStyle/>
          <a:p>
            <a:pPr algn="l" indent="0" marL="0">
              <a:lnSpc>
                <a:spcPts val="3622"/>
              </a:lnSpc>
              <a:buNone/>
            </a:pPr>
            <a:r>
              <a:rPr lang="en-US" sz="3450" b="1" dirty="0">
                <a:solidFill>
                  <a:srgbClr val="F7F9FB"/>
                </a:solidFill>
                <a:latin typeface="Poppins" pitchFamily="34" charset="0"/>
                <a:ea typeface="Poppins" pitchFamily="34" charset="-122"/>
                <a:cs typeface="Poppins" pitchFamily="34" charset="-120"/>
              </a:rPr>
              <a:t>Artificial Intelligence and Work Performance</a:t>
            </a:r>
            <a:endParaRPr lang="en-US" sz="3450" dirty="0"/>
          </a:p>
        </p:txBody>
      </p:sp>
      <p:sp>
        <p:nvSpPr>
          <p:cNvPr id="5" name="static"/>
          <p:cNvSpPr txBox="1"/>
          <p:nvPr/>
        </p:nvSpPr>
        <p:spPr>
          <a:xfrm>
            <a:off x="609600" y="1708696"/>
            <a:ext cx="5715000" cy="276225"/>
          </a:xfrm>
          <a:prstGeom prst="rect">
            <a:avLst/>
          </a:prstGeom>
          <a:noFill/>
          <a:ln/>
        </p:spPr>
        <p:txBody>
          <a:bodyPr wrap="none" lIns="0" tIns="0" rIns="0" bIns="0" rtlCol="0" anchor="ctr"/>
          <a:lstStyle/>
          <a:p>
            <a:pPr algn="l" indent="0" marL="0">
              <a:lnSpc>
                <a:spcPts val="1575"/>
              </a:lnSpc>
              <a:buNone/>
            </a:pPr>
            <a:r>
              <a:rPr lang="en-US" sz="1125" dirty="0">
                <a:solidFill>
                  <a:srgbClr val="BFE6E0"/>
                </a:solidFill>
                <a:latin typeface="Poppins" pitchFamily="34" charset="0"/>
                <a:ea typeface="Poppins" pitchFamily="34" charset="-122"/>
                <a:cs typeface="Poppins" pitchFamily="34" charset="-120"/>
              </a:rPr>
              <a:t>Evidence from two recent field experiments</a:t>
            </a:r>
            <a:endParaRPr lang="en-US" sz="1125" dirty="0"/>
          </a:p>
        </p:txBody>
      </p:sp>
      <p:pic>
        <p:nvPicPr>
          <p:cNvPr id="6" name="b1:pop (Friendly robot mascot waving)"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none" lIns="0" tIns="0" rIns="0" bIns="0" rtlCol="0" anchor="ctr"/>
          <a:lstStyle/>
          <a:p>
            <a:pPr algn="l" indent="0" marL="0">
              <a:lnSpc>
                <a:spcPts val="1680"/>
              </a:lnSpc>
              <a:buNone/>
            </a:pPr>
            <a:r>
              <a:rPr lang="en-US" sz="1200" b="1" dirty="0">
                <a:solidFill>
                  <a:srgbClr val="F7F9FB"/>
                </a:solidFill>
                <a:latin typeface="Poppins" pitchFamily="34" charset="0"/>
                <a:ea typeface="Poppins" pitchFamily="34" charset="-122"/>
                <a:cs typeface="Poppins" pitchFamily="34" charset="-120"/>
              </a:rPr>
              <a:t>How does AI affect productivity, work quality, and business performance?</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2</a:t>
            </a:r>
            <a:endParaRPr lang="en-US" sz="900" dirty="0"/>
          </a:p>
        </p:txBody>
      </p:sp>
      <p:sp>
        <p:nvSpPr>
          <p:cNvPr id="10" name="b3:rise"/>
          <p:cNvSpPr txBox="1"/>
          <p:nvPr/>
        </p:nvSpPr>
        <p:spPr>
          <a:xfrm>
            <a:off x="8001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5</a:t>
            </a:r>
            <a:endParaRPr lang="en-US" sz="900" dirty="0"/>
          </a:p>
        </p:txBody>
      </p:sp>
      <p:sp>
        <p:nvSpPr>
          <p:cNvPr id="14" name="b3:rise"/>
          <p:cNvSpPr txBox="1"/>
          <p:nvPr/>
        </p:nvSpPr>
        <p:spPr>
          <a:xfrm>
            <a:off x="48387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none" lIns="0" tIns="0" rIns="0" bIns="0" rtlCol="0" anchor="ctr"/>
          <a:lstStyle/>
          <a:p>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Chayanun Sungsa-ard</a:t>
            </a:r>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 · Student ID 691401708 · MBA · ENG 501 English for Master's Degree</a:t>
            </a:r>
            <a:endParaRPr lang="en-US" sz="900" dirty="0"/>
          </a:p>
        </p:txBody>
      </p:sp>
      <p:sp>
        <p:nvSpPr>
          <p:cNvPr id="17" name="!!key1-en-16 b4:pop"/>
          <p:cNvSpPr/>
          <p:nvPr/>
        </p:nvSpPr>
        <p:spPr>
          <a:xfrm>
            <a:off x="7048500" y="4572000"/>
            <a:ext cx="1485900" cy="255240"/>
          </a:xfrm>
          <a:prstGeom prst="roundRect">
            <a:avLst>
              <a:gd name="adj" fmla="val 50000"/>
            </a:avLst>
          </a:prstGeom>
          <a:solidFill>
            <a:srgbClr val="2E8B86"/>
          </a:solidFill>
          <a:ln/>
        </p:spPr>
      </p:sp>
      <p:sp>
        <p:nvSpPr>
          <p:cNvPr id="18" name="!!key1-en-17 b4: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RESEARCH PURPOSE AND METHOD</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Navigating the Jagged Technological Frontier</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Partner and participants</a:t>
            </a:r>
            <a:endParaRPr lang="en-US" sz="1125" dirty="0"/>
          </a:p>
        </p:txBody>
      </p:sp>
      <p:sp>
        <p:nvSpPr>
          <p:cNvPr id="7" name="b1:rise"/>
          <p:cNvSpPr txBox="1"/>
          <p:nvPr/>
        </p:nvSpPr>
        <p:spPr>
          <a:xfrm>
            <a:off x="1066800" y="1609725"/>
            <a:ext cx="3288792"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Field experiment with Boston Consulting Group (BCG),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758 consultants</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Focus</a:t>
            </a:r>
            <a:endParaRPr lang="en-US" sz="1125" dirty="0"/>
          </a:p>
        </p:txBody>
      </p:sp>
      <p:sp>
        <p:nvSpPr>
          <p:cNvPr id="11" name="b1:rise"/>
          <p:cNvSpPr txBox="1"/>
          <p:nvPr/>
        </p:nvSpPr>
        <p:spPr>
          <a:xfrm>
            <a:off x="1066800" y="2270671"/>
            <a:ext cx="3162300" cy="173310"/>
          </a:xfrm>
          <a:prstGeom prst="rect">
            <a:avLst/>
          </a:prstGeom>
          <a:noFill/>
          <a:ln/>
        </p:spPr>
        <p:txBody>
          <a:bodyPr wrap="none" lIns="0" tIns="0" rIns="0" bIns="0" rtlCol="0" anchor="ctr"/>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Productivity, work quality, and the limits of AI</a:t>
            </a:r>
            <a:endParaRPr lang="en-US" sz="975" dirty="0"/>
          </a:p>
        </p:txBody>
      </p:sp>
      <p:sp>
        <p:nvSpPr>
          <p:cNvPr id="12" name="b2:rise"/>
          <p:cNvSpPr txBox="1"/>
          <p:nvPr/>
        </p:nvSpPr>
        <p:spPr>
          <a:xfrm>
            <a:off x="609600" y="2667000"/>
            <a:ext cx="36195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Three experimental conditions</a:t>
            </a:r>
            <a:endParaRPr lang="en-US" sz="1125" dirty="0"/>
          </a:p>
        </p:txBody>
      </p:sp>
      <p:sp>
        <p:nvSpPr>
          <p:cNvPr id="13" name="b2:rise"/>
          <p:cNvSpPr/>
          <p:nvPr/>
        </p:nvSpPr>
        <p:spPr>
          <a:xfrm>
            <a:off x="609600" y="2933700"/>
            <a:ext cx="1143000" cy="1148581"/>
          </a:xfrm>
          <a:prstGeom prst="roundRect">
            <a:avLst>
              <a:gd name="adj" fmla="val 7500"/>
            </a:avLst>
          </a:prstGeom>
          <a:solidFill>
            <a:srgbClr val="EEF1F5"/>
          </a:solidFill>
          <a:ln/>
        </p:spPr>
      </p:sp>
      <p:sp>
        <p:nvSpPr>
          <p:cNvPr id="14" name="b2:rise"/>
          <p:cNvSpPr txBox="1"/>
          <p:nvPr/>
        </p:nvSpPr>
        <p:spPr>
          <a:xfrm>
            <a:off x="7429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No AI access</a:t>
            </a:r>
            <a:endParaRPr lang="en-US" sz="900" dirty="0"/>
          </a:p>
        </p:txBody>
      </p:sp>
      <p:sp>
        <p:nvSpPr>
          <p:cNvPr id="16" name="b2:rise"/>
          <p:cNvSpPr/>
          <p:nvPr/>
        </p:nvSpPr>
        <p:spPr>
          <a:xfrm>
            <a:off x="1847850" y="2933700"/>
            <a:ext cx="1143000" cy="1148581"/>
          </a:xfrm>
          <a:prstGeom prst="roundRect">
            <a:avLst>
              <a:gd name="adj" fmla="val 7500"/>
            </a:avLst>
          </a:prstGeom>
          <a:solidFill>
            <a:srgbClr val="EEF1F5"/>
          </a:solidFill>
          <a:ln/>
        </p:spPr>
      </p:sp>
      <p:sp>
        <p:nvSpPr>
          <p:cNvPr id="17" name="b2:rise"/>
          <p:cNvSpPr txBox="1"/>
          <p:nvPr/>
        </p:nvSpPr>
        <p:spPr>
          <a:xfrm>
            <a:off x="198120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GPT-4 access</a:t>
            </a:r>
            <a:endParaRPr lang="en-US" sz="900" dirty="0"/>
          </a:p>
        </p:txBody>
      </p:sp>
      <p:sp>
        <p:nvSpPr>
          <p:cNvPr id="19" name="b2:rise"/>
          <p:cNvSpPr/>
          <p:nvPr/>
        </p:nvSpPr>
        <p:spPr>
          <a:xfrm>
            <a:off x="3086100" y="2933700"/>
            <a:ext cx="1143000" cy="1148581"/>
          </a:xfrm>
          <a:prstGeom prst="roundRect">
            <a:avLst>
              <a:gd name="adj" fmla="val 7500"/>
            </a:avLst>
          </a:prstGeom>
          <a:solidFill>
            <a:srgbClr val="1B2A4A"/>
          </a:solidFill>
          <a:ln/>
        </p:spPr>
      </p:sp>
      <p:sp>
        <p:nvSpPr>
          <p:cNvPr id="20" name="b2:rise"/>
          <p:cNvSpPr txBox="1"/>
          <p:nvPr/>
        </p:nvSpPr>
        <p:spPr>
          <a:xfrm>
            <a:off x="32194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1" name="b2:rise"/>
          <p:cNvSpPr txBox="1"/>
          <p:nvPr/>
        </p:nvSpPr>
        <p:spPr>
          <a:xfrm>
            <a:off x="3219450" y="3308970"/>
            <a:ext cx="911352" cy="63996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GPT-4 + prompt engineering guidance</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6B7280"/>
                </a:solidFill>
                <a:latin typeface="Poppins" pitchFamily="34" charset="0"/>
                <a:ea typeface="Poppins" pitchFamily="34" charset="-122"/>
                <a:cs typeface="Poppins" pitchFamily="34" charset="-120"/>
              </a:rPr>
              <a:t>CONCEPT</a:t>
            </a:r>
            <a:endParaRPr lang="en-US" sz="900" dirty="0"/>
          </a:p>
        </p:txBody>
      </p:sp>
      <p:sp>
        <p:nvSpPr>
          <p:cNvPr id="24" name="b3:fade"/>
          <p:cNvSpPr txBox="1"/>
          <p:nvPr/>
        </p:nvSpPr>
        <p:spPr>
          <a:xfrm>
            <a:off x="4724400" y="1741140"/>
            <a:ext cx="2773680" cy="388590"/>
          </a:xfrm>
          <a:prstGeom prst="rect">
            <a:avLst/>
          </a:prstGeom>
          <a:noFill/>
          <a:ln/>
        </p:spPr>
        <p:txBody>
          <a:bodyPr wrap="square" lIns="0" tIns="0" rIns="0" bIns="0" rtlCol="0" anchor="t"/>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The Jagged Technological Frontier</a:t>
            </a:r>
            <a:endParaRPr lang="en-US" sz="1275" dirty="0"/>
          </a:p>
        </p:txBody>
      </p:sp>
      <p:sp>
        <p:nvSpPr>
          <p:cNvPr id="25" name="b3:fade"/>
          <p:cNvSpPr txBox="1"/>
          <p:nvPr/>
        </p:nvSpPr>
        <p:spPr>
          <a:xfrm>
            <a:off x="4724400" y="2205930"/>
            <a:ext cx="2773680" cy="51993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AI performs some tasks well yet struggles with others that look equally difficult. The boundary is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uneven and hard to see</a:t>
            </a:r>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t>
            </a:r>
            <a:endParaRPr lang="en-US" sz="975" dirty="0"/>
          </a:p>
        </p:txBody>
      </p:sp>
      <p:pic>
        <p:nvPicPr>
          <p:cNvPr id="26" name="b3:pop (Robot mascot holding a magnifying glass)"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none" lIns="0" tIns="0" rIns="0" bIns="0" rtlCol="0" anchor="ctr"/>
          <a:lstStyle/>
          <a:p>
            <a:pPr algn="r" indent="0" marL="0">
              <a:lnSpc>
                <a:spcPts val="1260"/>
              </a:lnSpc>
              <a:buNone/>
            </a:pPr>
            <a:r>
              <a:rPr lang="en-US" sz="900" b="1" dirty="0">
                <a:solidFill>
                  <a:srgbClr val="6B7280"/>
                </a:solidFill>
                <a:latin typeface="Poppins" pitchFamily="34" charset="0"/>
                <a:ea typeface="Poppins" pitchFamily="34" charset="-122"/>
                <a:cs typeface="Poppins" pitchFamily="34" charset="-120"/>
              </a:rPr>
              <a:t>Outside the frontier: AI struggles</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Jagged line dividing tasks AI does well from tasks it does not)" descr="/home/user/slide-present-en/presentation/webdeck/art/frontier.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none" lIns="0" tIns="0" rIns="0" bIns="0" rtlCol="0" anchor="ctr"/>
          <a:lstStyle/>
          <a:p>
            <a:pPr algn="l" indent="0" marL="0">
              <a:lnSpc>
                <a:spcPts val="1260"/>
              </a:lnSpc>
              <a:buNone/>
            </a:pPr>
            <a:r>
              <a:rPr lang="en-US" sz="900" b="1" dirty="0">
                <a:solidFill>
                  <a:srgbClr val="2E8B86"/>
                </a:solidFill>
                <a:latin typeface="Poppins" pitchFamily="34" charset="0"/>
                <a:ea typeface="Poppins" pitchFamily="34" charset="-122"/>
                <a:cs typeface="Poppins" pitchFamily="34" charset="-120"/>
              </a:rPr>
              <a:t>Inside the frontier: AI performs well</a:t>
            </a:r>
            <a:endParaRPr lang="en-US" sz="900" dirty="0"/>
          </a:p>
        </p:txBody>
      </p:sp>
      <p:sp>
        <p:nvSpPr>
          <p:cNvPr id="32" name="b4:rise"/>
          <p:cNvSpPr txBox="1"/>
          <p:nvPr/>
        </p:nvSpPr>
        <p:spPr>
          <a:xfrm>
            <a:off x="4724400" y="4110930"/>
            <a:ext cx="39624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How to read it: each dot is a task of similar apparent difficulty. Below the line (shaded) AI performs well; above it AI struggles.</a:t>
            </a:r>
            <a:endParaRPr lang="en-US" sz="900" dirty="0"/>
          </a:p>
        </p:txBody>
      </p:sp>
      <p:sp>
        <p:nvSpPr>
          <p:cNvPr id="33"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4" name="b5:fade"/>
          <p:cNvSpPr txBox="1"/>
          <p:nvPr/>
        </p:nvSpPr>
        <p:spPr>
          <a:xfrm>
            <a:off x="3360167" y="4613597"/>
            <a:ext cx="3620095" cy="171971"/>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What happened when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758 consultants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used GPT-4? →</a:t>
            </a:r>
            <a:endParaRPr lang="en-US" sz="900" dirty="0"/>
          </a:p>
        </p:txBody>
      </p:sp>
      <p:sp>
        <p:nvSpPr>
          <p:cNvPr id="35" name="!!key1-en-34 static"/>
          <p:cNvSpPr/>
          <p:nvPr/>
        </p:nvSpPr>
        <p:spPr>
          <a:xfrm>
            <a:off x="7048500" y="342900"/>
            <a:ext cx="1485900" cy="255240"/>
          </a:xfrm>
          <a:prstGeom prst="roundRect">
            <a:avLst>
              <a:gd name="adj" fmla="val 50000"/>
            </a:avLst>
          </a:prstGeom>
          <a:solidFill>
            <a:srgbClr val="2E8B86"/>
          </a:solidFill>
          <a:ln/>
        </p:spPr>
      </p:sp>
      <p:sp>
        <p:nvSpPr>
          <p:cNvPr id="36" name="!!key1-en-35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
        <p:nvSpPr>
          <p:cNvPr id="37" name="!!key2-en-36 b6:pop"/>
          <p:cNvSpPr/>
          <p:nvPr/>
        </p:nvSpPr>
        <p:spPr>
          <a:xfrm>
            <a:off x="7048500" y="4572000"/>
            <a:ext cx="1485900" cy="255240"/>
          </a:xfrm>
          <a:prstGeom prst="roundRect">
            <a:avLst>
              <a:gd name="adj" fmla="val 50000"/>
            </a:avLst>
          </a:prstGeom>
          <a:solidFill>
            <a:srgbClr val="2E8B86"/>
          </a:solidFill>
          <a:ln/>
        </p:spPr>
      </p:sp>
      <p:sp>
        <p:nvSpPr>
          <p:cNvPr id="38" name="!!key2-en-37 b6: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KEY FINDINGS</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Can Improve Productivity, but Has Limits</a:t>
            </a:r>
            <a:endParaRPr lang="en-US" sz="2400" dirty="0"/>
          </a:p>
        </p:txBody>
      </p:sp>
      <p:sp>
        <p:nvSpPr>
          <p:cNvPr id="4" name="b1:fade"/>
          <p:cNvSpPr/>
          <p:nvPr/>
        </p:nvSpPr>
        <p:spPr>
          <a:xfrm>
            <a:off x="609600" y="1381125"/>
            <a:ext cx="809625" cy="236190"/>
          </a:xfrm>
          <a:prstGeom prst="roundRect">
            <a:avLst>
              <a:gd name="adj" fmla="val 50000"/>
            </a:avLst>
          </a:prstGeom>
          <a:solidFill>
            <a:srgbClr val="BFE6E0"/>
          </a:solidFill>
          <a:ln/>
        </p:spPr>
      </p:sp>
      <p:sp>
        <p:nvSpPr>
          <p:cNvPr id="5" name="b1:fade"/>
          <p:cNvSpPr txBox="1"/>
          <p:nvPr/>
        </p:nvSpPr>
        <p:spPr>
          <a:xfrm>
            <a:off x="609600" y="138112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fade"/>
          <p:cNvSpPr txBox="1"/>
          <p:nvPr/>
        </p:nvSpPr>
        <p:spPr>
          <a:xfrm>
            <a:off x="609600" y="1683990"/>
            <a:ext cx="4191000" cy="159990"/>
          </a:xfrm>
          <a:prstGeom prst="rect">
            <a:avLst/>
          </a:prstGeom>
          <a:noFill/>
          <a:ln/>
        </p:spPr>
        <p:txBody>
          <a:bodyPr wrap="none" lIns="0" tIns="0" rIns="0" bIns="0" rtlCol="0" anchor="ctr"/>
          <a:lstStyle/>
          <a:p>
            <a:pPr algn="l" indent="0" marL="0">
              <a:lnSpc>
                <a:spcPts val="1260"/>
              </a:lnSpc>
              <a:buNone/>
            </a:pPr>
            <a:r>
              <a:rPr lang="en-US" sz="1050" b="1" dirty="0">
                <a:solidFill>
                  <a:srgbClr val="4A5568"/>
                </a:solidFill>
                <a:latin typeface="Poppins" pitchFamily="34" charset="0"/>
                <a:ea typeface="Poppins" pitchFamily="34" charset="-122"/>
                <a:cs typeface="Poppins" pitchFamily="34" charset="-120"/>
              </a:rPr>
              <a:t>Change for consultants using AI, tasks </a:t>
            </a:r>
            <a:pPr algn="l" indent="0" marL="0">
              <a:lnSpc>
                <a:spcPts val="1260"/>
              </a:lnSpc>
              <a:buNone/>
            </a:pPr>
            <a:r>
              <a:rPr lang="en-US" sz="1050" b="1" dirty="0">
                <a:solidFill>
                  <a:srgbClr val="2E8B86"/>
                </a:solidFill>
                <a:latin typeface="Poppins" pitchFamily="34" charset="0"/>
                <a:ea typeface="Poppins" pitchFamily="34" charset="-122"/>
                <a:cs typeface="Poppins" pitchFamily="34" charset="-120"/>
              </a:rPr>
              <a:t>inside the frontier</a:t>
            </a:r>
            <a:endParaRPr lang="en-US" sz="1050" dirty="0"/>
          </a:p>
        </p:txBody>
      </p:sp>
      <p:sp>
        <p:nvSpPr>
          <p:cNvPr id="7" name="b2:left"/>
          <p:cNvSpPr txBox="1"/>
          <p:nvPr/>
        </p:nvSpPr>
        <p:spPr>
          <a:xfrm>
            <a:off x="609600" y="19202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Tasks completed</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7415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 speed</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8211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Quality</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958007"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more than +40%</a:t>
            </a:r>
            <a:endParaRPr lang="en-US" sz="900" dirty="0"/>
          </a:p>
        </p:txBody>
      </p:sp>
      <p:sp>
        <p:nvSpPr>
          <p:cNvPr id="16" name="b5:left"/>
          <p:cNvSpPr txBox="1"/>
          <p:nvPr/>
        </p:nvSpPr>
        <p:spPr>
          <a:xfrm>
            <a:off x="609600" y="274893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Below-average</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31581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Above-average</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7585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+17%</a:t>
            </a:r>
            <a:endParaRPr lang="en-US" sz="900" dirty="0"/>
          </a:p>
        </p:txBody>
      </p:sp>
      <p:sp>
        <p:nvSpPr>
          <p:cNvPr id="22" name="b6:fade"/>
          <p:cNvSpPr txBox="1"/>
          <p:nvPr/>
        </p:nvSpPr>
        <p:spPr>
          <a:xfrm>
            <a:off x="609600" y="3333750"/>
            <a:ext cx="4259580" cy="462781"/>
          </a:xfrm>
          <a:prstGeom prst="rect">
            <a:avLst/>
          </a:prstGeom>
          <a:noFill/>
          <a:ln/>
        </p:spPr>
        <p:txBody>
          <a:bodyPr wrap="square" lIns="0" tIns="0" rIns="0" bIns="0" rtlCol="0" anchor="t"/>
          <a:lstStyle/>
          <a:p>
            <a:pPr algn="l" indent="0" marL="0">
              <a:lnSpc>
                <a:spcPts val="1215"/>
              </a:lnSpc>
              <a:buNone/>
            </a:pPr>
            <a:r>
              <a:rPr lang="en-US" sz="900" dirty="0">
                <a:solidFill>
                  <a:srgbClr val="9AA5B4"/>
                </a:solidFill>
                <a:latin typeface="Poppins" pitchFamily="34" charset="0"/>
                <a:ea typeface="Poppins" pitchFamily="34" charset="-122"/>
                <a:cs typeface="Poppins" pitchFamily="34" charset="-120"/>
              </a:rPr>
              <a:t>Quality is reported as "more than 40%" vs. the control group. Below-/above-average are performer groups, each improving against its own baseline score.</a:t>
            </a:r>
            <a:endParaRPr lang="en-US" sz="900" dirty="0"/>
          </a:p>
        </p:txBody>
      </p:sp>
      <p:sp>
        <p:nvSpPr>
          <p:cNvPr id="23" name="b7:pop"/>
          <p:cNvSpPr/>
          <p:nvPr/>
        </p:nvSpPr>
        <p:spPr>
          <a:xfrm>
            <a:off x="5200650" y="1381125"/>
            <a:ext cx="3333750" cy="1861021"/>
          </a:xfrm>
          <a:prstGeom prst="roundRect">
            <a:avLst>
              <a:gd name="adj" fmla="val 6142"/>
            </a:avLst>
          </a:prstGeom>
          <a:solidFill>
            <a:srgbClr val="1B2A4A"/>
          </a:solidFill>
          <a:ln/>
        </p:spPr>
      </p:sp>
      <p:sp>
        <p:nvSpPr>
          <p:cNvPr id="24" name="b7:pop"/>
          <p:cNvSpPr txBox="1"/>
          <p:nvPr/>
        </p:nvSpPr>
        <p:spPr>
          <a:xfrm>
            <a:off x="5410200" y="1571625"/>
            <a:ext cx="291465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25" name="b7:pop"/>
          <p:cNvSpPr txBox="1"/>
          <p:nvPr/>
        </p:nvSpPr>
        <p:spPr>
          <a:xfrm>
            <a:off x="5410200" y="1760190"/>
            <a:ext cx="2914650" cy="523875"/>
          </a:xfrm>
          <a:prstGeom prst="rect">
            <a:avLst/>
          </a:prstGeom>
          <a:noFill/>
          <a:ln/>
        </p:spPr>
        <p:txBody>
          <a:bodyPr wrap="non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none" lIns="0" tIns="0" rIns="0" bIns="0" rtlCol="0" anchor="ctr"/>
          <a:lstStyle/>
          <a:p>
            <a:pPr algn="l" indent="0" marL="0">
              <a:lnSpc>
                <a:spcPts val="1365"/>
              </a:lnSpc>
              <a:buNone/>
            </a:pPr>
            <a:r>
              <a:rPr lang="en-US" sz="975" dirty="0">
                <a:solidFill>
                  <a:srgbClr val="BFE6E0"/>
                </a:solidFill>
                <a:latin typeface="Poppins" pitchFamily="34" charset="0"/>
                <a:ea typeface="Poppins" pitchFamily="34" charset="-122"/>
                <a:cs typeface="Poppins" pitchFamily="34" charset="-120"/>
              </a:rPr>
              <a:t>percentage points</a:t>
            </a:r>
            <a:endParaRPr lang="en-US" sz="975" dirty="0"/>
          </a:p>
        </p:txBody>
      </p:sp>
      <p:sp>
        <p:nvSpPr>
          <p:cNvPr id="27" name="b7:pop"/>
          <p:cNvSpPr txBox="1"/>
          <p:nvPr/>
        </p:nvSpPr>
        <p:spPr>
          <a:xfrm>
            <a:off x="5410200" y="2514526"/>
            <a:ext cx="2971800" cy="537121"/>
          </a:xfrm>
          <a:prstGeom prst="rect">
            <a:avLst/>
          </a:prstGeom>
          <a:noFill/>
          <a:ln/>
        </p:spPr>
        <p:txBody>
          <a:bodyPr wrap="square" lIns="0" tIns="5715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AI users were </a:t>
            </a:r>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19 percentage points</a:t>
            </a:r>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 less likely to produce correct solutions than consultants without AI.</a:t>
            </a:r>
            <a:endParaRPr lang="en-US" sz="900" dirty="0"/>
          </a:p>
        </p:txBody>
      </p:sp>
      <p:pic>
        <p:nvPicPr>
          <p:cNvPr id="28" name="b7:pop (Confused robot mascot)"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671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A gap between two success rates, not a percentage change.</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Two successful patterns of AI use</a:t>
            </a:r>
            <a:endParaRPr lang="en-US" sz="1050" dirty="0"/>
          </a:p>
        </p:txBody>
      </p:sp>
      <p:pic>
        <p:nvPicPr>
          <p:cNvPr id="32" name="b9:rise (Human and robot side by side)"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838301"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Centaurs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divide tasks between human and AI</a:t>
            </a:r>
            <a:endParaRPr lang="en-US" sz="975" dirty="0"/>
          </a:p>
        </p:txBody>
      </p:sp>
      <p:pic>
        <p:nvPicPr>
          <p:cNvPr id="34" name="b9:rise (Half human, half robot face)"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231157"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Cyborgs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integrate AI into every step</a:t>
            </a:r>
            <a:endParaRPr lang="en-US" sz="975" dirty="0"/>
          </a:p>
        </p:txBody>
      </p:sp>
      <p:sp>
        <p:nvSpPr>
          <p:cNvPr id="36"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Does this hold for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real small businesses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2-en-37 static"/>
          <p:cNvSpPr/>
          <p:nvPr/>
        </p:nvSpPr>
        <p:spPr>
          <a:xfrm>
            <a:off x="7048500" y="342900"/>
            <a:ext cx="1485900" cy="255240"/>
          </a:xfrm>
          <a:prstGeom prst="roundRect">
            <a:avLst>
              <a:gd name="adj" fmla="val 50000"/>
            </a:avLst>
          </a:prstGeom>
          <a:solidFill>
            <a:srgbClr val="2E8B86"/>
          </a:solidFill>
          <a:ln/>
        </p:spPr>
      </p:sp>
      <p:sp>
        <p:nvSpPr>
          <p:cNvPr id="39" name="!!key2-en-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
        <p:nvSpPr>
          <p:cNvPr id="40" name="!!key3-en-39 b11:pop"/>
          <p:cNvSpPr/>
          <p:nvPr/>
        </p:nvSpPr>
        <p:spPr>
          <a:xfrm>
            <a:off x="7048500" y="4572000"/>
            <a:ext cx="1485900" cy="255240"/>
          </a:xfrm>
          <a:prstGeom prst="roundRect">
            <a:avLst>
              <a:gd name="adj" fmla="val 50000"/>
            </a:avLst>
          </a:prstGeom>
          <a:solidFill>
            <a:srgbClr val="2E8B86"/>
          </a:solidFill>
          <a:ln/>
        </p:spPr>
      </p:sp>
      <p:sp>
        <p:nvSpPr>
          <p:cNvPr id="41" name="!!key3-en-40 b11: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5 · RESEARCH PURPOSE AND FINDINGS</a:t>
            </a:r>
            <a:endParaRPr lang="en-US" sz="900" dirty="0"/>
          </a:p>
        </p:txBody>
      </p:sp>
      <p:sp>
        <p:nvSpPr>
          <p:cNvPr id="3" name="static"/>
          <p:cNvSpPr txBox="1"/>
          <p:nvPr/>
        </p:nvSpPr>
        <p:spPr>
          <a:xfrm>
            <a:off x="609600" y="617190"/>
            <a:ext cx="7429500" cy="685800"/>
          </a:xfrm>
          <a:prstGeom prst="rect">
            <a:avLst/>
          </a:prstGeom>
          <a:noFill/>
          <a:ln/>
        </p:spPr>
        <p:txBody>
          <a:bodyPr wrap="square" lIns="0" tIns="57150" rIns="0" bIns="0" rtlCol="0" anchor="t"/>
          <a:lstStyle/>
          <a:p>
            <a:pPr algn="l" indent="0" marL="0">
              <a:lnSpc>
                <a:spcPts val="2475"/>
              </a:lnSpc>
              <a:buNone/>
            </a:pPr>
            <a:r>
              <a:rPr lang="en-US" sz="2250" b="1" dirty="0">
                <a:solidFill>
                  <a:srgbClr val="1B2A4A"/>
                </a:solidFill>
                <a:latin typeface="Poppins" pitchFamily="34" charset="0"/>
                <a:ea typeface="Poppins" pitchFamily="34" charset="-122"/>
                <a:cs typeface="Poppins" pitchFamily="34" charset="-120"/>
              </a:rPr>
              <a:t>The Uneven Impact of Generative AI on Entrepreneurial Performance</a:t>
            </a:r>
            <a:endParaRPr lang="en-US" sz="225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Setting</a:t>
            </a:r>
            <a:endParaRPr lang="en-US" sz="1050" dirty="0"/>
          </a:p>
        </p:txBody>
      </p:sp>
      <p:sp>
        <p:nvSpPr>
          <p:cNvPr id="7" name="b1:rise"/>
          <p:cNvSpPr txBox="1"/>
          <p:nvPr/>
        </p:nvSpPr>
        <p:spPr>
          <a:xfrm>
            <a:off x="1066800" y="164923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Small-business entrepreneurs in Kenya</a:t>
            </a:r>
            <a:endParaRPr lang="en-US" sz="938" dirty="0"/>
          </a:p>
        </p:txBody>
      </p:sp>
      <p:sp>
        <p:nvSpPr>
          <p:cNvPr id="8" name="b1:rise"/>
          <p:cNvSpPr/>
          <p:nvPr/>
        </p:nvSpPr>
        <p:spPr>
          <a:xfrm>
            <a:off x="609600" y="2004045"/>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89770"/>
            <a:ext cx="171450" cy="171450"/>
          </a:xfrm>
          <a:prstGeom prst="rect">
            <a:avLst/>
          </a:prstGeom>
        </p:spPr>
      </p:pic>
      <p:sp>
        <p:nvSpPr>
          <p:cNvPr id="10" name="b1:rise"/>
          <p:cNvSpPr txBox="1"/>
          <p:nvPr/>
        </p:nvSpPr>
        <p:spPr>
          <a:xfrm>
            <a:off x="1066800" y="1924050"/>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Intervention</a:t>
            </a:r>
            <a:endParaRPr lang="en-US" sz="1050" dirty="0"/>
          </a:p>
        </p:txBody>
      </p:sp>
      <p:sp>
        <p:nvSpPr>
          <p:cNvPr id="11" name="b1:rise"/>
          <p:cNvSpPr txBox="1"/>
          <p:nvPr/>
        </p:nvSpPr>
        <p:spPr>
          <a:xfrm>
            <a:off x="1066800" y="2093565"/>
            <a:ext cx="3288792" cy="333375"/>
          </a:xfrm>
          <a:prstGeom prst="rect">
            <a:avLst/>
          </a:prstGeom>
          <a:noFill/>
          <a:ln/>
        </p:spPr>
        <p:txBody>
          <a:bodyPr wrap="square" lIns="0" tIns="0" rIns="0" bIns="0" rtlCol="0" anchor="t"/>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GPT-4-powered AI business assistant giving business advice</a:t>
            </a:r>
            <a:endParaRPr lang="en-US" sz="938" dirty="0"/>
          </a:p>
        </p:txBody>
      </p:sp>
      <p:sp>
        <p:nvSpPr>
          <p:cNvPr id="12" name="b1:rise"/>
          <p:cNvSpPr/>
          <p:nvPr/>
        </p:nvSpPr>
        <p:spPr>
          <a:xfrm>
            <a:off x="609600" y="253171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617440"/>
            <a:ext cx="171450" cy="171450"/>
          </a:xfrm>
          <a:prstGeom prst="rect">
            <a:avLst/>
          </a:prstGeom>
        </p:spPr>
      </p:pic>
      <p:sp>
        <p:nvSpPr>
          <p:cNvPr id="14" name="b1:rise"/>
          <p:cNvSpPr txBox="1"/>
          <p:nvPr/>
        </p:nvSpPr>
        <p:spPr>
          <a:xfrm>
            <a:off x="1066800" y="253506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Outcomes</a:t>
            </a:r>
            <a:endParaRPr lang="en-US" sz="1050" dirty="0"/>
          </a:p>
        </p:txBody>
      </p:sp>
      <p:sp>
        <p:nvSpPr>
          <p:cNvPr id="15" name="b1:rise"/>
          <p:cNvSpPr txBox="1"/>
          <p:nvPr/>
        </p:nvSpPr>
        <p:spPr>
          <a:xfrm>
            <a:off x="1066800" y="270457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Revenue and profit</a:t>
            </a:r>
            <a:endParaRPr lang="en-US" sz="938" dirty="0"/>
          </a:p>
        </p:txBody>
      </p:sp>
      <p:sp>
        <p:nvSpPr>
          <p:cNvPr id="16" name="b2:pop"/>
          <p:cNvSpPr/>
          <p:nvPr/>
        </p:nvSpPr>
        <p:spPr>
          <a:xfrm>
            <a:off x="609600" y="3048000"/>
            <a:ext cx="3619500" cy="1315343"/>
          </a:xfrm>
          <a:prstGeom prst="roundRect">
            <a:avLst>
              <a:gd name="adj" fmla="val 8690"/>
            </a:avLst>
          </a:prstGeom>
          <a:solidFill>
            <a:srgbClr val="1B2A4A"/>
          </a:solidFill>
          <a:ln/>
        </p:spPr>
      </p:sp>
      <p:sp>
        <p:nvSpPr>
          <p:cNvPr id="17" name="b2:pop"/>
          <p:cNvSpPr/>
          <p:nvPr/>
        </p:nvSpPr>
        <p:spPr>
          <a:xfrm>
            <a:off x="800100" y="3219450"/>
            <a:ext cx="714375" cy="217140"/>
          </a:xfrm>
          <a:prstGeom prst="roundRect">
            <a:avLst>
              <a:gd name="adj" fmla="val 50000"/>
            </a:avLst>
          </a:prstGeom>
          <a:solidFill>
            <a:srgbClr val="BFE6E0"/>
          </a:solidFill>
          <a:ln/>
        </p:spPr>
      </p:sp>
      <p:sp>
        <p:nvSpPr>
          <p:cNvPr id="18" name="b2:pop"/>
          <p:cNvSpPr txBox="1"/>
          <p:nvPr/>
        </p:nvSpPr>
        <p:spPr>
          <a:xfrm>
            <a:off x="800100" y="3219450"/>
            <a:ext cx="714375"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19" name="b2:pop"/>
          <p:cNvSpPr txBox="1"/>
          <p:nvPr/>
        </p:nvSpPr>
        <p:spPr>
          <a:xfrm>
            <a:off x="800100" y="3484215"/>
            <a:ext cx="3238500" cy="159990"/>
          </a:xfrm>
          <a:prstGeom prst="rect">
            <a:avLst/>
          </a:prstGeom>
          <a:noFill/>
          <a:ln/>
        </p:spPr>
        <p:txBody>
          <a:bodyPr wrap="none" lIns="0" tIns="0" rIns="0" bIns="0" rtlCol="0" anchor="ctr"/>
          <a:lstStyle/>
          <a:p>
            <a:pPr algn="l" indent="0" marL="0">
              <a:lnSpc>
                <a:spcPts val="1260"/>
              </a:lnSpc>
              <a:buNone/>
            </a:pPr>
            <a:r>
              <a:rPr lang="en-US" sz="1050" b="1" dirty="0">
                <a:solidFill>
                  <a:srgbClr val="BFE6E0"/>
                </a:solidFill>
                <a:latin typeface="Poppins" pitchFamily="34" charset="0"/>
                <a:ea typeface="Poppins" pitchFamily="34" charset="-122"/>
                <a:cs typeface="Poppins" pitchFamily="34" charset="-120"/>
              </a:rPr>
              <a:t>Average effect</a:t>
            </a:r>
            <a:endParaRPr lang="en-US" sz="1050" dirty="0"/>
          </a:p>
        </p:txBody>
      </p:sp>
      <p:sp>
        <p:nvSpPr>
          <p:cNvPr id="20" name="b2:pop"/>
          <p:cNvSpPr txBox="1"/>
          <p:nvPr/>
        </p:nvSpPr>
        <p:spPr>
          <a:xfrm>
            <a:off x="800100" y="3691830"/>
            <a:ext cx="2278380" cy="500063"/>
          </a:xfrm>
          <a:prstGeom prst="rect">
            <a:avLst/>
          </a:prstGeom>
          <a:noFill/>
          <a:ln/>
        </p:spPr>
        <p:txBody>
          <a:bodyPr wrap="square" lIns="0" tIns="0" rIns="0" bIns="0" rtlCol="0" anchor="t"/>
          <a:lstStyle/>
          <a:p>
            <a:pPr algn="l" indent="0" marL="0">
              <a:lnSpc>
                <a:spcPts val="1313"/>
              </a:lnSpc>
              <a:buNone/>
            </a:pPr>
            <a:r>
              <a:rPr lang="en-US" sz="938" dirty="0">
                <a:solidFill>
                  <a:srgbClr val="F7F9FB"/>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38" dirty="0"/>
          </a:p>
        </p:txBody>
      </p:sp>
      <p:pic>
        <p:nvPicPr>
          <p:cNvPr id="21" name="b2:pop (Robot mascot holding a phone)"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809625" cy="236190"/>
          </a:xfrm>
          <a:prstGeom prst="roundRect">
            <a:avLst>
              <a:gd name="adj" fmla="val 50000"/>
            </a:avLst>
          </a:prstGeom>
          <a:solidFill>
            <a:srgbClr val="BFE6E0"/>
          </a:solidFill>
          <a:ln/>
        </p:spPr>
      </p:sp>
      <p:sp>
        <p:nvSpPr>
          <p:cNvPr id="23" name="b3:fade"/>
          <p:cNvSpPr txBox="1"/>
          <p:nvPr/>
        </p:nvSpPr>
        <p:spPr>
          <a:xfrm>
            <a:off x="4838700" y="147637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24" name="b3:fade"/>
          <p:cNvSpPr txBox="1"/>
          <p:nvPr/>
        </p:nvSpPr>
        <p:spPr>
          <a:xfrm>
            <a:off x="4838700" y="1788765"/>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By baseline performance</a:t>
            </a:r>
            <a:endParaRPr lang="en-US" sz="1275" dirty="0"/>
          </a:p>
        </p:txBody>
      </p:sp>
      <p:pic>
        <p:nvPicPr>
          <p:cNvPr id="25" name="b3:pop (Entrepreneur holding a phone)"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Low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6B7280"/>
                </a:solidFill>
                <a:latin typeface="Poppins" pitchFamily="34" charset="0"/>
                <a:ea typeface="Poppins" pitchFamily="34" charset="-122"/>
                <a:cs typeface="Poppins" pitchFamily="34" charset="-120"/>
              </a:rPr>
              <a:t>nearly 10% worse</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High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may have benefited by more than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Bar lengths are illustrative</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499247"/>
            <a:ext cx="152400" cy="152400"/>
          </a:xfrm>
          <a:prstGeom prst="rect">
            <a:avLst/>
          </a:prstGeom>
        </p:spPr>
      </p:pic>
      <p:sp>
        <p:nvSpPr>
          <p:cNvPr id="33" name="b6:rise"/>
          <p:cNvSpPr txBox="1"/>
          <p:nvPr/>
        </p:nvSpPr>
        <p:spPr>
          <a:xfrm>
            <a:off x="5067300" y="3414713"/>
            <a:ext cx="3605784" cy="321469"/>
          </a:xfrm>
          <a:prstGeom prst="rect">
            <a:avLst/>
          </a:prstGeom>
          <a:noFill/>
          <a:ln/>
        </p:spPr>
        <p:txBody>
          <a:bodyPr wrap="square" lIns="0" tIns="0" rIns="0" bIns="0" rtlCol="0" anchor="t"/>
          <a:lstStyle/>
          <a:p>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Similar questions, similar advice. The difference lay in </a:t>
            </a:r>
            <a:pPr algn="l" indent="0" marL="0">
              <a:lnSpc>
                <a:spcPts val="1266"/>
              </a:lnSpc>
              <a:buNone/>
            </a:pPr>
            <a:r>
              <a:rPr lang="en-US" sz="938" b="1" dirty="0">
                <a:solidFill>
                  <a:srgbClr val="2E8B86"/>
                </a:solidFill>
                <a:latin typeface="Poppins" pitchFamily="34" charset="0"/>
                <a:ea typeface="Poppins" pitchFamily="34" charset="-122"/>
                <a:cs typeface="Poppins" pitchFamily="34" charset="-120"/>
              </a:rPr>
              <a:t>which advice entrepreneurs chose to implement</a:t>
            </a:r>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06441"/>
            <a:ext cx="152400" cy="152400"/>
          </a:xfrm>
          <a:prstGeom prst="rect">
            <a:avLst/>
          </a:prstGeom>
        </p:spPr>
      </p:pic>
      <p:sp>
        <p:nvSpPr>
          <p:cNvPr id="35" name="b6:rise"/>
          <p:cNvSpPr txBox="1"/>
          <p:nvPr/>
        </p:nvSpPr>
        <p:spPr>
          <a:xfrm>
            <a:off x="5067300" y="3821906"/>
            <a:ext cx="3605784" cy="321469"/>
          </a:xfrm>
          <a:prstGeom prst="rect">
            <a:avLst/>
          </a:prstGeom>
          <a:noFill/>
          <a:ln/>
        </p:spPr>
        <p:txBody>
          <a:bodyPr wrap="square" lIns="0" tIns="0" rIns="0" bIns="0" rtlCol="0" anchor="t"/>
          <a:lstStyle/>
          <a:p>
            <a:pPr algn="l" indent="0" marL="0">
              <a:lnSpc>
                <a:spcPts val="1266"/>
              </a:lnSpc>
              <a:buNone/>
            </a:pPr>
            <a:r>
              <a:rPr lang="en-US" sz="938" dirty="0">
                <a:solidFill>
                  <a:srgbClr val="4A5568"/>
                </a:solidFill>
                <a:latin typeface="Poppins" pitchFamily="34" charset="0"/>
                <a:ea typeface="Poppins" pitchFamily="34" charset="-122"/>
                <a:cs typeface="Poppins" pitchFamily="34" charset="-120"/>
              </a:rPr>
              <a:t>Subgroup averages only: not every high performer gains, and not every low performer loses.</a:t>
            </a:r>
            <a:endParaRPr lang="en-US" sz="938" dirty="0"/>
          </a:p>
        </p:txBody>
      </p:sp>
      <p:sp>
        <p:nvSpPr>
          <p:cNvPr id="36" name="static"/>
          <p:cNvSpPr txBox="1"/>
          <p:nvPr/>
        </p:nvSpPr>
        <p:spPr>
          <a:xfrm>
            <a:off x="609600" y="4827315"/>
            <a:ext cx="47625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Otis et al. (2026). Management Science, 72(7). doi.org/10.1287/mnsc.2024.06909</a:t>
            </a:r>
            <a:endParaRPr lang="en-US" sz="900" dirty="0"/>
          </a:p>
        </p:txBody>
      </p:sp>
      <p:sp>
        <p:nvSpPr>
          <p:cNvPr id="37" name="b7:fade"/>
          <p:cNvSpPr txBox="1"/>
          <p:nvPr/>
        </p:nvSpPr>
        <p:spPr>
          <a:xfrm>
            <a:off x="4022229"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Two studies,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one lesson</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3-en-37 static"/>
          <p:cNvSpPr/>
          <p:nvPr/>
        </p:nvSpPr>
        <p:spPr>
          <a:xfrm>
            <a:off x="7048500" y="342900"/>
            <a:ext cx="1485900" cy="255240"/>
          </a:xfrm>
          <a:prstGeom prst="roundRect">
            <a:avLst>
              <a:gd name="adj" fmla="val 50000"/>
            </a:avLst>
          </a:prstGeom>
          <a:solidFill>
            <a:srgbClr val="2E8B86"/>
          </a:solidFill>
          <a:ln/>
        </p:spPr>
      </p:sp>
      <p:sp>
        <p:nvSpPr>
          <p:cNvPr id="39" name="!!key3-en-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
        <p:nvSpPr>
          <p:cNvPr id="40" name="!!key4-en-39 b8:pop"/>
          <p:cNvSpPr/>
          <p:nvPr/>
        </p:nvSpPr>
        <p:spPr>
          <a:xfrm>
            <a:off x="7048500" y="4572000"/>
            <a:ext cx="1485900" cy="255240"/>
          </a:xfrm>
          <a:prstGeom prst="roundRect">
            <a:avLst>
              <a:gd name="adj" fmla="val 50000"/>
            </a:avLst>
          </a:prstGeom>
          <a:solidFill>
            <a:srgbClr val="2E8B86"/>
          </a:solidFill>
          <a:ln/>
        </p:spPr>
      </p:sp>
      <p:sp>
        <p:nvSpPr>
          <p:cNvPr id="41" name="!!key4-en-40 b8: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DISCUSSION AND COMPARISON</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Is a Tool, Not a Guarantee of Success</a:t>
            </a:r>
            <a:endParaRPr lang="en-US" sz="2400" dirty="0"/>
          </a:p>
        </p:txBody>
      </p:sp>
      <p:sp>
        <p:nvSpPr>
          <p:cNvPr id="4" name="b1:rise"/>
          <p:cNvSpPr/>
          <p:nvPr/>
        </p:nvSpPr>
        <p:spPr>
          <a:xfrm>
            <a:off x="609600" y="1381125"/>
            <a:ext cx="809625" cy="236190"/>
          </a:xfrm>
          <a:prstGeom prst="roundRect">
            <a:avLst>
              <a:gd name="adj" fmla="val 50000"/>
            </a:avLst>
          </a:prstGeom>
          <a:solidFill>
            <a:srgbClr val="BFE6E0"/>
          </a:solidFill>
          <a:ln/>
        </p:spPr>
      </p:sp>
      <p:sp>
        <p:nvSpPr>
          <p:cNvPr id="5" name="b1:rise"/>
          <p:cNvSpPr txBox="1"/>
          <p:nvPr/>
        </p:nvSpPr>
        <p:spPr>
          <a:xfrm>
            <a:off x="609600" y="138112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rise"/>
          <p:cNvSpPr/>
          <p:nvPr/>
        </p:nvSpPr>
        <p:spPr>
          <a:xfrm>
            <a:off x="609600" y="1976884"/>
            <a:ext cx="4763" cy="0"/>
          </a:xfrm>
          <a:prstGeom prst="line">
            <a:avLst/>
          </a:prstGeom>
          <a:noFill/>
          <a:ln w="6350">
            <a:solidFill>
              <a:srgbClr val="D8DEE6"/>
            </a:solidFill>
            <a:prstDash val="solid"/>
          </a:ln>
        </p:spPr>
      </p:sp>
      <p:sp>
        <p:nvSpPr>
          <p:cNvPr id="7" name="b1:rise"/>
          <p:cNvSpPr/>
          <p:nvPr/>
        </p:nvSpPr>
        <p:spPr>
          <a:xfrm>
            <a:off x="2036043" y="1976884"/>
            <a:ext cx="4763" cy="0"/>
          </a:xfrm>
          <a:prstGeom prst="line">
            <a:avLst/>
          </a:prstGeom>
          <a:noFill/>
          <a:ln w="6350">
            <a:solidFill>
              <a:srgbClr val="D8DEE6"/>
            </a:solidFill>
            <a:prstDash val="solid"/>
          </a:ln>
        </p:spPr>
      </p:sp>
      <p:sp>
        <p:nvSpPr>
          <p:cNvPr id="8" name="b1:rise"/>
          <p:cNvSpPr txBox="1"/>
          <p:nvPr/>
        </p:nvSpPr>
        <p:spPr>
          <a:xfrm>
            <a:off x="2036043" y="1674465"/>
            <a:ext cx="3249141" cy="302419"/>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2 · Consultants</a:t>
            </a:r>
            <a:endParaRPr lang="en-US" sz="900" dirty="0"/>
          </a:p>
        </p:txBody>
      </p:sp>
      <p:sp>
        <p:nvSpPr>
          <p:cNvPr id="9" name="b1:rise"/>
          <p:cNvSpPr/>
          <p:nvPr/>
        </p:nvSpPr>
        <p:spPr>
          <a:xfrm>
            <a:off x="5285184" y="1976884"/>
            <a:ext cx="4763" cy="0"/>
          </a:xfrm>
          <a:prstGeom prst="line">
            <a:avLst/>
          </a:prstGeom>
          <a:noFill/>
          <a:ln w="6350">
            <a:solidFill>
              <a:srgbClr val="D8DEE6"/>
            </a:solidFill>
            <a:prstDash val="solid"/>
          </a:ln>
        </p:spPr>
      </p:sp>
      <p:sp>
        <p:nvSpPr>
          <p:cNvPr id="10" name="b1:rise"/>
          <p:cNvSpPr txBox="1"/>
          <p:nvPr/>
        </p:nvSpPr>
        <p:spPr>
          <a:xfrm>
            <a:off x="5285184" y="1674465"/>
            <a:ext cx="3249216" cy="302419"/>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5 · Entrepreneurs</a:t>
            </a:r>
            <a:endParaRPr lang="en-US" sz="900" dirty="0"/>
          </a:p>
        </p:txBody>
      </p:sp>
      <p:sp>
        <p:nvSpPr>
          <p:cNvPr id="11" name="b1:rise"/>
          <p:cNvSpPr/>
          <p:nvPr/>
        </p:nvSpPr>
        <p:spPr>
          <a:xfrm>
            <a:off x="609600" y="2281684"/>
            <a:ext cx="4763" cy="0"/>
          </a:xfrm>
          <a:prstGeom prst="line">
            <a:avLst/>
          </a:prstGeom>
          <a:noFill/>
          <a:ln w="6350">
            <a:solidFill>
              <a:srgbClr val="D8DEE6"/>
            </a:solidFill>
            <a:prstDash val="solid"/>
          </a:ln>
        </p:spPr>
      </p:sp>
      <p:sp>
        <p:nvSpPr>
          <p:cNvPr id="12" name="b1:rise"/>
          <p:cNvSpPr txBox="1"/>
          <p:nvPr/>
        </p:nvSpPr>
        <p:spPr>
          <a:xfrm>
            <a:off x="609600" y="1976884"/>
            <a:ext cx="1426443" cy="304800"/>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Focus</a:t>
            </a:r>
            <a:endParaRPr lang="en-US" sz="900" dirty="0"/>
          </a:p>
        </p:txBody>
      </p:sp>
      <p:sp>
        <p:nvSpPr>
          <p:cNvPr id="13" name="b1:rise"/>
          <p:cNvSpPr/>
          <p:nvPr/>
        </p:nvSpPr>
        <p:spPr>
          <a:xfrm>
            <a:off x="2036043" y="2281684"/>
            <a:ext cx="4763" cy="0"/>
          </a:xfrm>
          <a:prstGeom prst="line">
            <a:avLst/>
          </a:prstGeom>
          <a:noFill/>
          <a:ln w="6350">
            <a:solidFill>
              <a:srgbClr val="D8DEE6"/>
            </a:solidFill>
            <a:prstDash val="solid"/>
          </a:ln>
        </p:spPr>
      </p:sp>
      <p:sp>
        <p:nvSpPr>
          <p:cNvPr id="14" name="b1:rise"/>
          <p:cNvSpPr txBox="1"/>
          <p:nvPr/>
        </p:nvSpPr>
        <p:spPr>
          <a:xfrm>
            <a:off x="2036043" y="1976884"/>
            <a:ext cx="3249141" cy="304800"/>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Knowledge workers at BCG</a:t>
            </a:r>
            <a:endParaRPr lang="en-US" sz="900" dirty="0"/>
          </a:p>
        </p:txBody>
      </p:sp>
      <p:sp>
        <p:nvSpPr>
          <p:cNvPr id="15" name="b1:rise"/>
          <p:cNvSpPr/>
          <p:nvPr/>
        </p:nvSpPr>
        <p:spPr>
          <a:xfrm>
            <a:off x="5285184" y="2281684"/>
            <a:ext cx="4763" cy="0"/>
          </a:xfrm>
          <a:prstGeom prst="line">
            <a:avLst/>
          </a:prstGeom>
          <a:noFill/>
          <a:ln w="6350">
            <a:solidFill>
              <a:srgbClr val="D8DEE6"/>
            </a:solidFill>
            <a:prstDash val="solid"/>
          </a:ln>
        </p:spPr>
      </p:sp>
      <p:sp>
        <p:nvSpPr>
          <p:cNvPr id="16" name="b1:rise"/>
          <p:cNvSpPr txBox="1"/>
          <p:nvPr/>
        </p:nvSpPr>
        <p:spPr>
          <a:xfrm>
            <a:off x="5285184" y="1976884"/>
            <a:ext cx="3249216" cy="304800"/>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Small businesses in Kenya</a:t>
            </a:r>
            <a:endParaRPr lang="en-US" sz="900" dirty="0"/>
          </a:p>
        </p:txBody>
      </p:sp>
      <p:sp>
        <p:nvSpPr>
          <p:cNvPr id="17" name="b1:rise"/>
          <p:cNvSpPr/>
          <p:nvPr/>
        </p:nvSpPr>
        <p:spPr>
          <a:xfrm>
            <a:off x="609600" y="2281684"/>
            <a:ext cx="7924800" cy="471488"/>
          </a:xfrm>
          <a:prstGeom prst="rect">
            <a:avLst/>
          </a:prstGeom>
          <a:solidFill>
            <a:srgbClr val="EEF1F5"/>
          </a:solidFill>
          <a:ln/>
        </p:spPr>
      </p:sp>
      <p:sp>
        <p:nvSpPr>
          <p:cNvPr id="18" name="b1:rise"/>
          <p:cNvSpPr/>
          <p:nvPr/>
        </p:nvSpPr>
        <p:spPr>
          <a:xfrm>
            <a:off x="609600" y="2753171"/>
            <a:ext cx="4763" cy="0"/>
          </a:xfrm>
          <a:prstGeom prst="line">
            <a:avLst/>
          </a:prstGeom>
          <a:noFill/>
          <a:ln w="6350">
            <a:solidFill>
              <a:srgbClr val="D8DEE6"/>
            </a:solidFill>
            <a:prstDash val="solid"/>
          </a:ln>
        </p:spPr>
      </p:sp>
      <p:sp>
        <p:nvSpPr>
          <p:cNvPr id="19" name="b1:rise"/>
          <p:cNvSpPr txBox="1"/>
          <p:nvPr/>
        </p:nvSpPr>
        <p:spPr>
          <a:xfrm>
            <a:off x="609600" y="2281684"/>
            <a:ext cx="1483501"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Main result</a:t>
            </a:r>
            <a:endParaRPr lang="en-US" sz="900" dirty="0"/>
          </a:p>
        </p:txBody>
      </p:sp>
      <p:sp>
        <p:nvSpPr>
          <p:cNvPr id="20" name="b1:rise"/>
          <p:cNvSpPr/>
          <p:nvPr/>
        </p:nvSpPr>
        <p:spPr>
          <a:xfrm>
            <a:off x="2036043" y="2753171"/>
            <a:ext cx="4763" cy="0"/>
          </a:xfrm>
          <a:prstGeom prst="line">
            <a:avLst/>
          </a:prstGeom>
          <a:noFill/>
          <a:ln w="6350">
            <a:solidFill>
              <a:srgbClr val="D8DEE6"/>
            </a:solidFill>
            <a:prstDash val="solid"/>
          </a:ln>
        </p:spPr>
      </p:sp>
      <p:sp>
        <p:nvSpPr>
          <p:cNvPr id="21" name="b1:rise"/>
          <p:cNvSpPr txBox="1"/>
          <p:nvPr/>
        </p:nvSpPr>
        <p:spPr>
          <a:xfrm>
            <a:off x="2036043" y="2281684"/>
            <a:ext cx="3379107"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Higher productivity and quality inside AI's capability frontier</a:t>
            </a:r>
            <a:endParaRPr lang="en-US" sz="900" dirty="0"/>
          </a:p>
        </p:txBody>
      </p:sp>
      <p:sp>
        <p:nvSpPr>
          <p:cNvPr id="22" name="b1:rise"/>
          <p:cNvSpPr/>
          <p:nvPr/>
        </p:nvSpPr>
        <p:spPr>
          <a:xfrm>
            <a:off x="5285184" y="2753171"/>
            <a:ext cx="4763" cy="0"/>
          </a:xfrm>
          <a:prstGeom prst="line">
            <a:avLst/>
          </a:prstGeom>
          <a:noFill/>
          <a:ln w="6350">
            <a:solidFill>
              <a:srgbClr val="D8DEE6"/>
            </a:solidFill>
            <a:prstDash val="solid"/>
          </a:ln>
        </p:spPr>
      </p:sp>
      <p:sp>
        <p:nvSpPr>
          <p:cNvPr id="23" name="b1:rise"/>
          <p:cNvSpPr txBox="1"/>
          <p:nvPr/>
        </p:nvSpPr>
        <p:spPr>
          <a:xfrm>
            <a:off x="5285184" y="2281684"/>
            <a:ext cx="337918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No established average effect on revenue and profit</a:t>
            </a:r>
            <a:endParaRPr lang="en-US" sz="900" dirty="0"/>
          </a:p>
        </p:txBody>
      </p:sp>
      <p:sp>
        <p:nvSpPr>
          <p:cNvPr id="24" name="b1:rise"/>
          <p:cNvSpPr/>
          <p:nvPr/>
        </p:nvSpPr>
        <p:spPr>
          <a:xfrm>
            <a:off x="609600" y="3224659"/>
            <a:ext cx="4763" cy="0"/>
          </a:xfrm>
          <a:prstGeom prst="line">
            <a:avLst/>
          </a:prstGeom>
          <a:noFill/>
          <a:ln w="6350">
            <a:solidFill>
              <a:srgbClr val="D8DEE6"/>
            </a:solidFill>
            <a:prstDash val="solid"/>
          </a:ln>
        </p:spPr>
      </p:sp>
      <p:sp>
        <p:nvSpPr>
          <p:cNvPr id="25" name="b1:rise"/>
          <p:cNvSpPr txBox="1"/>
          <p:nvPr/>
        </p:nvSpPr>
        <p:spPr>
          <a:xfrm>
            <a:off x="609600" y="2753171"/>
            <a:ext cx="1483501"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Key insight</a:t>
            </a:r>
            <a:endParaRPr lang="en-US" sz="900" dirty="0"/>
          </a:p>
        </p:txBody>
      </p:sp>
      <p:sp>
        <p:nvSpPr>
          <p:cNvPr id="26" name="b1:rise"/>
          <p:cNvSpPr/>
          <p:nvPr/>
        </p:nvSpPr>
        <p:spPr>
          <a:xfrm>
            <a:off x="2036043" y="3224659"/>
            <a:ext cx="4763" cy="0"/>
          </a:xfrm>
          <a:prstGeom prst="line">
            <a:avLst/>
          </a:prstGeom>
          <a:noFill/>
          <a:ln w="6350">
            <a:solidFill>
              <a:srgbClr val="D8DEE6"/>
            </a:solidFill>
            <a:prstDash val="solid"/>
          </a:ln>
        </p:spPr>
      </p:sp>
      <p:sp>
        <p:nvSpPr>
          <p:cNvPr id="27" name="b1:rise"/>
          <p:cNvSpPr txBox="1"/>
          <p:nvPr/>
        </p:nvSpPr>
        <p:spPr>
          <a:xfrm>
            <a:off x="2036043" y="2753171"/>
            <a:ext cx="3379107"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Lower correctness on a task outside the frontier</a:t>
            </a:r>
            <a:endParaRPr lang="en-US" sz="900" dirty="0"/>
          </a:p>
        </p:txBody>
      </p:sp>
      <p:sp>
        <p:nvSpPr>
          <p:cNvPr id="28" name="b1:rise"/>
          <p:cNvSpPr/>
          <p:nvPr/>
        </p:nvSpPr>
        <p:spPr>
          <a:xfrm>
            <a:off x="5285184" y="3224659"/>
            <a:ext cx="4763" cy="0"/>
          </a:xfrm>
          <a:prstGeom prst="line">
            <a:avLst/>
          </a:prstGeom>
          <a:noFill/>
          <a:ln w="6350">
            <a:solidFill>
              <a:srgbClr val="D8DEE6"/>
            </a:solidFill>
            <a:prstDash val="solid"/>
          </a:ln>
        </p:spPr>
      </p:sp>
      <p:sp>
        <p:nvSpPr>
          <p:cNvPr id="29" name="b1:rise"/>
          <p:cNvSpPr txBox="1"/>
          <p:nvPr/>
        </p:nvSpPr>
        <p:spPr>
          <a:xfrm>
            <a:off x="5285184" y="2753171"/>
            <a:ext cx="337918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Outcomes depended on baseline performance and the advice implemented</a:t>
            </a:r>
            <a:endParaRPr lang="en-US" sz="900" dirty="0"/>
          </a:p>
        </p:txBody>
      </p:sp>
      <p:sp>
        <p:nvSpPr>
          <p:cNvPr id="30" name="b2:pop"/>
          <p:cNvSpPr/>
          <p:nvPr/>
        </p:nvSpPr>
        <p:spPr>
          <a:xfrm>
            <a:off x="609600" y="3143250"/>
            <a:ext cx="7924800" cy="1052066"/>
          </a:xfrm>
          <a:prstGeom prst="roundRect">
            <a:avLst>
              <a:gd name="adj" fmla="val 10864"/>
            </a:avLst>
          </a:prstGeom>
          <a:solidFill>
            <a:srgbClr val="2E8B86"/>
          </a:solidFill>
          <a:ln/>
        </p:spPr>
      </p:sp>
      <p:sp>
        <p:nvSpPr>
          <p:cNvPr id="31" name="b2:pop"/>
          <p:cNvSpPr/>
          <p:nvPr/>
        </p:nvSpPr>
        <p:spPr>
          <a:xfrm>
            <a:off x="819150" y="3276600"/>
            <a:ext cx="1362075" cy="217140"/>
          </a:xfrm>
          <a:prstGeom prst="roundRect">
            <a:avLst>
              <a:gd name="adj" fmla="val 50000"/>
            </a:avLst>
          </a:prstGeom>
          <a:solidFill>
            <a:srgbClr val="F7F9FB"/>
          </a:solidFill>
          <a:ln/>
        </p:spPr>
      </p:sp>
      <p:sp>
        <p:nvSpPr>
          <p:cNvPr id="32" name="b2:pop"/>
          <p:cNvSpPr txBox="1"/>
          <p:nvPr/>
        </p:nvSpPr>
        <p:spPr>
          <a:xfrm>
            <a:off x="819150" y="3276600"/>
            <a:ext cx="1362075"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INTERPRETATION</a:t>
            </a:r>
            <a:endParaRPr lang="en-US" sz="900" dirty="0"/>
          </a:p>
        </p:txBody>
      </p:sp>
      <p:sp>
        <p:nvSpPr>
          <p:cNvPr id="33" name="b2:pop"/>
          <p:cNvSpPr txBox="1"/>
          <p:nvPr/>
        </p:nvSpPr>
        <p:spPr>
          <a:xfrm>
            <a:off x="819150" y="3541365"/>
            <a:ext cx="3467100" cy="520601"/>
          </a:xfrm>
          <a:prstGeom prst="rect">
            <a:avLst/>
          </a:prstGeom>
          <a:noFill/>
          <a:ln/>
        </p:spPr>
        <p:txBody>
          <a:bodyPr wrap="square" lIns="0" tIns="0" rIns="0" bIns="0" rtlCol="0" anchor="t"/>
          <a:lstStyle/>
          <a:p>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AI can influence real-world performance, but its impact depends on task suitability, user behavior, and </a:t>
            </a:r>
            <a:pPr algn="l" indent="0" marL="0">
              <a:lnSpc>
                <a:spcPts val="1367"/>
              </a:lnSpc>
              <a:buNone/>
            </a:pPr>
            <a:r>
              <a:rPr lang="en-US" sz="1013" b="1" u="sng" dirty="0">
                <a:solidFill>
                  <a:srgbClr val="F7F9FB"/>
                </a:solidFill>
                <a:latin typeface="Poppins" pitchFamily="34" charset="0"/>
                <a:ea typeface="Poppins" pitchFamily="34" charset="-122"/>
                <a:cs typeface="Poppins" pitchFamily="34" charset="-120"/>
              </a:rPr>
              <a:t>human judgment</a:t>
            </a:r>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390230"/>
            <a:ext cx="142875" cy="142875"/>
          </a:xfrm>
          <a:prstGeom prst="rect">
            <a:avLst/>
          </a:prstGeom>
        </p:spPr>
      </p:pic>
      <p:sp>
        <p:nvSpPr>
          <p:cNvPr id="35" name="b2:pop"/>
          <p:cNvSpPr txBox="1"/>
          <p:nvPr/>
        </p:nvSpPr>
        <p:spPr>
          <a:xfrm>
            <a:off x="4552950" y="3381673"/>
            <a:ext cx="1772841"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Match the task to AI's strengths</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597846"/>
            <a:ext cx="142875" cy="142875"/>
          </a:xfrm>
          <a:prstGeom prst="rect">
            <a:avLst/>
          </a:prstGeom>
        </p:spPr>
      </p:pic>
      <p:sp>
        <p:nvSpPr>
          <p:cNvPr id="37" name="b2:pop"/>
          <p:cNvSpPr txBox="1"/>
          <p:nvPr/>
        </p:nvSpPr>
        <p:spPr>
          <a:xfrm>
            <a:off x="4552950" y="3589288"/>
            <a:ext cx="1551905"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Evaluate AI advice critically</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05461"/>
            <a:ext cx="142875" cy="142875"/>
          </a:xfrm>
          <a:prstGeom prst="rect">
            <a:avLst/>
          </a:prstGeom>
        </p:spPr>
      </p:pic>
      <p:sp>
        <p:nvSpPr>
          <p:cNvPr id="39" name="b2:pop"/>
          <p:cNvSpPr txBox="1"/>
          <p:nvPr/>
        </p:nvSpPr>
        <p:spPr>
          <a:xfrm>
            <a:off x="4552950" y="3796903"/>
            <a:ext cx="1952476"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Keep human judgment in the loop</a:t>
            </a:r>
            <a:endParaRPr lang="en-US" sz="900" dirty="0"/>
          </a:p>
        </p:txBody>
      </p:sp>
      <p:pic>
        <p:nvPicPr>
          <p:cNvPr id="40" name="b2:pop (Person reaching out to shake hands)" descr="/home/user/slide-present-en/presentation/webdeck/art/human-shake-teal.png">    </p:cNvPr>
          <p:cNvPicPr>
            <a:picLocks noChangeAspect="1"/>
          </p:cNvPicPr>
          <p:nvPr/>
        </p:nvPicPr>
        <p:blipFill>
          <a:blip r:embed="rId4"/>
          <a:stretch>
            <a:fillRect/>
          </a:stretch>
        </p:blipFill>
        <p:spPr>
          <a:xfrm>
            <a:off x="7134225" y="3345433"/>
            <a:ext cx="571500" cy="647700"/>
          </a:xfrm>
          <a:prstGeom prst="rect">
            <a:avLst/>
          </a:prstGeom>
        </p:spPr>
      </p:pic>
      <p:pic>
        <p:nvPicPr>
          <p:cNvPr id="41" name="b2:pop (Robot mascot reaching out to shake hands)" descr="/home/user/slide-present-en/presentation/webdeck/art/robot-shake-teal.png">    </p:cNvPr>
          <p:cNvPicPr>
            <a:picLocks noChangeAspect="1"/>
          </p:cNvPicPr>
          <p:nvPr/>
        </p:nvPicPr>
        <p:blipFill>
          <a:blip r:embed="rId5"/>
          <a:stretch>
            <a:fillRect/>
          </a:stretch>
        </p:blipFill>
        <p:spPr>
          <a:xfrm>
            <a:off x="7705725" y="3345433"/>
            <a:ext cx="619125" cy="647700"/>
          </a:xfrm>
          <a:prstGeom prst="rect">
            <a:avLst/>
          </a:prstGeom>
        </p:spPr>
      </p:pic>
      <p:sp>
        <p:nvSpPr>
          <p:cNvPr id="42" name="static"/>
          <p:cNvSpPr txBox="1"/>
          <p:nvPr/>
        </p:nvSpPr>
        <p:spPr>
          <a:xfrm>
            <a:off x="609600" y="4678710"/>
            <a:ext cx="5448300"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Thank you.</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Questions are welcome.</a:t>
            </a:r>
            <a:endParaRPr lang="en-US" sz="900" dirty="0"/>
          </a:p>
        </p:txBody>
      </p:sp>
      <p:sp>
        <p:nvSpPr>
          <p:cNvPr id="44" name="!!key4-en-43 static"/>
          <p:cNvSpPr/>
          <p:nvPr/>
        </p:nvSpPr>
        <p:spPr>
          <a:xfrm>
            <a:off x="7048500" y="342900"/>
            <a:ext cx="1485900" cy="255240"/>
          </a:xfrm>
          <a:prstGeom prst="roundRect">
            <a:avLst>
              <a:gd name="adj" fmla="val 50000"/>
            </a:avLst>
          </a:prstGeom>
          <a:solidFill>
            <a:srgbClr val="2E8B86"/>
          </a:solidFill>
          <a:ln/>
        </p:spPr>
      </p:sp>
      <p:sp>
        <p:nvSpPr>
          <p:cNvPr id="45" name="!!key4-en-44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BFE6E0"/>
                </a:solidFill>
                <a:latin typeface="Prompt" pitchFamily="34" charset="0"/>
                <a:ea typeface="Prompt" pitchFamily="34" charset="-122"/>
                <a:cs typeface="Prompt" pitchFamily="34" charset="-120"/>
              </a:rPr>
              <a:t>ENG 501 · ENGLISH FOR MASTER'S DEGREE</a:t>
            </a:r>
            <a:endParaRPr lang="en-US" sz="900" dirty="0"/>
          </a:p>
        </p:txBody>
      </p:sp>
      <p:sp>
        <p:nvSpPr>
          <p:cNvPr id="4" name="static"/>
          <p:cNvSpPr txBox="1"/>
          <p:nvPr/>
        </p:nvSpPr>
        <p:spPr>
          <a:xfrm>
            <a:off x="609600" y="693390"/>
            <a:ext cx="5943600" cy="1059061"/>
          </a:xfrm>
          <a:prstGeom prst="rect">
            <a:avLst/>
          </a:prstGeom>
          <a:noFill/>
          <a:ln/>
        </p:spPr>
        <p:txBody>
          <a:bodyPr wrap="square" lIns="0" tIns="95250" rIns="0" bIns="0" rtlCol="0" anchor="t"/>
          <a:lstStyle/>
          <a:p>
            <a:pPr algn="l" indent="0" marL="0">
              <a:lnSpc>
                <a:spcPts val="3795"/>
              </a:lnSpc>
              <a:buNone/>
            </a:pPr>
            <a:r>
              <a:rPr lang="en-US" sz="3300" b="1" dirty="0">
                <a:solidFill>
                  <a:srgbClr val="F7F9FB"/>
                </a:solidFill>
                <a:latin typeface="Prompt" pitchFamily="34" charset="0"/>
                <a:ea typeface="Prompt" pitchFamily="34" charset="-122"/>
                <a:cs typeface="Prompt" pitchFamily="34" charset="-120"/>
              </a:rPr>
              <a:t>ปัญญาประดิษฐ์กับประสิทธิภาพการทำงาน</a:t>
            </a:r>
            <a:endParaRPr lang="en-US" sz="3300" dirty="0"/>
          </a:p>
        </p:txBody>
      </p:sp>
      <p:sp>
        <p:nvSpPr>
          <p:cNvPr id="5" name="static"/>
          <p:cNvSpPr txBox="1"/>
          <p:nvPr/>
        </p:nvSpPr>
        <p:spPr>
          <a:xfrm>
            <a:off x="609600" y="1752451"/>
            <a:ext cx="5715000" cy="276225"/>
          </a:xfrm>
          <a:prstGeom prst="rect">
            <a:avLst/>
          </a:prstGeom>
          <a:noFill/>
          <a:ln/>
        </p:spPr>
        <p:txBody>
          <a:bodyPr wrap="none" lIns="0" tIns="0" rIns="0" bIns="0" rtlCol="0" anchor="ctr"/>
          <a:lstStyle/>
          <a:p>
            <a:pPr algn="l" indent="0" marL="0">
              <a:lnSpc>
                <a:spcPts val="1575"/>
              </a:lnSpc>
              <a:buNone/>
            </a:pPr>
            <a:r>
              <a:rPr lang="en-US" sz="1125" dirty="0">
                <a:solidFill>
                  <a:srgbClr val="BFE6E0"/>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125" dirty="0"/>
          </a:p>
        </p:txBody>
      </p:sp>
      <p:pic>
        <p:nvPicPr>
          <p:cNvPr id="6" name="b1:pop (มาสคอตหุ่นยนต์โบกมือ)"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none" lIns="0" tIns="0" rIns="0" bIns="0" rtlCol="0" anchor="ctr"/>
          <a:lstStyle/>
          <a:p>
            <a:pPr algn="l" indent="0" marL="0">
              <a:lnSpc>
                <a:spcPts val="1680"/>
              </a:lnSpc>
              <a:buNone/>
            </a:pPr>
            <a:r>
              <a:rPr lang="en-US" sz="1200" b="1" dirty="0">
                <a:solidFill>
                  <a:srgbClr val="F7F9FB"/>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2</a:t>
            </a:r>
            <a:endParaRPr lang="en-US" sz="900" dirty="0"/>
          </a:p>
        </p:txBody>
      </p:sp>
      <p:sp>
        <p:nvSpPr>
          <p:cNvPr id="10" name="b3:rise"/>
          <p:cNvSpPr txBox="1"/>
          <p:nvPr/>
        </p:nvSpPr>
        <p:spPr>
          <a:xfrm>
            <a:off x="8001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5</a:t>
            </a:r>
            <a:endParaRPr lang="en-US" sz="900" dirty="0"/>
          </a:p>
        </p:txBody>
      </p:sp>
      <p:sp>
        <p:nvSpPr>
          <p:cNvPr id="14" name="b3:rise"/>
          <p:cNvSpPr txBox="1"/>
          <p:nvPr/>
        </p:nvSpPr>
        <p:spPr>
          <a:xfrm>
            <a:off x="48387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none" lIns="0" tIns="0" rIns="0" bIns="0" rtlCol="0" anchor="ctr"/>
          <a:lstStyle/>
          <a:p>
            <a:pPr algn="l" indent="0" marL="0">
              <a:lnSpc>
                <a:spcPts val="1260"/>
              </a:lnSpc>
              <a:buNone/>
            </a:pPr>
            <a:r>
              <a:rPr lang="en-US" sz="900" b="1" dirty="0">
                <a:solidFill>
                  <a:srgbClr val="BFE6E0"/>
                </a:solidFill>
                <a:latin typeface="Prompt" pitchFamily="34" charset="0"/>
                <a:ea typeface="Prompt" pitchFamily="34" charset="-122"/>
                <a:cs typeface="Prompt" pitchFamily="34" charset="-120"/>
              </a:rPr>
              <a:t>Chayanun Sungsa-ard</a:t>
            </a:r>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 · รหัสนักศึกษา 691401708 · MBA · ENG 501 English for Master's Degree</a:t>
            </a:r>
            <a:endParaRPr lang="en-US" sz="900" dirty="0"/>
          </a:p>
        </p:txBody>
      </p:sp>
      <p:sp>
        <p:nvSpPr>
          <p:cNvPr id="17" name="!!key1-th-16 b4:pop"/>
          <p:cNvSpPr/>
          <p:nvPr/>
        </p:nvSpPr>
        <p:spPr>
          <a:xfrm>
            <a:off x="7048500" y="4572000"/>
            <a:ext cx="1485900" cy="255240"/>
          </a:xfrm>
          <a:prstGeom prst="roundRect">
            <a:avLst>
              <a:gd name="adj" fmla="val 50000"/>
            </a:avLst>
          </a:prstGeom>
          <a:solidFill>
            <a:srgbClr val="2E8B86"/>
          </a:solidFill>
          <a:ln/>
        </p:spPr>
      </p:sp>
      <p:sp>
        <p:nvSpPr>
          <p:cNvPr id="18" name="!!key1-th-17 b4: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วัตถุประสงค์และวิธีวิจัย</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องค์กรที่ร่วมวิจัยและผู้เข้าร่วม</a:t>
            </a:r>
            <a:endParaRPr lang="en-US" sz="1125" dirty="0"/>
          </a:p>
        </p:txBody>
      </p:sp>
      <p:sp>
        <p:nvSpPr>
          <p:cNvPr id="7" name="b1:rise"/>
          <p:cNvSpPr txBox="1"/>
          <p:nvPr/>
        </p:nvSpPr>
        <p:spPr>
          <a:xfrm>
            <a:off x="1066800" y="1609725"/>
            <a:ext cx="3288792"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การทดลองภาคสนามร่วมกับ Boston Consulting Group (BCG)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ที่ปรึกษา 758 คน</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ประเด็นที่ศึกษา</a:t>
            </a:r>
            <a:endParaRPr lang="en-US" sz="1125" dirty="0"/>
          </a:p>
        </p:txBody>
      </p:sp>
      <p:sp>
        <p:nvSpPr>
          <p:cNvPr id="11" name="b1:rise"/>
          <p:cNvSpPr txBox="1"/>
          <p:nvPr/>
        </p:nvSpPr>
        <p:spPr>
          <a:xfrm>
            <a:off x="1066800" y="2270671"/>
            <a:ext cx="3162300" cy="173310"/>
          </a:xfrm>
          <a:prstGeom prst="rect">
            <a:avLst/>
          </a:prstGeom>
          <a:noFill/>
          <a:ln/>
        </p:spPr>
        <p:txBody>
          <a:bodyPr wrap="none" lIns="0" tIns="0" rIns="0" bIns="0" rtlCol="0" anchor="ctr"/>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975" dirty="0"/>
          </a:p>
        </p:txBody>
      </p:sp>
      <p:sp>
        <p:nvSpPr>
          <p:cNvPr id="12" name="b2:rise"/>
          <p:cNvSpPr txBox="1"/>
          <p:nvPr/>
        </p:nvSpPr>
        <p:spPr>
          <a:xfrm>
            <a:off x="609600" y="2667000"/>
            <a:ext cx="36195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เงื่อนไขการทดลองสามกลุ่ม</a:t>
            </a:r>
            <a:endParaRPr lang="en-US" sz="1125" dirty="0"/>
          </a:p>
        </p:txBody>
      </p:sp>
      <p:sp>
        <p:nvSpPr>
          <p:cNvPr id="13" name="b2:rise"/>
          <p:cNvSpPr/>
          <p:nvPr/>
        </p:nvSpPr>
        <p:spPr>
          <a:xfrm>
            <a:off x="609600" y="2933700"/>
            <a:ext cx="1143000" cy="988591"/>
          </a:xfrm>
          <a:prstGeom prst="roundRect">
            <a:avLst>
              <a:gd name="adj" fmla="val 8671"/>
            </a:avLst>
          </a:prstGeom>
          <a:solidFill>
            <a:srgbClr val="EEF1F5"/>
          </a:solidFill>
          <a:ln/>
        </p:spPr>
      </p:sp>
      <p:sp>
        <p:nvSpPr>
          <p:cNvPr id="14" name="b2:rise"/>
          <p:cNvSpPr txBox="1"/>
          <p:nvPr/>
        </p:nvSpPr>
        <p:spPr>
          <a:xfrm>
            <a:off x="7429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ไม่ใช้ AI</a:t>
            </a:r>
            <a:endParaRPr lang="en-US" sz="900" dirty="0"/>
          </a:p>
        </p:txBody>
      </p:sp>
      <p:sp>
        <p:nvSpPr>
          <p:cNvPr id="16" name="b2:rise"/>
          <p:cNvSpPr/>
          <p:nvPr/>
        </p:nvSpPr>
        <p:spPr>
          <a:xfrm>
            <a:off x="1847850" y="2933700"/>
            <a:ext cx="1143000" cy="988591"/>
          </a:xfrm>
          <a:prstGeom prst="roundRect">
            <a:avLst>
              <a:gd name="adj" fmla="val 8671"/>
            </a:avLst>
          </a:prstGeom>
          <a:solidFill>
            <a:srgbClr val="EEF1F5"/>
          </a:solidFill>
          <a:ln/>
        </p:spPr>
      </p:sp>
      <p:sp>
        <p:nvSpPr>
          <p:cNvPr id="17" name="b2:rise"/>
          <p:cNvSpPr txBox="1"/>
          <p:nvPr/>
        </p:nvSpPr>
        <p:spPr>
          <a:xfrm>
            <a:off x="198120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a:t>
            </a:r>
            <a:endParaRPr lang="en-US" sz="900" dirty="0"/>
          </a:p>
        </p:txBody>
      </p:sp>
      <p:sp>
        <p:nvSpPr>
          <p:cNvPr id="19" name="b2:rise"/>
          <p:cNvSpPr/>
          <p:nvPr/>
        </p:nvSpPr>
        <p:spPr>
          <a:xfrm>
            <a:off x="3086100" y="2933700"/>
            <a:ext cx="1143000" cy="988591"/>
          </a:xfrm>
          <a:prstGeom prst="roundRect">
            <a:avLst>
              <a:gd name="adj" fmla="val 8671"/>
            </a:avLst>
          </a:prstGeom>
          <a:solidFill>
            <a:srgbClr val="1B2A4A"/>
          </a:solidFill>
          <a:ln/>
        </p:spPr>
      </p:sp>
      <p:sp>
        <p:nvSpPr>
          <p:cNvPr id="20" name="b2:rise"/>
          <p:cNvSpPr txBox="1"/>
          <p:nvPr/>
        </p:nvSpPr>
        <p:spPr>
          <a:xfrm>
            <a:off x="32194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1" name="b2:rise"/>
          <p:cNvSpPr txBox="1"/>
          <p:nvPr/>
        </p:nvSpPr>
        <p:spPr>
          <a:xfrm>
            <a:off x="3219450" y="3308970"/>
            <a:ext cx="911352" cy="47997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ใช้ GPT-4 + คำแนะนำการเขียน prompt</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6B7280"/>
                </a:solidFill>
                <a:latin typeface="Prompt" pitchFamily="34" charset="0"/>
                <a:ea typeface="Prompt" pitchFamily="34" charset="-122"/>
                <a:cs typeface="Prompt" pitchFamily="34" charset="-120"/>
              </a:rPr>
              <a:t>แนวคิด</a:t>
            </a:r>
            <a:endParaRPr lang="en-US" sz="900" dirty="0"/>
          </a:p>
        </p:txBody>
      </p:sp>
      <p:sp>
        <p:nvSpPr>
          <p:cNvPr id="24" name="b3:fade"/>
          <p:cNvSpPr txBox="1"/>
          <p:nvPr/>
        </p:nvSpPr>
        <p:spPr>
          <a:xfrm>
            <a:off x="4724400" y="1741140"/>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Jagged Technological Frontier</a:t>
            </a:r>
            <a:endParaRPr lang="en-US" sz="1275" dirty="0"/>
          </a:p>
        </p:txBody>
      </p:sp>
      <p:sp>
        <p:nvSpPr>
          <p:cNvPr id="25" name="b3:fade"/>
          <p:cNvSpPr txBox="1"/>
          <p:nvPr/>
        </p:nvSpPr>
        <p:spPr>
          <a:xfrm>
            <a:off x="4724400" y="2011635"/>
            <a:ext cx="2773680" cy="371475"/>
          </a:xfrm>
          <a:prstGeom prst="rect">
            <a:avLst/>
          </a:prstGeom>
          <a:noFill/>
          <a:ln/>
        </p:spPr>
        <p:txBody>
          <a:bodyPr wrap="square" lIns="0" tIns="0" rIns="0" bIns="0" rtlCol="0" anchor="t"/>
          <a:lstStyle/>
          <a:p>
            <a:pPr algn="l" indent="0" marL="0">
              <a:lnSpc>
                <a:spcPts val="1463"/>
              </a:lnSpc>
              <a:buNone/>
            </a:pPr>
            <a:r>
              <a:rPr lang="en-US" sz="975" dirty="0">
                <a:solidFill>
                  <a:srgbClr val="4A5568"/>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a:t>
            </a:r>
            <a:pPr algn="l" indent="0" marL="0">
              <a:lnSpc>
                <a:spcPts val="1463"/>
              </a:lnSpc>
              <a:buNone/>
            </a:pPr>
            <a:r>
              <a:rPr lang="en-US" sz="975" b="1" dirty="0">
                <a:solidFill>
                  <a:srgbClr val="2E8B86"/>
                </a:solidFill>
                <a:latin typeface="Prompt" pitchFamily="34" charset="0"/>
                <a:ea typeface="Prompt" pitchFamily="34" charset="-122"/>
                <a:cs typeface="Prompt" pitchFamily="34" charset="-120"/>
              </a:rPr>
              <a:t>ไม่สม่ำเสมอและมองเห็นได้ยาก</a:t>
            </a:r>
            <a:endParaRPr lang="en-US" sz="975" dirty="0"/>
          </a:p>
        </p:txBody>
      </p:sp>
      <p:pic>
        <p:nvPicPr>
          <p:cNvPr id="26" name="b3:pop (มาสคอตหุ่นยนต์ถือแว่นขยาย)"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none" lIns="0" tIns="0" rIns="0" bIns="0" rtlCol="0" anchor="ctr"/>
          <a:lstStyle/>
          <a:p>
            <a:pPr algn="r" indent="0" marL="0">
              <a:lnSpc>
                <a:spcPts val="1260"/>
              </a:lnSpc>
              <a:buNone/>
            </a:pPr>
            <a:r>
              <a:rPr lang="en-US" sz="900" b="1" dirty="0">
                <a:solidFill>
                  <a:srgbClr val="6B7280"/>
                </a:solidFill>
                <a:latin typeface="Prompt" pitchFamily="34" charset="0"/>
                <a:ea typeface="Prompt" pitchFamily="34" charset="-122"/>
                <a:cs typeface="Prompt" pitchFamily="34" charset="-120"/>
              </a:rPr>
              <a:t>ภายนอกพรมแดน: AI ทำได้ไม่ดี</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เส้นหยักแบ่งงานที่ AI ทำได้ดีกับงานที่ทำได้ไม่ดี)" descr="/home/user/slide-present-en/presentation/webdeck/art/frontier.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none" lIns="0" tIns="0" rIns="0" bIns="0" rtlCol="0" anchor="ctr"/>
          <a:lstStyle/>
          <a:p>
            <a:pPr algn="l" indent="0" marL="0">
              <a:lnSpc>
                <a:spcPts val="1260"/>
              </a:lnSpc>
              <a:buNone/>
            </a:pPr>
            <a:r>
              <a:rPr lang="en-US" sz="900" b="1" dirty="0">
                <a:solidFill>
                  <a:srgbClr val="2E8B86"/>
                </a:solidFill>
                <a:latin typeface="Prompt" pitchFamily="34" charset="0"/>
                <a:ea typeface="Prompt" pitchFamily="34" charset="-122"/>
                <a:cs typeface="Prompt" pitchFamily="34" charset="-120"/>
              </a:rPr>
              <a:t>ภายในพรมแดน: AI ทำได้ดี</a:t>
            </a:r>
            <a:endParaRPr lang="en-US" sz="900" dirty="0"/>
          </a:p>
        </p:txBody>
      </p:sp>
      <p:sp>
        <p:nvSpPr>
          <p:cNvPr id="32" name="b4:rise"/>
          <p:cNvSpPr txBox="1"/>
          <p:nvPr/>
        </p:nvSpPr>
        <p:spPr>
          <a:xfrm>
            <a:off x="4724400" y="4110930"/>
            <a:ext cx="39624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วิธีอ่านแผนภาพ: แต่ละจุดคืองานที่ดูยากพอๆ กัน ใต้เส้น (พื้นที่ระบายสี) คืองานที่ AI ทำได้ดี เหนือเส้นคืองานที่ AI ทำได้ไม่ดี</a:t>
            </a:r>
            <a:endParaRPr lang="en-US" sz="900" dirty="0"/>
          </a:p>
        </p:txBody>
      </p:sp>
      <p:sp>
        <p:nvSpPr>
          <p:cNvPr id="33"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4" name="b5: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เมื่อ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ที่ปรึกษา 758 คน </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 จริง เกิดอะไรขึ้น? →</a:t>
            </a:r>
            <a:endParaRPr lang="en-US" sz="900" dirty="0"/>
          </a:p>
        </p:txBody>
      </p:sp>
      <p:sp>
        <p:nvSpPr>
          <p:cNvPr id="35" name="!!key1-th-34 static"/>
          <p:cNvSpPr/>
          <p:nvPr/>
        </p:nvSpPr>
        <p:spPr>
          <a:xfrm>
            <a:off x="7048500" y="342900"/>
            <a:ext cx="1485900" cy="255240"/>
          </a:xfrm>
          <a:prstGeom prst="roundRect">
            <a:avLst>
              <a:gd name="adj" fmla="val 50000"/>
            </a:avLst>
          </a:prstGeom>
          <a:solidFill>
            <a:srgbClr val="2E8B86"/>
          </a:solidFill>
          <a:ln/>
        </p:spPr>
      </p:sp>
      <p:sp>
        <p:nvSpPr>
          <p:cNvPr id="36" name="!!key1-th-35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
        <p:nvSpPr>
          <p:cNvPr id="37" name="!!key2-th-36 b6:pop"/>
          <p:cNvSpPr/>
          <p:nvPr/>
        </p:nvSpPr>
        <p:spPr>
          <a:xfrm>
            <a:off x="7048500" y="4572000"/>
            <a:ext cx="1485900" cy="255240"/>
          </a:xfrm>
          <a:prstGeom prst="roundRect">
            <a:avLst>
              <a:gd name="adj" fmla="val 50000"/>
            </a:avLst>
          </a:prstGeom>
          <a:solidFill>
            <a:srgbClr val="2E8B86"/>
          </a:solidFill>
          <a:ln/>
        </p:spPr>
      </p:sp>
      <p:sp>
        <p:nvSpPr>
          <p:cNvPr id="38" name="!!key2-th-37 b6: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ผลการศึกษาที่สำคัญ</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ช่วยเพิ่มประสิทธิภาพ แต่มีข้อจำกัด</a:t>
            </a:r>
            <a:endParaRPr lang="en-US" sz="2400" dirty="0"/>
          </a:p>
        </p:txBody>
      </p:sp>
      <p:sp>
        <p:nvSpPr>
          <p:cNvPr id="4" name="b1:fade"/>
          <p:cNvSpPr/>
          <p:nvPr/>
        </p:nvSpPr>
        <p:spPr>
          <a:xfrm>
            <a:off x="609600" y="1381125"/>
            <a:ext cx="952500" cy="236190"/>
          </a:xfrm>
          <a:prstGeom prst="roundRect">
            <a:avLst>
              <a:gd name="adj" fmla="val 50000"/>
            </a:avLst>
          </a:prstGeom>
          <a:solidFill>
            <a:srgbClr val="BFE6E0"/>
          </a:solidFill>
          <a:ln/>
        </p:spPr>
      </p:sp>
      <p:sp>
        <p:nvSpPr>
          <p:cNvPr id="5" name="b1:fade"/>
          <p:cNvSpPr txBox="1"/>
          <p:nvPr/>
        </p:nvSpPr>
        <p:spPr>
          <a:xfrm>
            <a:off x="609600" y="138112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fade"/>
          <p:cNvSpPr txBox="1"/>
          <p:nvPr/>
        </p:nvSpPr>
        <p:spPr>
          <a:xfrm>
            <a:off x="609600" y="1683990"/>
            <a:ext cx="4191000" cy="159990"/>
          </a:xfrm>
          <a:prstGeom prst="rect">
            <a:avLst/>
          </a:prstGeom>
          <a:noFill/>
          <a:ln/>
        </p:spPr>
        <p:txBody>
          <a:bodyPr wrap="none" lIns="0" tIns="0" rIns="0" bIns="0" rtlCol="0" anchor="ctr"/>
          <a:lstStyle/>
          <a:p>
            <a:pPr algn="l" indent="0" marL="0">
              <a:lnSpc>
                <a:spcPts val="1260"/>
              </a:lnSpc>
              <a:buNone/>
            </a:pPr>
            <a:r>
              <a:rPr lang="en-US" sz="1050" b="1" dirty="0">
                <a:solidFill>
                  <a:srgbClr val="4A5568"/>
                </a:solidFill>
                <a:latin typeface="Prompt" pitchFamily="34" charset="0"/>
                <a:ea typeface="Prompt" pitchFamily="34" charset="-122"/>
                <a:cs typeface="Prompt" pitchFamily="34" charset="-120"/>
              </a:rPr>
              <a:t>การเปลี่ยนแปลงของที่ปรึกษาที่ใช้ AI ใน</a:t>
            </a:r>
            <a:pPr algn="l" indent="0" marL="0">
              <a:lnSpc>
                <a:spcPts val="1260"/>
              </a:lnSpc>
              <a:buNone/>
            </a:pPr>
            <a:r>
              <a:rPr lang="en-US" sz="1050" b="1" dirty="0">
                <a:solidFill>
                  <a:srgbClr val="2E8B86"/>
                </a:solidFill>
                <a:latin typeface="Prompt" pitchFamily="34" charset="0"/>
                <a:ea typeface="Prompt" pitchFamily="34" charset="-122"/>
                <a:cs typeface="Prompt" pitchFamily="34" charset="-120"/>
              </a:rPr>
              <a:t>งานภายในพรมแดน</a:t>
            </a:r>
            <a:endParaRPr lang="en-US" sz="1050" dirty="0"/>
          </a:p>
        </p:txBody>
      </p:sp>
      <p:sp>
        <p:nvSpPr>
          <p:cNvPr id="7" name="b2:left"/>
          <p:cNvSpPr txBox="1"/>
          <p:nvPr/>
        </p:nvSpPr>
        <p:spPr>
          <a:xfrm>
            <a:off x="609600" y="19202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งานที่ทำเสร็จ</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46025"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ความเร็ว</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4535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คุณภาพ</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718989"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มากกว่า +40%</a:t>
            </a:r>
            <a:endParaRPr lang="en-US" sz="900" dirty="0"/>
          </a:p>
        </p:txBody>
      </p:sp>
      <p:sp>
        <p:nvSpPr>
          <p:cNvPr id="16" name="b5:left"/>
          <p:cNvSpPr txBox="1"/>
          <p:nvPr/>
        </p:nvSpPr>
        <p:spPr>
          <a:xfrm>
            <a:off x="609600" y="274893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กลุ่มต่ำกว่าค่าเฉลี่ย</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28463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กลุ่มสูงกว่าค่าเฉลี่ย</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53901"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+17%</a:t>
            </a:r>
            <a:endParaRPr lang="en-US" sz="900" dirty="0"/>
          </a:p>
        </p:txBody>
      </p:sp>
      <p:sp>
        <p:nvSpPr>
          <p:cNvPr id="22" name="b6:fade"/>
          <p:cNvSpPr txBox="1"/>
          <p:nvPr/>
        </p:nvSpPr>
        <p:spPr>
          <a:xfrm>
            <a:off x="609600" y="3333750"/>
            <a:ext cx="4259580" cy="331440"/>
          </a:xfrm>
          <a:prstGeom prst="rect">
            <a:avLst/>
          </a:prstGeom>
          <a:noFill/>
          <a:ln/>
        </p:spPr>
        <p:txBody>
          <a:bodyPr wrap="square" lIns="0" tIns="0" rIns="0" bIns="0" rtlCol="0" anchor="t"/>
          <a:lstStyle/>
          <a:p>
            <a:pPr algn="l" indent="0" marL="0">
              <a:lnSpc>
                <a:spcPts val="1305"/>
              </a:lnSpc>
              <a:buNone/>
            </a:pPr>
            <a:r>
              <a:rPr lang="en-US" sz="900" dirty="0">
                <a:solidFill>
                  <a:srgbClr val="9AA5B4"/>
                </a:solidFill>
                <a:latin typeface="Prompt" pitchFamily="34" charset="0"/>
                <a:ea typeface="Prompt" pitchFamily="34" charset="-122"/>
                <a:cs typeface="Prompt" pitchFamily="34" charset="-120"/>
              </a:rPr>
              <a:t>คุณภาพรายงานว่า "มากกว่า 40%" เทียบกลุ่มควบคุม ส่วนกลุ่มต่ำ/สูงกว่าค่าเฉลี่ยคือการพัฒนาเทียบคะแนนเดิมของกลุ่มนั้นเอง</a:t>
            </a:r>
            <a:endParaRPr lang="en-US" sz="900" dirty="0"/>
          </a:p>
        </p:txBody>
      </p:sp>
      <p:sp>
        <p:nvSpPr>
          <p:cNvPr id="23" name="b7:pop"/>
          <p:cNvSpPr/>
          <p:nvPr/>
        </p:nvSpPr>
        <p:spPr>
          <a:xfrm>
            <a:off x="5200650" y="1381125"/>
            <a:ext cx="3333750" cy="1723951"/>
          </a:xfrm>
          <a:prstGeom prst="roundRect">
            <a:avLst>
              <a:gd name="adj" fmla="val 6630"/>
            </a:avLst>
          </a:prstGeom>
          <a:solidFill>
            <a:srgbClr val="1B2A4A"/>
          </a:solidFill>
          <a:ln/>
        </p:spPr>
      </p:sp>
      <p:sp>
        <p:nvSpPr>
          <p:cNvPr id="24" name="b7:pop"/>
          <p:cNvSpPr txBox="1"/>
          <p:nvPr/>
        </p:nvSpPr>
        <p:spPr>
          <a:xfrm>
            <a:off x="5410200" y="1571625"/>
            <a:ext cx="291465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งานภายนอกพรมแดน</a:t>
            </a:r>
            <a:endParaRPr lang="en-US" sz="900" dirty="0"/>
          </a:p>
        </p:txBody>
      </p:sp>
      <p:sp>
        <p:nvSpPr>
          <p:cNvPr id="25" name="b7:pop"/>
          <p:cNvSpPr txBox="1"/>
          <p:nvPr/>
        </p:nvSpPr>
        <p:spPr>
          <a:xfrm>
            <a:off x="5410200" y="1760190"/>
            <a:ext cx="2914650" cy="523875"/>
          </a:xfrm>
          <a:prstGeom prst="rect">
            <a:avLst/>
          </a:prstGeom>
          <a:noFill/>
          <a:ln/>
        </p:spPr>
        <p:txBody>
          <a:bodyPr wrap="non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none" lIns="0" tIns="0" rIns="0" bIns="0" rtlCol="0" anchor="ctr"/>
          <a:lstStyle/>
          <a:p>
            <a:pPr algn="l" indent="0" marL="0">
              <a:lnSpc>
                <a:spcPts val="1365"/>
              </a:lnSpc>
              <a:buNone/>
            </a:pPr>
            <a:r>
              <a:rPr lang="en-US" sz="975" dirty="0">
                <a:solidFill>
                  <a:srgbClr val="BFE6E0"/>
                </a:solidFill>
                <a:latin typeface="Prompt" pitchFamily="34" charset="0"/>
                <a:ea typeface="Prompt" pitchFamily="34" charset="-122"/>
                <a:cs typeface="Prompt" pitchFamily="34" charset="-120"/>
              </a:rPr>
              <a:t>จุดร้อยละ (percentage points)</a:t>
            </a:r>
            <a:endParaRPr lang="en-US" sz="975" dirty="0"/>
          </a:p>
        </p:txBody>
      </p:sp>
      <p:sp>
        <p:nvSpPr>
          <p:cNvPr id="27" name="b7:pop"/>
          <p:cNvSpPr txBox="1"/>
          <p:nvPr/>
        </p:nvSpPr>
        <p:spPr>
          <a:xfrm>
            <a:off x="5410200" y="2514526"/>
            <a:ext cx="2971800" cy="400050"/>
          </a:xfrm>
          <a:prstGeom prst="rect">
            <a:avLst/>
          </a:prstGeom>
          <a:noFill/>
          <a:ln/>
        </p:spPr>
        <p:txBody>
          <a:bodyPr wrap="square" lIns="0" tIns="57150" rIns="0" bIns="0" rtlCol="0" anchor="t"/>
          <a:lstStyle/>
          <a:p>
            <a:pPr algn="l" indent="0" marL="0">
              <a:lnSpc>
                <a:spcPts val="1350"/>
              </a:lnSpc>
              <a:buNone/>
            </a:pPr>
            <a:r>
              <a:rPr lang="en-US" sz="900" dirty="0">
                <a:solidFill>
                  <a:srgbClr val="F7F9FB"/>
                </a:solidFill>
                <a:latin typeface="Prompt" pitchFamily="34" charset="0"/>
                <a:ea typeface="Prompt" pitchFamily="34" charset="-122"/>
                <a:cs typeface="Prompt" pitchFamily="34" charset="-120"/>
              </a:rPr>
              <a:t>ผู้ใช้ AI มีโอกาสได้คำตอบที่ถูกต้องน้อยกว่าผู้ไม่ใช้ AI อยู่ </a:t>
            </a:r>
            <a:pPr algn="l" indent="0" marL="0">
              <a:lnSpc>
                <a:spcPts val="1350"/>
              </a:lnSpc>
              <a:buNone/>
            </a:pPr>
            <a:r>
              <a:rPr lang="en-US" sz="900" b="1" dirty="0">
                <a:solidFill>
                  <a:srgbClr val="BFE6E0"/>
                </a:solidFill>
                <a:latin typeface="Prompt" pitchFamily="34" charset="0"/>
                <a:ea typeface="Prompt" pitchFamily="34" charset="-122"/>
                <a:cs typeface="Prompt" pitchFamily="34" charset="-120"/>
              </a:rPr>
              <a:t>19 จุดร้อยละ</a:t>
            </a:r>
            <a:endParaRPr lang="en-US" sz="900" dirty="0"/>
          </a:p>
        </p:txBody>
      </p:sp>
      <p:pic>
        <p:nvPicPr>
          <p:cNvPr id="28" name="b7:pop (มาสคอตหุ่นยนต์ทำหน้างง)"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671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32" name="b9:rise (คนกับหุ่นยนต์อยู่เคียงกัน)"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434977"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Centaurs (เซนทอร์)</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แบ่งงานระหว่างคนกับ AI</a:t>
            </a:r>
            <a:endParaRPr lang="en-US" sz="975" dirty="0"/>
          </a:p>
        </p:txBody>
      </p:sp>
      <p:pic>
        <p:nvPicPr>
          <p:cNvPr id="34" name="b9:rise (ใบหน้าครึ่งคนครึ่งหุ่นยนต์)"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554932"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Cyborgs (ไซบอร์ก)</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ผสาน AI เข้าไปในทุกขั้นตอน</a:t>
            </a:r>
            <a:endParaRPr lang="en-US" sz="975" dirty="0"/>
          </a:p>
        </p:txBody>
      </p:sp>
      <p:sp>
        <p:nvSpPr>
          <p:cNvPr id="36"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ผลแบบนี้จะเป็นจริงกับ</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ธุรกิจขนาดเล็กจริง</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หรือไม่? →</a:t>
            </a:r>
            <a:endParaRPr lang="en-US" sz="900" dirty="0"/>
          </a:p>
        </p:txBody>
      </p:sp>
      <p:sp>
        <p:nvSpPr>
          <p:cNvPr id="38" name="!!key2-th-37 static"/>
          <p:cNvSpPr/>
          <p:nvPr/>
        </p:nvSpPr>
        <p:spPr>
          <a:xfrm>
            <a:off x="7048500" y="342900"/>
            <a:ext cx="1485900" cy="255240"/>
          </a:xfrm>
          <a:prstGeom prst="roundRect">
            <a:avLst>
              <a:gd name="adj" fmla="val 50000"/>
            </a:avLst>
          </a:prstGeom>
          <a:solidFill>
            <a:srgbClr val="2E8B86"/>
          </a:solidFill>
          <a:ln/>
        </p:spPr>
      </p:sp>
      <p:sp>
        <p:nvSpPr>
          <p:cNvPr id="39" name="!!key2-th-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
        <p:nvSpPr>
          <p:cNvPr id="40" name="!!key3-th-39 b11:pop"/>
          <p:cNvSpPr/>
          <p:nvPr/>
        </p:nvSpPr>
        <p:spPr>
          <a:xfrm>
            <a:off x="7048500" y="4572000"/>
            <a:ext cx="1485900" cy="255240"/>
          </a:xfrm>
          <a:prstGeom prst="roundRect">
            <a:avLst>
              <a:gd name="adj" fmla="val 50000"/>
            </a:avLst>
          </a:prstGeom>
          <a:solidFill>
            <a:srgbClr val="2E8B86"/>
          </a:solidFill>
          <a:ln/>
        </p:spPr>
      </p:sp>
      <p:sp>
        <p:nvSpPr>
          <p:cNvPr id="41" name="!!key3-th-40 b11: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5 · วัตถุประสงค์และผลการศึกษา</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ผลกระทบของ AI ต่อผู้ประกอบการที่แตกต่างกัน</a:t>
            </a:r>
            <a:endParaRPr lang="en-US" sz="240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บริบท</a:t>
            </a:r>
            <a:endParaRPr lang="en-US" sz="1050" dirty="0"/>
          </a:p>
        </p:txBody>
      </p:sp>
      <p:sp>
        <p:nvSpPr>
          <p:cNvPr id="7" name="b1:rise"/>
          <p:cNvSpPr txBox="1"/>
          <p:nvPr/>
        </p:nvSpPr>
        <p:spPr>
          <a:xfrm>
            <a:off x="1066800" y="164923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938" dirty="0"/>
          </a:p>
        </p:txBody>
      </p:sp>
      <p:sp>
        <p:nvSpPr>
          <p:cNvPr id="8" name="b1:rise"/>
          <p:cNvSpPr/>
          <p:nvPr/>
        </p:nvSpPr>
        <p:spPr>
          <a:xfrm>
            <a:off x="609600" y="1924050"/>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09775"/>
            <a:ext cx="171450" cy="171450"/>
          </a:xfrm>
          <a:prstGeom prst="rect">
            <a:avLst/>
          </a:prstGeom>
        </p:spPr>
      </p:pic>
      <p:sp>
        <p:nvSpPr>
          <p:cNvPr id="10" name="b1:rise"/>
          <p:cNvSpPr txBox="1"/>
          <p:nvPr/>
        </p:nvSpPr>
        <p:spPr>
          <a:xfrm>
            <a:off x="1066800" y="1927399"/>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สิ่งที่ทดลอง</a:t>
            </a:r>
            <a:endParaRPr lang="en-US" sz="1050" dirty="0"/>
          </a:p>
        </p:txBody>
      </p:sp>
      <p:sp>
        <p:nvSpPr>
          <p:cNvPr id="11" name="b1:rise"/>
          <p:cNvSpPr txBox="1"/>
          <p:nvPr/>
        </p:nvSpPr>
        <p:spPr>
          <a:xfrm>
            <a:off x="1066800" y="2096914"/>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938" dirty="0"/>
          </a:p>
        </p:txBody>
      </p:sp>
      <p:sp>
        <p:nvSpPr>
          <p:cNvPr id="12" name="b1:rise"/>
          <p:cNvSpPr/>
          <p:nvPr/>
        </p:nvSpPr>
        <p:spPr>
          <a:xfrm>
            <a:off x="609600" y="237172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457450"/>
            <a:ext cx="171450" cy="171450"/>
          </a:xfrm>
          <a:prstGeom prst="rect">
            <a:avLst/>
          </a:prstGeom>
        </p:spPr>
      </p:pic>
      <p:sp>
        <p:nvSpPr>
          <p:cNvPr id="14" name="b1:rise"/>
          <p:cNvSpPr txBox="1"/>
          <p:nvPr/>
        </p:nvSpPr>
        <p:spPr>
          <a:xfrm>
            <a:off x="1066800" y="237507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ตัวแปรผลลัพธ์</a:t>
            </a:r>
            <a:endParaRPr lang="en-US" sz="1050" dirty="0"/>
          </a:p>
        </p:txBody>
      </p:sp>
      <p:sp>
        <p:nvSpPr>
          <p:cNvPr id="15" name="b1:rise"/>
          <p:cNvSpPr txBox="1"/>
          <p:nvPr/>
        </p:nvSpPr>
        <p:spPr>
          <a:xfrm>
            <a:off x="1066800" y="254458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รายได้และกำไร</a:t>
            </a:r>
            <a:endParaRPr lang="en-US" sz="938" dirty="0"/>
          </a:p>
        </p:txBody>
      </p:sp>
      <p:sp>
        <p:nvSpPr>
          <p:cNvPr id="16" name="b2:pop"/>
          <p:cNvSpPr/>
          <p:nvPr/>
        </p:nvSpPr>
        <p:spPr>
          <a:xfrm>
            <a:off x="609600" y="3048000"/>
            <a:ext cx="3619500" cy="1351062"/>
          </a:xfrm>
          <a:prstGeom prst="roundRect">
            <a:avLst>
              <a:gd name="adj" fmla="val 8460"/>
            </a:avLst>
          </a:prstGeom>
          <a:solidFill>
            <a:srgbClr val="1B2A4A"/>
          </a:solidFill>
          <a:ln/>
        </p:spPr>
      </p:sp>
      <p:sp>
        <p:nvSpPr>
          <p:cNvPr id="17" name="b2:pop"/>
          <p:cNvSpPr/>
          <p:nvPr/>
        </p:nvSpPr>
        <p:spPr>
          <a:xfrm>
            <a:off x="800100" y="3219450"/>
            <a:ext cx="952500" cy="217140"/>
          </a:xfrm>
          <a:prstGeom prst="roundRect">
            <a:avLst>
              <a:gd name="adj" fmla="val 50000"/>
            </a:avLst>
          </a:prstGeom>
          <a:solidFill>
            <a:srgbClr val="BFE6E0"/>
          </a:solidFill>
          <a:ln/>
        </p:spPr>
      </p:sp>
      <p:sp>
        <p:nvSpPr>
          <p:cNvPr id="18" name="b2:pop"/>
          <p:cNvSpPr txBox="1"/>
          <p:nvPr/>
        </p:nvSpPr>
        <p:spPr>
          <a:xfrm>
            <a:off x="800100" y="3219450"/>
            <a:ext cx="952500"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19" name="b2:pop"/>
          <p:cNvSpPr txBox="1"/>
          <p:nvPr/>
        </p:nvSpPr>
        <p:spPr>
          <a:xfrm>
            <a:off x="800100" y="3484215"/>
            <a:ext cx="3238500" cy="159990"/>
          </a:xfrm>
          <a:prstGeom prst="rect">
            <a:avLst/>
          </a:prstGeom>
          <a:noFill/>
          <a:ln/>
        </p:spPr>
        <p:txBody>
          <a:bodyPr wrap="none" lIns="0" tIns="0" rIns="0" bIns="0" rtlCol="0" anchor="ctr"/>
          <a:lstStyle/>
          <a:p>
            <a:pPr algn="l" indent="0" marL="0">
              <a:lnSpc>
                <a:spcPts val="1260"/>
              </a:lnSpc>
              <a:buNone/>
            </a:pPr>
            <a:r>
              <a:rPr lang="en-US" sz="1050" b="1" dirty="0">
                <a:solidFill>
                  <a:srgbClr val="BFE6E0"/>
                </a:solidFill>
                <a:latin typeface="Prompt" pitchFamily="34" charset="0"/>
                <a:ea typeface="Prompt" pitchFamily="34" charset="-122"/>
                <a:cs typeface="Prompt" pitchFamily="34" charset="-120"/>
              </a:rPr>
              <a:t>ผลโดยเฉลี่ย</a:t>
            </a:r>
            <a:endParaRPr lang="en-US" sz="1050" dirty="0"/>
          </a:p>
        </p:txBody>
      </p:sp>
      <p:sp>
        <p:nvSpPr>
          <p:cNvPr id="20" name="b2:pop"/>
          <p:cNvSpPr txBox="1"/>
          <p:nvPr/>
        </p:nvSpPr>
        <p:spPr>
          <a:xfrm>
            <a:off x="800100" y="3691830"/>
            <a:ext cx="2278380" cy="535781"/>
          </a:xfrm>
          <a:prstGeom prst="rect">
            <a:avLst/>
          </a:prstGeom>
          <a:noFill/>
          <a:ln/>
        </p:spPr>
        <p:txBody>
          <a:bodyPr wrap="square" lIns="0" tIns="0" rIns="0" bIns="0" rtlCol="0" anchor="t"/>
          <a:lstStyle/>
          <a:p>
            <a:pPr algn="l" indent="0" marL="0">
              <a:lnSpc>
                <a:spcPts val="1406"/>
              </a:lnSpc>
              <a:buNone/>
            </a:pPr>
            <a:r>
              <a:rPr lang="en-US" sz="938" dirty="0">
                <a:solidFill>
                  <a:srgbClr val="F7F9FB"/>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938" dirty="0"/>
          </a:p>
        </p:txBody>
      </p:sp>
      <p:pic>
        <p:nvPicPr>
          <p:cNvPr id="21" name="b2:pop (มาสคอตหุ่นยนต์ถือโทรศัพท์)"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952500" cy="236190"/>
          </a:xfrm>
          <a:prstGeom prst="roundRect">
            <a:avLst>
              <a:gd name="adj" fmla="val 50000"/>
            </a:avLst>
          </a:prstGeom>
          <a:solidFill>
            <a:srgbClr val="BFE6E0"/>
          </a:solidFill>
          <a:ln/>
        </p:spPr>
      </p:sp>
      <p:sp>
        <p:nvSpPr>
          <p:cNvPr id="23" name="b3:fade"/>
          <p:cNvSpPr txBox="1"/>
          <p:nvPr/>
        </p:nvSpPr>
        <p:spPr>
          <a:xfrm>
            <a:off x="4838700" y="147637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24" name="b3:fade"/>
          <p:cNvSpPr txBox="1"/>
          <p:nvPr/>
        </p:nvSpPr>
        <p:spPr>
          <a:xfrm>
            <a:off x="4838700" y="1788765"/>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rompt" pitchFamily="34" charset="0"/>
                <a:ea typeface="Prompt" pitchFamily="34" charset="-122"/>
                <a:cs typeface="Prompt" pitchFamily="34" charset="-120"/>
              </a:rPr>
              <a:t>แยกตามผลงานตั้งต้น</a:t>
            </a:r>
            <a:endParaRPr lang="en-US" sz="1275" dirty="0"/>
          </a:p>
        </p:txBody>
      </p:sp>
      <p:pic>
        <p:nvPicPr>
          <p:cNvPr id="25" name="b3:pop (ผู้ประกอบการถือโทรศัพท์)"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กลุ่มผลงานต่ำ</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6B7280"/>
                </a:solidFill>
                <a:latin typeface="Prompt" pitchFamily="34" charset="0"/>
                <a:ea typeface="Prompt" pitchFamily="34" charset="-122"/>
                <a:cs typeface="Prompt" pitchFamily="34" charset="-120"/>
              </a:rPr>
              <a:t>แย่ลงเกือบ 10%</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กลุ่มผลงานสูง</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อาจได้ประโยชน์มากกว่า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ความยาวแท่งเป็นเพียงภาพประกอบ</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511153"/>
            <a:ext cx="152400" cy="152400"/>
          </a:xfrm>
          <a:prstGeom prst="rect">
            <a:avLst/>
          </a:prstGeom>
        </p:spPr>
      </p:pic>
      <p:sp>
        <p:nvSpPr>
          <p:cNvPr id="33" name="b6:rise"/>
          <p:cNvSpPr txBox="1"/>
          <p:nvPr/>
        </p:nvSpPr>
        <p:spPr>
          <a:xfrm>
            <a:off x="5067300" y="3414713"/>
            <a:ext cx="3605784" cy="345281"/>
          </a:xfrm>
          <a:prstGeom prst="rect">
            <a:avLst/>
          </a:prstGeom>
          <a:noFill/>
          <a:ln/>
        </p:spPr>
        <p:txBody>
          <a:bodyPr wrap="square" lIns="0" tIns="0" rIns="0" bIns="0" rtlCol="0" anchor="t"/>
          <a:lstStyle/>
          <a:p>
            <a:pPr algn="l" indent="0" marL="0">
              <a:lnSpc>
                <a:spcPts val="1359"/>
              </a:lnSpc>
              <a:buNone/>
            </a:pPr>
            <a:r>
              <a:rPr lang="en-US" sz="938" dirty="0">
                <a:solidFill>
                  <a:srgbClr val="1B2A4A"/>
                </a:solidFill>
                <a:latin typeface="Prompt" pitchFamily="34" charset="0"/>
                <a:ea typeface="Prompt" pitchFamily="34" charset="-122"/>
                <a:cs typeface="Prompt" pitchFamily="34" charset="-120"/>
              </a:rPr>
              <a:t>คำถามและคำแนะนำใกล้เคียงกัน ความต่างอยู่ที่</a:t>
            </a:r>
            <a:pPr algn="l" indent="0" marL="0">
              <a:lnSpc>
                <a:spcPts val="1359"/>
              </a:lnSpc>
              <a:buNone/>
            </a:pPr>
            <a:r>
              <a:rPr lang="en-US" sz="938" b="1" dirty="0">
                <a:solidFill>
                  <a:srgbClr val="2E8B86"/>
                </a:solidFill>
                <a:latin typeface="Prompt" pitchFamily="34" charset="0"/>
                <a:ea typeface="Prompt" pitchFamily="34" charset="-122"/>
                <a:cs typeface="Prompt" pitchFamily="34" charset="-120"/>
              </a:rPr>
              <a:t>คำแนะนำที่ผู้ประกอบการเลือกนำไปปฏิบัติ</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42159"/>
            <a:ext cx="152400" cy="152400"/>
          </a:xfrm>
          <a:prstGeom prst="rect">
            <a:avLst/>
          </a:prstGeom>
        </p:spPr>
      </p:pic>
      <p:sp>
        <p:nvSpPr>
          <p:cNvPr id="35" name="b6:rise"/>
          <p:cNvSpPr txBox="1"/>
          <p:nvPr/>
        </p:nvSpPr>
        <p:spPr>
          <a:xfrm>
            <a:off x="5067300" y="3845719"/>
            <a:ext cx="3605784" cy="345281"/>
          </a:xfrm>
          <a:prstGeom prst="rect">
            <a:avLst/>
          </a:prstGeom>
          <a:noFill/>
          <a:ln/>
        </p:spPr>
        <p:txBody>
          <a:bodyPr wrap="square" lIns="0" tIns="0" rIns="0" bIns="0" rtlCol="0" anchor="t"/>
          <a:lstStyle/>
          <a:p>
            <a:pPr algn="l" indent="0" marL="0">
              <a:lnSpc>
                <a:spcPts val="1359"/>
              </a:lnSpc>
              <a:buNone/>
            </a:pPr>
            <a:r>
              <a:rPr lang="en-US" sz="938" dirty="0">
                <a:solidFill>
                  <a:srgbClr val="4A5568"/>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38" dirty="0"/>
          </a:p>
        </p:txBody>
      </p:sp>
      <p:sp>
        <p:nvSpPr>
          <p:cNvPr id="36" name="static"/>
          <p:cNvSpPr txBox="1"/>
          <p:nvPr/>
        </p:nvSpPr>
        <p:spPr>
          <a:xfrm>
            <a:off x="609600" y="4827315"/>
            <a:ext cx="47625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Otis et al. (2026). Management Science, 72(7). doi.org/10.1287/mnsc.2024.06909</a:t>
            </a:r>
            <a:endParaRPr lang="en-US" sz="900" dirty="0"/>
          </a:p>
        </p:txBody>
      </p:sp>
      <p:sp>
        <p:nvSpPr>
          <p:cNvPr id="37" name="b7:fade"/>
          <p:cNvSpPr txBox="1"/>
          <p:nvPr/>
        </p:nvSpPr>
        <p:spPr>
          <a:xfrm>
            <a:off x="4043288"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สองงานวิจัย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บทเรียนเดียว</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a:t>
            </a:r>
            <a:endParaRPr lang="en-US" sz="900" dirty="0"/>
          </a:p>
        </p:txBody>
      </p:sp>
      <p:sp>
        <p:nvSpPr>
          <p:cNvPr id="38" name="!!key3-th-37 static"/>
          <p:cNvSpPr/>
          <p:nvPr/>
        </p:nvSpPr>
        <p:spPr>
          <a:xfrm>
            <a:off x="7048500" y="342900"/>
            <a:ext cx="1485900" cy="255240"/>
          </a:xfrm>
          <a:prstGeom prst="roundRect">
            <a:avLst>
              <a:gd name="adj" fmla="val 50000"/>
            </a:avLst>
          </a:prstGeom>
          <a:solidFill>
            <a:srgbClr val="2E8B86"/>
          </a:solidFill>
          <a:ln/>
        </p:spPr>
      </p:sp>
      <p:sp>
        <p:nvSpPr>
          <p:cNvPr id="39" name="!!key3-th-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
        <p:nvSpPr>
          <p:cNvPr id="40" name="!!key4-th-39 b8:pop"/>
          <p:cNvSpPr/>
          <p:nvPr/>
        </p:nvSpPr>
        <p:spPr>
          <a:xfrm>
            <a:off x="7048500" y="4572000"/>
            <a:ext cx="1485900" cy="255240"/>
          </a:xfrm>
          <a:prstGeom prst="roundRect">
            <a:avLst>
              <a:gd name="adj" fmla="val 50000"/>
            </a:avLst>
          </a:prstGeom>
          <a:solidFill>
            <a:srgbClr val="2E8B86"/>
          </a:solidFill>
          <a:ln/>
        </p:spPr>
      </p:sp>
      <p:sp>
        <p:nvSpPr>
          <p:cNvPr id="41" name="!!key4-th-40 b8: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อภิปรายผลและเปรียบเทียบ</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เป็นเครื่องมือ ไม่ใช่หลักประกันความสำเร็จ</a:t>
            </a:r>
            <a:endParaRPr lang="en-US" sz="2400" dirty="0"/>
          </a:p>
        </p:txBody>
      </p:sp>
      <p:sp>
        <p:nvSpPr>
          <p:cNvPr id="4" name="b1:rise"/>
          <p:cNvSpPr/>
          <p:nvPr/>
        </p:nvSpPr>
        <p:spPr>
          <a:xfrm>
            <a:off x="609600" y="1381125"/>
            <a:ext cx="952500" cy="236190"/>
          </a:xfrm>
          <a:prstGeom prst="roundRect">
            <a:avLst>
              <a:gd name="adj" fmla="val 50000"/>
            </a:avLst>
          </a:prstGeom>
          <a:solidFill>
            <a:srgbClr val="BFE6E0"/>
          </a:solidFill>
          <a:ln/>
        </p:spPr>
      </p:sp>
      <p:sp>
        <p:nvSpPr>
          <p:cNvPr id="5" name="b1:rise"/>
          <p:cNvSpPr txBox="1"/>
          <p:nvPr/>
        </p:nvSpPr>
        <p:spPr>
          <a:xfrm>
            <a:off x="609600" y="138112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rise"/>
          <p:cNvSpPr/>
          <p:nvPr/>
        </p:nvSpPr>
        <p:spPr>
          <a:xfrm>
            <a:off x="609600" y="1981646"/>
            <a:ext cx="4763" cy="0"/>
          </a:xfrm>
          <a:prstGeom prst="line">
            <a:avLst/>
          </a:prstGeom>
          <a:noFill/>
          <a:ln w="6350">
            <a:solidFill>
              <a:srgbClr val="D8DEE6"/>
            </a:solidFill>
            <a:prstDash val="solid"/>
          </a:ln>
        </p:spPr>
      </p:sp>
      <p:sp>
        <p:nvSpPr>
          <p:cNvPr id="7" name="b1:rise"/>
          <p:cNvSpPr/>
          <p:nvPr/>
        </p:nvSpPr>
        <p:spPr>
          <a:xfrm>
            <a:off x="2036043" y="1981646"/>
            <a:ext cx="4763" cy="0"/>
          </a:xfrm>
          <a:prstGeom prst="line">
            <a:avLst/>
          </a:prstGeom>
          <a:noFill/>
          <a:ln w="6350">
            <a:solidFill>
              <a:srgbClr val="D8DEE6"/>
            </a:solidFill>
            <a:prstDash val="solid"/>
          </a:ln>
        </p:spPr>
      </p:sp>
      <p:sp>
        <p:nvSpPr>
          <p:cNvPr id="8" name="b1:rise"/>
          <p:cNvSpPr txBox="1"/>
          <p:nvPr/>
        </p:nvSpPr>
        <p:spPr>
          <a:xfrm>
            <a:off x="2036043" y="1674465"/>
            <a:ext cx="3249141" cy="307181"/>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2 · ที่ปรึกษา</a:t>
            </a:r>
            <a:endParaRPr lang="en-US" sz="900" dirty="0"/>
          </a:p>
        </p:txBody>
      </p:sp>
      <p:sp>
        <p:nvSpPr>
          <p:cNvPr id="9" name="b1:rise"/>
          <p:cNvSpPr/>
          <p:nvPr/>
        </p:nvSpPr>
        <p:spPr>
          <a:xfrm>
            <a:off x="5285184" y="1981646"/>
            <a:ext cx="4763" cy="0"/>
          </a:xfrm>
          <a:prstGeom prst="line">
            <a:avLst/>
          </a:prstGeom>
          <a:noFill/>
          <a:ln w="6350">
            <a:solidFill>
              <a:srgbClr val="D8DEE6"/>
            </a:solidFill>
            <a:prstDash val="solid"/>
          </a:ln>
        </p:spPr>
      </p:sp>
      <p:sp>
        <p:nvSpPr>
          <p:cNvPr id="10" name="b1:rise"/>
          <p:cNvSpPr txBox="1"/>
          <p:nvPr/>
        </p:nvSpPr>
        <p:spPr>
          <a:xfrm>
            <a:off x="5285184" y="1674465"/>
            <a:ext cx="3249216" cy="307181"/>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5 · ผู้ประกอบการ</a:t>
            </a:r>
            <a:endParaRPr lang="en-US" sz="900" dirty="0"/>
          </a:p>
        </p:txBody>
      </p:sp>
      <p:sp>
        <p:nvSpPr>
          <p:cNvPr id="11" name="b1:rise"/>
          <p:cNvSpPr/>
          <p:nvPr/>
        </p:nvSpPr>
        <p:spPr>
          <a:xfrm>
            <a:off x="609600" y="2291209"/>
            <a:ext cx="4763" cy="0"/>
          </a:xfrm>
          <a:prstGeom prst="line">
            <a:avLst/>
          </a:prstGeom>
          <a:noFill/>
          <a:ln w="6350">
            <a:solidFill>
              <a:srgbClr val="D8DEE6"/>
            </a:solidFill>
            <a:prstDash val="solid"/>
          </a:ln>
        </p:spPr>
      </p:sp>
      <p:sp>
        <p:nvSpPr>
          <p:cNvPr id="12" name="b1:rise"/>
          <p:cNvSpPr txBox="1"/>
          <p:nvPr/>
        </p:nvSpPr>
        <p:spPr>
          <a:xfrm>
            <a:off x="609600" y="1981646"/>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กลุ่มที่ศึกษา</a:t>
            </a:r>
            <a:endParaRPr lang="en-US" sz="900" dirty="0"/>
          </a:p>
        </p:txBody>
      </p:sp>
      <p:sp>
        <p:nvSpPr>
          <p:cNvPr id="13" name="b1:rise"/>
          <p:cNvSpPr/>
          <p:nvPr/>
        </p:nvSpPr>
        <p:spPr>
          <a:xfrm>
            <a:off x="2036043" y="2291209"/>
            <a:ext cx="4763" cy="0"/>
          </a:xfrm>
          <a:prstGeom prst="line">
            <a:avLst/>
          </a:prstGeom>
          <a:noFill/>
          <a:ln w="6350">
            <a:solidFill>
              <a:srgbClr val="D8DEE6"/>
            </a:solidFill>
            <a:prstDash val="solid"/>
          </a:ln>
        </p:spPr>
      </p:sp>
      <p:sp>
        <p:nvSpPr>
          <p:cNvPr id="14" name="b1:rise"/>
          <p:cNvSpPr txBox="1"/>
          <p:nvPr/>
        </p:nvSpPr>
        <p:spPr>
          <a:xfrm>
            <a:off x="2036043" y="1981646"/>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พนักงานความรู้ที่ BCG</a:t>
            </a:r>
            <a:endParaRPr lang="en-US" sz="900" dirty="0"/>
          </a:p>
        </p:txBody>
      </p:sp>
      <p:sp>
        <p:nvSpPr>
          <p:cNvPr id="15" name="b1:rise"/>
          <p:cNvSpPr/>
          <p:nvPr/>
        </p:nvSpPr>
        <p:spPr>
          <a:xfrm>
            <a:off x="5285184" y="2291209"/>
            <a:ext cx="4763" cy="0"/>
          </a:xfrm>
          <a:prstGeom prst="line">
            <a:avLst/>
          </a:prstGeom>
          <a:noFill/>
          <a:ln w="6350">
            <a:solidFill>
              <a:srgbClr val="D8DEE6"/>
            </a:solidFill>
            <a:prstDash val="solid"/>
          </a:ln>
        </p:spPr>
      </p:sp>
      <p:sp>
        <p:nvSpPr>
          <p:cNvPr id="16" name="b1:rise"/>
          <p:cNvSpPr txBox="1"/>
          <p:nvPr/>
        </p:nvSpPr>
        <p:spPr>
          <a:xfrm>
            <a:off x="5285184" y="1981646"/>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ธุรกิจขนาดเล็กในเคนยา</a:t>
            </a:r>
            <a:endParaRPr lang="en-US" sz="900" dirty="0"/>
          </a:p>
        </p:txBody>
      </p:sp>
      <p:sp>
        <p:nvSpPr>
          <p:cNvPr id="17" name="b1:rise"/>
          <p:cNvSpPr/>
          <p:nvPr/>
        </p:nvSpPr>
        <p:spPr>
          <a:xfrm>
            <a:off x="609600" y="2291209"/>
            <a:ext cx="7924800" cy="309562"/>
          </a:xfrm>
          <a:prstGeom prst="rect">
            <a:avLst/>
          </a:prstGeom>
          <a:solidFill>
            <a:srgbClr val="EEF1F5"/>
          </a:solidFill>
          <a:ln/>
        </p:spPr>
      </p:sp>
      <p:sp>
        <p:nvSpPr>
          <p:cNvPr id="18" name="b1:rise"/>
          <p:cNvSpPr/>
          <p:nvPr/>
        </p:nvSpPr>
        <p:spPr>
          <a:xfrm>
            <a:off x="609600" y="2600771"/>
            <a:ext cx="4763" cy="0"/>
          </a:xfrm>
          <a:prstGeom prst="line">
            <a:avLst/>
          </a:prstGeom>
          <a:noFill/>
          <a:ln w="6350">
            <a:solidFill>
              <a:srgbClr val="D8DEE6"/>
            </a:solidFill>
            <a:prstDash val="solid"/>
          </a:ln>
        </p:spPr>
      </p:sp>
      <p:sp>
        <p:nvSpPr>
          <p:cNvPr id="19" name="b1:rise"/>
          <p:cNvSpPr txBox="1"/>
          <p:nvPr/>
        </p:nvSpPr>
        <p:spPr>
          <a:xfrm>
            <a:off x="609600" y="2291209"/>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ผลหลัก</a:t>
            </a:r>
            <a:endParaRPr lang="en-US" sz="900" dirty="0"/>
          </a:p>
        </p:txBody>
      </p:sp>
      <p:sp>
        <p:nvSpPr>
          <p:cNvPr id="20" name="b1:rise"/>
          <p:cNvSpPr/>
          <p:nvPr/>
        </p:nvSpPr>
        <p:spPr>
          <a:xfrm>
            <a:off x="2036043" y="2600771"/>
            <a:ext cx="4763" cy="0"/>
          </a:xfrm>
          <a:prstGeom prst="line">
            <a:avLst/>
          </a:prstGeom>
          <a:noFill/>
          <a:ln w="6350">
            <a:solidFill>
              <a:srgbClr val="D8DEE6"/>
            </a:solidFill>
            <a:prstDash val="solid"/>
          </a:ln>
        </p:spPr>
      </p:sp>
      <p:sp>
        <p:nvSpPr>
          <p:cNvPr id="21" name="b1:rise"/>
          <p:cNvSpPr txBox="1"/>
          <p:nvPr/>
        </p:nvSpPr>
        <p:spPr>
          <a:xfrm>
            <a:off x="2036043" y="2291209"/>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900" dirty="0"/>
          </a:p>
        </p:txBody>
      </p:sp>
      <p:sp>
        <p:nvSpPr>
          <p:cNvPr id="22" name="b1:rise"/>
          <p:cNvSpPr/>
          <p:nvPr/>
        </p:nvSpPr>
        <p:spPr>
          <a:xfrm>
            <a:off x="5285184" y="2600771"/>
            <a:ext cx="4763" cy="0"/>
          </a:xfrm>
          <a:prstGeom prst="line">
            <a:avLst/>
          </a:prstGeom>
          <a:noFill/>
          <a:ln w="6350">
            <a:solidFill>
              <a:srgbClr val="D8DEE6"/>
            </a:solidFill>
            <a:prstDash val="solid"/>
          </a:ln>
        </p:spPr>
      </p:sp>
      <p:sp>
        <p:nvSpPr>
          <p:cNvPr id="23" name="b1:rise"/>
          <p:cNvSpPr txBox="1"/>
          <p:nvPr/>
        </p:nvSpPr>
        <p:spPr>
          <a:xfrm>
            <a:off x="5285184" y="2291209"/>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900" dirty="0"/>
          </a:p>
        </p:txBody>
      </p:sp>
      <p:sp>
        <p:nvSpPr>
          <p:cNvPr id="24" name="b1:rise"/>
          <p:cNvSpPr/>
          <p:nvPr/>
        </p:nvSpPr>
        <p:spPr>
          <a:xfrm>
            <a:off x="609600" y="2910334"/>
            <a:ext cx="4763" cy="0"/>
          </a:xfrm>
          <a:prstGeom prst="line">
            <a:avLst/>
          </a:prstGeom>
          <a:noFill/>
          <a:ln w="6350">
            <a:solidFill>
              <a:srgbClr val="D8DEE6"/>
            </a:solidFill>
            <a:prstDash val="solid"/>
          </a:ln>
        </p:spPr>
      </p:sp>
      <p:sp>
        <p:nvSpPr>
          <p:cNvPr id="25" name="b1:rise"/>
          <p:cNvSpPr txBox="1"/>
          <p:nvPr/>
        </p:nvSpPr>
        <p:spPr>
          <a:xfrm>
            <a:off x="609600" y="2600771"/>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ข้อค้นพบสำคัญ</a:t>
            </a:r>
            <a:endParaRPr lang="en-US" sz="900" dirty="0"/>
          </a:p>
        </p:txBody>
      </p:sp>
      <p:sp>
        <p:nvSpPr>
          <p:cNvPr id="26" name="b1:rise"/>
          <p:cNvSpPr/>
          <p:nvPr/>
        </p:nvSpPr>
        <p:spPr>
          <a:xfrm>
            <a:off x="2036043" y="2910334"/>
            <a:ext cx="4763" cy="0"/>
          </a:xfrm>
          <a:prstGeom prst="line">
            <a:avLst/>
          </a:prstGeom>
          <a:noFill/>
          <a:ln w="6350">
            <a:solidFill>
              <a:srgbClr val="D8DEE6"/>
            </a:solidFill>
            <a:prstDash val="solid"/>
          </a:ln>
        </p:spPr>
      </p:sp>
      <p:sp>
        <p:nvSpPr>
          <p:cNvPr id="27" name="b1:rise"/>
          <p:cNvSpPr txBox="1"/>
          <p:nvPr/>
        </p:nvSpPr>
        <p:spPr>
          <a:xfrm>
            <a:off x="2036043" y="2600771"/>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ความถูกต้องลดลงในงานนอกพรมแดน</a:t>
            </a:r>
            <a:endParaRPr lang="en-US" sz="900" dirty="0"/>
          </a:p>
        </p:txBody>
      </p:sp>
      <p:sp>
        <p:nvSpPr>
          <p:cNvPr id="28" name="b1:rise"/>
          <p:cNvSpPr/>
          <p:nvPr/>
        </p:nvSpPr>
        <p:spPr>
          <a:xfrm>
            <a:off x="5285184" y="2910334"/>
            <a:ext cx="4763" cy="0"/>
          </a:xfrm>
          <a:prstGeom prst="line">
            <a:avLst/>
          </a:prstGeom>
          <a:noFill/>
          <a:ln w="6350">
            <a:solidFill>
              <a:srgbClr val="D8DEE6"/>
            </a:solidFill>
            <a:prstDash val="solid"/>
          </a:ln>
        </p:spPr>
      </p:sp>
      <p:sp>
        <p:nvSpPr>
          <p:cNvPr id="29" name="b1:rise"/>
          <p:cNvSpPr txBox="1"/>
          <p:nvPr/>
        </p:nvSpPr>
        <p:spPr>
          <a:xfrm>
            <a:off x="5285184" y="2600771"/>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900" dirty="0"/>
          </a:p>
        </p:txBody>
      </p:sp>
      <p:sp>
        <p:nvSpPr>
          <p:cNvPr id="30" name="b2:pop"/>
          <p:cNvSpPr/>
          <p:nvPr/>
        </p:nvSpPr>
        <p:spPr>
          <a:xfrm>
            <a:off x="609600" y="3143250"/>
            <a:ext cx="7924800" cy="1090687"/>
          </a:xfrm>
          <a:prstGeom prst="roundRect">
            <a:avLst>
              <a:gd name="adj" fmla="val 10480"/>
            </a:avLst>
          </a:prstGeom>
          <a:solidFill>
            <a:srgbClr val="2E8B86"/>
          </a:solidFill>
          <a:ln/>
        </p:spPr>
      </p:sp>
      <p:sp>
        <p:nvSpPr>
          <p:cNvPr id="31" name="b2:pop"/>
          <p:cNvSpPr/>
          <p:nvPr/>
        </p:nvSpPr>
        <p:spPr>
          <a:xfrm>
            <a:off x="819150" y="3276600"/>
            <a:ext cx="857250" cy="217140"/>
          </a:xfrm>
          <a:prstGeom prst="roundRect">
            <a:avLst>
              <a:gd name="adj" fmla="val 50000"/>
            </a:avLst>
          </a:prstGeom>
          <a:solidFill>
            <a:srgbClr val="F7F9FB"/>
          </a:solidFill>
          <a:ln/>
        </p:spPr>
      </p:sp>
      <p:sp>
        <p:nvSpPr>
          <p:cNvPr id="32" name="b2:pop"/>
          <p:cNvSpPr txBox="1"/>
          <p:nvPr/>
        </p:nvSpPr>
        <p:spPr>
          <a:xfrm>
            <a:off x="819150" y="3276600"/>
            <a:ext cx="857250"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การตีความ</a:t>
            </a:r>
            <a:endParaRPr lang="en-US" sz="900" dirty="0"/>
          </a:p>
        </p:txBody>
      </p:sp>
      <p:sp>
        <p:nvSpPr>
          <p:cNvPr id="33" name="b2:pop"/>
          <p:cNvSpPr txBox="1"/>
          <p:nvPr/>
        </p:nvSpPr>
        <p:spPr>
          <a:xfrm>
            <a:off x="819150" y="3541365"/>
            <a:ext cx="3467100" cy="559222"/>
          </a:xfrm>
          <a:prstGeom prst="rect">
            <a:avLst/>
          </a:prstGeom>
          <a:noFill/>
          <a:ln/>
        </p:spPr>
        <p:txBody>
          <a:bodyPr wrap="square" lIns="0" tIns="0" rIns="0" bIns="0" rtlCol="0" anchor="t"/>
          <a:lstStyle/>
          <a:p>
            <a:pPr algn="l" indent="0" marL="0">
              <a:lnSpc>
                <a:spcPts val="1468"/>
              </a:lnSpc>
              <a:buNone/>
            </a:pPr>
            <a:r>
              <a:rPr lang="en-US" sz="1013" b="1" dirty="0">
                <a:solidFill>
                  <a:srgbClr val="F7F9FB"/>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a:t>
            </a:r>
            <a:pPr algn="l" indent="0" marL="0">
              <a:lnSpc>
                <a:spcPts val="1468"/>
              </a:lnSpc>
              <a:buNone/>
            </a:pPr>
            <a:r>
              <a:rPr lang="en-US" sz="1013" b="1" u="sng" dirty="0">
                <a:solidFill>
                  <a:srgbClr val="F7F9FB"/>
                </a:solidFill>
                <a:latin typeface="Prompt" pitchFamily="34" charset="0"/>
                <a:ea typeface="Prompt" pitchFamily="34" charset="-122"/>
                <a:cs typeface="Prompt" pitchFamily="34" charset="-120"/>
              </a:rPr>
              <a:t>วิจารณญาณของมนุษย์</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409504"/>
            <a:ext cx="142875" cy="142875"/>
          </a:xfrm>
          <a:prstGeom prst="rect">
            <a:avLst/>
          </a:prstGeom>
        </p:spPr>
      </p:pic>
      <p:sp>
        <p:nvSpPr>
          <p:cNvPr id="35" name="b2:pop"/>
          <p:cNvSpPr txBox="1"/>
          <p:nvPr/>
        </p:nvSpPr>
        <p:spPr>
          <a:xfrm>
            <a:off x="4552950" y="3400946"/>
            <a:ext cx="1599977"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เลือกงานให้ตรงกับจุดแข็งของ AI</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617119"/>
            <a:ext cx="142875" cy="142875"/>
          </a:xfrm>
          <a:prstGeom prst="rect">
            <a:avLst/>
          </a:prstGeom>
        </p:spPr>
      </p:pic>
      <p:sp>
        <p:nvSpPr>
          <p:cNvPr id="37" name="b2:pop"/>
          <p:cNvSpPr txBox="1"/>
          <p:nvPr/>
        </p:nvSpPr>
        <p:spPr>
          <a:xfrm>
            <a:off x="4552950" y="3608561"/>
            <a:ext cx="2126679"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ประเมินคำแนะนำของ AI อย่างมีวิจารณญาณ</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24734"/>
            <a:ext cx="142875" cy="142875"/>
          </a:xfrm>
          <a:prstGeom prst="rect">
            <a:avLst/>
          </a:prstGeom>
        </p:spPr>
      </p:pic>
      <p:sp>
        <p:nvSpPr>
          <p:cNvPr id="39" name="b2:pop"/>
          <p:cNvSpPr txBox="1"/>
          <p:nvPr/>
        </p:nvSpPr>
        <p:spPr>
          <a:xfrm>
            <a:off x="4552950" y="3816176"/>
            <a:ext cx="1272332"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ให้มนุษย์ตัดสินใจขั้นสุดท้าย</a:t>
            </a:r>
            <a:endParaRPr lang="en-US" sz="900" dirty="0"/>
          </a:p>
        </p:txBody>
      </p:sp>
      <p:pic>
        <p:nvPicPr>
          <p:cNvPr id="40" name="b2:pop (คนยื่นมือจับมือ)" descr="/home/user/slide-present-en/presentation/webdeck/art/human-shake-teal.png">    </p:cNvPr>
          <p:cNvPicPr>
            <a:picLocks noChangeAspect="1"/>
          </p:cNvPicPr>
          <p:nvPr/>
        </p:nvPicPr>
        <p:blipFill>
          <a:blip r:embed="rId4"/>
          <a:stretch>
            <a:fillRect/>
          </a:stretch>
        </p:blipFill>
        <p:spPr>
          <a:xfrm>
            <a:off x="7134225" y="3364706"/>
            <a:ext cx="571500" cy="647700"/>
          </a:xfrm>
          <a:prstGeom prst="rect">
            <a:avLst/>
          </a:prstGeom>
        </p:spPr>
      </p:pic>
      <p:pic>
        <p:nvPicPr>
          <p:cNvPr id="41" name="b2:pop (มาสคอตหุ่นยนต์ยื่นมือจับมือ)" descr="/home/user/slide-present-en/presentation/webdeck/art/robot-shake-teal.png">    </p:cNvPr>
          <p:cNvPicPr>
            <a:picLocks noChangeAspect="1"/>
          </p:cNvPicPr>
          <p:nvPr/>
        </p:nvPicPr>
        <p:blipFill>
          <a:blip r:embed="rId5"/>
          <a:stretch>
            <a:fillRect/>
          </a:stretch>
        </p:blipFill>
        <p:spPr>
          <a:xfrm>
            <a:off x="7705725" y="3364706"/>
            <a:ext cx="619125" cy="647700"/>
          </a:xfrm>
          <a:prstGeom prst="rect">
            <a:avLst/>
          </a:prstGeom>
        </p:spPr>
      </p:pic>
      <p:sp>
        <p:nvSpPr>
          <p:cNvPr id="42" name="static"/>
          <p:cNvSpPr txBox="1"/>
          <p:nvPr/>
        </p:nvSpPr>
        <p:spPr>
          <a:xfrm>
            <a:off x="609600" y="4678710"/>
            <a:ext cx="5448300"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ขอบคุณครับ</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ยินดีรับคำถาม</a:t>
            </a:r>
            <a:endParaRPr lang="en-US" sz="900" dirty="0"/>
          </a:p>
        </p:txBody>
      </p:sp>
      <p:sp>
        <p:nvSpPr>
          <p:cNvPr id="44" name="!!key4-th-43 static"/>
          <p:cNvSpPr/>
          <p:nvPr/>
        </p:nvSpPr>
        <p:spPr>
          <a:xfrm>
            <a:off x="7048500" y="342900"/>
            <a:ext cx="1485900" cy="255240"/>
          </a:xfrm>
          <a:prstGeom prst="roundRect">
            <a:avLst>
              <a:gd name="adj" fmla="val 50000"/>
            </a:avLst>
          </a:prstGeom>
          <a:solidFill>
            <a:srgbClr val="2E8B86"/>
          </a:solidFill>
          <a:ln/>
        </p:spPr>
      </p:sp>
      <p:sp>
        <p:nvSpPr>
          <p:cNvPr id="45" name="!!key4-th-44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and Work Performance</dc:title>
  <dc:subject>PptxGenJS Presentation</dc:subject>
  <dc:creator>Chayanun Sungsa-ard</dc:creator>
  <cp:lastModifiedBy>Chayanun Sungsa-ard</cp:lastModifiedBy>
  <cp:revision>1</cp:revision>
  <dcterms:created xsi:type="dcterms:W3CDTF">2026-10-09T16:59:55Z</dcterms:created>
  <dcterms:modified xsi:type="dcterms:W3CDTF">2026-10-09T16:59:55Z</dcterms:modified>
</cp:coreProperties>
</file>