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nglish (Slides 1-5)" id="{1b47426e-b2d5-16e0-b5a3-c10046258f81}">
          <p14:sldIdLst>
            <p14:sldId id="256"/>
            <p14:sldId id="257"/>
            <p14:sldId id="258"/>
            <p14:sldId id="259"/>
            <p14:sldId id="260"/>
          </p14:sldIdLst>
        </p14:section>
        <p14:section name="ภาษาไทย (Slides 6-10)" id="{cc89af1f-b49e-cf95-bdc8-434323281f91}">
          <p14:sldIdLst>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00" b="0" i="0" u="none" strike="noStrike">
                <a:solidFill>
                  <a:srgbClr val="1B2A4A"/>
                </a:solidFill>
                <a:latin typeface="Poppins"/>
              </a:defRPr>
            </a:pPr>
            <a:r>
              <a:rPr sz="900" b="0" i="0" u="none" strike="noStrike">
                <a:solidFill>
                  <a:srgbClr val="1B2A4A"/>
                </a:solidFill>
                <a:latin typeface="Poppins"/>
              </a:rPr>
              <a:t>Change for consultants using AI, tasks inside the frontier</a:t>
            </a:r>
          </a:p>
        </c:rich>
      </c:tx>
      <c:layout/>
      <c:overlay val="0"/>
    </c:title>
    <c:autoTitleDeleted val="0"/>
    <c:plotArea>
      <c:layout/>
      <c:barChart>
        <c:barDir val="bar"/>
        <c:grouping val="clustered"/>
        <c:varyColors val="0"/>
        <c:ser>
          <c:idx val="0"/>
          <c:order val="0"/>
          <c:tx>
            <c:strRef>
              <c:f>Sheet1!$B$1</c:f>
              <c:strCache>
                <c:ptCount val="1"/>
                <c:pt idx="0">
                  <c:v>Change (%)</c:v>
                </c:pt>
              </c:strCache>
            </c:strRef>
          </c:tx>
          <c:spPr>
            <a:solidFill>
              <a:srgbClr val="2E8B86"/>
            </a:solidFill>
            <a:effectLst/>
          </c:spPr>
          <c:invertIfNegative val="0"/>
          <c:dLbls>
            <c:numFmt formatCode="+0.0&quot;%&quot;" sourceLinked="0"/>
            <c:txPr>
              <a:bodyPr/>
              <a:lstStyle/>
              <a:p>
                <a:pPr>
                  <a:defRPr b="0" i="0" strike="noStrike" sz="900" u="none">
                    <a:solidFill>
                      <a:srgbClr val="1B2A4A"/>
                    </a:solidFill>
                    <a:latin typeface="Poppins"/>
                  </a:defRPr>
                </a:pPr>
              </a:p>
            </c:txPr>
            <c:showLegendKey val="0"/>
            <c:showVal val="1"/>
            <c:showCatName val="0"/>
            <c:showSerName val="0"/>
            <c:showPercent val="0"/>
            <c:showBubbleSize val="0"/>
            <c:showLeaderLines val="0"/>
          </c:dLbls>
          <c:dPt>
            <c:idx val="0"/>
            <c:invertIfNegative val="0"/>
            <c:bubble3D val="0"/>
            <c:spPr>
              <a:solidFill>
                <a:srgbClr val="2E8B86"/>
              </a:solidFill>
              <a:effectLst/>
            </c:spPr>
          </c:dPt>
          <c:dPt>
            <c:idx val="1"/>
            <c:invertIfNegative val="0"/>
            <c:bubble3D val="0"/>
            <c:spPr>
              <a:solidFill>
                <a:srgbClr val="2E8B86"/>
              </a:solidFill>
              <a:effectLst/>
            </c:spPr>
          </c:dPt>
          <c:dPt>
            <c:idx val="2"/>
            <c:invertIfNegative val="0"/>
            <c:bubble3D val="0"/>
            <c:spPr>
              <a:solidFill>
                <a:srgbClr val="2E8B86"/>
              </a:solidFill>
              <a:effectLst/>
            </c:spPr>
          </c:dPt>
          <c:dPt>
            <c:idx val="3"/>
            <c:invertIfNegative val="0"/>
            <c:bubble3D val="0"/>
            <c:spPr>
              <a:solidFill>
                <a:srgbClr val="1B2A4A"/>
              </a:solidFill>
              <a:effectLst/>
            </c:spPr>
          </c:dPt>
          <c:dPt>
            <c:idx val="4"/>
            <c:invertIfNegative val="0"/>
            <c:bubble3D val="0"/>
            <c:spPr>
              <a:solidFill>
                <a:srgbClr val="1B2A4A"/>
              </a:solidFill>
              <a:effectLst/>
            </c:spPr>
          </c:dPt>
          <c:cat>
            <c:multiLvlStrRef>
              <c:f>Sheet1!$A$2:$A$6</c:f>
              <c:multiLvlStrCache>
                <c:ptCount val="5"/>
                <c:lvl>
                  <c:pt idx="0">
                    <c:v>Tasks completed</c:v>
                  </c:pt>
                  <c:pt idx="1">
                    <c:v>Task speed</c:v>
                  </c:pt>
                  <c:pt idx="2">
                    <c:v>Quality</c:v>
                  </c:pt>
                  <c:pt idx="3">
                    <c:v>Below-average</c:v>
                  </c:pt>
                  <c:pt idx="4">
                    <c:v>Above-average</c:v>
                  </c:pt>
                </c:lvl>
              </c:multiLvlStrCache>
            </c:multiLvlStrRef>
          </c:cat>
          <c:val>
            <c:numRef>
              <c:f>Sheet1!$B$2:$B$6</c:f>
              <c:numCache>
                <c:formatCode>General</c:formatCode>
                <c:ptCount val="5"/>
                <c:pt idx="0">
                  <c:v>12.2</c:v>
                </c:pt>
                <c:pt idx="1">
                  <c:v>25.1</c:v>
                </c:pt>
                <c:pt idx="2">
                  <c:v>40</c:v>
                </c:pt>
                <c:pt idx="3">
                  <c:v>43</c:v>
                </c:pt>
                <c:pt idx="4">
                  <c:v>17</c:v>
                </c:pt>
              </c:numCache>
            </c:numRef>
          </c:val>
        </c:ser>
        <c:dLbls>
          <c:numFmt formatCode="+0.0&quot;%&quot;" sourceLinked="0"/>
          <c:txPr>
            <a:bodyPr/>
            <a:lstStyle/>
            <a:p>
              <a:pPr>
                <a:defRPr b="0" i="0" strike="noStrike" sz="900" u="none">
                  <a:solidFill>
                    <a:srgbClr val="1B2A4A"/>
                  </a:solidFill>
                  <a:latin typeface="Poppins"/>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6B7280"/>
                </a:solidFill>
                <a:latin typeface="Poppins"/>
              </a:defRPr>
            </a:pPr>
            <a:endParaRPr lang="en-US"/>
          </a:p>
        </c:txPr>
        <c:crossAx val="2094734552"/>
        <c:crosses val="autoZero"/>
        <c:auto val="1"/>
        <c:lblAlgn val="ctr"/>
        <c:noMultiLvlLbl val="1"/>
      </c:catAx>
      <c:valAx>
        <c:axId val="2094734552"/>
        <c:scaling>
          <c:orientation val="minMax"/>
          <c:max val="5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00" b="0" i="0" u="none" strike="noStrike">
                <a:solidFill>
                  <a:srgbClr val="1B2A4A"/>
                </a:solidFill>
                <a:latin typeface="Prompt"/>
              </a:defRPr>
            </a:pPr>
            <a:r>
              <a:rPr sz="900" b="0" i="0" u="none" strike="noStrike">
                <a:solidFill>
                  <a:srgbClr val="1B2A4A"/>
                </a:solidFill>
                <a:latin typeface="Prompt"/>
              </a:rPr>
              <a:t>การเปลี่ยนแปลงของที่ปรึกษาที่ใช้ AI ในงานภายในพรมแดน</a:t>
            </a:r>
          </a:p>
        </c:rich>
      </c:tx>
      <c:layout/>
      <c:overlay val="0"/>
    </c:title>
    <c:autoTitleDeleted val="0"/>
    <c:plotArea>
      <c:layout/>
      <c:barChart>
        <c:barDir val="bar"/>
        <c:grouping val="clustered"/>
        <c:varyColors val="0"/>
        <c:ser>
          <c:idx val="0"/>
          <c:order val="0"/>
          <c:tx>
            <c:strRef>
              <c:f>Sheet1!$B$1</c:f>
              <c:strCache>
                <c:ptCount val="1"/>
                <c:pt idx="0">
                  <c:v>Change (%)</c:v>
                </c:pt>
              </c:strCache>
            </c:strRef>
          </c:tx>
          <c:spPr>
            <a:solidFill>
              <a:srgbClr val="2E8B86"/>
            </a:solidFill>
            <a:effectLst/>
          </c:spPr>
          <c:invertIfNegative val="0"/>
          <c:dLbls>
            <c:numFmt formatCode="+0.0&quot;%&quot;" sourceLinked="0"/>
            <c:txPr>
              <a:bodyPr/>
              <a:lstStyle/>
              <a:p>
                <a:pPr>
                  <a:defRPr b="0" i="0" strike="noStrike" sz="900" u="none">
                    <a:solidFill>
                      <a:srgbClr val="1B2A4A"/>
                    </a:solidFill>
                    <a:latin typeface="Prompt"/>
                  </a:defRPr>
                </a:pPr>
              </a:p>
            </c:txPr>
            <c:showLegendKey val="0"/>
            <c:showVal val="1"/>
            <c:showCatName val="0"/>
            <c:showSerName val="0"/>
            <c:showPercent val="0"/>
            <c:showBubbleSize val="0"/>
            <c:showLeaderLines val="0"/>
          </c:dLbls>
          <c:dPt>
            <c:idx val="0"/>
            <c:invertIfNegative val="0"/>
            <c:bubble3D val="0"/>
            <c:spPr>
              <a:solidFill>
                <a:srgbClr val="2E8B86"/>
              </a:solidFill>
              <a:effectLst/>
            </c:spPr>
          </c:dPt>
          <c:dPt>
            <c:idx val="1"/>
            <c:invertIfNegative val="0"/>
            <c:bubble3D val="0"/>
            <c:spPr>
              <a:solidFill>
                <a:srgbClr val="2E8B86"/>
              </a:solidFill>
              <a:effectLst/>
            </c:spPr>
          </c:dPt>
          <c:dPt>
            <c:idx val="2"/>
            <c:invertIfNegative val="0"/>
            <c:bubble3D val="0"/>
            <c:spPr>
              <a:solidFill>
                <a:srgbClr val="2E8B86"/>
              </a:solidFill>
              <a:effectLst/>
            </c:spPr>
          </c:dPt>
          <c:dPt>
            <c:idx val="3"/>
            <c:invertIfNegative val="0"/>
            <c:bubble3D val="0"/>
            <c:spPr>
              <a:solidFill>
                <a:srgbClr val="1B2A4A"/>
              </a:solidFill>
              <a:effectLst/>
            </c:spPr>
          </c:dPt>
          <c:dPt>
            <c:idx val="4"/>
            <c:invertIfNegative val="0"/>
            <c:bubble3D val="0"/>
            <c:spPr>
              <a:solidFill>
                <a:srgbClr val="1B2A4A"/>
              </a:solidFill>
              <a:effectLst/>
            </c:spPr>
          </c:dPt>
          <c:cat>
            <c:multiLvlStrRef>
              <c:f>Sheet1!$A$2:$A$6</c:f>
              <c:multiLvlStrCache>
                <c:ptCount val="5"/>
                <c:lvl>
                  <c:pt idx="0">
                    <c:v>งานที่ทำเสร็จ</c:v>
                  </c:pt>
                  <c:pt idx="1">
                    <c:v>ความเร็ว</c:v>
                  </c:pt>
                  <c:pt idx="2">
                    <c:v>คุณภาพ</c:v>
                  </c:pt>
                  <c:pt idx="3">
                    <c:v>กลุ่มต่ำกว่าค่าเฉลี่ย</c:v>
                  </c:pt>
                  <c:pt idx="4">
                    <c:v>กลุ่มสูงกว่าค่าเฉลี่ย</c:v>
                  </c:pt>
                </c:lvl>
              </c:multiLvlStrCache>
            </c:multiLvlStrRef>
          </c:cat>
          <c:val>
            <c:numRef>
              <c:f>Sheet1!$B$2:$B$6</c:f>
              <c:numCache>
                <c:formatCode>General</c:formatCode>
                <c:ptCount val="5"/>
                <c:pt idx="0">
                  <c:v>12.2</c:v>
                </c:pt>
                <c:pt idx="1">
                  <c:v>25.1</c:v>
                </c:pt>
                <c:pt idx="2">
                  <c:v>40</c:v>
                </c:pt>
                <c:pt idx="3">
                  <c:v>43</c:v>
                </c:pt>
                <c:pt idx="4">
                  <c:v>17</c:v>
                </c:pt>
              </c:numCache>
            </c:numRef>
          </c:val>
        </c:ser>
        <c:dLbls>
          <c:numFmt formatCode="+0.0&quot;%&quot;" sourceLinked="0"/>
          <c:txPr>
            <a:bodyPr/>
            <a:lstStyle/>
            <a:p>
              <a:pPr>
                <a:defRPr b="0" i="0" strike="noStrike" sz="900" u="none">
                  <a:solidFill>
                    <a:srgbClr val="1B2A4A"/>
                  </a:solidFill>
                  <a:latin typeface="Promp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6B7280"/>
                </a:solidFill>
                <a:latin typeface="Prompt"/>
              </a:defRPr>
            </a:pPr>
            <a:endParaRPr lang="en-US"/>
          </a:p>
        </c:txPr>
        <c:crossAx val="2094734552"/>
        <c:crosses val="autoZero"/>
        <c:auto val="1"/>
        <c:lblAlgn val="ctr"/>
        <c:noMultiLvlLbl val="1"/>
      </c:catAx>
      <c:valAx>
        <c:axId val="2094734552"/>
        <c:scaling>
          <c:orientation val="minMax"/>
          <c:max val="5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I will look at one question: how does AI affect productivity, work quality and business performance? I will use two recent field experiments. Article 2 studies consultants at BCG working with GPT-4. Article 5 studies small-business entrepreneurs in Kenya who received a GPT-4 business assistant. First the office, then the marketplace, and finally what the two studies tell us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Article 2 is a field experiment run with Boston Consulting Group. 758 consultants were randomly assigned to one of three conditions: no AI, GPT-4, or GPT-4 plus a short prompt-engineering overview. The authors study productivity, quality, and where AI's abilities end. They call that boundary the jagged technological frontier: AI handles some tasks well but struggles with others that look equally hard. Keep that picture in mind, because the results split exactly along that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the frontier the gains were large: 12.2% more tasks completed, 25.1% faster, and more than 40% higher quality than the control group. Below-average performers improved by 43% and above-average performers by 17%, each against their own baseline. But for a task chosen to sit outside the frontier, AI users were 19 percentage points less likely to produce a correct solution. Note the unit: that is a gap between two success rates, not a percentage change. The consultants who did well used AI in two ways: Centaurs divided tasks between themselves and the AI, and Cyborgs wove AI into every step. The office result is clear. The next study asks whether it survives contact with a real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Article 5 moves from consultants to entrepreneurs in Kenya. Half of the small-business owners received a GPT-4-powered business assistant that gave advice; the outcomes were revenue and profit. On average, the researchers could not reject the null hypothesis of no treatment effect. But the average hides two stories. Entrepreneurs who were low performers at baseline did nearly 10% worse with the assistant, while high performers may have benefited by more than 15%. The questions and the AI advice were similar; the difference lay in which advice the entrepreneurs chose to implement. I want to be careful here: these are subgroup averages, not a rule for every individual.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two studies side by side. Article 2 shows higher productivity and quality for knowledge work inside AI's frontier, and lower correctness outside it. Article 5 shows no established average effect on revenue and profit, with outcomes that depended on baseline performance and on which recommendations were implemented. The common thread is the human in the loop. AI can influence real performance, but the impact depends on task suitability, user behavior and human judgment. That is why I framed the title as AI being a tool, not a guarantee of success. Thank you, and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สวัสดีครับ วันนี้ผมจะตอบคำถามเดียวคือ AI ส่งผลต่อผลิตภาพ คุณภาพงาน และผลการดำเนินธุรกิจอย่างไร โดยใช้การทดลองภาคสนามสองชิ้น บทความที่ 2 ศึกษาที่ปรึกษาของ BCG ที่ใช้ GPT-4 ส่วนบทความที่ 5 ศึกษาผู้ประกอบการรายย่อยในเคนยาที่ได้รับผู้ช่วยธุรกิจ GPT-4 เราจะเริ่มจากในสำนักงาน ไปสู่ตลาดจริง แล้วสรุปสิ่งที่สองงานบอกเราร่วมกัน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บทความที่ 2 เป็นการทดลองภาคสนามร่วมกับ Boston Consulting Group ที่ปรึกษา 758 คนถูกสุ่มเข้าสามกลุ่ม คือไม่ใช้ AI ใช้ GPT-4 และใช้ GPT-4 พร้อมคำแนะนำการเขียน prompt ผู้วิจัยศึกษาผลิตภาพ คุณภาพ และจุดที่ความสามารถของ AI สิ้นสุด ซึ่งเรียกว่า jagged technological frontier คือ AI ทำงานบางอย่างได้ดี แต่ทำงานอื่นที่ดูยากพอกันได้ไม่ดี ขอให้จำภาพนี้ไว้ เพราะผลการศึกษาแยกตามเส้นนี้พอดี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ภายในพรมแดน ผลดีมีขนาดใหญ่ คือทำงานเสร็จเพิ่มขึ้น 12.2% เร็วขึ้น 25.1% และคุณภาพสูงกว่ากลุ่มควบคุมมากกว่า 40% กลุ่มผลงานต่ำกว่าค่าเฉลี่ยดีขึ้น 43% กลุ่มสูงกว่าค่าเฉลี่ยดีขึ้น 17% เทียบกับคะแนนเดิมของตนเอง แต่สำหรับงานที่เลือกให้อยู่นอกพรมแดน ผู้ใช้ AI มีโอกาสได้คำตอบถูกน้อยกว่า 19 จุดร้อยละ สังเกตหน่วยด้วยครับ นี่คือส่วนต่างของอัตราความถูกต้อง ไม่ใช่ร้อยละการเปลี่ยนแปลง ที่ปรึกษาที่ทำได้ดีใช้ AI สองแบบ คือ Centaurs ที่แบ่งงานระหว่างตัวเองกับ AI และ Cyborgs ที่ผสาน AI เข้าไปทุกขั้นตอน ผลในสำนักงานชัดเจน งานถัดไปถามว่าผลนี้จะอยู่รอดเมื่อเจอธุรกิจจริงหรือไม่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บทความที่ 5 ย้ายจากที่ปรึกษาไปสู่ผู้ประกอบการในเคนยา เจ้าของธุรกิจขนาดเล็กครึ่งหนึ่งได้รับผู้ช่วยธุรกิจที่ขับเคลื่อนด้วย GPT-4 ซึ่งให้คำแนะนำ ตัวแปรผลลัพธ์คือรายได้และกำไร โดยเฉลี่ยผู้วิจัยไม่สามารถปฏิเสธสมมติฐานว่างที่ว่าไม่มีผลของการทดลอง แต่ค่าเฉลี่ยซ่อนสองเรื่องไว้ ผู้ประกอบการที่ผลงานต่ำตั้งแต่ต้นแย่ลงเกือบ 10% ขณะที่กลุ่มผลงานสูงอาจได้ประโยชน์มากกว่า 15% คำถามและคำแนะนำของ AI ใกล้เคียงกัน ความต่างอยู่ที่คำแนะนำที่ผู้ประกอบการเลือกนำไปปฏิบัติ ขอย้ำว่านี่คือค่าเฉลี่ยของกลุ่มย่อย ไม่ใช่กฎสำหรับทุกคน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เมื่อวางสองงานเคียงกัน บทความที่ 2 แสดงว่าผลิตภาพและคุณภาพของงานความรู้สูงขึ้นภายในพรมแดนของ AI แต่ความถูกต้องลดลงนอกพรมแดน บทความที่ 5 ไม่พบผลเฉลี่ยต่อรายได้และกำไรอย่างชัดเจน และผลลัพธ์ขึ้นกับผลงานตั้งต้นและคำแนะนำที่เลือกนำไปใช้ จุดร่วมคือมนุษย์ที่อยู่ในกระบวนการ AI ส่งผลต่อผลการทำงานจริงได้ แต่ขึ้นอยู่กับความเหมาะสมของงาน พฤติกรรมของผู้ใช้ และวิจารณญาณของมนุษย์ นี่คือเหตุผลที่ผมตั้งชื่อว่า AI เป็นเครื่องมือ ไม่ใช่หลักประกันความสำเร็จ ขอบคุณครับ ยินดีรับคำถาม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_EN-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TITLE_DARK_TH-image-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_E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6309360" cy="1143000"/>
          </a:xfrm>
          <a:prstGeom prst="rect">
            <a:avLst/>
          </a:prstGeom>
          <a:noFill/>
          <a:ln/>
        </p:spPr>
        <p:txBody>
          <a:bodyPr wrap="square" rtlCol="0"/>
          <a:lstStyle>
            <a:lvl1pPr algn="l" indent="0" marL="0">
              <a:buNone/>
              <a:defRPr lang="en-US" sz="3200" b="1" dirty="0">
                <a:solidFill>
                  <a:schemeClr val="bg1"/>
                </a:solidFill>
                <a:latin typeface="Poppins" pitchFamily="34" charset="0"/>
                <a:ea typeface="Poppins" pitchFamily="34" charset="-122"/>
                <a:cs typeface="Poppins" pitchFamily="34" charset="-120"/>
              </a:defRPr>
            </a:lvl1pPr>
          </a:lstStyle>
          <a:p>
            <a:pPr algn="l" indent="0" marL="0">
              <a:buNone/>
            </a:pPr>
            <a:endParaRPr lang="en-US" sz="3200" dirty="0"/>
          </a:p>
        </p:txBody>
      </p:sp>
      <p:sp>
        <p:nvSpPr>
          <p:cNvPr id="3" name="Text 0"/>
          <p:cNvSpPr/>
          <p:nvPr>
            <p:ph idx="101" type="body" hasCustomPrompt="1"/>
          </p:nvPr>
        </p:nvSpPr>
        <p:spPr>
          <a:xfrm>
            <a:off x="502920" y="1463040"/>
            <a:ext cx="6309360" cy="365760"/>
          </a:xfrm>
          <a:prstGeom prst="rect">
            <a:avLst/>
          </a:prstGeom>
          <a:noFill/>
          <a:ln/>
        </p:spPr>
        <p:txBody>
          <a:bodyPr wrap="square" rtlCol="0"/>
          <a:lstStyle>
            <a:lvl1pPr algn="l" indent="0" marL="0">
              <a:buNone/>
              <a:defRPr lang="en-US" sz="1400" dirty="0">
                <a:solidFill>
                  <a:schemeClr val="accent4"/>
                </a:solidFill>
                <a:latin typeface="Poppins" pitchFamily="34" charset="0"/>
                <a:ea typeface="Poppins" pitchFamily="34" charset="-122"/>
                <a:cs typeface="Poppins" pitchFamily="34" charset="-120"/>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3ADBB"/>
                </a:solidFill>
                <a:latin typeface="Poppins"/>
                <a:ea typeface="Poppins"/>
                <a:cs typeface="Poppi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EN">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rtlCol="0"/>
          <a:lstStyle>
            <a:lvl1pPr algn="l" indent="0" marL="0">
              <a:buNone/>
              <a:defRPr lang="en-US" sz="1000" b="1" spc="150" kern="0" dirty="0">
                <a:solidFill>
                  <a:schemeClr val="accent1"/>
                </a:solidFill>
                <a:latin typeface="Poppins" pitchFamily="34" charset="0"/>
                <a:ea typeface="Poppins" pitchFamily="34" charset="-122"/>
                <a:cs typeface="Poppins" pitchFamily="34" charset="-120"/>
              </a:defRPr>
            </a:lvl1pPr>
          </a:lstStyle>
          <a:p>
            <a:pPr algn="l" indent="0" marL="0">
              <a:buNone/>
            </a:pP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rtlCol="0"/>
          <a:lstStyle>
            <a:lvl1pPr algn="l" indent="0" marL="0">
              <a:buNone/>
              <a:defRPr lang="en-US" sz="2600" b="1" dirty="0">
                <a:solidFill>
                  <a:schemeClr val="tx1"/>
                </a:solidFill>
                <a:latin typeface="Poppins" pitchFamily="34" charset="0"/>
                <a:ea typeface="Poppins" pitchFamily="34" charset="-122"/>
                <a:cs typeface="Poppins" pitchFamily="34" charset="-120"/>
              </a:defRPr>
            </a:lvl1pPr>
          </a:lstStyle>
          <a:p>
            <a:pPr algn="l" indent="0" marL="0">
              <a:buNone/>
            </a:pPr>
            <a:endParaRPr lang="en-US" sz="2600" dirty="0"/>
          </a:p>
        </p:txBody>
      </p:sp>
      <p:sp>
        <p:nvSpPr>
          <p:cNvPr id="4" name="Text 0"/>
          <p:cNvSpPr/>
          <p:nvPr/>
        </p:nvSpPr>
        <p:spPr>
          <a:xfrm>
            <a:off x="502920" y="4773168"/>
            <a:ext cx="5486400" cy="274320"/>
          </a:xfrm>
          <a:prstGeom prst="rect">
            <a:avLst/>
          </a:prstGeom>
          <a:noFill/>
          <a:ln/>
        </p:spPr>
        <p:txBody>
          <a:bodyPr wrap="square" lIns="0" tIns="0" rIns="0" bIns="0" rtlCol="0" anchor="ctr"/>
          <a:lstStyle/>
          <a:p>
            <a:pPr indent="0" marL="0">
              <a:buNone/>
            </a:pPr>
            <a:r>
              <a:rPr lang="en-US" sz="850" dirty="0">
                <a:solidFill>
                  <a:srgbClr val="A3ADBB"/>
                </a:solidFill>
                <a:latin typeface="Poppins" pitchFamily="34" charset="0"/>
                <a:ea typeface="Poppins" pitchFamily="34" charset="-122"/>
                <a:cs typeface="Poppins" pitchFamily="34" charset="-120"/>
              </a:rPr>
              <a:t>Chayanun Sungsa-ard  ·  691401708  ·  MBA  ·  ENG 501</a:t>
            </a:r>
            <a:endParaRPr lang="en-US" sz="850" dirty="0"/>
          </a:p>
        </p:txBody>
      </p:sp>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oppins"/>
                <a:ea typeface="Poppins"/>
                <a:cs typeface="Poppi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DARK_TH">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6309360" cy="1143000"/>
          </a:xfrm>
          <a:prstGeom prst="rect">
            <a:avLst/>
          </a:prstGeom>
          <a:noFill/>
          <a:ln/>
        </p:spPr>
        <p:txBody>
          <a:bodyPr wrap="square" rtlCol="0"/>
          <a:lstStyle>
            <a:lvl1pPr algn="l" indent="0" marL="0">
              <a:buNone/>
              <a:defRPr lang="en-US" sz="3200" b="1" dirty="0">
                <a:solidFill>
                  <a:schemeClr val="bg1"/>
                </a:solidFill>
                <a:latin typeface="Prompt" pitchFamily="34" charset="0"/>
                <a:ea typeface="Prompt" pitchFamily="34" charset="-122"/>
                <a:cs typeface="Prompt" pitchFamily="34" charset="-120"/>
              </a:defRPr>
            </a:lvl1pPr>
          </a:lstStyle>
          <a:p>
            <a:pPr algn="l" indent="0" marL="0">
              <a:buNone/>
            </a:pPr>
            <a:endParaRPr lang="en-US" sz="3200" dirty="0"/>
          </a:p>
        </p:txBody>
      </p:sp>
      <p:sp>
        <p:nvSpPr>
          <p:cNvPr id="3" name="Text 0"/>
          <p:cNvSpPr/>
          <p:nvPr>
            <p:ph idx="101" type="body" hasCustomPrompt="1"/>
          </p:nvPr>
        </p:nvSpPr>
        <p:spPr>
          <a:xfrm>
            <a:off x="502920" y="1463040"/>
            <a:ext cx="6309360" cy="365760"/>
          </a:xfrm>
          <a:prstGeom prst="rect">
            <a:avLst/>
          </a:prstGeom>
          <a:noFill/>
          <a:ln/>
        </p:spPr>
        <p:txBody>
          <a:bodyPr wrap="square" rtlCol="0"/>
          <a:lstStyle>
            <a:lvl1pPr algn="l" indent="0" marL="0">
              <a:buNone/>
              <a:defRPr lang="en-US" sz="1400" dirty="0">
                <a:solidFill>
                  <a:schemeClr val="accent4"/>
                </a:solidFill>
                <a:latin typeface="Prompt" pitchFamily="34" charset="0"/>
                <a:ea typeface="Prompt" pitchFamily="34" charset="-122"/>
                <a:cs typeface="Prompt" pitchFamily="34" charset="-120"/>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3ADBB"/>
                </a:solidFill>
                <a:latin typeface="Prompt"/>
                <a:ea typeface="Prompt"/>
                <a:cs typeface="Prompt"/>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TH">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rtlCol="0"/>
          <a:lstStyle>
            <a:lvl1pPr algn="l" indent="0" marL="0">
              <a:buNone/>
              <a:defRPr lang="en-US" sz="1000" b="1" spc="150" kern="0" dirty="0">
                <a:solidFill>
                  <a:schemeClr val="accent1"/>
                </a:solidFill>
                <a:latin typeface="Prompt" pitchFamily="34" charset="0"/>
                <a:ea typeface="Prompt" pitchFamily="34" charset="-122"/>
                <a:cs typeface="Prompt" pitchFamily="34" charset="-120"/>
              </a:defRPr>
            </a:lvl1pPr>
          </a:lstStyle>
          <a:p>
            <a:pPr algn="l" indent="0" marL="0">
              <a:buNone/>
            </a:pP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rtlCol="0"/>
          <a:lstStyle>
            <a:lvl1pPr algn="l" indent="0" marL="0">
              <a:buNone/>
              <a:defRPr lang="en-US" sz="2600" b="1" dirty="0">
                <a:solidFill>
                  <a:schemeClr val="tx1"/>
                </a:solidFill>
                <a:latin typeface="Prompt" pitchFamily="34" charset="0"/>
                <a:ea typeface="Prompt" pitchFamily="34" charset="-122"/>
                <a:cs typeface="Prompt" pitchFamily="34" charset="-120"/>
              </a:defRPr>
            </a:lvl1pPr>
          </a:lstStyle>
          <a:p>
            <a:pPr algn="l" indent="0" marL="0">
              <a:buNone/>
            </a:pPr>
            <a:endParaRPr lang="en-US" sz="2600" dirty="0"/>
          </a:p>
        </p:txBody>
      </p:sp>
      <p:sp>
        <p:nvSpPr>
          <p:cNvPr id="4" name="Text 0"/>
          <p:cNvSpPr/>
          <p:nvPr/>
        </p:nvSpPr>
        <p:spPr>
          <a:xfrm>
            <a:off x="502920" y="4773168"/>
            <a:ext cx="5486400" cy="274320"/>
          </a:xfrm>
          <a:prstGeom prst="rect">
            <a:avLst/>
          </a:prstGeom>
          <a:noFill/>
          <a:ln/>
        </p:spPr>
        <p:txBody>
          <a:bodyPr wrap="square" lIns="0" tIns="0" rIns="0" bIns="0" rtlCol="0" anchor="ctr"/>
          <a:lstStyle/>
          <a:p>
            <a:pPr indent="0" marL="0">
              <a:buNone/>
            </a:pPr>
            <a:r>
              <a:rPr lang="en-US" sz="850" dirty="0">
                <a:solidFill>
                  <a:srgbClr val="A3ADBB"/>
                </a:solidFill>
                <a:latin typeface="Prompt" pitchFamily="34" charset="0"/>
                <a:ea typeface="Prompt" pitchFamily="34" charset="-122"/>
                <a:cs typeface="Prompt" pitchFamily="34" charset="-120"/>
              </a:rPr>
              <a:t>Chayanun Sungsa-ard  ·  691401708  ·  MBA  ·  ENG 501</a:t>
            </a:r>
            <a:endParaRPr lang="en-US" sz="850" dirty="0"/>
          </a:p>
        </p:txBody>
      </p:sp>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rompt"/>
                <a:ea typeface="Prompt"/>
                <a:cs typeface="Prompt"/>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3ADBB"/>
                </a:solidFill>
                <a:latin typeface="Poppins"/>
                <a:ea typeface="Poppins"/>
                <a:cs typeface="Poppi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5.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slideLayout" Target="../slideLayouts/slideLayout5.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5.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5.xml"/><Relationship Id="rId8"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6309360" cy="1143000"/>
          </a:xfrm>
          <a:prstGeom prst="rect">
            <a:avLst/>
          </a:prstGeom>
          <a:noFill/>
          <a:ln/>
        </p:spPr>
        <p:txBody>
          <a:bodyPr wrap="square" lIns="0" tIns="0" rIns="0" bIns="0" rtlCol="0" anchor="b"/>
          <a:lstStyle/>
          <a:p>
            <a:pPr algn="l" indent="0" marL="0">
              <a:buNone/>
            </a:pPr>
            <a:r>
              <a:rPr lang="en-US" sz="3200" b="1" dirty="0">
                <a:solidFill>
                  <a:schemeClr val="bg1"/>
                </a:solidFill>
                <a:latin typeface="Poppins" pitchFamily="34" charset="0"/>
                <a:ea typeface="Poppins" pitchFamily="34" charset="-122"/>
                <a:cs typeface="Poppins" pitchFamily="34" charset="-120"/>
              </a:rPr>
              <a:t>Artificial Intelligence and Work Performance</a:t>
            </a:r>
            <a:endParaRPr lang="en-US" sz="3200" dirty="0"/>
          </a:p>
        </p:txBody>
      </p:sp>
      <p:sp>
        <p:nvSpPr>
          <p:cNvPr id="3" name="Text 0"/>
          <p:cNvSpPr/>
          <p:nvPr>
            <p:ph idx="101" type="body" hasCustomPrompt="1"/>
          </p:nvPr>
        </p:nvSpPr>
        <p:spPr>
          <a:xfrm>
            <a:off x="502920" y="1463040"/>
            <a:ext cx="6309360" cy="365760"/>
          </a:xfrm>
          <a:prstGeom prst="rect">
            <a:avLst/>
          </a:prstGeom>
          <a:noFill/>
          <a:ln/>
        </p:spPr>
        <p:txBody>
          <a:bodyPr wrap="square" lIns="0" tIns="0" rIns="0" bIns="0" rtlCol="0" anchor="t"/>
          <a:lstStyle/>
          <a:p>
            <a:pPr algn="l" indent="0" marL="0">
              <a:buNone/>
            </a:pPr>
            <a:r>
              <a:rPr lang="en-US" sz="1400" dirty="0">
                <a:solidFill>
                  <a:schemeClr val="accent4"/>
                </a:solidFill>
                <a:latin typeface="Poppins" pitchFamily="34" charset="0"/>
                <a:ea typeface="Poppins" pitchFamily="34" charset="-122"/>
                <a:cs typeface="Poppins" pitchFamily="34" charset="-120"/>
              </a:rPr>
              <a:t>Evidence from two recent field experiments</a:t>
            </a:r>
            <a:endParaRPr lang="en-US" sz="1400" dirty="0"/>
          </a:p>
        </p:txBody>
      </p:sp>
      <p:pic>
        <p:nvPicPr>
          <p:cNvPr id="4" name="mascot waving" descr="preencoded.png">    </p:cNvPr>
          <p:cNvPicPr>
            <a:picLocks noChangeAspect="1"/>
          </p:cNvPicPr>
          <p:nvPr/>
        </p:nvPicPr>
        <p:blipFill>
          <a:blip r:embed="rId1"/>
          <a:stretch>
            <a:fillRect/>
          </a:stretch>
        </p:blipFill>
        <p:spPr>
          <a:xfrm>
            <a:off x="6858000" y="320040"/>
            <a:ext cx="1920240" cy="1664208"/>
          </a:xfrm>
          <a:prstGeom prst="rect">
            <a:avLst/>
          </a:prstGeom>
        </p:spPr>
      </p:pic>
      <p:sp>
        <p:nvSpPr>
          <p:cNvPr id="5" name="central question"/>
          <p:cNvSpPr txBox="1"/>
          <p:nvPr/>
        </p:nvSpPr>
        <p:spPr>
          <a:xfrm>
            <a:off x="502920" y="1938528"/>
            <a:ext cx="8138160" cy="365760"/>
          </a:xfrm>
          <a:prstGeom prst="rect">
            <a:avLst/>
          </a:prstGeom>
          <a:noFill/>
          <a:ln/>
        </p:spPr>
        <p:txBody>
          <a:bodyPr wrap="square" lIns="0" tIns="0" rIns="0" bIns="0" rtlCol="0" anchor="ctr"/>
          <a:lstStyle/>
          <a:p>
            <a:pPr indent="0" marL="0">
              <a:buNone/>
            </a:pPr>
            <a:r>
              <a:rPr lang="en-US" sz="1300" b="1" dirty="0">
                <a:solidFill>
                  <a:srgbClr val="FFFFFF"/>
                </a:solidFill>
                <a:latin typeface="Poppins" pitchFamily="34" charset="0"/>
                <a:ea typeface="Poppins" pitchFamily="34" charset="-122"/>
                <a:cs typeface="Poppins" pitchFamily="34" charset="-120"/>
              </a:rPr>
              <a:t>How does AI affect productivity, work quality, and business performance?</a:t>
            </a:r>
            <a:endParaRPr lang="en-US" sz="1300" dirty="0"/>
          </a:p>
        </p:txBody>
      </p:sp>
      <p:sp>
        <p:nvSpPr>
          <p:cNvPr id="6" name="article card 1"/>
          <p:cNvSpPr/>
          <p:nvPr/>
        </p:nvSpPr>
        <p:spPr>
          <a:xfrm>
            <a:off x="502920" y="2432304"/>
            <a:ext cx="3931920" cy="1261872"/>
          </a:xfrm>
          <a:prstGeom prst="roundRect">
            <a:avLst>
              <a:gd name="adj" fmla="val 8696"/>
            </a:avLst>
          </a:prstGeom>
          <a:solidFill>
            <a:srgbClr val="2A3D63"/>
          </a:solidFill>
          <a:ln w="12700">
            <a:solidFill>
              <a:srgbClr val="2A3D63"/>
            </a:solidFill>
            <a:prstDash val="solid"/>
          </a:ln>
        </p:spPr>
      </p:sp>
      <p:sp>
        <p:nvSpPr>
          <p:cNvPr id="7" name="article label"/>
          <p:cNvSpPr txBox="1"/>
          <p:nvPr/>
        </p:nvSpPr>
        <p:spPr>
          <a:xfrm>
            <a:off x="704088" y="2542032"/>
            <a:ext cx="3529584" cy="201168"/>
          </a:xfrm>
          <a:prstGeom prst="rect">
            <a:avLst/>
          </a:prstGeom>
          <a:noFill/>
          <a:ln/>
        </p:spPr>
        <p:txBody>
          <a:bodyPr wrap="square" lIns="0" tIns="0" rIns="0" bIns="0" rtlCol="0" anchor="ctr"/>
          <a:lstStyle/>
          <a:p>
            <a:pPr indent="0" marL="0">
              <a:buNone/>
            </a:pPr>
            <a:r>
              <a:rPr lang="en-US" sz="850" b="1" spc="150" kern="0" dirty="0">
                <a:solidFill>
                  <a:srgbClr val="BFE6E0"/>
                </a:solidFill>
                <a:latin typeface="Poppins" pitchFamily="34" charset="0"/>
                <a:ea typeface="Poppins" pitchFamily="34" charset="-122"/>
                <a:cs typeface="Poppins" pitchFamily="34" charset="-120"/>
              </a:rPr>
              <a:t>Article 2</a:t>
            </a:r>
            <a:endParaRPr lang="en-US" sz="850" dirty="0"/>
          </a:p>
        </p:txBody>
      </p:sp>
      <p:sp>
        <p:nvSpPr>
          <p:cNvPr id="8" name="article title"/>
          <p:cNvSpPr txBox="1"/>
          <p:nvPr/>
        </p:nvSpPr>
        <p:spPr>
          <a:xfrm>
            <a:off x="704088" y="2761488"/>
            <a:ext cx="3529584" cy="603504"/>
          </a:xfrm>
          <a:prstGeom prst="rect">
            <a:avLst/>
          </a:prstGeom>
          <a:noFill/>
          <a:ln/>
        </p:spPr>
        <p:txBody>
          <a:bodyPr wrap="square" lIns="0" tIns="0" rIns="0" bIns="0" rtlCol="0" anchor="t"/>
          <a:lstStyle/>
          <a:p>
            <a:pPr indent="0" marL="0">
              <a:buNone/>
            </a:pPr>
            <a:r>
              <a:rPr lang="en-US" sz="950" b="1" dirty="0">
                <a:solidFill>
                  <a:srgbClr val="FFFFFF"/>
                </a:solidFill>
                <a:latin typeface="Poppins" pitchFamily="34" charset="0"/>
                <a:ea typeface="Poppins" pitchFamily="34" charset="-122"/>
                <a:cs typeface="Poppins" pitchFamily="34" charset="-120"/>
              </a:rPr>
              <a:t>Navigating the Jagged Technological Frontier: Field Experimental Evidence of the Effects of AI on Knowledge Worker Productivity and Quality</a:t>
            </a:r>
            <a:endParaRPr lang="en-US" sz="950" dirty="0"/>
          </a:p>
        </p:txBody>
      </p:sp>
      <p:sp>
        <p:nvSpPr>
          <p:cNvPr id="9" name="article meta"/>
          <p:cNvSpPr txBox="1"/>
          <p:nvPr/>
        </p:nvSpPr>
        <p:spPr>
          <a:xfrm>
            <a:off x="704088" y="3364992"/>
            <a:ext cx="3529584" cy="292608"/>
          </a:xfrm>
          <a:prstGeom prst="rect">
            <a:avLst/>
          </a:prstGeom>
          <a:noFill/>
          <a:ln/>
        </p:spPr>
        <p:txBody>
          <a:bodyPr wrap="square" lIns="0" tIns="0" rIns="0" bIns="0" rtlCol="0" anchor="t"/>
          <a:lstStyle/>
          <a:p>
            <a:pPr indent="0" marL="0">
              <a:buNone/>
            </a:pPr>
            <a:r>
              <a:rPr lang="en-US" sz="750" dirty="0">
                <a:solidFill>
                  <a:srgbClr val="BFE6E0"/>
                </a:solidFill>
                <a:latin typeface="Poppins" pitchFamily="34" charset="0"/>
                <a:ea typeface="Poppins" pitchFamily="34" charset="-122"/>
                <a:cs typeface="Poppins" pitchFamily="34" charset="-120"/>
              </a:rPr>
              <a:t>Fabrizio Dell'Acqua et al.  ·  Harvard Business School Working Paper 24-013, 2023</a:t>
            </a:r>
            <a:endParaRPr lang="en-US" sz="750" dirty="0"/>
          </a:p>
        </p:txBody>
      </p:sp>
      <p:sp>
        <p:nvSpPr>
          <p:cNvPr id="10" name="article card 2"/>
          <p:cNvSpPr/>
          <p:nvPr/>
        </p:nvSpPr>
        <p:spPr>
          <a:xfrm>
            <a:off x="4709160" y="2432304"/>
            <a:ext cx="3931920" cy="1261872"/>
          </a:xfrm>
          <a:prstGeom prst="roundRect">
            <a:avLst>
              <a:gd name="adj" fmla="val 8696"/>
            </a:avLst>
          </a:prstGeom>
          <a:solidFill>
            <a:srgbClr val="2A3D63"/>
          </a:solidFill>
          <a:ln w="12700">
            <a:solidFill>
              <a:srgbClr val="2A3D63"/>
            </a:solidFill>
            <a:prstDash val="solid"/>
          </a:ln>
        </p:spPr>
      </p:sp>
      <p:sp>
        <p:nvSpPr>
          <p:cNvPr id="11" name="article label"/>
          <p:cNvSpPr txBox="1"/>
          <p:nvPr/>
        </p:nvSpPr>
        <p:spPr>
          <a:xfrm>
            <a:off x="4910328" y="2542032"/>
            <a:ext cx="3529584" cy="201168"/>
          </a:xfrm>
          <a:prstGeom prst="rect">
            <a:avLst/>
          </a:prstGeom>
          <a:noFill/>
          <a:ln/>
        </p:spPr>
        <p:txBody>
          <a:bodyPr wrap="square" lIns="0" tIns="0" rIns="0" bIns="0" rtlCol="0" anchor="ctr"/>
          <a:lstStyle/>
          <a:p>
            <a:pPr indent="0" marL="0">
              <a:buNone/>
            </a:pPr>
            <a:r>
              <a:rPr lang="en-US" sz="850" b="1" spc="150" kern="0" dirty="0">
                <a:solidFill>
                  <a:srgbClr val="BFE6E0"/>
                </a:solidFill>
                <a:latin typeface="Poppins" pitchFamily="34" charset="0"/>
                <a:ea typeface="Poppins" pitchFamily="34" charset="-122"/>
                <a:cs typeface="Poppins" pitchFamily="34" charset="-120"/>
              </a:rPr>
              <a:t>Article 5</a:t>
            </a:r>
            <a:endParaRPr lang="en-US" sz="850" dirty="0"/>
          </a:p>
        </p:txBody>
      </p:sp>
      <p:sp>
        <p:nvSpPr>
          <p:cNvPr id="12" name="article title"/>
          <p:cNvSpPr txBox="1"/>
          <p:nvPr/>
        </p:nvSpPr>
        <p:spPr>
          <a:xfrm>
            <a:off x="4910328" y="2761488"/>
            <a:ext cx="3529584" cy="603504"/>
          </a:xfrm>
          <a:prstGeom prst="rect">
            <a:avLst/>
          </a:prstGeom>
          <a:noFill/>
          <a:ln/>
        </p:spPr>
        <p:txBody>
          <a:bodyPr wrap="square" lIns="0" tIns="0" rIns="0" bIns="0" rtlCol="0" anchor="t"/>
          <a:lstStyle/>
          <a:p>
            <a:pPr indent="0" marL="0">
              <a:buNone/>
            </a:pPr>
            <a:r>
              <a:rPr lang="en-US" sz="950" b="1" dirty="0">
                <a:solidFill>
                  <a:srgbClr val="FFFFFF"/>
                </a:solidFill>
                <a:latin typeface="Poppins" pitchFamily="34" charset="0"/>
                <a:ea typeface="Poppins" pitchFamily="34" charset="-122"/>
                <a:cs typeface="Poppins" pitchFamily="34" charset="-120"/>
              </a:rPr>
              <a:t>The Uneven Impact of Generative Artificial Intelligence on Entrepreneurial Performance: Evidence from a Field Experiment in Kenya</a:t>
            </a:r>
            <a:endParaRPr lang="en-US" sz="950" dirty="0"/>
          </a:p>
        </p:txBody>
      </p:sp>
      <p:sp>
        <p:nvSpPr>
          <p:cNvPr id="13" name="article meta"/>
          <p:cNvSpPr txBox="1"/>
          <p:nvPr/>
        </p:nvSpPr>
        <p:spPr>
          <a:xfrm>
            <a:off x="4910328" y="3364992"/>
            <a:ext cx="3529584" cy="292608"/>
          </a:xfrm>
          <a:prstGeom prst="rect">
            <a:avLst/>
          </a:prstGeom>
          <a:noFill/>
          <a:ln/>
        </p:spPr>
        <p:txBody>
          <a:bodyPr wrap="square" lIns="0" tIns="0" rIns="0" bIns="0" rtlCol="0" anchor="t"/>
          <a:lstStyle/>
          <a:p>
            <a:pPr indent="0" marL="0">
              <a:buNone/>
            </a:pPr>
            <a:r>
              <a:rPr lang="en-US" sz="750" dirty="0">
                <a:solidFill>
                  <a:srgbClr val="BFE6E0"/>
                </a:solidFill>
                <a:latin typeface="Poppins" pitchFamily="34" charset="0"/>
                <a:ea typeface="Poppins" pitchFamily="34" charset="-122"/>
                <a:cs typeface="Poppins" pitchFamily="34" charset="-120"/>
              </a:rPr>
              <a:t>Nicholas G. Otis et al.  ·  Management Science, Vol. 72, No. 7, 2026  ·  DOI 10.1287/mnsc.2024.06909</a:t>
            </a:r>
            <a:endParaRPr lang="en-US" sz="750" dirty="0"/>
          </a:p>
        </p:txBody>
      </p:sp>
      <p:sp>
        <p:nvSpPr>
          <p:cNvPr id="14" name="roadmap head"/>
          <p:cNvSpPr txBox="1"/>
          <p:nvPr/>
        </p:nvSpPr>
        <p:spPr>
          <a:xfrm>
            <a:off x="502920" y="3840480"/>
            <a:ext cx="1051560" cy="256032"/>
          </a:xfrm>
          <a:prstGeom prst="rect">
            <a:avLst/>
          </a:prstGeom>
          <a:noFill/>
          <a:ln/>
        </p:spPr>
        <p:txBody>
          <a:bodyPr wrap="square" lIns="0" tIns="0" rIns="0" bIns="0" rtlCol="0" anchor="ctr"/>
          <a:lstStyle/>
          <a:p>
            <a:pPr indent="0" marL="0">
              <a:buNone/>
            </a:pPr>
            <a:r>
              <a:rPr lang="en-US" sz="850" b="1" dirty="0">
                <a:solidFill>
                  <a:srgbClr val="BFE6E0"/>
                </a:solidFill>
                <a:latin typeface="Poppins" pitchFamily="34" charset="0"/>
                <a:ea typeface="Poppins" pitchFamily="34" charset="-122"/>
                <a:cs typeface="Poppins" pitchFamily="34" charset="-120"/>
              </a:rPr>
              <a:t>Today's path</a:t>
            </a:r>
            <a:endParaRPr lang="en-US" sz="850" dirty="0"/>
          </a:p>
        </p:txBody>
      </p:sp>
      <p:sp>
        <p:nvSpPr>
          <p:cNvPr id="15" name="roadmap chip 1"/>
          <p:cNvSpPr/>
          <p:nvPr/>
        </p:nvSpPr>
        <p:spPr>
          <a:xfrm>
            <a:off x="1645920" y="3840480"/>
            <a:ext cx="1325880" cy="256032"/>
          </a:xfrm>
          <a:prstGeom prst="roundRect">
            <a:avLst>
              <a:gd name="adj" fmla="val 50000"/>
            </a:avLst>
          </a:prstGeom>
          <a:solidFill>
            <a:srgbClr val="2E8B86"/>
          </a:solidFill>
          <a:ln w="12700">
            <a:solidFill>
              <a:srgbClr val="2E8B86"/>
            </a:solidFill>
            <a:prstDash val="solid"/>
          </a:ln>
        </p:spPr>
      </p:sp>
      <p:sp>
        <p:nvSpPr>
          <p:cNvPr id="16" name="roadmap chip text"/>
          <p:cNvSpPr txBox="1"/>
          <p:nvPr/>
        </p:nvSpPr>
        <p:spPr>
          <a:xfrm>
            <a:off x="164592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1  Introduction</a:t>
            </a:r>
            <a:endParaRPr lang="en-US" sz="750" dirty="0"/>
          </a:p>
        </p:txBody>
      </p:sp>
      <p:sp>
        <p:nvSpPr>
          <p:cNvPr id="17" name="roadmap chip 2"/>
          <p:cNvSpPr/>
          <p:nvPr/>
        </p:nvSpPr>
        <p:spPr>
          <a:xfrm>
            <a:off x="3063240" y="3840480"/>
            <a:ext cx="1325880" cy="256032"/>
          </a:xfrm>
          <a:prstGeom prst="roundRect">
            <a:avLst>
              <a:gd name="adj" fmla="val 50000"/>
            </a:avLst>
          </a:prstGeom>
          <a:solidFill>
            <a:srgbClr val="2A3D63"/>
          </a:solidFill>
          <a:ln w="12700">
            <a:solidFill>
              <a:srgbClr val="2A3D63"/>
            </a:solidFill>
            <a:prstDash val="solid"/>
          </a:ln>
        </p:spPr>
      </p:sp>
      <p:sp>
        <p:nvSpPr>
          <p:cNvPr id="18" name="roadmap chip text"/>
          <p:cNvSpPr txBox="1"/>
          <p:nvPr/>
        </p:nvSpPr>
        <p:spPr>
          <a:xfrm>
            <a:off x="306324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2  Article 2: Method</a:t>
            </a:r>
            <a:endParaRPr lang="en-US" sz="750" dirty="0"/>
          </a:p>
        </p:txBody>
      </p:sp>
      <p:sp>
        <p:nvSpPr>
          <p:cNvPr id="19" name="roadmap chip 3"/>
          <p:cNvSpPr/>
          <p:nvPr/>
        </p:nvSpPr>
        <p:spPr>
          <a:xfrm>
            <a:off x="4480560" y="3840480"/>
            <a:ext cx="1325880" cy="256032"/>
          </a:xfrm>
          <a:prstGeom prst="roundRect">
            <a:avLst>
              <a:gd name="adj" fmla="val 50000"/>
            </a:avLst>
          </a:prstGeom>
          <a:solidFill>
            <a:srgbClr val="2A3D63"/>
          </a:solidFill>
          <a:ln w="12700">
            <a:solidFill>
              <a:srgbClr val="2A3D63"/>
            </a:solidFill>
            <a:prstDash val="solid"/>
          </a:ln>
        </p:spPr>
      </p:sp>
      <p:sp>
        <p:nvSpPr>
          <p:cNvPr id="20" name="roadmap chip text"/>
          <p:cNvSpPr txBox="1"/>
          <p:nvPr/>
        </p:nvSpPr>
        <p:spPr>
          <a:xfrm>
            <a:off x="448056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3  Article 2: Findings</a:t>
            </a:r>
            <a:endParaRPr lang="en-US" sz="750" dirty="0"/>
          </a:p>
        </p:txBody>
      </p:sp>
      <p:sp>
        <p:nvSpPr>
          <p:cNvPr id="21" name="roadmap chip 4"/>
          <p:cNvSpPr/>
          <p:nvPr/>
        </p:nvSpPr>
        <p:spPr>
          <a:xfrm>
            <a:off x="5897880" y="3840480"/>
            <a:ext cx="1325880" cy="256032"/>
          </a:xfrm>
          <a:prstGeom prst="roundRect">
            <a:avLst>
              <a:gd name="adj" fmla="val 50000"/>
            </a:avLst>
          </a:prstGeom>
          <a:solidFill>
            <a:srgbClr val="2A3D63"/>
          </a:solidFill>
          <a:ln w="12700">
            <a:solidFill>
              <a:srgbClr val="2A3D63"/>
            </a:solidFill>
            <a:prstDash val="solid"/>
          </a:ln>
        </p:spPr>
      </p:sp>
      <p:sp>
        <p:nvSpPr>
          <p:cNvPr id="22" name="roadmap chip text"/>
          <p:cNvSpPr txBox="1"/>
          <p:nvPr/>
        </p:nvSpPr>
        <p:spPr>
          <a:xfrm>
            <a:off x="589788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4  Article 5: Entrepreneurs</a:t>
            </a:r>
            <a:endParaRPr lang="en-US" sz="750" dirty="0"/>
          </a:p>
        </p:txBody>
      </p:sp>
      <p:sp>
        <p:nvSpPr>
          <p:cNvPr id="23" name="roadmap chip 5"/>
          <p:cNvSpPr/>
          <p:nvPr/>
        </p:nvSpPr>
        <p:spPr>
          <a:xfrm>
            <a:off x="7315200" y="3840480"/>
            <a:ext cx="1325880" cy="256032"/>
          </a:xfrm>
          <a:prstGeom prst="roundRect">
            <a:avLst>
              <a:gd name="adj" fmla="val 50000"/>
            </a:avLst>
          </a:prstGeom>
          <a:solidFill>
            <a:srgbClr val="2A3D63"/>
          </a:solidFill>
          <a:ln w="12700">
            <a:solidFill>
              <a:srgbClr val="2A3D63"/>
            </a:solidFill>
            <a:prstDash val="solid"/>
          </a:ln>
        </p:spPr>
      </p:sp>
      <p:sp>
        <p:nvSpPr>
          <p:cNvPr id="24" name="roadmap chip text"/>
          <p:cNvSpPr txBox="1"/>
          <p:nvPr/>
        </p:nvSpPr>
        <p:spPr>
          <a:xfrm>
            <a:off x="731520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5  Discussion</a:t>
            </a:r>
            <a:endParaRPr lang="en-US" sz="750" dirty="0"/>
          </a:p>
        </p:txBody>
      </p:sp>
      <p:sp>
        <p:nvSpPr>
          <p:cNvPr id="25" name="presenter"/>
          <p:cNvSpPr txBox="1"/>
          <p:nvPr/>
        </p:nvSpPr>
        <p:spPr>
          <a:xfrm>
            <a:off x="502920" y="4261104"/>
            <a:ext cx="8138160" cy="457200"/>
          </a:xfrm>
          <a:prstGeom prst="rect">
            <a:avLst/>
          </a:prstGeom>
          <a:noFill/>
          <a:ln/>
        </p:spPr>
        <p:txBody>
          <a:bodyPr wrap="square" lIns="0" tIns="0" rIns="0" bIns="0" rtlCol="0" anchor="t"/>
          <a:lstStyle/>
          <a:p>
            <a:pPr indent="0" marL="0">
              <a:buNone/>
            </a:pPr>
            <a:r>
              <a:rPr lang="en-US" sz="1100" b="1" dirty="0">
                <a:solidFill>
                  <a:srgbClr val="FFFFFF"/>
                </a:solidFill>
                <a:latin typeface="Poppins" pitchFamily="34" charset="0"/>
                <a:ea typeface="Poppins" pitchFamily="34" charset="-122"/>
                <a:cs typeface="Poppins" pitchFamily="34" charset="-120"/>
              </a:rPr>
              <a:t>Chayanun Sungsa-ard</a:t>
            </a:r>
            <a:endParaRPr lang="en-US" sz="1100" dirty="0"/>
          </a:p>
          <a:p>
            <a:pPr indent="0" marL="0">
              <a:buNone/>
            </a:pPr>
            <a:r>
              <a:rPr lang="en-US" sz="900" dirty="0">
                <a:solidFill>
                  <a:srgbClr val="BFE6E0"/>
                </a:solidFill>
                <a:latin typeface="Poppins" pitchFamily="34" charset="0"/>
                <a:ea typeface="Poppins" pitchFamily="34" charset="-122"/>
                <a:cs typeface="Poppins" pitchFamily="34" charset="-120"/>
              </a:rPr>
              <a:t>Student ID 691401708  ·  MBA  ·  ENG 501 English for Master's Degree</a:t>
            </a:r>
            <a:endParaRPr lang="en-US" sz="1100" dirty="0"/>
          </a:p>
        </p:txBody>
      </p:sp>
      <p:sp>
        <p:nvSpPr>
          <p:cNvPr id="26"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3ADBB"/>
                </a:solidFill>
                <a:latin typeface="Poppins"/>
                <a:ea typeface="Poppins"/>
                <a:cs typeface="Poppins"/>
              </a:defRPr>
            </a:lvl1pPr>
          </a:lstStyle>
          <a:p>
            <a:pPr algn="r"/>
            <a:fld id="{F7021451-1387-4CA6-816F-3879F97B5CBC}" type="slidenum">
              <a:rPr b="0" lang="en-US"/>
              <a:t>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23" presetClass="entr" presetSubtype="16"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Scale>
                                      <p:cBhvr>
                                        <p:cTn id="5" dur="500" fill="hold"/>
                                        <p:tgtEl>
                                          <p:spTgt spid="4"/>
                                        </p:tgtEl>
                                      </p:cBhvr>
                                      <p:from x="0" y="0"/>
                                      <p:to x="100000" y="100000"/>
                                    </p:animScale>
                                    <p:animEffect transition="in" filter="fade">
                                      <p:cBhvr>
                                        <p:cTn id="6"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childTnLst>
                          </p:cTn>
                        </p:par>
                      </p:childTnLst>
                    </p:cTn>
                  </p:par>
                  <p:par>
                    <p:cTn id="46" fill="hold">
                      <p:stCondLst>
                        <p:cond delay="indefinite"/>
                      </p:stCondLst>
                      <p:childTnLst>
                        <p:par>
                          <p:cTn id="47" fill="hold">
                            <p:stCondLst>
                              <p:cond delay="0"/>
                            </p:stCondLst>
                            <p:childTnLst>
                              <p:par>
                                <p:cTn id="14" presetID="42" presetClass="entr" presetSubtype="0"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700"/>
                                        <p:tgtEl>
                                          <p:spTgt spid="6"/>
                                        </p:tgtEl>
                                      </p:cBhvr>
                                    </p:animEffect>
                                    <p:anim calcmode="lin" valueType="num">
                                      <p:cBhvr additive="base">
                                        <p:cTn id="17" dur="700" fill="hold"/>
                                        <p:tgtEl>
                                          <p:spTgt spid="6"/>
                                        </p:tgtEl>
                                        <p:attrNameLst>
                                          <p:attrName>ppt_y</p:attrName>
                                        </p:attrNameLst>
                                      </p:cBhvr>
                                      <p:tavLst>
                                        <p:tav tm="0">
                                          <p:val>
                                            <p:strVal val="#ppt_y+.08"/>
                                          </p:val>
                                        </p:tav>
                                        <p:tav tm="100000">
                                          <p:val>
                                            <p:strVal val="#ppt_y"/>
                                          </p:val>
                                        </p:tav>
                                      </p:tavLst>
                                    </p:anim>
                                  </p:childTnLst>
                                </p:cTn>
                              </p:par>
                              <p:par>
                                <p:cTn id="18" presetID="42" presetClass="entr" presetSubtype="0" fill="hold" grpId="0" nodeType="with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700"/>
                                        <p:tgtEl>
                                          <p:spTgt spid="10"/>
                                        </p:tgtEl>
                                      </p:cBhvr>
                                    </p:animEffect>
                                    <p:anim calcmode="lin" valueType="num">
                                      <p:cBhvr additive="base">
                                        <p:cTn id="21" dur="700" fill="hold"/>
                                        <p:tgtEl>
                                          <p:spTgt spid="10"/>
                                        </p:tgtEl>
                                        <p:attrNameLst>
                                          <p:attrName>ppt_y</p:attrName>
                                        </p:attrNameLst>
                                      </p:cBhvr>
                                      <p:tavLst>
                                        <p:tav tm="0">
                                          <p:val>
                                            <p:strVal val="#ppt_y+.0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700"/>
                                        <p:tgtEl>
                                          <p:spTgt spid="7"/>
                                        </p:tgtEl>
                                      </p:cBhvr>
                                    </p:animEffect>
                                    <p:anim calcmode="lin" valueType="num">
                                      <p:cBhvr additive="base">
                                        <p:cTn id="25" dur="700" fill="hold"/>
                                        <p:tgtEl>
                                          <p:spTgt spid="7"/>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8"/>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700"/>
                                        <p:tgtEl>
                                          <p:spTgt spid="8"/>
                                        </p:tgtEl>
                                      </p:cBhvr>
                                    </p:animEffect>
                                    <p:anim calcmode="lin" valueType="num">
                                      <p:cBhvr additive="base">
                                        <p:cTn id="33" dur="700" fill="hold"/>
                                        <p:tgtEl>
                                          <p:spTgt spid="8"/>
                                        </p:tgtEl>
                                        <p:attrNameLst>
                                          <p:attrName>ppt_y</p:attrName>
                                        </p:attrNameLst>
                                      </p:cBhvr>
                                      <p:tavLst>
                                        <p:tav tm="0">
                                          <p:val>
                                            <p:strVal val="#ppt_y+.0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700"/>
                                        <p:tgtEl>
                                          <p:spTgt spid="9"/>
                                        </p:tgtEl>
                                      </p:cBhvr>
                                    </p:animEffect>
                                    <p:anim calcmode="lin" valueType="num">
                                      <p:cBhvr additive="base">
                                        <p:cTn id="41" dur="700" fill="hold"/>
                                        <p:tgtEl>
                                          <p:spTgt spid="9"/>
                                        </p:tgtEl>
                                        <p:attrNameLst>
                                          <p:attrName>ppt_y</p:attrName>
                                        </p:attrNameLst>
                                      </p:cBhvr>
                                      <p:tavLst>
                                        <p:tav tm="0">
                                          <p:val>
                                            <p:strVal val="#ppt_y+.08"/>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8"/>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500"/>
                                        <p:tgtEl>
                                          <p:spTgt spid="1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500"/>
                                        <p:tgtEl>
                                          <p:spTgt spid="1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500"/>
                                        <p:tgtEl>
                                          <p:spTgt spid="1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500"/>
                                        <p:tgtEl>
                                          <p:spTgt spid="18"/>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500"/>
                                        <p:tgtEl>
                                          <p:spTgt spid="19"/>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500"/>
                                        <p:tgtEl>
                                          <p:spTgt spid="20"/>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500"/>
                                        <p:tgtEl>
                                          <p:spTgt spid="21"/>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500"/>
                                        <p:tgtEl>
                                          <p:spTgt spid="22"/>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500"/>
                                        <p:tgtEl>
                                          <p:spTgt spid="23"/>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0" grpId="0" animBg="1"/>
      <p:bldP spid="7" grpId="0" animBg="1"/>
      <p:bldP spid="11" grpId="0" animBg="1"/>
      <p:bldP spid="8" grpId="0" animBg="1"/>
      <p:bldP spid="12" grpId="0" animBg="1"/>
      <p:bldP spid="9"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oppins" pitchFamily="34" charset="0"/>
                <a:ea typeface="Poppins" pitchFamily="34" charset="-122"/>
                <a:cs typeface="Poppins" pitchFamily="34" charset="-120"/>
              </a:rPr>
              <a:t>Article 2  ·  Research purpose and method</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oppins" pitchFamily="34" charset="0"/>
                <a:ea typeface="Poppins" pitchFamily="34" charset="-122"/>
                <a:cs typeface="Poppins" pitchFamily="34" charset="-120"/>
              </a:rPr>
              <a:t>Navigating the Jagged Technological Frontier</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2E8B86"/>
          </a:solidFill>
          <a:ln w="12700">
            <a:solidFill>
              <a:srgbClr val="2E8B86"/>
            </a:solidFill>
            <a:prstDash val="solid"/>
          </a:ln>
        </p:spPr>
      </p:sp>
      <p:sp>
        <p:nvSpPr>
          <p:cNvPr id="6" name="progress dot 3"/>
          <p:cNvSpPr/>
          <p:nvPr/>
        </p:nvSpPr>
        <p:spPr>
          <a:xfrm>
            <a:off x="8174736" y="342900"/>
            <a:ext cx="100584" cy="100584"/>
          </a:xfrm>
          <a:prstGeom prst="ellipse">
            <a:avLst/>
          </a:prstGeom>
          <a:solidFill>
            <a:srgbClr val="E3E8EE"/>
          </a:solidFill>
          <a:ln w="12700">
            <a:solidFill>
              <a:srgbClr val="E3E8EE"/>
            </a:solidFill>
            <a:prstDash val="solid"/>
          </a:ln>
        </p:spPr>
      </p:sp>
      <p:sp>
        <p:nvSpPr>
          <p:cNvPr id="7" name="progress dot 4"/>
          <p:cNvSpPr/>
          <p:nvPr/>
        </p:nvSpPr>
        <p:spPr>
          <a:xfrm>
            <a:off x="8357616" y="342900"/>
            <a:ext cx="100584" cy="100584"/>
          </a:xfrm>
          <a:prstGeom prst="ellipse">
            <a:avLst/>
          </a:prstGeom>
          <a:solidFill>
            <a:srgbClr val="E3E8EE"/>
          </a:solidFill>
          <a:ln w="12700">
            <a:solidFill>
              <a:srgbClr val="E3E8EE"/>
            </a:solidFill>
            <a:prstDash val="solid"/>
          </a:ln>
        </p:spPr>
      </p:sp>
      <p:sp>
        <p:nvSpPr>
          <p:cNvPr id="8" name="progress dot 5"/>
          <p:cNvSpPr/>
          <p:nvPr/>
        </p:nvSpPr>
        <p:spPr>
          <a:xfrm>
            <a:off x="8540496" y="342900"/>
            <a:ext cx="100584" cy="100584"/>
          </a:xfrm>
          <a:prstGeom prst="ellipse">
            <a:avLst/>
          </a:prstGeom>
          <a:solidFill>
            <a:srgbClr val="E3E8EE"/>
          </a:solidFill>
          <a:ln w="12700">
            <a:solidFill>
              <a:srgbClr val="E3E8EE"/>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800" dirty="0">
                <a:solidFill>
                  <a:srgbClr val="A3ADBB"/>
                </a:solidFill>
                <a:latin typeface="Poppins" pitchFamily="34" charset="0"/>
                <a:ea typeface="Poppins" pitchFamily="34" charset="-122"/>
                <a:cs typeface="Poppins" pitchFamily="34" charset="-120"/>
              </a:rPr>
              <a:t>2 / 5</a:t>
            </a:r>
            <a:endParaRPr lang="en-US" sz="800" dirty="0"/>
          </a:p>
        </p:txBody>
      </p:sp>
      <p:sp>
        <p:nvSpPr>
          <p:cNvPr id="10" name="icon circle"/>
          <p:cNvSpPr/>
          <p:nvPr/>
        </p:nvSpPr>
        <p:spPr>
          <a:xfrm>
            <a:off x="502920" y="1481328"/>
            <a:ext cx="365760" cy="365760"/>
          </a:xfrm>
          <a:prstGeom prst="ellipse">
            <a:avLst/>
          </a:prstGeom>
          <a:solidFill>
            <a:srgbClr val="F3F5F8"/>
          </a:solidFill>
          <a:ln w="12700">
            <a:solidFill>
              <a:srgbClr val="F3F5F8"/>
            </a:solidFill>
            <a:prstDash val="solid"/>
          </a:ln>
        </p:spPr>
      </p:sp>
      <p:pic>
        <p:nvPicPr>
          <p:cNvPr id="11" name="icon FiBriefcase" descr="preencoded.png">    </p:cNvPr>
          <p:cNvPicPr>
            <a:picLocks noChangeAspect="1"/>
          </p:cNvPicPr>
          <p:nvPr/>
        </p:nvPicPr>
        <p:blipFill>
          <a:blip r:embed="rId1"/>
          <a:stretch>
            <a:fillRect/>
          </a:stretch>
        </p:blipFill>
        <p:spPr>
          <a:xfrm>
            <a:off x="585216" y="1563624"/>
            <a:ext cx="201168" cy="201168"/>
          </a:xfrm>
          <a:prstGeom prst="rect">
            <a:avLst/>
          </a:prstGeom>
        </p:spPr>
      </p:pic>
      <p:sp>
        <p:nvSpPr>
          <p:cNvPr id="12" name="fact Partner"/>
          <p:cNvSpPr txBox="1"/>
          <p:nvPr/>
        </p:nvSpPr>
        <p:spPr>
          <a:xfrm>
            <a:off x="1005840" y="1435608"/>
            <a:ext cx="3429000" cy="539496"/>
          </a:xfrm>
          <a:prstGeom prst="rect">
            <a:avLst/>
          </a:prstGeom>
          <a:noFill/>
          <a:ln/>
        </p:spPr>
        <p:txBody>
          <a:bodyPr wrap="square" lIns="0" tIns="0" rIns="0" bIns="0" rtlCol="0" anchor="t"/>
          <a:lstStyle/>
          <a:p>
            <a:pPr indent="0" marL="0">
              <a:buNone/>
            </a:pPr>
            <a:r>
              <a:rPr lang="en-US" sz="1100" b="1" dirty="0">
                <a:solidFill>
                  <a:schemeClr val="tx1"/>
                </a:solidFill>
                <a:latin typeface="Poppins" pitchFamily="34" charset="0"/>
                <a:ea typeface="Poppins" pitchFamily="34" charset="-122"/>
                <a:cs typeface="Poppins" pitchFamily="34" charset="-120"/>
              </a:rPr>
              <a:t>Partner</a:t>
            </a:r>
            <a:endParaRPr lang="en-US" sz="1100" dirty="0"/>
          </a:p>
          <a:p>
            <a:pPr indent="0" marL="0">
              <a:buNone/>
            </a:pPr>
            <a:r>
              <a:rPr lang="en-US" sz="1000" dirty="0">
                <a:solidFill>
                  <a:schemeClr val="tx2"/>
                </a:solidFill>
                <a:latin typeface="Poppins" pitchFamily="34" charset="0"/>
                <a:ea typeface="Poppins" pitchFamily="34" charset="-122"/>
                <a:cs typeface="Poppins" pitchFamily="34" charset="-120"/>
              </a:rPr>
              <a:t>Field experiment with Boston Consulting Group (BCG)</a:t>
            </a:r>
            <a:endParaRPr lang="en-US" sz="1100" dirty="0"/>
          </a:p>
        </p:txBody>
      </p:sp>
      <p:sp>
        <p:nvSpPr>
          <p:cNvPr id="13" name="icon circle"/>
          <p:cNvSpPr/>
          <p:nvPr/>
        </p:nvSpPr>
        <p:spPr>
          <a:xfrm>
            <a:off x="502920" y="2066544"/>
            <a:ext cx="365760" cy="365760"/>
          </a:xfrm>
          <a:prstGeom prst="ellipse">
            <a:avLst/>
          </a:prstGeom>
          <a:solidFill>
            <a:srgbClr val="F3F5F8"/>
          </a:solidFill>
          <a:ln w="12700">
            <a:solidFill>
              <a:srgbClr val="F3F5F8"/>
            </a:solidFill>
            <a:prstDash val="solid"/>
          </a:ln>
        </p:spPr>
      </p:sp>
      <p:pic>
        <p:nvPicPr>
          <p:cNvPr id="14" name="icon FiUsers" descr="preencoded.png">    </p:cNvPr>
          <p:cNvPicPr>
            <a:picLocks noChangeAspect="1"/>
          </p:cNvPicPr>
          <p:nvPr/>
        </p:nvPicPr>
        <p:blipFill>
          <a:blip r:embed="rId2"/>
          <a:stretch>
            <a:fillRect/>
          </a:stretch>
        </p:blipFill>
        <p:spPr>
          <a:xfrm>
            <a:off x="585216" y="2148840"/>
            <a:ext cx="201168" cy="201168"/>
          </a:xfrm>
          <a:prstGeom prst="rect">
            <a:avLst/>
          </a:prstGeom>
        </p:spPr>
      </p:pic>
      <p:sp>
        <p:nvSpPr>
          <p:cNvPr id="15" name="fact Participants"/>
          <p:cNvSpPr txBox="1"/>
          <p:nvPr/>
        </p:nvSpPr>
        <p:spPr>
          <a:xfrm>
            <a:off x="1005840" y="2020824"/>
            <a:ext cx="3429000" cy="539496"/>
          </a:xfrm>
          <a:prstGeom prst="rect">
            <a:avLst/>
          </a:prstGeom>
          <a:noFill/>
          <a:ln/>
        </p:spPr>
        <p:txBody>
          <a:bodyPr wrap="square" lIns="0" tIns="0" rIns="0" bIns="0" rtlCol="0" anchor="t"/>
          <a:lstStyle/>
          <a:p>
            <a:pPr indent="0" marL="0">
              <a:buNone/>
            </a:pPr>
            <a:r>
              <a:rPr lang="en-US" sz="1100" b="1" dirty="0">
                <a:solidFill>
                  <a:schemeClr val="tx1"/>
                </a:solidFill>
                <a:latin typeface="Poppins" pitchFamily="34" charset="0"/>
                <a:ea typeface="Poppins" pitchFamily="34" charset="-122"/>
                <a:cs typeface="Poppins" pitchFamily="34" charset="-120"/>
              </a:rPr>
              <a:t>Participants</a:t>
            </a:r>
            <a:endParaRPr lang="en-US" sz="1100" dirty="0"/>
          </a:p>
          <a:p>
            <a:pPr indent="0" marL="0">
              <a:buNone/>
            </a:pPr>
            <a:r>
              <a:rPr lang="en-US" sz="1000" dirty="0">
                <a:solidFill>
                  <a:schemeClr val="tx2"/>
                </a:solidFill>
                <a:latin typeface="Poppins" pitchFamily="34" charset="0"/>
                <a:ea typeface="Poppins" pitchFamily="34" charset="-122"/>
                <a:cs typeface="Poppins" pitchFamily="34" charset="-120"/>
              </a:rPr>
              <a:t>758 consultants</a:t>
            </a:r>
            <a:endParaRPr lang="en-US" sz="1100" dirty="0"/>
          </a:p>
        </p:txBody>
      </p:sp>
      <p:sp>
        <p:nvSpPr>
          <p:cNvPr id="16" name="icon circle"/>
          <p:cNvSpPr/>
          <p:nvPr/>
        </p:nvSpPr>
        <p:spPr>
          <a:xfrm>
            <a:off x="502920" y="2651760"/>
            <a:ext cx="365760" cy="365760"/>
          </a:xfrm>
          <a:prstGeom prst="ellipse">
            <a:avLst/>
          </a:prstGeom>
          <a:solidFill>
            <a:srgbClr val="F3F5F8"/>
          </a:solidFill>
          <a:ln w="12700">
            <a:solidFill>
              <a:srgbClr val="F3F5F8"/>
            </a:solidFill>
            <a:prstDash val="solid"/>
          </a:ln>
        </p:spPr>
      </p:sp>
      <p:pic>
        <p:nvPicPr>
          <p:cNvPr id="17" name="icon FiTarget" descr="preencoded.png">    </p:cNvPr>
          <p:cNvPicPr>
            <a:picLocks noChangeAspect="1"/>
          </p:cNvPicPr>
          <p:nvPr/>
        </p:nvPicPr>
        <p:blipFill>
          <a:blip r:embed="rId3"/>
          <a:stretch>
            <a:fillRect/>
          </a:stretch>
        </p:blipFill>
        <p:spPr>
          <a:xfrm>
            <a:off x="585216" y="2734056"/>
            <a:ext cx="201168" cy="201168"/>
          </a:xfrm>
          <a:prstGeom prst="rect">
            <a:avLst/>
          </a:prstGeom>
        </p:spPr>
      </p:pic>
      <p:sp>
        <p:nvSpPr>
          <p:cNvPr id="18" name="fact Focus"/>
          <p:cNvSpPr txBox="1"/>
          <p:nvPr/>
        </p:nvSpPr>
        <p:spPr>
          <a:xfrm>
            <a:off x="1005840" y="2606040"/>
            <a:ext cx="3429000" cy="539496"/>
          </a:xfrm>
          <a:prstGeom prst="rect">
            <a:avLst/>
          </a:prstGeom>
          <a:noFill/>
          <a:ln/>
        </p:spPr>
        <p:txBody>
          <a:bodyPr wrap="square" lIns="0" tIns="0" rIns="0" bIns="0" rtlCol="0" anchor="t"/>
          <a:lstStyle/>
          <a:p>
            <a:pPr indent="0" marL="0">
              <a:buNone/>
            </a:pPr>
            <a:r>
              <a:rPr lang="en-US" sz="1100" b="1" dirty="0">
                <a:solidFill>
                  <a:schemeClr val="tx1"/>
                </a:solidFill>
                <a:latin typeface="Poppins" pitchFamily="34" charset="0"/>
                <a:ea typeface="Poppins" pitchFamily="34" charset="-122"/>
                <a:cs typeface="Poppins" pitchFamily="34" charset="-120"/>
              </a:rPr>
              <a:t>Focus</a:t>
            </a:r>
            <a:endParaRPr lang="en-US" sz="1100" dirty="0"/>
          </a:p>
          <a:p>
            <a:pPr indent="0" marL="0">
              <a:buNone/>
            </a:pPr>
            <a:r>
              <a:rPr lang="en-US" sz="1000" dirty="0">
                <a:solidFill>
                  <a:schemeClr val="tx2"/>
                </a:solidFill>
                <a:latin typeface="Poppins" pitchFamily="34" charset="0"/>
                <a:ea typeface="Poppins" pitchFamily="34" charset="-122"/>
                <a:cs typeface="Poppins" pitchFamily="34" charset="-120"/>
              </a:rPr>
              <a:t>Productivity, work quality, and the limits of AI</a:t>
            </a:r>
            <a:endParaRPr lang="en-US" sz="1100" dirty="0"/>
          </a:p>
        </p:txBody>
      </p:sp>
      <p:sp>
        <p:nvSpPr>
          <p:cNvPr id="19" name="conditions head"/>
          <p:cNvSpPr txBox="1"/>
          <p:nvPr/>
        </p:nvSpPr>
        <p:spPr>
          <a:xfrm>
            <a:off x="502920" y="3273552"/>
            <a:ext cx="3931920" cy="237744"/>
          </a:xfrm>
          <a:prstGeom prst="rect">
            <a:avLst/>
          </a:prstGeom>
          <a:noFill/>
          <a:ln/>
        </p:spPr>
        <p:txBody>
          <a:bodyPr wrap="square" lIns="0" tIns="0" rIns="0" bIns="0" rtlCol="0" anchor="ctr"/>
          <a:lstStyle/>
          <a:p>
            <a:pPr indent="0" marL="0">
              <a:buNone/>
            </a:pPr>
            <a:r>
              <a:rPr lang="en-US" sz="1050" b="1" dirty="0">
                <a:solidFill>
                  <a:schemeClr val="tx1"/>
                </a:solidFill>
                <a:latin typeface="Poppins" pitchFamily="34" charset="0"/>
                <a:ea typeface="Poppins" pitchFamily="34" charset="-122"/>
                <a:cs typeface="Poppins" pitchFamily="34" charset="-120"/>
              </a:rPr>
              <a:t>Three experimental conditions</a:t>
            </a:r>
            <a:endParaRPr lang="en-US" sz="1050" dirty="0"/>
          </a:p>
        </p:txBody>
      </p:sp>
      <p:sp>
        <p:nvSpPr>
          <p:cNvPr id="20" name="condition 1"/>
          <p:cNvSpPr/>
          <p:nvPr/>
        </p:nvSpPr>
        <p:spPr>
          <a:xfrm>
            <a:off x="502920" y="3566160"/>
            <a:ext cx="1219200" cy="749808"/>
          </a:xfrm>
          <a:prstGeom prst="roundRect">
            <a:avLst>
              <a:gd name="adj" fmla="val 14634"/>
            </a:avLst>
          </a:prstGeom>
          <a:solidFill>
            <a:srgbClr val="F3F5F8"/>
          </a:solidFill>
          <a:ln w="12700">
            <a:solidFill>
              <a:srgbClr val="F3F5F8"/>
            </a:solidFill>
            <a:prstDash val="solid"/>
          </a:ln>
        </p:spPr>
      </p:sp>
      <p:sp>
        <p:nvSpPr>
          <p:cNvPr id="21" name="condition number"/>
          <p:cNvSpPr txBox="1"/>
          <p:nvPr/>
        </p:nvSpPr>
        <p:spPr>
          <a:xfrm>
            <a:off x="612648" y="3611880"/>
            <a:ext cx="274320" cy="237744"/>
          </a:xfrm>
          <a:prstGeom prst="rect">
            <a:avLst/>
          </a:prstGeom>
          <a:noFill/>
          <a:ln/>
        </p:spPr>
        <p:txBody>
          <a:bodyPr wrap="square" lIns="0" tIns="0" rIns="0" bIns="0" rtlCol="0" anchor="ctr"/>
          <a:lstStyle/>
          <a:p>
            <a:pPr indent="0" marL="0">
              <a:buNone/>
            </a:pPr>
            <a:r>
              <a:rPr lang="en-US" sz="1200" b="1" dirty="0">
                <a:solidFill>
                  <a:srgbClr val="2E8B86"/>
                </a:solidFill>
                <a:latin typeface="Poppins" pitchFamily="34" charset="0"/>
                <a:ea typeface="Poppins" pitchFamily="34" charset="-122"/>
                <a:cs typeface="Poppins" pitchFamily="34" charset="-120"/>
              </a:rPr>
              <a:t>1</a:t>
            </a:r>
            <a:endParaRPr lang="en-US" sz="1200" dirty="0"/>
          </a:p>
        </p:txBody>
      </p:sp>
      <p:sp>
        <p:nvSpPr>
          <p:cNvPr id="22" name="condition text"/>
          <p:cNvSpPr txBox="1"/>
          <p:nvPr/>
        </p:nvSpPr>
        <p:spPr>
          <a:xfrm>
            <a:off x="612648" y="3840480"/>
            <a:ext cx="999744" cy="438912"/>
          </a:xfrm>
          <a:prstGeom prst="rect">
            <a:avLst/>
          </a:prstGeom>
          <a:noFill/>
          <a:ln/>
        </p:spPr>
        <p:txBody>
          <a:bodyPr wrap="square" lIns="0" tIns="0" rIns="0" bIns="0" rtlCol="0" anchor="t"/>
          <a:lstStyle/>
          <a:p>
            <a:pPr indent="0" marL="0">
              <a:buNone/>
            </a:pPr>
            <a:r>
              <a:rPr lang="en-US" sz="850" dirty="0">
                <a:solidFill>
                  <a:schemeClr val="tx1"/>
                </a:solidFill>
                <a:latin typeface="Poppins" pitchFamily="34" charset="0"/>
                <a:ea typeface="Poppins" pitchFamily="34" charset="-122"/>
                <a:cs typeface="Poppins" pitchFamily="34" charset="-120"/>
              </a:rPr>
              <a:t>No AI access</a:t>
            </a:r>
            <a:endParaRPr lang="en-US" sz="850" dirty="0"/>
          </a:p>
        </p:txBody>
      </p:sp>
      <p:sp>
        <p:nvSpPr>
          <p:cNvPr id="23" name="condition 2"/>
          <p:cNvSpPr/>
          <p:nvPr/>
        </p:nvSpPr>
        <p:spPr>
          <a:xfrm>
            <a:off x="1859280" y="3566160"/>
            <a:ext cx="1219200" cy="749808"/>
          </a:xfrm>
          <a:prstGeom prst="roundRect">
            <a:avLst>
              <a:gd name="adj" fmla="val 14634"/>
            </a:avLst>
          </a:prstGeom>
          <a:solidFill>
            <a:srgbClr val="F3F5F8"/>
          </a:solidFill>
          <a:ln w="12700">
            <a:solidFill>
              <a:srgbClr val="F3F5F8"/>
            </a:solidFill>
            <a:prstDash val="solid"/>
          </a:ln>
        </p:spPr>
      </p:sp>
      <p:sp>
        <p:nvSpPr>
          <p:cNvPr id="24" name="condition number"/>
          <p:cNvSpPr txBox="1"/>
          <p:nvPr/>
        </p:nvSpPr>
        <p:spPr>
          <a:xfrm>
            <a:off x="1969008" y="3611880"/>
            <a:ext cx="274320" cy="237744"/>
          </a:xfrm>
          <a:prstGeom prst="rect">
            <a:avLst/>
          </a:prstGeom>
          <a:noFill/>
          <a:ln/>
        </p:spPr>
        <p:txBody>
          <a:bodyPr wrap="square" lIns="0" tIns="0" rIns="0" bIns="0" rtlCol="0" anchor="ctr"/>
          <a:lstStyle/>
          <a:p>
            <a:pPr indent="0" marL="0">
              <a:buNone/>
            </a:pPr>
            <a:r>
              <a:rPr lang="en-US" sz="1200" b="1" dirty="0">
                <a:solidFill>
                  <a:srgbClr val="2E8B86"/>
                </a:solidFill>
                <a:latin typeface="Poppins" pitchFamily="34" charset="0"/>
                <a:ea typeface="Poppins" pitchFamily="34" charset="-122"/>
                <a:cs typeface="Poppins" pitchFamily="34" charset="-120"/>
              </a:rPr>
              <a:t>2</a:t>
            </a:r>
            <a:endParaRPr lang="en-US" sz="1200" dirty="0"/>
          </a:p>
        </p:txBody>
      </p:sp>
      <p:sp>
        <p:nvSpPr>
          <p:cNvPr id="25" name="condition text"/>
          <p:cNvSpPr txBox="1"/>
          <p:nvPr/>
        </p:nvSpPr>
        <p:spPr>
          <a:xfrm>
            <a:off x="1969008" y="3840480"/>
            <a:ext cx="999744" cy="438912"/>
          </a:xfrm>
          <a:prstGeom prst="rect">
            <a:avLst/>
          </a:prstGeom>
          <a:noFill/>
          <a:ln/>
        </p:spPr>
        <p:txBody>
          <a:bodyPr wrap="square" lIns="0" tIns="0" rIns="0" bIns="0" rtlCol="0" anchor="t"/>
          <a:lstStyle/>
          <a:p>
            <a:pPr indent="0" marL="0">
              <a:buNone/>
            </a:pPr>
            <a:r>
              <a:rPr lang="en-US" sz="850" dirty="0">
                <a:solidFill>
                  <a:schemeClr val="tx1"/>
                </a:solidFill>
                <a:latin typeface="Poppins" pitchFamily="34" charset="0"/>
                <a:ea typeface="Poppins" pitchFamily="34" charset="-122"/>
                <a:cs typeface="Poppins" pitchFamily="34" charset="-120"/>
              </a:rPr>
              <a:t>GPT-4 access</a:t>
            </a:r>
            <a:endParaRPr lang="en-US" sz="850" dirty="0"/>
          </a:p>
        </p:txBody>
      </p:sp>
      <p:sp>
        <p:nvSpPr>
          <p:cNvPr id="26" name="condition 3"/>
          <p:cNvSpPr/>
          <p:nvPr/>
        </p:nvSpPr>
        <p:spPr>
          <a:xfrm>
            <a:off x="3215640" y="3566160"/>
            <a:ext cx="1219200" cy="749808"/>
          </a:xfrm>
          <a:prstGeom prst="roundRect">
            <a:avLst>
              <a:gd name="adj" fmla="val 14634"/>
            </a:avLst>
          </a:prstGeom>
          <a:solidFill>
            <a:srgbClr val="1B2A4A"/>
          </a:solidFill>
          <a:ln w="12700">
            <a:solidFill>
              <a:srgbClr val="1B2A4A"/>
            </a:solidFill>
            <a:prstDash val="solid"/>
          </a:ln>
        </p:spPr>
      </p:sp>
      <p:sp>
        <p:nvSpPr>
          <p:cNvPr id="27" name="condition number"/>
          <p:cNvSpPr txBox="1"/>
          <p:nvPr/>
        </p:nvSpPr>
        <p:spPr>
          <a:xfrm>
            <a:off x="3325368" y="3611880"/>
            <a:ext cx="274320" cy="237744"/>
          </a:xfrm>
          <a:prstGeom prst="rect">
            <a:avLst/>
          </a:prstGeom>
          <a:noFill/>
          <a:ln/>
        </p:spPr>
        <p:txBody>
          <a:bodyPr wrap="square" lIns="0" tIns="0" rIns="0" bIns="0" rtlCol="0" anchor="ctr"/>
          <a:lstStyle/>
          <a:p>
            <a:pPr indent="0" marL="0">
              <a:buNone/>
            </a:pPr>
            <a:r>
              <a:rPr lang="en-US" sz="1200" b="1" dirty="0">
                <a:solidFill>
                  <a:srgbClr val="BFE6E0"/>
                </a:solidFill>
                <a:latin typeface="Poppins" pitchFamily="34" charset="0"/>
                <a:ea typeface="Poppins" pitchFamily="34" charset="-122"/>
                <a:cs typeface="Poppins" pitchFamily="34" charset="-120"/>
              </a:rPr>
              <a:t>3</a:t>
            </a:r>
            <a:endParaRPr lang="en-US" sz="1200" dirty="0"/>
          </a:p>
        </p:txBody>
      </p:sp>
      <p:sp>
        <p:nvSpPr>
          <p:cNvPr id="28" name="condition text"/>
          <p:cNvSpPr txBox="1"/>
          <p:nvPr/>
        </p:nvSpPr>
        <p:spPr>
          <a:xfrm>
            <a:off x="3325368" y="3840480"/>
            <a:ext cx="999744" cy="438912"/>
          </a:xfrm>
          <a:prstGeom prst="rect">
            <a:avLst/>
          </a:prstGeom>
          <a:noFill/>
          <a:ln/>
        </p:spPr>
        <p:txBody>
          <a:bodyPr wrap="square" lIns="0" tIns="0" rIns="0" bIns="0" rtlCol="0" anchor="t"/>
          <a:lstStyle/>
          <a:p>
            <a:pPr indent="0" marL="0">
              <a:buNone/>
            </a:pPr>
            <a:r>
              <a:rPr lang="en-US" sz="850" dirty="0">
                <a:solidFill>
                  <a:srgbClr val="FFFFFF"/>
                </a:solidFill>
                <a:latin typeface="Poppins" pitchFamily="34" charset="0"/>
                <a:ea typeface="Poppins" pitchFamily="34" charset="-122"/>
                <a:cs typeface="Poppins" pitchFamily="34" charset="-120"/>
              </a:rPr>
              <a:t>GPT-4 + prompt engineering guidance</a:t>
            </a:r>
            <a:endParaRPr lang="en-US" sz="850" dirty="0"/>
          </a:p>
        </p:txBody>
      </p:sp>
      <p:sp>
        <p:nvSpPr>
          <p:cNvPr id="29" name="divider"/>
          <p:cNvSpPr/>
          <p:nvPr/>
        </p:nvSpPr>
        <p:spPr>
          <a:xfrm>
            <a:off x="4663440" y="1481328"/>
            <a:ext cx="0" cy="0"/>
          </a:xfrm>
          <a:prstGeom prst="line">
            <a:avLst/>
          </a:prstGeom>
          <a:noFill/>
          <a:ln w="9525">
            <a:solidFill>
              <a:srgbClr val="E3E8EE"/>
            </a:solidFill>
            <a:prstDash val="solid"/>
          </a:ln>
        </p:spPr>
      </p:sp>
      <p:sp>
        <p:nvSpPr>
          <p:cNvPr id="30" name="column divider"/>
          <p:cNvSpPr/>
          <p:nvPr/>
        </p:nvSpPr>
        <p:spPr>
          <a:xfrm>
            <a:off x="4663440" y="1481328"/>
            <a:ext cx="0" cy="2834640"/>
          </a:xfrm>
          <a:prstGeom prst="line">
            <a:avLst/>
          </a:prstGeom>
          <a:noFill/>
          <a:ln w="9525">
            <a:solidFill>
              <a:srgbClr val="E3E8EE"/>
            </a:solidFill>
            <a:prstDash val="solid"/>
          </a:ln>
        </p:spPr>
      </p:sp>
      <p:sp>
        <p:nvSpPr>
          <p:cNvPr id="31" name="tag concept"/>
          <p:cNvSpPr/>
          <p:nvPr/>
        </p:nvSpPr>
        <p:spPr>
          <a:xfrm>
            <a:off x="4892040" y="1481328"/>
            <a:ext cx="1143000" cy="201168"/>
          </a:xfrm>
          <a:prstGeom prst="roundRect">
            <a:avLst>
              <a:gd name="adj" fmla="val 50000"/>
            </a:avLst>
          </a:prstGeom>
          <a:solidFill>
            <a:srgbClr val="F3F5F8"/>
          </a:solidFill>
          <a:ln w="12700">
            <a:solidFill>
              <a:srgbClr val="F3F5F8"/>
            </a:solidFill>
            <a:prstDash val="solid"/>
          </a:ln>
        </p:spPr>
      </p:sp>
      <p:sp>
        <p:nvSpPr>
          <p:cNvPr id="32" name="tag text"/>
          <p:cNvSpPr txBox="1"/>
          <p:nvPr/>
        </p:nvSpPr>
        <p:spPr>
          <a:xfrm>
            <a:off x="4892040" y="1481328"/>
            <a:ext cx="1143000" cy="201168"/>
          </a:xfrm>
          <a:prstGeom prst="rect">
            <a:avLst/>
          </a:prstGeom>
          <a:noFill/>
          <a:ln/>
        </p:spPr>
        <p:txBody>
          <a:bodyPr wrap="square" lIns="0" tIns="0" rIns="0" bIns="0" rtlCol="0" anchor="ctr"/>
          <a:lstStyle/>
          <a:p>
            <a:pPr algn="ctr" indent="0" marL="0">
              <a:buNone/>
            </a:pPr>
            <a:r>
              <a:rPr lang="en-US" sz="750" b="1" spc="150" kern="0" dirty="0">
                <a:solidFill>
                  <a:srgbClr val="6B7280"/>
                </a:solidFill>
                <a:latin typeface="Poppins" pitchFamily="34" charset="0"/>
                <a:ea typeface="Poppins" pitchFamily="34" charset="-122"/>
                <a:cs typeface="Poppins" pitchFamily="34" charset="-120"/>
              </a:rPr>
              <a:t>CONCEPT</a:t>
            </a:r>
            <a:endParaRPr lang="en-US" sz="750" dirty="0"/>
          </a:p>
        </p:txBody>
      </p:sp>
      <p:sp>
        <p:nvSpPr>
          <p:cNvPr id="33" name="concept head"/>
          <p:cNvSpPr txBox="1"/>
          <p:nvPr/>
        </p:nvSpPr>
        <p:spPr>
          <a:xfrm>
            <a:off x="4892040" y="1755648"/>
            <a:ext cx="2651760" cy="274320"/>
          </a:xfrm>
          <a:prstGeom prst="rect">
            <a:avLst/>
          </a:prstGeom>
          <a:noFill/>
          <a:ln/>
        </p:spPr>
        <p:txBody>
          <a:bodyPr wrap="square" lIns="0" tIns="0" rIns="0" bIns="0" rtlCol="0" anchor="ctr"/>
          <a:lstStyle/>
          <a:p>
            <a:pPr indent="0" marL="0">
              <a:buNone/>
            </a:pPr>
            <a:r>
              <a:rPr lang="en-US" sz="1150" b="1" dirty="0">
                <a:solidFill>
                  <a:schemeClr val="tx1"/>
                </a:solidFill>
                <a:latin typeface="Poppins" pitchFamily="34" charset="0"/>
                <a:ea typeface="Poppins" pitchFamily="34" charset="-122"/>
                <a:cs typeface="Poppins" pitchFamily="34" charset="-120"/>
              </a:rPr>
              <a:t>The Jagged Technological Frontier</a:t>
            </a:r>
            <a:endParaRPr lang="en-US" sz="1150" dirty="0"/>
          </a:p>
        </p:txBody>
      </p:sp>
      <p:sp>
        <p:nvSpPr>
          <p:cNvPr id="34" name="concept body"/>
          <p:cNvSpPr txBox="1"/>
          <p:nvPr/>
        </p:nvSpPr>
        <p:spPr>
          <a:xfrm>
            <a:off x="4892040" y="2048256"/>
            <a:ext cx="2606040" cy="731520"/>
          </a:xfrm>
          <a:prstGeom prst="rect">
            <a:avLst/>
          </a:prstGeom>
          <a:noFill/>
          <a:ln/>
        </p:spPr>
        <p:txBody>
          <a:bodyPr wrap="square" lIns="0" tIns="0" rIns="0" bIns="0" rtlCol="0" anchor="t"/>
          <a:lstStyle/>
          <a:p>
            <a:pPr indent="0" marL="0">
              <a:buNone/>
            </a:pPr>
            <a:r>
              <a:rPr lang="en-US" sz="950" dirty="0">
                <a:solidFill>
                  <a:schemeClr val="tx2"/>
                </a:solidFill>
                <a:latin typeface="Poppins" pitchFamily="34" charset="0"/>
                <a:ea typeface="Poppins" pitchFamily="34" charset="-122"/>
                <a:cs typeface="Poppins" pitchFamily="34" charset="-120"/>
              </a:rPr>
              <a:t>AI performs some tasks well yet struggles with others that look equally difficult. The boundary is uneven and hard to see.</a:t>
            </a:r>
            <a:endParaRPr lang="en-US" sz="950" dirty="0"/>
          </a:p>
        </p:txBody>
      </p:sp>
      <p:pic>
        <p:nvPicPr>
          <p:cNvPr id="35" name="mascot searching" descr="preencoded.png">    </p:cNvPr>
          <p:cNvPicPr>
            <a:picLocks noChangeAspect="1"/>
          </p:cNvPicPr>
          <p:nvPr/>
        </p:nvPicPr>
        <p:blipFill>
          <a:blip r:embed="rId4"/>
          <a:stretch>
            <a:fillRect/>
          </a:stretch>
        </p:blipFill>
        <p:spPr>
          <a:xfrm>
            <a:off x="7589520" y="1481328"/>
            <a:ext cx="1005840" cy="868680"/>
          </a:xfrm>
          <a:prstGeom prst="rect">
            <a:avLst/>
          </a:prstGeom>
        </p:spPr>
      </p:pic>
      <p:pic>
        <p:nvPicPr>
          <p:cNvPr id="36" name="frontier illustration" descr="preencoded.png">    </p:cNvPr>
          <p:cNvPicPr>
            <a:picLocks noChangeAspect="1"/>
          </p:cNvPicPr>
          <p:nvPr/>
        </p:nvPicPr>
        <p:blipFill>
          <a:blip r:embed="rId5"/>
          <a:stretch>
            <a:fillRect/>
          </a:stretch>
        </p:blipFill>
        <p:spPr>
          <a:xfrm>
            <a:off x="4892040" y="2926080"/>
            <a:ext cx="3749040" cy="1371600"/>
          </a:xfrm>
          <a:prstGeom prst="rect">
            <a:avLst/>
          </a:prstGeom>
        </p:spPr>
      </p:pic>
      <p:sp>
        <p:nvSpPr>
          <p:cNvPr id="37" name="outside label"/>
          <p:cNvSpPr txBox="1"/>
          <p:nvPr/>
        </p:nvSpPr>
        <p:spPr>
          <a:xfrm>
            <a:off x="5001768" y="2999232"/>
            <a:ext cx="3529584" cy="182880"/>
          </a:xfrm>
          <a:prstGeom prst="rect">
            <a:avLst/>
          </a:prstGeom>
          <a:noFill/>
          <a:ln/>
        </p:spPr>
        <p:txBody>
          <a:bodyPr wrap="square" lIns="0" tIns="0" rIns="0" bIns="0" rtlCol="0" anchor="ctr"/>
          <a:lstStyle/>
          <a:p>
            <a:pPr algn="r" indent="0" marL="0">
              <a:buNone/>
            </a:pPr>
            <a:r>
              <a:rPr lang="en-US" sz="750" b="1" dirty="0">
                <a:solidFill>
                  <a:schemeClr val="tx2"/>
                </a:solidFill>
                <a:latin typeface="Poppins" pitchFamily="34" charset="0"/>
                <a:ea typeface="Poppins" pitchFamily="34" charset="-122"/>
                <a:cs typeface="Poppins" pitchFamily="34" charset="-120"/>
              </a:rPr>
              <a:t>Outside: AI struggles</a:t>
            </a:r>
            <a:endParaRPr lang="en-US" sz="750" dirty="0"/>
          </a:p>
        </p:txBody>
      </p:sp>
      <p:sp>
        <p:nvSpPr>
          <p:cNvPr id="38" name="inside label"/>
          <p:cNvSpPr txBox="1"/>
          <p:nvPr/>
        </p:nvSpPr>
        <p:spPr>
          <a:xfrm>
            <a:off x="5001768" y="4023360"/>
            <a:ext cx="3529584" cy="182880"/>
          </a:xfrm>
          <a:prstGeom prst="rect">
            <a:avLst/>
          </a:prstGeom>
          <a:noFill/>
          <a:ln/>
        </p:spPr>
        <p:txBody>
          <a:bodyPr wrap="square" lIns="0" tIns="0" rIns="0" bIns="0" rtlCol="0" anchor="ctr"/>
          <a:lstStyle/>
          <a:p>
            <a:pPr indent="0" marL="0">
              <a:buNone/>
            </a:pPr>
            <a:r>
              <a:rPr lang="en-US" sz="750" b="1" dirty="0">
                <a:solidFill>
                  <a:srgbClr val="2E8B86"/>
                </a:solidFill>
                <a:latin typeface="Poppins" pitchFamily="34" charset="0"/>
                <a:ea typeface="Poppins" pitchFamily="34" charset="-122"/>
                <a:cs typeface="Poppins" pitchFamily="34" charset="-120"/>
              </a:rPr>
              <a:t>Inside: AI performs well</a:t>
            </a:r>
            <a:endParaRPr lang="en-US" sz="750" dirty="0"/>
          </a:p>
        </p:txBody>
      </p:sp>
      <p:sp>
        <p:nvSpPr>
          <p:cNvPr id="39"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oppins" pitchFamily="34" charset="0"/>
                <a:ea typeface="Poppins" pitchFamily="34" charset="-122"/>
                <a:cs typeface="Poppins" pitchFamily="34" charset="-120"/>
              </a:rPr>
              <a:t>Dell'Acqua, F., et al. (2023). Navigating the Jagged Technological Frontier. Harvard Business School Working Paper 24-013.</a:t>
            </a:r>
            <a:endParaRPr lang="en-US" sz="700" dirty="0"/>
          </a:p>
        </p:txBody>
      </p:sp>
      <p:sp>
        <p:nvSpPr>
          <p:cNvPr id="40"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850" b="1" dirty="0">
                <a:solidFill>
                  <a:srgbClr val="2E8B86"/>
                </a:solidFill>
                <a:latin typeface="Poppins" pitchFamily="34" charset="0"/>
                <a:ea typeface="Poppins" pitchFamily="34" charset="-122"/>
                <a:cs typeface="Poppins" pitchFamily="34" charset="-120"/>
              </a:rPr>
              <a:t>Next  </a:t>
            </a:r>
            <a:pPr algn="r" indent="0" marL="0">
              <a:buNone/>
            </a:pPr>
            <a:r>
              <a:rPr lang="en-US" sz="850" dirty="0">
                <a:solidFill>
                  <a:srgbClr val="1B2A4A"/>
                </a:solidFill>
                <a:latin typeface="Poppins" pitchFamily="34" charset="0"/>
                <a:ea typeface="Poppins" pitchFamily="34" charset="-122"/>
                <a:cs typeface="Poppins" pitchFamily="34" charset="-120"/>
              </a:rPr>
              <a:t>What happened when 758 consultants used GPT-4?</a:t>
            </a:r>
            <a:endParaRPr lang="en-US" sz="850" dirty="0"/>
          </a:p>
        </p:txBody>
      </p:sp>
      <p:pic>
        <p:nvPicPr>
          <p:cNvPr id="41" name="icon FiArrowRight" descr="preencoded.png">    </p:cNvPr>
          <p:cNvPicPr>
            <a:picLocks noChangeAspect="1"/>
          </p:cNvPicPr>
          <p:nvPr/>
        </p:nvPicPr>
        <p:blipFill>
          <a:blip r:embed="rId6"/>
          <a:stretch>
            <a:fillRect/>
          </a:stretch>
        </p:blipFill>
        <p:spPr>
          <a:xfrm>
            <a:off x="8439912" y="4498848"/>
            <a:ext cx="201168" cy="201168"/>
          </a:xfrm>
          <a:prstGeom prst="rect">
            <a:avLst/>
          </a:prstGeom>
        </p:spPr>
      </p:pic>
      <p:sp>
        <p:nvSpPr>
          <p:cNvPr id="42"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oppins"/>
                <a:ea typeface="Poppins"/>
                <a:cs typeface="Poppins"/>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700"/>
                                        <p:tgtEl>
                                          <p:spTgt spid="10"/>
                                        </p:tgtEl>
                                      </p:cBhvr>
                                    </p:animEffect>
                                    <p:anim calcmode="lin" valueType="num">
                                      <p:cBhvr additive="base">
                                        <p:cTn id="6" dur="700" fill="hold"/>
                                        <p:tgtEl>
                                          <p:spTgt spid="10"/>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700"/>
                                        <p:tgtEl>
                                          <p:spTgt spid="13"/>
                                        </p:tgtEl>
                                      </p:cBhvr>
                                    </p:animEffect>
                                    <p:anim calcmode="lin" valueType="num">
                                      <p:cBhvr additive="base">
                                        <p:cTn id="10" dur="700" fill="hold"/>
                                        <p:tgtEl>
                                          <p:spTgt spid="13"/>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700"/>
                                        <p:tgtEl>
                                          <p:spTgt spid="16"/>
                                        </p:tgtEl>
                                      </p:cBhvr>
                                    </p:animEffect>
                                    <p:anim calcmode="lin" valueType="num">
                                      <p:cBhvr additive="base">
                                        <p:cTn id="14" dur="700" fill="hold"/>
                                        <p:tgtEl>
                                          <p:spTgt spid="1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700"/>
                                        <p:tgtEl>
                                          <p:spTgt spid="11"/>
                                        </p:tgtEl>
                                      </p:cBhvr>
                                    </p:animEffect>
                                    <p:anim calcmode="lin" valueType="num">
                                      <p:cBhvr additive="base">
                                        <p:cTn id="18" dur="700" fill="hold"/>
                                        <p:tgtEl>
                                          <p:spTgt spid="11"/>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700"/>
                                        <p:tgtEl>
                                          <p:spTgt spid="14"/>
                                        </p:tgtEl>
                                      </p:cBhvr>
                                    </p:animEffect>
                                    <p:anim calcmode="lin" valueType="num">
                                      <p:cBhvr additive="base">
                                        <p:cTn id="22" dur="700" fill="hold"/>
                                        <p:tgtEl>
                                          <p:spTgt spid="14"/>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700"/>
                                        <p:tgtEl>
                                          <p:spTgt spid="17"/>
                                        </p:tgtEl>
                                      </p:cBhvr>
                                    </p:animEffect>
                                    <p:anim calcmode="lin" valueType="num">
                                      <p:cBhvr additive="base">
                                        <p:cTn id="26" dur="700" fill="hold"/>
                                        <p:tgtEl>
                                          <p:spTgt spid="17"/>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700"/>
                                        <p:tgtEl>
                                          <p:spTgt spid="12"/>
                                        </p:tgtEl>
                                      </p:cBhvr>
                                    </p:animEffect>
                                    <p:anim calcmode="lin" valueType="num">
                                      <p:cBhvr additive="base">
                                        <p:cTn id="30" dur="700" fill="hold"/>
                                        <p:tgtEl>
                                          <p:spTgt spid="12"/>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700"/>
                                        <p:tgtEl>
                                          <p:spTgt spid="15"/>
                                        </p:tgtEl>
                                      </p:cBhvr>
                                    </p:animEffect>
                                    <p:anim calcmode="lin" valueType="num">
                                      <p:cBhvr additive="base">
                                        <p:cTn id="34" dur="700" fill="hold"/>
                                        <p:tgtEl>
                                          <p:spTgt spid="15"/>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700"/>
                                        <p:tgtEl>
                                          <p:spTgt spid="18"/>
                                        </p:tgtEl>
                                      </p:cBhvr>
                                    </p:animEffect>
                                    <p:anim calcmode="lin" valueType="num">
                                      <p:cBhvr additive="base">
                                        <p:cTn id="38" dur="700" fill="hold"/>
                                        <p:tgtEl>
                                          <p:spTgt spid="18"/>
                                        </p:tgtEl>
                                        <p:attrNameLst>
                                          <p:attrName>ppt_y</p:attrName>
                                        </p:attrNameLst>
                                      </p:cBhvr>
                                      <p:tavLst>
                                        <p:tav tm="0">
                                          <p:val>
                                            <p:strVal val="#ppt_y+.08"/>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41" presetID="42" presetClass="entr" presetSubtype="0" fill="hold" grpId="0" nodeType="click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700"/>
                                        <p:tgtEl>
                                          <p:spTgt spid="19"/>
                                        </p:tgtEl>
                                      </p:cBhvr>
                                    </p:animEffect>
                                    <p:anim calcmode="lin" valueType="num">
                                      <p:cBhvr additive="base">
                                        <p:cTn id="44" dur="700" fill="hold"/>
                                        <p:tgtEl>
                                          <p:spTgt spid="19"/>
                                        </p:tgtEl>
                                        <p:attrNameLst>
                                          <p:attrName>ppt_y</p:attrName>
                                        </p:attrNameLst>
                                      </p:cBhvr>
                                      <p:tavLst>
                                        <p:tav tm="0">
                                          <p:val>
                                            <p:strVal val="#ppt_y+.08"/>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700"/>
                                        <p:tgtEl>
                                          <p:spTgt spid="20"/>
                                        </p:tgtEl>
                                      </p:cBhvr>
                                    </p:animEffect>
                                    <p:anim calcmode="lin" valueType="num">
                                      <p:cBhvr additive="base">
                                        <p:cTn id="48" dur="700" fill="hold"/>
                                        <p:tgtEl>
                                          <p:spTgt spid="20"/>
                                        </p:tgtEl>
                                        <p:attrNameLst>
                                          <p:attrName>ppt_y</p:attrName>
                                        </p:attrNameLst>
                                      </p:cBhvr>
                                      <p:tavLst>
                                        <p:tav tm="0">
                                          <p:val>
                                            <p:strVal val="#ppt_y+.0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700"/>
                                        <p:tgtEl>
                                          <p:spTgt spid="21"/>
                                        </p:tgtEl>
                                      </p:cBhvr>
                                    </p:animEffect>
                                    <p:anim calcmode="lin" valueType="num">
                                      <p:cBhvr additive="base">
                                        <p:cTn id="52" dur="700" fill="hold"/>
                                        <p:tgtEl>
                                          <p:spTgt spid="21"/>
                                        </p:tgtEl>
                                        <p:attrNameLst>
                                          <p:attrName>ppt_y</p:attrName>
                                        </p:attrNameLst>
                                      </p:cBhvr>
                                      <p:tavLst>
                                        <p:tav tm="0">
                                          <p:val>
                                            <p:strVal val="#ppt_y+.08"/>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700"/>
                                        <p:tgtEl>
                                          <p:spTgt spid="22"/>
                                        </p:tgtEl>
                                      </p:cBhvr>
                                    </p:animEffect>
                                    <p:anim calcmode="lin" valueType="num">
                                      <p:cBhvr additive="base">
                                        <p:cTn id="56" dur="700" fill="hold"/>
                                        <p:tgtEl>
                                          <p:spTgt spid="22"/>
                                        </p:tgtEl>
                                        <p:attrNameLst>
                                          <p:attrName>ppt_y</p:attrName>
                                        </p:attrNameLst>
                                      </p:cBhvr>
                                      <p:tavLst>
                                        <p:tav tm="0">
                                          <p:val>
                                            <p:strVal val="#ppt_y+.0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700"/>
                                        <p:tgtEl>
                                          <p:spTgt spid="23"/>
                                        </p:tgtEl>
                                      </p:cBhvr>
                                    </p:animEffect>
                                    <p:anim calcmode="lin" valueType="num">
                                      <p:cBhvr additive="base">
                                        <p:cTn id="60" dur="700" fill="hold"/>
                                        <p:tgtEl>
                                          <p:spTgt spid="23"/>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700"/>
                                        <p:tgtEl>
                                          <p:spTgt spid="24"/>
                                        </p:tgtEl>
                                      </p:cBhvr>
                                    </p:animEffect>
                                    <p:anim calcmode="lin" valueType="num">
                                      <p:cBhvr additive="base">
                                        <p:cTn id="64" dur="700" fill="hold"/>
                                        <p:tgtEl>
                                          <p:spTgt spid="24"/>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700"/>
                                        <p:tgtEl>
                                          <p:spTgt spid="25"/>
                                        </p:tgtEl>
                                      </p:cBhvr>
                                    </p:animEffect>
                                    <p:anim calcmode="lin" valueType="num">
                                      <p:cBhvr additive="base">
                                        <p:cTn id="68" dur="700" fill="hold"/>
                                        <p:tgtEl>
                                          <p:spTgt spid="25"/>
                                        </p:tgtEl>
                                        <p:attrNameLst>
                                          <p:attrName>ppt_y</p:attrName>
                                        </p:attrNameLst>
                                      </p:cBhvr>
                                      <p:tavLst>
                                        <p:tav tm="0">
                                          <p:val>
                                            <p:strVal val="#ppt_y+.08"/>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700"/>
                                        <p:tgtEl>
                                          <p:spTgt spid="26"/>
                                        </p:tgtEl>
                                      </p:cBhvr>
                                    </p:animEffect>
                                    <p:anim calcmode="lin" valueType="num">
                                      <p:cBhvr additive="base">
                                        <p:cTn id="72" dur="700" fill="hold"/>
                                        <p:tgtEl>
                                          <p:spTgt spid="26"/>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7"/>
                                        </p:tgtEl>
                                        <p:attrNameLst>
                                          <p:attrName>style.visibility</p:attrName>
                                        </p:attrNameLst>
                                      </p:cBhvr>
                                      <p:to>
                                        <p:strVal val="visible"/>
                                      </p:to>
                                    </p:set>
                                    <p:animEffect transition="in" filter="fade">
                                      <p:cBhvr>
                                        <p:cTn id="75" dur="700"/>
                                        <p:tgtEl>
                                          <p:spTgt spid="27"/>
                                        </p:tgtEl>
                                      </p:cBhvr>
                                    </p:animEffect>
                                    <p:anim calcmode="lin" valueType="num">
                                      <p:cBhvr additive="base">
                                        <p:cTn id="76" dur="700" fill="hold"/>
                                        <p:tgtEl>
                                          <p:spTgt spid="27"/>
                                        </p:tgtEl>
                                        <p:attrNameLst>
                                          <p:attrName>ppt_y</p:attrName>
                                        </p:attrNameLst>
                                      </p:cBhvr>
                                      <p:tavLst>
                                        <p:tav tm="0">
                                          <p:val>
                                            <p:strVal val="#ppt_y+.08"/>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28"/>
                                        </p:tgtEl>
                                        <p:attrNameLst>
                                          <p:attrName>style.visibility</p:attrName>
                                        </p:attrNameLst>
                                      </p:cBhvr>
                                      <p:to>
                                        <p:strVal val="visible"/>
                                      </p:to>
                                    </p:set>
                                    <p:animEffect transition="in" filter="fade">
                                      <p:cBhvr>
                                        <p:cTn id="79" dur="700"/>
                                        <p:tgtEl>
                                          <p:spTgt spid="28"/>
                                        </p:tgtEl>
                                      </p:cBhvr>
                                    </p:animEffect>
                                    <p:anim calcmode="lin" valueType="num">
                                      <p:cBhvr additive="base">
                                        <p:cTn id="80" dur="700" fill="hold"/>
                                        <p:tgtEl>
                                          <p:spTgt spid="28"/>
                                        </p:tgtEl>
                                        <p:attrNameLst>
                                          <p:attrName>ppt_y</p:attrName>
                                        </p:attrNameLst>
                                      </p:cBhvr>
                                      <p:tavLst>
                                        <p:tav tm="0">
                                          <p:val>
                                            <p:strVal val="#ppt_y+.08"/>
                                          </p:val>
                                        </p:tav>
                                        <p:tav tm="100000">
                                          <p:val>
                                            <p:strVal val="#ppt_y"/>
                                          </p:val>
                                        </p:tav>
                                      </p:tavLst>
                                    </p:anim>
                                  </p:childTnLst>
                                </p:cTn>
                              </p:par>
                            </p:childTnLst>
                          </p:cTn>
                        </p:par>
                      </p:childTnLst>
                    </p:cTn>
                  </p:par>
                  <p:par>
                    <p:cTn id="95" fill="hold">
                      <p:stCondLst>
                        <p:cond delay="indefinite"/>
                      </p:stCondLst>
                      <p:childTnLst>
                        <p:par>
                          <p:cTn id="96"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31"/>
                                        </p:tgtEl>
                                        <p:attrNameLst>
                                          <p:attrName>style.visibility</p:attrName>
                                        </p:attrNameLst>
                                      </p:cBhvr>
                                      <p:to>
                                        <p:strVal val="visible"/>
                                      </p:to>
                                    </p:set>
                                    <p:animEffect transition="in" filter="fade">
                                      <p:cBhvr>
                                        <p:cTn id="85" dur="500"/>
                                        <p:tgtEl>
                                          <p:spTgt spid="3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2"/>
                                        </p:tgtEl>
                                        <p:attrNameLst>
                                          <p:attrName>style.visibility</p:attrName>
                                        </p:attrNameLst>
                                      </p:cBhvr>
                                      <p:to>
                                        <p:strVal val="visible"/>
                                      </p:to>
                                    </p:set>
                                    <p:animEffect transition="in" filter="fade">
                                      <p:cBhvr>
                                        <p:cTn id="88" dur="500"/>
                                        <p:tgtEl>
                                          <p:spTgt spid="3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3"/>
                                        </p:tgtEl>
                                        <p:attrNameLst>
                                          <p:attrName>style.visibility</p:attrName>
                                        </p:attrNameLst>
                                      </p:cBhvr>
                                      <p:to>
                                        <p:strVal val="visible"/>
                                      </p:to>
                                    </p:set>
                                    <p:animEffect transition="in" filter="fade">
                                      <p:cBhvr>
                                        <p:cTn id="91" dur="500"/>
                                        <p:tgtEl>
                                          <p:spTgt spid="3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500"/>
                                        <p:tgtEl>
                                          <p:spTgt spid="34"/>
                                        </p:tgtEl>
                                      </p:cBhvr>
                                    </p:animEffect>
                                  </p:childTnLst>
                                </p:cTn>
                              </p:par>
                            </p:childTnLst>
                          </p:cTn>
                        </p:par>
                      </p:childTnLst>
                    </p:cTn>
                  </p:par>
                  <p:par>
                    <p:cTn id="101" fill="hold">
                      <p:stCondLst>
                        <p:cond delay="indefinite"/>
                      </p:stCondLst>
                      <p:childTnLst>
                        <p:par>
                          <p:cTn id="102" fill="hold">
                            <p:stCondLst>
                              <p:cond delay="0"/>
                            </p:stCondLst>
                            <p:childTnLst>
                              <p:par>
                                <p:cTn id="97" presetID="23" presetClass="entr" presetSubtype="16" fill="hold" grpId="0" nodeType="clickEffect">
                                  <p:stCondLst>
                                    <p:cond delay="0"/>
                                  </p:stCondLst>
                                  <p:childTnLst>
                                    <p:set>
                                      <p:cBhvr>
                                        <p:cTn id="98" dur="1" fill="hold">
                                          <p:stCondLst>
                                            <p:cond delay="0"/>
                                          </p:stCondLst>
                                        </p:cTn>
                                        <p:tgtEl>
                                          <p:spTgt spid="35"/>
                                        </p:tgtEl>
                                        <p:attrNameLst>
                                          <p:attrName>style.visibility</p:attrName>
                                        </p:attrNameLst>
                                      </p:cBhvr>
                                      <p:to>
                                        <p:strVal val="visible"/>
                                      </p:to>
                                    </p:set>
                                    <p:animScale>
                                      <p:cBhvr>
                                        <p:cTn id="99" dur="500" fill="hold"/>
                                        <p:tgtEl>
                                          <p:spTgt spid="35"/>
                                        </p:tgtEl>
                                      </p:cBhvr>
                                      <p:from x="0" y="0"/>
                                      <p:to x="100000" y="100000"/>
                                    </p:animScale>
                                    <p:animEffect transition="in" filter="fade">
                                      <p:cBhvr>
                                        <p:cTn id="100" dur="500"/>
                                        <p:tgtEl>
                                          <p:spTgt spid="35"/>
                                        </p:tgtEl>
                                      </p:cBhvr>
                                    </p:animEffect>
                                  </p:childTnLst>
                                </p:cTn>
                              </p:par>
                            </p:childTnLst>
                          </p:cTn>
                        </p:par>
                      </p:childTnLst>
                    </p:cTn>
                  </p:par>
                  <p:par>
                    <p:cTn id="115" fill="hold">
                      <p:stCondLst>
                        <p:cond delay="indefinite"/>
                      </p:stCondLst>
                      <p:childTnLst>
                        <p:par>
                          <p:cTn id="116" fill="hold">
                            <p:stCondLst>
                              <p:cond delay="0"/>
                            </p:stCondLst>
                            <p:childTnLst>
                              <p:par>
                                <p:cTn id="103" presetID="42" presetClass="entr" presetSubtype="0" fill="hold" grpId="0" nodeType="click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700"/>
                                        <p:tgtEl>
                                          <p:spTgt spid="36"/>
                                        </p:tgtEl>
                                      </p:cBhvr>
                                    </p:animEffect>
                                    <p:anim calcmode="lin" valueType="num">
                                      <p:cBhvr additive="base">
                                        <p:cTn id="106" dur="700" fill="hold"/>
                                        <p:tgtEl>
                                          <p:spTgt spid="36"/>
                                        </p:tgtEl>
                                        <p:attrNameLst>
                                          <p:attrName>ppt_y</p:attrName>
                                        </p:attrNameLst>
                                      </p:cBhvr>
                                      <p:tavLst>
                                        <p:tav tm="0">
                                          <p:val>
                                            <p:strVal val="#ppt_y+.08"/>
                                          </p:val>
                                        </p:tav>
                                        <p:tav tm="100000">
                                          <p:val>
                                            <p:strVal val="#ppt_y"/>
                                          </p:val>
                                        </p:tav>
                                      </p:tavLst>
                                    </p:anim>
                                  </p:childTnLst>
                                </p:cTn>
                              </p:par>
                              <p:par>
                                <p:cTn id="107" presetID="42" presetClass="entr" presetSubtype="0" fill="hold" grpId="0" nodeType="withEffect">
                                  <p:stCondLst>
                                    <p:cond delay="0"/>
                                  </p:stCondLst>
                                  <p:childTnLst>
                                    <p:set>
                                      <p:cBhvr>
                                        <p:cTn id="108" dur="1" fill="hold">
                                          <p:stCondLst>
                                            <p:cond delay="0"/>
                                          </p:stCondLst>
                                        </p:cTn>
                                        <p:tgtEl>
                                          <p:spTgt spid="37"/>
                                        </p:tgtEl>
                                        <p:attrNameLst>
                                          <p:attrName>style.visibility</p:attrName>
                                        </p:attrNameLst>
                                      </p:cBhvr>
                                      <p:to>
                                        <p:strVal val="visible"/>
                                      </p:to>
                                    </p:set>
                                    <p:animEffect transition="in" filter="fade">
                                      <p:cBhvr>
                                        <p:cTn id="109" dur="700"/>
                                        <p:tgtEl>
                                          <p:spTgt spid="37"/>
                                        </p:tgtEl>
                                      </p:cBhvr>
                                    </p:animEffect>
                                    <p:anim calcmode="lin" valueType="num">
                                      <p:cBhvr additive="base">
                                        <p:cTn id="110" dur="700" fill="hold"/>
                                        <p:tgtEl>
                                          <p:spTgt spid="37"/>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0"/>
                                  </p:stCondLst>
                                  <p:childTnLst>
                                    <p:set>
                                      <p:cBhvr>
                                        <p:cTn id="112" dur="1" fill="hold">
                                          <p:stCondLst>
                                            <p:cond delay="0"/>
                                          </p:stCondLst>
                                        </p:cTn>
                                        <p:tgtEl>
                                          <p:spTgt spid="38"/>
                                        </p:tgtEl>
                                        <p:attrNameLst>
                                          <p:attrName>style.visibility</p:attrName>
                                        </p:attrNameLst>
                                      </p:cBhvr>
                                      <p:to>
                                        <p:strVal val="visible"/>
                                      </p:to>
                                    </p:set>
                                    <p:animEffect transition="in" filter="fade">
                                      <p:cBhvr>
                                        <p:cTn id="113" dur="700"/>
                                        <p:tgtEl>
                                          <p:spTgt spid="38"/>
                                        </p:tgtEl>
                                      </p:cBhvr>
                                    </p:animEffect>
                                    <p:anim calcmode="lin" valueType="num">
                                      <p:cBhvr additive="base">
                                        <p:cTn id="114" dur="700" fill="hold"/>
                                        <p:tgtEl>
                                          <p:spTgt spid="38"/>
                                        </p:tgtEl>
                                        <p:attrNameLst>
                                          <p:attrName>ppt_y</p:attrName>
                                        </p:attrNameLst>
                                      </p:cBhvr>
                                      <p:tavLst>
                                        <p:tav tm="0">
                                          <p:val>
                                            <p:strVal val="#ppt_y+.08"/>
                                          </p:val>
                                        </p:tav>
                                        <p:tav tm="100000">
                                          <p:val>
                                            <p:strVal val="#ppt_y"/>
                                          </p:val>
                                        </p:tav>
                                      </p:tavLst>
                                    </p:anim>
                                  </p:childTnLst>
                                </p:cTn>
                              </p:par>
                            </p:childTnLst>
                          </p:cTn>
                        </p:par>
                      </p:childTnLst>
                    </p:cTn>
                  </p:par>
                  <p:par>
                    <p:cTn id="123" fill="hold">
                      <p:stCondLst>
                        <p:cond delay="indefinite"/>
                      </p:stCondLst>
                      <p:childTnLst>
                        <p:par>
                          <p:cTn id="124" fill="hold">
                            <p:stCondLst>
                              <p:cond delay="0"/>
                            </p:stCondLst>
                            <p:childTnLst>
                              <p:par>
                                <p:cTn id="117" presetID="10" presetClass="entr" presetSubtype="0" fill="hold" grpId="0" nodeType="clickEffect">
                                  <p:stCondLst>
                                    <p:cond delay="0"/>
                                  </p:stCondLst>
                                  <p:childTnLst>
                                    <p:set>
                                      <p:cBhvr>
                                        <p:cTn id="118" dur="1" fill="hold">
                                          <p:stCondLst>
                                            <p:cond delay="0"/>
                                          </p:stCondLst>
                                        </p:cTn>
                                        <p:tgtEl>
                                          <p:spTgt spid="40"/>
                                        </p:tgtEl>
                                        <p:attrNameLst>
                                          <p:attrName>style.visibility</p:attrName>
                                        </p:attrNameLst>
                                      </p:cBhvr>
                                      <p:to>
                                        <p:strVal val="visible"/>
                                      </p:to>
                                    </p:set>
                                    <p:animEffect transition="in" filter="fade">
                                      <p:cBhvr>
                                        <p:cTn id="119" dur="500"/>
                                        <p:tgtEl>
                                          <p:spTgt spid="40"/>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animBg="1"/>
      <p:bldP spid="16" grpId="0" animBg="1"/>
      <p:bldP spid="12" grpId="0" animBg="1"/>
      <p:bldP spid="15"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31" grpId="0" animBg="1"/>
      <p:bldP spid="32" grpId="0" animBg="1"/>
      <p:bldP spid="33" grpId="0" animBg="1"/>
      <p:bldP spid="34" grpId="0" animBg="1"/>
      <p:bldP spid="37" grpId="0" animBg="1"/>
      <p:bldP spid="38" grpId="0" animBg="1"/>
      <p:bldP spid="4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oppins" pitchFamily="34" charset="0"/>
                <a:ea typeface="Poppins" pitchFamily="34" charset="-122"/>
                <a:cs typeface="Poppins" pitchFamily="34" charset="-120"/>
              </a:rPr>
              <a:t>Article 2  ·  Key findings</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oppins" pitchFamily="34" charset="0"/>
                <a:ea typeface="Poppins" pitchFamily="34" charset="-122"/>
                <a:cs typeface="Poppins" pitchFamily="34" charset="-120"/>
              </a:rPr>
              <a:t>AI Can Improve Productivity, but Has Limits</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BFE6E0"/>
          </a:solidFill>
          <a:ln w="12700">
            <a:solidFill>
              <a:srgbClr val="BFE6E0"/>
            </a:solidFill>
            <a:prstDash val="solid"/>
          </a:ln>
        </p:spPr>
      </p:sp>
      <p:sp>
        <p:nvSpPr>
          <p:cNvPr id="6" name="progress dot 3"/>
          <p:cNvSpPr/>
          <p:nvPr/>
        </p:nvSpPr>
        <p:spPr>
          <a:xfrm>
            <a:off x="8174736" y="342900"/>
            <a:ext cx="100584" cy="100584"/>
          </a:xfrm>
          <a:prstGeom prst="ellipse">
            <a:avLst/>
          </a:prstGeom>
          <a:solidFill>
            <a:srgbClr val="2E8B86"/>
          </a:solidFill>
          <a:ln w="12700">
            <a:solidFill>
              <a:srgbClr val="2E8B86"/>
            </a:solidFill>
            <a:prstDash val="solid"/>
          </a:ln>
        </p:spPr>
      </p:sp>
      <p:sp>
        <p:nvSpPr>
          <p:cNvPr id="7" name="progress dot 4"/>
          <p:cNvSpPr/>
          <p:nvPr/>
        </p:nvSpPr>
        <p:spPr>
          <a:xfrm>
            <a:off x="8357616" y="342900"/>
            <a:ext cx="100584" cy="100584"/>
          </a:xfrm>
          <a:prstGeom prst="ellipse">
            <a:avLst/>
          </a:prstGeom>
          <a:solidFill>
            <a:srgbClr val="E3E8EE"/>
          </a:solidFill>
          <a:ln w="12700">
            <a:solidFill>
              <a:srgbClr val="E3E8EE"/>
            </a:solidFill>
            <a:prstDash val="solid"/>
          </a:ln>
        </p:spPr>
      </p:sp>
      <p:sp>
        <p:nvSpPr>
          <p:cNvPr id="8" name="progress dot 5"/>
          <p:cNvSpPr/>
          <p:nvPr/>
        </p:nvSpPr>
        <p:spPr>
          <a:xfrm>
            <a:off x="8540496" y="342900"/>
            <a:ext cx="100584" cy="100584"/>
          </a:xfrm>
          <a:prstGeom prst="ellipse">
            <a:avLst/>
          </a:prstGeom>
          <a:solidFill>
            <a:srgbClr val="E3E8EE"/>
          </a:solidFill>
          <a:ln w="12700">
            <a:solidFill>
              <a:srgbClr val="E3E8EE"/>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800" dirty="0">
                <a:solidFill>
                  <a:srgbClr val="A3ADBB"/>
                </a:solidFill>
                <a:latin typeface="Poppins" pitchFamily="34" charset="0"/>
                <a:ea typeface="Poppins" pitchFamily="34" charset="-122"/>
                <a:cs typeface="Poppins" pitchFamily="34" charset="-120"/>
              </a:rPr>
              <a:t>3 / 5</a:t>
            </a:r>
            <a:endParaRPr lang="en-US" sz="800" dirty="0"/>
          </a:p>
        </p:txBody>
      </p:sp>
      <p:sp>
        <p:nvSpPr>
          <p:cNvPr id="10" name="tag finding"/>
          <p:cNvSpPr/>
          <p:nvPr/>
        </p:nvSpPr>
        <p:spPr>
          <a:xfrm>
            <a:off x="502920" y="1371600"/>
            <a:ext cx="1143000" cy="201168"/>
          </a:xfrm>
          <a:prstGeom prst="roundRect">
            <a:avLst>
              <a:gd name="adj" fmla="val 50000"/>
            </a:avLst>
          </a:prstGeom>
          <a:solidFill>
            <a:srgbClr val="BFE6E0"/>
          </a:solidFill>
          <a:ln w="12700">
            <a:solidFill>
              <a:srgbClr val="BFE6E0"/>
            </a:solidFill>
            <a:prstDash val="solid"/>
          </a:ln>
        </p:spPr>
      </p:sp>
      <p:sp>
        <p:nvSpPr>
          <p:cNvPr id="11" name="tag text"/>
          <p:cNvSpPr txBox="1"/>
          <p:nvPr/>
        </p:nvSpPr>
        <p:spPr>
          <a:xfrm>
            <a:off x="502920" y="1371600"/>
            <a:ext cx="1143000" cy="201168"/>
          </a:xfrm>
          <a:prstGeom prst="rect">
            <a:avLst/>
          </a:prstGeom>
          <a:noFill/>
          <a:ln/>
        </p:spPr>
        <p:txBody>
          <a:bodyPr wrap="square" lIns="0" tIns="0" rIns="0" bIns="0" rtlCol="0" anchor="ctr"/>
          <a:lstStyle/>
          <a:p>
            <a:pPr algn="ctr" indent="0" marL="0">
              <a:buNone/>
            </a:pPr>
            <a:r>
              <a:rPr lang="en-US" sz="750" b="1" spc="150" kern="0" dirty="0">
                <a:solidFill>
                  <a:srgbClr val="1B2A4A"/>
                </a:solidFill>
                <a:latin typeface="Poppins" pitchFamily="34" charset="0"/>
                <a:ea typeface="Poppins" pitchFamily="34" charset="-122"/>
                <a:cs typeface="Poppins" pitchFamily="34" charset="-120"/>
              </a:rPr>
              <a:t>FINDING</a:t>
            </a:r>
            <a:endParaRPr lang="en-US" sz="750" dirty="0"/>
          </a:p>
        </p:txBody>
      </p:sp>
      <p:graphicFrame>
        <p:nvGraphicFramePr>
          <p:cNvPr id="12" name="findings chart" descr=""/>
          <p:cNvGraphicFramePr/>
          <p:nvPr/>
        </p:nvGraphicFramePr>
        <p:xfrm>
          <a:off x="502920" y="1609344"/>
          <a:ext cx="4754880" cy="2103120"/>
        </p:xfrm>
        <a:graphic xmlns:a="http://schemas.openxmlformats.org/drawingml/2006/main">
          <a:graphicData uri="http://schemas.openxmlformats.org/drawingml/2006/chart">
            <c:chart xmlns:c="http://schemas.openxmlformats.org/drawingml/2006/chart" r:id="rId1"/>
          </a:graphicData>
        </a:graphic>
      </p:graphicFrame>
      <p:sp>
        <p:nvSpPr>
          <p:cNvPr id="13" name="chart note"/>
          <p:cNvSpPr txBox="1"/>
          <p:nvPr/>
        </p:nvSpPr>
        <p:spPr>
          <a:xfrm>
            <a:off x="502920" y="3730752"/>
            <a:ext cx="4754880" cy="329184"/>
          </a:xfrm>
          <a:prstGeom prst="rect">
            <a:avLst/>
          </a:prstGeom>
          <a:noFill/>
          <a:ln/>
        </p:spPr>
        <p:txBody>
          <a:bodyPr wrap="square" lIns="0" tIns="0" rIns="0" bIns="0" rtlCol="0" anchor="t"/>
          <a:lstStyle/>
          <a:p>
            <a:pPr indent="0" marL="0">
              <a:buNone/>
            </a:pPr>
            <a:r>
              <a:rPr lang="en-US" sz="750" dirty="0">
                <a:solidFill>
                  <a:srgbClr val="A3ADBB"/>
                </a:solidFill>
                <a:latin typeface="Poppins" pitchFamily="34" charset="0"/>
                <a:ea typeface="Poppins" pitchFamily="34" charset="-122"/>
                <a:cs typeface="Poppins" pitchFamily="34" charset="-120"/>
              </a:rPr>
              <a:t>Quality reported as "more than 40%" vs. control, plotted at 40. Below-/above-average = performer groups, each vs. its own baseline.</a:t>
            </a:r>
            <a:endParaRPr lang="en-US" sz="750" dirty="0"/>
          </a:p>
        </p:txBody>
      </p:sp>
      <p:sp>
        <p:nvSpPr>
          <p:cNvPr id="14" name="outside callout"/>
          <p:cNvSpPr/>
          <p:nvPr/>
        </p:nvSpPr>
        <p:spPr>
          <a:xfrm>
            <a:off x="5623560" y="1371600"/>
            <a:ext cx="3017520" cy="1828800"/>
          </a:xfrm>
          <a:prstGeom prst="roundRect">
            <a:avLst>
              <a:gd name="adj" fmla="val 6000"/>
            </a:avLst>
          </a:prstGeom>
          <a:solidFill>
            <a:srgbClr val="1B2A4A"/>
          </a:solidFill>
          <a:ln w="12700">
            <a:solidFill>
              <a:srgbClr val="1B2A4A"/>
            </a:solidFill>
            <a:prstDash val="solid"/>
          </a:ln>
        </p:spPr>
      </p:sp>
      <p:sp>
        <p:nvSpPr>
          <p:cNvPr id="15" name="outside head"/>
          <p:cNvSpPr txBox="1"/>
          <p:nvPr/>
        </p:nvSpPr>
        <p:spPr>
          <a:xfrm>
            <a:off x="5852160" y="1499616"/>
            <a:ext cx="2560320" cy="219456"/>
          </a:xfrm>
          <a:prstGeom prst="rect">
            <a:avLst/>
          </a:prstGeom>
          <a:noFill/>
          <a:ln/>
        </p:spPr>
        <p:txBody>
          <a:bodyPr wrap="square" lIns="0" tIns="0" rIns="0" bIns="0" rtlCol="0" anchor="ctr"/>
          <a:lstStyle/>
          <a:p>
            <a:pPr indent="0" marL="0">
              <a:buNone/>
            </a:pPr>
            <a:r>
              <a:rPr lang="en-US" sz="900" b="1" spc="100" kern="0" dirty="0">
                <a:solidFill>
                  <a:srgbClr val="BFE6E0"/>
                </a:solidFill>
                <a:latin typeface="Poppins" pitchFamily="34" charset="0"/>
                <a:ea typeface="Poppins" pitchFamily="34" charset="-122"/>
                <a:cs typeface="Poppins" pitchFamily="34" charset="-120"/>
              </a:rPr>
              <a:t>Outside the frontier</a:t>
            </a:r>
            <a:endParaRPr lang="en-US" sz="900" dirty="0"/>
          </a:p>
        </p:txBody>
      </p:sp>
      <p:sp>
        <p:nvSpPr>
          <p:cNvPr id="16" name="outside stat"/>
          <p:cNvSpPr txBox="1"/>
          <p:nvPr/>
        </p:nvSpPr>
        <p:spPr>
          <a:xfrm>
            <a:off x="5852160" y="1719072"/>
            <a:ext cx="1463040" cy="512064"/>
          </a:xfrm>
          <a:prstGeom prst="rect">
            <a:avLst/>
          </a:prstGeom>
          <a:noFill/>
          <a:ln/>
        </p:spPr>
        <p:txBody>
          <a:bodyPr wrap="square" lIns="0" tIns="0" rIns="0" bIns="0" rtlCol="0" anchor="ctr"/>
          <a:lstStyle/>
          <a:p>
            <a:pPr indent="0" marL="0">
              <a:buNone/>
            </a:pPr>
            <a:r>
              <a:rPr lang="en-US" sz="4400" b="1" dirty="0">
                <a:solidFill>
                  <a:srgbClr val="FFFFFF"/>
                </a:solidFill>
                <a:latin typeface="Poppins" pitchFamily="34" charset="0"/>
                <a:ea typeface="Poppins" pitchFamily="34" charset="-122"/>
                <a:cs typeface="Poppins" pitchFamily="34" charset="-120"/>
              </a:rPr>
              <a:t>−19</a:t>
            </a:r>
            <a:endParaRPr lang="en-US" sz="4400" dirty="0"/>
          </a:p>
        </p:txBody>
      </p:sp>
      <p:sp>
        <p:nvSpPr>
          <p:cNvPr id="17" name="outside unit"/>
          <p:cNvSpPr txBox="1"/>
          <p:nvPr/>
        </p:nvSpPr>
        <p:spPr>
          <a:xfrm>
            <a:off x="5852160" y="2231136"/>
            <a:ext cx="1737360" cy="201168"/>
          </a:xfrm>
          <a:prstGeom prst="rect">
            <a:avLst/>
          </a:prstGeom>
          <a:noFill/>
          <a:ln/>
        </p:spPr>
        <p:txBody>
          <a:bodyPr wrap="square" lIns="0" tIns="0" rIns="0" bIns="0" rtlCol="0" anchor="ctr"/>
          <a:lstStyle/>
          <a:p>
            <a:pPr indent="0" marL="0">
              <a:buNone/>
            </a:pPr>
            <a:r>
              <a:rPr lang="en-US" sz="850" dirty="0">
                <a:solidFill>
                  <a:srgbClr val="BFE6E0"/>
                </a:solidFill>
                <a:latin typeface="Poppins" pitchFamily="34" charset="0"/>
                <a:ea typeface="Poppins" pitchFamily="34" charset="-122"/>
                <a:cs typeface="Poppins" pitchFamily="34" charset="-120"/>
              </a:rPr>
              <a:t>percentage points</a:t>
            </a:r>
            <a:endParaRPr lang="en-US" sz="850" dirty="0"/>
          </a:p>
        </p:txBody>
      </p:sp>
      <p:pic>
        <p:nvPicPr>
          <p:cNvPr id="18" name="mascot confused" descr="preencoded.png">    </p:cNvPr>
          <p:cNvPicPr>
            <a:picLocks noChangeAspect="1"/>
          </p:cNvPicPr>
          <p:nvPr/>
        </p:nvPicPr>
        <p:blipFill>
          <a:blip r:embed="rId2"/>
          <a:stretch>
            <a:fillRect/>
          </a:stretch>
        </p:blipFill>
        <p:spPr>
          <a:xfrm>
            <a:off x="7498080" y="1591056"/>
            <a:ext cx="1005840" cy="868680"/>
          </a:xfrm>
          <a:prstGeom prst="rect">
            <a:avLst/>
          </a:prstGeom>
        </p:spPr>
      </p:pic>
      <p:sp>
        <p:nvSpPr>
          <p:cNvPr id="19" name="outside body"/>
          <p:cNvSpPr txBox="1"/>
          <p:nvPr/>
        </p:nvSpPr>
        <p:spPr>
          <a:xfrm>
            <a:off x="5852160" y="2487168"/>
            <a:ext cx="2560320" cy="640080"/>
          </a:xfrm>
          <a:prstGeom prst="rect">
            <a:avLst/>
          </a:prstGeom>
          <a:noFill/>
          <a:ln/>
        </p:spPr>
        <p:txBody>
          <a:bodyPr wrap="square" lIns="0" tIns="0" rIns="0" bIns="0" rtlCol="0" anchor="t"/>
          <a:lstStyle/>
          <a:p>
            <a:pPr indent="0" marL="0">
              <a:buNone/>
            </a:pPr>
            <a:r>
              <a:rPr lang="en-US" sz="900" dirty="0">
                <a:solidFill>
                  <a:srgbClr val="FFFFFF"/>
                </a:solidFill>
                <a:latin typeface="Poppins" pitchFamily="34" charset="0"/>
                <a:ea typeface="Poppins" pitchFamily="34" charset="-122"/>
                <a:cs typeface="Poppins" pitchFamily="34" charset="-120"/>
              </a:rPr>
              <a:t>AI users were 19 percentage points less likely to produce correct solutions than consultants without AI.</a:t>
            </a:r>
            <a:endParaRPr lang="en-US" sz="900" dirty="0"/>
          </a:p>
        </p:txBody>
      </p:sp>
      <p:sp>
        <p:nvSpPr>
          <p:cNvPr id="20" name="unit note"/>
          <p:cNvSpPr txBox="1"/>
          <p:nvPr/>
        </p:nvSpPr>
        <p:spPr>
          <a:xfrm>
            <a:off x="5623560" y="3255264"/>
            <a:ext cx="3017520" cy="310896"/>
          </a:xfrm>
          <a:prstGeom prst="rect">
            <a:avLst/>
          </a:prstGeom>
          <a:noFill/>
          <a:ln/>
        </p:spPr>
        <p:txBody>
          <a:bodyPr wrap="square" lIns="0" tIns="0" rIns="0" bIns="0" rtlCol="0" anchor="t"/>
          <a:lstStyle/>
          <a:p>
            <a:pPr indent="0" marL="0">
              <a:buNone/>
            </a:pPr>
            <a:r>
              <a:rPr lang="en-US" sz="800" dirty="0">
                <a:solidFill>
                  <a:srgbClr val="6B7280"/>
                </a:solidFill>
                <a:latin typeface="Poppins" pitchFamily="34" charset="0"/>
                <a:ea typeface="Poppins" pitchFamily="34" charset="-122"/>
                <a:cs typeface="Poppins" pitchFamily="34" charset="-120"/>
              </a:rPr>
              <a:t>A gap between two success rates, not a percentage change.</a:t>
            </a:r>
            <a:endParaRPr lang="en-US" sz="800" dirty="0"/>
          </a:p>
        </p:txBody>
      </p:sp>
      <p:sp>
        <p:nvSpPr>
          <p:cNvPr id="21" name="divider"/>
          <p:cNvSpPr/>
          <p:nvPr/>
        </p:nvSpPr>
        <p:spPr>
          <a:xfrm>
            <a:off x="5623560" y="3657600"/>
            <a:ext cx="3017520" cy="0"/>
          </a:xfrm>
          <a:prstGeom prst="line">
            <a:avLst/>
          </a:prstGeom>
          <a:noFill/>
          <a:ln w="9525">
            <a:solidFill>
              <a:srgbClr val="E3E8EE"/>
            </a:solidFill>
            <a:prstDash val="solid"/>
          </a:ln>
        </p:spPr>
      </p:sp>
      <p:sp>
        <p:nvSpPr>
          <p:cNvPr id="22" name="approach head"/>
          <p:cNvSpPr txBox="1"/>
          <p:nvPr/>
        </p:nvSpPr>
        <p:spPr>
          <a:xfrm>
            <a:off x="5623560" y="3712464"/>
            <a:ext cx="3017520" cy="201168"/>
          </a:xfrm>
          <a:prstGeom prst="rect">
            <a:avLst/>
          </a:prstGeom>
          <a:noFill/>
          <a:ln/>
        </p:spPr>
        <p:txBody>
          <a:bodyPr wrap="square" lIns="0" tIns="0" rIns="0" bIns="0" rtlCol="0" anchor="ctr"/>
          <a:lstStyle/>
          <a:p>
            <a:pPr indent="0" marL="0">
              <a:buNone/>
            </a:pPr>
            <a:r>
              <a:rPr lang="en-US" sz="950" b="1" dirty="0">
                <a:solidFill>
                  <a:schemeClr val="tx1"/>
                </a:solidFill>
                <a:latin typeface="Poppins" pitchFamily="34" charset="0"/>
                <a:ea typeface="Poppins" pitchFamily="34" charset="-122"/>
                <a:cs typeface="Poppins" pitchFamily="34" charset="-120"/>
              </a:rPr>
              <a:t>Two successful patterns of AI use</a:t>
            </a:r>
            <a:endParaRPr lang="en-US" sz="950" dirty="0"/>
          </a:p>
        </p:txBody>
      </p:sp>
      <p:pic>
        <p:nvPicPr>
          <p:cNvPr id="23" name="glyph Centaurs" descr="preencoded.png">    </p:cNvPr>
          <p:cNvPicPr>
            <a:picLocks noChangeAspect="1"/>
          </p:cNvPicPr>
          <p:nvPr/>
        </p:nvPicPr>
        <p:blipFill>
          <a:blip r:embed="rId3"/>
          <a:stretch>
            <a:fillRect/>
          </a:stretch>
        </p:blipFill>
        <p:spPr>
          <a:xfrm>
            <a:off x="5623560" y="3950208"/>
            <a:ext cx="329184" cy="219456"/>
          </a:xfrm>
          <a:prstGeom prst="rect">
            <a:avLst/>
          </a:prstGeom>
        </p:spPr>
      </p:pic>
      <p:sp>
        <p:nvSpPr>
          <p:cNvPr id="24" name="approach text"/>
          <p:cNvSpPr txBox="1"/>
          <p:nvPr/>
        </p:nvSpPr>
        <p:spPr>
          <a:xfrm>
            <a:off x="6044184" y="3931920"/>
            <a:ext cx="2596896" cy="256032"/>
          </a:xfrm>
          <a:prstGeom prst="rect">
            <a:avLst/>
          </a:prstGeom>
          <a:noFill/>
          <a:ln/>
        </p:spPr>
        <p:txBody>
          <a:bodyPr wrap="square" lIns="0" tIns="0" rIns="0" bIns="0" rtlCol="0" anchor="ctr"/>
          <a:lstStyle/>
          <a:p>
            <a:pPr indent="0" marL="0">
              <a:buNone/>
            </a:pPr>
            <a:r>
              <a:rPr lang="en-US" sz="900" b="1" dirty="0">
                <a:solidFill>
                  <a:schemeClr val="tx1"/>
                </a:solidFill>
                <a:latin typeface="Poppins" pitchFamily="34" charset="0"/>
                <a:ea typeface="Poppins" pitchFamily="34" charset="-122"/>
                <a:cs typeface="Poppins" pitchFamily="34" charset="-120"/>
              </a:rPr>
              <a:t>Centaurs  </a:t>
            </a:r>
            <a:pPr indent="0" marL="0">
              <a:buNone/>
            </a:pPr>
            <a:r>
              <a:rPr lang="en-US" sz="850" dirty="0">
                <a:solidFill>
                  <a:schemeClr val="tx2"/>
                </a:solidFill>
                <a:latin typeface="Poppins" pitchFamily="34" charset="0"/>
                <a:ea typeface="Poppins" pitchFamily="34" charset="-122"/>
                <a:cs typeface="Poppins" pitchFamily="34" charset="-120"/>
              </a:rPr>
              <a:t>divide tasks between human and AI</a:t>
            </a:r>
            <a:endParaRPr lang="en-US" sz="900" dirty="0"/>
          </a:p>
        </p:txBody>
      </p:sp>
      <p:pic>
        <p:nvPicPr>
          <p:cNvPr id="25" name="glyph Cyborgs" descr="preencoded.png">    </p:cNvPr>
          <p:cNvPicPr>
            <a:picLocks noChangeAspect="1"/>
          </p:cNvPicPr>
          <p:nvPr/>
        </p:nvPicPr>
        <p:blipFill>
          <a:blip r:embed="rId4"/>
          <a:stretch>
            <a:fillRect/>
          </a:stretch>
        </p:blipFill>
        <p:spPr>
          <a:xfrm>
            <a:off x="5623560" y="4187952"/>
            <a:ext cx="329184" cy="219456"/>
          </a:xfrm>
          <a:prstGeom prst="rect">
            <a:avLst/>
          </a:prstGeom>
        </p:spPr>
      </p:pic>
      <p:sp>
        <p:nvSpPr>
          <p:cNvPr id="26" name="approach text"/>
          <p:cNvSpPr txBox="1"/>
          <p:nvPr/>
        </p:nvSpPr>
        <p:spPr>
          <a:xfrm>
            <a:off x="6044184" y="4169664"/>
            <a:ext cx="2596896" cy="256032"/>
          </a:xfrm>
          <a:prstGeom prst="rect">
            <a:avLst/>
          </a:prstGeom>
          <a:noFill/>
          <a:ln/>
        </p:spPr>
        <p:txBody>
          <a:bodyPr wrap="square" lIns="0" tIns="0" rIns="0" bIns="0" rtlCol="0" anchor="ctr"/>
          <a:lstStyle/>
          <a:p>
            <a:pPr indent="0" marL="0">
              <a:buNone/>
            </a:pPr>
            <a:r>
              <a:rPr lang="en-US" sz="900" b="1" dirty="0">
                <a:solidFill>
                  <a:schemeClr val="tx1"/>
                </a:solidFill>
                <a:latin typeface="Poppins" pitchFamily="34" charset="0"/>
                <a:ea typeface="Poppins" pitchFamily="34" charset="-122"/>
                <a:cs typeface="Poppins" pitchFamily="34" charset="-120"/>
              </a:rPr>
              <a:t>Cyborgs  </a:t>
            </a:r>
            <a:pPr indent="0" marL="0">
              <a:buNone/>
            </a:pPr>
            <a:r>
              <a:rPr lang="en-US" sz="850" dirty="0">
                <a:solidFill>
                  <a:schemeClr val="tx2"/>
                </a:solidFill>
                <a:latin typeface="Poppins" pitchFamily="34" charset="0"/>
                <a:ea typeface="Poppins" pitchFamily="34" charset="-122"/>
                <a:cs typeface="Poppins" pitchFamily="34" charset="-120"/>
              </a:rPr>
              <a:t>integrate AI into every step</a:t>
            </a:r>
            <a:endParaRPr lang="en-US" sz="900" dirty="0"/>
          </a:p>
        </p:txBody>
      </p:sp>
      <p:sp>
        <p:nvSpPr>
          <p:cNvPr id="27"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oppins" pitchFamily="34" charset="0"/>
                <a:ea typeface="Poppins" pitchFamily="34" charset="-122"/>
                <a:cs typeface="Poppins" pitchFamily="34" charset="-120"/>
              </a:rPr>
              <a:t>Dell'Acqua, F., et al. (2023). Navigating the Jagged Technological Frontier. Harvard Business School Working Paper 24-013.</a:t>
            </a:r>
            <a:endParaRPr lang="en-US" sz="700" dirty="0"/>
          </a:p>
        </p:txBody>
      </p:sp>
      <p:sp>
        <p:nvSpPr>
          <p:cNvPr id="28"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850" b="1" dirty="0">
                <a:solidFill>
                  <a:srgbClr val="2E8B86"/>
                </a:solidFill>
                <a:latin typeface="Poppins" pitchFamily="34" charset="0"/>
                <a:ea typeface="Poppins" pitchFamily="34" charset="-122"/>
                <a:cs typeface="Poppins" pitchFamily="34" charset="-120"/>
              </a:rPr>
              <a:t>Next  </a:t>
            </a:r>
            <a:pPr algn="r" indent="0" marL="0">
              <a:buNone/>
            </a:pPr>
            <a:r>
              <a:rPr lang="en-US" sz="850" dirty="0">
                <a:solidFill>
                  <a:srgbClr val="1B2A4A"/>
                </a:solidFill>
                <a:latin typeface="Poppins" pitchFamily="34" charset="0"/>
                <a:ea typeface="Poppins" pitchFamily="34" charset="-122"/>
                <a:cs typeface="Poppins" pitchFamily="34" charset="-120"/>
              </a:rPr>
              <a:t>Does this hold for real small businesses?</a:t>
            </a:r>
            <a:endParaRPr lang="en-US" sz="850" dirty="0"/>
          </a:p>
        </p:txBody>
      </p:sp>
      <p:pic>
        <p:nvPicPr>
          <p:cNvPr id="29" name="icon FiArrowRight" descr="preencoded.png">    </p:cNvPr>
          <p:cNvPicPr>
            <a:picLocks noChangeAspect="1"/>
          </p:cNvPicPr>
          <p:nvPr/>
        </p:nvPicPr>
        <p:blipFill>
          <a:blip r:embed="rId5"/>
          <a:stretch>
            <a:fillRect/>
          </a:stretch>
        </p:blipFill>
        <p:spPr>
          <a:xfrm>
            <a:off x="8439912" y="4498848"/>
            <a:ext cx="201168" cy="201168"/>
          </a:xfrm>
          <a:prstGeom prst="rect">
            <a:avLst/>
          </a:prstGeom>
        </p:spPr>
      </p:pic>
      <p:sp>
        <p:nvSpPr>
          <p:cNvPr id="30"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oppins"/>
                <a:ea typeface="Poppins"/>
                <a:cs typeface="Poppins"/>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500"/>
                                        <p:tgtEl>
                                          <p:spTgt spid="1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500"/>
                                        <p:tgtEl>
                                          <p:spTgt spid="11"/>
                                        </p:tgtEl>
                                      </p:cBhvr>
                                    </p:animEffect>
                                  </p:childTnLst>
                                </p:cTn>
                              </p:par>
                            </p:childTnLst>
                          </p:cTn>
                        </p:par>
                      </p:childTnLst>
                    </p:cTn>
                  </p:par>
                  <p:par>
                    <p:cTn id="14" fill="hold">
                      <p:stCondLst>
                        <p:cond delay="indefinite"/>
                      </p:stCondLst>
                      <p:childTnLst>
                        <p:par>
                          <p:cTn id="15"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wipe(left)">
                                      <p:cBhvr>
                                        <p:cTn id="13"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childTnLst>
                          </p:cTn>
                        </p:par>
                      </p:childTnLst>
                    </p:cTn>
                  </p:par>
                  <p:par>
                    <p:cTn id="45" fill="hold">
                      <p:stCondLst>
                        <p:cond delay="indefinite"/>
                      </p:stCondLst>
                      <p:childTnLst>
                        <p:par>
                          <p:cTn id="46" fill="hold">
                            <p:stCondLst>
                              <p:cond delay="0"/>
                            </p:stCondLst>
                            <p:childTnLst>
                              <p:par>
                                <p:cTn id="21" presetID="23" presetClass="entr" presetSubtype="16"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animScale>
                                      <p:cBhvr>
                                        <p:cTn id="23" dur="500" fill="hold"/>
                                        <p:tgtEl>
                                          <p:spTgt spid="14"/>
                                        </p:tgtEl>
                                      </p:cBhvr>
                                      <p:from x="0" y="0"/>
                                      <p:to x="100000" y="100000"/>
                                    </p:animScale>
                                    <p:animEffect transition="in" filter="fade">
                                      <p:cBhvr>
                                        <p:cTn id="24" dur="500"/>
                                        <p:tgtEl>
                                          <p:spTgt spid="14"/>
                                        </p:tgtEl>
                                      </p:cBhvr>
                                    </p:animEffect>
                                  </p:childTnLst>
                                </p:cTn>
                              </p:par>
                              <p:par>
                                <p:cTn id="25" presetID="23" presetClass="entr" presetSubtype="16"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Scale>
                                      <p:cBhvr>
                                        <p:cTn id="27" dur="500" fill="hold"/>
                                        <p:tgtEl>
                                          <p:spTgt spid="15"/>
                                        </p:tgtEl>
                                      </p:cBhvr>
                                      <p:from x="0" y="0"/>
                                      <p:to x="100000" y="100000"/>
                                    </p:animScale>
                                    <p:animEffect transition="in" filter="fade">
                                      <p:cBhvr>
                                        <p:cTn id="28" dur="500"/>
                                        <p:tgtEl>
                                          <p:spTgt spid="15"/>
                                        </p:tgtEl>
                                      </p:cBhvr>
                                    </p:animEffect>
                                  </p:childTnLst>
                                </p:cTn>
                              </p:par>
                              <p:par>
                                <p:cTn id="29" presetID="23" presetClass="entr" presetSubtype="16"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Scale>
                                      <p:cBhvr>
                                        <p:cTn id="31" dur="500" fill="hold"/>
                                        <p:tgtEl>
                                          <p:spTgt spid="16"/>
                                        </p:tgtEl>
                                      </p:cBhvr>
                                      <p:from x="0" y="0"/>
                                      <p:to x="100000" y="100000"/>
                                    </p:animScale>
                                    <p:animEffect transition="in" filter="fade">
                                      <p:cBhvr>
                                        <p:cTn id="32" dur="500"/>
                                        <p:tgtEl>
                                          <p:spTgt spid="16"/>
                                        </p:tgtEl>
                                      </p:cBhvr>
                                    </p:animEffect>
                                  </p:childTnLst>
                                </p:cTn>
                              </p:par>
                              <p:par>
                                <p:cTn id="33" presetID="23" presetClass="entr" presetSubtype="16"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Scale>
                                      <p:cBhvr>
                                        <p:cTn id="35" dur="500" fill="hold"/>
                                        <p:tgtEl>
                                          <p:spTgt spid="17"/>
                                        </p:tgtEl>
                                      </p:cBhvr>
                                      <p:from x="0" y="0"/>
                                      <p:to x="100000" y="100000"/>
                                    </p:animScale>
                                    <p:animEffect transition="in" filter="fade">
                                      <p:cBhvr>
                                        <p:cTn id="36" dur="500"/>
                                        <p:tgtEl>
                                          <p:spTgt spid="17"/>
                                        </p:tgtEl>
                                      </p:cBhvr>
                                    </p:animEffect>
                                  </p:childTnLst>
                                </p:cTn>
                              </p:par>
                              <p:par>
                                <p:cTn id="37" presetID="23" presetClass="entr" presetSubtype="16"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Scale>
                                      <p:cBhvr>
                                        <p:cTn id="39" dur="500" fill="hold"/>
                                        <p:tgtEl>
                                          <p:spTgt spid="19"/>
                                        </p:tgtEl>
                                      </p:cBhvr>
                                      <p:from x="0" y="0"/>
                                      <p:to x="100000" y="100000"/>
                                    </p:animScale>
                                    <p:animEffect transition="in" filter="fade">
                                      <p:cBhvr>
                                        <p:cTn id="40" dur="500"/>
                                        <p:tgtEl>
                                          <p:spTgt spid="19"/>
                                        </p:tgtEl>
                                      </p:cBhvr>
                                    </p:animEffect>
                                  </p:childTnLst>
                                </p:cTn>
                              </p:par>
                              <p:par>
                                <p:cTn id="41" presetID="23" presetClass="entr" presetSubtype="16"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animScale>
                                      <p:cBhvr>
                                        <p:cTn id="43" dur="500" fill="hold"/>
                                        <p:tgtEl>
                                          <p:spTgt spid="18"/>
                                        </p:tgtEl>
                                      </p:cBhvr>
                                      <p:from x="0" y="0"/>
                                      <p:to x="100000" y="100000"/>
                                    </p:animScale>
                                    <p:animEffect transition="in" filter="fade">
                                      <p:cBhvr>
                                        <p:cTn id="44" dur="500"/>
                                        <p:tgtEl>
                                          <p:spTgt spid="18"/>
                                        </p:tgtEl>
                                      </p:cBhvr>
                                    </p:animEffect>
                                  </p:childTnLst>
                                </p:cTn>
                              </p:par>
                            </p:childTnLst>
                          </p:cTn>
                        </p:par>
                      </p:childTnLst>
                    </p:cTn>
                  </p:par>
                  <p:par>
                    <p:cTn id="50" fill="hold">
                      <p:stCondLst>
                        <p:cond delay="indefinite"/>
                      </p:stCondLst>
                      <p:childTnLst>
                        <p:par>
                          <p:cTn id="51"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childTnLst>
                                </p:cTn>
                              </p:par>
                            </p:childTnLst>
                          </p:cTn>
                        </p:par>
                      </p:childTnLst>
                    </p:cTn>
                  </p:par>
                  <p:par>
                    <p:cTn id="76" fill="hold">
                      <p:stCondLst>
                        <p:cond delay="indefinite"/>
                      </p:stCondLst>
                      <p:childTnLst>
                        <p:par>
                          <p:cTn id="77" fill="hold">
                            <p:stCondLst>
                              <p:cond delay="0"/>
                            </p:stCondLst>
                            <p:childTnLst>
                              <p:par>
                                <p:cTn id="52" presetID="42" presetClass="entr" presetSubtype="0" fill="hold" grpId="0" nodeType="click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700"/>
                                        <p:tgtEl>
                                          <p:spTgt spid="21"/>
                                        </p:tgtEl>
                                      </p:cBhvr>
                                    </p:animEffect>
                                    <p:anim calcmode="lin" valueType="num">
                                      <p:cBhvr additive="base">
                                        <p:cTn id="55" dur="700" fill="hold"/>
                                        <p:tgtEl>
                                          <p:spTgt spid="2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700"/>
                                        <p:tgtEl>
                                          <p:spTgt spid="22"/>
                                        </p:tgtEl>
                                      </p:cBhvr>
                                    </p:animEffect>
                                    <p:anim calcmode="lin" valueType="num">
                                      <p:cBhvr additive="base">
                                        <p:cTn id="59" dur="700" fill="hold"/>
                                        <p:tgtEl>
                                          <p:spTgt spid="22"/>
                                        </p:tgtEl>
                                        <p:attrNameLst>
                                          <p:attrName>ppt_y</p:attrName>
                                        </p:attrNameLst>
                                      </p:cBhvr>
                                      <p:tavLst>
                                        <p:tav tm="0">
                                          <p:val>
                                            <p:strVal val="#ppt_y+.08"/>
                                          </p:val>
                                        </p:tav>
                                        <p:tav tm="100000">
                                          <p:val>
                                            <p:strVal val="#ppt_y"/>
                                          </p:val>
                                        </p:tav>
                                      </p:tavLst>
                                    </p:anim>
                                  </p:childTnLst>
                                </p:cTn>
                              </p:par>
                              <p:par>
                                <p:cTn id="60" presetID="42" presetClass="entr" presetSubtype="0" fill="hold" grpId="0" nodeType="with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700"/>
                                        <p:tgtEl>
                                          <p:spTgt spid="23"/>
                                        </p:tgtEl>
                                      </p:cBhvr>
                                    </p:animEffect>
                                    <p:anim calcmode="lin" valueType="num">
                                      <p:cBhvr additive="base">
                                        <p:cTn id="63" dur="700" fill="hold"/>
                                        <p:tgtEl>
                                          <p:spTgt spid="23"/>
                                        </p:tgtEl>
                                        <p:attrNameLst>
                                          <p:attrName>ppt_y</p:attrName>
                                        </p:attrNameLst>
                                      </p:cBhvr>
                                      <p:tavLst>
                                        <p:tav tm="0">
                                          <p:val>
                                            <p:strVal val="#ppt_y+.08"/>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fade">
                                      <p:cBhvr>
                                        <p:cTn id="66" dur="700"/>
                                        <p:tgtEl>
                                          <p:spTgt spid="25"/>
                                        </p:tgtEl>
                                      </p:cBhvr>
                                    </p:animEffect>
                                    <p:anim calcmode="lin" valueType="num">
                                      <p:cBhvr additive="base">
                                        <p:cTn id="67" dur="700" fill="hold"/>
                                        <p:tgtEl>
                                          <p:spTgt spid="25"/>
                                        </p:tgtEl>
                                        <p:attrNameLst>
                                          <p:attrName>ppt_y</p:attrName>
                                        </p:attrNameLst>
                                      </p:cBhvr>
                                      <p:tavLst>
                                        <p:tav tm="0">
                                          <p:val>
                                            <p:strVal val="#ppt_y+.08"/>
                                          </p:val>
                                        </p:tav>
                                        <p:tav tm="100000">
                                          <p:val>
                                            <p:strVal val="#ppt_y"/>
                                          </p:val>
                                        </p:tav>
                                      </p:tavLst>
                                    </p:anim>
                                  </p:childTnLst>
                                </p:cTn>
                              </p:par>
                              <p:par>
                                <p:cTn id="68" presetID="42"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700"/>
                                        <p:tgtEl>
                                          <p:spTgt spid="24"/>
                                        </p:tgtEl>
                                      </p:cBhvr>
                                    </p:animEffect>
                                    <p:anim calcmode="lin" valueType="num">
                                      <p:cBhvr additive="base">
                                        <p:cTn id="71" dur="700" fill="hold"/>
                                        <p:tgtEl>
                                          <p:spTgt spid="24"/>
                                        </p:tgtEl>
                                        <p:attrNameLst>
                                          <p:attrName>ppt_y</p:attrName>
                                        </p:attrNameLst>
                                      </p:cBhvr>
                                      <p:tavLst>
                                        <p:tav tm="0">
                                          <p:val>
                                            <p:strVal val="#ppt_y+.08"/>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26"/>
                                        </p:tgtEl>
                                        <p:attrNameLst>
                                          <p:attrName>style.visibility</p:attrName>
                                        </p:attrNameLst>
                                      </p:cBhvr>
                                      <p:to>
                                        <p:strVal val="visible"/>
                                      </p:to>
                                    </p:set>
                                    <p:animEffect transition="in" filter="fade">
                                      <p:cBhvr>
                                        <p:cTn id="74" dur="700"/>
                                        <p:tgtEl>
                                          <p:spTgt spid="26"/>
                                        </p:tgtEl>
                                      </p:cBhvr>
                                    </p:animEffect>
                                    <p:anim calcmode="lin" valueType="num">
                                      <p:cBhvr additive="base">
                                        <p:cTn id="75" dur="700" fill="hold"/>
                                        <p:tgtEl>
                                          <p:spTgt spid="26"/>
                                        </p:tgtEl>
                                        <p:attrNameLst>
                                          <p:attrName>ppt_y</p:attrName>
                                        </p:attrNameLst>
                                      </p:cBhvr>
                                      <p:tavLst>
                                        <p:tav tm="0">
                                          <p:val>
                                            <p:strVal val="#ppt_y+.08"/>
                                          </p:val>
                                        </p:tav>
                                        <p:tav tm="100000">
                                          <p:val>
                                            <p:strVal val="#ppt_y"/>
                                          </p:val>
                                        </p:tav>
                                      </p:tavLst>
                                    </p:anim>
                                  </p:childTnLst>
                                </p:cTn>
                              </p:par>
                            </p:childTnLst>
                          </p:cTn>
                        </p:par>
                      </p:childTnLst>
                    </p:cTn>
                  </p:par>
                  <p:par>
                    <p:cTn id="84" fill="hold">
                      <p:stCondLst>
                        <p:cond delay="indefinite"/>
                      </p:stCondLst>
                      <p:childTnLst>
                        <p:par>
                          <p:cTn id="85" fill="hold">
                            <p:stCondLst>
                              <p:cond delay="0"/>
                            </p:stCondLst>
                            <p:childTnLst>
                              <p:par>
                                <p:cTn id="78" presetID="10" presetClass="entr" presetSubtype="0" fill="hold" grpId="0" nodeType="clickEffect">
                                  <p:stCondLst>
                                    <p:cond delay="0"/>
                                  </p:stCondLst>
                                  <p:childTnLst>
                                    <p:set>
                                      <p:cBhvr>
                                        <p:cTn id="79" dur="1" fill="hold">
                                          <p:stCondLst>
                                            <p:cond delay="0"/>
                                          </p:stCondLst>
                                        </p:cTn>
                                        <p:tgtEl>
                                          <p:spTgt spid="28"/>
                                        </p:tgtEl>
                                        <p:attrNameLst>
                                          <p:attrName>style.visibility</p:attrName>
                                        </p:attrNameLst>
                                      </p:cBhvr>
                                      <p:to>
                                        <p:strVal val="visible"/>
                                      </p:to>
                                    </p:set>
                                    <p:animEffect transition="in" filter="fade">
                                      <p:cBhvr>
                                        <p:cTn id="80" dur="500"/>
                                        <p:tgtEl>
                                          <p:spTgt spid="28"/>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9"/>
                                        </p:tgtEl>
                                        <p:attrNameLst>
                                          <p:attrName>style.visibility</p:attrName>
                                        </p:attrNameLst>
                                      </p:cBhvr>
                                      <p:to>
                                        <p:strVal val="visible"/>
                                      </p:to>
                                    </p:set>
                                    <p:animEffect transition="in" filter="fade">
                                      <p:cBhvr>
                                        <p:cTn id="83"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Graphic spid="12" grpId="0">
        <p:bldAsOne/>
      </p:bldGraphic>
      <p:bldP spid="13" grpId="0" animBg="1"/>
      <p:bldP spid="14" grpId="0" animBg="1"/>
      <p:bldP spid="15" grpId="0" animBg="1"/>
      <p:bldP spid="16" grpId="0" animBg="1"/>
      <p:bldP spid="17" grpId="0" animBg="1"/>
      <p:bldP spid="19" grpId="0" animBg="1"/>
      <p:bldP spid="20" grpId="0" animBg="1"/>
      <p:bldP spid="21" grpId="0" animBg="1"/>
      <p:bldP spid="22" grpId="0" animBg="1"/>
      <p:bldP spid="24" grpId="0" animBg="1"/>
      <p:bldP spid="26"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oppins" pitchFamily="34" charset="0"/>
                <a:ea typeface="Poppins" pitchFamily="34" charset="-122"/>
                <a:cs typeface="Poppins" pitchFamily="34" charset="-120"/>
              </a:rPr>
              <a:t>Article 5  ·  Research purpose and findings</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oppins" pitchFamily="34" charset="0"/>
                <a:ea typeface="Poppins" pitchFamily="34" charset="-122"/>
                <a:cs typeface="Poppins" pitchFamily="34" charset="-120"/>
              </a:rPr>
              <a:t>The Uneven Impact of Generative AI on Entrepreneurial Performance</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BFE6E0"/>
          </a:solidFill>
          <a:ln w="12700">
            <a:solidFill>
              <a:srgbClr val="BFE6E0"/>
            </a:solidFill>
            <a:prstDash val="solid"/>
          </a:ln>
        </p:spPr>
      </p:sp>
      <p:sp>
        <p:nvSpPr>
          <p:cNvPr id="6" name="progress dot 3"/>
          <p:cNvSpPr/>
          <p:nvPr/>
        </p:nvSpPr>
        <p:spPr>
          <a:xfrm>
            <a:off x="8174736" y="342900"/>
            <a:ext cx="100584" cy="100584"/>
          </a:xfrm>
          <a:prstGeom prst="ellipse">
            <a:avLst/>
          </a:prstGeom>
          <a:solidFill>
            <a:srgbClr val="BFE6E0"/>
          </a:solidFill>
          <a:ln w="12700">
            <a:solidFill>
              <a:srgbClr val="BFE6E0"/>
            </a:solidFill>
            <a:prstDash val="solid"/>
          </a:ln>
        </p:spPr>
      </p:sp>
      <p:sp>
        <p:nvSpPr>
          <p:cNvPr id="7" name="progress dot 4"/>
          <p:cNvSpPr/>
          <p:nvPr/>
        </p:nvSpPr>
        <p:spPr>
          <a:xfrm>
            <a:off x="8357616" y="342900"/>
            <a:ext cx="100584" cy="100584"/>
          </a:xfrm>
          <a:prstGeom prst="ellipse">
            <a:avLst/>
          </a:prstGeom>
          <a:solidFill>
            <a:srgbClr val="2E8B86"/>
          </a:solidFill>
          <a:ln w="12700">
            <a:solidFill>
              <a:srgbClr val="2E8B86"/>
            </a:solidFill>
            <a:prstDash val="solid"/>
          </a:ln>
        </p:spPr>
      </p:sp>
      <p:sp>
        <p:nvSpPr>
          <p:cNvPr id="8" name="progress dot 5"/>
          <p:cNvSpPr/>
          <p:nvPr/>
        </p:nvSpPr>
        <p:spPr>
          <a:xfrm>
            <a:off x="8540496" y="342900"/>
            <a:ext cx="100584" cy="100584"/>
          </a:xfrm>
          <a:prstGeom prst="ellipse">
            <a:avLst/>
          </a:prstGeom>
          <a:solidFill>
            <a:srgbClr val="E3E8EE"/>
          </a:solidFill>
          <a:ln w="12700">
            <a:solidFill>
              <a:srgbClr val="E3E8EE"/>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800" dirty="0">
                <a:solidFill>
                  <a:srgbClr val="A3ADBB"/>
                </a:solidFill>
                <a:latin typeface="Poppins" pitchFamily="34" charset="0"/>
                <a:ea typeface="Poppins" pitchFamily="34" charset="-122"/>
                <a:cs typeface="Poppins" pitchFamily="34" charset="-120"/>
              </a:rPr>
              <a:t>4 / 5</a:t>
            </a:r>
            <a:endParaRPr lang="en-US" sz="800" dirty="0"/>
          </a:p>
        </p:txBody>
      </p:sp>
      <p:sp>
        <p:nvSpPr>
          <p:cNvPr id="10" name="icon circle"/>
          <p:cNvSpPr/>
          <p:nvPr/>
        </p:nvSpPr>
        <p:spPr>
          <a:xfrm>
            <a:off x="502920" y="1481328"/>
            <a:ext cx="365760" cy="365760"/>
          </a:xfrm>
          <a:prstGeom prst="ellipse">
            <a:avLst/>
          </a:prstGeom>
          <a:solidFill>
            <a:srgbClr val="F3F5F8"/>
          </a:solidFill>
          <a:ln w="12700">
            <a:solidFill>
              <a:srgbClr val="F3F5F8"/>
            </a:solidFill>
            <a:prstDash val="solid"/>
          </a:ln>
        </p:spPr>
      </p:sp>
      <p:pic>
        <p:nvPicPr>
          <p:cNvPr id="11" name="icon FiMapPin" descr="preencoded.png">    </p:cNvPr>
          <p:cNvPicPr>
            <a:picLocks noChangeAspect="1"/>
          </p:cNvPicPr>
          <p:nvPr/>
        </p:nvPicPr>
        <p:blipFill>
          <a:blip r:embed="rId1"/>
          <a:stretch>
            <a:fillRect/>
          </a:stretch>
        </p:blipFill>
        <p:spPr>
          <a:xfrm>
            <a:off x="585216" y="1563624"/>
            <a:ext cx="201168" cy="201168"/>
          </a:xfrm>
          <a:prstGeom prst="rect">
            <a:avLst/>
          </a:prstGeom>
        </p:spPr>
      </p:pic>
      <p:sp>
        <p:nvSpPr>
          <p:cNvPr id="12" name="fact Setting"/>
          <p:cNvSpPr txBox="1"/>
          <p:nvPr/>
        </p:nvSpPr>
        <p:spPr>
          <a:xfrm>
            <a:off x="1005840" y="1435608"/>
            <a:ext cx="3246120" cy="539496"/>
          </a:xfrm>
          <a:prstGeom prst="rect">
            <a:avLst/>
          </a:prstGeom>
          <a:noFill/>
          <a:ln/>
        </p:spPr>
        <p:txBody>
          <a:bodyPr wrap="square" lIns="0" tIns="0" rIns="0" bIns="0" rtlCol="0" anchor="t"/>
          <a:lstStyle/>
          <a:p>
            <a:pPr indent="0" marL="0">
              <a:buNone/>
            </a:pPr>
            <a:r>
              <a:rPr lang="en-US" sz="1100" b="1" dirty="0">
                <a:solidFill>
                  <a:schemeClr val="tx1"/>
                </a:solidFill>
                <a:latin typeface="Poppins" pitchFamily="34" charset="0"/>
                <a:ea typeface="Poppins" pitchFamily="34" charset="-122"/>
                <a:cs typeface="Poppins" pitchFamily="34" charset="-120"/>
              </a:rPr>
              <a:t>Setting</a:t>
            </a:r>
            <a:endParaRPr lang="en-US" sz="1100" dirty="0"/>
          </a:p>
          <a:p>
            <a:pPr indent="0" marL="0">
              <a:buNone/>
            </a:pPr>
            <a:r>
              <a:rPr lang="en-US" sz="1000" dirty="0">
                <a:solidFill>
                  <a:schemeClr val="tx2"/>
                </a:solidFill>
                <a:latin typeface="Poppins" pitchFamily="34" charset="0"/>
                <a:ea typeface="Poppins" pitchFamily="34" charset="-122"/>
                <a:cs typeface="Poppins" pitchFamily="34" charset="-120"/>
              </a:rPr>
              <a:t>Small-business entrepreneurs in Kenya</a:t>
            </a:r>
            <a:endParaRPr lang="en-US" sz="1100" dirty="0"/>
          </a:p>
        </p:txBody>
      </p:sp>
      <p:sp>
        <p:nvSpPr>
          <p:cNvPr id="13" name="icon circle"/>
          <p:cNvSpPr/>
          <p:nvPr/>
        </p:nvSpPr>
        <p:spPr>
          <a:xfrm>
            <a:off x="502920" y="2066544"/>
            <a:ext cx="365760" cy="365760"/>
          </a:xfrm>
          <a:prstGeom prst="ellipse">
            <a:avLst/>
          </a:prstGeom>
          <a:solidFill>
            <a:srgbClr val="F3F5F8"/>
          </a:solidFill>
          <a:ln w="12700">
            <a:solidFill>
              <a:srgbClr val="F3F5F8"/>
            </a:solidFill>
            <a:prstDash val="solid"/>
          </a:ln>
        </p:spPr>
      </p:sp>
      <p:pic>
        <p:nvPicPr>
          <p:cNvPr id="14" name="icon FiMessageSquare" descr="preencoded.png">    </p:cNvPr>
          <p:cNvPicPr>
            <a:picLocks noChangeAspect="1"/>
          </p:cNvPicPr>
          <p:nvPr/>
        </p:nvPicPr>
        <p:blipFill>
          <a:blip r:embed="rId2"/>
          <a:stretch>
            <a:fillRect/>
          </a:stretch>
        </p:blipFill>
        <p:spPr>
          <a:xfrm>
            <a:off x="585216" y="2148840"/>
            <a:ext cx="201168" cy="201168"/>
          </a:xfrm>
          <a:prstGeom prst="rect">
            <a:avLst/>
          </a:prstGeom>
        </p:spPr>
      </p:pic>
      <p:sp>
        <p:nvSpPr>
          <p:cNvPr id="15" name="fact Intervention"/>
          <p:cNvSpPr txBox="1"/>
          <p:nvPr/>
        </p:nvSpPr>
        <p:spPr>
          <a:xfrm>
            <a:off x="1005840" y="2020824"/>
            <a:ext cx="3246120" cy="539496"/>
          </a:xfrm>
          <a:prstGeom prst="rect">
            <a:avLst/>
          </a:prstGeom>
          <a:noFill/>
          <a:ln/>
        </p:spPr>
        <p:txBody>
          <a:bodyPr wrap="square" lIns="0" tIns="0" rIns="0" bIns="0" rtlCol="0" anchor="t"/>
          <a:lstStyle/>
          <a:p>
            <a:pPr indent="0" marL="0">
              <a:buNone/>
            </a:pPr>
            <a:r>
              <a:rPr lang="en-US" sz="1100" b="1" dirty="0">
                <a:solidFill>
                  <a:schemeClr val="tx1"/>
                </a:solidFill>
                <a:latin typeface="Poppins" pitchFamily="34" charset="0"/>
                <a:ea typeface="Poppins" pitchFamily="34" charset="-122"/>
                <a:cs typeface="Poppins" pitchFamily="34" charset="-120"/>
              </a:rPr>
              <a:t>Intervention</a:t>
            </a:r>
            <a:endParaRPr lang="en-US" sz="1100" dirty="0"/>
          </a:p>
          <a:p>
            <a:pPr indent="0" marL="0">
              <a:buNone/>
            </a:pPr>
            <a:r>
              <a:rPr lang="en-US" sz="1000" dirty="0">
                <a:solidFill>
                  <a:schemeClr val="tx2"/>
                </a:solidFill>
                <a:latin typeface="Poppins" pitchFamily="34" charset="0"/>
                <a:ea typeface="Poppins" pitchFamily="34" charset="-122"/>
                <a:cs typeface="Poppins" pitchFamily="34" charset="-120"/>
              </a:rPr>
              <a:t>GPT-4-powered AI business assistant giving business advice</a:t>
            </a:r>
            <a:endParaRPr lang="en-US" sz="1100" dirty="0"/>
          </a:p>
        </p:txBody>
      </p:sp>
      <p:sp>
        <p:nvSpPr>
          <p:cNvPr id="16" name="icon circle"/>
          <p:cNvSpPr/>
          <p:nvPr/>
        </p:nvSpPr>
        <p:spPr>
          <a:xfrm>
            <a:off x="502920" y="2651760"/>
            <a:ext cx="365760" cy="365760"/>
          </a:xfrm>
          <a:prstGeom prst="ellipse">
            <a:avLst/>
          </a:prstGeom>
          <a:solidFill>
            <a:srgbClr val="F3F5F8"/>
          </a:solidFill>
          <a:ln w="12700">
            <a:solidFill>
              <a:srgbClr val="F3F5F8"/>
            </a:solidFill>
            <a:prstDash val="solid"/>
          </a:ln>
        </p:spPr>
      </p:sp>
      <p:pic>
        <p:nvPicPr>
          <p:cNvPr id="17" name="icon FiDollarSign" descr="preencoded.png">    </p:cNvPr>
          <p:cNvPicPr>
            <a:picLocks noChangeAspect="1"/>
          </p:cNvPicPr>
          <p:nvPr/>
        </p:nvPicPr>
        <p:blipFill>
          <a:blip r:embed="rId3"/>
          <a:stretch>
            <a:fillRect/>
          </a:stretch>
        </p:blipFill>
        <p:spPr>
          <a:xfrm>
            <a:off x="585216" y="2734056"/>
            <a:ext cx="201168" cy="201168"/>
          </a:xfrm>
          <a:prstGeom prst="rect">
            <a:avLst/>
          </a:prstGeom>
        </p:spPr>
      </p:pic>
      <p:sp>
        <p:nvSpPr>
          <p:cNvPr id="18" name="fact Outcomes"/>
          <p:cNvSpPr txBox="1"/>
          <p:nvPr/>
        </p:nvSpPr>
        <p:spPr>
          <a:xfrm>
            <a:off x="1005840" y="2606040"/>
            <a:ext cx="3246120" cy="539496"/>
          </a:xfrm>
          <a:prstGeom prst="rect">
            <a:avLst/>
          </a:prstGeom>
          <a:noFill/>
          <a:ln/>
        </p:spPr>
        <p:txBody>
          <a:bodyPr wrap="square" lIns="0" tIns="0" rIns="0" bIns="0" rtlCol="0" anchor="t"/>
          <a:lstStyle/>
          <a:p>
            <a:pPr indent="0" marL="0">
              <a:buNone/>
            </a:pPr>
            <a:r>
              <a:rPr lang="en-US" sz="1100" b="1" dirty="0">
                <a:solidFill>
                  <a:schemeClr val="tx1"/>
                </a:solidFill>
                <a:latin typeface="Poppins" pitchFamily="34" charset="0"/>
                <a:ea typeface="Poppins" pitchFamily="34" charset="-122"/>
                <a:cs typeface="Poppins" pitchFamily="34" charset="-120"/>
              </a:rPr>
              <a:t>Outcomes</a:t>
            </a:r>
            <a:endParaRPr lang="en-US" sz="1100" dirty="0"/>
          </a:p>
          <a:p>
            <a:pPr indent="0" marL="0">
              <a:buNone/>
            </a:pPr>
            <a:r>
              <a:rPr lang="en-US" sz="1000" dirty="0">
                <a:solidFill>
                  <a:schemeClr val="tx2"/>
                </a:solidFill>
                <a:latin typeface="Poppins" pitchFamily="34" charset="0"/>
                <a:ea typeface="Poppins" pitchFamily="34" charset="-122"/>
                <a:cs typeface="Poppins" pitchFamily="34" charset="-120"/>
              </a:rPr>
              <a:t>Revenue and profit</a:t>
            </a:r>
            <a:endParaRPr lang="en-US" sz="1100" dirty="0"/>
          </a:p>
        </p:txBody>
      </p:sp>
      <p:sp>
        <p:nvSpPr>
          <p:cNvPr id="19" name="main effect card"/>
          <p:cNvSpPr/>
          <p:nvPr/>
        </p:nvSpPr>
        <p:spPr>
          <a:xfrm>
            <a:off x="502920" y="3291840"/>
            <a:ext cx="3749040" cy="1097280"/>
          </a:xfrm>
          <a:prstGeom prst="roundRect">
            <a:avLst>
              <a:gd name="adj" fmla="val 10000"/>
            </a:avLst>
          </a:prstGeom>
          <a:solidFill>
            <a:srgbClr val="1B2A4A"/>
          </a:solidFill>
          <a:ln w="12700">
            <a:solidFill>
              <a:srgbClr val="1B2A4A"/>
            </a:solidFill>
            <a:prstDash val="solid"/>
          </a:ln>
        </p:spPr>
      </p:sp>
      <p:sp>
        <p:nvSpPr>
          <p:cNvPr id="20" name="tag finding"/>
          <p:cNvSpPr/>
          <p:nvPr/>
        </p:nvSpPr>
        <p:spPr>
          <a:xfrm>
            <a:off x="704088" y="3438144"/>
            <a:ext cx="1143000" cy="201168"/>
          </a:xfrm>
          <a:prstGeom prst="roundRect">
            <a:avLst>
              <a:gd name="adj" fmla="val 50000"/>
            </a:avLst>
          </a:prstGeom>
          <a:solidFill>
            <a:srgbClr val="BFE6E0"/>
          </a:solidFill>
          <a:ln w="12700">
            <a:solidFill>
              <a:srgbClr val="BFE6E0"/>
            </a:solidFill>
            <a:prstDash val="solid"/>
          </a:ln>
        </p:spPr>
      </p:sp>
      <p:sp>
        <p:nvSpPr>
          <p:cNvPr id="21" name="tag text"/>
          <p:cNvSpPr txBox="1"/>
          <p:nvPr/>
        </p:nvSpPr>
        <p:spPr>
          <a:xfrm>
            <a:off x="704088" y="3438144"/>
            <a:ext cx="1143000" cy="201168"/>
          </a:xfrm>
          <a:prstGeom prst="rect">
            <a:avLst/>
          </a:prstGeom>
          <a:noFill/>
          <a:ln/>
        </p:spPr>
        <p:txBody>
          <a:bodyPr wrap="square" lIns="0" tIns="0" rIns="0" bIns="0" rtlCol="0" anchor="ctr"/>
          <a:lstStyle/>
          <a:p>
            <a:pPr algn="ctr" indent="0" marL="0">
              <a:buNone/>
            </a:pPr>
            <a:r>
              <a:rPr lang="en-US" sz="750" b="1" spc="150" kern="0" dirty="0">
                <a:solidFill>
                  <a:srgbClr val="1B2A4A"/>
                </a:solidFill>
                <a:latin typeface="Poppins" pitchFamily="34" charset="0"/>
                <a:ea typeface="Poppins" pitchFamily="34" charset="-122"/>
                <a:cs typeface="Poppins" pitchFamily="34" charset="-120"/>
              </a:rPr>
              <a:t>FINDING</a:t>
            </a:r>
            <a:endParaRPr lang="en-US" sz="750" dirty="0"/>
          </a:p>
        </p:txBody>
      </p:sp>
      <p:sp>
        <p:nvSpPr>
          <p:cNvPr id="22" name="main head"/>
          <p:cNvSpPr txBox="1"/>
          <p:nvPr/>
        </p:nvSpPr>
        <p:spPr>
          <a:xfrm>
            <a:off x="704088" y="3657600"/>
            <a:ext cx="2468880" cy="201168"/>
          </a:xfrm>
          <a:prstGeom prst="rect">
            <a:avLst/>
          </a:prstGeom>
          <a:noFill/>
          <a:ln/>
        </p:spPr>
        <p:txBody>
          <a:bodyPr wrap="square" lIns="0" tIns="0" rIns="0" bIns="0" rtlCol="0" anchor="ctr"/>
          <a:lstStyle/>
          <a:p>
            <a:pPr indent="0" marL="0">
              <a:buNone/>
            </a:pPr>
            <a:r>
              <a:rPr lang="en-US" sz="900" b="1" spc="100" kern="0" dirty="0">
                <a:solidFill>
                  <a:srgbClr val="BFE6E0"/>
                </a:solidFill>
                <a:latin typeface="Poppins" pitchFamily="34" charset="0"/>
                <a:ea typeface="Poppins" pitchFamily="34" charset="-122"/>
                <a:cs typeface="Poppins" pitchFamily="34" charset="-120"/>
              </a:rPr>
              <a:t>Average effect</a:t>
            </a:r>
            <a:endParaRPr lang="en-US" sz="900" dirty="0"/>
          </a:p>
        </p:txBody>
      </p:sp>
      <p:sp>
        <p:nvSpPr>
          <p:cNvPr id="23" name="main body"/>
          <p:cNvSpPr txBox="1"/>
          <p:nvPr/>
        </p:nvSpPr>
        <p:spPr>
          <a:xfrm>
            <a:off x="704088" y="3840480"/>
            <a:ext cx="2468880" cy="512064"/>
          </a:xfrm>
          <a:prstGeom prst="rect">
            <a:avLst/>
          </a:prstGeom>
          <a:noFill/>
          <a:ln/>
        </p:spPr>
        <p:txBody>
          <a:bodyPr wrap="square" lIns="0" tIns="0" rIns="0" bIns="0" rtlCol="0" anchor="t"/>
          <a:lstStyle/>
          <a:p>
            <a:pPr indent="0" marL="0">
              <a:buNone/>
            </a:pPr>
            <a:r>
              <a:rPr lang="en-US" sz="900" dirty="0">
                <a:solidFill>
                  <a:srgbClr val="FFFFFF"/>
                </a:solidFill>
                <a:latin typeface="Poppins" pitchFamily="34" charset="0"/>
                <a:ea typeface="Poppins" pitchFamily="34" charset="-122"/>
                <a:cs typeface="Poppins" pitchFamily="34" charset="-120"/>
              </a:rPr>
              <a:t>The null hypothesis of no average treatment effect on revenue and profits could not be rejected.</a:t>
            </a:r>
            <a:endParaRPr lang="en-US" sz="900" dirty="0"/>
          </a:p>
        </p:txBody>
      </p:sp>
      <p:pic>
        <p:nvPicPr>
          <p:cNvPr id="24" name="mascot with phone" descr="preencoded.png">    </p:cNvPr>
          <p:cNvPicPr>
            <a:picLocks noChangeAspect="1"/>
          </p:cNvPicPr>
          <p:nvPr/>
        </p:nvPicPr>
        <p:blipFill>
          <a:blip r:embed="rId4"/>
          <a:stretch>
            <a:fillRect/>
          </a:stretch>
        </p:blipFill>
        <p:spPr>
          <a:xfrm>
            <a:off x="3154680" y="3456432"/>
            <a:ext cx="960120" cy="822960"/>
          </a:xfrm>
          <a:prstGeom prst="rect">
            <a:avLst/>
          </a:prstGeom>
        </p:spPr>
      </p:pic>
      <p:sp>
        <p:nvSpPr>
          <p:cNvPr id="25" name="column divider"/>
          <p:cNvSpPr/>
          <p:nvPr/>
        </p:nvSpPr>
        <p:spPr>
          <a:xfrm>
            <a:off x="4480560" y="1481328"/>
            <a:ext cx="0" cy="2834640"/>
          </a:xfrm>
          <a:prstGeom prst="line">
            <a:avLst/>
          </a:prstGeom>
          <a:noFill/>
          <a:ln w="9525">
            <a:solidFill>
              <a:srgbClr val="E3E8EE"/>
            </a:solidFill>
            <a:prstDash val="solid"/>
          </a:ln>
        </p:spPr>
      </p:sp>
      <p:sp>
        <p:nvSpPr>
          <p:cNvPr id="26" name="tag finding"/>
          <p:cNvSpPr/>
          <p:nvPr/>
        </p:nvSpPr>
        <p:spPr>
          <a:xfrm>
            <a:off x="4709160" y="1481328"/>
            <a:ext cx="1143000" cy="201168"/>
          </a:xfrm>
          <a:prstGeom prst="roundRect">
            <a:avLst>
              <a:gd name="adj" fmla="val 50000"/>
            </a:avLst>
          </a:prstGeom>
          <a:solidFill>
            <a:srgbClr val="BFE6E0"/>
          </a:solidFill>
          <a:ln w="12700">
            <a:solidFill>
              <a:srgbClr val="BFE6E0"/>
            </a:solidFill>
            <a:prstDash val="solid"/>
          </a:ln>
        </p:spPr>
      </p:sp>
      <p:sp>
        <p:nvSpPr>
          <p:cNvPr id="27" name="tag text"/>
          <p:cNvSpPr txBox="1"/>
          <p:nvPr/>
        </p:nvSpPr>
        <p:spPr>
          <a:xfrm>
            <a:off x="4709160" y="1481328"/>
            <a:ext cx="1143000" cy="201168"/>
          </a:xfrm>
          <a:prstGeom prst="rect">
            <a:avLst/>
          </a:prstGeom>
          <a:noFill/>
          <a:ln/>
        </p:spPr>
        <p:txBody>
          <a:bodyPr wrap="square" lIns="0" tIns="0" rIns="0" bIns="0" rtlCol="0" anchor="ctr"/>
          <a:lstStyle/>
          <a:p>
            <a:pPr algn="ctr" indent="0" marL="0">
              <a:buNone/>
            </a:pPr>
            <a:r>
              <a:rPr lang="en-US" sz="750" b="1" spc="150" kern="0" dirty="0">
                <a:solidFill>
                  <a:srgbClr val="1B2A4A"/>
                </a:solidFill>
                <a:latin typeface="Poppins" pitchFamily="34" charset="0"/>
                <a:ea typeface="Poppins" pitchFamily="34" charset="-122"/>
                <a:cs typeface="Poppins" pitchFamily="34" charset="-120"/>
              </a:rPr>
              <a:t>FINDING</a:t>
            </a:r>
            <a:endParaRPr lang="en-US" sz="750" dirty="0"/>
          </a:p>
        </p:txBody>
      </p:sp>
      <p:sp>
        <p:nvSpPr>
          <p:cNvPr id="28" name="subgroup head"/>
          <p:cNvSpPr txBox="1"/>
          <p:nvPr/>
        </p:nvSpPr>
        <p:spPr>
          <a:xfrm>
            <a:off x="4709160" y="1755648"/>
            <a:ext cx="2834640" cy="256032"/>
          </a:xfrm>
          <a:prstGeom prst="rect">
            <a:avLst/>
          </a:prstGeom>
          <a:noFill/>
          <a:ln/>
        </p:spPr>
        <p:txBody>
          <a:bodyPr wrap="square" lIns="0" tIns="0" rIns="0" bIns="0" rtlCol="0" anchor="ctr"/>
          <a:lstStyle/>
          <a:p>
            <a:pPr indent="0" marL="0">
              <a:buNone/>
            </a:pPr>
            <a:r>
              <a:rPr lang="en-US" sz="1150" b="1" dirty="0">
                <a:solidFill>
                  <a:schemeClr val="tx1"/>
                </a:solidFill>
                <a:latin typeface="Poppins" pitchFamily="34" charset="0"/>
                <a:ea typeface="Poppins" pitchFamily="34" charset="-122"/>
                <a:cs typeface="Poppins" pitchFamily="34" charset="-120"/>
              </a:rPr>
              <a:t>By baseline performance</a:t>
            </a:r>
            <a:endParaRPr lang="en-US" sz="1150" dirty="0"/>
          </a:p>
        </p:txBody>
      </p:sp>
      <p:pic>
        <p:nvPicPr>
          <p:cNvPr id="29" name="entrepreneur with phone" descr="preencoded.png">    </p:cNvPr>
          <p:cNvPicPr>
            <a:picLocks noChangeAspect="1"/>
          </p:cNvPicPr>
          <p:nvPr/>
        </p:nvPicPr>
        <p:blipFill>
          <a:blip r:embed="rId5"/>
          <a:stretch>
            <a:fillRect/>
          </a:stretch>
        </p:blipFill>
        <p:spPr>
          <a:xfrm>
            <a:off x="7680960" y="1426464"/>
            <a:ext cx="914400" cy="960120"/>
          </a:xfrm>
          <a:prstGeom prst="rect">
            <a:avLst/>
          </a:prstGeom>
        </p:spPr>
      </p:pic>
      <p:sp>
        <p:nvSpPr>
          <p:cNvPr id="30" name="zero line"/>
          <p:cNvSpPr/>
          <p:nvPr/>
        </p:nvSpPr>
        <p:spPr>
          <a:xfrm>
            <a:off x="6126480" y="2286000"/>
            <a:ext cx="0" cy="1005840"/>
          </a:xfrm>
          <a:prstGeom prst="line">
            <a:avLst/>
          </a:prstGeom>
          <a:noFill/>
          <a:ln w="9525">
            <a:solidFill>
              <a:srgbClr val="A3ADBB"/>
            </a:solidFill>
            <a:prstDash val="dash"/>
          </a:ln>
        </p:spPr>
      </p:sp>
      <p:sp>
        <p:nvSpPr>
          <p:cNvPr id="31" name="bar label 0"/>
          <p:cNvSpPr txBox="1"/>
          <p:nvPr/>
        </p:nvSpPr>
        <p:spPr>
          <a:xfrm>
            <a:off x="4709160" y="2093976"/>
            <a:ext cx="3931920" cy="219456"/>
          </a:xfrm>
          <a:prstGeom prst="rect">
            <a:avLst/>
          </a:prstGeom>
          <a:noFill/>
          <a:ln/>
        </p:spPr>
        <p:txBody>
          <a:bodyPr wrap="square" lIns="0" tIns="0" rIns="0" bIns="0" rtlCol="0" anchor="ctr"/>
          <a:lstStyle/>
          <a:p>
            <a:pPr indent="0" marL="0">
              <a:buNone/>
            </a:pPr>
            <a:r>
              <a:rPr lang="en-US" sz="900" b="1" dirty="0">
                <a:solidFill>
                  <a:schemeClr val="tx1"/>
                </a:solidFill>
                <a:latin typeface="Poppins" pitchFamily="34" charset="0"/>
                <a:ea typeface="Poppins" pitchFamily="34" charset="-122"/>
                <a:cs typeface="Poppins" pitchFamily="34" charset="-120"/>
              </a:rPr>
              <a:t>Low performers  </a:t>
            </a:r>
            <a:pPr indent="0" marL="0">
              <a:buNone/>
            </a:pPr>
            <a:r>
              <a:rPr lang="en-US" sz="900" b="1" dirty="0">
                <a:solidFill>
                  <a:srgbClr val="6B7280"/>
                </a:solidFill>
                <a:latin typeface="Poppins" pitchFamily="34" charset="0"/>
                <a:ea typeface="Poppins" pitchFamily="34" charset="-122"/>
                <a:cs typeface="Poppins" pitchFamily="34" charset="-120"/>
              </a:rPr>
              <a:t>nearly 10% worse</a:t>
            </a:r>
            <a:endParaRPr lang="en-US" sz="900" dirty="0"/>
          </a:p>
        </p:txBody>
      </p:sp>
      <p:sp>
        <p:nvSpPr>
          <p:cNvPr id="32" name="bar 0"/>
          <p:cNvSpPr/>
          <p:nvPr/>
        </p:nvSpPr>
        <p:spPr>
          <a:xfrm>
            <a:off x="5294986" y="2340864"/>
            <a:ext cx="831494" cy="219456"/>
          </a:xfrm>
          <a:prstGeom prst="rect">
            <a:avLst/>
          </a:prstGeom>
          <a:solidFill>
            <a:srgbClr val="A3ADBB"/>
          </a:solidFill>
          <a:ln w="12700">
            <a:solidFill>
              <a:srgbClr val="A3ADBB"/>
            </a:solidFill>
            <a:prstDash val="solid"/>
          </a:ln>
        </p:spPr>
      </p:sp>
      <p:sp>
        <p:nvSpPr>
          <p:cNvPr id="33" name="bar label 1"/>
          <p:cNvSpPr txBox="1"/>
          <p:nvPr/>
        </p:nvSpPr>
        <p:spPr>
          <a:xfrm>
            <a:off x="4709160" y="2642616"/>
            <a:ext cx="3931920" cy="219456"/>
          </a:xfrm>
          <a:prstGeom prst="rect">
            <a:avLst/>
          </a:prstGeom>
          <a:noFill/>
          <a:ln/>
        </p:spPr>
        <p:txBody>
          <a:bodyPr wrap="square" lIns="0" tIns="0" rIns="0" bIns="0" rtlCol="0" anchor="ctr"/>
          <a:lstStyle/>
          <a:p>
            <a:pPr indent="0" marL="0">
              <a:buNone/>
            </a:pPr>
            <a:r>
              <a:rPr lang="en-US" sz="900" b="1" dirty="0">
                <a:solidFill>
                  <a:schemeClr val="tx1"/>
                </a:solidFill>
                <a:latin typeface="Poppins" pitchFamily="34" charset="0"/>
                <a:ea typeface="Poppins" pitchFamily="34" charset="-122"/>
                <a:cs typeface="Poppins" pitchFamily="34" charset="-120"/>
              </a:rPr>
              <a:t>High performers  </a:t>
            </a:r>
            <a:pPr indent="0" marL="0">
              <a:buNone/>
            </a:pPr>
            <a:r>
              <a:rPr lang="en-US" sz="900" b="1" dirty="0">
                <a:solidFill>
                  <a:srgbClr val="2E8B86"/>
                </a:solidFill>
                <a:latin typeface="Poppins" pitchFamily="34" charset="0"/>
                <a:ea typeface="Poppins" pitchFamily="34" charset="-122"/>
                <a:cs typeface="Poppins" pitchFamily="34" charset="-120"/>
              </a:rPr>
              <a:t>may have benefited by more than 15%</a:t>
            </a:r>
            <a:endParaRPr lang="en-US" sz="900" dirty="0"/>
          </a:p>
        </p:txBody>
      </p:sp>
      <p:sp>
        <p:nvSpPr>
          <p:cNvPr id="34" name="bar 1"/>
          <p:cNvSpPr/>
          <p:nvPr/>
        </p:nvSpPr>
        <p:spPr>
          <a:xfrm>
            <a:off x="6126480" y="2889504"/>
            <a:ext cx="1247242" cy="219456"/>
          </a:xfrm>
          <a:prstGeom prst="rect">
            <a:avLst/>
          </a:prstGeom>
          <a:solidFill>
            <a:srgbClr val="2E8B86"/>
          </a:solidFill>
          <a:ln w="12700">
            <a:solidFill>
              <a:srgbClr val="2E8B86"/>
            </a:solidFill>
            <a:prstDash val="solid"/>
          </a:ln>
        </p:spPr>
      </p:sp>
      <p:sp>
        <p:nvSpPr>
          <p:cNvPr id="35" name="bar note"/>
          <p:cNvSpPr txBox="1"/>
          <p:nvPr/>
        </p:nvSpPr>
        <p:spPr>
          <a:xfrm>
            <a:off x="4709160" y="3236976"/>
            <a:ext cx="3931920" cy="164592"/>
          </a:xfrm>
          <a:prstGeom prst="rect">
            <a:avLst/>
          </a:prstGeom>
          <a:noFill/>
          <a:ln/>
        </p:spPr>
        <p:txBody>
          <a:bodyPr wrap="square" lIns="0" tIns="0" rIns="0" bIns="0" rtlCol="0" anchor="ctr"/>
          <a:lstStyle/>
          <a:p>
            <a:pPr algn="r" indent="0" marL="0">
              <a:buNone/>
            </a:pPr>
            <a:r>
              <a:rPr lang="en-US" sz="700" dirty="0">
                <a:solidFill>
                  <a:srgbClr val="A3ADBB"/>
                </a:solidFill>
                <a:latin typeface="Poppins" pitchFamily="34" charset="0"/>
                <a:ea typeface="Poppins" pitchFamily="34" charset="-122"/>
                <a:cs typeface="Poppins" pitchFamily="34" charset="-120"/>
              </a:rPr>
              <a:t>Bar lengths are illustrative</a:t>
            </a:r>
            <a:endParaRPr lang="en-US" sz="700" dirty="0"/>
          </a:p>
        </p:txBody>
      </p:sp>
      <p:sp>
        <p:nvSpPr>
          <p:cNvPr id="36" name="divider"/>
          <p:cNvSpPr/>
          <p:nvPr/>
        </p:nvSpPr>
        <p:spPr>
          <a:xfrm>
            <a:off x="4709160" y="3364992"/>
            <a:ext cx="3931920" cy="0"/>
          </a:xfrm>
          <a:prstGeom prst="line">
            <a:avLst/>
          </a:prstGeom>
          <a:noFill/>
          <a:ln w="9525">
            <a:solidFill>
              <a:srgbClr val="E3E8EE"/>
            </a:solidFill>
            <a:prstDash val="solid"/>
          </a:ln>
        </p:spPr>
      </p:sp>
      <p:pic>
        <p:nvPicPr>
          <p:cNvPr id="37" name="icon FiMessageCircle" descr="preencoded.png">    </p:cNvPr>
          <p:cNvPicPr>
            <a:picLocks noChangeAspect="1"/>
          </p:cNvPicPr>
          <p:nvPr/>
        </p:nvPicPr>
        <p:blipFill>
          <a:blip r:embed="rId6"/>
          <a:stretch>
            <a:fillRect/>
          </a:stretch>
        </p:blipFill>
        <p:spPr>
          <a:xfrm>
            <a:off x="4709160" y="3474720"/>
            <a:ext cx="219456" cy="219456"/>
          </a:xfrm>
          <a:prstGeom prst="rect">
            <a:avLst/>
          </a:prstGeom>
        </p:spPr>
      </p:pic>
      <p:sp>
        <p:nvSpPr>
          <p:cNvPr id="38" name="mechanism"/>
          <p:cNvSpPr txBox="1"/>
          <p:nvPr/>
        </p:nvSpPr>
        <p:spPr>
          <a:xfrm>
            <a:off x="5038344" y="3419856"/>
            <a:ext cx="3602736" cy="384048"/>
          </a:xfrm>
          <a:prstGeom prst="rect">
            <a:avLst/>
          </a:prstGeom>
          <a:noFill/>
          <a:ln/>
        </p:spPr>
        <p:txBody>
          <a:bodyPr wrap="square" lIns="0" tIns="0" rIns="0" bIns="0" rtlCol="0" anchor="ctr"/>
          <a:lstStyle/>
          <a:p>
            <a:pPr indent="0" marL="0">
              <a:buNone/>
            </a:pPr>
            <a:r>
              <a:rPr lang="en-US" sz="850" dirty="0">
                <a:solidFill>
                  <a:schemeClr val="tx1"/>
                </a:solidFill>
                <a:latin typeface="Poppins" pitchFamily="34" charset="0"/>
                <a:ea typeface="Poppins" pitchFamily="34" charset="-122"/>
                <a:cs typeface="Poppins" pitchFamily="34" charset="-120"/>
              </a:rPr>
              <a:t>Similar questions, similar advice. The difference lay in which advice entrepreneurs chose to implement.</a:t>
            </a:r>
            <a:endParaRPr lang="en-US" sz="850" dirty="0"/>
          </a:p>
        </p:txBody>
      </p:sp>
      <p:pic>
        <p:nvPicPr>
          <p:cNvPr id="39" name="icon FiAlertTriangle" descr="preencoded.png">    </p:cNvPr>
          <p:cNvPicPr>
            <a:picLocks noChangeAspect="1"/>
          </p:cNvPicPr>
          <p:nvPr/>
        </p:nvPicPr>
        <p:blipFill>
          <a:blip r:embed="rId7"/>
          <a:stretch>
            <a:fillRect/>
          </a:stretch>
        </p:blipFill>
        <p:spPr>
          <a:xfrm>
            <a:off x="4709160" y="3968496"/>
            <a:ext cx="219456" cy="219456"/>
          </a:xfrm>
          <a:prstGeom prst="rect">
            <a:avLst/>
          </a:prstGeom>
        </p:spPr>
      </p:pic>
      <p:sp>
        <p:nvSpPr>
          <p:cNvPr id="40" name="caution"/>
          <p:cNvSpPr txBox="1"/>
          <p:nvPr/>
        </p:nvSpPr>
        <p:spPr>
          <a:xfrm>
            <a:off x="5038344" y="3913632"/>
            <a:ext cx="3602736" cy="384048"/>
          </a:xfrm>
          <a:prstGeom prst="rect">
            <a:avLst/>
          </a:prstGeom>
          <a:noFill/>
          <a:ln/>
        </p:spPr>
        <p:txBody>
          <a:bodyPr wrap="square" lIns="0" tIns="0" rIns="0" bIns="0" rtlCol="0" anchor="ctr"/>
          <a:lstStyle/>
          <a:p>
            <a:pPr indent="0" marL="0">
              <a:buNone/>
            </a:pPr>
            <a:r>
              <a:rPr lang="en-US" sz="850" dirty="0">
                <a:solidFill>
                  <a:schemeClr val="tx2"/>
                </a:solidFill>
                <a:latin typeface="Poppins" pitchFamily="34" charset="0"/>
                <a:ea typeface="Poppins" pitchFamily="34" charset="-122"/>
                <a:cs typeface="Poppins" pitchFamily="34" charset="-120"/>
              </a:rPr>
              <a:t>Subgroup averages only: not every high performer gains, and not every low performer loses.</a:t>
            </a:r>
            <a:endParaRPr lang="en-US" sz="850" dirty="0"/>
          </a:p>
        </p:txBody>
      </p:sp>
      <p:sp>
        <p:nvSpPr>
          <p:cNvPr id="41"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oppins" pitchFamily="34" charset="0"/>
                <a:ea typeface="Poppins" pitchFamily="34" charset="-122"/>
                <a:cs typeface="Poppins" pitchFamily="34" charset="-120"/>
              </a:rPr>
              <a:t>Otis, N. G., et al. (2026). The Uneven Impact of Generative AI on Entrepreneurial Performance. Management Science, 72(7). doi.org/10.1287/mnsc.2024.06909</a:t>
            </a:r>
            <a:endParaRPr lang="en-US" sz="700" dirty="0"/>
          </a:p>
        </p:txBody>
      </p:sp>
      <p:sp>
        <p:nvSpPr>
          <p:cNvPr id="42"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850" b="1" dirty="0">
                <a:solidFill>
                  <a:srgbClr val="2E8B86"/>
                </a:solidFill>
                <a:latin typeface="Poppins" pitchFamily="34" charset="0"/>
                <a:ea typeface="Poppins" pitchFamily="34" charset="-122"/>
                <a:cs typeface="Poppins" pitchFamily="34" charset="-120"/>
              </a:rPr>
              <a:t>Next  </a:t>
            </a:r>
            <a:pPr algn="r" indent="0" marL="0">
              <a:buNone/>
            </a:pPr>
            <a:r>
              <a:rPr lang="en-US" sz="850" dirty="0">
                <a:solidFill>
                  <a:srgbClr val="1B2A4A"/>
                </a:solidFill>
                <a:latin typeface="Poppins" pitchFamily="34" charset="0"/>
                <a:ea typeface="Poppins" pitchFamily="34" charset="-122"/>
                <a:cs typeface="Poppins" pitchFamily="34" charset="-120"/>
              </a:rPr>
              <a:t>Two studies, one lesson</a:t>
            </a:r>
            <a:endParaRPr lang="en-US" sz="850" dirty="0"/>
          </a:p>
        </p:txBody>
      </p:sp>
      <p:pic>
        <p:nvPicPr>
          <p:cNvPr id="43" name="icon FiArrowRight" descr="preencoded.png">    </p:cNvPr>
          <p:cNvPicPr>
            <a:picLocks noChangeAspect="1"/>
          </p:cNvPicPr>
          <p:nvPr/>
        </p:nvPicPr>
        <p:blipFill>
          <a:blip r:embed="rId8"/>
          <a:stretch>
            <a:fillRect/>
          </a:stretch>
        </p:blipFill>
        <p:spPr>
          <a:xfrm>
            <a:off x="8439912" y="4498848"/>
            <a:ext cx="201168" cy="201168"/>
          </a:xfrm>
          <a:prstGeom prst="rect">
            <a:avLst/>
          </a:prstGeom>
        </p:spPr>
      </p:pic>
      <p:sp>
        <p:nvSpPr>
          <p:cNvPr id="44"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oppins"/>
                <a:ea typeface="Poppins"/>
                <a:cs typeface="Poppins"/>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700"/>
                                        <p:tgtEl>
                                          <p:spTgt spid="10"/>
                                        </p:tgtEl>
                                      </p:cBhvr>
                                    </p:animEffect>
                                    <p:anim calcmode="lin" valueType="num">
                                      <p:cBhvr additive="base">
                                        <p:cTn id="6" dur="700" fill="hold"/>
                                        <p:tgtEl>
                                          <p:spTgt spid="10"/>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700"/>
                                        <p:tgtEl>
                                          <p:spTgt spid="13"/>
                                        </p:tgtEl>
                                      </p:cBhvr>
                                    </p:animEffect>
                                    <p:anim calcmode="lin" valueType="num">
                                      <p:cBhvr additive="base">
                                        <p:cTn id="10" dur="700" fill="hold"/>
                                        <p:tgtEl>
                                          <p:spTgt spid="13"/>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700"/>
                                        <p:tgtEl>
                                          <p:spTgt spid="16"/>
                                        </p:tgtEl>
                                      </p:cBhvr>
                                    </p:animEffect>
                                    <p:anim calcmode="lin" valueType="num">
                                      <p:cBhvr additive="base">
                                        <p:cTn id="14" dur="700" fill="hold"/>
                                        <p:tgtEl>
                                          <p:spTgt spid="1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700"/>
                                        <p:tgtEl>
                                          <p:spTgt spid="11"/>
                                        </p:tgtEl>
                                      </p:cBhvr>
                                    </p:animEffect>
                                    <p:anim calcmode="lin" valueType="num">
                                      <p:cBhvr additive="base">
                                        <p:cTn id="18" dur="700" fill="hold"/>
                                        <p:tgtEl>
                                          <p:spTgt spid="11"/>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700"/>
                                        <p:tgtEl>
                                          <p:spTgt spid="14"/>
                                        </p:tgtEl>
                                      </p:cBhvr>
                                    </p:animEffect>
                                    <p:anim calcmode="lin" valueType="num">
                                      <p:cBhvr additive="base">
                                        <p:cTn id="22" dur="700" fill="hold"/>
                                        <p:tgtEl>
                                          <p:spTgt spid="14"/>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700"/>
                                        <p:tgtEl>
                                          <p:spTgt spid="17"/>
                                        </p:tgtEl>
                                      </p:cBhvr>
                                    </p:animEffect>
                                    <p:anim calcmode="lin" valueType="num">
                                      <p:cBhvr additive="base">
                                        <p:cTn id="26" dur="700" fill="hold"/>
                                        <p:tgtEl>
                                          <p:spTgt spid="17"/>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700"/>
                                        <p:tgtEl>
                                          <p:spTgt spid="12"/>
                                        </p:tgtEl>
                                      </p:cBhvr>
                                    </p:animEffect>
                                    <p:anim calcmode="lin" valueType="num">
                                      <p:cBhvr additive="base">
                                        <p:cTn id="30" dur="700" fill="hold"/>
                                        <p:tgtEl>
                                          <p:spTgt spid="12"/>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700"/>
                                        <p:tgtEl>
                                          <p:spTgt spid="15"/>
                                        </p:tgtEl>
                                      </p:cBhvr>
                                    </p:animEffect>
                                    <p:anim calcmode="lin" valueType="num">
                                      <p:cBhvr additive="base">
                                        <p:cTn id="34" dur="700" fill="hold"/>
                                        <p:tgtEl>
                                          <p:spTgt spid="15"/>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700"/>
                                        <p:tgtEl>
                                          <p:spTgt spid="18"/>
                                        </p:tgtEl>
                                      </p:cBhvr>
                                    </p:animEffect>
                                    <p:anim calcmode="lin" valueType="num">
                                      <p:cBhvr additive="base">
                                        <p:cTn id="38" dur="700" fill="hold"/>
                                        <p:tgtEl>
                                          <p:spTgt spid="18"/>
                                        </p:tgtEl>
                                        <p:attrNameLst>
                                          <p:attrName>ppt_y</p:attrName>
                                        </p:attrNameLst>
                                      </p:cBhvr>
                                      <p:tavLst>
                                        <p:tav tm="0">
                                          <p:val>
                                            <p:strVal val="#ppt_y+.08"/>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41" presetID="23" presetClass="entr" presetSubtype="16" fill="hold" grpId="0" nodeType="clickEffect">
                                  <p:stCondLst>
                                    <p:cond delay="0"/>
                                  </p:stCondLst>
                                  <p:childTnLst>
                                    <p:set>
                                      <p:cBhvr>
                                        <p:cTn id="42" dur="1" fill="hold">
                                          <p:stCondLst>
                                            <p:cond delay="0"/>
                                          </p:stCondLst>
                                        </p:cTn>
                                        <p:tgtEl>
                                          <p:spTgt spid="19"/>
                                        </p:tgtEl>
                                        <p:attrNameLst>
                                          <p:attrName>style.visibility</p:attrName>
                                        </p:attrNameLst>
                                      </p:cBhvr>
                                      <p:to>
                                        <p:strVal val="visible"/>
                                      </p:to>
                                    </p:set>
                                    <p:animScale>
                                      <p:cBhvr>
                                        <p:cTn id="43" dur="500" fill="hold"/>
                                        <p:tgtEl>
                                          <p:spTgt spid="19"/>
                                        </p:tgtEl>
                                      </p:cBhvr>
                                      <p:from x="0" y="0"/>
                                      <p:to x="100000" y="100000"/>
                                    </p:animScale>
                                    <p:animEffect transition="in" filter="fade">
                                      <p:cBhvr>
                                        <p:cTn id="44" dur="500"/>
                                        <p:tgtEl>
                                          <p:spTgt spid="19"/>
                                        </p:tgtEl>
                                      </p:cBhvr>
                                    </p:animEffect>
                                  </p:childTnLst>
                                </p:cTn>
                              </p:par>
                              <p:par>
                                <p:cTn id="45" presetID="23" presetClass="entr" presetSubtype="16" fill="hold" grpId="0" nodeType="withEffect">
                                  <p:stCondLst>
                                    <p:cond delay="0"/>
                                  </p:stCondLst>
                                  <p:childTnLst>
                                    <p:set>
                                      <p:cBhvr>
                                        <p:cTn id="46" dur="1" fill="hold">
                                          <p:stCondLst>
                                            <p:cond delay="0"/>
                                          </p:stCondLst>
                                        </p:cTn>
                                        <p:tgtEl>
                                          <p:spTgt spid="20"/>
                                        </p:tgtEl>
                                        <p:attrNameLst>
                                          <p:attrName>style.visibility</p:attrName>
                                        </p:attrNameLst>
                                      </p:cBhvr>
                                      <p:to>
                                        <p:strVal val="visible"/>
                                      </p:to>
                                    </p:set>
                                    <p:animScale>
                                      <p:cBhvr>
                                        <p:cTn id="47" dur="500" fill="hold"/>
                                        <p:tgtEl>
                                          <p:spTgt spid="20"/>
                                        </p:tgtEl>
                                      </p:cBhvr>
                                      <p:from x="0" y="0"/>
                                      <p:to x="100000" y="100000"/>
                                    </p:animScale>
                                    <p:animEffect transition="in" filter="fade">
                                      <p:cBhvr>
                                        <p:cTn id="48" dur="500"/>
                                        <p:tgtEl>
                                          <p:spTgt spid="20"/>
                                        </p:tgtEl>
                                      </p:cBhvr>
                                    </p:animEffect>
                                  </p:childTnLst>
                                </p:cTn>
                              </p:par>
                              <p:par>
                                <p:cTn id="49" presetID="23" presetClass="entr" presetSubtype="16"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animScale>
                                      <p:cBhvr>
                                        <p:cTn id="51" dur="500" fill="hold"/>
                                        <p:tgtEl>
                                          <p:spTgt spid="21"/>
                                        </p:tgtEl>
                                      </p:cBhvr>
                                      <p:from x="0" y="0"/>
                                      <p:to x="100000" y="100000"/>
                                    </p:animScale>
                                    <p:animEffect transition="in" filter="fade">
                                      <p:cBhvr>
                                        <p:cTn id="52" dur="500"/>
                                        <p:tgtEl>
                                          <p:spTgt spid="21"/>
                                        </p:tgtEl>
                                      </p:cBhvr>
                                    </p:animEffect>
                                  </p:childTnLst>
                                </p:cTn>
                              </p:par>
                              <p:par>
                                <p:cTn id="53" presetID="23" presetClass="entr" presetSubtype="16"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Scale>
                                      <p:cBhvr>
                                        <p:cTn id="55" dur="500" fill="hold"/>
                                        <p:tgtEl>
                                          <p:spTgt spid="22"/>
                                        </p:tgtEl>
                                      </p:cBhvr>
                                      <p:from x="0" y="0"/>
                                      <p:to x="100000" y="100000"/>
                                    </p:animScale>
                                    <p:animEffect transition="in" filter="fade">
                                      <p:cBhvr>
                                        <p:cTn id="56" dur="500"/>
                                        <p:tgtEl>
                                          <p:spTgt spid="22"/>
                                        </p:tgtEl>
                                      </p:cBhvr>
                                    </p:animEffect>
                                  </p:childTnLst>
                                </p:cTn>
                              </p:par>
                              <p:par>
                                <p:cTn id="57" presetID="23" presetClass="entr" presetSubtype="16" fill="hold" grpId="0" nodeType="withEffect">
                                  <p:stCondLst>
                                    <p:cond delay="0"/>
                                  </p:stCondLst>
                                  <p:childTnLst>
                                    <p:set>
                                      <p:cBhvr>
                                        <p:cTn id="58" dur="1" fill="hold">
                                          <p:stCondLst>
                                            <p:cond delay="0"/>
                                          </p:stCondLst>
                                        </p:cTn>
                                        <p:tgtEl>
                                          <p:spTgt spid="23"/>
                                        </p:tgtEl>
                                        <p:attrNameLst>
                                          <p:attrName>style.visibility</p:attrName>
                                        </p:attrNameLst>
                                      </p:cBhvr>
                                      <p:to>
                                        <p:strVal val="visible"/>
                                      </p:to>
                                    </p:set>
                                    <p:animScale>
                                      <p:cBhvr>
                                        <p:cTn id="59" dur="500" fill="hold"/>
                                        <p:tgtEl>
                                          <p:spTgt spid="23"/>
                                        </p:tgtEl>
                                      </p:cBhvr>
                                      <p:from x="0" y="0"/>
                                      <p:to x="100000" y="100000"/>
                                    </p:animScale>
                                    <p:animEffect transition="in" filter="fade">
                                      <p:cBhvr>
                                        <p:cTn id="60" dur="500"/>
                                        <p:tgtEl>
                                          <p:spTgt spid="23"/>
                                        </p:tgtEl>
                                      </p:cBhvr>
                                    </p:animEffect>
                                  </p:childTnLst>
                                </p:cTn>
                              </p:par>
                              <p:par>
                                <p:cTn id="61" presetID="23" presetClass="entr" presetSubtype="16" fill="hold" grpId="0" nodeType="withEffect">
                                  <p:stCondLst>
                                    <p:cond delay="0"/>
                                  </p:stCondLst>
                                  <p:childTnLst>
                                    <p:set>
                                      <p:cBhvr>
                                        <p:cTn id="62" dur="1" fill="hold">
                                          <p:stCondLst>
                                            <p:cond delay="0"/>
                                          </p:stCondLst>
                                        </p:cTn>
                                        <p:tgtEl>
                                          <p:spTgt spid="24"/>
                                        </p:tgtEl>
                                        <p:attrNameLst>
                                          <p:attrName>style.visibility</p:attrName>
                                        </p:attrNameLst>
                                      </p:cBhvr>
                                      <p:to>
                                        <p:strVal val="visible"/>
                                      </p:to>
                                    </p:set>
                                    <p:animScale>
                                      <p:cBhvr>
                                        <p:cTn id="63" dur="500" fill="hold"/>
                                        <p:tgtEl>
                                          <p:spTgt spid="24"/>
                                        </p:tgtEl>
                                      </p:cBhvr>
                                      <p:from x="0" y="0"/>
                                      <p:to x="100000" y="100000"/>
                                    </p:animScale>
                                    <p:animEffect transition="in" filter="fade">
                                      <p:cBhvr>
                                        <p:cTn id="64" dur="500"/>
                                        <p:tgtEl>
                                          <p:spTgt spid="24"/>
                                        </p:tgtEl>
                                      </p:cBhvr>
                                    </p:animEffect>
                                  </p:childTnLst>
                                </p:cTn>
                              </p:par>
                            </p:childTnLst>
                          </p:cTn>
                        </p:par>
                      </p:childTnLst>
                    </p:cTn>
                  </p:par>
                  <p:par>
                    <p:cTn id="79" fill="hold">
                      <p:stCondLst>
                        <p:cond delay="indefinite"/>
                      </p:stCondLst>
                      <p:childTnLst>
                        <p:par>
                          <p:cTn id="80"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fade">
                                      <p:cBhvr>
                                        <p:cTn id="69" dur="500"/>
                                        <p:tgtEl>
                                          <p:spTgt spid="2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500"/>
                                        <p:tgtEl>
                                          <p:spTgt spid="2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8"/>
                                        </p:tgtEl>
                                        <p:attrNameLst>
                                          <p:attrName>style.visibility</p:attrName>
                                        </p:attrNameLst>
                                      </p:cBhvr>
                                      <p:to>
                                        <p:strVal val="visible"/>
                                      </p:to>
                                    </p:set>
                                    <p:animEffect transition="in" filter="fade">
                                      <p:cBhvr>
                                        <p:cTn id="75" dur="500"/>
                                        <p:tgtEl>
                                          <p:spTgt spid="2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fade">
                                      <p:cBhvr>
                                        <p:cTn id="78" dur="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1" presetID="23" presetClass="entr" presetSubtype="16" fill="hold" grpId="0" nodeType="clickEffect">
                                  <p:stCondLst>
                                    <p:cond delay="0"/>
                                  </p:stCondLst>
                                  <p:childTnLst>
                                    <p:set>
                                      <p:cBhvr>
                                        <p:cTn id="82" dur="1" fill="hold">
                                          <p:stCondLst>
                                            <p:cond delay="0"/>
                                          </p:stCondLst>
                                        </p:cTn>
                                        <p:tgtEl>
                                          <p:spTgt spid="29"/>
                                        </p:tgtEl>
                                        <p:attrNameLst>
                                          <p:attrName>style.visibility</p:attrName>
                                        </p:attrNameLst>
                                      </p:cBhvr>
                                      <p:to>
                                        <p:strVal val="visible"/>
                                      </p:to>
                                    </p:set>
                                    <p:animScale>
                                      <p:cBhvr>
                                        <p:cTn id="83" dur="500" fill="hold"/>
                                        <p:tgtEl>
                                          <p:spTgt spid="29"/>
                                        </p:tgtEl>
                                      </p:cBhvr>
                                      <p:from x="0" y="0"/>
                                      <p:to x="100000" y="100000"/>
                                    </p:animScale>
                                    <p:animEffect transition="in" filter="fade">
                                      <p:cBhvr>
                                        <p:cTn id="84" dur="500"/>
                                        <p:tgtEl>
                                          <p:spTgt spid="29"/>
                                        </p:tgtEl>
                                      </p:cBhvr>
                                    </p:animEffect>
                                  </p:childTnLst>
                                </p:cTn>
                              </p:par>
                            </p:childTnLst>
                          </p:cTn>
                        </p:par>
                      </p:childTnLst>
                    </p:cTn>
                  </p:par>
                  <p:par>
                    <p:cTn id="93" fill="hold">
                      <p:stCondLst>
                        <p:cond delay="indefinite"/>
                      </p:stCondLst>
                      <p:childTnLst>
                        <p:par>
                          <p:cTn id="94"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31"/>
                                        </p:tgtEl>
                                        <p:attrNameLst>
                                          <p:attrName>style.visibility</p:attrName>
                                        </p:attrNameLst>
                                      </p:cBhvr>
                                      <p:to>
                                        <p:strVal val="visible"/>
                                      </p:to>
                                    </p:set>
                                    <p:animEffect transition="in" filter="wipe(left)">
                                      <p:cBhvr>
                                        <p:cTn id="89" dur="500"/>
                                        <p:tgtEl>
                                          <p:spTgt spid="31"/>
                                        </p:tgtEl>
                                      </p:cBhvr>
                                    </p:animEffect>
                                  </p:childTnLst>
                                </p:cTn>
                              </p:par>
                              <p:par>
                                <p:cTn id="90" presetID="22" presetClass="entr" presetSubtype="8" fill="hold" grpId="0" nodeType="withEffect">
                                  <p:stCondLst>
                                    <p:cond delay="0"/>
                                  </p:stCondLst>
                                  <p:childTnLst>
                                    <p:set>
                                      <p:cBhvr>
                                        <p:cTn id="91" dur="1" fill="hold">
                                          <p:stCondLst>
                                            <p:cond delay="0"/>
                                          </p:stCondLst>
                                        </p:cTn>
                                        <p:tgtEl>
                                          <p:spTgt spid="32"/>
                                        </p:tgtEl>
                                        <p:attrNameLst>
                                          <p:attrName>style.visibility</p:attrName>
                                        </p:attrNameLst>
                                      </p:cBhvr>
                                      <p:to>
                                        <p:strVal val="visible"/>
                                      </p:to>
                                    </p:set>
                                    <p:animEffect transition="in" filter="wipe(left)">
                                      <p:cBhvr>
                                        <p:cTn id="92" dur="500"/>
                                        <p:tgtEl>
                                          <p:spTgt spid="32"/>
                                        </p:tgtEl>
                                      </p:cBhvr>
                                    </p:animEffect>
                                  </p:childTnLst>
                                </p:cTn>
                              </p:par>
                            </p:childTnLst>
                          </p:cTn>
                        </p:par>
                      </p:childTnLst>
                    </p:cTn>
                  </p:par>
                  <p:par>
                    <p:cTn id="104" fill="hold">
                      <p:stCondLst>
                        <p:cond delay="indefinite"/>
                      </p:stCondLst>
                      <p:childTnLst>
                        <p:par>
                          <p:cTn id="105"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33"/>
                                        </p:tgtEl>
                                        <p:attrNameLst>
                                          <p:attrName>style.visibility</p:attrName>
                                        </p:attrNameLst>
                                      </p:cBhvr>
                                      <p:to>
                                        <p:strVal val="visible"/>
                                      </p:to>
                                    </p:set>
                                    <p:animEffect transition="in" filter="wipe(left)">
                                      <p:cBhvr>
                                        <p:cTn id="97" dur="500"/>
                                        <p:tgtEl>
                                          <p:spTgt spid="33"/>
                                        </p:tgtEl>
                                      </p:cBhvr>
                                    </p:animEffect>
                                  </p:childTnLst>
                                </p:cTn>
                              </p:par>
                              <p:par>
                                <p:cTn id="98" presetID="22" presetClass="entr" presetSubtype="8" fill="hold" grpId="0" nodeType="with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par>
                                <p:cTn id="101" presetID="22" presetClass="entr" presetSubtype="8" fill="hold" grpId="0" nodeType="withEffect">
                                  <p:stCondLst>
                                    <p:cond delay="0"/>
                                  </p:stCondLst>
                                  <p:childTnLst>
                                    <p:set>
                                      <p:cBhvr>
                                        <p:cTn id="102" dur="1" fill="hold">
                                          <p:stCondLst>
                                            <p:cond delay="0"/>
                                          </p:stCondLst>
                                        </p:cTn>
                                        <p:tgtEl>
                                          <p:spTgt spid="35"/>
                                        </p:tgtEl>
                                        <p:attrNameLst>
                                          <p:attrName>style.visibility</p:attrName>
                                        </p:attrNameLst>
                                      </p:cBhvr>
                                      <p:to>
                                        <p:strVal val="visible"/>
                                      </p:to>
                                    </p:set>
                                    <p:animEffect transition="in" filter="wipe(left)">
                                      <p:cBhvr>
                                        <p:cTn id="103" dur="500"/>
                                        <p:tgtEl>
                                          <p:spTgt spid="35"/>
                                        </p:tgtEl>
                                      </p:cBhvr>
                                    </p:animEffect>
                                  </p:childTnLst>
                                </p:cTn>
                              </p:par>
                            </p:childTnLst>
                          </p:cTn>
                        </p:par>
                      </p:childTnLst>
                    </p:cTn>
                  </p:par>
                  <p:par>
                    <p:cTn id="126" fill="hold">
                      <p:stCondLst>
                        <p:cond delay="indefinite"/>
                      </p:stCondLst>
                      <p:childTnLst>
                        <p:par>
                          <p:cTn id="127" fill="hold">
                            <p:stCondLst>
                              <p:cond delay="0"/>
                            </p:stCondLst>
                            <p:childTnLst>
                              <p:par>
                                <p:cTn id="106" presetID="42" presetClass="entr" presetSubtype="0" fill="hold" grpId="0" nodeType="clickEffect">
                                  <p:stCondLst>
                                    <p:cond delay="0"/>
                                  </p:stCondLst>
                                  <p:childTnLst>
                                    <p:set>
                                      <p:cBhvr>
                                        <p:cTn id="107" dur="1" fill="hold">
                                          <p:stCondLst>
                                            <p:cond delay="0"/>
                                          </p:stCondLst>
                                        </p:cTn>
                                        <p:tgtEl>
                                          <p:spTgt spid="36"/>
                                        </p:tgtEl>
                                        <p:attrNameLst>
                                          <p:attrName>style.visibility</p:attrName>
                                        </p:attrNameLst>
                                      </p:cBhvr>
                                      <p:to>
                                        <p:strVal val="visible"/>
                                      </p:to>
                                    </p:set>
                                    <p:animEffect transition="in" filter="fade">
                                      <p:cBhvr>
                                        <p:cTn id="108" dur="700"/>
                                        <p:tgtEl>
                                          <p:spTgt spid="36"/>
                                        </p:tgtEl>
                                      </p:cBhvr>
                                    </p:animEffect>
                                    <p:anim calcmode="lin" valueType="num">
                                      <p:cBhvr additive="base">
                                        <p:cTn id="109" dur="700" fill="hold"/>
                                        <p:tgtEl>
                                          <p:spTgt spid="36"/>
                                        </p:tgtEl>
                                        <p:attrNameLst>
                                          <p:attrName>ppt_y</p:attrName>
                                        </p:attrNameLst>
                                      </p:cBhvr>
                                      <p:tavLst>
                                        <p:tav tm="0">
                                          <p:val>
                                            <p:strVal val="#ppt_y+.08"/>
                                          </p:val>
                                        </p:tav>
                                        <p:tav tm="100000">
                                          <p:val>
                                            <p:strVal val="#ppt_y"/>
                                          </p:val>
                                        </p:tav>
                                      </p:tavLst>
                                    </p:anim>
                                  </p:childTnLst>
                                </p:cTn>
                              </p:par>
                              <p:par>
                                <p:cTn id="110" presetID="42" presetClass="entr" presetSubtype="0" fill="hold" grpId="0" nodeType="withEffect">
                                  <p:stCondLst>
                                    <p:cond delay="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2" dur="700"/>
                                        <p:tgtEl>
                                          <p:spTgt spid="37"/>
                                        </p:tgtEl>
                                      </p:cBhvr>
                                    </p:animEffect>
                                    <p:anim calcmode="lin" valueType="num">
                                      <p:cBhvr additive="base">
                                        <p:cTn id="113" dur="700" fill="hold"/>
                                        <p:tgtEl>
                                          <p:spTgt spid="37"/>
                                        </p:tgtEl>
                                        <p:attrNameLst>
                                          <p:attrName>ppt_y</p:attrName>
                                        </p:attrNameLst>
                                      </p:cBhvr>
                                      <p:tavLst>
                                        <p:tav tm="0">
                                          <p:val>
                                            <p:strVal val="#ppt_y+.08"/>
                                          </p:val>
                                        </p:tav>
                                        <p:tav tm="100000">
                                          <p:val>
                                            <p:strVal val="#ppt_y"/>
                                          </p:val>
                                        </p:tav>
                                      </p:tavLst>
                                    </p:anim>
                                  </p:childTnLst>
                                </p:cTn>
                              </p:par>
                              <p:par>
                                <p:cTn id="114" presetID="42" presetClass="entr" presetSubtype="0" fill="hold" grpId="0" nodeType="withEffect">
                                  <p:stCondLst>
                                    <p:cond delay="0"/>
                                  </p:stCondLst>
                                  <p:childTnLst>
                                    <p:set>
                                      <p:cBhvr>
                                        <p:cTn id="115" dur="1" fill="hold">
                                          <p:stCondLst>
                                            <p:cond delay="0"/>
                                          </p:stCondLst>
                                        </p:cTn>
                                        <p:tgtEl>
                                          <p:spTgt spid="38"/>
                                        </p:tgtEl>
                                        <p:attrNameLst>
                                          <p:attrName>style.visibility</p:attrName>
                                        </p:attrNameLst>
                                      </p:cBhvr>
                                      <p:to>
                                        <p:strVal val="visible"/>
                                      </p:to>
                                    </p:set>
                                    <p:animEffect transition="in" filter="fade">
                                      <p:cBhvr>
                                        <p:cTn id="116" dur="700"/>
                                        <p:tgtEl>
                                          <p:spTgt spid="38"/>
                                        </p:tgtEl>
                                      </p:cBhvr>
                                    </p:animEffect>
                                    <p:anim calcmode="lin" valueType="num">
                                      <p:cBhvr additive="base">
                                        <p:cTn id="117" dur="700" fill="hold"/>
                                        <p:tgtEl>
                                          <p:spTgt spid="38"/>
                                        </p:tgtEl>
                                        <p:attrNameLst>
                                          <p:attrName>ppt_y</p:attrName>
                                        </p:attrNameLst>
                                      </p:cBhvr>
                                      <p:tavLst>
                                        <p:tav tm="0">
                                          <p:val>
                                            <p:strVal val="#ppt_y+.08"/>
                                          </p:val>
                                        </p:tav>
                                        <p:tav tm="100000">
                                          <p:val>
                                            <p:strVal val="#ppt_y"/>
                                          </p:val>
                                        </p:tav>
                                      </p:tavLst>
                                    </p:anim>
                                  </p:childTnLst>
                                </p:cTn>
                              </p:par>
                              <p:par>
                                <p:cTn id="118" presetID="42" presetClass="entr" presetSubtype="0" fill="hold" grpId="0" nodeType="withEffect">
                                  <p:stCondLst>
                                    <p:cond delay="0"/>
                                  </p:stCondLst>
                                  <p:childTnLst>
                                    <p:set>
                                      <p:cBhvr>
                                        <p:cTn id="119" dur="1" fill="hold">
                                          <p:stCondLst>
                                            <p:cond delay="0"/>
                                          </p:stCondLst>
                                        </p:cTn>
                                        <p:tgtEl>
                                          <p:spTgt spid="39"/>
                                        </p:tgtEl>
                                        <p:attrNameLst>
                                          <p:attrName>style.visibility</p:attrName>
                                        </p:attrNameLst>
                                      </p:cBhvr>
                                      <p:to>
                                        <p:strVal val="visible"/>
                                      </p:to>
                                    </p:set>
                                    <p:animEffect transition="in" filter="fade">
                                      <p:cBhvr>
                                        <p:cTn id="120" dur="700"/>
                                        <p:tgtEl>
                                          <p:spTgt spid="39"/>
                                        </p:tgtEl>
                                      </p:cBhvr>
                                    </p:animEffect>
                                    <p:anim calcmode="lin" valueType="num">
                                      <p:cBhvr additive="base">
                                        <p:cTn id="121" dur="700" fill="hold"/>
                                        <p:tgtEl>
                                          <p:spTgt spid="39"/>
                                        </p:tgtEl>
                                        <p:attrNameLst>
                                          <p:attrName>ppt_y</p:attrName>
                                        </p:attrNameLst>
                                      </p:cBhvr>
                                      <p:tavLst>
                                        <p:tav tm="0">
                                          <p:val>
                                            <p:strVal val="#ppt_y+.08"/>
                                          </p:val>
                                        </p:tav>
                                        <p:tav tm="100000">
                                          <p:val>
                                            <p:strVal val="#ppt_y"/>
                                          </p:val>
                                        </p:tav>
                                      </p:tavLst>
                                    </p:anim>
                                  </p:childTnLst>
                                </p:cTn>
                              </p:par>
                              <p:par>
                                <p:cTn id="122" presetID="42" presetClass="entr" presetSubtype="0" fill="hold" grpId="0" nodeType="withEffect">
                                  <p:stCondLst>
                                    <p:cond delay="0"/>
                                  </p:stCondLst>
                                  <p:childTnLst>
                                    <p:set>
                                      <p:cBhvr>
                                        <p:cTn id="123" dur="1" fill="hold">
                                          <p:stCondLst>
                                            <p:cond delay="0"/>
                                          </p:stCondLst>
                                        </p:cTn>
                                        <p:tgtEl>
                                          <p:spTgt spid="40"/>
                                        </p:tgtEl>
                                        <p:attrNameLst>
                                          <p:attrName>style.visibility</p:attrName>
                                        </p:attrNameLst>
                                      </p:cBhvr>
                                      <p:to>
                                        <p:strVal val="visible"/>
                                      </p:to>
                                    </p:set>
                                    <p:animEffect transition="in" filter="fade">
                                      <p:cBhvr>
                                        <p:cTn id="124" dur="700"/>
                                        <p:tgtEl>
                                          <p:spTgt spid="40"/>
                                        </p:tgtEl>
                                      </p:cBhvr>
                                    </p:animEffect>
                                    <p:anim calcmode="lin" valueType="num">
                                      <p:cBhvr additive="base">
                                        <p:cTn id="125" dur="700" fill="hold"/>
                                        <p:tgtEl>
                                          <p:spTgt spid="40"/>
                                        </p:tgtEl>
                                        <p:attrNameLst>
                                          <p:attrName>ppt_y</p:attrName>
                                        </p:attrNameLst>
                                      </p:cBhvr>
                                      <p:tavLst>
                                        <p:tav tm="0">
                                          <p:val>
                                            <p:strVal val="#ppt_y+.08"/>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42"/>
                                        </p:tgtEl>
                                        <p:attrNameLst>
                                          <p:attrName>style.visibility</p:attrName>
                                        </p:attrNameLst>
                                      </p:cBhvr>
                                      <p:to>
                                        <p:strVal val="visible"/>
                                      </p:to>
                                    </p:set>
                                    <p:animEffect transition="in" filter="fade">
                                      <p:cBhvr>
                                        <p:cTn id="130" dur="500"/>
                                        <p:tgtEl>
                                          <p:spTgt spid="42"/>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43"/>
                                        </p:tgtEl>
                                        <p:attrNameLst>
                                          <p:attrName>style.visibility</p:attrName>
                                        </p:attrNameLst>
                                      </p:cBhvr>
                                      <p:to>
                                        <p:strVal val="visible"/>
                                      </p:to>
                                    </p:set>
                                    <p:animEffect transition="in" filter="fade">
                                      <p:cBhvr>
                                        <p:cTn id="133"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animBg="1"/>
      <p:bldP spid="16" grpId="0" animBg="1"/>
      <p:bldP spid="12" grpId="0" animBg="1"/>
      <p:bldP spid="15" grpId="0" animBg="1"/>
      <p:bldP spid="18" grpId="0" animBg="1"/>
      <p:bldP spid="19" grpId="0" animBg="1"/>
      <p:bldP spid="20" grpId="0" animBg="1"/>
      <p:bldP spid="21" grpId="0" animBg="1"/>
      <p:bldP spid="22" grpId="0" animBg="1"/>
      <p:bldP spid="23" grpId="0" animBg="1"/>
      <p:bldP spid="26" grpId="0" animBg="1"/>
      <p:bldP spid="27" grpId="0" animBg="1"/>
      <p:bldP spid="28" grpId="0" animBg="1"/>
      <p:bldP spid="30" grpId="0" animBg="1"/>
      <p:bldP spid="31" grpId="0" animBg="1"/>
      <p:bldP spid="32" grpId="0" animBg="1"/>
      <p:bldP spid="33" grpId="0" animBg="1"/>
      <p:bldP spid="34" grpId="0" animBg="1"/>
      <p:bldP spid="35" grpId="0" animBg="1"/>
      <p:bldP spid="36" grpId="0" animBg="1"/>
      <p:bldP spid="38" grpId="0" animBg="1"/>
      <p:bldP spid="40" grpId="0" animBg="1"/>
      <p:bldP spid="4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oppins" pitchFamily="34" charset="0"/>
                <a:ea typeface="Poppins" pitchFamily="34" charset="-122"/>
                <a:cs typeface="Poppins" pitchFamily="34" charset="-120"/>
              </a:rPr>
              <a:t>Discussion and comparison</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oppins" pitchFamily="34" charset="0"/>
                <a:ea typeface="Poppins" pitchFamily="34" charset="-122"/>
                <a:cs typeface="Poppins" pitchFamily="34" charset="-120"/>
              </a:rPr>
              <a:t>AI Is a Tool, Not a Guarantee of Success</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BFE6E0"/>
          </a:solidFill>
          <a:ln w="12700">
            <a:solidFill>
              <a:srgbClr val="BFE6E0"/>
            </a:solidFill>
            <a:prstDash val="solid"/>
          </a:ln>
        </p:spPr>
      </p:sp>
      <p:sp>
        <p:nvSpPr>
          <p:cNvPr id="6" name="progress dot 3"/>
          <p:cNvSpPr/>
          <p:nvPr/>
        </p:nvSpPr>
        <p:spPr>
          <a:xfrm>
            <a:off x="8174736" y="342900"/>
            <a:ext cx="100584" cy="100584"/>
          </a:xfrm>
          <a:prstGeom prst="ellipse">
            <a:avLst/>
          </a:prstGeom>
          <a:solidFill>
            <a:srgbClr val="BFE6E0"/>
          </a:solidFill>
          <a:ln w="12700">
            <a:solidFill>
              <a:srgbClr val="BFE6E0"/>
            </a:solidFill>
            <a:prstDash val="solid"/>
          </a:ln>
        </p:spPr>
      </p:sp>
      <p:sp>
        <p:nvSpPr>
          <p:cNvPr id="7" name="progress dot 4"/>
          <p:cNvSpPr/>
          <p:nvPr/>
        </p:nvSpPr>
        <p:spPr>
          <a:xfrm>
            <a:off x="8357616" y="342900"/>
            <a:ext cx="100584" cy="100584"/>
          </a:xfrm>
          <a:prstGeom prst="ellipse">
            <a:avLst/>
          </a:prstGeom>
          <a:solidFill>
            <a:srgbClr val="BFE6E0"/>
          </a:solidFill>
          <a:ln w="12700">
            <a:solidFill>
              <a:srgbClr val="BFE6E0"/>
            </a:solidFill>
            <a:prstDash val="solid"/>
          </a:ln>
        </p:spPr>
      </p:sp>
      <p:sp>
        <p:nvSpPr>
          <p:cNvPr id="8" name="progress dot 5"/>
          <p:cNvSpPr/>
          <p:nvPr/>
        </p:nvSpPr>
        <p:spPr>
          <a:xfrm>
            <a:off x="8540496" y="342900"/>
            <a:ext cx="100584" cy="100584"/>
          </a:xfrm>
          <a:prstGeom prst="ellipse">
            <a:avLst/>
          </a:prstGeom>
          <a:solidFill>
            <a:srgbClr val="2E8B86"/>
          </a:solidFill>
          <a:ln w="12700">
            <a:solidFill>
              <a:srgbClr val="2E8B86"/>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800" dirty="0">
                <a:solidFill>
                  <a:srgbClr val="A3ADBB"/>
                </a:solidFill>
                <a:latin typeface="Poppins" pitchFamily="34" charset="0"/>
                <a:ea typeface="Poppins" pitchFamily="34" charset="-122"/>
                <a:cs typeface="Poppins" pitchFamily="34" charset="-120"/>
              </a:rPr>
              <a:t>5 / 5</a:t>
            </a:r>
            <a:endParaRPr lang="en-US" sz="800" dirty="0"/>
          </a:p>
        </p:txBody>
      </p:sp>
      <p:sp>
        <p:nvSpPr>
          <p:cNvPr id="10" name="tag finding"/>
          <p:cNvSpPr/>
          <p:nvPr/>
        </p:nvSpPr>
        <p:spPr>
          <a:xfrm>
            <a:off x="502920" y="1371600"/>
            <a:ext cx="1143000" cy="201168"/>
          </a:xfrm>
          <a:prstGeom prst="roundRect">
            <a:avLst>
              <a:gd name="adj" fmla="val 50000"/>
            </a:avLst>
          </a:prstGeom>
          <a:solidFill>
            <a:srgbClr val="BFE6E0"/>
          </a:solidFill>
          <a:ln w="12700">
            <a:solidFill>
              <a:srgbClr val="BFE6E0"/>
            </a:solidFill>
            <a:prstDash val="solid"/>
          </a:ln>
        </p:spPr>
      </p:sp>
      <p:sp>
        <p:nvSpPr>
          <p:cNvPr id="11" name="tag text"/>
          <p:cNvSpPr txBox="1"/>
          <p:nvPr/>
        </p:nvSpPr>
        <p:spPr>
          <a:xfrm>
            <a:off x="502920" y="1371600"/>
            <a:ext cx="1143000" cy="201168"/>
          </a:xfrm>
          <a:prstGeom prst="rect">
            <a:avLst/>
          </a:prstGeom>
          <a:noFill/>
          <a:ln/>
        </p:spPr>
        <p:txBody>
          <a:bodyPr wrap="square" lIns="0" tIns="0" rIns="0" bIns="0" rtlCol="0" anchor="ctr"/>
          <a:lstStyle/>
          <a:p>
            <a:pPr algn="ctr" indent="0" marL="0">
              <a:buNone/>
            </a:pPr>
            <a:r>
              <a:rPr lang="en-US" sz="750" b="1" spc="150" kern="0" dirty="0">
                <a:solidFill>
                  <a:srgbClr val="1B2A4A"/>
                </a:solidFill>
                <a:latin typeface="Poppins" pitchFamily="34" charset="0"/>
                <a:ea typeface="Poppins" pitchFamily="34" charset="-122"/>
                <a:cs typeface="Poppins" pitchFamily="34" charset="-120"/>
              </a:rPr>
              <a:t>FINDING</a:t>
            </a:r>
            <a:endParaRPr lang="en-US" sz="750" dirty="0"/>
          </a:p>
        </p:txBody>
      </p:sp>
      <p:graphicFrame>
        <p:nvGraphicFramePr>
          <p:cNvPr id="12" name="comparison table"/>
          <p:cNvGraphicFramePr>
            <a:graphicFrameLocks noGrp="1"/>
          </p:cNvGraphicFramePr>
          <p:nvPr>
            <p:extLst>
              <p:ext uri="{D42A27DB-BD31-4B8C-83A1-F6EECF244321}">
                <p14:modId xmlns:p14="http://schemas.microsoft.com/office/powerpoint/2010/main" val="1579011935"/>
              </p:ext>
            </p:extLst>
          </p:nvPr>
        </p:nvGraphicFramePr>
        <p:xfrm>
          <a:off x="502920" y="1627632"/>
          <a:ext cx="8138160" cy="914400"/>
        </p:xfrm>
        <a:graphic>
          <a:graphicData uri="http://schemas.openxmlformats.org/drawingml/2006/table">
            <a:tbl>
              <a:tblPr/>
              <a:tblGrid>
                <a:gridCol w="1463040"/>
                <a:gridCol w="3337560"/>
                <a:gridCol w="3337560"/>
              </a:tblGrid>
              <a:tr h="329184">
                <a:tc>
                  <a:txBody>
                    <a:bodyPr/>
                    <a:lstStyle/>
                    <a:p>
                      <a:pPr indent="0" marL="0">
                        <a:buNone/>
                      </a:pP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12700" cap="flat" cmpd="sng" algn="ctr">
                      <a:solidFill>
                        <a:srgbClr val="1B2A4A"/>
                      </a:solidFill>
                      <a:prstDash val="solid"/>
                      <a:round/>
                      <a:headEnd type="none" w="med" len="med"/>
                      <a:tailEnd type="none" w="med" len="med"/>
                    </a:lnB>
                    <a:solidFill>
                      <a:srgbClr val="FFFFFF"/>
                    </a:solidFill>
                  </a:tcPr>
                </a:tc>
                <a:tc>
                  <a:txBody>
                    <a:bodyPr/>
                    <a:lstStyle/>
                    <a:p>
                      <a:pPr indent="0" marL="0">
                        <a:buNone/>
                      </a:pPr>
                      <a:r>
                        <a:rPr lang="en-US" sz="950" b="1" dirty="0">
                          <a:solidFill>
                            <a:srgbClr val="1B2A4A"/>
                          </a:solidFill>
                          <a:latin typeface="Poppins" pitchFamily="34" charset="0"/>
                          <a:ea typeface="Poppins" pitchFamily="34" charset="-122"/>
                          <a:cs typeface="Poppins" pitchFamily="34" charset="-120"/>
                        </a:rPr>
                        <a:t>Article 2  ·  Consultants</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12700" cap="flat" cmpd="sng" algn="ctr">
                      <a:solidFill>
                        <a:srgbClr val="1B2A4A"/>
                      </a:solidFill>
                      <a:prstDash val="solid"/>
                      <a:round/>
                      <a:headEnd type="none" w="med" len="med"/>
                      <a:tailEnd type="none" w="med" len="med"/>
                    </a:lnB>
                    <a:solidFill>
                      <a:srgbClr val="FFFFFF"/>
                    </a:solidFill>
                  </a:tcPr>
                </a:tc>
                <a:tc>
                  <a:txBody>
                    <a:bodyPr/>
                    <a:lstStyle/>
                    <a:p>
                      <a:pPr indent="0" marL="0">
                        <a:buNone/>
                      </a:pPr>
                      <a:r>
                        <a:rPr lang="en-US" sz="950" b="1" dirty="0">
                          <a:solidFill>
                            <a:srgbClr val="1B2A4A"/>
                          </a:solidFill>
                          <a:latin typeface="Poppins" pitchFamily="34" charset="0"/>
                          <a:ea typeface="Poppins" pitchFamily="34" charset="-122"/>
                          <a:cs typeface="Poppins" pitchFamily="34" charset="-120"/>
                        </a:rPr>
                        <a:t>Article 5  ·  Entrepreneurs</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12700" cap="flat" cmpd="sng" algn="ctr">
                      <a:solidFill>
                        <a:srgbClr val="1B2A4A"/>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B2A4A"/>
                          </a:solidFill>
                          <a:latin typeface="Poppins" pitchFamily="34" charset="0"/>
                          <a:ea typeface="Poppins" pitchFamily="34" charset="-122"/>
                          <a:cs typeface="Poppins" pitchFamily="34" charset="-120"/>
                        </a:rPr>
                        <a:t>Focus</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950" dirty="0">
                          <a:solidFill>
                            <a:srgbClr val="6B7280"/>
                          </a:solidFill>
                          <a:latin typeface="Poppins" pitchFamily="34" charset="0"/>
                          <a:ea typeface="Poppins" pitchFamily="34" charset="-122"/>
                          <a:cs typeface="Poppins" pitchFamily="34" charset="-120"/>
                        </a:rPr>
                        <a:t>Knowledge workers at BCG</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950" dirty="0">
                          <a:solidFill>
                            <a:srgbClr val="6B7280"/>
                          </a:solidFill>
                          <a:latin typeface="Poppins" pitchFamily="34" charset="0"/>
                          <a:ea typeface="Poppins" pitchFamily="34" charset="-122"/>
                          <a:cs typeface="Poppins" pitchFamily="34" charset="-120"/>
                        </a:rPr>
                        <a:t>Small businesses in Kenya</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r>
              <a:tr h="475488">
                <a:tc>
                  <a:txBody>
                    <a:bodyPr/>
                    <a:lstStyle/>
                    <a:p>
                      <a:pPr indent="0" marL="0">
                        <a:buNone/>
                      </a:pPr>
                      <a:r>
                        <a:rPr lang="en-US" sz="950" b="1" dirty="0">
                          <a:solidFill>
                            <a:srgbClr val="1B2A4A"/>
                          </a:solidFill>
                          <a:latin typeface="Poppins" pitchFamily="34" charset="0"/>
                          <a:ea typeface="Poppins" pitchFamily="34" charset="-122"/>
                          <a:cs typeface="Poppins" pitchFamily="34" charset="-120"/>
                        </a:rPr>
                        <a:t>Main result</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950" dirty="0">
                          <a:solidFill>
                            <a:srgbClr val="6B7280"/>
                          </a:solidFill>
                          <a:latin typeface="Poppins" pitchFamily="34" charset="0"/>
                          <a:ea typeface="Poppins" pitchFamily="34" charset="-122"/>
                          <a:cs typeface="Poppins" pitchFamily="34" charset="-120"/>
                        </a:rPr>
                        <a:t>Higher productivity and quality inside AI's capability frontier</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950" dirty="0">
                          <a:solidFill>
                            <a:srgbClr val="6B7280"/>
                          </a:solidFill>
                          <a:latin typeface="Poppins" pitchFamily="34" charset="0"/>
                          <a:ea typeface="Poppins" pitchFamily="34" charset="-122"/>
                          <a:cs typeface="Poppins" pitchFamily="34" charset="-120"/>
                        </a:rPr>
                        <a:t>No established average effect on revenue and profit</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r>
              <a:tr h="475488">
                <a:tc>
                  <a:txBody>
                    <a:bodyPr/>
                    <a:lstStyle/>
                    <a:p>
                      <a:pPr indent="0" marL="0">
                        <a:buNone/>
                      </a:pPr>
                      <a:r>
                        <a:rPr lang="en-US" sz="950" b="1" dirty="0">
                          <a:solidFill>
                            <a:srgbClr val="1B2A4A"/>
                          </a:solidFill>
                          <a:latin typeface="Poppins" pitchFamily="34" charset="0"/>
                          <a:ea typeface="Poppins" pitchFamily="34" charset="-122"/>
                          <a:cs typeface="Poppins" pitchFamily="34" charset="-120"/>
                        </a:rPr>
                        <a:t>Key insight</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950" dirty="0">
                          <a:solidFill>
                            <a:srgbClr val="6B7280"/>
                          </a:solidFill>
                          <a:latin typeface="Poppins" pitchFamily="34" charset="0"/>
                          <a:ea typeface="Poppins" pitchFamily="34" charset="-122"/>
                          <a:cs typeface="Poppins" pitchFamily="34" charset="-120"/>
                        </a:rPr>
                        <a:t>Lower correctness on a task outside the frontier</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950" dirty="0">
                          <a:solidFill>
                            <a:srgbClr val="6B7280"/>
                          </a:solidFill>
                          <a:latin typeface="Poppins" pitchFamily="34" charset="0"/>
                          <a:ea typeface="Poppins" pitchFamily="34" charset="-122"/>
                          <a:cs typeface="Poppins" pitchFamily="34" charset="-120"/>
                        </a:rPr>
                        <a:t>Outcomes depended on baseline performance and the advice implemented</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r>
            </a:tbl>
          </a:graphicData>
        </a:graphic>
      </p:graphicFrame>
      <p:sp>
        <p:nvSpPr>
          <p:cNvPr id="13" name="conclusion card"/>
          <p:cNvSpPr/>
          <p:nvPr/>
        </p:nvSpPr>
        <p:spPr>
          <a:xfrm>
            <a:off x="502920" y="3456432"/>
            <a:ext cx="8138160" cy="932688"/>
          </a:xfrm>
          <a:prstGeom prst="roundRect">
            <a:avLst>
              <a:gd name="adj" fmla="val 11765"/>
            </a:avLst>
          </a:prstGeom>
          <a:solidFill>
            <a:srgbClr val="2E8B86"/>
          </a:solidFill>
          <a:ln w="12700">
            <a:solidFill>
              <a:srgbClr val="2E8B86"/>
            </a:solidFill>
            <a:prstDash val="solid"/>
          </a:ln>
        </p:spPr>
      </p:sp>
      <p:sp>
        <p:nvSpPr>
          <p:cNvPr id="14" name="tag interp"/>
          <p:cNvSpPr/>
          <p:nvPr/>
        </p:nvSpPr>
        <p:spPr>
          <a:xfrm>
            <a:off x="731520" y="3584448"/>
            <a:ext cx="1143000" cy="201168"/>
          </a:xfrm>
          <a:prstGeom prst="roundRect">
            <a:avLst>
              <a:gd name="adj" fmla="val 50000"/>
            </a:avLst>
          </a:prstGeom>
          <a:solidFill>
            <a:srgbClr val="FFFFFF"/>
          </a:solidFill>
          <a:ln w="12700">
            <a:solidFill>
              <a:srgbClr val="FFFFFF"/>
            </a:solidFill>
            <a:prstDash val="solid"/>
          </a:ln>
        </p:spPr>
      </p:sp>
      <p:sp>
        <p:nvSpPr>
          <p:cNvPr id="15" name="tag text"/>
          <p:cNvSpPr txBox="1"/>
          <p:nvPr/>
        </p:nvSpPr>
        <p:spPr>
          <a:xfrm>
            <a:off x="731520" y="3584448"/>
            <a:ext cx="1143000" cy="201168"/>
          </a:xfrm>
          <a:prstGeom prst="rect">
            <a:avLst/>
          </a:prstGeom>
          <a:noFill/>
          <a:ln/>
        </p:spPr>
        <p:txBody>
          <a:bodyPr wrap="square" lIns="0" tIns="0" rIns="0" bIns="0" rtlCol="0" anchor="ctr"/>
          <a:lstStyle/>
          <a:p>
            <a:pPr algn="ctr" indent="0" marL="0">
              <a:buNone/>
            </a:pPr>
            <a:r>
              <a:rPr lang="en-US" sz="750" b="1" spc="150" kern="0" dirty="0">
                <a:solidFill>
                  <a:srgbClr val="1B2A4A"/>
                </a:solidFill>
                <a:latin typeface="Poppins" pitchFamily="34" charset="0"/>
                <a:ea typeface="Poppins" pitchFamily="34" charset="-122"/>
                <a:cs typeface="Poppins" pitchFamily="34" charset="-120"/>
              </a:rPr>
              <a:t>INTERPRETATION</a:t>
            </a:r>
            <a:endParaRPr lang="en-US" sz="750" dirty="0"/>
          </a:p>
        </p:txBody>
      </p:sp>
      <p:sp>
        <p:nvSpPr>
          <p:cNvPr id="16" name="conclusion"/>
          <p:cNvSpPr txBox="1"/>
          <p:nvPr/>
        </p:nvSpPr>
        <p:spPr>
          <a:xfrm>
            <a:off x="731520" y="3840480"/>
            <a:ext cx="4160520" cy="475488"/>
          </a:xfrm>
          <a:prstGeom prst="rect">
            <a:avLst/>
          </a:prstGeom>
          <a:noFill/>
          <a:ln/>
        </p:spPr>
        <p:txBody>
          <a:bodyPr wrap="square" lIns="0" tIns="0" rIns="0" bIns="0" rtlCol="0" anchor="t"/>
          <a:lstStyle/>
          <a:p>
            <a:pPr indent="0" marL="0">
              <a:buNone/>
            </a:pPr>
            <a:r>
              <a:rPr lang="en-US" sz="950" b="1" dirty="0">
                <a:solidFill>
                  <a:srgbClr val="FFFFFF"/>
                </a:solidFill>
                <a:latin typeface="Poppins" pitchFamily="34" charset="0"/>
                <a:ea typeface="Poppins" pitchFamily="34" charset="-122"/>
                <a:cs typeface="Poppins" pitchFamily="34" charset="-120"/>
              </a:rPr>
              <a:t>AI can influence real-world performance, but its impact depends on task suitability, user behavior, and human judgment.</a:t>
            </a:r>
            <a:endParaRPr lang="en-US" sz="950" dirty="0"/>
          </a:p>
        </p:txBody>
      </p:sp>
      <p:pic>
        <p:nvPicPr>
          <p:cNvPr id="17" name="icon check" descr="preencoded.png">    </p:cNvPr>
          <p:cNvPicPr>
            <a:picLocks noChangeAspect="1"/>
          </p:cNvPicPr>
          <p:nvPr/>
        </p:nvPicPr>
        <p:blipFill>
          <a:blip r:embed="rId1"/>
          <a:stretch>
            <a:fillRect/>
          </a:stretch>
        </p:blipFill>
        <p:spPr>
          <a:xfrm>
            <a:off x="4983480" y="3621024"/>
            <a:ext cx="164592" cy="164592"/>
          </a:xfrm>
          <a:prstGeom prst="rect">
            <a:avLst/>
          </a:prstGeom>
        </p:spPr>
      </p:pic>
      <p:sp>
        <p:nvSpPr>
          <p:cNvPr id="18" name="takeaway 1"/>
          <p:cNvSpPr txBox="1"/>
          <p:nvPr/>
        </p:nvSpPr>
        <p:spPr>
          <a:xfrm>
            <a:off x="5239512" y="3584448"/>
            <a:ext cx="1847088" cy="237744"/>
          </a:xfrm>
          <a:prstGeom prst="rect">
            <a:avLst/>
          </a:prstGeom>
          <a:noFill/>
          <a:ln/>
        </p:spPr>
        <p:txBody>
          <a:bodyPr wrap="square" lIns="0" tIns="0" rIns="0" bIns="0" rtlCol="0" anchor="ctr"/>
          <a:lstStyle/>
          <a:p>
            <a:pPr indent="0" marL="0">
              <a:buNone/>
            </a:pPr>
            <a:r>
              <a:rPr lang="en-US" sz="850" dirty="0">
                <a:solidFill>
                  <a:srgbClr val="FFFFFF"/>
                </a:solidFill>
                <a:latin typeface="Poppins" pitchFamily="34" charset="0"/>
                <a:ea typeface="Poppins" pitchFamily="34" charset="-122"/>
                <a:cs typeface="Poppins" pitchFamily="34" charset="-120"/>
              </a:rPr>
              <a:t>Match the task to AI's strengths</a:t>
            </a:r>
            <a:endParaRPr lang="en-US" sz="850" dirty="0"/>
          </a:p>
        </p:txBody>
      </p:sp>
      <p:pic>
        <p:nvPicPr>
          <p:cNvPr id="19" name="icon check" descr="preencoded.png">    </p:cNvPr>
          <p:cNvPicPr>
            <a:picLocks noChangeAspect="1"/>
          </p:cNvPicPr>
          <p:nvPr/>
        </p:nvPicPr>
        <p:blipFill>
          <a:blip r:embed="rId2"/>
          <a:stretch>
            <a:fillRect/>
          </a:stretch>
        </p:blipFill>
        <p:spPr>
          <a:xfrm>
            <a:off x="4983480" y="3867912"/>
            <a:ext cx="164592" cy="164592"/>
          </a:xfrm>
          <a:prstGeom prst="rect">
            <a:avLst/>
          </a:prstGeom>
        </p:spPr>
      </p:pic>
      <p:sp>
        <p:nvSpPr>
          <p:cNvPr id="20" name="takeaway 2"/>
          <p:cNvSpPr txBox="1"/>
          <p:nvPr/>
        </p:nvSpPr>
        <p:spPr>
          <a:xfrm>
            <a:off x="5239512" y="3831336"/>
            <a:ext cx="1847088" cy="237744"/>
          </a:xfrm>
          <a:prstGeom prst="rect">
            <a:avLst/>
          </a:prstGeom>
          <a:noFill/>
          <a:ln/>
        </p:spPr>
        <p:txBody>
          <a:bodyPr wrap="square" lIns="0" tIns="0" rIns="0" bIns="0" rtlCol="0" anchor="ctr"/>
          <a:lstStyle/>
          <a:p>
            <a:pPr indent="0" marL="0">
              <a:buNone/>
            </a:pPr>
            <a:r>
              <a:rPr lang="en-US" sz="850" dirty="0">
                <a:solidFill>
                  <a:srgbClr val="FFFFFF"/>
                </a:solidFill>
                <a:latin typeface="Poppins" pitchFamily="34" charset="0"/>
                <a:ea typeface="Poppins" pitchFamily="34" charset="-122"/>
                <a:cs typeface="Poppins" pitchFamily="34" charset="-120"/>
              </a:rPr>
              <a:t>Evaluate AI advice critically</a:t>
            </a:r>
            <a:endParaRPr lang="en-US" sz="850" dirty="0"/>
          </a:p>
        </p:txBody>
      </p:sp>
      <p:pic>
        <p:nvPicPr>
          <p:cNvPr id="21" name="icon check" descr="preencoded.png">    </p:cNvPr>
          <p:cNvPicPr>
            <a:picLocks noChangeAspect="1"/>
          </p:cNvPicPr>
          <p:nvPr/>
        </p:nvPicPr>
        <p:blipFill>
          <a:blip r:embed="rId3"/>
          <a:stretch>
            <a:fillRect/>
          </a:stretch>
        </p:blipFill>
        <p:spPr>
          <a:xfrm>
            <a:off x="4983480" y="4114800"/>
            <a:ext cx="164592" cy="164592"/>
          </a:xfrm>
          <a:prstGeom prst="rect">
            <a:avLst/>
          </a:prstGeom>
        </p:spPr>
      </p:pic>
      <p:sp>
        <p:nvSpPr>
          <p:cNvPr id="22" name="takeaway 3"/>
          <p:cNvSpPr txBox="1"/>
          <p:nvPr/>
        </p:nvSpPr>
        <p:spPr>
          <a:xfrm>
            <a:off x="5239512" y="4078224"/>
            <a:ext cx="1847088" cy="237744"/>
          </a:xfrm>
          <a:prstGeom prst="rect">
            <a:avLst/>
          </a:prstGeom>
          <a:noFill/>
          <a:ln/>
        </p:spPr>
        <p:txBody>
          <a:bodyPr wrap="square" lIns="0" tIns="0" rIns="0" bIns="0" rtlCol="0" anchor="ctr"/>
          <a:lstStyle/>
          <a:p>
            <a:pPr indent="0" marL="0">
              <a:buNone/>
            </a:pPr>
            <a:r>
              <a:rPr lang="en-US" sz="850" dirty="0">
                <a:solidFill>
                  <a:srgbClr val="FFFFFF"/>
                </a:solidFill>
                <a:latin typeface="Poppins" pitchFamily="34" charset="0"/>
                <a:ea typeface="Poppins" pitchFamily="34" charset="-122"/>
                <a:cs typeface="Poppins" pitchFamily="34" charset="-120"/>
              </a:rPr>
              <a:t>Keep human judgment in the loop</a:t>
            </a:r>
            <a:endParaRPr lang="en-US" sz="850" dirty="0"/>
          </a:p>
        </p:txBody>
      </p:sp>
      <p:pic>
        <p:nvPicPr>
          <p:cNvPr id="23" name="human handshake" descr="preencoded.png">    </p:cNvPr>
          <p:cNvPicPr>
            <a:picLocks noChangeAspect="1"/>
          </p:cNvPicPr>
          <p:nvPr/>
        </p:nvPicPr>
        <p:blipFill>
          <a:blip r:embed="rId4"/>
          <a:stretch>
            <a:fillRect/>
          </a:stretch>
        </p:blipFill>
        <p:spPr>
          <a:xfrm>
            <a:off x="7068312" y="3547872"/>
            <a:ext cx="749808" cy="786384"/>
          </a:xfrm>
          <a:prstGeom prst="rect">
            <a:avLst/>
          </a:prstGeom>
        </p:spPr>
      </p:pic>
      <p:pic>
        <p:nvPicPr>
          <p:cNvPr id="24" name="mascot handshake" descr="preencoded.png">    </p:cNvPr>
          <p:cNvPicPr>
            <a:picLocks noChangeAspect="1"/>
          </p:cNvPicPr>
          <p:nvPr/>
        </p:nvPicPr>
        <p:blipFill>
          <a:blip r:embed="rId5"/>
          <a:stretch>
            <a:fillRect/>
          </a:stretch>
        </p:blipFill>
        <p:spPr>
          <a:xfrm>
            <a:off x="7744968" y="3547872"/>
            <a:ext cx="822960" cy="786384"/>
          </a:xfrm>
          <a:prstGeom prst="rect">
            <a:avLst/>
          </a:prstGeom>
        </p:spPr>
      </p:pic>
      <p:sp>
        <p:nvSpPr>
          <p:cNvPr id="25"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oppins" pitchFamily="34" charset="0"/>
                <a:ea typeface="Poppins" pitchFamily="34" charset="-122"/>
                <a:cs typeface="Poppins" pitchFamily="34" charset="-120"/>
              </a:rPr>
              <a:t>Dell'Acqua et al. (2023), HBS Working Paper 24-013   ·   Otis et al. (2026), Management Science 72(7), doi.org/10.1287/mnsc.2024.06909</a:t>
            </a:r>
            <a:endParaRPr lang="en-US" sz="700" dirty="0"/>
          </a:p>
        </p:txBody>
      </p:sp>
      <p:sp>
        <p:nvSpPr>
          <p:cNvPr id="26"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850" b="1" dirty="0">
                <a:solidFill>
                  <a:srgbClr val="2E8B86"/>
                </a:solidFill>
                <a:latin typeface="Poppins" pitchFamily="34" charset="0"/>
                <a:ea typeface="Poppins" pitchFamily="34" charset="-122"/>
                <a:cs typeface="Poppins" pitchFamily="34" charset="-120"/>
              </a:rPr>
              <a:t>Next  </a:t>
            </a:r>
            <a:pPr algn="r" indent="0" marL="0">
              <a:buNone/>
            </a:pPr>
            <a:r>
              <a:rPr lang="en-US" sz="850" dirty="0">
                <a:solidFill>
                  <a:srgbClr val="1B2A4A"/>
                </a:solidFill>
                <a:latin typeface="Poppins" pitchFamily="34" charset="0"/>
                <a:ea typeface="Poppins" pitchFamily="34" charset="-122"/>
                <a:cs typeface="Poppins" pitchFamily="34" charset="-120"/>
              </a:rPr>
              <a:t>Thank you. Questions are welcome.</a:t>
            </a:r>
            <a:endParaRPr lang="en-US" sz="850" dirty="0"/>
          </a:p>
        </p:txBody>
      </p:sp>
      <p:pic>
        <p:nvPicPr>
          <p:cNvPr id="27" name="icon FiArrowRight" descr="preencoded.png">    </p:cNvPr>
          <p:cNvPicPr>
            <a:picLocks noChangeAspect="1"/>
          </p:cNvPicPr>
          <p:nvPr/>
        </p:nvPicPr>
        <p:blipFill>
          <a:blip r:embed="rId6"/>
          <a:stretch>
            <a:fillRect/>
          </a:stretch>
        </p:blipFill>
        <p:spPr>
          <a:xfrm>
            <a:off x="8439912" y="4498848"/>
            <a:ext cx="201168" cy="201168"/>
          </a:xfrm>
          <a:prstGeom prst="rect">
            <a:avLst/>
          </a:prstGeom>
        </p:spPr>
      </p:pic>
      <p:sp>
        <p:nvSpPr>
          <p:cNvPr id="28"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oppins"/>
                <a:ea typeface="Poppins"/>
                <a:cs typeface="Poppins"/>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700"/>
                                        <p:tgtEl>
                                          <p:spTgt spid="10"/>
                                        </p:tgtEl>
                                      </p:cBhvr>
                                    </p:animEffect>
                                    <p:anim calcmode="lin" valueType="num">
                                      <p:cBhvr additive="base">
                                        <p:cTn id="6" dur="700" fill="hold"/>
                                        <p:tgtEl>
                                          <p:spTgt spid="10"/>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animEffect transition="in" filter="fade">
                                      <p:cBhvr>
                                        <p:cTn id="9" dur="700"/>
                                        <p:tgtEl>
                                          <p:spTgt spid="11"/>
                                        </p:tgtEl>
                                      </p:cBhvr>
                                    </p:animEffect>
                                    <p:anim calcmode="lin" valueType="num">
                                      <p:cBhvr additive="base">
                                        <p:cTn id="10" dur="700" fill="hold"/>
                                        <p:tgtEl>
                                          <p:spTgt spid="11"/>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700"/>
                                        <p:tgtEl>
                                          <p:spTgt spid="15"/>
                                        </p:tgtEl>
                                      </p:cBhvr>
                                    </p:animEffect>
                                    <p:anim calcmode="lin" valueType="num">
                                      <p:cBhvr additive="base">
                                        <p:cTn id="14" dur="700" fill="hold"/>
                                        <p:tgtEl>
                                          <p:spTgt spid="15"/>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700"/>
                                        <p:tgtEl>
                                          <p:spTgt spid="12"/>
                                        </p:tgtEl>
                                      </p:cBhvr>
                                    </p:animEffect>
                                    <p:anim calcmode="lin" valueType="num">
                                      <p:cBhvr additive="base">
                                        <p:cTn id="18" dur="700" fill="hold"/>
                                        <p:tgtEl>
                                          <p:spTgt spid="12"/>
                                        </p:tgtEl>
                                        <p:attrNameLst>
                                          <p:attrName>ppt_y</p:attrName>
                                        </p:attrNameLst>
                                      </p:cBhvr>
                                      <p:tavLst>
                                        <p:tav tm="0">
                                          <p:val>
                                            <p:strVal val="#ppt_y+.08"/>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21" presetID="23" presetClass="entr" presetSubtype="16"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Scale>
                                      <p:cBhvr>
                                        <p:cTn id="23" dur="500" fill="hold"/>
                                        <p:tgtEl>
                                          <p:spTgt spid="13"/>
                                        </p:tgtEl>
                                      </p:cBhvr>
                                      <p:from x="0" y="0"/>
                                      <p:to x="100000" y="100000"/>
                                    </p:animScale>
                                    <p:animEffect transition="in" filter="fade">
                                      <p:cBhvr>
                                        <p:cTn id="24" dur="500"/>
                                        <p:tgtEl>
                                          <p:spTgt spid="13"/>
                                        </p:tgtEl>
                                      </p:cBhvr>
                                    </p:animEffect>
                                  </p:childTnLst>
                                </p:cTn>
                              </p:par>
                              <p:par>
                                <p:cTn id="25" presetID="23" presetClass="entr" presetSubtype="16"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Scale>
                                      <p:cBhvr>
                                        <p:cTn id="27" dur="500" fill="hold"/>
                                        <p:tgtEl>
                                          <p:spTgt spid="14"/>
                                        </p:tgtEl>
                                      </p:cBhvr>
                                      <p:from x="0" y="0"/>
                                      <p:to x="100000" y="100000"/>
                                    </p:animScale>
                                    <p:animEffect transition="in" filter="fade">
                                      <p:cBhvr>
                                        <p:cTn id="28" dur="500"/>
                                        <p:tgtEl>
                                          <p:spTgt spid="14"/>
                                        </p:tgtEl>
                                      </p:cBhvr>
                                    </p:animEffect>
                                  </p:childTnLst>
                                </p:cTn>
                              </p:par>
                              <p:par>
                                <p:cTn id="29" presetID="23" presetClass="entr" presetSubtype="16"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Scale>
                                      <p:cBhvr>
                                        <p:cTn id="31" dur="500" fill="hold"/>
                                        <p:tgtEl>
                                          <p:spTgt spid="16"/>
                                        </p:tgtEl>
                                      </p:cBhvr>
                                      <p:from x="0" y="0"/>
                                      <p:to x="100000" y="100000"/>
                                    </p:animScale>
                                    <p:animEffect transition="in" filter="fade">
                                      <p:cBhvr>
                                        <p:cTn id="32" dur="500"/>
                                        <p:tgtEl>
                                          <p:spTgt spid="16"/>
                                        </p:tgtEl>
                                      </p:cBhvr>
                                    </p:animEffect>
                                  </p:childTnLst>
                                </p:cTn>
                              </p:par>
                              <p:par>
                                <p:cTn id="33" presetID="23" presetClass="entr" presetSubtype="16"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Scale>
                                      <p:cBhvr>
                                        <p:cTn id="35" dur="500" fill="hold"/>
                                        <p:tgtEl>
                                          <p:spTgt spid="17"/>
                                        </p:tgtEl>
                                      </p:cBhvr>
                                      <p:from x="0" y="0"/>
                                      <p:to x="100000" y="100000"/>
                                    </p:animScale>
                                    <p:animEffect transition="in" filter="fade">
                                      <p:cBhvr>
                                        <p:cTn id="36" dur="500"/>
                                        <p:tgtEl>
                                          <p:spTgt spid="17"/>
                                        </p:tgtEl>
                                      </p:cBhvr>
                                    </p:animEffect>
                                  </p:childTnLst>
                                </p:cTn>
                              </p:par>
                              <p:par>
                                <p:cTn id="37" presetID="23" presetClass="entr" presetSubtype="16"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Scale>
                                      <p:cBhvr>
                                        <p:cTn id="39" dur="500" fill="hold"/>
                                        <p:tgtEl>
                                          <p:spTgt spid="19"/>
                                        </p:tgtEl>
                                      </p:cBhvr>
                                      <p:from x="0" y="0"/>
                                      <p:to x="100000" y="100000"/>
                                    </p:animScale>
                                    <p:animEffect transition="in" filter="fade">
                                      <p:cBhvr>
                                        <p:cTn id="40" dur="500"/>
                                        <p:tgtEl>
                                          <p:spTgt spid="19"/>
                                        </p:tgtEl>
                                      </p:cBhvr>
                                    </p:animEffect>
                                  </p:childTnLst>
                                </p:cTn>
                              </p:par>
                              <p:par>
                                <p:cTn id="41" presetID="23" presetClass="entr" presetSubtype="16"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animScale>
                                      <p:cBhvr>
                                        <p:cTn id="43" dur="500" fill="hold"/>
                                        <p:tgtEl>
                                          <p:spTgt spid="21"/>
                                        </p:tgtEl>
                                      </p:cBhvr>
                                      <p:from x="0" y="0"/>
                                      <p:to x="100000" y="100000"/>
                                    </p:animScale>
                                    <p:animEffect transition="in" filter="fade">
                                      <p:cBhvr>
                                        <p:cTn id="44" dur="500"/>
                                        <p:tgtEl>
                                          <p:spTgt spid="21"/>
                                        </p:tgtEl>
                                      </p:cBhvr>
                                    </p:animEffect>
                                  </p:childTnLst>
                                </p:cTn>
                              </p:par>
                              <p:par>
                                <p:cTn id="45" presetID="23" presetClass="entr" presetSubtype="16"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Scale>
                                      <p:cBhvr>
                                        <p:cTn id="47" dur="500" fill="hold"/>
                                        <p:tgtEl>
                                          <p:spTgt spid="18"/>
                                        </p:tgtEl>
                                      </p:cBhvr>
                                      <p:from x="0" y="0"/>
                                      <p:to x="100000" y="100000"/>
                                    </p:animScale>
                                    <p:animEffect transition="in" filter="fade">
                                      <p:cBhvr>
                                        <p:cTn id="48" dur="500"/>
                                        <p:tgtEl>
                                          <p:spTgt spid="18"/>
                                        </p:tgtEl>
                                      </p:cBhvr>
                                    </p:animEffect>
                                  </p:childTnLst>
                                </p:cTn>
                              </p:par>
                              <p:par>
                                <p:cTn id="49" presetID="23" presetClass="entr" presetSubtype="16"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animScale>
                                      <p:cBhvr>
                                        <p:cTn id="51" dur="500" fill="hold"/>
                                        <p:tgtEl>
                                          <p:spTgt spid="20"/>
                                        </p:tgtEl>
                                      </p:cBhvr>
                                      <p:from x="0" y="0"/>
                                      <p:to x="100000" y="100000"/>
                                    </p:animScale>
                                    <p:animEffect transition="in" filter="fade">
                                      <p:cBhvr>
                                        <p:cTn id="52" dur="500"/>
                                        <p:tgtEl>
                                          <p:spTgt spid="20"/>
                                        </p:tgtEl>
                                      </p:cBhvr>
                                    </p:animEffect>
                                  </p:childTnLst>
                                </p:cTn>
                              </p:par>
                              <p:par>
                                <p:cTn id="53" presetID="23" presetClass="entr" presetSubtype="16"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Scale>
                                      <p:cBhvr>
                                        <p:cTn id="55" dur="500" fill="hold"/>
                                        <p:tgtEl>
                                          <p:spTgt spid="22"/>
                                        </p:tgtEl>
                                      </p:cBhvr>
                                      <p:from x="0" y="0"/>
                                      <p:to x="100000" y="100000"/>
                                    </p:animScale>
                                    <p:animEffect transition="in" filter="fade">
                                      <p:cBhvr>
                                        <p:cTn id="56" dur="500"/>
                                        <p:tgtEl>
                                          <p:spTgt spid="22"/>
                                        </p:tgtEl>
                                      </p:cBhvr>
                                    </p:animEffect>
                                  </p:childTnLst>
                                </p:cTn>
                              </p:par>
                              <p:par>
                                <p:cTn id="57" presetID="23" presetClass="entr" presetSubtype="16" fill="hold" grpId="0" nodeType="withEffect">
                                  <p:stCondLst>
                                    <p:cond delay="0"/>
                                  </p:stCondLst>
                                  <p:childTnLst>
                                    <p:set>
                                      <p:cBhvr>
                                        <p:cTn id="58" dur="1" fill="hold">
                                          <p:stCondLst>
                                            <p:cond delay="0"/>
                                          </p:stCondLst>
                                        </p:cTn>
                                        <p:tgtEl>
                                          <p:spTgt spid="23"/>
                                        </p:tgtEl>
                                        <p:attrNameLst>
                                          <p:attrName>style.visibility</p:attrName>
                                        </p:attrNameLst>
                                      </p:cBhvr>
                                      <p:to>
                                        <p:strVal val="visible"/>
                                      </p:to>
                                    </p:set>
                                    <p:animScale>
                                      <p:cBhvr>
                                        <p:cTn id="59" dur="500" fill="hold"/>
                                        <p:tgtEl>
                                          <p:spTgt spid="23"/>
                                        </p:tgtEl>
                                      </p:cBhvr>
                                      <p:from x="0" y="0"/>
                                      <p:to x="100000" y="100000"/>
                                    </p:animScale>
                                    <p:animEffect transition="in" filter="fade">
                                      <p:cBhvr>
                                        <p:cTn id="60" dur="500"/>
                                        <p:tgtEl>
                                          <p:spTgt spid="23"/>
                                        </p:tgtEl>
                                      </p:cBhvr>
                                    </p:animEffect>
                                  </p:childTnLst>
                                </p:cTn>
                              </p:par>
                              <p:par>
                                <p:cTn id="61" presetID="23" presetClass="entr" presetSubtype="16" fill="hold" grpId="0" nodeType="withEffect">
                                  <p:stCondLst>
                                    <p:cond delay="0"/>
                                  </p:stCondLst>
                                  <p:childTnLst>
                                    <p:set>
                                      <p:cBhvr>
                                        <p:cTn id="62" dur="1" fill="hold">
                                          <p:stCondLst>
                                            <p:cond delay="0"/>
                                          </p:stCondLst>
                                        </p:cTn>
                                        <p:tgtEl>
                                          <p:spTgt spid="24"/>
                                        </p:tgtEl>
                                        <p:attrNameLst>
                                          <p:attrName>style.visibility</p:attrName>
                                        </p:attrNameLst>
                                      </p:cBhvr>
                                      <p:to>
                                        <p:strVal val="visible"/>
                                      </p:to>
                                    </p:set>
                                    <p:animScale>
                                      <p:cBhvr>
                                        <p:cTn id="63" dur="500" fill="hold"/>
                                        <p:tgtEl>
                                          <p:spTgt spid="24"/>
                                        </p:tgtEl>
                                      </p:cBhvr>
                                      <p:from x="0" y="0"/>
                                      <p:to x="100000" y="100000"/>
                                    </p:animScale>
                                    <p:animEffect transition="in" filter="fade">
                                      <p:cBhvr>
                                        <p:cTn id="64" dur="500"/>
                                        <p:tgtEl>
                                          <p:spTgt spid="24"/>
                                        </p:tgtEl>
                                      </p:cBhvr>
                                    </p:animEffect>
                                  </p:childTnLst>
                                </p:cTn>
                              </p:par>
                            </p:childTnLst>
                          </p:cTn>
                        </p:par>
                      </p:childTnLst>
                    </p:cTn>
                  </p:par>
                  <p:par>
                    <p:cTn id="73" fill="hold">
                      <p:stCondLst>
                        <p:cond delay="indefinite"/>
                      </p:stCondLst>
                      <p:childTnLst>
                        <p:par>
                          <p:cTn id="74"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fade">
                                      <p:cBhvr>
                                        <p:cTn id="69" dur="500"/>
                                        <p:tgtEl>
                                          <p:spTgt spid="2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animBg="1"/>
      <p:bldGraphic spid="12" grpId="0">
        <p:bldAsOne/>
      </p:bldGraphic>
      <p:bldP spid="13" grpId="0" animBg="1"/>
      <p:bldP spid="14" grpId="0" animBg="1"/>
      <p:bldP spid="16" grpId="0" animBg="1"/>
      <p:bldP spid="18" grpId="0" animBg="1"/>
      <p:bldP spid="20" grpId="0" animBg="1"/>
      <p:bldP spid="22" grpId="0" animBg="1"/>
      <p:bldP spid="2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6309360" cy="1143000"/>
          </a:xfrm>
          <a:prstGeom prst="rect">
            <a:avLst/>
          </a:prstGeom>
          <a:noFill/>
          <a:ln/>
        </p:spPr>
        <p:txBody>
          <a:bodyPr wrap="square" lIns="0" tIns="0" rIns="0" bIns="0" rtlCol="0" anchor="b"/>
          <a:lstStyle/>
          <a:p>
            <a:pPr algn="l" indent="0" marL="0">
              <a:buNone/>
            </a:pPr>
            <a:r>
              <a:rPr lang="en-US" sz="3200" b="1" dirty="0">
                <a:solidFill>
                  <a:schemeClr val="bg1"/>
                </a:solidFill>
                <a:latin typeface="Prompt" pitchFamily="34" charset="0"/>
                <a:ea typeface="Prompt" pitchFamily="34" charset="-122"/>
                <a:cs typeface="Prompt" pitchFamily="34" charset="-120"/>
              </a:rPr>
              <a:t>ปัญญาประดิษฐ์กับประสิทธิภาพการทำงาน</a:t>
            </a:r>
            <a:endParaRPr lang="en-US" sz="3200" dirty="0"/>
          </a:p>
        </p:txBody>
      </p:sp>
      <p:sp>
        <p:nvSpPr>
          <p:cNvPr id="3" name="Text 0"/>
          <p:cNvSpPr/>
          <p:nvPr>
            <p:ph idx="101" type="body" hasCustomPrompt="1"/>
          </p:nvPr>
        </p:nvSpPr>
        <p:spPr>
          <a:xfrm>
            <a:off x="502920" y="1463040"/>
            <a:ext cx="6309360" cy="365760"/>
          </a:xfrm>
          <a:prstGeom prst="rect">
            <a:avLst/>
          </a:prstGeom>
          <a:noFill/>
          <a:ln/>
        </p:spPr>
        <p:txBody>
          <a:bodyPr wrap="square" lIns="0" tIns="0" rIns="0" bIns="0" rtlCol="0" anchor="t"/>
          <a:lstStyle/>
          <a:p>
            <a:pPr algn="l" indent="0" marL="0">
              <a:buNone/>
            </a:pPr>
            <a:r>
              <a:rPr lang="en-US" sz="1400" dirty="0">
                <a:solidFill>
                  <a:schemeClr val="accent4"/>
                </a:solidFill>
                <a:latin typeface="Prompt" pitchFamily="34" charset="0"/>
                <a:ea typeface="Prompt" pitchFamily="34" charset="-122"/>
                <a:cs typeface="Prompt" pitchFamily="34" charset="-120"/>
              </a:rPr>
              <a:t>หลักฐานจากการทดลองภาคสนามสองชิ้นล่าสุด</a:t>
            </a:r>
            <a:endParaRPr lang="en-US" sz="1400" dirty="0"/>
          </a:p>
        </p:txBody>
      </p:sp>
      <p:pic>
        <p:nvPicPr>
          <p:cNvPr id="4" name="mascot waving" descr="preencoded.png">    </p:cNvPr>
          <p:cNvPicPr>
            <a:picLocks noChangeAspect="1"/>
          </p:cNvPicPr>
          <p:nvPr/>
        </p:nvPicPr>
        <p:blipFill>
          <a:blip r:embed="rId1"/>
          <a:stretch>
            <a:fillRect/>
          </a:stretch>
        </p:blipFill>
        <p:spPr>
          <a:xfrm>
            <a:off x="6858000" y="320040"/>
            <a:ext cx="1920240" cy="1664208"/>
          </a:xfrm>
          <a:prstGeom prst="rect">
            <a:avLst/>
          </a:prstGeom>
        </p:spPr>
      </p:pic>
      <p:sp>
        <p:nvSpPr>
          <p:cNvPr id="5" name="central question"/>
          <p:cNvSpPr txBox="1"/>
          <p:nvPr/>
        </p:nvSpPr>
        <p:spPr>
          <a:xfrm>
            <a:off x="502920" y="1938528"/>
            <a:ext cx="8138160" cy="365760"/>
          </a:xfrm>
          <a:prstGeom prst="rect">
            <a:avLst/>
          </a:prstGeom>
          <a:noFill/>
          <a:ln/>
        </p:spPr>
        <p:txBody>
          <a:bodyPr wrap="square" lIns="0" tIns="0" rIns="0" bIns="0" rtlCol="0" anchor="ctr"/>
          <a:lstStyle/>
          <a:p>
            <a:pPr indent="0" marL="0">
              <a:buNone/>
            </a:pPr>
            <a:r>
              <a:rPr lang="en-US" sz="1300" b="1" dirty="0">
                <a:solidFill>
                  <a:srgbClr val="FFFFFF"/>
                </a:solidFill>
                <a:latin typeface="Prompt" pitchFamily="34" charset="0"/>
                <a:ea typeface="Prompt" pitchFamily="34" charset="-122"/>
                <a:cs typeface="Prompt" pitchFamily="34" charset="-120"/>
              </a:rPr>
              <a:t>AI ส่งผลต่อผลิตภาพ คุณภาพงาน และผลการดำเนินธุรกิจอย่างไร?</a:t>
            </a:r>
            <a:endParaRPr lang="en-US" sz="1300" dirty="0"/>
          </a:p>
        </p:txBody>
      </p:sp>
      <p:sp>
        <p:nvSpPr>
          <p:cNvPr id="6" name="article card 1"/>
          <p:cNvSpPr/>
          <p:nvPr/>
        </p:nvSpPr>
        <p:spPr>
          <a:xfrm>
            <a:off x="502920" y="2432304"/>
            <a:ext cx="3931920" cy="1261872"/>
          </a:xfrm>
          <a:prstGeom prst="roundRect">
            <a:avLst>
              <a:gd name="adj" fmla="val 8696"/>
            </a:avLst>
          </a:prstGeom>
          <a:solidFill>
            <a:srgbClr val="2A3D63"/>
          </a:solidFill>
          <a:ln w="12700">
            <a:solidFill>
              <a:srgbClr val="2A3D63"/>
            </a:solidFill>
            <a:prstDash val="solid"/>
          </a:ln>
        </p:spPr>
      </p:sp>
      <p:sp>
        <p:nvSpPr>
          <p:cNvPr id="7" name="article label"/>
          <p:cNvSpPr txBox="1"/>
          <p:nvPr/>
        </p:nvSpPr>
        <p:spPr>
          <a:xfrm>
            <a:off x="704088" y="2542032"/>
            <a:ext cx="3529584" cy="201168"/>
          </a:xfrm>
          <a:prstGeom prst="rect">
            <a:avLst/>
          </a:prstGeom>
          <a:noFill/>
          <a:ln/>
        </p:spPr>
        <p:txBody>
          <a:bodyPr wrap="square" lIns="0" tIns="0" rIns="0" bIns="0" rtlCol="0" anchor="ctr"/>
          <a:lstStyle/>
          <a:p>
            <a:pPr indent="0" marL="0">
              <a:buNone/>
            </a:pPr>
            <a:r>
              <a:rPr lang="en-US" sz="950" b="1" spc="150" kern="0" dirty="0">
                <a:solidFill>
                  <a:srgbClr val="BFE6E0"/>
                </a:solidFill>
                <a:latin typeface="Prompt" pitchFamily="34" charset="0"/>
                <a:ea typeface="Prompt" pitchFamily="34" charset="-122"/>
                <a:cs typeface="Prompt" pitchFamily="34" charset="-120"/>
              </a:rPr>
              <a:t>บทความที่ 2</a:t>
            </a:r>
            <a:endParaRPr lang="en-US" sz="950" dirty="0"/>
          </a:p>
        </p:txBody>
      </p:sp>
      <p:sp>
        <p:nvSpPr>
          <p:cNvPr id="8" name="article title"/>
          <p:cNvSpPr txBox="1"/>
          <p:nvPr/>
        </p:nvSpPr>
        <p:spPr>
          <a:xfrm>
            <a:off x="704088" y="2761488"/>
            <a:ext cx="3529584" cy="603504"/>
          </a:xfrm>
          <a:prstGeom prst="rect">
            <a:avLst/>
          </a:prstGeom>
          <a:noFill/>
          <a:ln/>
        </p:spPr>
        <p:txBody>
          <a:bodyPr wrap="square" lIns="0" tIns="0" rIns="0" bIns="0" rtlCol="0" anchor="t"/>
          <a:lstStyle/>
          <a:p>
            <a:pPr indent="0" marL="0">
              <a:buNone/>
            </a:pPr>
            <a:r>
              <a:rPr lang="en-US" sz="1050" b="1" dirty="0">
                <a:solidFill>
                  <a:srgbClr val="FFFFFF"/>
                </a:solidFill>
                <a:latin typeface="Prompt" pitchFamily="34" charset="0"/>
                <a:ea typeface="Prompt" pitchFamily="34" charset="-122"/>
                <a:cs typeface="Prompt" pitchFamily="34" charset="-120"/>
              </a:rPr>
              <a:t>Navigating the Jagged Technological Frontier: Field Experimental Evidence of the Effects of AI on Knowledge Worker Productivity and Quality</a:t>
            </a:r>
            <a:endParaRPr lang="en-US" sz="1050" dirty="0"/>
          </a:p>
        </p:txBody>
      </p:sp>
      <p:sp>
        <p:nvSpPr>
          <p:cNvPr id="9" name="article meta"/>
          <p:cNvSpPr txBox="1"/>
          <p:nvPr/>
        </p:nvSpPr>
        <p:spPr>
          <a:xfrm>
            <a:off x="704088" y="3364992"/>
            <a:ext cx="3529584" cy="292608"/>
          </a:xfrm>
          <a:prstGeom prst="rect">
            <a:avLst/>
          </a:prstGeom>
          <a:noFill/>
          <a:ln/>
        </p:spPr>
        <p:txBody>
          <a:bodyPr wrap="square" lIns="0" tIns="0" rIns="0" bIns="0" rtlCol="0" anchor="t"/>
          <a:lstStyle/>
          <a:p>
            <a:pPr indent="0" marL="0">
              <a:buNone/>
            </a:pPr>
            <a:r>
              <a:rPr lang="en-US" sz="850" dirty="0">
                <a:solidFill>
                  <a:srgbClr val="BFE6E0"/>
                </a:solidFill>
                <a:latin typeface="Prompt" pitchFamily="34" charset="0"/>
                <a:ea typeface="Prompt" pitchFamily="34" charset="-122"/>
                <a:cs typeface="Prompt" pitchFamily="34" charset="-120"/>
              </a:rPr>
              <a:t>Fabrizio Dell'Acqua et al.  ·  Harvard Business School Working Paper 24-013, 2023</a:t>
            </a:r>
            <a:endParaRPr lang="en-US" sz="850" dirty="0"/>
          </a:p>
        </p:txBody>
      </p:sp>
      <p:sp>
        <p:nvSpPr>
          <p:cNvPr id="10" name="article card 2"/>
          <p:cNvSpPr/>
          <p:nvPr/>
        </p:nvSpPr>
        <p:spPr>
          <a:xfrm>
            <a:off x="4709160" y="2432304"/>
            <a:ext cx="3931920" cy="1261872"/>
          </a:xfrm>
          <a:prstGeom prst="roundRect">
            <a:avLst>
              <a:gd name="adj" fmla="val 8696"/>
            </a:avLst>
          </a:prstGeom>
          <a:solidFill>
            <a:srgbClr val="2A3D63"/>
          </a:solidFill>
          <a:ln w="12700">
            <a:solidFill>
              <a:srgbClr val="2A3D63"/>
            </a:solidFill>
            <a:prstDash val="solid"/>
          </a:ln>
        </p:spPr>
      </p:sp>
      <p:sp>
        <p:nvSpPr>
          <p:cNvPr id="11" name="article label"/>
          <p:cNvSpPr txBox="1"/>
          <p:nvPr/>
        </p:nvSpPr>
        <p:spPr>
          <a:xfrm>
            <a:off x="4910328" y="2542032"/>
            <a:ext cx="3529584" cy="201168"/>
          </a:xfrm>
          <a:prstGeom prst="rect">
            <a:avLst/>
          </a:prstGeom>
          <a:noFill/>
          <a:ln/>
        </p:spPr>
        <p:txBody>
          <a:bodyPr wrap="square" lIns="0" tIns="0" rIns="0" bIns="0" rtlCol="0" anchor="ctr"/>
          <a:lstStyle/>
          <a:p>
            <a:pPr indent="0" marL="0">
              <a:buNone/>
            </a:pPr>
            <a:r>
              <a:rPr lang="en-US" sz="950" b="1" spc="150" kern="0" dirty="0">
                <a:solidFill>
                  <a:srgbClr val="BFE6E0"/>
                </a:solidFill>
                <a:latin typeface="Prompt" pitchFamily="34" charset="0"/>
                <a:ea typeface="Prompt" pitchFamily="34" charset="-122"/>
                <a:cs typeface="Prompt" pitchFamily="34" charset="-120"/>
              </a:rPr>
              <a:t>บทความที่ 5</a:t>
            </a:r>
            <a:endParaRPr lang="en-US" sz="950" dirty="0"/>
          </a:p>
        </p:txBody>
      </p:sp>
      <p:sp>
        <p:nvSpPr>
          <p:cNvPr id="12" name="article title"/>
          <p:cNvSpPr txBox="1"/>
          <p:nvPr/>
        </p:nvSpPr>
        <p:spPr>
          <a:xfrm>
            <a:off x="4910328" y="2761488"/>
            <a:ext cx="3529584" cy="603504"/>
          </a:xfrm>
          <a:prstGeom prst="rect">
            <a:avLst/>
          </a:prstGeom>
          <a:noFill/>
          <a:ln/>
        </p:spPr>
        <p:txBody>
          <a:bodyPr wrap="square" lIns="0" tIns="0" rIns="0" bIns="0" rtlCol="0" anchor="t"/>
          <a:lstStyle/>
          <a:p>
            <a:pPr indent="0" marL="0">
              <a:buNone/>
            </a:pPr>
            <a:r>
              <a:rPr lang="en-US" sz="1050" b="1" dirty="0">
                <a:solidFill>
                  <a:srgbClr val="FFFFFF"/>
                </a:solidFill>
                <a:latin typeface="Prompt" pitchFamily="34" charset="0"/>
                <a:ea typeface="Prompt" pitchFamily="34" charset="-122"/>
                <a:cs typeface="Prompt" pitchFamily="34" charset="-120"/>
              </a:rPr>
              <a:t>The Uneven Impact of Generative Artificial Intelligence on Entrepreneurial Performance: Evidence from a Field Experiment in Kenya</a:t>
            </a:r>
            <a:endParaRPr lang="en-US" sz="1050" dirty="0"/>
          </a:p>
        </p:txBody>
      </p:sp>
      <p:sp>
        <p:nvSpPr>
          <p:cNvPr id="13" name="article meta"/>
          <p:cNvSpPr txBox="1"/>
          <p:nvPr/>
        </p:nvSpPr>
        <p:spPr>
          <a:xfrm>
            <a:off x="4910328" y="3364992"/>
            <a:ext cx="3529584" cy="292608"/>
          </a:xfrm>
          <a:prstGeom prst="rect">
            <a:avLst/>
          </a:prstGeom>
          <a:noFill/>
          <a:ln/>
        </p:spPr>
        <p:txBody>
          <a:bodyPr wrap="square" lIns="0" tIns="0" rIns="0" bIns="0" rtlCol="0" anchor="t"/>
          <a:lstStyle/>
          <a:p>
            <a:pPr indent="0" marL="0">
              <a:buNone/>
            </a:pPr>
            <a:r>
              <a:rPr lang="en-US" sz="850" dirty="0">
                <a:solidFill>
                  <a:srgbClr val="BFE6E0"/>
                </a:solidFill>
                <a:latin typeface="Prompt" pitchFamily="34" charset="0"/>
                <a:ea typeface="Prompt" pitchFamily="34" charset="-122"/>
                <a:cs typeface="Prompt" pitchFamily="34" charset="-120"/>
              </a:rPr>
              <a:t>Nicholas G. Otis et al.  ·  Management Science, Vol. 72, No. 7, 2026  ·  DOI 10.1287/mnsc.2024.06909</a:t>
            </a:r>
            <a:endParaRPr lang="en-US" sz="850" dirty="0"/>
          </a:p>
        </p:txBody>
      </p:sp>
      <p:sp>
        <p:nvSpPr>
          <p:cNvPr id="14" name="roadmap head"/>
          <p:cNvSpPr txBox="1"/>
          <p:nvPr/>
        </p:nvSpPr>
        <p:spPr>
          <a:xfrm>
            <a:off x="502920" y="3840480"/>
            <a:ext cx="1051560" cy="256032"/>
          </a:xfrm>
          <a:prstGeom prst="rect">
            <a:avLst/>
          </a:prstGeom>
          <a:noFill/>
          <a:ln/>
        </p:spPr>
        <p:txBody>
          <a:bodyPr wrap="square" lIns="0" tIns="0" rIns="0" bIns="0" rtlCol="0" anchor="ctr"/>
          <a:lstStyle/>
          <a:p>
            <a:pPr indent="0" marL="0">
              <a:buNone/>
            </a:pPr>
            <a:r>
              <a:rPr lang="en-US" sz="950" b="1" dirty="0">
                <a:solidFill>
                  <a:srgbClr val="BFE6E0"/>
                </a:solidFill>
                <a:latin typeface="Prompt" pitchFamily="34" charset="0"/>
                <a:ea typeface="Prompt" pitchFamily="34" charset="-122"/>
                <a:cs typeface="Prompt" pitchFamily="34" charset="-120"/>
              </a:rPr>
              <a:t>ลำดับการนำเสนอ</a:t>
            </a:r>
            <a:endParaRPr lang="en-US" sz="950" dirty="0"/>
          </a:p>
        </p:txBody>
      </p:sp>
      <p:sp>
        <p:nvSpPr>
          <p:cNvPr id="15" name="roadmap chip 1"/>
          <p:cNvSpPr/>
          <p:nvPr/>
        </p:nvSpPr>
        <p:spPr>
          <a:xfrm>
            <a:off x="1645920" y="3840480"/>
            <a:ext cx="1325880" cy="256032"/>
          </a:xfrm>
          <a:prstGeom prst="roundRect">
            <a:avLst>
              <a:gd name="adj" fmla="val 50000"/>
            </a:avLst>
          </a:prstGeom>
          <a:solidFill>
            <a:srgbClr val="2E8B86"/>
          </a:solidFill>
          <a:ln w="12700">
            <a:solidFill>
              <a:srgbClr val="2E8B86"/>
            </a:solidFill>
            <a:prstDash val="solid"/>
          </a:ln>
        </p:spPr>
      </p:sp>
      <p:sp>
        <p:nvSpPr>
          <p:cNvPr id="16" name="roadmap chip text"/>
          <p:cNvSpPr txBox="1"/>
          <p:nvPr/>
        </p:nvSpPr>
        <p:spPr>
          <a:xfrm>
            <a:off x="164592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rompt" pitchFamily="34" charset="0"/>
                <a:ea typeface="Prompt" pitchFamily="34" charset="-122"/>
                <a:cs typeface="Prompt" pitchFamily="34" charset="-120"/>
              </a:rPr>
              <a:t>1  บทนำ</a:t>
            </a:r>
            <a:endParaRPr lang="en-US" sz="750" dirty="0"/>
          </a:p>
        </p:txBody>
      </p:sp>
      <p:sp>
        <p:nvSpPr>
          <p:cNvPr id="17" name="roadmap chip 2"/>
          <p:cNvSpPr/>
          <p:nvPr/>
        </p:nvSpPr>
        <p:spPr>
          <a:xfrm>
            <a:off x="3063240" y="3840480"/>
            <a:ext cx="1325880" cy="256032"/>
          </a:xfrm>
          <a:prstGeom prst="roundRect">
            <a:avLst>
              <a:gd name="adj" fmla="val 50000"/>
            </a:avLst>
          </a:prstGeom>
          <a:solidFill>
            <a:srgbClr val="2A3D63"/>
          </a:solidFill>
          <a:ln w="12700">
            <a:solidFill>
              <a:srgbClr val="2A3D63"/>
            </a:solidFill>
            <a:prstDash val="solid"/>
          </a:ln>
        </p:spPr>
      </p:sp>
      <p:sp>
        <p:nvSpPr>
          <p:cNvPr id="18" name="roadmap chip text"/>
          <p:cNvSpPr txBox="1"/>
          <p:nvPr/>
        </p:nvSpPr>
        <p:spPr>
          <a:xfrm>
            <a:off x="306324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rompt" pitchFamily="34" charset="0"/>
                <a:ea typeface="Prompt" pitchFamily="34" charset="-122"/>
                <a:cs typeface="Prompt" pitchFamily="34" charset="-120"/>
              </a:rPr>
              <a:t>2  บทความ 2: วิธีวิจัย</a:t>
            </a:r>
            <a:endParaRPr lang="en-US" sz="750" dirty="0"/>
          </a:p>
        </p:txBody>
      </p:sp>
      <p:sp>
        <p:nvSpPr>
          <p:cNvPr id="19" name="roadmap chip 3"/>
          <p:cNvSpPr/>
          <p:nvPr/>
        </p:nvSpPr>
        <p:spPr>
          <a:xfrm>
            <a:off x="4480560" y="3840480"/>
            <a:ext cx="1325880" cy="256032"/>
          </a:xfrm>
          <a:prstGeom prst="roundRect">
            <a:avLst>
              <a:gd name="adj" fmla="val 50000"/>
            </a:avLst>
          </a:prstGeom>
          <a:solidFill>
            <a:srgbClr val="2A3D63"/>
          </a:solidFill>
          <a:ln w="12700">
            <a:solidFill>
              <a:srgbClr val="2A3D63"/>
            </a:solidFill>
            <a:prstDash val="solid"/>
          </a:ln>
        </p:spPr>
      </p:sp>
      <p:sp>
        <p:nvSpPr>
          <p:cNvPr id="20" name="roadmap chip text"/>
          <p:cNvSpPr txBox="1"/>
          <p:nvPr/>
        </p:nvSpPr>
        <p:spPr>
          <a:xfrm>
            <a:off x="448056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rompt" pitchFamily="34" charset="0"/>
                <a:ea typeface="Prompt" pitchFamily="34" charset="-122"/>
                <a:cs typeface="Prompt" pitchFamily="34" charset="-120"/>
              </a:rPr>
              <a:t>3  บทความ 2: ผลการศึกษา</a:t>
            </a:r>
            <a:endParaRPr lang="en-US" sz="750" dirty="0"/>
          </a:p>
        </p:txBody>
      </p:sp>
      <p:sp>
        <p:nvSpPr>
          <p:cNvPr id="21" name="roadmap chip 4"/>
          <p:cNvSpPr/>
          <p:nvPr/>
        </p:nvSpPr>
        <p:spPr>
          <a:xfrm>
            <a:off x="5897880" y="3840480"/>
            <a:ext cx="1325880" cy="256032"/>
          </a:xfrm>
          <a:prstGeom prst="roundRect">
            <a:avLst>
              <a:gd name="adj" fmla="val 50000"/>
            </a:avLst>
          </a:prstGeom>
          <a:solidFill>
            <a:srgbClr val="2A3D63"/>
          </a:solidFill>
          <a:ln w="12700">
            <a:solidFill>
              <a:srgbClr val="2A3D63"/>
            </a:solidFill>
            <a:prstDash val="solid"/>
          </a:ln>
        </p:spPr>
      </p:sp>
      <p:sp>
        <p:nvSpPr>
          <p:cNvPr id="22" name="roadmap chip text"/>
          <p:cNvSpPr txBox="1"/>
          <p:nvPr/>
        </p:nvSpPr>
        <p:spPr>
          <a:xfrm>
            <a:off x="589788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rompt" pitchFamily="34" charset="0"/>
                <a:ea typeface="Prompt" pitchFamily="34" charset="-122"/>
                <a:cs typeface="Prompt" pitchFamily="34" charset="-120"/>
              </a:rPr>
              <a:t>4  บทความ 5: ผู้ประกอบการ</a:t>
            </a:r>
            <a:endParaRPr lang="en-US" sz="750" dirty="0"/>
          </a:p>
        </p:txBody>
      </p:sp>
      <p:sp>
        <p:nvSpPr>
          <p:cNvPr id="23" name="roadmap chip 5"/>
          <p:cNvSpPr/>
          <p:nvPr/>
        </p:nvSpPr>
        <p:spPr>
          <a:xfrm>
            <a:off x="7315200" y="3840480"/>
            <a:ext cx="1325880" cy="256032"/>
          </a:xfrm>
          <a:prstGeom prst="roundRect">
            <a:avLst>
              <a:gd name="adj" fmla="val 50000"/>
            </a:avLst>
          </a:prstGeom>
          <a:solidFill>
            <a:srgbClr val="2A3D63"/>
          </a:solidFill>
          <a:ln w="12700">
            <a:solidFill>
              <a:srgbClr val="2A3D63"/>
            </a:solidFill>
            <a:prstDash val="solid"/>
          </a:ln>
        </p:spPr>
      </p:sp>
      <p:sp>
        <p:nvSpPr>
          <p:cNvPr id="24" name="roadmap chip text"/>
          <p:cNvSpPr txBox="1"/>
          <p:nvPr/>
        </p:nvSpPr>
        <p:spPr>
          <a:xfrm>
            <a:off x="731520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rompt" pitchFamily="34" charset="0"/>
                <a:ea typeface="Prompt" pitchFamily="34" charset="-122"/>
                <a:cs typeface="Prompt" pitchFamily="34" charset="-120"/>
              </a:rPr>
              <a:t>5  อภิปรายผล</a:t>
            </a:r>
            <a:endParaRPr lang="en-US" sz="750" dirty="0"/>
          </a:p>
        </p:txBody>
      </p:sp>
      <p:sp>
        <p:nvSpPr>
          <p:cNvPr id="25" name="presenter"/>
          <p:cNvSpPr txBox="1"/>
          <p:nvPr/>
        </p:nvSpPr>
        <p:spPr>
          <a:xfrm>
            <a:off x="502920" y="4261104"/>
            <a:ext cx="8138160" cy="457200"/>
          </a:xfrm>
          <a:prstGeom prst="rect">
            <a:avLst/>
          </a:prstGeom>
          <a:noFill/>
          <a:ln/>
        </p:spPr>
        <p:txBody>
          <a:bodyPr wrap="square" lIns="0" tIns="0" rIns="0" bIns="0" rtlCol="0" anchor="t"/>
          <a:lstStyle/>
          <a:p>
            <a:pPr indent="0" marL="0">
              <a:buNone/>
            </a:pPr>
            <a:r>
              <a:rPr lang="en-US" sz="1200" b="1" dirty="0">
                <a:solidFill>
                  <a:srgbClr val="FFFFFF"/>
                </a:solidFill>
                <a:latin typeface="Prompt" pitchFamily="34" charset="0"/>
                <a:ea typeface="Prompt" pitchFamily="34" charset="-122"/>
                <a:cs typeface="Prompt" pitchFamily="34" charset="-120"/>
              </a:rPr>
              <a:t>Chayanun Sungsa-ard</a:t>
            </a:r>
            <a:endParaRPr lang="en-US" sz="1200" dirty="0"/>
          </a:p>
          <a:p>
            <a:pPr indent="0" marL="0">
              <a:buNone/>
            </a:pPr>
            <a:r>
              <a:rPr lang="en-US" sz="1000" dirty="0">
                <a:solidFill>
                  <a:srgbClr val="BFE6E0"/>
                </a:solidFill>
                <a:latin typeface="Prompt" pitchFamily="34" charset="0"/>
                <a:ea typeface="Prompt" pitchFamily="34" charset="-122"/>
                <a:cs typeface="Prompt" pitchFamily="34" charset="-120"/>
              </a:rPr>
              <a:t>รหัสนักศึกษา 691401708  ·  MBA  ·  ENG 501 English for Master's Degree</a:t>
            </a:r>
            <a:endParaRPr lang="en-US" sz="1200" dirty="0"/>
          </a:p>
        </p:txBody>
      </p:sp>
      <p:sp>
        <p:nvSpPr>
          <p:cNvPr id="26"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3ADBB"/>
                </a:solidFill>
                <a:latin typeface="Prompt"/>
                <a:ea typeface="Prompt"/>
                <a:cs typeface="Prompt"/>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23" presetClass="entr" presetSubtype="16"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Scale>
                                      <p:cBhvr>
                                        <p:cTn id="5" dur="500" fill="hold"/>
                                        <p:tgtEl>
                                          <p:spTgt spid="4"/>
                                        </p:tgtEl>
                                      </p:cBhvr>
                                      <p:from x="0" y="0"/>
                                      <p:to x="100000" y="100000"/>
                                    </p:animScale>
                                    <p:animEffect transition="in" filter="fade">
                                      <p:cBhvr>
                                        <p:cTn id="6"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childTnLst>
                          </p:cTn>
                        </p:par>
                      </p:childTnLst>
                    </p:cTn>
                  </p:par>
                  <p:par>
                    <p:cTn id="46" fill="hold">
                      <p:stCondLst>
                        <p:cond delay="indefinite"/>
                      </p:stCondLst>
                      <p:childTnLst>
                        <p:par>
                          <p:cTn id="47" fill="hold">
                            <p:stCondLst>
                              <p:cond delay="0"/>
                            </p:stCondLst>
                            <p:childTnLst>
                              <p:par>
                                <p:cTn id="14" presetID="42" presetClass="entr" presetSubtype="0"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700"/>
                                        <p:tgtEl>
                                          <p:spTgt spid="6"/>
                                        </p:tgtEl>
                                      </p:cBhvr>
                                    </p:animEffect>
                                    <p:anim calcmode="lin" valueType="num">
                                      <p:cBhvr additive="base">
                                        <p:cTn id="17" dur="700" fill="hold"/>
                                        <p:tgtEl>
                                          <p:spTgt spid="6"/>
                                        </p:tgtEl>
                                        <p:attrNameLst>
                                          <p:attrName>ppt_y</p:attrName>
                                        </p:attrNameLst>
                                      </p:cBhvr>
                                      <p:tavLst>
                                        <p:tav tm="0">
                                          <p:val>
                                            <p:strVal val="#ppt_y+.08"/>
                                          </p:val>
                                        </p:tav>
                                        <p:tav tm="100000">
                                          <p:val>
                                            <p:strVal val="#ppt_y"/>
                                          </p:val>
                                        </p:tav>
                                      </p:tavLst>
                                    </p:anim>
                                  </p:childTnLst>
                                </p:cTn>
                              </p:par>
                              <p:par>
                                <p:cTn id="18" presetID="42" presetClass="entr" presetSubtype="0" fill="hold" grpId="0" nodeType="with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700"/>
                                        <p:tgtEl>
                                          <p:spTgt spid="10"/>
                                        </p:tgtEl>
                                      </p:cBhvr>
                                    </p:animEffect>
                                    <p:anim calcmode="lin" valueType="num">
                                      <p:cBhvr additive="base">
                                        <p:cTn id="21" dur="700" fill="hold"/>
                                        <p:tgtEl>
                                          <p:spTgt spid="10"/>
                                        </p:tgtEl>
                                        <p:attrNameLst>
                                          <p:attrName>ppt_y</p:attrName>
                                        </p:attrNameLst>
                                      </p:cBhvr>
                                      <p:tavLst>
                                        <p:tav tm="0">
                                          <p:val>
                                            <p:strVal val="#ppt_y+.0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700"/>
                                        <p:tgtEl>
                                          <p:spTgt spid="7"/>
                                        </p:tgtEl>
                                      </p:cBhvr>
                                    </p:animEffect>
                                    <p:anim calcmode="lin" valueType="num">
                                      <p:cBhvr additive="base">
                                        <p:cTn id="25" dur="700" fill="hold"/>
                                        <p:tgtEl>
                                          <p:spTgt spid="7"/>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8"/>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700"/>
                                        <p:tgtEl>
                                          <p:spTgt spid="8"/>
                                        </p:tgtEl>
                                      </p:cBhvr>
                                    </p:animEffect>
                                    <p:anim calcmode="lin" valueType="num">
                                      <p:cBhvr additive="base">
                                        <p:cTn id="33" dur="700" fill="hold"/>
                                        <p:tgtEl>
                                          <p:spTgt spid="8"/>
                                        </p:tgtEl>
                                        <p:attrNameLst>
                                          <p:attrName>ppt_y</p:attrName>
                                        </p:attrNameLst>
                                      </p:cBhvr>
                                      <p:tavLst>
                                        <p:tav tm="0">
                                          <p:val>
                                            <p:strVal val="#ppt_y+.0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700"/>
                                        <p:tgtEl>
                                          <p:spTgt spid="9"/>
                                        </p:tgtEl>
                                      </p:cBhvr>
                                    </p:animEffect>
                                    <p:anim calcmode="lin" valueType="num">
                                      <p:cBhvr additive="base">
                                        <p:cTn id="41" dur="700" fill="hold"/>
                                        <p:tgtEl>
                                          <p:spTgt spid="9"/>
                                        </p:tgtEl>
                                        <p:attrNameLst>
                                          <p:attrName>ppt_y</p:attrName>
                                        </p:attrNameLst>
                                      </p:cBhvr>
                                      <p:tavLst>
                                        <p:tav tm="0">
                                          <p:val>
                                            <p:strVal val="#ppt_y+.08"/>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8"/>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500"/>
                                        <p:tgtEl>
                                          <p:spTgt spid="1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500"/>
                                        <p:tgtEl>
                                          <p:spTgt spid="1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500"/>
                                        <p:tgtEl>
                                          <p:spTgt spid="1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500"/>
                                        <p:tgtEl>
                                          <p:spTgt spid="18"/>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500"/>
                                        <p:tgtEl>
                                          <p:spTgt spid="19"/>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500"/>
                                        <p:tgtEl>
                                          <p:spTgt spid="20"/>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500"/>
                                        <p:tgtEl>
                                          <p:spTgt spid="21"/>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500"/>
                                        <p:tgtEl>
                                          <p:spTgt spid="22"/>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500"/>
                                        <p:tgtEl>
                                          <p:spTgt spid="23"/>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0" grpId="0" animBg="1"/>
      <p:bldP spid="7" grpId="0" animBg="1"/>
      <p:bldP spid="11" grpId="0" animBg="1"/>
      <p:bldP spid="8" grpId="0" animBg="1"/>
      <p:bldP spid="12" grpId="0" animBg="1"/>
      <p:bldP spid="9"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rompt" pitchFamily="34" charset="0"/>
                <a:ea typeface="Prompt" pitchFamily="34" charset="-122"/>
                <a:cs typeface="Prompt" pitchFamily="34" charset="-120"/>
              </a:rPr>
              <a:t>บทความที่ 2  ·  วัตถุประสงค์และวิธีวิจัย</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rompt" pitchFamily="34" charset="0"/>
                <a:ea typeface="Prompt" pitchFamily="34" charset="-122"/>
                <a:cs typeface="Prompt" pitchFamily="34" charset="-120"/>
              </a:rPr>
              <a:t>การนำทางในพรมแดนเทคโนโลยีที่ไม่สม่ำเสมอ</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2E8B86"/>
          </a:solidFill>
          <a:ln w="12700">
            <a:solidFill>
              <a:srgbClr val="2E8B86"/>
            </a:solidFill>
            <a:prstDash val="solid"/>
          </a:ln>
        </p:spPr>
      </p:sp>
      <p:sp>
        <p:nvSpPr>
          <p:cNvPr id="6" name="progress dot 3"/>
          <p:cNvSpPr/>
          <p:nvPr/>
        </p:nvSpPr>
        <p:spPr>
          <a:xfrm>
            <a:off x="8174736" y="342900"/>
            <a:ext cx="100584" cy="100584"/>
          </a:xfrm>
          <a:prstGeom prst="ellipse">
            <a:avLst/>
          </a:prstGeom>
          <a:solidFill>
            <a:srgbClr val="E3E8EE"/>
          </a:solidFill>
          <a:ln w="12700">
            <a:solidFill>
              <a:srgbClr val="E3E8EE"/>
            </a:solidFill>
            <a:prstDash val="solid"/>
          </a:ln>
        </p:spPr>
      </p:sp>
      <p:sp>
        <p:nvSpPr>
          <p:cNvPr id="7" name="progress dot 4"/>
          <p:cNvSpPr/>
          <p:nvPr/>
        </p:nvSpPr>
        <p:spPr>
          <a:xfrm>
            <a:off x="8357616" y="342900"/>
            <a:ext cx="100584" cy="100584"/>
          </a:xfrm>
          <a:prstGeom prst="ellipse">
            <a:avLst/>
          </a:prstGeom>
          <a:solidFill>
            <a:srgbClr val="E3E8EE"/>
          </a:solidFill>
          <a:ln w="12700">
            <a:solidFill>
              <a:srgbClr val="E3E8EE"/>
            </a:solidFill>
            <a:prstDash val="solid"/>
          </a:ln>
        </p:spPr>
      </p:sp>
      <p:sp>
        <p:nvSpPr>
          <p:cNvPr id="8" name="progress dot 5"/>
          <p:cNvSpPr/>
          <p:nvPr/>
        </p:nvSpPr>
        <p:spPr>
          <a:xfrm>
            <a:off x="8540496" y="342900"/>
            <a:ext cx="100584" cy="100584"/>
          </a:xfrm>
          <a:prstGeom prst="ellipse">
            <a:avLst/>
          </a:prstGeom>
          <a:solidFill>
            <a:srgbClr val="E3E8EE"/>
          </a:solidFill>
          <a:ln w="12700">
            <a:solidFill>
              <a:srgbClr val="E3E8EE"/>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900" dirty="0">
                <a:solidFill>
                  <a:srgbClr val="A3ADBB"/>
                </a:solidFill>
                <a:latin typeface="Prompt" pitchFamily="34" charset="0"/>
                <a:ea typeface="Prompt" pitchFamily="34" charset="-122"/>
                <a:cs typeface="Prompt" pitchFamily="34" charset="-120"/>
              </a:rPr>
              <a:t>2 / 5</a:t>
            </a:r>
            <a:endParaRPr lang="en-US" sz="900" dirty="0"/>
          </a:p>
        </p:txBody>
      </p:sp>
      <p:sp>
        <p:nvSpPr>
          <p:cNvPr id="10" name="icon circle"/>
          <p:cNvSpPr/>
          <p:nvPr/>
        </p:nvSpPr>
        <p:spPr>
          <a:xfrm>
            <a:off x="502920" y="1481328"/>
            <a:ext cx="365760" cy="365760"/>
          </a:xfrm>
          <a:prstGeom prst="ellipse">
            <a:avLst/>
          </a:prstGeom>
          <a:solidFill>
            <a:srgbClr val="F3F5F8"/>
          </a:solidFill>
          <a:ln w="12700">
            <a:solidFill>
              <a:srgbClr val="F3F5F8"/>
            </a:solidFill>
            <a:prstDash val="solid"/>
          </a:ln>
        </p:spPr>
      </p:sp>
      <p:pic>
        <p:nvPicPr>
          <p:cNvPr id="11" name="icon FiBriefcase" descr="preencoded.png">    </p:cNvPr>
          <p:cNvPicPr>
            <a:picLocks noChangeAspect="1"/>
          </p:cNvPicPr>
          <p:nvPr/>
        </p:nvPicPr>
        <p:blipFill>
          <a:blip r:embed="rId1"/>
          <a:stretch>
            <a:fillRect/>
          </a:stretch>
        </p:blipFill>
        <p:spPr>
          <a:xfrm>
            <a:off x="585216" y="1563624"/>
            <a:ext cx="201168" cy="201168"/>
          </a:xfrm>
          <a:prstGeom prst="rect">
            <a:avLst/>
          </a:prstGeom>
        </p:spPr>
      </p:pic>
      <p:sp>
        <p:nvSpPr>
          <p:cNvPr id="12" name="fact องค์กรที่ร่วมวิจัย"/>
          <p:cNvSpPr txBox="1"/>
          <p:nvPr/>
        </p:nvSpPr>
        <p:spPr>
          <a:xfrm>
            <a:off x="1005840" y="1435608"/>
            <a:ext cx="3429000" cy="539496"/>
          </a:xfrm>
          <a:prstGeom prst="rect">
            <a:avLst/>
          </a:prstGeom>
          <a:noFill/>
          <a:ln/>
        </p:spPr>
        <p:txBody>
          <a:bodyPr wrap="square" lIns="0" tIns="0" rIns="0" bIns="0" rtlCol="0" anchor="t"/>
          <a:lstStyle/>
          <a:p>
            <a:pPr indent="0" marL="0">
              <a:buNone/>
            </a:pPr>
            <a:r>
              <a:rPr lang="en-US" sz="1200" b="1" dirty="0">
                <a:solidFill>
                  <a:schemeClr val="tx1"/>
                </a:solidFill>
                <a:latin typeface="Prompt" pitchFamily="34" charset="0"/>
                <a:ea typeface="Prompt" pitchFamily="34" charset="-122"/>
                <a:cs typeface="Prompt" pitchFamily="34" charset="-120"/>
              </a:rPr>
              <a:t>องค์กรที่ร่วมวิจัย</a:t>
            </a:r>
            <a:endParaRPr lang="en-US" sz="1200" dirty="0"/>
          </a:p>
          <a:p>
            <a:pPr indent="0" marL="0">
              <a:buNone/>
            </a:pPr>
            <a:r>
              <a:rPr lang="en-US" sz="1100" dirty="0">
                <a:solidFill>
                  <a:schemeClr val="tx2"/>
                </a:solidFill>
                <a:latin typeface="Prompt" pitchFamily="34" charset="0"/>
                <a:ea typeface="Prompt" pitchFamily="34" charset="-122"/>
                <a:cs typeface="Prompt" pitchFamily="34" charset="-120"/>
              </a:rPr>
              <a:t>การทดลองภาคสนามร่วมกับ Boston Consulting Group (BCG)</a:t>
            </a:r>
            <a:endParaRPr lang="en-US" sz="1200" dirty="0"/>
          </a:p>
        </p:txBody>
      </p:sp>
      <p:sp>
        <p:nvSpPr>
          <p:cNvPr id="13" name="icon circle"/>
          <p:cNvSpPr/>
          <p:nvPr/>
        </p:nvSpPr>
        <p:spPr>
          <a:xfrm>
            <a:off x="502920" y="2066544"/>
            <a:ext cx="365760" cy="365760"/>
          </a:xfrm>
          <a:prstGeom prst="ellipse">
            <a:avLst/>
          </a:prstGeom>
          <a:solidFill>
            <a:srgbClr val="F3F5F8"/>
          </a:solidFill>
          <a:ln w="12700">
            <a:solidFill>
              <a:srgbClr val="F3F5F8"/>
            </a:solidFill>
            <a:prstDash val="solid"/>
          </a:ln>
        </p:spPr>
      </p:sp>
      <p:pic>
        <p:nvPicPr>
          <p:cNvPr id="14" name="icon FiUsers" descr="preencoded.png">    </p:cNvPr>
          <p:cNvPicPr>
            <a:picLocks noChangeAspect="1"/>
          </p:cNvPicPr>
          <p:nvPr/>
        </p:nvPicPr>
        <p:blipFill>
          <a:blip r:embed="rId2"/>
          <a:stretch>
            <a:fillRect/>
          </a:stretch>
        </p:blipFill>
        <p:spPr>
          <a:xfrm>
            <a:off x="585216" y="2148840"/>
            <a:ext cx="201168" cy="201168"/>
          </a:xfrm>
          <a:prstGeom prst="rect">
            <a:avLst/>
          </a:prstGeom>
        </p:spPr>
      </p:pic>
      <p:sp>
        <p:nvSpPr>
          <p:cNvPr id="15" name="fact ผู้เข้าร่วม"/>
          <p:cNvSpPr txBox="1"/>
          <p:nvPr/>
        </p:nvSpPr>
        <p:spPr>
          <a:xfrm>
            <a:off x="1005840" y="2020824"/>
            <a:ext cx="3429000" cy="539496"/>
          </a:xfrm>
          <a:prstGeom prst="rect">
            <a:avLst/>
          </a:prstGeom>
          <a:noFill/>
          <a:ln/>
        </p:spPr>
        <p:txBody>
          <a:bodyPr wrap="square" lIns="0" tIns="0" rIns="0" bIns="0" rtlCol="0" anchor="t"/>
          <a:lstStyle/>
          <a:p>
            <a:pPr indent="0" marL="0">
              <a:buNone/>
            </a:pPr>
            <a:r>
              <a:rPr lang="en-US" sz="1200" b="1" dirty="0">
                <a:solidFill>
                  <a:schemeClr val="tx1"/>
                </a:solidFill>
                <a:latin typeface="Prompt" pitchFamily="34" charset="0"/>
                <a:ea typeface="Prompt" pitchFamily="34" charset="-122"/>
                <a:cs typeface="Prompt" pitchFamily="34" charset="-120"/>
              </a:rPr>
              <a:t>ผู้เข้าร่วม</a:t>
            </a:r>
            <a:endParaRPr lang="en-US" sz="1200" dirty="0"/>
          </a:p>
          <a:p>
            <a:pPr indent="0" marL="0">
              <a:buNone/>
            </a:pPr>
            <a:r>
              <a:rPr lang="en-US" sz="1100" dirty="0">
                <a:solidFill>
                  <a:schemeClr val="tx2"/>
                </a:solidFill>
                <a:latin typeface="Prompt" pitchFamily="34" charset="0"/>
                <a:ea typeface="Prompt" pitchFamily="34" charset="-122"/>
                <a:cs typeface="Prompt" pitchFamily="34" charset="-120"/>
              </a:rPr>
              <a:t>ที่ปรึกษา 758 คน</a:t>
            </a:r>
            <a:endParaRPr lang="en-US" sz="1200" dirty="0"/>
          </a:p>
        </p:txBody>
      </p:sp>
      <p:sp>
        <p:nvSpPr>
          <p:cNvPr id="16" name="icon circle"/>
          <p:cNvSpPr/>
          <p:nvPr/>
        </p:nvSpPr>
        <p:spPr>
          <a:xfrm>
            <a:off x="502920" y="2651760"/>
            <a:ext cx="365760" cy="365760"/>
          </a:xfrm>
          <a:prstGeom prst="ellipse">
            <a:avLst/>
          </a:prstGeom>
          <a:solidFill>
            <a:srgbClr val="F3F5F8"/>
          </a:solidFill>
          <a:ln w="12700">
            <a:solidFill>
              <a:srgbClr val="F3F5F8"/>
            </a:solidFill>
            <a:prstDash val="solid"/>
          </a:ln>
        </p:spPr>
      </p:sp>
      <p:pic>
        <p:nvPicPr>
          <p:cNvPr id="17" name="icon FiTarget" descr="preencoded.png">    </p:cNvPr>
          <p:cNvPicPr>
            <a:picLocks noChangeAspect="1"/>
          </p:cNvPicPr>
          <p:nvPr/>
        </p:nvPicPr>
        <p:blipFill>
          <a:blip r:embed="rId3"/>
          <a:stretch>
            <a:fillRect/>
          </a:stretch>
        </p:blipFill>
        <p:spPr>
          <a:xfrm>
            <a:off x="585216" y="2734056"/>
            <a:ext cx="201168" cy="201168"/>
          </a:xfrm>
          <a:prstGeom prst="rect">
            <a:avLst/>
          </a:prstGeom>
        </p:spPr>
      </p:pic>
      <p:sp>
        <p:nvSpPr>
          <p:cNvPr id="18" name="fact ประเด็นที่ศึกษา"/>
          <p:cNvSpPr txBox="1"/>
          <p:nvPr/>
        </p:nvSpPr>
        <p:spPr>
          <a:xfrm>
            <a:off x="1005840" y="2606040"/>
            <a:ext cx="3429000" cy="539496"/>
          </a:xfrm>
          <a:prstGeom prst="rect">
            <a:avLst/>
          </a:prstGeom>
          <a:noFill/>
          <a:ln/>
        </p:spPr>
        <p:txBody>
          <a:bodyPr wrap="square" lIns="0" tIns="0" rIns="0" bIns="0" rtlCol="0" anchor="t"/>
          <a:lstStyle/>
          <a:p>
            <a:pPr indent="0" marL="0">
              <a:buNone/>
            </a:pPr>
            <a:r>
              <a:rPr lang="en-US" sz="1200" b="1" dirty="0">
                <a:solidFill>
                  <a:schemeClr val="tx1"/>
                </a:solidFill>
                <a:latin typeface="Prompt" pitchFamily="34" charset="0"/>
                <a:ea typeface="Prompt" pitchFamily="34" charset="-122"/>
                <a:cs typeface="Prompt" pitchFamily="34" charset="-120"/>
              </a:rPr>
              <a:t>ประเด็นที่ศึกษา</a:t>
            </a:r>
            <a:endParaRPr lang="en-US" sz="1200" dirty="0"/>
          </a:p>
          <a:p>
            <a:pPr indent="0" marL="0">
              <a:buNone/>
            </a:pPr>
            <a:r>
              <a:rPr lang="en-US" sz="1100" dirty="0">
                <a:solidFill>
                  <a:schemeClr val="tx2"/>
                </a:solidFill>
                <a:latin typeface="Prompt" pitchFamily="34" charset="0"/>
                <a:ea typeface="Prompt" pitchFamily="34" charset="-122"/>
                <a:cs typeface="Prompt" pitchFamily="34" charset="-120"/>
              </a:rPr>
              <a:t>ผลิตภาพ คุณภาพงาน และขอบเขตความสามารถของ AI</a:t>
            </a:r>
            <a:endParaRPr lang="en-US" sz="1200" dirty="0"/>
          </a:p>
        </p:txBody>
      </p:sp>
      <p:sp>
        <p:nvSpPr>
          <p:cNvPr id="19" name="conditions head"/>
          <p:cNvSpPr txBox="1"/>
          <p:nvPr/>
        </p:nvSpPr>
        <p:spPr>
          <a:xfrm>
            <a:off x="502920" y="3273552"/>
            <a:ext cx="3931920" cy="237744"/>
          </a:xfrm>
          <a:prstGeom prst="rect">
            <a:avLst/>
          </a:prstGeom>
          <a:noFill/>
          <a:ln/>
        </p:spPr>
        <p:txBody>
          <a:bodyPr wrap="square" lIns="0" tIns="0" rIns="0" bIns="0" rtlCol="0" anchor="ctr"/>
          <a:lstStyle/>
          <a:p>
            <a:pPr indent="0" marL="0">
              <a:buNone/>
            </a:pPr>
            <a:r>
              <a:rPr lang="en-US" sz="1150" b="1" dirty="0">
                <a:solidFill>
                  <a:schemeClr val="tx1"/>
                </a:solidFill>
                <a:latin typeface="Prompt" pitchFamily="34" charset="0"/>
                <a:ea typeface="Prompt" pitchFamily="34" charset="-122"/>
                <a:cs typeface="Prompt" pitchFamily="34" charset="-120"/>
              </a:rPr>
              <a:t>เงื่อนไขการทดลองสามกลุ่ม</a:t>
            </a:r>
            <a:endParaRPr lang="en-US" sz="1150" dirty="0"/>
          </a:p>
        </p:txBody>
      </p:sp>
      <p:sp>
        <p:nvSpPr>
          <p:cNvPr id="20" name="condition 1"/>
          <p:cNvSpPr/>
          <p:nvPr/>
        </p:nvSpPr>
        <p:spPr>
          <a:xfrm>
            <a:off x="502920" y="3566160"/>
            <a:ext cx="1219200" cy="749808"/>
          </a:xfrm>
          <a:prstGeom prst="roundRect">
            <a:avLst>
              <a:gd name="adj" fmla="val 14634"/>
            </a:avLst>
          </a:prstGeom>
          <a:solidFill>
            <a:srgbClr val="F3F5F8"/>
          </a:solidFill>
          <a:ln w="12700">
            <a:solidFill>
              <a:srgbClr val="F3F5F8"/>
            </a:solidFill>
            <a:prstDash val="solid"/>
          </a:ln>
        </p:spPr>
      </p:sp>
      <p:sp>
        <p:nvSpPr>
          <p:cNvPr id="21" name="condition number"/>
          <p:cNvSpPr txBox="1"/>
          <p:nvPr/>
        </p:nvSpPr>
        <p:spPr>
          <a:xfrm>
            <a:off x="612648" y="3611880"/>
            <a:ext cx="274320" cy="237744"/>
          </a:xfrm>
          <a:prstGeom prst="rect">
            <a:avLst/>
          </a:prstGeom>
          <a:noFill/>
          <a:ln/>
        </p:spPr>
        <p:txBody>
          <a:bodyPr wrap="square" lIns="0" tIns="0" rIns="0" bIns="0" rtlCol="0" anchor="ctr"/>
          <a:lstStyle/>
          <a:p>
            <a:pPr indent="0" marL="0">
              <a:buNone/>
            </a:pPr>
            <a:r>
              <a:rPr lang="en-US" sz="1200" b="1" dirty="0">
                <a:solidFill>
                  <a:srgbClr val="2E8B86"/>
                </a:solidFill>
                <a:latin typeface="Prompt" pitchFamily="34" charset="0"/>
                <a:ea typeface="Prompt" pitchFamily="34" charset="-122"/>
                <a:cs typeface="Prompt" pitchFamily="34" charset="-120"/>
              </a:rPr>
              <a:t>1</a:t>
            </a:r>
            <a:endParaRPr lang="en-US" sz="1200" dirty="0"/>
          </a:p>
        </p:txBody>
      </p:sp>
      <p:sp>
        <p:nvSpPr>
          <p:cNvPr id="22" name="condition text"/>
          <p:cNvSpPr txBox="1"/>
          <p:nvPr/>
        </p:nvSpPr>
        <p:spPr>
          <a:xfrm>
            <a:off x="612648" y="3840480"/>
            <a:ext cx="999744" cy="438912"/>
          </a:xfrm>
          <a:prstGeom prst="rect">
            <a:avLst/>
          </a:prstGeom>
          <a:noFill/>
          <a:ln/>
        </p:spPr>
        <p:txBody>
          <a:bodyPr wrap="square" lIns="0" tIns="0" rIns="0" bIns="0" rtlCol="0" anchor="t"/>
          <a:lstStyle/>
          <a:p>
            <a:pPr indent="0" marL="0">
              <a:buNone/>
            </a:pPr>
            <a:r>
              <a:rPr lang="en-US" sz="950" dirty="0">
                <a:solidFill>
                  <a:schemeClr val="tx1"/>
                </a:solidFill>
                <a:latin typeface="Prompt" pitchFamily="34" charset="0"/>
                <a:ea typeface="Prompt" pitchFamily="34" charset="-122"/>
                <a:cs typeface="Prompt" pitchFamily="34" charset="-120"/>
              </a:rPr>
              <a:t>ไม่ใช้ AI</a:t>
            </a:r>
            <a:endParaRPr lang="en-US" sz="950" dirty="0"/>
          </a:p>
        </p:txBody>
      </p:sp>
      <p:sp>
        <p:nvSpPr>
          <p:cNvPr id="23" name="condition 2"/>
          <p:cNvSpPr/>
          <p:nvPr/>
        </p:nvSpPr>
        <p:spPr>
          <a:xfrm>
            <a:off x="1859280" y="3566160"/>
            <a:ext cx="1219200" cy="749808"/>
          </a:xfrm>
          <a:prstGeom prst="roundRect">
            <a:avLst>
              <a:gd name="adj" fmla="val 14634"/>
            </a:avLst>
          </a:prstGeom>
          <a:solidFill>
            <a:srgbClr val="F3F5F8"/>
          </a:solidFill>
          <a:ln w="12700">
            <a:solidFill>
              <a:srgbClr val="F3F5F8"/>
            </a:solidFill>
            <a:prstDash val="solid"/>
          </a:ln>
        </p:spPr>
      </p:sp>
      <p:sp>
        <p:nvSpPr>
          <p:cNvPr id="24" name="condition number"/>
          <p:cNvSpPr txBox="1"/>
          <p:nvPr/>
        </p:nvSpPr>
        <p:spPr>
          <a:xfrm>
            <a:off x="1969008" y="3611880"/>
            <a:ext cx="274320" cy="237744"/>
          </a:xfrm>
          <a:prstGeom prst="rect">
            <a:avLst/>
          </a:prstGeom>
          <a:noFill/>
          <a:ln/>
        </p:spPr>
        <p:txBody>
          <a:bodyPr wrap="square" lIns="0" tIns="0" rIns="0" bIns="0" rtlCol="0" anchor="ctr"/>
          <a:lstStyle/>
          <a:p>
            <a:pPr indent="0" marL="0">
              <a:buNone/>
            </a:pPr>
            <a:r>
              <a:rPr lang="en-US" sz="1200" b="1" dirty="0">
                <a:solidFill>
                  <a:srgbClr val="2E8B86"/>
                </a:solidFill>
                <a:latin typeface="Prompt" pitchFamily="34" charset="0"/>
                <a:ea typeface="Prompt" pitchFamily="34" charset="-122"/>
                <a:cs typeface="Prompt" pitchFamily="34" charset="-120"/>
              </a:rPr>
              <a:t>2</a:t>
            </a:r>
            <a:endParaRPr lang="en-US" sz="1200" dirty="0"/>
          </a:p>
        </p:txBody>
      </p:sp>
      <p:sp>
        <p:nvSpPr>
          <p:cNvPr id="25" name="condition text"/>
          <p:cNvSpPr txBox="1"/>
          <p:nvPr/>
        </p:nvSpPr>
        <p:spPr>
          <a:xfrm>
            <a:off x="1969008" y="3840480"/>
            <a:ext cx="999744" cy="438912"/>
          </a:xfrm>
          <a:prstGeom prst="rect">
            <a:avLst/>
          </a:prstGeom>
          <a:noFill/>
          <a:ln/>
        </p:spPr>
        <p:txBody>
          <a:bodyPr wrap="square" lIns="0" tIns="0" rIns="0" bIns="0" rtlCol="0" anchor="t"/>
          <a:lstStyle/>
          <a:p>
            <a:pPr indent="0" marL="0">
              <a:buNone/>
            </a:pPr>
            <a:r>
              <a:rPr lang="en-US" sz="950" dirty="0">
                <a:solidFill>
                  <a:schemeClr val="tx1"/>
                </a:solidFill>
                <a:latin typeface="Prompt" pitchFamily="34" charset="0"/>
                <a:ea typeface="Prompt" pitchFamily="34" charset="-122"/>
                <a:cs typeface="Prompt" pitchFamily="34" charset="-120"/>
              </a:rPr>
              <a:t>ใช้ GPT-4</a:t>
            </a:r>
            <a:endParaRPr lang="en-US" sz="950" dirty="0"/>
          </a:p>
        </p:txBody>
      </p:sp>
      <p:sp>
        <p:nvSpPr>
          <p:cNvPr id="26" name="condition 3"/>
          <p:cNvSpPr/>
          <p:nvPr/>
        </p:nvSpPr>
        <p:spPr>
          <a:xfrm>
            <a:off x="3215640" y="3566160"/>
            <a:ext cx="1219200" cy="749808"/>
          </a:xfrm>
          <a:prstGeom prst="roundRect">
            <a:avLst>
              <a:gd name="adj" fmla="val 14634"/>
            </a:avLst>
          </a:prstGeom>
          <a:solidFill>
            <a:srgbClr val="1B2A4A"/>
          </a:solidFill>
          <a:ln w="12700">
            <a:solidFill>
              <a:srgbClr val="1B2A4A"/>
            </a:solidFill>
            <a:prstDash val="solid"/>
          </a:ln>
        </p:spPr>
      </p:sp>
      <p:sp>
        <p:nvSpPr>
          <p:cNvPr id="27" name="condition number"/>
          <p:cNvSpPr txBox="1"/>
          <p:nvPr/>
        </p:nvSpPr>
        <p:spPr>
          <a:xfrm>
            <a:off x="3325368" y="3611880"/>
            <a:ext cx="274320" cy="237744"/>
          </a:xfrm>
          <a:prstGeom prst="rect">
            <a:avLst/>
          </a:prstGeom>
          <a:noFill/>
          <a:ln/>
        </p:spPr>
        <p:txBody>
          <a:bodyPr wrap="square" lIns="0" tIns="0" rIns="0" bIns="0" rtlCol="0" anchor="ctr"/>
          <a:lstStyle/>
          <a:p>
            <a:pPr indent="0" marL="0">
              <a:buNone/>
            </a:pPr>
            <a:r>
              <a:rPr lang="en-US" sz="1200" b="1" dirty="0">
                <a:solidFill>
                  <a:srgbClr val="BFE6E0"/>
                </a:solidFill>
                <a:latin typeface="Prompt" pitchFamily="34" charset="0"/>
                <a:ea typeface="Prompt" pitchFamily="34" charset="-122"/>
                <a:cs typeface="Prompt" pitchFamily="34" charset="-120"/>
              </a:rPr>
              <a:t>3</a:t>
            </a:r>
            <a:endParaRPr lang="en-US" sz="1200" dirty="0"/>
          </a:p>
        </p:txBody>
      </p:sp>
      <p:sp>
        <p:nvSpPr>
          <p:cNvPr id="28" name="condition text"/>
          <p:cNvSpPr txBox="1"/>
          <p:nvPr/>
        </p:nvSpPr>
        <p:spPr>
          <a:xfrm>
            <a:off x="3325368" y="3840480"/>
            <a:ext cx="999744" cy="438912"/>
          </a:xfrm>
          <a:prstGeom prst="rect">
            <a:avLst/>
          </a:prstGeom>
          <a:noFill/>
          <a:ln/>
        </p:spPr>
        <p:txBody>
          <a:bodyPr wrap="square" lIns="0" tIns="0" rIns="0" bIns="0" rtlCol="0" anchor="t"/>
          <a:lstStyle/>
          <a:p>
            <a:pPr indent="0" marL="0">
              <a:buNone/>
            </a:pPr>
            <a:r>
              <a:rPr lang="en-US" sz="950" dirty="0">
                <a:solidFill>
                  <a:srgbClr val="FFFFFF"/>
                </a:solidFill>
                <a:latin typeface="Prompt" pitchFamily="34" charset="0"/>
                <a:ea typeface="Prompt" pitchFamily="34" charset="-122"/>
                <a:cs typeface="Prompt" pitchFamily="34" charset="-120"/>
              </a:rPr>
              <a:t>ใช้ GPT-4 + คำแนะนำการเขียน prompt</a:t>
            </a:r>
            <a:endParaRPr lang="en-US" sz="950" dirty="0"/>
          </a:p>
        </p:txBody>
      </p:sp>
      <p:sp>
        <p:nvSpPr>
          <p:cNvPr id="29" name="divider"/>
          <p:cNvSpPr/>
          <p:nvPr/>
        </p:nvSpPr>
        <p:spPr>
          <a:xfrm>
            <a:off x="4663440" y="1481328"/>
            <a:ext cx="0" cy="0"/>
          </a:xfrm>
          <a:prstGeom prst="line">
            <a:avLst/>
          </a:prstGeom>
          <a:noFill/>
          <a:ln w="9525">
            <a:solidFill>
              <a:srgbClr val="E3E8EE"/>
            </a:solidFill>
            <a:prstDash val="solid"/>
          </a:ln>
        </p:spPr>
      </p:sp>
      <p:sp>
        <p:nvSpPr>
          <p:cNvPr id="30" name="column divider"/>
          <p:cNvSpPr/>
          <p:nvPr/>
        </p:nvSpPr>
        <p:spPr>
          <a:xfrm>
            <a:off x="4663440" y="1481328"/>
            <a:ext cx="0" cy="2834640"/>
          </a:xfrm>
          <a:prstGeom prst="line">
            <a:avLst/>
          </a:prstGeom>
          <a:noFill/>
          <a:ln w="9525">
            <a:solidFill>
              <a:srgbClr val="E3E8EE"/>
            </a:solidFill>
            <a:prstDash val="solid"/>
          </a:ln>
        </p:spPr>
      </p:sp>
      <p:sp>
        <p:nvSpPr>
          <p:cNvPr id="31" name="tag concept"/>
          <p:cNvSpPr/>
          <p:nvPr/>
        </p:nvSpPr>
        <p:spPr>
          <a:xfrm>
            <a:off x="4892040" y="1481328"/>
            <a:ext cx="1143000" cy="201168"/>
          </a:xfrm>
          <a:prstGeom prst="roundRect">
            <a:avLst>
              <a:gd name="adj" fmla="val 50000"/>
            </a:avLst>
          </a:prstGeom>
          <a:solidFill>
            <a:srgbClr val="F3F5F8"/>
          </a:solidFill>
          <a:ln w="12700">
            <a:solidFill>
              <a:srgbClr val="F3F5F8"/>
            </a:solidFill>
            <a:prstDash val="solid"/>
          </a:ln>
        </p:spPr>
      </p:sp>
      <p:sp>
        <p:nvSpPr>
          <p:cNvPr id="32" name="tag text"/>
          <p:cNvSpPr txBox="1"/>
          <p:nvPr/>
        </p:nvSpPr>
        <p:spPr>
          <a:xfrm>
            <a:off x="4892040" y="1481328"/>
            <a:ext cx="1143000" cy="201168"/>
          </a:xfrm>
          <a:prstGeom prst="rect">
            <a:avLst/>
          </a:prstGeom>
          <a:noFill/>
          <a:ln/>
        </p:spPr>
        <p:txBody>
          <a:bodyPr wrap="square" lIns="0" tIns="0" rIns="0" bIns="0" rtlCol="0" anchor="ctr"/>
          <a:lstStyle/>
          <a:p>
            <a:pPr algn="ctr" indent="0" marL="0">
              <a:buNone/>
            </a:pPr>
            <a:r>
              <a:rPr lang="en-US" sz="850" b="1" spc="150" kern="0" dirty="0">
                <a:solidFill>
                  <a:srgbClr val="6B7280"/>
                </a:solidFill>
                <a:latin typeface="Prompt" pitchFamily="34" charset="0"/>
                <a:ea typeface="Prompt" pitchFamily="34" charset="-122"/>
                <a:cs typeface="Prompt" pitchFamily="34" charset="-120"/>
              </a:rPr>
              <a:t>แนวคิด</a:t>
            </a:r>
            <a:endParaRPr lang="en-US" sz="850" dirty="0"/>
          </a:p>
        </p:txBody>
      </p:sp>
      <p:sp>
        <p:nvSpPr>
          <p:cNvPr id="33" name="concept head"/>
          <p:cNvSpPr txBox="1"/>
          <p:nvPr/>
        </p:nvSpPr>
        <p:spPr>
          <a:xfrm>
            <a:off x="4892040" y="1755648"/>
            <a:ext cx="2651760" cy="274320"/>
          </a:xfrm>
          <a:prstGeom prst="rect">
            <a:avLst/>
          </a:prstGeom>
          <a:noFill/>
          <a:ln/>
        </p:spPr>
        <p:txBody>
          <a:bodyPr wrap="square" lIns="0" tIns="0" rIns="0" bIns="0" rtlCol="0" anchor="ctr"/>
          <a:lstStyle/>
          <a:p>
            <a:pPr indent="0" marL="0">
              <a:buNone/>
            </a:pPr>
            <a:r>
              <a:rPr lang="en-US" sz="1250" b="1" dirty="0">
                <a:solidFill>
                  <a:schemeClr val="tx1"/>
                </a:solidFill>
                <a:latin typeface="Prompt" pitchFamily="34" charset="0"/>
                <a:ea typeface="Prompt" pitchFamily="34" charset="-122"/>
                <a:cs typeface="Prompt" pitchFamily="34" charset="-120"/>
              </a:rPr>
              <a:t>Jagged Technological Frontier</a:t>
            </a:r>
            <a:endParaRPr lang="en-US" sz="1250" dirty="0"/>
          </a:p>
        </p:txBody>
      </p:sp>
      <p:sp>
        <p:nvSpPr>
          <p:cNvPr id="34" name="concept body"/>
          <p:cNvSpPr txBox="1"/>
          <p:nvPr/>
        </p:nvSpPr>
        <p:spPr>
          <a:xfrm>
            <a:off x="4892040" y="2048256"/>
            <a:ext cx="2606040" cy="731520"/>
          </a:xfrm>
          <a:prstGeom prst="rect">
            <a:avLst/>
          </a:prstGeom>
          <a:noFill/>
          <a:ln/>
        </p:spPr>
        <p:txBody>
          <a:bodyPr wrap="square" lIns="0" tIns="0" rIns="0" bIns="0" rtlCol="0" anchor="t"/>
          <a:lstStyle/>
          <a:p>
            <a:pPr indent="0" marL="0">
              <a:buNone/>
            </a:pPr>
            <a:r>
              <a:rPr lang="en-US" sz="1050" dirty="0">
                <a:solidFill>
                  <a:schemeClr val="tx2"/>
                </a:solidFill>
                <a:latin typeface="Prompt" pitchFamily="34" charset="0"/>
                <a:ea typeface="Prompt" pitchFamily="34" charset="-122"/>
                <a:cs typeface="Prompt" pitchFamily="34" charset="-120"/>
              </a:rPr>
              <a:t>AI ทำงานบางอย่างได้ดี แต่ทำงานอื่นที่ดูยากพอกันได้ไม่ดี เส้นแบ่งนี้ไม่สม่ำเสมอและมองเห็นได้ยาก</a:t>
            </a:r>
            <a:endParaRPr lang="en-US" sz="1050" dirty="0"/>
          </a:p>
        </p:txBody>
      </p:sp>
      <p:pic>
        <p:nvPicPr>
          <p:cNvPr id="35" name="mascot searching" descr="preencoded.png">    </p:cNvPr>
          <p:cNvPicPr>
            <a:picLocks noChangeAspect="1"/>
          </p:cNvPicPr>
          <p:nvPr/>
        </p:nvPicPr>
        <p:blipFill>
          <a:blip r:embed="rId4"/>
          <a:stretch>
            <a:fillRect/>
          </a:stretch>
        </p:blipFill>
        <p:spPr>
          <a:xfrm>
            <a:off x="7589520" y="1481328"/>
            <a:ext cx="1005840" cy="868680"/>
          </a:xfrm>
          <a:prstGeom prst="rect">
            <a:avLst/>
          </a:prstGeom>
        </p:spPr>
      </p:pic>
      <p:pic>
        <p:nvPicPr>
          <p:cNvPr id="36" name="frontier illustration" descr="preencoded.png">    </p:cNvPr>
          <p:cNvPicPr>
            <a:picLocks noChangeAspect="1"/>
          </p:cNvPicPr>
          <p:nvPr/>
        </p:nvPicPr>
        <p:blipFill>
          <a:blip r:embed="rId5"/>
          <a:stretch>
            <a:fillRect/>
          </a:stretch>
        </p:blipFill>
        <p:spPr>
          <a:xfrm>
            <a:off x="4892040" y="2926080"/>
            <a:ext cx="3749040" cy="1371600"/>
          </a:xfrm>
          <a:prstGeom prst="rect">
            <a:avLst/>
          </a:prstGeom>
        </p:spPr>
      </p:pic>
      <p:sp>
        <p:nvSpPr>
          <p:cNvPr id="37" name="outside label"/>
          <p:cNvSpPr txBox="1"/>
          <p:nvPr/>
        </p:nvSpPr>
        <p:spPr>
          <a:xfrm>
            <a:off x="5001768" y="2999232"/>
            <a:ext cx="3529584" cy="182880"/>
          </a:xfrm>
          <a:prstGeom prst="rect">
            <a:avLst/>
          </a:prstGeom>
          <a:noFill/>
          <a:ln/>
        </p:spPr>
        <p:txBody>
          <a:bodyPr wrap="square" lIns="0" tIns="0" rIns="0" bIns="0" rtlCol="0" anchor="ctr"/>
          <a:lstStyle/>
          <a:p>
            <a:pPr algn="r" indent="0" marL="0">
              <a:buNone/>
            </a:pPr>
            <a:r>
              <a:rPr lang="en-US" sz="850" b="1" dirty="0">
                <a:solidFill>
                  <a:schemeClr val="tx2"/>
                </a:solidFill>
                <a:latin typeface="Prompt" pitchFamily="34" charset="0"/>
                <a:ea typeface="Prompt" pitchFamily="34" charset="-122"/>
                <a:cs typeface="Prompt" pitchFamily="34" charset="-120"/>
              </a:rPr>
              <a:t>ภายนอก: AI ทำได้ไม่ดี</a:t>
            </a:r>
            <a:endParaRPr lang="en-US" sz="850" dirty="0"/>
          </a:p>
        </p:txBody>
      </p:sp>
      <p:sp>
        <p:nvSpPr>
          <p:cNvPr id="38" name="inside label"/>
          <p:cNvSpPr txBox="1"/>
          <p:nvPr/>
        </p:nvSpPr>
        <p:spPr>
          <a:xfrm>
            <a:off x="5001768" y="4023360"/>
            <a:ext cx="3529584" cy="182880"/>
          </a:xfrm>
          <a:prstGeom prst="rect">
            <a:avLst/>
          </a:prstGeom>
          <a:noFill/>
          <a:ln/>
        </p:spPr>
        <p:txBody>
          <a:bodyPr wrap="square" lIns="0" tIns="0" rIns="0" bIns="0" rtlCol="0" anchor="ctr"/>
          <a:lstStyle/>
          <a:p>
            <a:pPr indent="0" marL="0">
              <a:buNone/>
            </a:pPr>
            <a:r>
              <a:rPr lang="en-US" sz="850" b="1" dirty="0">
                <a:solidFill>
                  <a:srgbClr val="2E8B86"/>
                </a:solidFill>
                <a:latin typeface="Prompt" pitchFamily="34" charset="0"/>
                <a:ea typeface="Prompt" pitchFamily="34" charset="-122"/>
                <a:cs typeface="Prompt" pitchFamily="34" charset="-120"/>
              </a:rPr>
              <a:t>ภายใน: AI ทำได้ดี</a:t>
            </a:r>
            <a:endParaRPr lang="en-US" sz="850" dirty="0"/>
          </a:p>
        </p:txBody>
      </p:sp>
      <p:sp>
        <p:nvSpPr>
          <p:cNvPr id="39"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rompt" pitchFamily="34" charset="0"/>
                <a:ea typeface="Prompt" pitchFamily="34" charset="-122"/>
                <a:cs typeface="Prompt" pitchFamily="34" charset="-120"/>
              </a:rPr>
              <a:t>Dell'Acqua, F., et al. (2023). Navigating the Jagged Technological Frontier. Harvard Business School Working Paper 24-013.</a:t>
            </a:r>
            <a:endParaRPr lang="en-US" sz="700" dirty="0"/>
          </a:p>
        </p:txBody>
      </p:sp>
      <p:sp>
        <p:nvSpPr>
          <p:cNvPr id="40"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950" b="1" dirty="0">
                <a:solidFill>
                  <a:srgbClr val="2E8B86"/>
                </a:solidFill>
                <a:latin typeface="Prompt" pitchFamily="34" charset="0"/>
                <a:ea typeface="Prompt" pitchFamily="34" charset="-122"/>
                <a:cs typeface="Prompt" pitchFamily="34" charset="-120"/>
              </a:rPr>
              <a:t>ถัดไป  </a:t>
            </a:r>
            <a:pPr algn="r" indent="0" marL="0">
              <a:buNone/>
            </a:pPr>
            <a:r>
              <a:rPr lang="en-US" sz="950" dirty="0">
                <a:solidFill>
                  <a:srgbClr val="1B2A4A"/>
                </a:solidFill>
                <a:latin typeface="Prompt" pitchFamily="34" charset="0"/>
                <a:ea typeface="Prompt" pitchFamily="34" charset="-122"/>
                <a:cs typeface="Prompt" pitchFamily="34" charset="-120"/>
              </a:rPr>
              <a:t>เมื่อที่ปรึกษา 758 คนใช้ GPT-4 จริง เกิดอะไรขึ้น?</a:t>
            </a:r>
            <a:endParaRPr lang="en-US" sz="950" dirty="0"/>
          </a:p>
        </p:txBody>
      </p:sp>
      <p:pic>
        <p:nvPicPr>
          <p:cNvPr id="41" name="icon FiArrowRight" descr="preencoded.png">    </p:cNvPr>
          <p:cNvPicPr>
            <a:picLocks noChangeAspect="1"/>
          </p:cNvPicPr>
          <p:nvPr/>
        </p:nvPicPr>
        <p:blipFill>
          <a:blip r:embed="rId6"/>
          <a:stretch>
            <a:fillRect/>
          </a:stretch>
        </p:blipFill>
        <p:spPr>
          <a:xfrm>
            <a:off x="8439912" y="4498848"/>
            <a:ext cx="201168" cy="201168"/>
          </a:xfrm>
          <a:prstGeom prst="rect">
            <a:avLst/>
          </a:prstGeom>
        </p:spPr>
      </p:pic>
      <p:sp>
        <p:nvSpPr>
          <p:cNvPr id="42"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rompt"/>
                <a:ea typeface="Prompt"/>
                <a:cs typeface="Prompt"/>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700"/>
                                        <p:tgtEl>
                                          <p:spTgt spid="10"/>
                                        </p:tgtEl>
                                      </p:cBhvr>
                                    </p:animEffect>
                                    <p:anim calcmode="lin" valueType="num">
                                      <p:cBhvr additive="base">
                                        <p:cTn id="6" dur="700" fill="hold"/>
                                        <p:tgtEl>
                                          <p:spTgt spid="10"/>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700"/>
                                        <p:tgtEl>
                                          <p:spTgt spid="13"/>
                                        </p:tgtEl>
                                      </p:cBhvr>
                                    </p:animEffect>
                                    <p:anim calcmode="lin" valueType="num">
                                      <p:cBhvr additive="base">
                                        <p:cTn id="10" dur="700" fill="hold"/>
                                        <p:tgtEl>
                                          <p:spTgt spid="13"/>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700"/>
                                        <p:tgtEl>
                                          <p:spTgt spid="16"/>
                                        </p:tgtEl>
                                      </p:cBhvr>
                                    </p:animEffect>
                                    <p:anim calcmode="lin" valueType="num">
                                      <p:cBhvr additive="base">
                                        <p:cTn id="14" dur="700" fill="hold"/>
                                        <p:tgtEl>
                                          <p:spTgt spid="1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700"/>
                                        <p:tgtEl>
                                          <p:spTgt spid="11"/>
                                        </p:tgtEl>
                                      </p:cBhvr>
                                    </p:animEffect>
                                    <p:anim calcmode="lin" valueType="num">
                                      <p:cBhvr additive="base">
                                        <p:cTn id="18" dur="700" fill="hold"/>
                                        <p:tgtEl>
                                          <p:spTgt spid="11"/>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700"/>
                                        <p:tgtEl>
                                          <p:spTgt spid="14"/>
                                        </p:tgtEl>
                                      </p:cBhvr>
                                    </p:animEffect>
                                    <p:anim calcmode="lin" valueType="num">
                                      <p:cBhvr additive="base">
                                        <p:cTn id="22" dur="700" fill="hold"/>
                                        <p:tgtEl>
                                          <p:spTgt spid="14"/>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700"/>
                                        <p:tgtEl>
                                          <p:spTgt spid="17"/>
                                        </p:tgtEl>
                                      </p:cBhvr>
                                    </p:animEffect>
                                    <p:anim calcmode="lin" valueType="num">
                                      <p:cBhvr additive="base">
                                        <p:cTn id="26" dur="700" fill="hold"/>
                                        <p:tgtEl>
                                          <p:spTgt spid="17"/>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700"/>
                                        <p:tgtEl>
                                          <p:spTgt spid="12"/>
                                        </p:tgtEl>
                                      </p:cBhvr>
                                    </p:animEffect>
                                    <p:anim calcmode="lin" valueType="num">
                                      <p:cBhvr additive="base">
                                        <p:cTn id="30" dur="700" fill="hold"/>
                                        <p:tgtEl>
                                          <p:spTgt spid="12"/>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700"/>
                                        <p:tgtEl>
                                          <p:spTgt spid="15"/>
                                        </p:tgtEl>
                                      </p:cBhvr>
                                    </p:animEffect>
                                    <p:anim calcmode="lin" valueType="num">
                                      <p:cBhvr additive="base">
                                        <p:cTn id="34" dur="700" fill="hold"/>
                                        <p:tgtEl>
                                          <p:spTgt spid="15"/>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700"/>
                                        <p:tgtEl>
                                          <p:spTgt spid="18"/>
                                        </p:tgtEl>
                                      </p:cBhvr>
                                    </p:animEffect>
                                    <p:anim calcmode="lin" valueType="num">
                                      <p:cBhvr additive="base">
                                        <p:cTn id="38" dur="700" fill="hold"/>
                                        <p:tgtEl>
                                          <p:spTgt spid="18"/>
                                        </p:tgtEl>
                                        <p:attrNameLst>
                                          <p:attrName>ppt_y</p:attrName>
                                        </p:attrNameLst>
                                      </p:cBhvr>
                                      <p:tavLst>
                                        <p:tav tm="0">
                                          <p:val>
                                            <p:strVal val="#ppt_y+.08"/>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41" presetID="42" presetClass="entr" presetSubtype="0" fill="hold" grpId="0" nodeType="click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700"/>
                                        <p:tgtEl>
                                          <p:spTgt spid="19"/>
                                        </p:tgtEl>
                                      </p:cBhvr>
                                    </p:animEffect>
                                    <p:anim calcmode="lin" valueType="num">
                                      <p:cBhvr additive="base">
                                        <p:cTn id="44" dur="700" fill="hold"/>
                                        <p:tgtEl>
                                          <p:spTgt spid="19"/>
                                        </p:tgtEl>
                                        <p:attrNameLst>
                                          <p:attrName>ppt_y</p:attrName>
                                        </p:attrNameLst>
                                      </p:cBhvr>
                                      <p:tavLst>
                                        <p:tav tm="0">
                                          <p:val>
                                            <p:strVal val="#ppt_y+.08"/>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700"/>
                                        <p:tgtEl>
                                          <p:spTgt spid="20"/>
                                        </p:tgtEl>
                                      </p:cBhvr>
                                    </p:animEffect>
                                    <p:anim calcmode="lin" valueType="num">
                                      <p:cBhvr additive="base">
                                        <p:cTn id="48" dur="700" fill="hold"/>
                                        <p:tgtEl>
                                          <p:spTgt spid="20"/>
                                        </p:tgtEl>
                                        <p:attrNameLst>
                                          <p:attrName>ppt_y</p:attrName>
                                        </p:attrNameLst>
                                      </p:cBhvr>
                                      <p:tavLst>
                                        <p:tav tm="0">
                                          <p:val>
                                            <p:strVal val="#ppt_y+.0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700"/>
                                        <p:tgtEl>
                                          <p:spTgt spid="21"/>
                                        </p:tgtEl>
                                      </p:cBhvr>
                                    </p:animEffect>
                                    <p:anim calcmode="lin" valueType="num">
                                      <p:cBhvr additive="base">
                                        <p:cTn id="52" dur="700" fill="hold"/>
                                        <p:tgtEl>
                                          <p:spTgt spid="21"/>
                                        </p:tgtEl>
                                        <p:attrNameLst>
                                          <p:attrName>ppt_y</p:attrName>
                                        </p:attrNameLst>
                                      </p:cBhvr>
                                      <p:tavLst>
                                        <p:tav tm="0">
                                          <p:val>
                                            <p:strVal val="#ppt_y+.08"/>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700"/>
                                        <p:tgtEl>
                                          <p:spTgt spid="22"/>
                                        </p:tgtEl>
                                      </p:cBhvr>
                                    </p:animEffect>
                                    <p:anim calcmode="lin" valueType="num">
                                      <p:cBhvr additive="base">
                                        <p:cTn id="56" dur="700" fill="hold"/>
                                        <p:tgtEl>
                                          <p:spTgt spid="22"/>
                                        </p:tgtEl>
                                        <p:attrNameLst>
                                          <p:attrName>ppt_y</p:attrName>
                                        </p:attrNameLst>
                                      </p:cBhvr>
                                      <p:tavLst>
                                        <p:tav tm="0">
                                          <p:val>
                                            <p:strVal val="#ppt_y+.0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700"/>
                                        <p:tgtEl>
                                          <p:spTgt spid="23"/>
                                        </p:tgtEl>
                                      </p:cBhvr>
                                    </p:animEffect>
                                    <p:anim calcmode="lin" valueType="num">
                                      <p:cBhvr additive="base">
                                        <p:cTn id="60" dur="700" fill="hold"/>
                                        <p:tgtEl>
                                          <p:spTgt spid="23"/>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700"/>
                                        <p:tgtEl>
                                          <p:spTgt spid="24"/>
                                        </p:tgtEl>
                                      </p:cBhvr>
                                    </p:animEffect>
                                    <p:anim calcmode="lin" valueType="num">
                                      <p:cBhvr additive="base">
                                        <p:cTn id="64" dur="700" fill="hold"/>
                                        <p:tgtEl>
                                          <p:spTgt spid="24"/>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700"/>
                                        <p:tgtEl>
                                          <p:spTgt spid="25"/>
                                        </p:tgtEl>
                                      </p:cBhvr>
                                    </p:animEffect>
                                    <p:anim calcmode="lin" valueType="num">
                                      <p:cBhvr additive="base">
                                        <p:cTn id="68" dur="700" fill="hold"/>
                                        <p:tgtEl>
                                          <p:spTgt spid="25"/>
                                        </p:tgtEl>
                                        <p:attrNameLst>
                                          <p:attrName>ppt_y</p:attrName>
                                        </p:attrNameLst>
                                      </p:cBhvr>
                                      <p:tavLst>
                                        <p:tav tm="0">
                                          <p:val>
                                            <p:strVal val="#ppt_y+.08"/>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700"/>
                                        <p:tgtEl>
                                          <p:spTgt spid="26"/>
                                        </p:tgtEl>
                                      </p:cBhvr>
                                    </p:animEffect>
                                    <p:anim calcmode="lin" valueType="num">
                                      <p:cBhvr additive="base">
                                        <p:cTn id="72" dur="700" fill="hold"/>
                                        <p:tgtEl>
                                          <p:spTgt spid="26"/>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7"/>
                                        </p:tgtEl>
                                        <p:attrNameLst>
                                          <p:attrName>style.visibility</p:attrName>
                                        </p:attrNameLst>
                                      </p:cBhvr>
                                      <p:to>
                                        <p:strVal val="visible"/>
                                      </p:to>
                                    </p:set>
                                    <p:animEffect transition="in" filter="fade">
                                      <p:cBhvr>
                                        <p:cTn id="75" dur="700"/>
                                        <p:tgtEl>
                                          <p:spTgt spid="27"/>
                                        </p:tgtEl>
                                      </p:cBhvr>
                                    </p:animEffect>
                                    <p:anim calcmode="lin" valueType="num">
                                      <p:cBhvr additive="base">
                                        <p:cTn id="76" dur="700" fill="hold"/>
                                        <p:tgtEl>
                                          <p:spTgt spid="27"/>
                                        </p:tgtEl>
                                        <p:attrNameLst>
                                          <p:attrName>ppt_y</p:attrName>
                                        </p:attrNameLst>
                                      </p:cBhvr>
                                      <p:tavLst>
                                        <p:tav tm="0">
                                          <p:val>
                                            <p:strVal val="#ppt_y+.08"/>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28"/>
                                        </p:tgtEl>
                                        <p:attrNameLst>
                                          <p:attrName>style.visibility</p:attrName>
                                        </p:attrNameLst>
                                      </p:cBhvr>
                                      <p:to>
                                        <p:strVal val="visible"/>
                                      </p:to>
                                    </p:set>
                                    <p:animEffect transition="in" filter="fade">
                                      <p:cBhvr>
                                        <p:cTn id="79" dur="700"/>
                                        <p:tgtEl>
                                          <p:spTgt spid="28"/>
                                        </p:tgtEl>
                                      </p:cBhvr>
                                    </p:animEffect>
                                    <p:anim calcmode="lin" valueType="num">
                                      <p:cBhvr additive="base">
                                        <p:cTn id="80" dur="700" fill="hold"/>
                                        <p:tgtEl>
                                          <p:spTgt spid="28"/>
                                        </p:tgtEl>
                                        <p:attrNameLst>
                                          <p:attrName>ppt_y</p:attrName>
                                        </p:attrNameLst>
                                      </p:cBhvr>
                                      <p:tavLst>
                                        <p:tav tm="0">
                                          <p:val>
                                            <p:strVal val="#ppt_y+.08"/>
                                          </p:val>
                                        </p:tav>
                                        <p:tav tm="100000">
                                          <p:val>
                                            <p:strVal val="#ppt_y"/>
                                          </p:val>
                                        </p:tav>
                                      </p:tavLst>
                                    </p:anim>
                                  </p:childTnLst>
                                </p:cTn>
                              </p:par>
                            </p:childTnLst>
                          </p:cTn>
                        </p:par>
                      </p:childTnLst>
                    </p:cTn>
                  </p:par>
                  <p:par>
                    <p:cTn id="95" fill="hold">
                      <p:stCondLst>
                        <p:cond delay="indefinite"/>
                      </p:stCondLst>
                      <p:childTnLst>
                        <p:par>
                          <p:cTn id="96"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31"/>
                                        </p:tgtEl>
                                        <p:attrNameLst>
                                          <p:attrName>style.visibility</p:attrName>
                                        </p:attrNameLst>
                                      </p:cBhvr>
                                      <p:to>
                                        <p:strVal val="visible"/>
                                      </p:to>
                                    </p:set>
                                    <p:animEffect transition="in" filter="fade">
                                      <p:cBhvr>
                                        <p:cTn id="85" dur="500"/>
                                        <p:tgtEl>
                                          <p:spTgt spid="3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2"/>
                                        </p:tgtEl>
                                        <p:attrNameLst>
                                          <p:attrName>style.visibility</p:attrName>
                                        </p:attrNameLst>
                                      </p:cBhvr>
                                      <p:to>
                                        <p:strVal val="visible"/>
                                      </p:to>
                                    </p:set>
                                    <p:animEffect transition="in" filter="fade">
                                      <p:cBhvr>
                                        <p:cTn id="88" dur="500"/>
                                        <p:tgtEl>
                                          <p:spTgt spid="3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3"/>
                                        </p:tgtEl>
                                        <p:attrNameLst>
                                          <p:attrName>style.visibility</p:attrName>
                                        </p:attrNameLst>
                                      </p:cBhvr>
                                      <p:to>
                                        <p:strVal val="visible"/>
                                      </p:to>
                                    </p:set>
                                    <p:animEffect transition="in" filter="fade">
                                      <p:cBhvr>
                                        <p:cTn id="91" dur="500"/>
                                        <p:tgtEl>
                                          <p:spTgt spid="3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500"/>
                                        <p:tgtEl>
                                          <p:spTgt spid="34"/>
                                        </p:tgtEl>
                                      </p:cBhvr>
                                    </p:animEffect>
                                  </p:childTnLst>
                                </p:cTn>
                              </p:par>
                            </p:childTnLst>
                          </p:cTn>
                        </p:par>
                      </p:childTnLst>
                    </p:cTn>
                  </p:par>
                  <p:par>
                    <p:cTn id="101" fill="hold">
                      <p:stCondLst>
                        <p:cond delay="indefinite"/>
                      </p:stCondLst>
                      <p:childTnLst>
                        <p:par>
                          <p:cTn id="102" fill="hold">
                            <p:stCondLst>
                              <p:cond delay="0"/>
                            </p:stCondLst>
                            <p:childTnLst>
                              <p:par>
                                <p:cTn id="97" presetID="23" presetClass="entr" presetSubtype="16" fill="hold" grpId="0" nodeType="clickEffect">
                                  <p:stCondLst>
                                    <p:cond delay="0"/>
                                  </p:stCondLst>
                                  <p:childTnLst>
                                    <p:set>
                                      <p:cBhvr>
                                        <p:cTn id="98" dur="1" fill="hold">
                                          <p:stCondLst>
                                            <p:cond delay="0"/>
                                          </p:stCondLst>
                                        </p:cTn>
                                        <p:tgtEl>
                                          <p:spTgt spid="35"/>
                                        </p:tgtEl>
                                        <p:attrNameLst>
                                          <p:attrName>style.visibility</p:attrName>
                                        </p:attrNameLst>
                                      </p:cBhvr>
                                      <p:to>
                                        <p:strVal val="visible"/>
                                      </p:to>
                                    </p:set>
                                    <p:animScale>
                                      <p:cBhvr>
                                        <p:cTn id="99" dur="500" fill="hold"/>
                                        <p:tgtEl>
                                          <p:spTgt spid="35"/>
                                        </p:tgtEl>
                                      </p:cBhvr>
                                      <p:from x="0" y="0"/>
                                      <p:to x="100000" y="100000"/>
                                    </p:animScale>
                                    <p:animEffect transition="in" filter="fade">
                                      <p:cBhvr>
                                        <p:cTn id="100" dur="500"/>
                                        <p:tgtEl>
                                          <p:spTgt spid="35"/>
                                        </p:tgtEl>
                                      </p:cBhvr>
                                    </p:animEffect>
                                  </p:childTnLst>
                                </p:cTn>
                              </p:par>
                            </p:childTnLst>
                          </p:cTn>
                        </p:par>
                      </p:childTnLst>
                    </p:cTn>
                  </p:par>
                  <p:par>
                    <p:cTn id="115" fill="hold">
                      <p:stCondLst>
                        <p:cond delay="indefinite"/>
                      </p:stCondLst>
                      <p:childTnLst>
                        <p:par>
                          <p:cTn id="116" fill="hold">
                            <p:stCondLst>
                              <p:cond delay="0"/>
                            </p:stCondLst>
                            <p:childTnLst>
                              <p:par>
                                <p:cTn id="103" presetID="42" presetClass="entr" presetSubtype="0" fill="hold" grpId="0" nodeType="click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700"/>
                                        <p:tgtEl>
                                          <p:spTgt spid="36"/>
                                        </p:tgtEl>
                                      </p:cBhvr>
                                    </p:animEffect>
                                    <p:anim calcmode="lin" valueType="num">
                                      <p:cBhvr additive="base">
                                        <p:cTn id="106" dur="700" fill="hold"/>
                                        <p:tgtEl>
                                          <p:spTgt spid="36"/>
                                        </p:tgtEl>
                                        <p:attrNameLst>
                                          <p:attrName>ppt_y</p:attrName>
                                        </p:attrNameLst>
                                      </p:cBhvr>
                                      <p:tavLst>
                                        <p:tav tm="0">
                                          <p:val>
                                            <p:strVal val="#ppt_y+.08"/>
                                          </p:val>
                                        </p:tav>
                                        <p:tav tm="100000">
                                          <p:val>
                                            <p:strVal val="#ppt_y"/>
                                          </p:val>
                                        </p:tav>
                                      </p:tavLst>
                                    </p:anim>
                                  </p:childTnLst>
                                </p:cTn>
                              </p:par>
                              <p:par>
                                <p:cTn id="107" presetID="42" presetClass="entr" presetSubtype="0" fill="hold" grpId="0" nodeType="withEffect">
                                  <p:stCondLst>
                                    <p:cond delay="0"/>
                                  </p:stCondLst>
                                  <p:childTnLst>
                                    <p:set>
                                      <p:cBhvr>
                                        <p:cTn id="108" dur="1" fill="hold">
                                          <p:stCondLst>
                                            <p:cond delay="0"/>
                                          </p:stCondLst>
                                        </p:cTn>
                                        <p:tgtEl>
                                          <p:spTgt spid="37"/>
                                        </p:tgtEl>
                                        <p:attrNameLst>
                                          <p:attrName>style.visibility</p:attrName>
                                        </p:attrNameLst>
                                      </p:cBhvr>
                                      <p:to>
                                        <p:strVal val="visible"/>
                                      </p:to>
                                    </p:set>
                                    <p:animEffect transition="in" filter="fade">
                                      <p:cBhvr>
                                        <p:cTn id="109" dur="700"/>
                                        <p:tgtEl>
                                          <p:spTgt spid="37"/>
                                        </p:tgtEl>
                                      </p:cBhvr>
                                    </p:animEffect>
                                    <p:anim calcmode="lin" valueType="num">
                                      <p:cBhvr additive="base">
                                        <p:cTn id="110" dur="700" fill="hold"/>
                                        <p:tgtEl>
                                          <p:spTgt spid="37"/>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0"/>
                                  </p:stCondLst>
                                  <p:childTnLst>
                                    <p:set>
                                      <p:cBhvr>
                                        <p:cTn id="112" dur="1" fill="hold">
                                          <p:stCondLst>
                                            <p:cond delay="0"/>
                                          </p:stCondLst>
                                        </p:cTn>
                                        <p:tgtEl>
                                          <p:spTgt spid="38"/>
                                        </p:tgtEl>
                                        <p:attrNameLst>
                                          <p:attrName>style.visibility</p:attrName>
                                        </p:attrNameLst>
                                      </p:cBhvr>
                                      <p:to>
                                        <p:strVal val="visible"/>
                                      </p:to>
                                    </p:set>
                                    <p:animEffect transition="in" filter="fade">
                                      <p:cBhvr>
                                        <p:cTn id="113" dur="700"/>
                                        <p:tgtEl>
                                          <p:spTgt spid="38"/>
                                        </p:tgtEl>
                                      </p:cBhvr>
                                    </p:animEffect>
                                    <p:anim calcmode="lin" valueType="num">
                                      <p:cBhvr additive="base">
                                        <p:cTn id="114" dur="700" fill="hold"/>
                                        <p:tgtEl>
                                          <p:spTgt spid="38"/>
                                        </p:tgtEl>
                                        <p:attrNameLst>
                                          <p:attrName>ppt_y</p:attrName>
                                        </p:attrNameLst>
                                      </p:cBhvr>
                                      <p:tavLst>
                                        <p:tav tm="0">
                                          <p:val>
                                            <p:strVal val="#ppt_y+.08"/>
                                          </p:val>
                                        </p:tav>
                                        <p:tav tm="100000">
                                          <p:val>
                                            <p:strVal val="#ppt_y"/>
                                          </p:val>
                                        </p:tav>
                                      </p:tavLst>
                                    </p:anim>
                                  </p:childTnLst>
                                </p:cTn>
                              </p:par>
                            </p:childTnLst>
                          </p:cTn>
                        </p:par>
                      </p:childTnLst>
                    </p:cTn>
                  </p:par>
                  <p:par>
                    <p:cTn id="123" fill="hold">
                      <p:stCondLst>
                        <p:cond delay="indefinite"/>
                      </p:stCondLst>
                      <p:childTnLst>
                        <p:par>
                          <p:cTn id="124" fill="hold">
                            <p:stCondLst>
                              <p:cond delay="0"/>
                            </p:stCondLst>
                            <p:childTnLst>
                              <p:par>
                                <p:cTn id="117" presetID="10" presetClass="entr" presetSubtype="0" fill="hold" grpId="0" nodeType="clickEffect">
                                  <p:stCondLst>
                                    <p:cond delay="0"/>
                                  </p:stCondLst>
                                  <p:childTnLst>
                                    <p:set>
                                      <p:cBhvr>
                                        <p:cTn id="118" dur="1" fill="hold">
                                          <p:stCondLst>
                                            <p:cond delay="0"/>
                                          </p:stCondLst>
                                        </p:cTn>
                                        <p:tgtEl>
                                          <p:spTgt spid="40"/>
                                        </p:tgtEl>
                                        <p:attrNameLst>
                                          <p:attrName>style.visibility</p:attrName>
                                        </p:attrNameLst>
                                      </p:cBhvr>
                                      <p:to>
                                        <p:strVal val="visible"/>
                                      </p:to>
                                    </p:set>
                                    <p:animEffect transition="in" filter="fade">
                                      <p:cBhvr>
                                        <p:cTn id="119" dur="500"/>
                                        <p:tgtEl>
                                          <p:spTgt spid="40"/>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animBg="1"/>
      <p:bldP spid="16" grpId="0" animBg="1"/>
      <p:bldP spid="12" grpId="0" animBg="1"/>
      <p:bldP spid="15"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31" grpId="0" animBg="1"/>
      <p:bldP spid="32" grpId="0" animBg="1"/>
      <p:bldP spid="33" grpId="0" animBg="1"/>
      <p:bldP spid="34" grpId="0" animBg="1"/>
      <p:bldP spid="37" grpId="0" animBg="1"/>
      <p:bldP spid="38" grpId="0" animBg="1"/>
      <p:bldP spid="4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rompt" pitchFamily="34" charset="0"/>
                <a:ea typeface="Prompt" pitchFamily="34" charset="-122"/>
                <a:cs typeface="Prompt" pitchFamily="34" charset="-120"/>
              </a:rPr>
              <a:t>บทความที่ 2  ·  ผลการศึกษาที่สำคัญ</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rompt" pitchFamily="34" charset="0"/>
                <a:ea typeface="Prompt" pitchFamily="34" charset="-122"/>
                <a:cs typeface="Prompt" pitchFamily="34" charset="-120"/>
              </a:rPr>
              <a:t>AI ช่วยเพิ่มประสิทธิภาพ แต่มีข้อจำกัด</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BFE6E0"/>
          </a:solidFill>
          <a:ln w="12700">
            <a:solidFill>
              <a:srgbClr val="BFE6E0"/>
            </a:solidFill>
            <a:prstDash val="solid"/>
          </a:ln>
        </p:spPr>
      </p:sp>
      <p:sp>
        <p:nvSpPr>
          <p:cNvPr id="6" name="progress dot 3"/>
          <p:cNvSpPr/>
          <p:nvPr/>
        </p:nvSpPr>
        <p:spPr>
          <a:xfrm>
            <a:off x="8174736" y="342900"/>
            <a:ext cx="100584" cy="100584"/>
          </a:xfrm>
          <a:prstGeom prst="ellipse">
            <a:avLst/>
          </a:prstGeom>
          <a:solidFill>
            <a:srgbClr val="2E8B86"/>
          </a:solidFill>
          <a:ln w="12700">
            <a:solidFill>
              <a:srgbClr val="2E8B86"/>
            </a:solidFill>
            <a:prstDash val="solid"/>
          </a:ln>
        </p:spPr>
      </p:sp>
      <p:sp>
        <p:nvSpPr>
          <p:cNvPr id="7" name="progress dot 4"/>
          <p:cNvSpPr/>
          <p:nvPr/>
        </p:nvSpPr>
        <p:spPr>
          <a:xfrm>
            <a:off x="8357616" y="342900"/>
            <a:ext cx="100584" cy="100584"/>
          </a:xfrm>
          <a:prstGeom prst="ellipse">
            <a:avLst/>
          </a:prstGeom>
          <a:solidFill>
            <a:srgbClr val="E3E8EE"/>
          </a:solidFill>
          <a:ln w="12700">
            <a:solidFill>
              <a:srgbClr val="E3E8EE"/>
            </a:solidFill>
            <a:prstDash val="solid"/>
          </a:ln>
        </p:spPr>
      </p:sp>
      <p:sp>
        <p:nvSpPr>
          <p:cNvPr id="8" name="progress dot 5"/>
          <p:cNvSpPr/>
          <p:nvPr/>
        </p:nvSpPr>
        <p:spPr>
          <a:xfrm>
            <a:off x="8540496" y="342900"/>
            <a:ext cx="100584" cy="100584"/>
          </a:xfrm>
          <a:prstGeom prst="ellipse">
            <a:avLst/>
          </a:prstGeom>
          <a:solidFill>
            <a:srgbClr val="E3E8EE"/>
          </a:solidFill>
          <a:ln w="12700">
            <a:solidFill>
              <a:srgbClr val="E3E8EE"/>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900" dirty="0">
                <a:solidFill>
                  <a:srgbClr val="A3ADBB"/>
                </a:solidFill>
                <a:latin typeface="Prompt" pitchFamily="34" charset="0"/>
                <a:ea typeface="Prompt" pitchFamily="34" charset="-122"/>
                <a:cs typeface="Prompt" pitchFamily="34" charset="-120"/>
              </a:rPr>
              <a:t>3 / 5</a:t>
            </a:r>
            <a:endParaRPr lang="en-US" sz="900" dirty="0"/>
          </a:p>
        </p:txBody>
      </p:sp>
      <p:sp>
        <p:nvSpPr>
          <p:cNvPr id="10" name="tag finding"/>
          <p:cNvSpPr/>
          <p:nvPr/>
        </p:nvSpPr>
        <p:spPr>
          <a:xfrm>
            <a:off x="502920" y="1371600"/>
            <a:ext cx="1143000" cy="201168"/>
          </a:xfrm>
          <a:prstGeom prst="roundRect">
            <a:avLst>
              <a:gd name="adj" fmla="val 50000"/>
            </a:avLst>
          </a:prstGeom>
          <a:solidFill>
            <a:srgbClr val="BFE6E0"/>
          </a:solidFill>
          <a:ln w="12700">
            <a:solidFill>
              <a:srgbClr val="BFE6E0"/>
            </a:solidFill>
            <a:prstDash val="solid"/>
          </a:ln>
        </p:spPr>
      </p:sp>
      <p:sp>
        <p:nvSpPr>
          <p:cNvPr id="11" name="tag text"/>
          <p:cNvSpPr txBox="1"/>
          <p:nvPr/>
        </p:nvSpPr>
        <p:spPr>
          <a:xfrm>
            <a:off x="502920" y="1371600"/>
            <a:ext cx="1143000" cy="201168"/>
          </a:xfrm>
          <a:prstGeom prst="rect">
            <a:avLst/>
          </a:prstGeom>
          <a:noFill/>
          <a:ln/>
        </p:spPr>
        <p:txBody>
          <a:bodyPr wrap="square" lIns="0" tIns="0" rIns="0" bIns="0" rtlCol="0" anchor="ctr"/>
          <a:lstStyle/>
          <a:p>
            <a:pPr algn="ctr" indent="0" marL="0">
              <a:buNone/>
            </a:pPr>
            <a:r>
              <a:rPr lang="en-US" sz="850" b="1" spc="150" kern="0" dirty="0">
                <a:solidFill>
                  <a:srgbClr val="1B2A4A"/>
                </a:solidFill>
                <a:latin typeface="Prompt" pitchFamily="34" charset="0"/>
                <a:ea typeface="Prompt" pitchFamily="34" charset="-122"/>
                <a:cs typeface="Prompt" pitchFamily="34" charset="-120"/>
              </a:rPr>
              <a:t>ผลการวิจัย</a:t>
            </a:r>
            <a:endParaRPr lang="en-US" sz="850" dirty="0"/>
          </a:p>
        </p:txBody>
      </p:sp>
      <p:graphicFrame>
        <p:nvGraphicFramePr>
          <p:cNvPr id="12" name="findings chart" descr=""/>
          <p:cNvGraphicFramePr/>
          <p:nvPr/>
        </p:nvGraphicFramePr>
        <p:xfrm>
          <a:off x="502920" y="1609344"/>
          <a:ext cx="4754880" cy="2103120"/>
        </p:xfrm>
        <a:graphic xmlns:a="http://schemas.openxmlformats.org/drawingml/2006/main">
          <a:graphicData uri="http://schemas.openxmlformats.org/drawingml/2006/chart">
            <c:chart xmlns:c="http://schemas.openxmlformats.org/drawingml/2006/chart" r:id="rId1"/>
          </a:graphicData>
        </a:graphic>
      </p:graphicFrame>
      <p:sp>
        <p:nvSpPr>
          <p:cNvPr id="13" name="chart note"/>
          <p:cNvSpPr txBox="1"/>
          <p:nvPr/>
        </p:nvSpPr>
        <p:spPr>
          <a:xfrm>
            <a:off x="502920" y="3730752"/>
            <a:ext cx="4754880" cy="329184"/>
          </a:xfrm>
          <a:prstGeom prst="rect">
            <a:avLst/>
          </a:prstGeom>
          <a:noFill/>
          <a:ln/>
        </p:spPr>
        <p:txBody>
          <a:bodyPr wrap="square" lIns="0" tIns="0" rIns="0" bIns="0" rtlCol="0" anchor="t"/>
          <a:lstStyle/>
          <a:p>
            <a:pPr indent="0" marL="0">
              <a:buNone/>
            </a:pPr>
            <a:r>
              <a:rPr lang="en-US" sz="850" dirty="0">
                <a:solidFill>
                  <a:srgbClr val="A3ADBB"/>
                </a:solidFill>
                <a:latin typeface="Prompt" pitchFamily="34" charset="0"/>
                <a:ea typeface="Prompt" pitchFamily="34" charset="-122"/>
                <a:cs typeface="Prompt" pitchFamily="34" charset="-120"/>
              </a:rPr>
              <a:t>คุณภาพรายงานว่า "มากกว่า 40%" เทียบกลุ่มควบคุม แสดงที่ 40 ส่วนกลุ่มต่ำ/สูงกว่าค่าเฉลี่ยคือการพัฒนาเทียบคะแนนเดิมของกลุ่มนั้น</a:t>
            </a:r>
            <a:endParaRPr lang="en-US" sz="850" dirty="0"/>
          </a:p>
        </p:txBody>
      </p:sp>
      <p:sp>
        <p:nvSpPr>
          <p:cNvPr id="14" name="outside callout"/>
          <p:cNvSpPr/>
          <p:nvPr/>
        </p:nvSpPr>
        <p:spPr>
          <a:xfrm>
            <a:off x="5623560" y="1371600"/>
            <a:ext cx="3017520" cy="1828800"/>
          </a:xfrm>
          <a:prstGeom prst="roundRect">
            <a:avLst>
              <a:gd name="adj" fmla="val 6000"/>
            </a:avLst>
          </a:prstGeom>
          <a:solidFill>
            <a:srgbClr val="1B2A4A"/>
          </a:solidFill>
          <a:ln w="12700">
            <a:solidFill>
              <a:srgbClr val="1B2A4A"/>
            </a:solidFill>
            <a:prstDash val="solid"/>
          </a:ln>
        </p:spPr>
      </p:sp>
      <p:sp>
        <p:nvSpPr>
          <p:cNvPr id="15" name="outside head"/>
          <p:cNvSpPr txBox="1"/>
          <p:nvPr/>
        </p:nvSpPr>
        <p:spPr>
          <a:xfrm>
            <a:off x="5852160" y="1499616"/>
            <a:ext cx="2560320" cy="219456"/>
          </a:xfrm>
          <a:prstGeom prst="rect">
            <a:avLst/>
          </a:prstGeom>
          <a:noFill/>
          <a:ln/>
        </p:spPr>
        <p:txBody>
          <a:bodyPr wrap="square" lIns="0" tIns="0" rIns="0" bIns="0" rtlCol="0" anchor="ctr"/>
          <a:lstStyle/>
          <a:p>
            <a:pPr indent="0" marL="0">
              <a:buNone/>
            </a:pPr>
            <a:r>
              <a:rPr lang="en-US" sz="1000" b="1" spc="100" kern="0" dirty="0">
                <a:solidFill>
                  <a:srgbClr val="BFE6E0"/>
                </a:solidFill>
                <a:latin typeface="Prompt" pitchFamily="34" charset="0"/>
                <a:ea typeface="Prompt" pitchFamily="34" charset="-122"/>
                <a:cs typeface="Prompt" pitchFamily="34" charset="-120"/>
              </a:rPr>
              <a:t>งานภายนอกพรมแดน</a:t>
            </a:r>
            <a:endParaRPr lang="en-US" sz="1000" dirty="0"/>
          </a:p>
        </p:txBody>
      </p:sp>
      <p:sp>
        <p:nvSpPr>
          <p:cNvPr id="16" name="outside stat"/>
          <p:cNvSpPr txBox="1"/>
          <p:nvPr/>
        </p:nvSpPr>
        <p:spPr>
          <a:xfrm>
            <a:off x="5852160" y="1719072"/>
            <a:ext cx="1463040" cy="512064"/>
          </a:xfrm>
          <a:prstGeom prst="rect">
            <a:avLst/>
          </a:prstGeom>
          <a:noFill/>
          <a:ln/>
        </p:spPr>
        <p:txBody>
          <a:bodyPr wrap="square" lIns="0" tIns="0" rIns="0" bIns="0" rtlCol="0" anchor="ctr"/>
          <a:lstStyle/>
          <a:p>
            <a:pPr indent="0" marL="0">
              <a:buNone/>
            </a:pPr>
            <a:r>
              <a:rPr lang="en-US" sz="4400" b="1" dirty="0">
                <a:solidFill>
                  <a:srgbClr val="FFFFFF"/>
                </a:solidFill>
                <a:latin typeface="Prompt" pitchFamily="34" charset="0"/>
                <a:ea typeface="Prompt" pitchFamily="34" charset="-122"/>
                <a:cs typeface="Prompt" pitchFamily="34" charset="-120"/>
              </a:rPr>
              <a:t>−19</a:t>
            </a:r>
            <a:endParaRPr lang="en-US" sz="4400" dirty="0"/>
          </a:p>
        </p:txBody>
      </p:sp>
      <p:sp>
        <p:nvSpPr>
          <p:cNvPr id="17" name="outside unit"/>
          <p:cNvSpPr txBox="1"/>
          <p:nvPr/>
        </p:nvSpPr>
        <p:spPr>
          <a:xfrm>
            <a:off x="5852160" y="2231136"/>
            <a:ext cx="1737360" cy="201168"/>
          </a:xfrm>
          <a:prstGeom prst="rect">
            <a:avLst/>
          </a:prstGeom>
          <a:noFill/>
          <a:ln/>
        </p:spPr>
        <p:txBody>
          <a:bodyPr wrap="square" lIns="0" tIns="0" rIns="0" bIns="0" rtlCol="0" anchor="ctr"/>
          <a:lstStyle/>
          <a:p>
            <a:pPr indent="0" marL="0">
              <a:buNone/>
            </a:pPr>
            <a:r>
              <a:rPr lang="en-US" sz="950" dirty="0">
                <a:solidFill>
                  <a:srgbClr val="BFE6E0"/>
                </a:solidFill>
                <a:latin typeface="Prompt" pitchFamily="34" charset="0"/>
                <a:ea typeface="Prompt" pitchFamily="34" charset="-122"/>
                <a:cs typeface="Prompt" pitchFamily="34" charset="-120"/>
              </a:rPr>
              <a:t>จุดร้อยละ (percentage points)</a:t>
            </a:r>
            <a:endParaRPr lang="en-US" sz="950" dirty="0"/>
          </a:p>
        </p:txBody>
      </p:sp>
      <p:pic>
        <p:nvPicPr>
          <p:cNvPr id="18" name="mascot confused" descr="preencoded.png">    </p:cNvPr>
          <p:cNvPicPr>
            <a:picLocks noChangeAspect="1"/>
          </p:cNvPicPr>
          <p:nvPr/>
        </p:nvPicPr>
        <p:blipFill>
          <a:blip r:embed="rId2"/>
          <a:stretch>
            <a:fillRect/>
          </a:stretch>
        </p:blipFill>
        <p:spPr>
          <a:xfrm>
            <a:off x="7498080" y="1591056"/>
            <a:ext cx="1005840" cy="868680"/>
          </a:xfrm>
          <a:prstGeom prst="rect">
            <a:avLst/>
          </a:prstGeom>
        </p:spPr>
      </p:pic>
      <p:sp>
        <p:nvSpPr>
          <p:cNvPr id="19" name="outside body"/>
          <p:cNvSpPr txBox="1"/>
          <p:nvPr/>
        </p:nvSpPr>
        <p:spPr>
          <a:xfrm>
            <a:off x="5852160" y="2487168"/>
            <a:ext cx="2560320" cy="640080"/>
          </a:xfrm>
          <a:prstGeom prst="rect">
            <a:avLst/>
          </a:prstGeom>
          <a:noFill/>
          <a:ln/>
        </p:spPr>
        <p:txBody>
          <a:bodyPr wrap="square" lIns="0" tIns="0" rIns="0" bIns="0" rtlCol="0" anchor="t"/>
          <a:lstStyle/>
          <a:p>
            <a:pPr indent="0" marL="0">
              <a:buNone/>
            </a:pPr>
            <a:r>
              <a:rPr lang="en-US" sz="1000" dirty="0">
                <a:solidFill>
                  <a:srgbClr val="FFFFFF"/>
                </a:solidFill>
                <a:latin typeface="Prompt" pitchFamily="34" charset="0"/>
                <a:ea typeface="Prompt" pitchFamily="34" charset="-122"/>
                <a:cs typeface="Prompt" pitchFamily="34" charset="-120"/>
              </a:rPr>
              <a:t>ผู้ใช้ AI มีโอกาสได้คำตอบที่ถูกต้องน้อยกว่าผู้ไม่ใช้ AI อยู่ 19 จุดร้อยละ</a:t>
            </a:r>
            <a:endParaRPr lang="en-US" sz="1000" dirty="0"/>
          </a:p>
        </p:txBody>
      </p:sp>
      <p:sp>
        <p:nvSpPr>
          <p:cNvPr id="20" name="unit note"/>
          <p:cNvSpPr txBox="1"/>
          <p:nvPr/>
        </p:nvSpPr>
        <p:spPr>
          <a:xfrm>
            <a:off x="5623560" y="3255264"/>
            <a:ext cx="3017520" cy="310896"/>
          </a:xfrm>
          <a:prstGeom prst="rect">
            <a:avLst/>
          </a:prstGeom>
          <a:noFill/>
          <a:ln/>
        </p:spPr>
        <p:txBody>
          <a:bodyPr wrap="square" lIns="0" tIns="0" rIns="0" bIns="0" rtlCol="0" anchor="t"/>
          <a:lstStyle/>
          <a:p>
            <a:pPr indent="0" marL="0">
              <a:buNone/>
            </a:pPr>
            <a:r>
              <a:rPr lang="en-US" sz="900" dirty="0">
                <a:solidFill>
                  <a:srgbClr val="6B7280"/>
                </a:solidFill>
                <a:latin typeface="Prompt" pitchFamily="34" charset="0"/>
                <a:ea typeface="Prompt" pitchFamily="34" charset="-122"/>
                <a:cs typeface="Prompt" pitchFamily="34" charset="-120"/>
              </a:rPr>
              <a:t>คือส่วนต่างของอัตราความถูกต้องสองกลุ่ม ไม่ใช่ร้อยละการเปลี่ยนแปลง</a:t>
            </a:r>
            <a:endParaRPr lang="en-US" sz="900" dirty="0"/>
          </a:p>
        </p:txBody>
      </p:sp>
      <p:sp>
        <p:nvSpPr>
          <p:cNvPr id="21" name="divider"/>
          <p:cNvSpPr/>
          <p:nvPr/>
        </p:nvSpPr>
        <p:spPr>
          <a:xfrm>
            <a:off x="5623560" y="3657600"/>
            <a:ext cx="3017520" cy="0"/>
          </a:xfrm>
          <a:prstGeom prst="line">
            <a:avLst/>
          </a:prstGeom>
          <a:noFill/>
          <a:ln w="9525">
            <a:solidFill>
              <a:srgbClr val="E3E8EE"/>
            </a:solidFill>
            <a:prstDash val="solid"/>
          </a:ln>
        </p:spPr>
      </p:sp>
      <p:sp>
        <p:nvSpPr>
          <p:cNvPr id="22" name="approach head"/>
          <p:cNvSpPr txBox="1"/>
          <p:nvPr/>
        </p:nvSpPr>
        <p:spPr>
          <a:xfrm>
            <a:off x="5623560" y="3712464"/>
            <a:ext cx="3017520" cy="201168"/>
          </a:xfrm>
          <a:prstGeom prst="rect">
            <a:avLst/>
          </a:prstGeom>
          <a:noFill/>
          <a:ln/>
        </p:spPr>
        <p:txBody>
          <a:bodyPr wrap="square" lIns="0" tIns="0" rIns="0" bIns="0" rtlCol="0" anchor="ctr"/>
          <a:lstStyle/>
          <a:p>
            <a:pPr indent="0" marL="0">
              <a:buNone/>
            </a:pPr>
            <a:r>
              <a:rPr lang="en-US" sz="1050" b="1" dirty="0">
                <a:solidFill>
                  <a:schemeClr val="tx1"/>
                </a:solidFill>
                <a:latin typeface="Prompt" pitchFamily="34" charset="0"/>
                <a:ea typeface="Prompt" pitchFamily="34" charset="-122"/>
                <a:cs typeface="Prompt" pitchFamily="34" charset="-120"/>
              </a:rPr>
              <a:t>รูปแบบการใช้ AI ที่ประสบความสำเร็จสองแบบ</a:t>
            </a:r>
            <a:endParaRPr lang="en-US" sz="1050" dirty="0"/>
          </a:p>
        </p:txBody>
      </p:sp>
      <p:pic>
        <p:nvPicPr>
          <p:cNvPr id="23" name="glyph Centaurs (เซนทอร์)" descr="preencoded.png">    </p:cNvPr>
          <p:cNvPicPr>
            <a:picLocks noChangeAspect="1"/>
          </p:cNvPicPr>
          <p:nvPr/>
        </p:nvPicPr>
        <p:blipFill>
          <a:blip r:embed="rId3"/>
          <a:stretch>
            <a:fillRect/>
          </a:stretch>
        </p:blipFill>
        <p:spPr>
          <a:xfrm>
            <a:off x="5623560" y="3950208"/>
            <a:ext cx="329184" cy="219456"/>
          </a:xfrm>
          <a:prstGeom prst="rect">
            <a:avLst/>
          </a:prstGeom>
        </p:spPr>
      </p:pic>
      <p:sp>
        <p:nvSpPr>
          <p:cNvPr id="24" name="approach text"/>
          <p:cNvSpPr txBox="1"/>
          <p:nvPr/>
        </p:nvSpPr>
        <p:spPr>
          <a:xfrm>
            <a:off x="6044184" y="3931920"/>
            <a:ext cx="2596896" cy="256032"/>
          </a:xfrm>
          <a:prstGeom prst="rect">
            <a:avLst/>
          </a:prstGeom>
          <a:noFill/>
          <a:ln/>
        </p:spPr>
        <p:txBody>
          <a:bodyPr wrap="square" lIns="0" tIns="0" rIns="0" bIns="0" rtlCol="0" anchor="ctr"/>
          <a:lstStyle/>
          <a:p>
            <a:pPr indent="0" marL="0">
              <a:buNone/>
            </a:pPr>
            <a:r>
              <a:rPr lang="en-US" sz="1000" b="1" dirty="0">
                <a:solidFill>
                  <a:schemeClr val="tx1"/>
                </a:solidFill>
                <a:latin typeface="Prompt" pitchFamily="34" charset="0"/>
                <a:ea typeface="Prompt" pitchFamily="34" charset="-122"/>
                <a:cs typeface="Prompt" pitchFamily="34" charset="-120"/>
              </a:rPr>
              <a:t>Centaurs (เซนทอร์)  </a:t>
            </a:r>
            <a:pPr indent="0" marL="0">
              <a:buNone/>
            </a:pPr>
            <a:r>
              <a:rPr lang="en-US" sz="950" dirty="0">
                <a:solidFill>
                  <a:schemeClr val="tx2"/>
                </a:solidFill>
                <a:latin typeface="Prompt" pitchFamily="34" charset="0"/>
                <a:ea typeface="Prompt" pitchFamily="34" charset="-122"/>
                <a:cs typeface="Prompt" pitchFamily="34" charset="-120"/>
              </a:rPr>
              <a:t>แบ่งงานระหว่างคนกับ AI</a:t>
            </a:r>
            <a:endParaRPr lang="en-US" sz="1000" dirty="0"/>
          </a:p>
        </p:txBody>
      </p:sp>
      <p:pic>
        <p:nvPicPr>
          <p:cNvPr id="25" name="glyph Cyborgs (ไซบอร์ก)" descr="preencoded.png">    </p:cNvPr>
          <p:cNvPicPr>
            <a:picLocks noChangeAspect="1"/>
          </p:cNvPicPr>
          <p:nvPr/>
        </p:nvPicPr>
        <p:blipFill>
          <a:blip r:embed="rId4"/>
          <a:stretch>
            <a:fillRect/>
          </a:stretch>
        </p:blipFill>
        <p:spPr>
          <a:xfrm>
            <a:off x="5623560" y="4187952"/>
            <a:ext cx="329184" cy="219456"/>
          </a:xfrm>
          <a:prstGeom prst="rect">
            <a:avLst/>
          </a:prstGeom>
        </p:spPr>
      </p:pic>
      <p:sp>
        <p:nvSpPr>
          <p:cNvPr id="26" name="approach text"/>
          <p:cNvSpPr txBox="1"/>
          <p:nvPr/>
        </p:nvSpPr>
        <p:spPr>
          <a:xfrm>
            <a:off x="6044184" y="4169664"/>
            <a:ext cx="2596896" cy="256032"/>
          </a:xfrm>
          <a:prstGeom prst="rect">
            <a:avLst/>
          </a:prstGeom>
          <a:noFill/>
          <a:ln/>
        </p:spPr>
        <p:txBody>
          <a:bodyPr wrap="square" lIns="0" tIns="0" rIns="0" bIns="0" rtlCol="0" anchor="ctr"/>
          <a:lstStyle/>
          <a:p>
            <a:pPr indent="0" marL="0">
              <a:buNone/>
            </a:pPr>
            <a:r>
              <a:rPr lang="en-US" sz="1000" b="1" dirty="0">
                <a:solidFill>
                  <a:schemeClr val="tx1"/>
                </a:solidFill>
                <a:latin typeface="Prompt" pitchFamily="34" charset="0"/>
                <a:ea typeface="Prompt" pitchFamily="34" charset="-122"/>
                <a:cs typeface="Prompt" pitchFamily="34" charset="-120"/>
              </a:rPr>
              <a:t>Cyborgs (ไซบอร์ก)  </a:t>
            </a:r>
            <a:pPr indent="0" marL="0">
              <a:buNone/>
            </a:pPr>
            <a:r>
              <a:rPr lang="en-US" sz="950" dirty="0">
                <a:solidFill>
                  <a:schemeClr val="tx2"/>
                </a:solidFill>
                <a:latin typeface="Prompt" pitchFamily="34" charset="0"/>
                <a:ea typeface="Prompt" pitchFamily="34" charset="-122"/>
                <a:cs typeface="Prompt" pitchFamily="34" charset="-120"/>
              </a:rPr>
              <a:t>ผสาน AI เข้าไปในทุกขั้นตอน</a:t>
            </a:r>
            <a:endParaRPr lang="en-US" sz="1000" dirty="0"/>
          </a:p>
        </p:txBody>
      </p:sp>
      <p:sp>
        <p:nvSpPr>
          <p:cNvPr id="27"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rompt" pitchFamily="34" charset="0"/>
                <a:ea typeface="Prompt" pitchFamily="34" charset="-122"/>
                <a:cs typeface="Prompt" pitchFamily="34" charset="-120"/>
              </a:rPr>
              <a:t>Dell'Acqua, F., et al. (2023). Navigating the Jagged Technological Frontier. Harvard Business School Working Paper 24-013.</a:t>
            </a:r>
            <a:endParaRPr lang="en-US" sz="700" dirty="0"/>
          </a:p>
        </p:txBody>
      </p:sp>
      <p:sp>
        <p:nvSpPr>
          <p:cNvPr id="28"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950" b="1" dirty="0">
                <a:solidFill>
                  <a:srgbClr val="2E8B86"/>
                </a:solidFill>
                <a:latin typeface="Prompt" pitchFamily="34" charset="0"/>
                <a:ea typeface="Prompt" pitchFamily="34" charset="-122"/>
                <a:cs typeface="Prompt" pitchFamily="34" charset="-120"/>
              </a:rPr>
              <a:t>ถัดไป  </a:t>
            </a:r>
            <a:pPr algn="r" indent="0" marL="0">
              <a:buNone/>
            </a:pPr>
            <a:r>
              <a:rPr lang="en-US" sz="950" dirty="0">
                <a:solidFill>
                  <a:srgbClr val="1B2A4A"/>
                </a:solidFill>
                <a:latin typeface="Prompt" pitchFamily="34" charset="0"/>
                <a:ea typeface="Prompt" pitchFamily="34" charset="-122"/>
                <a:cs typeface="Prompt" pitchFamily="34" charset="-120"/>
              </a:rPr>
              <a:t>ผลแบบนี้จะเป็นจริงกับธุรกิจขนาดเล็กจริงหรือไม่?</a:t>
            </a:r>
            <a:endParaRPr lang="en-US" sz="950" dirty="0"/>
          </a:p>
        </p:txBody>
      </p:sp>
      <p:pic>
        <p:nvPicPr>
          <p:cNvPr id="29" name="icon FiArrowRight" descr="preencoded.png">    </p:cNvPr>
          <p:cNvPicPr>
            <a:picLocks noChangeAspect="1"/>
          </p:cNvPicPr>
          <p:nvPr/>
        </p:nvPicPr>
        <p:blipFill>
          <a:blip r:embed="rId5"/>
          <a:stretch>
            <a:fillRect/>
          </a:stretch>
        </p:blipFill>
        <p:spPr>
          <a:xfrm>
            <a:off x="8439912" y="4498848"/>
            <a:ext cx="201168" cy="201168"/>
          </a:xfrm>
          <a:prstGeom prst="rect">
            <a:avLst/>
          </a:prstGeom>
        </p:spPr>
      </p:pic>
      <p:sp>
        <p:nvSpPr>
          <p:cNvPr id="30"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rompt"/>
                <a:ea typeface="Prompt"/>
                <a:cs typeface="Prompt"/>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500"/>
                                        <p:tgtEl>
                                          <p:spTgt spid="1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500"/>
                                        <p:tgtEl>
                                          <p:spTgt spid="11"/>
                                        </p:tgtEl>
                                      </p:cBhvr>
                                    </p:animEffect>
                                  </p:childTnLst>
                                </p:cTn>
                              </p:par>
                            </p:childTnLst>
                          </p:cTn>
                        </p:par>
                      </p:childTnLst>
                    </p:cTn>
                  </p:par>
                  <p:par>
                    <p:cTn id="14" fill="hold">
                      <p:stCondLst>
                        <p:cond delay="indefinite"/>
                      </p:stCondLst>
                      <p:childTnLst>
                        <p:par>
                          <p:cTn id="15"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wipe(left)">
                                      <p:cBhvr>
                                        <p:cTn id="13"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childTnLst>
                          </p:cTn>
                        </p:par>
                      </p:childTnLst>
                    </p:cTn>
                  </p:par>
                  <p:par>
                    <p:cTn id="45" fill="hold">
                      <p:stCondLst>
                        <p:cond delay="indefinite"/>
                      </p:stCondLst>
                      <p:childTnLst>
                        <p:par>
                          <p:cTn id="46" fill="hold">
                            <p:stCondLst>
                              <p:cond delay="0"/>
                            </p:stCondLst>
                            <p:childTnLst>
                              <p:par>
                                <p:cTn id="21" presetID="23" presetClass="entr" presetSubtype="16"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animScale>
                                      <p:cBhvr>
                                        <p:cTn id="23" dur="500" fill="hold"/>
                                        <p:tgtEl>
                                          <p:spTgt spid="14"/>
                                        </p:tgtEl>
                                      </p:cBhvr>
                                      <p:from x="0" y="0"/>
                                      <p:to x="100000" y="100000"/>
                                    </p:animScale>
                                    <p:animEffect transition="in" filter="fade">
                                      <p:cBhvr>
                                        <p:cTn id="24" dur="500"/>
                                        <p:tgtEl>
                                          <p:spTgt spid="14"/>
                                        </p:tgtEl>
                                      </p:cBhvr>
                                    </p:animEffect>
                                  </p:childTnLst>
                                </p:cTn>
                              </p:par>
                              <p:par>
                                <p:cTn id="25" presetID="23" presetClass="entr" presetSubtype="16"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Scale>
                                      <p:cBhvr>
                                        <p:cTn id="27" dur="500" fill="hold"/>
                                        <p:tgtEl>
                                          <p:spTgt spid="15"/>
                                        </p:tgtEl>
                                      </p:cBhvr>
                                      <p:from x="0" y="0"/>
                                      <p:to x="100000" y="100000"/>
                                    </p:animScale>
                                    <p:animEffect transition="in" filter="fade">
                                      <p:cBhvr>
                                        <p:cTn id="28" dur="500"/>
                                        <p:tgtEl>
                                          <p:spTgt spid="15"/>
                                        </p:tgtEl>
                                      </p:cBhvr>
                                    </p:animEffect>
                                  </p:childTnLst>
                                </p:cTn>
                              </p:par>
                              <p:par>
                                <p:cTn id="29" presetID="23" presetClass="entr" presetSubtype="16"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Scale>
                                      <p:cBhvr>
                                        <p:cTn id="31" dur="500" fill="hold"/>
                                        <p:tgtEl>
                                          <p:spTgt spid="16"/>
                                        </p:tgtEl>
                                      </p:cBhvr>
                                      <p:from x="0" y="0"/>
                                      <p:to x="100000" y="100000"/>
                                    </p:animScale>
                                    <p:animEffect transition="in" filter="fade">
                                      <p:cBhvr>
                                        <p:cTn id="32" dur="500"/>
                                        <p:tgtEl>
                                          <p:spTgt spid="16"/>
                                        </p:tgtEl>
                                      </p:cBhvr>
                                    </p:animEffect>
                                  </p:childTnLst>
                                </p:cTn>
                              </p:par>
                              <p:par>
                                <p:cTn id="33" presetID="23" presetClass="entr" presetSubtype="16"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Scale>
                                      <p:cBhvr>
                                        <p:cTn id="35" dur="500" fill="hold"/>
                                        <p:tgtEl>
                                          <p:spTgt spid="17"/>
                                        </p:tgtEl>
                                      </p:cBhvr>
                                      <p:from x="0" y="0"/>
                                      <p:to x="100000" y="100000"/>
                                    </p:animScale>
                                    <p:animEffect transition="in" filter="fade">
                                      <p:cBhvr>
                                        <p:cTn id="36" dur="500"/>
                                        <p:tgtEl>
                                          <p:spTgt spid="17"/>
                                        </p:tgtEl>
                                      </p:cBhvr>
                                    </p:animEffect>
                                  </p:childTnLst>
                                </p:cTn>
                              </p:par>
                              <p:par>
                                <p:cTn id="37" presetID="23" presetClass="entr" presetSubtype="16"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Scale>
                                      <p:cBhvr>
                                        <p:cTn id="39" dur="500" fill="hold"/>
                                        <p:tgtEl>
                                          <p:spTgt spid="19"/>
                                        </p:tgtEl>
                                      </p:cBhvr>
                                      <p:from x="0" y="0"/>
                                      <p:to x="100000" y="100000"/>
                                    </p:animScale>
                                    <p:animEffect transition="in" filter="fade">
                                      <p:cBhvr>
                                        <p:cTn id="40" dur="500"/>
                                        <p:tgtEl>
                                          <p:spTgt spid="19"/>
                                        </p:tgtEl>
                                      </p:cBhvr>
                                    </p:animEffect>
                                  </p:childTnLst>
                                </p:cTn>
                              </p:par>
                              <p:par>
                                <p:cTn id="41" presetID="23" presetClass="entr" presetSubtype="16"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animScale>
                                      <p:cBhvr>
                                        <p:cTn id="43" dur="500" fill="hold"/>
                                        <p:tgtEl>
                                          <p:spTgt spid="18"/>
                                        </p:tgtEl>
                                      </p:cBhvr>
                                      <p:from x="0" y="0"/>
                                      <p:to x="100000" y="100000"/>
                                    </p:animScale>
                                    <p:animEffect transition="in" filter="fade">
                                      <p:cBhvr>
                                        <p:cTn id="44" dur="500"/>
                                        <p:tgtEl>
                                          <p:spTgt spid="18"/>
                                        </p:tgtEl>
                                      </p:cBhvr>
                                    </p:animEffect>
                                  </p:childTnLst>
                                </p:cTn>
                              </p:par>
                            </p:childTnLst>
                          </p:cTn>
                        </p:par>
                      </p:childTnLst>
                    </p:cTn>
                  </p:par>
                  <p:par>
                    <p:cTn id="50" fill="hold">
                      <p:stCondLst>
                        <p:cond delay="indefinite"/>
                      </p:stCondLst>
                      <p:childTnLst>
                        <p:par>
                          <p:cTn id="51"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childTnLst>
                                </p:cTn>
                              </p:par>
                            </p:childTnLst>
                          </p:cTn>
                        </p:par>
                      </p:childTnLst>
                    </p:cTn>
                  </p:par>
                  <p:par>
                    <p:cTn id="76" fill="hold">
                      <p:stCondLst>
                        <p:cond delay="indefinite"/>
                      </p:stCondLst>
                      <p:childTnLst>
                        <p:par>
                          <p:cTn id="77" fill="hold">
                            <p:stCondLst>
                              <p:cond delay="0"/>
                            </p:stCondLst>
                            <p:childTnLst>
                              <p:par>
                                <p:cTn id="52" presetID="42" presetClass="entr" presetSubtype="0" fill="hold" grpId="0" nodeType="click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700"/>
                                        <p:tgtEl>
                                          <p:spTgt spid="21"/>
                                        </p:tgtEl>
                                      </p:cBhvr>
                                    </p:animEffect>
                                    <p:anim calcmode="lin" valueType="num">
                                      <p:cBhvr additive="base">
                                        <p:cTn id="55" dur="700" fill="hold"/>
                                        <p:tgtEl>
                                          <p:spTgt spid="2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700"/>
                                        <p:tgtEl>
                                          <p:spTgt spid="22"/>
                                        </p:tgtEl>
                                      </p:cBhvr>
                                    </p:animEffect>
                                    <p:anim calcmode="lin" valueType="num">
                                      <p:cBhvr additive="base">
                                        <p:cTn id="59" dur="700" fill="hold"/>
                                        <p:tgtEl>
                                          <p:spTgt spid="22"/>
                                        </p:tgtEl>
                                        <p:attrNameLst>
                                          <p:attrName>ppt_y</p:attrName>
                                        </p:attrNameLst>
                                      </p:cBhvr>
                                      <p:tavLst>
                                        <p:tav tm="0">
                                          <p:val>
                                            <p:strVal val="#ppt_y+.08"/>
                                          </p:val>
                                        </p:tav>
                                        <p:tav tm="100000">
                                          <p:val>
                                            <p:strVal val="#ppt_y"/>
                                          </p:val>
                                        </p:tav>
                                      </p:tavLst>
                                    </p:anim>
                                  </p:childTnLst>
                                </p:cTn>
                              </p:par>
                              <p:par>
                                <p:cTn id="60" presetID="42" presetClass="entr" presetSubtype="0" fill="hold" grpId="0" nodeType="with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700"/>
                                        <p:tgtEl>
                                          <p:spTgt spid="23"/>
                                        </p:tgtEl>
                                      </p:cBhvr>
                                    </p:animEffect>
                                    <p:anim calcmode="lin" valueType="num">
                                      <p:cBhvr additive="base">
                                        <p:cTn id="63" dur="700" fill="hold"/>
                                        <p:tgtEl>
                                          <p:spTgt spid="23"/>
                                        </p:tgtEl>
                                        <p:attrNameLst>
                                          <p:attrName>ppt_y</p:attrName>
                                        </p:attrNameLst>
                                      </p:cBhvr>
                                      <p:tavLst>
                                        <p:tav tm="0">
                                          <p:val>
                                            <p:strVal val="#ppt_y+.08"/>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fade">
                                      <p:cBhvr>
                                        <p:cTn id="66" dur="700"/>
                                        <p:tgtEl>
                                          <p:spTgt spid="25"/>
                                        </p:tgtEl>
                                      </p:cBhvr>
                                    </p:animEffect>
                                    <p:anim calcmode="lin" valueType="num">
                                      <p:cBhvr additive="base">
                                        <p:cTn id="67" dur="700" fill="hold"/>
                                        <p:tgtEl>
                                          <p:spTgt spid="25"/>
                                        </p:tgtEl>
                                        <p:attrNameLst>
                                          <p:attrName>ppt_y</p:attrName>
                                        </p:attrNameLst>
                                      </p:cBhvr>
                                      <p:tavLst>
                                        <p:tav tm="0">
                                          <p:val>
                                            <p:strVal val="#ppt_y+.08"/>
                                          </p:val>
                                        </p:tav>
                                        <p:tav tm="100000">
                                          <p:val>
                                            <p:strVal val="#ppt_y"/>
                                          </p:val>
                                        </p:tav>
                                      </p:tavLst>
                                    </p:anim>
                                  </p:childTnLst>
                                </p:cTn>
                              </p:par>
                              <p:par>
                                <p:cTn id="68" presetID="42"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700"/>
                                        <p:tgtEl>
                                          <p:spTgt spid="24"/>
                                        </p:tgtEl>
                                      </p:cBhvr>
                                    </p:animEffect>
                                    <p:anim calcmode="lin" valueType="num">
                                      <p:cBhvr additive="base">
                                        <p:cTn id="71" dur="700" fill="hold"/>
                                        <p:tgtEl>
                                          <p:spTgt spid="24"/>
                                        </p:tgtEl>
                                        <p:attrNameLst>
                                          <p:attrName>ppt_y</p:attrName>
                                        </p:attrNameLst>
                                      </p:cBhvr>
                                      <p:tavLst>
                                        <p:tav tm="0">
                                          <p:val>
                                            <p:strVal val="#ppt_y+.08"/>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26"/>
                                        </p:tgtEl>
                                        <p:attrNameLst>
                                          <p:attrName>style.visibility</p:attrName>
                                        </p:attrNameLst>
                                      </p:cBhvr>
                                      <p:to>
                                        <p:strVal val="visible"/>
                                      </p:to>
                                    </p:set>
                                    <p:animEffect transition="in" filter="fade">
                                      <p:cBhvr>
                                        <p:cTn id="74" dur="700"/>
                                        <p:tgtEl>
                                          <p:spTgt spid="26"/>
                                        </p:tgtEl>
                                      </p:cBhvr>
                                    </p:animEffect>
                                    <p:anim calcmode="lin" valueType="num">
                                      <p:cBhvr additive="base">
                                        <p:cTn id="75" dur="700" fill="hold"/>
                                        <p:tgtEl>
                                          <p:spTgt spid="26"/>
                                        </p:tgtEl>
                                        <p:attrNameLst>
                                          <p:attrName>ppt_y</p:attrName>
                                        </p:attrNameLst>
                                      </p:cBhvr>
                                      <p:tavLst>
                                        <p:tav tm="0">
                                          <p:val>
                                            <p:strVal val="#ppt_y+.08"/>
                                          </p:val>
                                        </p:tav>
                                        <p:tav tm="100000">
                                          <p:val>
                                            <p:strVal val="#ppt_y"/>
                                          </p:val>
                                        </p:tav>
                                      </p:tavLst>
                                    </p:anim>
                                  </p:childTnLst>
                                </p:cTn>
                              </p:par>
                            </p:childTnLst>
                          </p:cTn>
                        </p:par>
                      </p:childTnLst>
                    </p:cTn>
                  </p:par>
                  <p:par>
                    <p:cTn id="84" fill="hold">
                      <p:stCondLst>
                        <p:cond delay="indefinite"/>
                      </p:stCondLst>
                      <p:childTnLst>
                        <p:par>
                          <p:cTn id="85" fill="hold">
                            <p:stCondLst>
                              <p:cond delay="0"/>
                            </p:stCondLst>
                            <p:childTnLst>
                              <p:par>
                                <p:cTn id="78" presetID="10" presetClass="entr" presetSubtype="0" fill="hold" grpId="0" nodeType="clickEffect">
                                  <p:stCondLst>
                                    <p:cond delay="0"/>
                                  </p:stCondLst>
                                  <p:childTnLst>
                                    <p:set>
                                      <p:cBhvr>
                                        <p:cTn id="79" dur="1" fill="hold">
                                          <p:stCondLst>
                                            <p:cond delay="0"/>
                                          </p:stCondLst>
                                        </p:cTn>
                                        <p:tgtEl>
                                          <p:spTgt spid="28"/>
                                        </p:tgtEl>
                                        <p:attrNameLst>
                                          <p:attrName>style.visibility</p:attrName>
                                        </p:attrNameLst>
                                      </p:cBhvr>
                                      <p:to>
                                        <p:strVal val="visible"/>
                                      </p:to>
                                    </p:set>
                                    <p:animEffect transition="in" filter="fade">
                                      <p:cBhvr>
                                        <p:cTn id="80" dur="500"/>
                                        <p:tgtEl>
                                          <p:spTgt spid="28"/>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9"/>
                                        </p:tgtEl>
                                        <p:attrNameLst>
                                          <p:attrName>style.visibility</p:attrName>
                                        </p:attrNameLst>
                                      </p:cBhvr>
                                      <p:to>
                                        <p:strVal val="visible"/>
                                      </p:to>
                                    </p:set>
                                    <p:animEffect transition="in" filter="fade">
                                      <p:cBhvr>
                                        <p:cTn id="83"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Graphic spid="12" grpId="0">
        <p:bldAsOne/>
      </p:bldGraphic>
      <p:bldP spid="13" grpId="0" animBg="1"/>
      <p:bldP spid="14" grpId="0" animBg="1"/>
      <p:bldP spid="15" grpId="0" animBg="1"/>
      <p:bldP spid="16" grpId="0" animBg="1"/>
      <p:bldP spid="17" grpId="0" animBg="1"/>
      <p:bldP spid="19" grpId="0" animBg="1"/>
      <p:bldP spid="20" grpId="0" animBg="1"/>
      <p:bldP spid="21" grpId="0" animBg="1"/>
      <p:bldP spid="22" grpId="0" animBg="1"/>
      <p:bldP spid="24" grpId="0" animBg="1"/>
      <p:bldP spid="26" grpId="0" animBg="1"/>
      <p:bldP spid="2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rompt" pitchFamily="34" charset="0"/>
                <a:ea typeface="Prompt" pitchFamily="34" charset="-122"/>
                <a:cs typeface="Prompt" pitchFamily="34" charset="-120"/>
              </a:rPr>
              <a:t>บทความที่ 5  ·  วัตถุประสงค์และผลการศึกษา</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rompt" pitchFamily="34" charset="0"/>
                <a:ea typeface="Prompt" pitchFamily="34" charset="-122"/>
                <a:cs typeface="Prompt" pitchFamily="34" charset="-120"/>
              </a:rPr>
              <a:t>ผลกระทบของ AI ต่อผู้ประกอบการที่แตกต่างกัน</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BFE6E0"/>
          </a:solidFill>
          <a:ln w="12700">
            <a:solidFill>
              <a:srgbClr val="BFE6E0"/>
            </a:solidFill>
            <a:prstDash val="solid"/>
          </a:ln>
        </p:spPr>
      </p:sp>
      <p:sp>
        <p:nvSpPr>
          <p:cNvPr id="6" name="progress dot 3"/>
          <p:cNvSpPr/>
          <p:nvPr/>
        </p:nvSpPr>
        <p:spPr>
          <a:xfrm>
            <a:off x="8174736" y="342900"/>
            <a:ext cx="100584" cy="100584"/>
          </a:xfrm>
          <a:prstGeom prst="ellipse">
            <a:avLst/>
          </a:prstGeom>
          <a:solidFill>
            <a:srgbClr val="BFE6E0"/>
          </a:solidFill>
          <a:ln w="12700">
            <a:solidFill>
              <a:srgbClr val="BFE6E0"/>
            </a:solidFill>
            <a:prstDash val="solid"/>
          </a:ln>
        </p:spPr>
      </p:sp>
      <p:sp>
        <p:nvSpPr>
          <p:cNvPr id="7" name="progress dot 4"/>
          <p:cNvSpPr/>
          <p:nvPr/>
        </p:nvSpPr>
        <p:spPr>
          <a:xfrm>
            <a:off x="8357616" y="342900"/>
            <a:ext cx="100584" cy="100584"/>
          </a:xfrm>
          <a:prstGeom prst="ellipse">
            <a:avLst/>
          </a:prstGeom>
          <a:solidFill>
            <a:srgbClr val="2E8B86"/>
          </a:solidFill>
          <a:ln w="12700">
            <a:solidFill>
              <a:srgbClr val="2E8B86"/>
            </a:solidFill>
            <a:prstDash val="solid"/>
          </a:ln>
        </p:spPr>
      </p:sp>
      <p:sp>
        <p:nvSpPr>
          <p:cNvPr id="8" name="progress dot 5"/>
          <p:cNvSpPr/>
          <p:nvPr/>
        </p:nvSpPr>
        <p:spPr>
          <a:xfrm>
            <a:off x="8540496" y="342900"/>
            <a:ext cx="100584" cy="100584"/>
          </a:xfrm>
          <a:prstGeom prst="ellipse">
            <a:avLst/>
          </a:prstGeom>
          <a:solidFill>
            <a:srgbClr val="E3E8EE"/>
          </a:solidFill>
          <a:ln w="12700">
            <a:solidFill>
              <a:srgbClr val="E3E8EE"/>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900" dirty="0">
                <a:solidFill>
                  <a:srgbClr val="A3ADBB"/>
                </a:solidFill>
                <a:latin typeface="Prompt" pitchFamily="34" charset="0"/>
                <a:ea typeface="Prompt" pitchFamily="34" charset="-122"/>
                <a:cs typeface="Prompt" pitchFamily="34" charset="-120"/>
              </a:rPr>
              <a:t>4 / 5</a:t>
            </a:r>
            <a:endParaRPr lang="en-US" sz="900" dirty="0"/>
          </a:p>
        </p:txBody>
      </p:sp>
      <p:sp>
        <p:nvSpPr>
          <p:cNvPr id="10" name="icon circle"/>
          <p:cNvSpPr/>
          <p:nvPr/>
        </p:nvSpPr>
        <p:spPr>
          <a:xfrm>
            <a:off x="502920" y="1481328"/>
            <a:ext cx="365760" cy="365760"/>
          </a:xfrm>
          <a:prstGeom prst="ellipse">
            <a:avLst/>
          </a:prstGeom>
          <a:solidFill>
            <a:srgbClr val="F3F5F8"/>
          </a:solidFill>
          <a:ln w="12700">
            <a:solidFill>
              <a:srgbClr val="F3F5F8"/>
            </a:solidFill>
            <a:prstDash val="solid"/>
          </a:ln>
        </p:spPr>
      </p:sp>
      <p:pic>
        <p:nvPicPr>
          <p:cNvPr id="11" name="icon FiMapPin" descr="preencoded.png">    </p:cNvPr>
          <p:cNvPicPr>
            <a:picLocks noChangeAspect="1"/>
          </p:cNvPicPr>
          <p:nvPr/>
        </p:nvPicPr>
        <p:blipFill>
          <a:blip r:embed="rId1"/>
          <a:stretch>
            <a:fillRect/>
          </a:stretch>
        </p:blipFill>
        <p:spPr>
          <a:xfrm>
            <a:off x="585216" y="1563624"/>
            <a:ext cx="201168" cy="201168"/>
          </a:xfrm>
          <a:prstGeom prst="rect">
            <a:avLst/>
          </a:prstGeom>
        </p:spPr>
      </p:pic>
      <p:sp>
        <p:nvSpPr>
          <p:cNvPr id="12" name="fact บริบท"/>
          <p:cNvSpPr txBox="1"/>
          <p:nvPr/>
        </p:nvSpPr>
        <p:spPr>
          <a:xfrm>
            <a:off x="1005840" y="1435608"/>
            <a:ext cx="3246120" cy="539496"/>
          </a:xfrm>
          <a:prstGeom prst="rect">
            <a:avLst/>
          </a:prstGeom>
          <a:noFill/>
          <a:ln/>
        </p:spPr>
        <p:txBody>
          <a:bodyPr wrap="square" lIns="0" tIns="0" rIns="0" bIns="0" rtlCol="0" anchor="t"/>
          <a:lstStyle/>
          <a:p>
            <a:pPr indent="0" marL="0">
              <a:buNone/>
            </a:pPr>
            <a:r>
              <a:rPr lang="en-US" sz="1200" b="1" dirty="0">
                <a:solidFill>
                  <a:schemeClr val="tx1"/>
                </a:solidFill>
                <a:latin typeface="Prompt" pitchFamily="34" charset="0"/>
                <a:ea typeface="Prompt" pitchFamily="34" charset="-122"/>
                <a:cs typeface="Prompt" pitchFamily="34" charset="-120"/>
              </a:rPr>
              <a:t>บริบท</a:t>
            </a:r>
            <a:endParaRPr lang="en-US" sz="1200" dirty="0"/>
          </a:p>
          <a:p>
            <a:pPr indent="0" marL="0">
              <a:buNone/>
            </a:pPr>
            <a:r>
              <a:rPr lang="en-US" sz="1100" dirty="0">
                <a:solidFill>
                  <a:schemeClr val="tx2"/>
                </a:solidFill>
                <a:latin typeface="Prompt" pitchFamily="34" charset="0"/>
                <a:ea typeface="Prompt" pitchFamily="34" charset="-122"/>
                <a:cs typeface="Prompt" pitchFamily="34" charset="-120"/>
              </a:rPr>
              <a:t>ผู้ประกอบการธุรกิจขนาดเล็กในประเทศเคนยา</a:t>
            </a:r>
            <a:endParaRPr lang="en-US" sz="1200" dirty="0"/>
          </a:p>
        </p:txBody>
      </p:sp>
      <p:sp>
        <p:nvSpPr>
          <p:cNvPr id="13" name="icon circle"/>
          <p:cNvSpPr/>
          <p:nvPr/>
        </p:nvSpPr>
        <p:spPr>
          <a:xfrm>
            <a:off x="502920" y="2066544"/>
            <a:ext cx="365760" cy="365760"/>
          </a:xfrm>
          <a:prstGeom prst="ellipse">
            <a:avLst/>
          </a:prstGeom>
          <a:solidFill>
            <a:srgbClr val="F3F5F8"/>
          </a:solidFill>
          <a:ln w="12700">
            <a:solidFill>
              <a:srgbClr val="F3F5F8"/>
            </a:solidFill>
            <a:prstDash val="solid"/>
          </a:ln>
        </p:spPr>
      </p:sp>
      <p:pic>
        <p:nvPicPr>
          <p:cNvPr id="14" name="icon FiMessageSquare" descr="preencoded.png">    </p:cNvPr>
          <p:cNvPicPr>
            <a:picLocks noChangeAspect="1"/>
          </p:cNvPicPr>
          <p:nvPr/>
        </p:nvPicPr>
        <p:blipFill>
          <a:blip r:embed="rId2"/>
          <a:stretch>
            <a:fillRect/>
          </a:stretch>
        </p:blipFill>
        <p:spPr>
          <a:xfrm>
            <a:off x="585216" y="2148840"/>
            <a:ext cx="201168" cy="201168"/>
          </a:xfrm>
          <a:prstGeom prst="rect">
            <a:avLst/>
          </a:prstGeom>
        </p:spPr>
      </p:pic>
      <p:sp>
        <p:nvSpPr>
          <p:cNvPr id="15" name="fact สิ่งที่ทดลอง"/>
          <p:cNvSpPr txBox="1"/>
          <p:nvPr/>
        </p:nvSpPr>
        <p:spPr>
          <a:xfrm>
            <a:off x="1005840" y="2020824"/>
            <a:ext cx="3246120" cy="539496"/>
          </a:xfrm>
          <a:prstGeom prst="rect">
            <a:avLst/>
          </a:prstGeom>
          <a:noFill/>
          <a:ln/>
        </p:spPr>
        <p:txBody>
          <a:bodyPr wrap="square" lIns="0" tIns="0" rIns="0" bIns="0" rtlCol="0" anchor="t"/>
          <a:lstStyle/>
          <a:p>
            <a:pPr indent="0" marL="0">
              <a:buNone/>
            </a:pPr>
            <a:r>
              <a:rPr lang="en-US" sz="1200" b="1" dirty="0">
                <a:solidFill>
                  <a:schemeClr val="tx1"/>
                </a:solidFill>
                <a:latin typeface="Prompt" pitchFamily="34" charset="0"/>
                <a:ea typeface="Prompt" pitchFamily="34" charset="-122"/>
                <a:cs typeface="Prompt" pitchFamily="34" charset="-120"/>
              </a:rPr>
              <a:t>สิ่งที่ทดลอง</a:t>
            </a:r>
            <a:endParaRPr lang="en-US" sz="1200" dirty="0"/>
          </a:p>
          <a:p>
            <a:pPr indent="0" marL="0">
              <a:buNone/>
            </a:pPr>
            <a:r>
              <a:rPr lang="en-US" sz="1100" dirty="0">
                <a:solidFill>
                  <a:schemeClr val="tx2"/>
                </a:solidFill>
                <a:latin typeface="Prompt" pitchFamily="34" charset="0"/>
                <a:ea typeface="Prompt" pitchFamily="34" charset="-122"/>
                <a:cs typeface="Prompt" pitchFamily="34" charset="-120"/>
              </a:rPr>
              <a:t>ผู้ช่วยธุรกิจ AI ที่ขับเคลื่อนด้วย GPT-4 ให้คำแนะนำทางธุรกิจ</a:t>
            </a:r>
            <a:endParaRPr lang="en-US" sz="1200" dirty="0"/>
          </a:p>
        </p:txBody>
      </p:sp>
      <p:sp>
        <p:nvSpPr>
          <p:cNvPr id="16" name="icon circle"/>
          <p:cNvSpPr/>
          <p:nvPr/>
        </p:nvSpPr>
        <p:spPr>
          <a:xfrm>
            <a:off x="502920" y="2651760"/>
            <a:ext cx="365760" cy="365760"/>
          </a:xfrm>
          <a:prstGeom prst="ellipse">
            <a:avLst/>
          </a:prstGeom>
          <a:solidFill>
            <a:srgbClr val="F3F5F8"/>
          </a:solidFill>
          <a:ln w="12700">
            <a:solidFill>
              <a:srgbClr val="F3F5F8"/>
            </a:solidFill>
            <a:prstDash val="solid"/>
          </a:ln>
        </p:spPr>
      </p:sp>
      <p:pic>
        <p:nvPicPr>
          <p:cNvPr id="17" name="icon FiDollarSign" descr="preencoded.png">    </p:cNvPr>
          <p:cNvPicPr>
            <a:picLocks noChangeAspect="1"/>
          </p:cNvPicPr>
          <p:nvPr/>
        </p:nvPicPr>
        <p:blipFill>
          <a:blip r:embed="rId3"/>
          <a:stretch>
            <a:fillRect/>
          </a:stretch>
        </p:blipFill>
        <p:spPr>
          <a:xfrm>
            <a:off x="585216" y="2734056"/>
            <a:ext cx="201168" cy="201168"/>
          </a:xfrm>
          <a:prstGeom prst="rect">
            <a:avLst/>
          </a:prstGeom>
        </p:spPr>
      </p:pic>
      <p:sp>
        <p:nvSpPr>
          <p:cNvPr id="18" name="fact ตัวแปรผลลัพธ์"/>
          <p:cNvSpPr txBox="1"/>
          <p:nvPr/>
        </p:nvSpPr>
        <p:spPr>
          <a:xfrm>
            <a:off x="1005840" y="2606040"/>
            <a:ext cx="3246120" cy="539496"/>
          </a:xfrm>
          <a:prstGeom prst="rect">
            <a:avLst/>
          </a:prstGeom>
          <a:noFill/>
          <a:ln/>
        </p:spPr>
        <p:txBody>
          <a:bodyPr wrap="square" lIns="0" tIns="0" rIns="0" bIns="0" rtlCol="0" anchor="t"/>
          <a:lstStyle/>
          <a:p>
            <a:pPr indent="0" marL="0">
              <a:buNone/>
            </a:pPr>
            <a:r>
              <a:rPr lang="en-US" sz="1200" b="1" dirty="0">
                <a:solidFill>
                  <a:schemeClr val="tx1"/>
                </a:solidFill>
                <a:latin typeface="Prompt" pitchFamily="34" charset="0"/>
                <a:ea typeface="Prompt" pitchFamily="34" charset="-122"/>
                <a:cs typeface="Prompt" pitchFamily="34" charset="-120"/>
              </a:rPr>
              <a:t>ตัวแปรผลลัพธ์</a:t>
            </a:r>
            <a:endParaRPr lang="en-US" sz="1200" dirty="0"/>
          </a:p>
          <a:p>
            <a:pPr indent="0" marL="0">
              <a:buNone/>
            </a:pPr>
            <a:r>
              <a:rPr lang="en-US" sz="1100" dirty="0">
                <a:solidFill>
                  <a:schemeClr val="tx2"/>
                </a:solidFill>
                <a:latin typeface="Prompt" pitchFamily="34" charset="0"/>
                <a:ea typeface="Prompt" pitchFamily="34" charset="-122"/>
                <a:cs typeface="Prompt" pitchFamily="34" charset="-120"/>
              </a:rPr>
              <a:t>รายได้และกำไร</a:t>
            </a:r>
            <a:endParaRPr lang="en-US" sz="1200" dirty="0"/>
          </a:p>
        </p:txBody>
      </p:sp>
      <p:sp>
        <p:nvSpPr>
          <p:cNvPr id="19" name="main effect card"/>
          <p:cNvSpPr/>
          <p:nvPr/>
        </p:nvSpPr>
        <p:spPr>
          <a:xfrm>
            <a:off x="502920" y="3291840"/>
            <a:ext cx="3749040" cy="1097280"/>
          </a:xfrm>
          <a:prstGeom prst="roundRect">
            <a:avLst>
              <a:gd name="adj" fmla="val 10000"/>
            </a:avLst>
          </a:prstGeom>
          <a:solidFill>
            <a:srgbClr val="1B2A4A"/>
          </a:solidFill>
          <a:ln w="12700">
            <a:solidFill>
              <a:srgbClr val="1B2A4A"/>
            </a:solidFill>
            <a:prstDash val="solid"/>
          </a:ln>
        </p:spPr>
      </p:sp>
      <p:sp>
        <p:nvSpPr>
          <p:cNvPr id="20" name="tag finding"/>
          <p:cNvSpPr/>
          <p:nvPr/>
        </p:nvSpPr>
        <p:spPr>
          <a:xfrm>
            <a:off x="704088" y="3438144"/>
            <a:ext cx="1143000" cy="201168"/>
          </a:xfrm>
          <a:prstGeom prst="roundRect">
            <a:avLst>
              <a:gd name="adj" fmla="val 50000"/>
            </a:avLst>
          </a:prstGeom>
          <a:solidFill>
            <a:srgbClr val="BFE6E0"/>
          </a:solidFill>
          <a:ln w="12700">
            <a:solidFill>
              <a:srgbClr val="BFE6E0"/>
            </a:solidFill>
            <a:prstDash val="solid"/>
          </a:ln>
        </p:spPr>
      </p:sp>
      <p:sp>
        <p:nvSpPr>
          <p:cNvPr id="21" name="tag text"/>
          <p:cNvSpPr txBox="1"/>
          <p:nvPr/>
        </p:nvSpPr>
        <p:spPr>
          <a:xfrm>
            <a:off x="704088" y="3438144"/>
            <a:ext cx="1143000" cy="201168"/>
          </a:xfrm>
          <a:prstGeom prst="rect">
            <a:avLst/>
          </a:prstGeom>
          <a:noFill/>
          <a:ln/>
        </p:spPr>
        <p:txBody>
          <a:bodyPr wrap="square" lIns="0" tIns="0" rIns="0" bIns="0" rtlCol="0" anchor="ctr"/>
          <a:lstStyle/>
          <a:p>
            <a:pPr algn="ctr" indent="0" marL="0">
              <a:buNone/>
            </a:pPr>
            <a:r>
              <a:rPr lang="en-US" sz="850" b="1" spc="150" kern="0" dirty="0">
                <a:solidFill>
                  <a:srgbClr val="1B2A4A"/>
                </a:solidFill>
                <a:latin typeface="Prompt" pitchFamily="34" charset="0"/>
                <a:ea typeface="Prompt" pitchFamily="34" charset="-122"/>
                <a:cs typeface="Prompt" pitchFamily="34" charset="-120"/>
              </a:rPr>
              <a:t>ผลการวิจัย</a:t>
            </a:r>
            <a:endParaRPr lang="en-US" sz="850" dirty="0"/>
          </a:p>
        </p:txBody>
      </p:sp>
      <p:sp>
        <p:nvSpPr>
          <p:cNvPr id="22" name="main head"/>
          <p:cNvSpPr txBox="1"/>
          <p:nvPr/>
        </p:nvSpPr>
        <p:spPr>
          <a:xfrm>
            <a:off x="704088" y="3657600"/>
            <a:ext cx="2468880" cy="201168"/>
          </a:xfrm>
          <a:prstGeom prst="rect">
            <a:avLst/>
          </a:prstGeom>
          <a:noFill/>
          <a:ln/>
        </p:spPr>
        <p:txBody>
          <a:bodyPr wrap="square" lIns="0" tIns="0" rIns="0" bIns="0" rtlCol="0" anchor="ctr"/>
          <a:lstStyle/>
          <a:p>
            <a:pPr indent="0" marL="0">
              <a:buNone/>
            </a:pPr>
            <a:r>
              <a:rPr lang="en-US" sz="1000" b="1" spc="100" kern="0" dirty="0">
                <a:solidFill>
                  <a:srgbClr val="BFE6E0"/>
                </a:solidFill>
                <a:latin typeface="Prompt" pitchFamily="34" charset="0"/>
                <a:ea typeface="Prompt" pitchFamily="34" charset="-122"/>
                <a:cs typeface="Prompt" pitchFamily="34" charset="-120"/>
              </a:rPr>
              <a:t>ผลโดยเฉลี่ย</a:t>
            </a:r>
            <a:endParaRPr lang="en-US" sz="1000" dirty="0"/>
          </a:p>
        </p:txBody>
      </p:sp>
      <p:sp>
        <p:nvSpPr>
          <p:cNvPr id="23" name="main body"/>
          <p:cNvSpPr txBox="1"/>
          <p:nvPr/>
        </p:nvSpPr>
        <p:spPr>
          <a:xfrm>
            <a:off x="704088" y="3840480"/>
            <a:ext cx="2468880" cy="512064"/>
          </a:xfrm>
          <a:prstGeom prst="rect">
            <a:avLst/>
          </a:prstGeom>
          <a:noFill/>
          <a:ln/>
        </p:spPr>
        <p:txBody>
          <a:bodyPr wrap="square" lIns="0" tIns="0" rIns="0" bIns="0" rtlCol="0" anchor="t"/>
          <a:lstStyle/>
          <a:p>
            <a:pPr indent="0" marL="0">
              <a:buNone/>
            </a:pPr>
            <a:r>
              <a:rPr lang="en-US" sz="1000" dirty="0">
                <a:solidFill>
                  <a:srgbClr val="FFFFFF"/>
                </a:solidFill>
                <a:latin typeface="Prompt" pitchFamily="34" charset="0"/>
                <a:ea typeface="Prompt" pitchFamily="34" charset="-122"/>
                <a:cs typeface="Prompt" pitchFamily="34" charset="-120"/>
              </a:rPr>
              <a:t>ไม่สามารถปฏิเสธสมมติฐานว่าง (null hypothesis) ที่ว่าไม่มีผลเฉลี่ยต่อรายได้และกำไร</a:t>
            </a:r>
            <a:endParaRPr lang="en-US" sz="1000" dirty="0"/>
          </a:p>
        </p:txBody>
      </p:sp>
      <p:pic>
        <p:nvPicPr>
          <p:cNvPr id="24" name="mascot with phone" descr="preencoded.png">    </p:cNvPr>
          <p:cNvPicPr>
            <a:picLocks noChangeAspect="1"/>
          </p:cNvPicPr>
          <p:nvPr/>
        </p:nvPicPr>
        <p:blipFill>
          <a:blip r:embed="rId4"/>
          <a:stretch>
            <a:fillRect/>
          </a:stretch>
        </p:blipFill>
        <p:spPr>
          <a:xfrm>
            <a:off x="3154680" y="3456432"/>
            <a:ext cx="960120" cy="822960"/>
          </a:xfrm>
          <a:prstGeom prst="rect">
            <a:avLst/>
          </a:prstGeom>
        </p:spPr>
      </p:pic>
      <p:sp>
        <p:nvSpPr>
          <p:cNvPr id="25" name="column divider"/>
          <p:cNvSpPr/>
          <p:nvPr/>
        </p:nvSpPr>
        <p:spPr>
          <a:xfrm>
            <a:off x="4480560" y="1481328"/>
            <a:ext cx="0" cy="2834640"/>
          </a:xfrm>
          <a:prstGeom prst="line">
            <a:avLst/>
          </a:prstGeom>
          <a:noFill/>
          <a:ln w="9525">
            <a:solidFill>
              <a:srgbClr val="E3E8EE"/>
            </a:solidFill>
            <a:prstDash val="solid"/>
          </a:ln>
        </p:spPr>
      </p:sp>
      <p:sp>
        <p:nvSpPr>
          <p:cNvPr id="26" name="tag finding"/>
          <p:cNvSpPr/>
          <p:nvPr/>
        </p:nvSpPr>
        <p:spPr>
          <a:xfrm>
            <a:off x="4709160" y="1481328"/>
            <a:ext cx="1143000" cy="201168"/>
          </a:xfrm>
          <a:prstGeom prst="roundRect">
            <a:avLst>
              <a:gd name="adj" fmla="val 50000"/>
            </a:avLst>
          </a:prstGeom>
          <a:solidFill>
            <a:srgbClr val="BFE6E0"/>
          </a:solidFill>
          <a:ln w="12700">
            <a:solidFill>
              <a:srgbClr val="BFE6E0"/>
            </a:solidFill>
            <a:prstDash val="solid"/>
          </a:ln>
        </p:spPr>
      </p:sp>
      <p:sp>
        <p:nvSpPr>
          <p:cNvPr id="27" name="tag text"/>
          <p:cNvSpPr txBox="1"/>
          <p:nvPr/>
        </p:nvSpPr>
        <p:spPr>
          <a:xfrm>
            <a:off x="4709160" y="1481328"/>
            <a:ext cx="1143000" cy="201168"/>
          </a:xfrm>
          <a:prstGeom prst="rect">
            <a:avLst/>
          </a:prstGeom>
          <a:noFill/>
          <a:ln/>
        </p:spPr>
        <p:txBody>
          <a:bodyPr wrap="square" lIns="0" tIns="0" rIns="0" bIns="0" rtlCol="0" anchor="ctr"/>
          <a:lstStyle/>
          <a:p>
            <a:pPr algn="ctr" indent="0" marL="0">
              <a:buNone/>
            </a:pPr>
            <a:r>
              <a:rPr lang="en-US" sz="850" b="1" spc="150" kern="0" dirty="0">
                <a:solidFill>
                  <a:srgbClr val="1B2A4A"/>
                </a:solidFill>
                <a:latin typeface="Prompt" pitchFamily="34" charset="0"/>
                <a:ea typeface="Prompt" pitchFamily="34" charset="-122"/>
                <a:cs typeface="Prompt" pitchFamily="34" charset="-120"/>
              </a:rPr>
              <a:t>ผลการวิจัย</a:t>
            </a:r>
            <a:endParaRPr lang="en-US" sz="850" dirty="0"/>
          </a:p>
        </p:txBody>
      </p:sp>
      <p:sp>
        <p:nvSpPr>
          <p:cNvPr id="28" name="subgroup head"/>
          <p:cNvSpPr txBox="1"/>
          <p:nvPr/>
        </p:nvSpPr>
        <p:spPr>
          <a:xfrm>
            <a:off x="4709160" y="1755648"/>
            <a:ext cx="2834640" cy="256032"/>
          </a:xfrm>
          <a:prstGeom prst="rect">
            <a:avLst/>
          </a:prstGeom>
          <a:noFill/>
          <a:ln/>
        </p:spPr>
        <p:txBody>
          <a:bodyPr wrap="square" lIns="0" tIns="0" rIns="0" bIns="0" rtlCol="0" anchor="ctr"/>
          <a:lstStyle/>
          <a:p>
            <a:pPr indent="0" marL="0">
              <a:buNone/>
            </a:pPr>
            <a:r>
              <a:rPr lang="en-US" sz="1250" b="1" dirty="0">
                <a:solidFill>
                  <a:schemeClr val="tx1"/>
                </a:solidFill>
                <a:latin typeface="Prompt" pitchFamily="34" charset="0"/>
                <a:ea typeface="Prompt" pitchFamily="34" charset="-122"/>
                <a:cs typeface="Prompt" pitchFamily="34" charset="-120"/>
              </a:rPr>
              <a:t>แยกตามผลงานตั้งต้น</a:t>
            </a:r>
            <a:endParaRPr lang="en-US" sz="1250" dirty="0"/>
          </a:p>
        </p:txBody>
      </p:sp>
      <p:pic>
        <p:nvPicPr>
          <p:cNvPr id="29" name="entrepreneur with phone" descr="preencoded.png">    </p:cNvPr>
          <p:cNvPicPr>
            <a:picLocks noChangeAspect="1"/>
          </p:cNvPicPr>
          <p:nvPr/>
        </p:nvPicPr>
        <p:blipFill>
          <a:blip r:embed="rId5"/>
          <a:stretch>
            <a:fillRect/>
          </a:stretch>
        </p:blipFill>
        <p:spPr>
          <a:xfrm>
            <a:off x="7680960" y="1426464"/>
            <a:ext cx="914400" cy="960120"/>
          </a:xfrm>
          <a:prstGeom prst="rect">
            <a:avLst/>
          </a:prstGeom>
        </p:spPr>
      </p:pic>
      <p:sp>
        <p:nvSpPr>
          <p:cNvPr id="30" name="zero line"/>
          <p:cNvSpPr/>
          <p:nvPr/>
        </p:nvSpPr>
        <p:spPr>
          <a:xfrm>
            <a:off x="6126480" y="2286000"/>
            <a:ext cx="0" cy="1005840"/>
          </a:xfrm>
          <a:prstGeom prst="line">
            <a:avLst/>
          </a:prstGeom>
          <a:noFill/>
          <a:ln w="9525">
            <a:solidFill>
              <a:srgbClr val="A3ADBB"/>
            </a:solidFill>
            <a:prstDash val="dash"/>
          </a:ln>
        </p:spPr>
      </p:sp>
      <p:sp>
        <p:nvSpPr>
          <p:cNvPr id="31" name="bar label 0"/>
          <p:cNvSpPr txBox="1"/>
          <p:nvPr/>
        </p:nvSpPr>
        <p:spPr>
          <a:xfrm>
            <a:off x="4709160" y="2093976"/>
            <a:ext cx="3931920" cy="219456"/>
          </a:xfrm>
          <a:prstGeom prst="rect">
            <a:avLst/>
          </a:prstGeom>
          <a:noFill/>
          <a:ln/>
        </p:spPr>
        <p:txBody>
          <a:bodyPr wrap="square" lIns="0" tIns="0" rIns="0" bIns="0" rtlCol="0" anchor="ctr"/>
          <a:lstStyle/>
          <a:p>
            <a:pPr indent="0" marL="0">
              <a:buNone/>
            </a:pPr>
            <a:r>
              <a:rPr lang="en-US" sz="1000" b="1" dirty="0">
                <a:solidFill>
                  <a:schemeClr val="tx1"/>
                </a:solidFill>
                <a:latin typeface="Prompt" pitchFamily="34" charset="0"/>
                <a:ea typeface="Prompt" pitchFamily="34" charset="-122"/>
                <a:cs typeface="Prompt" pitchFamily="34" charset="-120"/>
              </a:rPr>
              <a:t>กลุ่มผลงานต่ำ  </a:t>
            </a:r>
            <a:pPr indent="0" marL="0">
              <a:buNone/>
            </a:pPr>
            <a:r>
              <a:rPr lang="en-US" sz="1000" b="1" dirty="0">
                <a:solidFill>
                  <a:srgbClr val="6B7280"/>
                </a:solidFill>
                <a:latin typeface="Prompt" pitchFamily="34" charset="0"/>
                <a:ea typeface="Prompt" pitchFamily="34" charset="-122"/>
                <a:cs typeface="Prompt" pitchFamily="34" charset="-120"/>
              </a:rPr>
              <a:t>แย่ลงเกือบ 10%</a:t>
            </a:r>
            <a:endParaRPr lang="en-US" sz="1000" dirty="0"/>
          </a:p>
        </p:txBody>
      </p:sp>
      <p:sp>
        <p:nvSpPr>
          <p:cNvPr id="32" name="bar 0"/>
          <p:cNvSpPr/>
          <p:nvPr/>
        </p:nvSpPr>
        <p:spPr>
          <a:xfrm>
            <a:off x="5294986" y="2340864"/>
            <a:ext cx="831494" cy="219456"/>
          </a:xfrm>
          <a:prstGeom prst="rect">
            <a:avLst/>
          </a:prstGeom>
          <a:solidFill>
            <a:srgbClr val="A3ADBB"/>
          </a:solidFill>
          <a:ln w="12700">
            <a:solidFill>
              <a:srgbClr val="A3ADBB"/>
            </a:solidFill>
            <a:prstDash val="solid"/>
          </a:ln>
        </p:spPr>
      </p:sp>
      <p:sp>
        <p:nvSpPr>
          <p:cNvPr id="33" name="bar label 1"/>
          <p:cNvSpPr txBox="1"/>
          <p:nvPr/>
        </p:nvSpPr>
        <p:spPr>
          <a:xfrm>
            <a:off x="4709160" y="2642616"/>
            <a:ext cx="3931920" cy="219456"/>
          </a:xfrm>
          <a:prstGeom prst="rect">
            <a:avLst/>
          </a:prstGeom>
          <a:noFill/>
          <a:ln/>
        </p:spPr>
        <p:txBody>
          <a:bodyPr wrap="square" lIns="0" tIns="0" rIns="0" bIns="0" rtlCol="0" anchor="ctr"/>
          <a:lstStyle/>
          <a:p>
            <a:pPr indent="0" marL="0">
              <a:buNone/>
            </a:pPr>
            <a:r>
              <a:rPr lang="en-US" sz="1000" b="1" dirty="0">
                <a:solidFill>
                  <a:schemeClr val="tx1"/>
                </a:solidFill>
                <a:latin typeface="Prompt" pitchFamily="34" charset="0"/>
                <a:ea typeface="Prompt" pitchFamily="34" charset="-122"/>
                <a:cs typeface="Prompt" pitchFamily="34" charset="-120"/>
              </a:rPr>
              <a:t>กลุ่มผลงานสูง  </a:t>
            </a:r>
            <a:pPr indent="0" marL="0">
              <a:buNone/>
            </a:pPr>
            <a:r>
              <a:rPr lang="en-US" sz="1000" b="1" dirty="0">
                <a:solidFill>
                  <a:srgbClr val="2E8B86"/>
                </a:solidFill>
                <a:latin typeface="Prompt" pitchFamily="34" charset="0"/>
                <a:ea typeface="Prompt" pitchFamily="34" charset="-122"/>
                <a:cs typeface="Prompt" pitchFamily="34" charset="-120"/>
              </a:rPr>
              <a:t>อาจได้ประโยชน์มากกว่า 15%</a:t>
            </a:r>
            <a:endParaRPr lang="en-US" sz="1000" dirty="0"/>
          </a:p>
        </p:txBody>
      </p:sp>
      <p:sp>
        <p:nvSpPr>
          <p:cNvPr id="34" name="bar 1"/>
          <p:cNvSpPr/>
          <p:nvPr/>
        </p:nvSpPr>
        <p:spPr>
          <a:xfrm>
            <a:off x="6126480" y="2889504"/>
            <a:ext cx="1247242" cy="219456"/>
          </a:xfrm>
          <a:prstGeom prst="rect">
            <a:avLst/>
          </a:prstGeom>
          <a:solidFill>
            <a:srgbClr val="2E8B86"/>
          </a:solidFill>
          <a:ln w="12700">
            <a:solidFill>
              <a:srgbClr val="2E8B86"/>
            </a:solidFill>
            <a:prstDash val="solid"/>
          </a:ln>
        </p:spPr>
      </p:sp>
      <p:sp>
        <p:nvSpPr>
          <p:cNvPr id="35" name="bar note"/>
          <p:cNvSpPr txBox="1"/>
          <p:nvPr/>
        </p:nvSpPr>
        <p:spPr>
          <a:xfrm>
            <a:off x="4709160" y="3236976"/>
            <a:ext cx="3931920" cy="164592"/>
          </a:xfrm>
          <a:prstGeom prst="rect">
            <a:avLst/>
          </a:prstGeom>
          <a:noFill/>
          <a:ln/>
        </p:spPr>
        <p:txBody>
          <a:bodyPr wrap="square" lIns="0" tIns="0" rIns="0" bIns="0" rtlCol="0" anchor="ctr"/>
          <a:lstStyle/>
          <a:p>
            <a:pPr algn="r" indent="0" marL="0">
              <a:buNone/>
            </a:pPr>
            <a:r>
              <a:rPr lang="en-US" sz="800" dirty="0">
                <a:solidFill>
                  <a:srgbClr val="A3ADBB"/>
                </a:solidFill>
                <a:latin typeface="Prompt" pitchFamily="34" charset="0"/>
                <a:ea typeface="Prompt" pitchFamily="34" charset="-122"/>
                <a:cs typeface="Prompt" pitchFamily="34" charset="-120"/>
              </a:rPr>
              <a:t>ความยาวแท่งเป็นเพียงภาพประกอบ</a:t>
            </a:r>
            <a:endParaRPr lang="en-US" sz="800" dirty="0"/>
          </a:p>
        </p:txBody>
      </p:sp>
      <p:sp>
        <p:nvSpPr>
          <p:cNvPr id="36" name="divider"/>
          <p:cNvSpPr/>
          <p:nvPr/>
        </p:nvSpPr>
        <p:spPr>
          <a:xfrm>
            <a:off x="4709160" y="3364992"/>
            <a:ext cx="3931920" cy="0"/>
          </a:xfrm>
          <a:prstGeom prst="line">
            <a:avLst/>
          </a:prstGeom>
          <a:noFill/>
          <a:ln w="9525">
            <a:solidFill>
              <a:srgbClr val="E3E8EE"/>
            </a:solidFill>
            <a:prstDash val="solid"/>
          </a:ln>
        </p:spPr>
      </p:sp>
      <p:pic>
        <p:nvPicPr>
          <p:cNvPr id="37" name="icon FiMessageCircle" descr="preencoded.png">    </p:cNvPr>
          <p:cNvPicPr>
            <a:picLocks noChangeAspect="1"/>
          </p:cNvPicPr>
          <p:nvPr/>
        </p:nvPicPr>
        <p:blipFill>
          <a:blip r:embed="rId6"/>
          <a:stretch>
            <a:fillRect/>
          </a:stretch>
        </p:blipFill>
        <p:spPr>
          <a:xfrm>
            <a:off x="4709160" y="3474720"/>
            <a:ext cx="219456" cy="219456"/>
          </a:xfrm>
          <a:prstGeom prst="rect">
            <a:avLst/>
          </a:prstGeom>
        </p:spPr>
      </p:pic>
      <p:sp>
        <p:nvSpPr>
          <p:cNvPr id="38" name="mechanism"/>
          <p:cNvSpPr txBox="1"/>
          <p:nvPr/>
        </p:nvSpPr>
        <p:spPr>
          <a:xfrm>
            <a:off x="5038344" y="3419856"/>
            <a:ext cx="3602736" cy="384048"/>
          </a:xfrm>
          <a:prstGeom prst="rect">
            <a:avLst/>
          </a:prstGeom>
          <a:noFill/>
          <a:ln/>
        </p:spPr>
        <p:txBody>
          <a:bodyPr wrap="square" lIns="0" tIns="0" rIns="0" bIns="0" rtlCol="0" anchor="ctr"/>
          <a:lstStyle/>
          <a:p>
            <a:pPr indent="0" marL="0">
              <a:buNone/>
            </a:pPr>
            <a:r>
              <a:rPr lang="en-US" sz="950" dirty="0">
                <a:solidFill>
                  <a:schemeClr val="tx1"/>
                </a:solidFill>
                <a:latin typeface="Prompt" pitchFamily="34" charset="0"/>
                <a:ea typeface="Prompt" pitchFamily="34" charset="-122"/>
                <a:cs typeface="Prompt" pitchFamily="34" charset="-120"/>
              </a:rPr>
              <a:t>คำถามและคำแนะนำใกล้เคียงกัน ความต่างอยู่ที่คำแนะนำที่ผู้ประกอบการเลือกนำไปปฏิบัติ</a:t>
            </a:r>
            <a:endParaRPr lang="en-US" sz="950" dirty="0"/>
          </a:p>
        </p:txBody>
      </p:sp>
      <p:pic>
        <p:nvPicPr>
          <p:cNvPr id="39" name="icon FiAlertTriangle" descr="preencoded.png">    </p:cNvPr>
          <p:cNvPicPr>
            <a:picLocks noChangeAspect="1"/>
          </p:cNvPicPr>
          <p:nvPr/>
        </p:nvPicPr>
        <p:blipFill>
          <a:blip r:embed="rId7"/>
          <a:stretch>
            <a:fillRect/>
          </a:stretch>
        </p:blipFill>
        <p:spPr>
          <a:xfrm>
            <a:off x="4709160" y="3968496"/>
            <a:ext cx="219456" cy="219456"/>
          </a:xfrm>
          <a:prstGeom prst="rect">
            <a:avLst/>
          </a:prstGeom>
        </p:spPr>
      </p:pic>
      <p:sp>
        <p:nvSpPr>
          <p:cNvPr id="40" name="caution"/>
          <p:cNvSpPr txBox="1"/>
          <p:nvPr/>
        </p:nvSpPr>
        <p:spPr>
          <a:xfrm>
            <a:off x="5038344" y="3913632"/>
            <a:ext cx="3602736" cy="384048"/>
          </a:xfrm>
          <a:prstGeom prst="rect">
            <a:avLst/>
          </a:prstGeom>
          <a:noFill/>
          <a:ln/>
        </p:spPr>
        <p:txBody>
          <a:bodyPr wrap="square" lIns="0" tIns="0" rIns="0" bIns="0" rtlCol="0" anchor="ctr"/>
          <a:lstStyle/>
          <a:p>
            <a:pPr indent="0" marL="0">
              <a:buNone/>
            </a:pPr>
            <a:r>
              <a:rPr lang="en-US" sz="950" dirty="0">
                <a:solidFill>
                  <a:schemeClr val="tx2"/>
                </a:solidFill>
                <a:latin typeface="Prompt" pitchFamily="34" charset="0"/>
                <a:ea typeface="Prompt" pitchFamily="34" charset="-122"/>
                <a:cs typeface="Prompt" pitchFamily="34" charset="-120"/>
              </a:rPr>
              <a:t>เป็นค่าเฉลี่ยของกลุ่มย่อย ไม่ใช่ว่าคนเก่งทุกคนจะได้ประโยชน์ หรือคนอ่อนทุกคนจะเสียประโยชน์</a:t>
            </a:r>
            <a:endParaRPr lang="en-US" sz="950" dirty="0"/>
          </a:p>
        </p:txBody>
      </p:sp>
      <p:sp>
        <p:nvSpPr>
          <p:cNvPr id="41"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rompt" pitchFamily="34" charset="0"/>
                <a:ea typeface="Prompt" pitchFamily="34" charset="-122"/>
                <a:cs typeface="Prompt" pitchFamily="34" charset="-120"/>
              </a:rPr>
              <a:t>Otis, N. G., et al. (2026). The Uneven Impact of Generative AI on Entrepreneurial Performance. Management Science, 72(7). doi.org/10.1287/mnsc.2024.06909</a:t>
            </a:r>
            <a:endParaRPr lang="en-US" sz="700" dirty="0"/>
          </a:p>
        </p:txBody>
      </p:sp>
      <p:sp>
        <p:nvSpPr>
          <p:cNvPr id="42"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950" b="1" dirty="0">
                <a:solidFill>
                  <a:srgbClr val="2E8B86"/>
                </a:solidFill>
                <a:latin typeface="Prompt" pitchFamily="34" charset="0"/>
                <a:ea typeface="Prompt" pitchFamily="34" charset="-122"/>
                <a:cs typeface="Prompt" pitchFamily="34" charset="-120"/>
              </a:rPr>
              <a:t>ถัดไป  </a:t>
            </a:r>
            <a:pPr algn="r" indent="0" marL="0">
              <a:buNone/>
            </a:pPr>
            <a:r>
              <a:rPr lang="en-US" sz="950" dirty="0">
                <a:solidFill>
                  <a:srgbClr val="1B2A4A"/>
                </a:solidFill>
                <a:latin typeface="Prompt" pitchFamily="34" charset="0"/>
                <a:ea typeface="Prompt" pitchFamily="34" charset="-122"/>
                <a:cs typeface="Prompt" pitchFamily="34" charset="-120"/>
              </a:rPr>
              <a:t>สองงานวิจัย บทเรียนเดียว</a:t>
            </a:r>
            <a:endParaRPr lang="en-US" sz="950" dirty="0"/>
          </a:p>
        </p:txBody>
      </p:sp>
      <p:pic>
        <p:nvPicPr>
          <p:cNvPr id="43" name="icon FiArrowRight" descr="preencoded.png">    </p:cNvPr>
          <p:cNvPicPr>
            <a:picLocks noChangeAspect="1"/>
          </p:cNvPicPr>
          <p:nvPr/>
        </p:nvPicPr>
        <p:blipFill>
          <a:blip r:embed="rId8"/>
          <a:stretch>
            <a:fillRect/>
          </a:stretch>
        </p:blipFill>
        <p:spPr>
          <a:xfrm>
            <a:off x="8439912" y="4498848"/>
            <a:ext cx="201168" cy="201168"/>
          </a:xfrm>
          <a:prstGeom prst="rect">
            <a:avLst/>
          </a:prstGeom>
        </p:spPr>
      </p:pic>
      <p:sp>
        <p:nvSpPr>
          <p:cNvPr id="44"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rompt"/>
                <a:ea typeface="Prompt"/>
                <a:cs typeface="Prompt"/>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700"/>
                                        <p:tgtEl>
                                          <p:spTgt spid="10"/>
                                        </p:tgtEl>
                                      </p:cBhvr>
                                    </p:animEffect>
                                    <p:anim calcmode="lin" valueType="num">
                                      <p:cBhvr additive="base">
                                        <p:cTn id="6" dur="700" fill="hold"/>
                                        <p:tgtEl>
                                          <p:spTgt spid="10"/>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700"/>
                                        <p:tgtEl>
                                          <p:spTgt spid="13"/>
                                        </p:tgtEl>
                                      </p:cBhvr>
                                    </p:animEffect>
                                    <p:anim calcmode="lin" valueType="num">
                                      <p:cBhvr additive="base">
                                        <p:cTn id="10" dur="700" fill="hold"/>
                                        <p:tgtEl>
                                          <p:spTgt spid="13"/>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700"/>
                                        <p:tgtEl>
                                          <p:spTgt spid="16"/>
                                        </p:tgtEl>
                                      </p:cBhvr>
                                    </p:animEffect>
                                    <p:anim calcmode="lin" valueType="num">
                                      <p:cBhvr additive="base">
                                        <p:cTn id="14" dur="700" fill="hold"/>
                                        <p:tgtEl>
                                          <p:spTgt spid="1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700"/>
                                        <p:tgtEl>
                                          <p:spTgt spid="11"/>
                                        </p:tgtEl>
                                      </p:cBhvr>
                                    </p:animEffect>
                                    <p:anim calcmode="lin" valueType="num">
                                      <p:cBhvr additive="base">
                                        <p:cTn id="18" dur="700" fill="hold"/>
                                        <p:tgtEl>
                                          <p:spTgt spid="11"/>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700"/>
                                        <p:tgtEl>
                                          <p:spTgt spid="14"/>
                                        </p:tgtEl>
                                      </p:cBhvr>
                                    </p:animEffect>
                                    <p:anim calcmode="lin" valueType="num">
                                      <p:cBhvr additive="base">
                                        <p:cTn id="22" dur="700" fill="hold"/>
                                        <p:tgtEl>
                                          <p:spTgt spid="14"/>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700"/>
                                        <p:tgtEl>
                                          <p:spTgt spid="17"/>
                                        </p:tgtEl>
                                      </p:cBhvr>
                                    </p:animEffect>
                                    <p:anim calcmode="lin" valueType="num">
                                      <p:cBhvr additive="base">
                                        <p:cTn id="26" dur="700" fill="hold"/>
                                        <p:tgtEl>
                                          <p:spTgt spid="17"/>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700"/>
                                        <p:tgtEl>
                                          <p:spTgt spid="12"/>
                                        </p:tgtEl>
                                      </p:cBhvr>
                                    </p:animEffect>
                                    <p:anim calcmode="lin" valueType="num">
                                      <p:cBhvr additive="base">
                                        <p:cTn id="30" dur="700" fill="hold"/>
                                        <p:tgtEl>
                                          <p:spTgt spid="12"/>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700"/>
                                        <p:tgtEl>
                                          <p:spTgt spid="15"/>
                                        </p:tgtEl>
                                      </p:cBhvr>
                                    </p:animEffect>
                                    <p:anim calcmode="lin" valueType="num">
                                      <p:cBhvr additive="base">
                                        <p:cTn id="34" dur="700" fill="hold"/>
                                        <p:tgtEl>
                                          <p:spTgt spid="15"/>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700"/>
                                        <p:tgtEl>
                                          <p:spTgt spid="18"/>
                                        </p:tgtEl>
                                      </p:cBhvr>
                                    </p:animEffect>
                                    <p:anim calcmode="lin" valueType="num">
                                      <p:cBhvr additive="base">
                                        <p:cTn id="38" dur="700" fill="hold"/>
                                        <p:tgtEl>
                                          <p:spTgt spid="18"/>
                                        </p:tgtEl>
                                        <p:attrNameLst>
                                          <p:attrName>ppt_y</p:attrName>
                                        </p:attrNameLst>
                                      </p:cBhvr>
                                      <p:tavLst>
                                        <p:tav tm="0">
                                          <p:val>
                                            <p:strVal val="#ppt_y+.08"/>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41" presetID="23" presetClass="entr" presetSubtype="16" fill="hold" grpId="0" nodeType="clickEffect">
                                  <p:stCondLst>
                                    <p:cond delay="0"/>
                                  </p:stCondLst>
                                  <p:childTnLst>
                                    <p:set>
                                      <p:cBhvr>
                                        <p:cTn id="42" dur="1" fill="hold">
                                          <p:stCondLst>
                                            <p:cond delay="0"/>
                                          </p:stCondLst>
                                        </p:cTn>
                                        <p:tgtEl>
                                          <p:spTgt spid="19"/>
                                        </p:tgtEl>
                                        <p:attrNameLst>
                                          <p:attrName>style.visibility</p:attrName>
                                        </p:attrNameLst>
                                      </p:cBhvr>
                                      <p:to>
                                        <p:strVal val="visible"/>
                                      </p:to>
                                    </p:set>
                                    <p:animScale>
                                      <p:cBhvr>
                                        <p:cTn id="43" dur="500" fill="hold"/>
                                        <p:tgtEl>
                                          <p:spTgt spid="19"/>
                                        </p:tgtEl>
                                      </p:cBhvr>
                                      <p:from x="0" y="0"/>
                                      <p:to x="100000" y="100000"/>
                                    </p:animScale>
                                    <p:animEffect transition="in" filter="fade">
                                      <p:cBhvr>
                                        <p:cTn id="44" dur="500"/>
                                        <p:tgtEl>
                                          <p:spTgt spid="19"/>
                                        </p:tgtEl>
                                      </p:cBhvr>
                                    </p:animEffect>
                                  </p:childTnLst>
                                </p:cTn>
                              </p:par>
                              <p:par>
                                <p:cTn id="45" presetID="23" presetClass="entr" presetSubtype="16" fill="hold" grpId="0" nodeType="withEffect">
                                  <p:stCondLst>
                                    <p:cond delay="0"/>
                                  </p:stCondLst>
                                  <p:childTnLst>
                                    <p:set>
                                      <p:cBhvr>
                                        <p:cTn id="46" dur="1" fill="hold">
                                          <p:stCondLst>
                                            <p:cond delay="0"/>
                                          </p:stCondLst>
                                        </p:cTn>
                                        <p:tgtEl>
                                          <p:spTgt spid="20"/>
                                        </p:tgtEl>
                                        <p:attrNameLst>
                                          <p:attrName>style.visibility</p:attrName>
                                        </p:attrNameLst>
                                      </p:cBhvr>
                                      <p:to>
                                        <p:strVal val="visible"/>
                                      </p:to>
                                    </p:set>
                                    <p:animScale>
                                      <p:cBhvr>
                                        <p:cTn id="47" dur="500" fill="hold"/>
                                        <p:tgtEl>
                                          <p:spTgt spid="20"/>
                                        </p:tgtEl>
                                      </p:cBhvr>
                                      <p:from x="0" y="0"/>
                                      <p:to x="100000" y="100000"/>
                                    </p:animScale>
                                    <p:animEffect transition="in" filter="fade">
                                      <p:cBhvr>
                                        <p:cTn id="48" dur="500"/>
                                        <p:tgtEl>
                                          <p:spTgt spid="20"/>
                                        </p:tgtEl>
                                      </p:cBhvr>
                                    </p:animEffect>
                                  </p:childTnLst>
                                </p:cTn>
                              </p:par>
                              <p:par>
                                <p:cTn id="49" presetID="23" presetClass="entr" presetSubtype="16"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animScale>
                                      <p:cBhvr>
                                        <p:cTn id="51" dur="500" fill="hold"/>
                                        <p:tgtEl>
                                          <p:spTgt spid="21"/>
                                        </p:tgtEl>
                                      </p:cBhvr>
                                      <p:from x="0" y="0"/>
                                      <p:to x="100000" y="100000"/>
                                    </p:animScale>
                                    <p:animEffect transition="in" filter="fade">
                                      <p:cBhvr>
                                        <p:cTn id="52" dur="500"/>
                                        <p:tgtEl>
                                          <p:spTgt spid="21"/>
                                        </p:tgtEl>
                                      </p:cBhvr>
                                    </p:animEffect>
                                  </p:childTnLst>
                                </p:cTn>
                              </p:par>
                              <p:par>
                                <p:cTn id="53" presetID="23" presetClass="entr" presetSubtype="16"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Scale>
                                      <p:cBhvr>
                                        <p:cTn id="55" dur="500" fill="hold"/>
                                        <p:tgtEl>
                                          <p:spTgt spid="22"/>
                                        </p:tgtEl>
                                      </p:cBhvr>
                                      <p:from x="0" y="0"/>
                                      <p:to x="100000" y="100000"/>
                                    </p:animScale>
                                    <p:animEffect transition="in" filter="fade">
                                      <p:cBhvr>
                                        <p:cTn id="56" dur="500"/>
                                        <p:tgtEl>
                                          <p:spTgt spid="22"/>
                                        </p:tgtEl>
                                      </p:cBhvr>
                                    </p:animEffect>
                                  </p:childTnLst>
                                </p:cTn>
                              </p:par>
                              <p:par>
                                <p:cTn id="57" presetID="23" presetClass="entr" presetSubtype="16" fill="hold" grpId="0" nodeType="withEffect">
                                  <p:stCondLst>
                                    <p:cond delay="0"/>
                                  </p:stCondLst>
                                  <p:childTnLst>
                                    <p:set>
                                      <p:cBhvr>
                                        <p:cTn id="58" dur="1" fill="hold">
                                          <p:stCondLst>
                                            <p:cond delay="0"/>
                                          </p:stCondLst>
                                        </p:cTn>
                                        <p:tgtEl>
                                          <p:spTgt spid="23"/>
                                        </p:tgtEl>
                                        <p:attrNameLst>
                                          <p:attrName>style.visibility</p:attrName>
                                        </p:attrNameLst>
                                      </p:cBhvr>
                                      <p:to>
                                        <p:strVal val="visible"/>
                                      </p:to>
                                    </p:set>
                                    <p:animScale>
                                      <p:cBhvr>
                                        <p:cTn id="59" dur="500" fill="hold"/>
                                        <p:tgtEl>
                                          <p:spTgt spid="23"/>
                                        </p:tgtEl>
                                      </p:cBhvr>
                                      <p:from x="0" y="0"/>
                                      <p:to x="100000" y="100000"/>
                                    </p:animScale>
                                    <p:animEffect transition="in" filter="fade">
                                      <p:cBhvr>
                                        <p:cTn id="60" dur="500"/>
                                        <p:tgtEl>
                                          <p:spTgt spid="23"/>
                                        </p:tgtEl>
                                      </p:cBhvr>
                                    </p:animEffect>
                                  </p:childTnLst>
                                </p:cTn>
                              </p:par>
                              <p:par>
                                <p:cTn id="61" presetID="23" presetClass="entr" presetSubtype="16" fill="hold" grpId="0" nodeType="withEffect">
                                  <p:stCondLst>
                                    <p:cond delay="0"/>
                                  </p:stCondLst>
                                  <p:childTnLst>
                                    <p:set>
                                      <p:cBhvr>
                                        <p:cTn id="62" dur="1" fill="hold">
                                          <p:stCondLst>
                                            <p:cond delay="0"/>
                                          </p:stCondLst>
                                        </p:cTn>
                                        <p:tgtEl>
                                          <p:spTgt spid="24"/>
                                        </p:tgtEl>
                                        <p:attrNameLst>
                                          <p:attrName>style.visibility</p:attrName>
                                        </p:attrNameLst>
                                      </p:cBhvr>
                                      <p:to>
                                        <p:strVal val="visible"/>
                                      </p:to>
                                    </p:set>
                                    <p:animScale>
                                      <p:cBhvr>
                                        <p:cTn id="63" dur="500" fill="hold"/>
                                        <p:tgtEl>
                                          <p:spTgt spid="24"/>
                                        </p:tgtEl>
                                      </p:cBhvr>
                                      <p:from x="0" y="0"/>
                                      <p:to x="100000" y="100000"/>
                                    </p:animScale>
                                    <p:animEffect transition="in" filter="fade">
                                      <p:cBhvr>
                                        <p:cTn id="64" dur="500"/>
                                        <p:tgtEl>
                                          <p:spTgt spid="24"/>
                                        </p:tgtEl>
                                      </p:cBhvr>
                                    </p:animEffect>
                                  </p:childTnLst>
                                </p:cTn>
                              </p:par>
                            </p:childTnLst>
                          </p:cTn>
                        </p:par>
                      </p:childTnLst>
                    </p:cTn>
                  </p:par>
                  <p:par>
                    <p:cTn id="79" fill="hold">
                      <p:stCondLst>
                        <p:cond delay="indefinite"/>
                      </p:stCondLst>
                      <p:childTnLst>
                        <p:par>
                          <p:cTn id="80"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fade">
                                      <p:cBhvr>
                                        <p:cTn id="69" dur="500"/>
                                        <p:tgtEl>
                                          <p:spTgt spid="2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500"/>
                                        <p:tgtEl>
                                          <p:spTgt spid="2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8"/>
                                        </p:tgtEl>
                                        <p:attrNameLst>
                                          <p:attrName>style.visibility</p:attrName>
                                        </p:attrNameLst>
                                      </p:cBhvr>
                                      <p:to>
                                        <p:strVal val="visible"/>
                                      </p:to>
                                    </p:set>
                                    <p:animEffect transition="in" filter="fade">
                                      <p:cBhvr>
                                        <p:cTn id="75" dur="500"/>
                                        <p:tgtEl>
                                          <p:spTgt spid="2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fade">
                                      <p:cBhvr>
                                        <p:cTn id="78" dur="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1" presetID="23" presetClass="entr" presetSubtype="16" fill="hold" grpId="0" nodeType="clickEffect">
                                  <p:stCondLst>
                                    <p:cond delay="0"/>
                                  </p:stCondLst>
                                  <p:childTnLst>
                                    <p:set>
                                      <p:cBhvr>
                                        <p:cTn id="82" dur="1" fill="hold">
                                          <p:stCondLst>
                                            <p:cond delay="0"/>
                                          </p:stCondLst>
                                        </p:cTn>
                                        <p:tgtEl>
                                          <p:spTgt spid="29"/>
                                        </p:tgtEl>
                                        <p:attrNameLst>
                                          <p:attrName>style.visibility</p:attrName>
                                        </p:attrNameLst>
                                      </p:cBhvr>
                                      <p:to>
                                        <p:strVal val="visible"/>
                                      </p:to>
                                    </p:set>
                                    <p:animScale>
                                      <p:cBhvr>
                                        <p:cTn id="83" dur="500" fill="hold"/>
                                        <p:tgtEl>
                                          <p:spTgt spid="29"/>
                                        </p:tgtEl>
                                      </p:cBhvr>
                                      <p:from x="0" y="0"/>
                                      <p:to x="100000" y="100000"/>
                                    </p:animScale>
                                    <p:animEffect transition="in" filter="fade">
                                      <p:cBhvr>
                                        <p:cTn id="84" dur="500"/>
                                        <p:tgtEl>
                                          <p:spTgt spid="29"/>
                                        </p:tgtEl>
                                      </p:cBhvr>
                                    </p:animEffect>
                                  </p:childTnLst>
                                </p:cTn>
                              </p:par>
                            </p:childTnLst>
                          </p:cTn>
                        </p:par>
                      </p:childTnLst>
                    </p:cTn>
                  </p:par>
                  <p:par>
                    <p:cTn id="93" fill="hold">
                      <p:stCondLst>
                        <p:cond delay="indefinite"/>
                      </p:stCondLst>
                      <p:childTnLst>
                        <p:par>
                          <p:cTn id="94"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31"/>
                                        </p:tgtEl>
                                        <p:attrNameLst>
                                          <p:attrName>style.visibility</p:attrName>
                                        </p:attrNameLst>
                                      </p:cBhvr>
                                      <p:to>
                                        <p:strVal val="visible"/>
                                      </p:to>
                                    </p:set>
                                    <p:animEffect transition="in" filter="wipe(left)">
                                      <p:cBhvr>
                                        <p:cTn id="89" dur="500"/>
                                        <p:tgtEl>
                                          <p:spTgt spid="31"/>
                                        </p:tgtEl>
                                      </p:cBhvr>
                                    </p:animEffect>
                                  </p:childTnLst>
                                </p:cTn>
                              </p:par>
                              <p:par>
                                <p:cTn id="90" presetID="22" presetClass="entr" presetSubtype="8" fill="hold" grpId="0" nodeType="withEffect">
                                  <p:stCondLst>
                                    <p:cond delay="0"/>
                                  </p:stCondLst>
                                  <p:childTnLst>
                                    <p:set>
                                      <p:cBhvr>
                                        <p:cTn id="91" dur="1" fill="hold">
                                          <p:stCondLst>
                                            <p:cond delay="0"/>
                                          </p:stCondLst>
                                        </p:cTn>
                                        <p:tgtEl>
                                          <p:spTgt spid="32"/>
                                        </p:tgtEl>
                                        <p:attrNameLst>
                                          <p:attrName>style.visibility</p:attrName>
                                        </p:attrNameLst>
                                      </p:cBhvr>
                                      <p:to>
                                        <p:strVal val="visible"/>
                                      </p:to>
                                    </p:set>
                                    <p:animEffect transition="in" filter="wipe(left)">
                                      <p:cBhvr>
                                        <p:cTn id="92" dur="500"/>
                                        <p:tgtEl>
                                          <p:spTgt spid="32"/>
                                        </p:tgtEl>
                                      </p:cBhvr>
                                    </p:animEffect>
                                  </p:childTnLst>
                                </p:cTn>
                              </p:par>
                            </p:childTnLst>
                          </p:cTn>
                        </p:par>
                      </p:childTnLst>
                    </p:cTn>
                  </p:par>
                  <p:par>
                    <p:cTn id="104" fill="hold">
                      <p:stCondLst>
                        <p:cond delay="indefinite"/>
                      </p:stCondLst>
                      <p:childTnLst>
                        <p:par>
                          <p:cTn id="105"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33"/>
                                        </p:tgtEl>
                                        <p:attrNameLst>
                                          <p:attrName>style.visibility</p:attrName>
                                        </p:attrNameLst>
                                      </p:cBhvr>
                                      <p:to>
                                        <p:strVal val="visible"/>
                                      </p:to>
                                    </p:set>
                                    <p:animEffect transition="in" filter="wipe(left)">
                                      <p:cBhvr>
                                        <p:cTn id="97" dur="500"/>
                                        <p:tgtEl>
                                          <p:spTgt spid="33"/>
                                        </p:tgtEl>
                                      </p:cBhvr>
                                    </p:animEffect>
                                  </p:childTnLst>
                                </p:cTn>
                              </p:par>
                              <p:par>
                                <p:cTn id="98" presetID="22" presetClass="entr" presetSubtype="8" fill="hold" grpId="0" nodeType="with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par>
                                <p:cTn id="101" presetID="22" presetClass="entr" presetSubtype="8" fill="hold" grpId="0" nodeType="withEffect">
                                  <p:stCondLst>
                                    <p:cond delay="0"/>
                                  </p:stCondLst>
                                  <p:childTnLst>
                                    <p:set>
                                      <p:cBhvr>
                                        <p:cTn id="102" dur="1" fill="hold">
                                          <p:stCondLst>
                                            <p:cond delay="0"/>
                                          </p:stCondLst>
                                        </p:cTn>
                                        <p:tgtEl>
                                          <p:spTgt spid="35"/>
                                        </p:tgtEl>
                                        <p:attrNameLst>
                                          <p:attrName>style.visibility</p:attrName>
                                        </p:attrNameLst>
                                      </p:cBhvr>
                                      <p:to>
                                        <p:strVal val="visible"/>
                                      </p:to>
                                    </p:set>
                                    <p:animEffect transition="in" filter="wipe(left)">
                                      <p:cBhvr>
                                        <p:cTn id="103" dur="500"/>
                                        <p:tgtEl>
                                          <p:spTgt spid="35"/>
                                        </p:tgtEl>
                                      </p:cBhvr>
                                    </p:animEffect>
                                  </p:childTnLst>
                                </p:cTn>
                              </p:par>
                            </p:childTnLst>
                          </p:cTn>
                        </p:par>
                      </p:childTnLst>
                    </p:cTn>
                  </p:par>
                  <p:par>
                    <p:cTn id="126" fill="hold">
                      <p:stCondLst>
                        <p:cond delay="indefinite"/>
                      </p:stCondLst>
                      <p:childTnLst>
                        <p:par>
                          <p:cTn id="127" fill="hold">
                            <p:stCondLst>
                              <p:cond delay="0"/>
                            </p:stCondLst>
                            <p:childTnLst>
                              <p:par>
                                <p:cTn id="106" presetID="42" presetClass="entr" presetSubtype="0" fill="hold" grpId="0" nodeType="clickEffect">
                                  <p:stCondLst>
                                    <p:cond delay="0"/>
                                  </p:stCondLst>
                                  <p:childTnLst>
                                    <p:set>
                                      <p:cBhvr>
                                        <p:cTn id="107" dur="1" fill="hold">
                                          <p:stCondLst>
                                            <p:cond delay="0"/>
                                          </p:stCondLst>
                                        </p:cTn>
                                        <p:tgtEl>
                                          <p:spTgt spid="36"/>
                                        </p:tgtEl>
                                        <p:attrNameLst>
                                          <p:attrName>style.visibility</p:attrName>
                                        </p:attrNameLst>
                                      </p:cBhvr>
                                      <p:to>
                                        <p:strVal val="visible"/>
                                      </p:to>
                                    </p:set>
                                    <p:animEffect transition="in" filter="fade">
                                      <p:cBhvr>
                                        <p:cTn id="108" dur="700"/>
                                        <p:tgtEl>
                                          <p:spTgt spid="36"/>
                                        </p:tgtEl>
                                      </p:cBhvr>
                                    </p:animEffect>
                                    <p:anim calcmode="lin" valueType="num">
                                      <p:cBhvr additive="base">
                                        <p:cTn id="109" dur="700" fill="hold"/>
                                        <p:tgtEl>
                                          <p:spTgt spid="36"/>
                                        </p:tgtEl>
                                        <p:attrNameLst>
                                          <p:attrName>ppt_y</p:attrName>
                                        </p:attrNameLst>
                                      </p:cBhvr>
                                      <p:tavLst>
                                        <p:tav tm="0">
                                          <p:val>
                                            <p:strVal val="#ppt_y+.08"/>
                                          </p:val>
                                        </p:tav>
                                        <p:tav tm="100000">
                                          <p:val>
                                            <p:strVal val="#ppt_y"/>
                                          </p:val>
                                        </p:tav>
                                      </p:tavLst>
                                    </p:anim>
                                  </p:childTnLst>
                                </p:cTn>
                              </p:par>
                              <p:par>
                                <p:cTn id="110" presetID="42" presetClass="entr" presetSubtype="0" fill="hold" grpId="0" nodeType="withEffect">
                                  <p:stCondLst>
                                    <p:cond delay="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2" dur="700"/>
                                        <p:tgtEl>
                                          <p:spTgt spid="37"/>
                                        </p:tgtEl>
                                      </p:cBhvr>
                                    </p:animEffect>
                                    <p:anim calcmode="lin" valueType="num">
                                      <p:cBhvr additive="base">
                                        <p:cTn id="113" dur="700" fill="hold"/>
                                        <p:tgtEl>
                                          <p:spTgt spid="37"/>
                                        </p:tgtEl>
                                        <p:attrNameLst>
                                          <p:attrName>ppt_y</p:attrName>
                                        </p:attrNameLst>
                                      </p:cBhvr>
                                      <p:tavLst>
                                        <p:tav tm="0">
                                          <p:val>
                                            <p:strVal val="#ppt_y+.08"/>
                                          </p:val>
                                        </p:tav>
                                        <p:tav tm="100000">
                                          <p:val>
                                            <p:strVal val="#ppt_y"/>
                                          </p:val>
                                        </p:tav>
                                      </p:tavLst>
                                    </p:anim>
                                  </p:childTnLst>
                                </p:cTn>
                              </p:par>
                              <p:par>
                                <p:cTn id="114" presetID="42" presetClass="entr" presetSubtype="0" fill="hold" grpId="0" nodeType="withEffect">
                                  <p:stCondLst>
                                    <p:cond delay="0"/>
                                  </p:stCondLst>
                                  <p:childTnLst>
                                    <p:set>
                                      <p:cBhvr>
                                        <p:cTn id="115" dur="1" fill="hold">
                                          <p:stCondLst>
                                            <p:cond delay="0"/>
                                          </p:stCondLst>
                                        </p:cTn>
                                        <p:tgtEl>
                                          <p:spTgt spid="38"/>
                                        </p:tgtEl>
                                        <p:attrNameLst>
                                          <p:attrName>style.visibility</p:attrName>
                                        </p:attrNameLst>
                                      </p:cBhvr>
                                      <p:to>
                                        <p:strVal val="visible"/>
                                      </p:to>
                                    </p:set>
                                    <p:animEffect transition="in" filter="fade">
                                      <p:cBhvr>
                                        <p:cTn id="116" dur="700"/>
                                        <p:tgtEl>
                                          <p:spTgt spid="38"/>
                                        </p:tgtEl>
                                      </p:cBhvr>
                                    </p:animEffect>
                                    <p:anim calcmode="lin" valueType="num">
                                      <p:cBhvr additive="base">
                                        <p:cTn id="117" dur="700" fill="hold"/>
                                        <p:tgtEl>
                                          <p:spTgt spid="38"/>
                                        </p:tgtEl>
                                        <p:attrNameLst>
                                          <p:attrName>ppt_y</p:attrName>
                                        </p:attrNameLst>
                                      </p:cBhvr>
                                      <p:tavLst>
                                        <p:tav tm="0">
                                          <p:val>
                                            <p:strVal val="#ppt_y+.08"/>
                                          </p:val>
                                        </p:tav>
                                        <p:tav tm="100000">
                                          <p:val>
                                            <p:strVal val="#ppt_y"/>
                                          </p:val>
                                        </p:tav>
                                      </p:tavLst>
                                    </p:anim>
                                  </p:childTnLst>
                                </p:cTn>
                              </p:par>
                              <p:par>
                                <p:cTn id="118" presetID="42" presetClass="entr" presetSubtype="0" fill="hold" grpId="0" nodeType="withEffect">
                                  <p:stCondLst>
                                    <p:cond delay="0"/>
                                  </p:stCondLst>
                                  <p:childTnLst>
                                    <p:set>
                                      <p:cBhvr>
                                        <p:cTn id="119" dur="1" fill="hold">
                                          <p:stCondLst>
                                            <p:cond delay="0"/>
                                          </p:stCondLst>
                                        </p:cTn>
                                        <p:tgtEl>
                                          <p:spTgt spid="39"/>
                                        </p:tgtEl>
                                        <p:attrNameLst>
                                          <p:attrName>style.visibility</p:attrName>
                                        </p:attrNameLst>
                                      </p:cBhvr>
                                      <p:to>
                                        <p:strVal val="visible"/>
                                      </p:to>
                                    </p:set>
                                    <p:animEffect transition="in" filter="fade">
                                      <p:cBhvr>
                                        <p:cTn id="120" dur="700"/>
                                        <p:tgtEl>
                                          <p:spTgt spid="39"/>
                                        </p:tgtEl>
                                      </p:cBhvr>
                                    </p:animEffect>
                                    <p:anim calcmode="lin" valueType="num">
                                      <p:cBhvr additive="base">
                                        <p:cTn id="121" dur="700" fill="hold"/>
                                        <p:tgtEl>
                                          <p:spTgt spid="39"/>
                                        </p:tgtEl>
                                        <p:attrNameLst>
                                          <p:attrName>ppt_y</p:attrName>
                                        </p:attrNameLst>
                                      </p:cBhvr>
                                      <p:tavLst>
                                        <p:tav tm="0">
                                          <p:val>
                                            <p:strVal val="#ppt_y+.08"/>
                                          </p:val>
                                        </p:tav>
                                        <p:tav tm="100000">
                                          <p:val>
                                            <p:strVal val="#ppt_y"/>
                                          </p:val>
                                        </p:tav>
                                      </p:tavLst>
                                    </p:anim>
                                  </p:childTnLst>
                                </p:cTn>
                              </p:par>
                              <p:par>
                                <p:cTn id="122" presetID="42" presetClass="entr" presetSubtype="0" fill="hold" grpId="0" nodeType="withEffect">
                                  <p:stCondLst>
                                    <p:cond delay="0"/>
                                  </p:stCondLst>
                                  <p:childTnLst>
                                    <p:set>
                                      <p:cBhvr>
                                        <p:cTn id="123" dur="1" fill="hold">
                                          <p:stCondLst>
                                            <p:cond delay="0"/>
                                          </p:stCondLst>
                                        </p:cTn>
                                        <p:tgtEl>
                                          <p:spTgt spid="40"/>
                                        </p:tgtEl>
                                        <p:attrNameLst>
                                          <p:attrName>style.visibility</p:attrName>
                                        </p:attrNameLst>
                                      </p:cBhvr>
                                      <p:to>
                                        <p:strVal val="visible"/>
                                      </p:to>
                                    </p:set>
                                    <p:animEffect transition="in" filter="fade">
                                      <p:cBhvr>
                                        <p:cTn id="124" dur="700"/>
                                        <p:tgtEl>
                                          <p:spTgt spid="40"/>
                                        </p:tgtEl>
                                      </p:cBhvr>
                                    </p:animEffect>
                                    <p:anim calcmode="lin" valueType="num">
                                      <p:cBhvr additive="base">
                                        <p:cTn id="125" dur="700" fill="hold"/>
                                        <p:tgtEl>
                                          <p:spTgt spid="40"/>
                                        </p:tgtEl>
                                        <p:attrNameLst>
                                          <p:attrName>ppt_y</p:attrName>
                                        </p:attrNameLst>
                                      </p:cBhvr>
                                      <p:tavLst>
                                        <p:tav tm="0">
                                          <p:val>
                                            <p:strVal val="#ppt_y+.08"/>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42"/>
                                        </p:tgtEl>
                                        <p:attrNameLst>
                                          <p:attrName>style.visibility</p:attrName>
                                        </p:attrNameLst>
                                      </p:cBhvr>
                                      <p:to>
                                        <p:strVal val="visible"/>
                                      </p:to>
                                    </p:set>
                                    <p:animEffect transition="in" filter="fade">
                                      <p:cBhvr>
                                        <p:cTn id="130" dur="500"/>
                                        <p:tgtEl>
                                          <p:spTgt spid="42"/>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43"/>
                                        </p:tgtEl>
                                        <p:attrNameLst>
                                          <p:attrName>style.visibility</p:attrName>
                                        </p:attrNameLst>
                                      </p:cBhvr>
                                      <p:to>
                                        <p:strVal val="visible"/>
                                      </p:to>
                                    </p:set>
                                    <p:animEffect transition="in" filter="fade">
                                      <p:cBhvr>
                                        <p:cTn id="133"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animBg="1"/>
      <p:bldP spid="16" grpId="0" animBg="1"/>
      <p:bldP spid="12" grpId="0" animBg="1"/>
      <p:bldP spid="15" grpId="0" animBg="1"/>
      <p:bldP spid="18" grpId="0" animBg="1"/>
      <p:bldP spid="19" grpId="0" animBg="1"/>
      <p:bldP spid="20" grpId="0" animBg="1"/>
      <p:bldP spid="21" grpId="0" animBg="1"/>
      <p:bldP spid="22" grpId="0" animBg="1"/>
      <p:bldP spid="23" grpId="0" animBg="1"/>
      <p:bldP spid="26" grpId="0" animBg="1"/>
      <p:bldP spid="27" grpId="0" animBg="1"/>
      <p:bldP spid="28" grpId="0" animBg="1"/>
      <p:bldP spid="30" grpId="0" animBg="1"/>
      <p:bldP spid="31" grpId="0" animBg="1"/>
      <p:bldP spid="32" grpId="0" animBg="1"/>
      <p:bldP spid="33" grpId="0" animBg="1"/>
      <p:bldP spid="34" grpId="0" animBg="1"/>
      <p:bldP spid="35" grpId="0" animBg="1"/>
      <p:bldP spid="36" grpId="0" animBg="1"/>
      <p:bldP spid="38" grpId="0" animBg="1"/>
      <p:bldP spid="40" grpId="0" animBg="1"/>
      <p:bldP spid="4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rompt" pitchFamily="34" charset="0"/>
                <a:ea typeface="Prompt" pitchFamily="34" charset="-122"/>
                <a:cs typeface="Prompt" pitchFamily="34" charset="-120"/>
              </a:rPr>
              <a:t>อภิปรายผลและเปรียบเทียบ</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rompt" pitchFamily="34" charset="0"/>
                <a:ea typeface="Prompt" pitchFamily="34" charset="-122"/>
                <a:cs typeface="Prompt" pitchFamily="34" charset="-120"/>
              </a:rPr>
              <a:t>AI เป็นเครื่องมือ ไม่ใช่หลักประกันความสำเร็จ</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BFE6E0"/>
          </a:solidFill>
          <a:ln w="12700">
            <a:solidFill>
              <a:srgbClr val="BFE6E0"/>
            </a:solidFill>
            <a:prstDash val="solid"/>
          </a:ln>
        </p:spPr>
      </p:sp>
      <p:sp>
        <p:nvSpPr>
          <p:cNvPr id="6" name="progress dot 3"/>
          <p:cNvSpPr/>
          <p:nvPr/>
        </p:nvSpPr>
        <p:spPr>
          <a:xfrm>
            <a:off x="8174736" y="342900"/>
            <a:ext cx="100584" cy="100584"/>
          </a:xfrm>
          <a:prstGeom prst="ellipse">
            <a:avLst/>
          </a:prstGeom>
          <a:solidFill>
            <a:srgbClr val="BFE6E0"/>
          </a:solidFill>
          <a:ln w="12700">
            <a:solidFill>
              <a:srgbClr val="BFE6E0"/>
            </a:solidFill>
            <a:prstDash val="solid"/>
          </a:ln>
        </p:spPr>
      </p:sp>
      <p:sp>
        <p:nvSpPr>
          <p:cNvPr id="7" name="progress dot 4"/>
          <p:cNvSpPr/>
          <p:nvPr/>
        </p:nvSpPr>
        <p:spPr>
          <a:xfrm>
            <a:off x="8357616" y="342900"/>
            <a:ext cx="100584" cy="100584"/>
          </a:xfrm>
          <a:prstGeom prst="ellipse">
            <a:avLst/>
          </a:prstGeom>
          <a:solidFill>
            <a:srgbClr val="BFE6E0"/>
          </a:solidFill>
          <a:ln w="12700">
            <a:solidFill>
              <a:srgbClr val="BFE6E0"/>
            </a:solidFill>
            <a:prstDash val="solid"/>
          </a:ln>
        </p:spPr>
      </p:sp>
      <p:sp>
        <p:nvSpPr>
          <p:cNvPr id="8" name="progress dot 5"/>
          <p:cNvSpPr/>
          <p:nvPr/>
        </p:nvSpPr>
        <p:spPr>
          <a:xfrm>
            <a:off x="8540496" y="342900"/>
            <a:ext cx="100584" cy="100584"/>
          </a:xfrm>
          <a:prstGeom prst="ellipse">
            <a:avLst/>
          </a:prstGeom>
          <a:solidFill>
            <a:srgbClr val="2E8B86"/>
          </a:solidFill>
          <a:ln w="12700">
            <a:solidFill>
              <a:srgbClr val="2E8B86"/>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900" dirty="0">
                <a:solidFill>
                  <a:srgbClr val="A3ADBB"/>
                </a:solidFill>
                <a:latin typeface="Prompt" pitchFamily="34" charset="0"/>
                <a:ea typeface="Prompt" pitchFamily="34" charset="-122"/>
                <a:cs typeface="Prompt" pitchFamily="34" charset="-120"/>
              </a:rPr>
              <a:t>5 / 5</a:t>
            </a:r>
            <a:endParaRPr lang="en-US" sz="900" dirty="0"/>
          </a:p>
        </p:txBody>
      </p:sp>
      <p:sp>
        <p:nvSpPr>
          <p:cNvPr id="10" name="tag finding"/>
          <p:cNvSpPr/>
          <p:nvPr/>
        </p:nvSpPr>
        <p:spPr>
          <a:xfrm>
            <a:off x="502920" y="1371600"/>
            <a:ext cx="1143000" cy="201168"/>
          </a:xfrm>
          <a:prstGeom prst="roundRect">
            <a:avLst>
              <a:gd name="adj" fmla="val 50000"/>
            </a:avLst>
          </a:prstGeom>
          <a:solidFill>
            <a:srgbClr val="BFE6E0"/>
          </a:solidFill>
          <a:ln w="12700">
            <a:solidFill>
              <a:srgbClr val="BFE6E0"/>
            </a:solidFill>
            <a:prstDash val="solid"/>
          </a:ln>
        </p:spPr>
      </p:sp>
      <p:sp>
        <p:nvSpPr>
          <p:cNvPr id="11" name="tag text"/>
          <p:cNvSpPr txBox="1"/>
          <p:nvPr/>
        </p:nvSpPr>
        <p:spPr>
          <a:xfrm>
            <a:off x="502920" y="1371600"/>
            <a:ext cx="1143000" cy="201168"/>
          </a:xfrm>
          <a:prstGeom prst="rect">
            <a:avLst/>
          </a:prstGeom>
          <a:noFill/>
          <a:ln/>
        </p:spPr>
        <p:txBody>
          <a:bodyPr wrap="square" lIns="0" tIns="0" rIns="0" bIns="0" rtlCol="0" anchor="ctr"/>
          <a:lstStyle/>
          <a:p>
            <a:pPr algn="ctr" indent="0" marL="0">
              <a:buNone/>
            </a:pPr>
            <a:r>
              <a:rPr lang="en-US" sz="850" b="1" spc="150" kern="0" dirty="0">
                <a:solidFill>
                  <a:srgbClr val="1B2A4A"/>
                </a:solidFill>
                <a:latin typeface="Prompt" pitchFamily="34" charset="0"/>
                <a:ea typeface="Prompt" pitchFamily="34" charset="-122"/>
                <a:cs typeface="Prompt" pitchFamily="34" charset="-120"/>
              </a:rPr>
              <a:t>ผลการวิจัย</a:t>
            </a:r>
            <a:endParaRPr lang="en-US" sz="850" dirty="0"/>
          </a:p>
        </p:txBody>
      </p:sp>
      <p:graphicFrame>
        <p:nvGraphicFramePr>
          <p:cNvPr id="12" name="comparison table"/>
          <p:cNvGraphicFramePr>
            <a:graphicFrameLocks noGrp="1"/>
          </p:cNvGraphicFramePr>
          <p:nvPr>
            <p:extLst>
              <p:ext uri="{D42A27DB-BD31-4B8C-83A1-F6EECF244321}">
                <p14:modId xmlns:p14="http://schemas.microsoft.com/office/powerpoint/2010/main" val="1579011935"/>
              </p:ext>
            </p:extLst>
          </p:nvPr>
        </p:nvGraphicFramePr>
        <p:xfrm>
          <a:off x="502920" y="1627632"/>
          <a:ext cx="8138160" cy="914400"/>
        </p:xfrm>
        <a:graphic>
          <a:graphicData uri="http://schemas.openxmlformats.org/drawingml/2006/table">
            <a:tbl>
              <a:tblPr/>
              <a:tblGrid>
                <a:gridCol w="1463040"/>
                <a:gridCol w="3337560"/>
                <a:gridCol w="3337560"/>
              </a:tblGrid>
              <a:tr h="329184">
                <a:tc>
                  <a:txBody>
                    <a:bodyPr/>
                    <a:lstStyle/>
                    <a:p>
                      <a:pPr indent="0" marL="0">
                        <a:buNone/>
                      </a:pP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12700" cap="flat" cmpd="sng" algn="ctr">
                      <a:solidFill>
                        <a:srgbClr val="1B2A4A"/>
                      </a:solidFill>
                      <a:prstDash val="solid"/>
                      <a:round/>
                      <a:headEnd type="none" w="med" len="med"/>
                      <a:tailEnd type="none" w="med" len="med"/>
                    </a:lnB>
                    <a:solidFill>
                      <a:srgbClr val="FFFFFF"/>
                    </a:solidFill>
                  </a:tcPr>
                </a:tc>
                <a:tc>
                  <a:txBody>
                    <a:bodyPr/>
                    <a:lstStyle/>
                    <a:p>
                      <a:pPr indent="0" marL="0">
                        <a:buNone/>
                      </a:pPr>
                      <a:r>
                        <a:rPr lang="en-US" sz="1050" b="1" dirty="0">
                          <a:solidFill>
                            <a:srgbClr val="1B2A4A"/>
                          </a:solidFill>
                          <a:latin typeface="Prompt" pitchFamily="34" charset="0"/>
                          <a:ea typeface="Prompt" pitchFamily="34" charset="-122"/>
                          <a:cs typeface="Prompt" pitchFamily="34" charset="-120"/>
                        </a:rPr>
                        <a:t>บทความที่ 2  ·  ที่ปรึกษา</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12700" cap="flat" cmpd="sng" algn="ctr">
                      <a:solidFill>
                        <a:srgbClr val="1B2A4A"/>
                      </a:solidFill>
                      <a:prstDash val="solid"/>
                      <a:round/>
                      <a:headEnd type="none" w="med" len="med"/>
                      <a:tailEnd type="none" w="med" len="med"/>
                    </a:lnB>
                    <a:solidFill>
                      <a:srgbClr val="FFFFFF"/>
                    </a:solidFill>
                  </a:tcPr>
                </a:tc>
                <a:tc>
                  <a:txBody>
                    <a:bodyPr/>
                    <a:lstStyle/>
                    <a:p>
                      <a:pPr indent="0" marL="0">
                        <a:buNone/>
                      </a:pPr>
                      <a:r>
                        <a:rPr lang="en-US" sz="1050" b="1" dirty="0">
                          <a:solidFill>
                            <a:srgbClr val="1B2A4A"/>
                          </a:solidFill>
                          <a:latin typeface="Prompt" pitchFamily="34" charset="0"/>
                          <a:ea typeface="Prompt" pitchFamily="34" charset="-122"/>
                          <a:cs typeface="Prompt" pitchFamily="34" charset="-120"/>
                        </a:rPr>
                        <a:t>บทความที่ 5  ·  ผู้ประกอบการ</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12700" cap="flat" cmpd="sng" algn="ctr">
                      <a:solidFill>
                        <a:srgbClr val="1B2A4A"/>
                      </a:solidFill>
                      <a:prstDash val="solid"/>
                      <a:round/>
                      <a:headEnd type="none" w="med" len="med"/>
                      <a:tailEnd type="none" w="med" len="med"/>
                    </a:lnB>
                    <a:solidFill>
                      <a:srgbClr val="FFFFFF"/>
                    </a:solidFill>
                  </a:tcPr>
                </a:tc>
              </a:tr>
              <a:tr h="402336">
                <a:tc>
                  <a:txBody>
                    <a:bodyPr/>
                    <a:lstStyle/>
                    <a:p>
                      <a:pPr indent="0" marL="0">
                        <a:buNone/>
                      </a:pPr>
                      <a:r>
                        <a:rPr lang="en-US" sz="1050" b="1" dirty="0">
                          <a:solidFill>
                            <a:srgbClr val="1B2A4A"/>
                          </a:solidFill>
                          <a:latin typeface="Prompt" pitchFamily="34" charset="0"/>
                          <a:ea typeface="Prompt" pitchFamily="34" charset="-122"/>
                          <a:cs typeface="Prompt" pitchFamily="34" charset="-120"/>
                        </a:rPr>
                        <a:t>กลุ่มที่ศึกษา</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050" dirty="0">
                          <a:solidFill>
                            <a:srgbClr val="6B7280"/>
                          </a:solidFill>
                          <a:latin typeface="Prompt" pitchFamily="34" charset="0"/>
                          <a:ea typeface="Prompt" pitchFamily="34" charset="-122"/>
                          <a:cs typeface="Prompt" pitchFamily="34" charset="-120"/>
                        </a:rPr>
                        <a:t>พนักงานความรู้ที่ BCG</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050" dirty="0">
                          <a:solidFill>
                            <a:srgbClr val="6B7280"/>
                          </a:solidFill>
                          <a:latin typeface="Prompt" pitchFamily="34" charset="0"/>
                          <a:ea typeface="Prompt" pitchFamily="34" charset="-122"/>
                          <a:cs typeface="Prompt" pitchFamily="34" charset="-120"/>
                        </a:rPr>
                        <a:t>ธุรกิจขนาดเล็กในเคนยา</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r>
              <a:tr h="475488">
                <a:tc>
                  <a:txBody>
                    <a:bodyPr/>
                    <a:lstStyle/>
                    <a:p>
                      <a:pPr indent="0" marL="0">
                        <a:buNone/>
                      </a:pPr>
                      <a:r>
                        <a:rPr lang="en-US" sz="1050" b="1" dirty="0">
                          <a:solidFill>
                            <a:srgbClr val="1B2A4A"/>
                          </a:solidFill>
                          <a:latin typeface="Prompt" pitchFamily="34" charset="0"/>
                          <a:ea typeface="Prompt" pitchFamily="34" charset="-122"/>
                          <a:cs typeface="Prompt" pitchFamily="34" charset="-120"/>
                        </a:rPr>
                        <a:t>ผลหลัก</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050" dirty="0">
                          <a:solidFill>
                            <a:srgbClr val="6B7280"/>
                          </a:solidFill>
                          <a:latin typeface="Prompt" pitchFamily="34" charset="0"/>
                          <a:ea typeface="Prompt" pitchFamily="34" charset="-122"/>
                          <a:cs typeface="Prompt" pitchFamily="34" charset="-120"/>
                        </a:rPr>
                        <a:t>ผลิตภาพและคุณภาพสูงขึ้นภายในพรมแดนความสามารถของ AI</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050" dirty="0">
                          <a:solidFill>
                            <a:srgbClr val="6B7280"/>
                          </a:solidFill>
                          <a:latin typeface="Prompt" pitchFamily="34" charset="0"/>
                          <a:ea typeface="Prompt" pitchFamily="34" charset="-122"/>
                          <a:cs typeface="Prompt" pitchFamily="34" charset="-120"/>
                        </a:rPr>
                        <a:t>ไม่พบผลเฉลี่ยต่อรายได้และกำไรอย่างชัดเจน</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r>
              <a:tr h="475488">
                <a:tc>
                  <a:txBody>
                    <a:bodyPr/>
                    <a:lstStyle/>
                    <a:p>
                      <a:pPr indent="0" marL="0">
                        <a:buNone/>
                      </a:pPr>
                      <a:r>
                        <a:rPr lang="en-US" sz="1050" b="1" dirty="0">
                          <a:solidFill>
                            <a:srgbClr val="1B2A4A"/>
                          </a:solidFill>
                          <a:latin typeface="Prompt" pitchFamily="34" charset="0"/>
                          <a:ea typeface="Prompt" pitchFamily="34" charset="-122"/>
                          <a:cs typeface="Prompt" pitchFamily="34" charset="-120"/>
                        </a:rPr>
                        <a:t>ข้อค้นพบสำคัญ</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050" dirty="0">
                          <a:solidFill>
                            <a:srgbClr val="6B7280"/>
                          </a:solidFill>
                          <a:latin typeface="Prompt" pitchFamily="34" charset="0"/>
                          <a:ea typeface="Prompt" pitchFamily="34" charset="-122"/>
                          <a:cs typeface="Prompt" pitchFamily="34" charset="-120"/>
                        </a:rPr>
                        <a:t>ความถูกต้องลดลงในงานนอกพรมแดน</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050" dirty="0">
                          <a:solidFill>
                            <a:srgbClr val="6B7280"/>
                          </a:solidFill>
                          <a:latin typeface="Prompt" pitchFamily="34" charset="0"/>
                          <a:ea typeface="Prompt" pitchFamily="34" charset="-122"/>
                          <a:cs typeface="Prompt" pitchFamily="34" charset="-120"/>
                        </a:rPr>
                        <a:t>ผลขึ้นกับผลงานตั้งต้นและคำแนะนำที่เลือกนำไปใช้</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r>
            </a:tbl>
          </a:graphicData>
        </a:graphic>
      </p:graphicFrame>
      <p:sp>
        <p:nvSpPr>
          <p:cNvPr id="13" name="conclusion card"/>
          <p:cNvSpPr/>
          <p:nvPr/>
        </p:nvSpPr>
        <p:spPr>
          <a:xfrm>
            <a:off x="502920" y="3456432"/>
            <a:ext cx="8138160" cy="932688"/>
          </a:xfrm>
          <a:prstGeom prst="roundRect">
            <a:avLst>
              <a:gd name="adj" fmla="val 11765"/>
            </a:avLst>
          </a:prstGeom>
          <a:solidFill>
            <a:srgbClr val="2E8B86"/>
          </a:solidFill>
          <a:ln w="12700">
            <a:solidFill>
              <a:srgbClr val="2E8B86"/>
            </a:solidFill>
            <a:prstDash val="solid"/>
          </a:ln>
        </p:spPr>
      </p:sp>
      <p:sp>
        <p:nvSpPr>
          <p:cNvPr id="14" name="tag interp"/>
          <p:cNvSpPr/>
          <p:nvPr/>
        </p:nvSpPr>
        <p:spPr>
          <a:xfrm>
            <a:off x="731520" y="3584448"/>
            <a:ext cx="1143000" cy="201168"/>
          </a:xfrm>
          <a:prstGeom prst="roundRect">
            <a:avLst>
              <a:gd name="adj" fmla="val 50000"/>
            </a:avLst>
          </a:prstGeom>
          <a:solidFill>
            <a:srgbClr val="FFFFFF"/>
          </a:solidFill>
          <a:ln w="12700">
            <a:solidFill>
              <a:srgbClr val="FFFFFF"/>
            </a:solidFill>
            <a:prstDash val="solid"/>
          </a:ln>
        </p:spPr>
      </p:sp>
      <p:sp>
        <p:nvSpPr>
          <p:cNvPr id="15" name="tag text"/>
          <p:cNvSpPr txBox="1"/>
          <p:nvPr/>
        </p:nvSpPr>
        <p:spPr>
          <a:xfrm>
            <a:off x="731520" y="3584448"/>
            <a:ext cx="1143000" cy="201168"/>
          </a:xfrm>
          <a:prstGeom prst="rect">
            <a:avLst/>
          </a:prstGeom>
          <a:noFill/>
          <a:ln/>
        </p:spPr>
        <p:txBody>
          <a:bodyPr wrap="square" lIns="0" tIns="0" rIns="0" bIns="0" rtlCol="0" anchor="ctr"/>
          <a:lstStyle/>
          <a:p>
            <a:pPr algn="ctr" indent="0" marL="0">
              <a:buNone/>
            </a:pPr>
            <a:r>
              <a:rPr lang="en-US" sz="850" b="1" spc="150" kern="0" dirty="0">
                <a:solidFill>
                  <a:srgbClr val="1B2A4A"/>
                </a:solidFill>
                <a:latin typeface="Prompt" pitchFamily="34" charset="0"/>
                <a:ea typeface="Prompt" pitchFamily="34" charset="-122"/>
                <a:cs typeface="Prompt" pitchFamily="34" charset="-120"/>
              </a:rPr>
              <a:t>การตีความ</a:t>
            </a:r>
            <a:endParaRPr lang="en-US" sz="850" dirty="0"/>
          </a:p>
        </p:txBody>
      </p:sp>
      <p:sp>
        <p:nvSpPr>
          <p:cNvPr id="16" name="conclusion"/>
          <p:cNvSpPr txBox="1"/>
          <p:nvPr/>
        </p:nvSpPr>
        <p:spPr>
          <a:xfrm>
            <a:off x="731520" y="3840480"/>
            <a:ext cx="4160520" cy="475488"/>
          </a:xfrm>
          <a:prstGeom prst="rect">
            <a:avLst/>
          </a:prstGeom>
          <a:noFill/>
          <a:ln/>
        </p:spPr>
        <p:txBody>
          <a:bodyPr wrap="square" lIns="0" tIns="0" rIns="0" bIns="0" rtlCol="0" anchor="t"/>
          <a:lstStyle/>
          <a:p>
            <a:pPr indent="0" marL="0">
              <a:buNone/>
            </a:pPr>
            <a:r>
              <a:rPr lang="en-US" sz="1050" b="1" dirty="0">
                <a:solidFill>
                  <a:srgbClr val="FFFFFF"/>
                </a:solidFill>
                <a:latin typeface="Prompt" pitchFamily="34" charset="0"/>
                <a:ea typeface="Prompt" pitchFamily="34" charset="-122"/>
                <a:cs typeface="Prompt" pitchFamily="34" charset="-120"/>
              </a:rPr>
              <a:t>AI ส่งผลต่อผลการทำงานจริงได้ แต่ผลกระทบขึ้นอยู่กับความเหมาะสมของงาน พฤติกรรมของผู้ใช้ และวิจารณญาณของมนุษย์</a:t>
            </a:r>
            <a:endParaRPr lang="en-US" sz="1050" dirty="0"/>
          </a:p>
        </p:txBody>
      </p:sp>
      <p:pic>
        <p:nvPicPr>
          <p:cNvPr id="17" name="icon check" descr="preencoded.png">    </p:cNvPr>
          <p:cNvPicPr>
            <a:picLocks noChangeAspect="1"/>
          </p:cNvPicPr>
          <p:nvPr/>
        </p:nvPicPr>
        <p:blipFill>
          <a:blip r:embed="rId1"/>
          <a:stretch>
            <a:fillRect/>
          </a:stretch>
        </p:blipFill>
        <p:spPr>
          <a:xfrm>
            <a:off x="4983480" y="3621024"/>
            <a:ext cx="164592" cy="164592"/>
          </a:xfrm>
          <a:prstGeom prst="rect">
            <a:avLst/>
          </a:prstGeom>
        </p:spPr>
      </p:pic>
      <p:sp>
        <p:nvSpPr>
          <p:cNvPr id="18" name="takeaway 1"/>
          <p:cNvSpPr txBox="1"/>
          <p:nvPr/>
        </p:nvSpPr>
        <p:spPr>
          <a:xfrm>
            <a:off x="5239512" y="3584448"/>
            <a:ext cx="1847088" cy="237744"/>
          </a:xfrm>
          <a:prstGeom prst="rect">
            <a:avLst/>
          </a:prstGeom>
          <a:noFill/>
          <a:ln/>
        </p:spPr>
        <p:txBody>
          <a:bodyPr wrap="square" lIns="0" tIns="0" rIns="0" bIns="0" rtlCol="0" anchor="ctr"/>
          <a:lstStyle/>
          <a:p>
            <a:pPr indent="0" marL="0">
              <a:buNone/>
            </a:pPr>
            <a:r>
              <a:rPr lang="en-US" sz="950" dirty="0">
                <a:solidFill>
                  <a:srgbClr val="FFFFFF"/>
                </a:solidFill>
                <a:latin typeface="Prompt" pitchFamily="34" charset="0"/>
                <a:ea typeface="Prompt" pitchFamily="34" charset="-122"/>
                <a:cs typeface="Prompt" pitchFamily="34" charset="-120"/>
              </a:rPr>
              <a:t>เลือกงานให้ตรงกับจุดแข็งของ AI</a:t>
            </a:r>
            <a:endParaRPr lang="en-US" sz="950" dirty="0"/>
          </a:p>
        </p:txBody>
      </p:sp>
      <p:pic>
        <p:nvPicPr>
          <p:cNvPr id="19" name="icon check" descr="preencoded.png">    </p:cNvPr>
          <p:cNvPicPr>
            <a:picLocks noChangeAspect="1"/>
          </p:cNvPicPr>
          <p:nvPr/>
        </p:nvPicPr>
        <p:blipFill>
          <a:blip r:embed="rId2"/>
          <a:stretch>
            <a:fillRect/>
          </a:stretch>
        </p:blipFill>
        <p:spPr>
          <a:xfrm>
            <a:off x="4983480" y="3867912"/>
            <a:ext cx="164592" cy="164592"/>
          </a:xfrm>
          <a:prstGeom prst="rect">
            <a:avLst/>
          </a:prstGeom>
        </p:spPr>
      </p:pic>
      <p:sp>
        <p:nvSpPr>
          <p:cNvPr id="20" name="takeaway 2"/>
          <p:cNvSpPr txBox="1"/>
          <p:nvPr/>
        </p:nvSpPr>
        <p:spPr>
          <a:xfrm>
            <a:off x="5239512" y="3831336"/>
            <a:ext cx="1847088" cy="237744"/>
          </a:xfrm>
          <a:prstGeom prst="rect">
            <a:avLst/>
          </a:prstGeom>
          <a:noFill/>
          <a:ln/>
        </p:spPr>
        <p:txBody>
          <a:bodyPr wrap="square" lIns="0" tIns="0" rIns="0" bIns="0" rtlCol="0" anchor="ctr"/>
          <a:lstStyle/>
          <a:p>
            <a:pPr indent="0" marL="0">
              <a:buNone/>
            </a:pPr>
            <a:r>
              <a:rPr lang="en-US" sz="950" dirty="0">
                <a:solidFill>
                  <a:srgbClr val="FFFFFF"/>
                </a:solidFill>
                <a:latin typeface="Prompt" pitchFamily="34" charset="0"/>
                <a:ea typeface="Prompt" pitchFamily="34" charset="-122"/>
                <a:cs typeface="Prompt" pitchFamily="34" charset="-120"/>
              </a:rPr>
              <a:t>ประเมินคำแนะนำของ AI อย่างมีวิจารณญาณ</a:t>
            </a:r>
            <a:endParaRPr lang="en-US" sz="950" dirty="0"/>
          </a:p>
        </p:txBody>
      </p:sp>
      <p:pic>
        <p:nvPicPr>
          <p:cNvPr id="21" name="icon check" descr="preencoded.png">    </p:cNvPr>
          <p:cNvPicPr>
            <a:picLocks noChangeAspect="1"/>
          </p:cNvPicPr>
          <p:nvPr/>
        </p:nvPicPr>
        <p:blipFill>
          <a:blip r:embed="rId3"/>
          <a:stretch>
            <a:fillRect/>
          </a:stretch>
        </p:blipFill>
        <p:spPr>
          <a:xfrm>
            <a:off x="4983480" y="4114800"/>
            <a:ext cx="164592" cy="164592"/>
          </a:xfrm>
          <a:prstGeom prst="rect">
            <a:avLst/>
          </a:prstGeom>
        </p:spPr>
      </p:pic>
      <p:sp>
        <p:nvSpPr>
          <p:cNvPr id="22" name="takeaway 3"/>
          <p:cNvSpPr txBox="1"/>
          <p:nvPr/>
        </p:nvSpPr>
        <p:spPr>
          <a:xfrm>
            <a:off x="5239512" y="4078224"/>
            <a:ext cx="1847088" cy="237744"/>
          </a:xfrm>
          <a:prstGeom prst="rect">
            <a:avLst/>
          </a:prstGeom>
          <a:noFill/>
          <a:ln/>
        </p:spPr>
        <p:txBody>
          <a:bodyPr wrap="square" lIns="0" tIns="0" rIns="0" bIns="0" rtlCol="0" anchor="ctr"/>
          <a:lstStyle/>
          <a:p>
            <a:pPr indent="0" marL="0">
              <a:buNone/>
            </a:pPr>
            <a:r>
              <a:rPr lang="en-US" sz="950" dirty="0">
                <a:solidFill>
                  <a:srgbClr val="FFFFFF"/>
                </a:solidFill>
                <a:latin typeface="Prompt" pitchFamily="34" charset="0"/>
                <a:ea typeface="Prompt" pitchFamily="34" charset="-122"/>
                <a:cs typeface="Prompt" pitchFamily="34" charset="-120"/>
              </a:rPr>
              <a:t>ให้มนุษย์ตัดสินใจขั้นสุดท้าย</a:t>
            </a:r>
            <a:endParaRPr lang="en-US" sz="950" dirty="0"/>
          </a:p>
        </p:txBody>
      </p:sp>
      <p:pic>
        <p:nvPicPr>
          <p:cNvPr id="23" name="human handshake" descr="preencoded.png">    </p:cNvPr>
          <p:cNvPicPr>
            <a:picLocks noChangeAspect="1"/>
          </p:cNvPicPr>
          <p:nvPr/>
        </p:nvPicPr>
        <p:blipFill>
          <a:blip r:embed="rId4"/>
          <a:stretch>
            <a:fillRect/>
          </a:stretch>
        </p:blipFill>
        <p:spPr>
          <a:xfrm>
            <a:off x="7068312" y="3547872"/>
            <a:ext cx="749808" cy="786384"/>
          </a:xfrm>
          <a:prstGeom prst="rect">
            <a:avLst/>
          </a:prstGeom>
        </p:spPr>
      </p:pic>
      <p:pic>
        <p:nvPicPr>
          <p:cNvPr id="24" name="mascot handshake" descr="preencoded.png">    </p:cNvPr>
          <p:cNvPicPr>
            <a:picLocks noChangeAspect="1"/>
          </p:cNvPicPr>
          <p:nvPr/>
        </p:nvPicPr>
        <p:blipFill>
          <a:blip r:embed="rId5"/>
          <a:stretch>
            <a:fillRect/>
          </a:stretch>
        </p:blipFill>
        <p:spPr>
          <a:xfrm>
            <a:off x="7744968" y="3547872"/>
            <a:ext cx="822960" cy="786384"/>
          </a:xfrm>
          <a:prstGeom prst="rect">
            <a:avLst/>
          </a:prstGeom>
        </p:spPr>
      </p:pic>
      <p:sp>
        <p:nvSpPr>
          <p:cNvPr id="25"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rompt" pitchFamily="34" charset="0"/>
                <a:ea typeface="Prompt" pitchFamily="34" charset="-122"/>
                <a:cs typeface="Prompt" pitchFamily="34" charset="-120"/>
              </a:rPr>
              <a:t>Dell'Acqua et al. (2023), HBS Working Paper 24-013   ·   Otis et al. (2026), Management Science 72(7), doi.org/10.1287/mnsc.2024.06909</a:t>
            </a:r>
            <a:endParaRPr lang="en-US" sz="700" dirty="0"/>
          </a:p>
        </p:txBody>
      </p:sp>
      <p:sp>
        <p:nvSpPr>
          <p:cNvPr id="26"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950" b="1" dirty="0">
                <a:solidFill>
                  <a:srgbClr val="2E8B86"/>
                </a:solidFill>
                <a:latin typeface="Prompt" pitchFamily="34" charset="0"/>
                <a:ea typeface="Prompt" pitchFamily="34" charset="-122"/>
                <a:cs typeface="Prompt" pitchFamily="34" charset="-120"/>
              </a:rPr>
              <a:t>ถัดไป  </a:t>
            </a:r>
            <a:pPr algn="r" indent="0" marL="0">
              <a:buNone/>
            </a:pPr>
            <a:r>
              <a:rPr lang="en-US" sz="950" dirty="0">
                <a:solidFill>
                  <a:srgbClr val="1B2A4A"/>
                </a:solidFill>
                <a:latin typeface="Prompt" pitchFamily="34" charset="0"/>
                <a:ea typeface="Prompt" pitchFamily="34" charset="-122"/>
                <a:cs typeface="Prompt" pitchFamily="34" charset="-120"/>
              </a:rPr>
              <a:t>ขอบคุณครับ ยินดีรับคำถาม</a:t>
            </a:r>
            <a:endParaRPr lang="en-US" sz="950" dirty="0"/>
          </a:p>
        </p:txBody>
      </p:sp>
      <p:pic>
        <p:nvPicPr>
          <p:cNvPr id="27" name="icon FiArrowRight" descr="preencoded.png">    </p:cNvPr>
          <p:cNvPicPr>
            <a:picLocks noChangeAspect="1"/>
          </p:cNvPicPr>
          <p:nvPr/>
        </p:nvPicPr>
        <p:blipFill>
          <a:blip r:embed="rId6"/>
          <a:stretch>
            <a:fillRect/>
          </a:stretch>
        </p:blipFill>
        <p:spPr>
          <a:xfrm>
            <a:off x="8439912" y="4498848"/>
            <a:ext cx="201168" cy="201168"/>
          </a:xfrm>
          <a:prstGeom prst="rect">
            <a:avLst/>
          </a:prstGeom>
        </p:spPr>
      </p:pic>
      <p:sp>
        <p:nvSpPr>
          <p:cNvPr id="28"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rompt"/>
                <a:ea typeface="Prompt"/>
                <a:cs typeface="Prompt"/>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700"/>
                                        <p:tgtEl>
                                          <p:spTgt spid="10"/>
                                        </p:tgtEl>
                                      </p:cBhvr>
                                    </p:animEffect>
                                    <p:anim calcmode="lin" valueType="num">
                                      <p:cBhvr additive="base">
                                        <p:cTn id="6" dur="700" fill="hold"/>
                                        <p:tgtEl>
                                          <p:spTgt spid="10"/>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animEffect transition="in" filter="fade">
                                      <p:cBhvr>
                                        <p:cTn id="9" dur="700"/>
                                        <p:tgtEl>
                                          <p:spTgt spid="11"/>
                                        </p:tgtEl>
                                      </p:cBhvr>
                                    </p:animEffect>
                                    <p:anim calcmode="lin" valueType="num">
                                      <p:cBhvr additive="base">
                                        <p:cTn id="10" dur="700" fill="hold"/>
                                        <p:tgtEl>
                                          <p:spTgt spid="11"/>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700"/>
                                        <p:tgtEl>
                                          <p:spTgt spid="15"/>
                                        </p:tgtEl>
                                      </p:cBhvr>
                                    </p:animEffect>
                                    <p:anim calcmode="lin" valueType="num">
                                      <p:cBhvr additive="base">
                                        <p:cTn id="14" dur="700" fill="hold"/>
                                        <p:tgtEl>
                                          <p:spTgt spid="15"/>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700"/>
                                        <p:tgtEl>
                                          <p:spTgt spid="12"/>
                                        </p:tgtEl>
                                      </p:cBhvr>
                                    </p:animEffect>
                                    <p:anim calcmode="lin" valueType="num">
                                      <p:cBhvr additive="base">
                                        <p:cTn id="18" dur="700" fill="hold"/>
                                        <p:tgtEl>
                                          <p:spTgt spid="12"/>
                                        </p:tgtEl>
                                        <p:attrNameLst>
                                          <p:attrName>ppt_y</p:attrName>
                                        </p:attrNameLst>
                                      </p:cBhvr>
                                      <p:tavLst>
                                        <p:tav tm="0">
                                          <p:val>
                                            <p:strVal val="#ppt_y+.08"/>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21" presetID="23" presetClass="entr" presetSubtype="16"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Scale>
                                      <p:cBhvr>
                                        <p:cTn id="23" dur="500" fill="hold"/>
                                        <p:tgtEl>
                                          <p:spTgt spid="13"/>
                                        </p:tgtEl>
                                      </p:cBhvr>
                                      <p:from x="0" y="0"/>
                                      <p:to x="100000" y="100000"/>
                                    </p:animScale>
                                    <p:animEffect transition="in" filter="fade">
                                      <p:cBhvr>
                                        <p:cTn id="24" dur="500"/>
                                        <p:tgtEl>
                                          <p:spTgt spid="13"/>
                                        </p:tgtEl>
                                      </p:cBhvr>
                                    </p:animEffect>
                                  </p:childTnLst>
                                </p:cTn>
                              </p:par>
                              <p:par>
                                <p:cTn id="25" presetID="23" presetClass="entr" presetSubtype="16"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Scale>
                                      <p:cBhvr>
                                        <p:cTn id="27" dur="500" fill="hold"/>
                                        <p:tgtEl>
                                          <p:spTgt spid="14"/>
                                        </p:tgtEl>
                                      </p:cBhvr>
                                      <p:from x="0" y="0"/>
                                      <p:to x="100000" y="100000"/>
                                    </p:animScale>
                                    <p:animEffect transition="in" filter="fade">
                                      <p:cBhvr>
                                        <p:cTn id="28" dur="500"/>
                                        <p:tgtEl>
                                          <p:spTgt spid="14"/>
                                        </p:tgtEl>
                                      </p:cBhvr>
                                    </p:animEffect>
                                  </p:childTnLst>
                                </p:cTn>
                              </p:par>
                              <p:par>
                                <p:cTn id="29" presetID="23" presetClass="entr" presetSubtype="16"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Scale>
                                      <p:cBhvr>
                                        <p:cTn id="31" dur="500" fill="hold"/>
                                        <p:tgtEl>
                                          <p:spTgt spid="16"/>
                                        </p:tgtEl>
                                      </p:cBhvr>
                                      <p:from x="0" y="0"/>
                                      <p:to x="100000" y="100000"/>
                                    </p:animScale>
                                    <p:animEffect transition="in" filter="fade">
                                      <p:cBhvr>
                                        <p:cTn id="32" dur="500"/>
                                        <p:tgtEl>
                                          <p:spTgt spid="16"/>
                                        </p:tgtEl>
                                      </p:cBhvr>
                                    </p:animEffect>
                                  </p:childTnLst>
                                </p:cTn>
                              </p:par>
                              <p:par>
                                <p:cTn id="33" presetID="23" presetClass="entr" presetSubtype="16"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Scale>
                                      <p:cBhvr>
                                        <p:cTn id="35" dur="500" fill="hold"/>
                                        <p:tgtEl>
                                          <p:spTgt spid="17"/>
                                        </p:tgtEl>
                                      </p:cBhvr>
                                      <p:from x="0" y="0"/>
                                      <p:to x="100000" y="100000"/>
                                    </p:animScale>
                                    <p:animEffect transition="in" filter="fade">
                                      <p:cBhvr>
                                        <p:cTn id="36" dur="500"/>
                                        <p:tgtEl>
                                          <p:spTgt spid="17"/>
                                        </p:tgtEl>
                                      </p:cBhvr>
                                    </p:animEffect>
                                  </p:childTnLst>
                                </p:cTn>
                              </p:par>
                              <p:par>
                                <p:cTn id="37" presetID="23" presetClass="entr" presetSubtype="16"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Scale>
                                      <p:cBhvr>
                                        <p:cTn id="39" dur="500" fill="hold"/>
                                        <p:tgtEl>
                                          <p:spTgt spid="19"/>
                                        </p:tgtEl>
                                      </p:cBhvr>
                                      <p:from x="0" y="0"/>
                                      <p:to x="100000" y="100000"/>
                                    </p:animScale>
                                    <p:animEffect transition="in" filter="fade">
                                      <p:cBhvr>
                                        <p:cTn id="40" dur="500"/>
                                        <p:tgtEl>
                                          <p:spTgt spid="19"/>
                                        </p:tgtEl>
                                      </p:cBhvr>
                                    </p:animEffect>
                                  </p:childTnLst>
                                </p:cTn>
                              </p:par>
                              <p:par>
                                <p:cTn id="41" presetID="23" presetClass="entr" presetSubtype="16"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animScale>
                                      <p:cBhvr>
                                        <p:cTn id="43" dur="500" fill="hold"/>
                                        <p:tgtEl>
                                          <p:spTgt spid="21"/>
                                        </p:tgtEl>
                                      </p:cBhvr>
                                      <p:from x="0" y="0"/>
                                      <p:to x="100000" y="100000"/>
                                    </p:animScale>
                                    <p:animEffect transition="in" filter="fade">
                                      <p:cBhvr>
                                        <p:cTn id="44" dur="500"/>
                                        <p:tgtEl>
                                          <p:spTgt spid="21"/>
                                        </p:tgtEl>
                                      </p:cBhvr>
                                    </p:animEffect>
                                  </p:childTnLst>
                                </p:cTn>
                              </p:par>
                              <p:par>
                                <p:cTn id="45" presetID="23" presetClass="entr" presetSubtype="16"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Scale>
                                      <p:cBhvr>
                                        <p:cTn id="47" dur="500" fill="hold"/>
                                        <p:tgtEl>
                                          <p:spTgt spid="18"/>
                                        </p:tgtEl>
                                      </p:cBhvr>
                                      <p:from x="0" y="0"/>
                                      <p:to x="100000" y="100000"/>
                                    </p:animScale>
                                    <p:animEffect transition="in" filter="fade">
                                      <p:cBhvr>
                                        <p:cTn id="48" dur="500"/>
                                        <p:tgtEl>
                                          <p:spTgt spid="18"/>
                                        </p:tgtEl>
                                      </p:cBhvr>
                                    </p:animEffect>
                                  </p:childTnLst>
                                </p:cTn>
                              </p:par>
                              <p:par>
                                <p:cTn id="49" presetID="23" presetClass="entr" presetSubtype="16"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animScale>
                                      <p:cBhvr>
                                        <p:cTn id="51" dur="500" fill="hold"/>
                                        <p:tgtEl>
                                          <p:spTgt spid="20"/>
                                        </p:tgtEl>
                                      </p:cBhvr>
                                      <p:from x="0" y="0"/>
                                      <p:to x="100000" y="100000"/>
                                    </p:animScale>
                                    <p:animEffect transition="in" filter="fade">
                                      <p:cBhvr>
                                        <p:cTn id="52" dur="500"/>
                                        <p:tgtEl>
                                          <p:spTgt spid="20"/>
                                        </p:tgtEl>
                                      </p:cBhvr>
                                    </p:animEffect>
                                  </p:childTnLst>
                                </p:cTn>
                              </p:par>
                              <p:par>
                                <p:cTn id="53" presetID="23" presetClass="entr" presetSubtype="16"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Scale>
                                      <p:cBhvr>
                                        <p:cTn id="55" dur="500" fill="hold"/>
                                        <p:tgtEl>
                                          <p:spTgt spid="22"/>
                                        </p:tgtEl>
                                      </p:cBhvr>
                                      <p:from x="0" y="0"/>
                                      <p:to x="100000" y="100000"/>
                                    </p:animScale>
                                    <p:animEffect transition="in" filter="fade">
                                      <p:cBhvr>
                                        <p:cTn id="56" dur="500"/>
                                        <p:tgtEl>
                                          <p:spTgt spid="22"/>
                                        </p:tgtEl>
                                      </p:cBhvr>
                                    </p:animEffect>
                                  </p:childTnLst>
                                </p:cTn>
                              </p:par>
                              <p:par>
                                <p:cTn id="57" presetID="23" presetClass="entr" presetSubtype="16" fill="hold" grpId="0" nodeType="withEffect">
                                  <p:stCondLst>
                                    <p:cond delay="0"/>
                                  </p:stCondLst>
                                  <p:childTnLst>
                                    <p:set>
                                      <p:cBhvr>
                                        <p:cTn id="58" dur="1" fill="hold">
                                          <p:stCondLst>
                                            <p:cond delay="0"/>
                                          </p:stCondLst>
                                        </p:cTn>
                                        <p:tgtEl>
                                          <p:spTgt spid="23"/>
                                        </p:tgtEl>
                                        <p:attrNameLst>
                                          <p:attrName>style.visibility</p:attrName>
                                        </p:attrNameLst>
                                      </p:cBhvr>
                                      <p:to>
                                        <p:strVal val="visible"/>
                                      </p:to>
                                    </p:set>
                                    <p:animScale>
                                      <p:cBhvr>
                                        <p:cTn id="59" dur="500" fill="hold"/>
                                        <p:tgtEl>
                                          <p:spTgt spid="23"/>
                                        </p:tgtEl>
                                      </p:cBhvr>
                                      <p:from x="0" y="0"/>
                                      <p:to x="100000" y="100000"/>
                                    </p:animScale>
                                    <p:animEffect transition="in" filter="fade">
                                      <p:cBhvr>
                                        <p:cTn id="60" dur="500"/>
                                        <p:tgtEl>
                                          <p:spTgt spid="23"/>
                                        </p:tgtEl>
                                      </p:cBhvr>
                                    </p:animEffect>
                                  </p:childTnLst>
                                </p:cTn>
                              </p:par>
                              <p:par>
                                <p:cTn id="61" presetID="23" presetClass="entr" presetSubtype="16" fill="hold" grpId="0" nodeType="withEffect">
                                  <p:stCondLst>
                                    <p:cond delay="0"/>
                                  </p:stCondLst>
                                  <p:childTnLst>
                                    <p:set>
                                      <p:cBhvr>
                                        <p:cTn id="62" dur="1" fill="hold">
                                          <p:stCondLst>
                                            <p:cond delay="0"/>
                                          </p:stCondLst>
                                        </p:cTn>
                                        <p:tgtEl>
                                          <p:spTgt spid="24"/>
                                        </p:tgtEl>
                                        <p:attrNameLst>
                                          <p:attrName>style.visibility</p:attrName>
                                        </p:attrNameLst>
                                      </p:cBhvr>
                                      <p:to>
                                        <p:strVal val="visible"/>
                                      </p:to>
                                    </p:set>
                                    <p:animScale>
                                      <p:cBhvr>
                                        <p:cTn id="63" dur="500" fill="hold"/>
                                        <p:tgtEl>
                                          <p:spTgt spid="24"/>
                                        </p:tgtEl>
                                      </p:cBhvr>
                                      <p:from x="0" y="0"/>
                                      <p:to x="100000" y="100000"/>
                                    </p:animScale>
                                    <p:animEffect transition="in" filter="fade">
                                      <p:cBhvr>
                                        <p:cTn id="64" dur="500"/>
                                        <p:tgtEl>
                                          <p:spTgt spid="24"/>
                                        </p:tgtEl>
                                      </p:cBhvr>
                                    </p:animEffect>
                                  </p:childTnLst>
                                </p:cTn>
                              </p:par>
                            </p:childTnLst>
                          </p:cTn>
                        </p:par>
                      </p:childTnLst>
                    </p:cTn>
                  </p:par>
                  <p:par>
                    <p:cTn id="73" fill="hold">
                      <p:stCondLst>
                        <p:cond delay="indefinite"/>
                      </p:stCondLst>
                      <p:childTnLst>
                        <p:par>
                          <p:cTn id="74"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fade">
                                      <p:cBhvr>
                                        <p:cTn id="69" dur="500"/>
                                        <p:tgtEl>
                                          <p:spTgt spid="2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animBg="1"/>
      <p:bldGraphic spid="12" grpId="0">
        <p:bldAsOne/>
      </p:bldGraphic>
      <p:bldP spid="13" grpId="0" animBg="1"/>
      <p:bldP spid="14" grpId="0" animBg="1"/>
      <p:bldP spid="16" grpId="0" animBg="1"/>
      <p:bldP spid="18" grpId="0" animBg="1"/>
      <p:bldP spid="20" grpId="0" animBg="1"/>
      <p:bldP spid="22" grpId="0" animBg="1"/>
      <p:bldP spid="26" grpId="0" animBg="1"/>
    </p:bldLst>
  </p:timing>
</p:sld>
</file>

<file path=ppt/theme/theme1.xml><?xml version="1.0" encoding="utf-8"?>
<a:theme xmlns:a="http://schemas.openxmlformats.org/drawingml/2006/main" name="AI Navy Teal Minimal">
  <a:themeElements>
    <a:clrScheme name="AI Navy Teal Minimal">
      <a:dk1>
        <a:srgbClr val="1B2A4A"/>
      </a:dk1>
      <a:lt1>
        <a:srgbClr val="FFFFFF"/>
      </a:lt1>
      <a:dk2>
        <a:srgbClr val="6B7280"/>
      </a:dk2>
      <a:lt2>
        <a:srgbClr val="F3F5F8"/>
      </a:lt2>
      <a:accent1>
        <a:srgbClr val="2E8B86"/>
      </a:accent1>
      <a:accent2>
        <a:srgbClr val="1B2A4A"/>
      </a:accent2>
      <a:accent3>
        <a:srgbClr val="A3ADBB"/>
      </a:accent3>
      <a:accent4>
        <a:srgbClr val="BFE6E0"/>
      </a:accent4>
      <a:accent5>
        <a:srgbClr val="E3E8EE"/>
      </a:accent5>
      <a:accent6>
        <a:srgbClr val="2A3D63"/>
      </a:accent6>
      <a:hlink>
        <a:srgbClr val="2E8B86"/>
      </a:hlink>
      <a:folHlink>
        <a:srgbClr val="6B7280"/>
      </a:folHlink>
    </a:clrScheme>
    <a:fontScheme name="AI Navy Teal Minimal">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Artificial Intelligence and Work Performance</dc:title>
  <dc:subject>ENG 501 English for Master's Degree</dc:subject>
  <dc:creator>Chayanun Sungsa-ard</dc:creator>
  <cp:lastModifiedBy>Chayanun Sungsa-ard</cp:lastModifiedBy>
  <cp:revision>1</cp:revision>
  <dcterms:created xsi:type="dcterms:W3CDTF">2026-10-09T16:10:07Z</dcterms:created>
  <dcterms:modified xsi:type="dcterms:W3CDTF">2026-10-09T16:10:07Z</dcterms:modified>
</cp:coreProperties>
</file>