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glish (Slides 1-5)" id="{004e458a-44af-3931-f6ed-fd86b64c487d}">
          <p14:sldIdLst>
            <p14:sldId id="256"/>
            <p14:sldId id="257"/>
            <p14:sldId id="258"/>
            <p14:sldId id="259"/>
            <p14:sldId id="260"/>
          </p14:sldIdLst>
        </p14:section>
        <p14:section name="ภาษาไทย (Slides 6-10)" id="{6b606586-b605-76b5-0ce0-acb8740e89d8}">
          <p14:sldIdLst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B2A4A"/>
                </a:solidFill>
                <a:latin typeface="+mn-lt"/>
              </a:defRPr>
            </a:pPr>
            <a:r>
              <a:rPr sz="950" b="0" i="0" u="none" strike="noStrike">
                <a:solidFill>
                  <a:srgbClr val="1B2A4A"/>
                </a:solidFill>
                <a:latin typeface="+mn-lt"/>
              </a:rPr>
              <a:t>Percentage change for consultants using AI (tasks within the frontier)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(%)</c:v>
                </c:pt>
              </c:strCache>
            </c:strRef>
          </c:tx>
          <c:spPr>
            <a:solidFill>
              <a:srgbClr val="2E8B86"/>
            </a:solidFill>
            <a:effectLst/>
          </c:spPr>
          <c:invertIfNegative val="0"/>
          <c:dLbls>
            <c:numFmt formatCode="+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B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B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B8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Tasks completed</c:v>
                  </c:pt>
                  <c:pt idx="1">
                    <c:v>Task speed</c:v>
                  </c:pt>
                  <c:pt idx="2">
                    <c:v>Quality vs. control</c:v>
                  </c:pt>
                  <c:pt idx="3">
                    <c:v>Below-average performers</c:v>
                  </c:pt>
                  <c:pt idx="4">
                    <c:v>Above-average performers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12.2</c:v>
                </c:pt>
                <c:pt idx="1">
                  <c:v>25.1</c:v>
                </c:pt>
                <c:pt idx="2">
                  <c:v>40</c:v>
                </c:pt>
                <c:pt idx="3">
                  <c:v>43</c:v>
                </c:pt>
                <c:pt idx="4">
                  <c:v>17</c:v>
                </c:pt>
              </c:numCache>
            </c:numRef>
          </c:val>
        </c:ser>
        <c:dLbls>
          <c:numFmt formatCode="+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4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B2A4A"/>
                </a:solidFill>
                <a:latin typeface="+mn-lt"/>
              </a:defRPr>
            </a:pPr>
            <a:r>
              <a:rPr sz="950" b="0" i="0" u="none" strike="noStrike">
                <a:solidFill>
                  <a:srgbClr val="1B2A4A"/>
                </a:solidFill>
                <a:latin typeface="+mn-lt"/>
              </a:rPr>
              <a:t>ร้อยละการเปลี่ยนแปลงของที่ปรึกษาที่ใช้ AI (งานภายในพรมแดน)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(%)</c:v>
                </c:pt>
              </c:strCache>
            </c:strRef>
          </c:tx>
          <c:spPr>
            <a:solidFill>
              <a:srgbClr val="2E8B86"/>
            </a:solidFill>
            <a:effectLst/>
          </c:spPr>
          <c:invertIfNegative val="0"/>
          <c:dLbls>
            <c:numFmt formatCode="+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B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B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B8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งานที่ทำเสร็จ</c:v>
                  </c:pt>
                  <c:pt idx="1">
                    <c:v>ความเร็วในการทำงาน</c:v>
                  </c:pt>
                  <c:pt idx="2">
                    <c:v>คุณภาพเทียบกลุ่มควบคุม</c:v>
                  </c:pt>
                  <c:pt idx="3">
                    <c:v>กลุ่มผลงานต่ำกว่าค่าเฉลี่ย</c:v>
                  </c:pt>
                  <c:pt idx="4">
                    <c:v>กลุ่มผลงานสูงกว่าค่าเฉลี่ย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12.2</c:v>
                </c:pt>
                <c:pt idx="1">
                  <c:v>25.1</c:v>
                </c:pt>
                <c:pt idx="2">
                  <c:v>40</c:v>
                </c:pt>
                <c:pt idx="3">
                  <c:v>43</c:v>
                </c:pt>
                <c:pt idx="4">
                  <c:v>17</c:v>
                </c:pt>
              </c:numCache>
            </c:numRef>
          </c:val>
        </c:ser>
        <c:dLbls>
          <c:numFmt formatCode="+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4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b="1" spc="1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47472"/>
            <a:ext cx="82296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4"/>
                </a:solidFill>
              </a:rPr>
              <a:t>Chayanun Sungsa-ard  |  691401708  |  MBA  |  ENG 501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b="1" spc="1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47472"/>
            <a:ext cx="82296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4"/>
                </a:solidFill>
              </a:rPr>
              <a:t>Chayanun Sungsa-ard  |  691401708  |  MBA  |  ENG 501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Artificial Intelligence and Work Performance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Evidence from two recent field experiments</a:t>
            </a:r>
            <a:endParaRPr lang="en-US" sz="1500" dirty="0"/>
          </a:p>
        </p:txBody>
      </p:sp>
      <p:sp>
        <p:nvSpPr>
          <p:cNvPr id="4" name="central question"/>
          <p:cNvSpPr txBox="1"/>
          <p:nvPr/>
        </p:nvSpPr>
        <p:spPr>
          <a:xfrm>
            <a:off x="457200" y="1938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6D4"/>
                </a:solidFill>
              </a:rPr>
              <a:t>Central question: How does AI affect productivity, work quality, and business performance?</a:t>
            </a:r>
            <a:endParaRPr lang="en-US" sz="1300" dirty="0"/>
          </a:p>
        </p:txBody>
      </p:sp>
      <p:sp>
        <p:nvSpPr>
          <p:cNvPr id="5" name="article card 1"/>
          <p:cNvSpPr/>
          <p:nvPr/>
        </p:nvSpPr>
        <p:spPr>
          <a:xfrm>
            <a:off x="457200" y="246888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3C4D6E"/>
          </a:solidFill>
          <a:ln w="12700">
            <a:solidFill>
              <a:srgbClr val="3C4D6E"/>
            </a:solidFill>
            <a:prstDash val="solid"/>
          </a:ln>
        </p:spPr>
      </p:sp>
      <p:sp>
        <p:nvSpPr>
          <p:cNvPr id="6" name="article label"/>
          <p:cNvSpPr txBox="1"/>
          <p:nvPr/>
        </p:nvSpPr>
        <p:spPr>
          <a:xfrm>
            <a:off x="658368" y="259689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8B86"/>
                </a:solidFill>
              </a:rPr>
              <a:t>Article 2</a:t>
            </a:r>
            <a:endParaRPr lang="en-US" sz="950" dirty="0"/>
          </a:p>
        </p:txBody>
      </p:sp>
      <p:sp>
        <p:nvSpPr>
          <p:cNvPr id="7" name="article title"/>
          <p:cNvSpPr txBox="1"/>
          <p:nvPr/>
        </p:nvSpPr>
        <p:spPr>
          <a:xfrm>
            <a:off x="658368" y="2834640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Navigating the Jagged Technological Frontier: Field Experimental Evidence of the Effects of AI on Knowledge Worker Productivity and Quality</a:t>
            </a:r>
            <a:endParaRPr lang="en-US" sz="1050" dirty="0"/>
          </a:p>
        </p:txBody>
      </p:sp>
      <p:sp>
        <p:nvSpPr>
          <p:cNvPr id="8" name="article meta"/>
          <p:cNvSpPr txBox="1"/>
          <p:nvPr/>
        </p:nvSpPr>
        <p:spPr>
          <a:xfrm>
            <a:off x="658368" y="3547872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6D4"/>
                </a:solidFill>
              </a:rPr>
              <a:t>Fabrizio Dell'Acqua et al.  |  Harvard Business School Working Paper 24-013, 2023</a:t>
            </a:r>
            <a:endParaRPr lang="en-US" sz="850" dirty="0"/>
          </a:p>
        </p:txBody>
      </p:sp>
      <p:sp>
        <p:nvSpPr>
          <p:cNvPr id="9" name="article card 2"/>
          <p:cNvSpPr/>
          <p:nvPr/>
        </p:nvSpPr>
        <p:spPr>
          <a:xfrm>
            <a:off x="4709160" y="246888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3C4D6E"/>
          </a:solidFill>
          <a:ln w="12700">
            <a:solidFill>
              <a:srgbClr val="3C4D6E"/>
            </a:solidFill>
            <a:prstDash val="solid"/>
          </a:ln>
        </p:spPr>
      </p:sp>
      <p:sp>
        <p:nvSpPr>
          <p:cNvPr id="10" name="article label"/>
          <p:cNvSpPr txBox="1"/>
          <p:nvPr/>
        </p:nvSpPr>
        <p:spPr>
          <a:xfrm>
            <a:off x="4910328" y="259689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8B86"/>
                </a:solidFill>
              </a:rPr>
              <a:t>Article 5</a:t>
            </a:r>
            <a:endParaRPr lang="en-US" sz="950" dirty="0"/>
          </a:p>
        </p:txBody>
      </p:sp>
      <p:sp>
        <p:nvSpPr>
          <p:cNvPr id="11" name="article title"/>
          <p:cNvSpPr txBox="1"/>
          <p:nvPr/>
        </p:nvSpPr>
        <p:spPr>
          <a:xfrm>
            <a:off x="4910328" y="2834640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Uneven Impact of Generative Artificial Intelligence on Entrepreneurial Performance: Evidence from a Field Experiment in Kenya</a:t>
            </a:r>
            <a:endParaRPr lang="en-US" sz="1050" dirty="0"/>
          </a:p>
        </p:txBody>
      </p:sp>
      <p:sp>
        <p:nvSpPr>
          <p:cNvPr id="12" name="article meta"/>
          <p:cNvSpPr txBox="1"/>
          <p:nvPr/>
        </p:nvSpPr>
        <p:spPr>
          <a:xfrm>
            <a:off x="4910328" y="3547872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6D4"/>
                </a:solidFill>
              </a:rPr>
              <a:t>Nicholas G. Otis et al.  |  Management Science, Vol. 72, No. 7, 2026  |  DOI 10.1287/mnsc.2024.06909</a:t>
            </a:r>
            <a:endParaRPr lang="en-US" sz="850" dirty="0"/>
          </a:p>
        </p:txBody>
      </p:sp>
      <p:sp>
        <p:nvSpPr>
          <p:cNvPr id="13" name="presenter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Chayanun Sungsa-ard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9D6D4"/>
                </a:solidFill>
              </a:rPr>
              <a:t>Student ID 691401708  |  Master of Business Administration (MBA)  |  ENG 501 English for Master's Degree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Article 2  |  Research purpose and method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4747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Navigating the Jagged Technological Frontier</a:t>
            </a:r>
            <a:endParaRPr lang="en-US" sz="2600" dirty="0"/>
          </a:p>
        </p:txBody>
      </p:sp>
      <p:sp>
        <p:nvSpPr>
          <p:cNvPr id="4" name="byline"/>
          <p:cNvSpPr txBox="1"/>
          <p:nvPr/>
        </p:nvSpPr>
        <p:spPr>
          <a:xfrm>
            <a:off x="457200" y="10607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Fabrizio Dell'Acqua et al.  |  Harvard Business School Working Paper 24-013, 2023</a:t>
            </a:r>
            <a:endParaRPr lang="en-US" sz="900" dirty="0"/>
          </a:p>
        </p:txBody>
      </p:sp>
      <p:sp>
        <p:nvSpPr>
          <p:cNvPr id="5" name="icon circle"/>
          <p:cNvSpPr/>
          <p:nvPr/>
        </p:nvSpPr>
        <p:spPr>
          <a:xfrm>
            <a:off x="457200" y="1426464"/>
            <a:ext cx="384048" cy="384048"/>
          </a:xfrm>
          <a:prstGeom prst="ellipse">
            <a:avLst/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pic>
        <p:nvPicPr>
          <p:cNvPr id="6" name="icon FiBriefca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508760"/>
            <a:ext cx="219456" cy="219456"/>
          </a:xfrm>
          <a:prstGeom prst="rect">
            <a:avLst/>
          </a:prstGeom>
        </p:spPr>
      </p:pic>
      <p:sp>
        <p:nvSpPr>
          <p:cNvPr id="7" name="fact Research partner"/>
          <p:cNvSpPr txBox="1"/>
          <p:nvPr/>
        </p:nvSpPr>
        <p:spPr>
          <a:xfrm>
            <a:off x="969264" y="1389888"/>
            <a:ext cx="3557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Research partner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Field experiment conducted with Boston Consulting Group (BCG)</a:t>
            </a:r>
            <a:endParaRPr lang="en-US" sz="1150" dirty="0"/>
          </a:p>
        </p:txBody>
      </p:sp>
      <p:sp>
        <p:nvSpPr>
          <p:cNvPr id="8" name="icon circle"/>
          <p:cNvSpPr/>
          <p:nvPr/>
        </p:nvSpPr>
        <p:spPr>
          <a:xfrm>
            <a:off x="457200" y="1993392"/>
            <a:ext cx="384048" cy="384048"/>
          </a:xfrm>
          <a:prstGeom prst="ellipse">
            <a:avLst/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pic>
        <p:nvPicPr>
          <p:cNvPr id="9" name="icon FiUs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75688"/>
            <a:ext cx="219456" cy="219456"/>
          </a:xfrm>
          <a:prstGeom prst="rect">
            <a:avLst/>
          </a:prstGeom>
        </p:spPr>
      </p:pic>
      <p:sp>
        <p:nvSpPr>
          <p:cNvPr id="10" name="fact Participants"/>
          <p:cNvSpPr txBox="1"/>
          <p:nvPr/>
        </p:nvSpPr>
        <p:spPr>
          <a:xfrm>
            <a:off x="969264" y="1956816"/>
            <a:ext cx="3557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Participants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758 consultants took part</a:t>
            </a:r>
            <a:endParaRPr lang="en-US" sz="1150" dirty="0"/>
          </a:p>
        </p:txBody>
      </p:sp>
      <p:sp>
        <p:nvSpPr>
          <p:cNvPr id="11" name="icon circle"/>
          <p:cNvSpPr/>
          <p:nvPr/>
        </p:nvSpPr>
        <p:spPr>
          <a:xfrm>
            <a:off x="457200" y="2560320"/>
            <a:ext cx="384048" cy="384048"/>
          </a:xfrm>
          <a:prstGeom prst="ellipse">
            <a:avLst/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pic>
        <p:nvPicPr>
          <p:cNvPr id="12" name="icon FiTarg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642616"/>
            <a:ext cx="219456" cy="219456"/>
          </a:xfrm>
          <a:prstGeom prst="rect">
            <a:avLst/>
          </a:prstGeom>
        </p:spPr>
      </p:pic>
      <p:sp>
        <p:nvSpPr>
          <p:cNvPr id="13" name="fact Research focus"/>
          <p:cNvSpPr txBox="1"/>
          <p:nvPr/>
        </p:nvSpPr>
        <p:spPr>
          <a:xfrm>
            <a:off x="969264" y="2523744"/>
            <a:ext cx="3557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Research focus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Productivity, work quality, and the boundaries of AI capability</a:t>
            </a:r>
            <a:endParaRPr lang="en-US" sz="1150" dirty="0"/>
          </a:p>
        </p:txBody>
      </p:sp>
      <p:sp>
        <p:nvSpPr>
          <p:cNvPr id="14" name="conditions head"/>
          <p:cNvSpPr txBox="1"/>
          <p:nvPr/>
        </p:nvSpPr>
        <p:spPr>
          <a:xfrm>
            <a:off x="457200" y="318211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Three experimental conditions</a:t>
            </a:r>
            <a:endParaRPr lang="en-US" sz="1150" dirty="0"/>
          </a:p>
        </p:txBody>
      </p:sp>
      <p:sp>
        <p:nvSpPr>
          <p:cNvPr id="15" name="condition 1"/>
          <p:cNvSpPr/>
          <p:nvPr/>
        </p:nvSpPr>
        <p:spPr>
          <a:xfrm>
            <a:off x="457200" y="3456432"/>
            <a:ext cx="1295400" cy="896112"/>
          </a:xfrm>
          <a:prstGeom prst="roundRect">
            <a:avLst>
              <a:gd name="adj" fmla="val 816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condition number"/>
          <p:cNvSpPr txBox="1"/>
          <p:nvPr/>
        </p:nvSpPr>
        <p:spPr>
          <a:xfrm>
            <a:off x="54864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86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condition text"/>
          <p:cNvSpPr txBox="1"/>
          <p:nvPr/>
        </p:nvSpPr>
        <p:spPr>
          <a:xfrm>
            <a:off x="548640" y="3767328"/>
            <a:ext cx="111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No AI access</a:t>
            </a:r>
            <a:endParaRPr lang="en-US" sz="950" dirty="0"/>
          </a:p>
        </p:txBody>
      </p:sp>
      <p:sp>
        <p:nvSpPr>
          <p:cNvPr id="18" name="condition 2"/>
          <p:cNvSpPr/>
          <p:nvPr/>
        </p:nvSpPr>
        <p:spPr>
          <a:xfrm>
            <a:off x="1844040" y="3456432"/>
            <a:ext cx="1295400" cy="896112"/>
          </a:xfrm>
          <a:prstGeom prst="roundRect">
            <a:avLst>
              <a:gd name="adj" fmla="val 816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condition number"/>
          <p:cNvSpPr txBox="1"/>
          <p:nvPr/>
        </p:nvSpPr>
        <p:spPr>
          <a:xfrm>
            <a:off x="193548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D6D4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condition text"/>
          <p:cNvSpPr txBox="1"/>
          <p:nvPr/>
        </p:nvSpPr>
        <p:spPr>
          <a:xfrm>
            <a:off x="1935480" y="3767328"/>
            <a:ext cx="111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GPT-4 access</a:t>
            </a:r>
            <a:endParaRPr lang="en-US" sz="950" dirty="0"/>
          </a:p>
        </p:txBody>
      </p:sp>
      <p:sp>
        <p:nvSpPr>
          <p:cNvPr id="21" name="condition 3"/>
          <p:cNvSpPr/>
          <p:nvPr/>
        </p:nvSpPr>
        <p:spPr>
          <a:xfrm>
            <a:off x="3230880" y="3456432"/>
            <a:ext cx="1295400" cy="896112"/>
          </a:xfrm>
          <a:prstGeom prst="roundRect">
            <a:avLst>
              <a:gd name="adj" fmla="val 816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condition number"/>
          <p:cNvSpPr txBox="1"/>
          <p:nvPr/>
        </p:nvSpPr>
        <p:spPr>
          <a:xfrm>
            <a:off x="332232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D6D4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condition text"/>
          <p:cNvSpPr txBox="1"/>
          <p:nvPr/>
        </p:nvSpPr>
        <p:spPr>
          <a:xfrm>
            <a:off x="3322320" y="3767328"/>
            <a:ext cx="111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GPT-4 access with prompt engineering guidance</a:t>
            </a:r>
            <a:endParaRPr lang="en-US" sz="950" dirty="0"/>
          </a:p>
        </p:txBody>
      </p:sp>
      <p:sp>
        <p:nvSpPr>
          <p:cNvPr id="24" name="concept card"/>
          <p:cNvSpPr/>
          <p:nvPr/>
        </p:nvSpPr>
        <p:spPr>
          <a:xfrm>
            <a:off x="4846320" y="1426464"/>
            <a:ext cx="3840480" cy="2907792"/>
          </a:xfrm>
          <a:prstGeom prst="roundRect">
            <a:avLst>
              <a:gd name="adj" fmla="val 251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5" name="tag concept"/>
          <p:cNvSpPr/>
          <p:nvPr/>
        </p:nvSpPr>
        <p:spPr>
          <a:xfrm>
            <a:off x="5029200" y="1572768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tag text"/>
          <p:cNvSpPr txBox="1"/>
          <p:nvPr/>
        </p:nvSpPr>
        <p:spPr>
          <a:xfrm>
            <a:off x="5029200" y="15727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chemeClr val="tx2"/>
                </a:solidFill>
              </a:rPr>
              <a:t>CONCEPT</a:t>
            </a:r>
            <a:endParaRPr lang="en-US" sz="800" dirty="0"/>
          </a:p>
        </p:txBody>
      </p:sp>
      <p:sp>
        <p:nvSpPr>
          <p:cNvPr id="27" name="concept head"/>
          <p:cNvSpPr txBox="1"/>
          <p:nvPr/>
        </p:nvSpPr>
        <p:spPr>
          <a:xfrm>
            <a:off x="5029200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The "Jagged Technological Frontier"</a:t>
            </a:r>
            <a:endParaRPr lang="en-US" sz="1200" dirty="0"/>
          </a:p>
        </p:txBody>
      </p:sp>
      <p:sp>
        <p:nvSpPr>
          <p:cNvPr id="28" name="concept body"/>
          <p:cNvSpPr txBox="1"/>
          <p:nvPr/>
        </p:nvSpPr>
        <p:spPr>
          <a:xfrm>
            <a:off x="5029200" y="213969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AI can perform some tasks well while struggling with other tasks that appear similarly difficult. The boundary is uneven, so workers cannot assume that a task is "safe" for AI just because it looks easy.</a:t>
            </a:r>
            <a:endParaRPr lang="en-US" sz="950" dirty="0"/>
          </a:p>
        </p:txBody>
      </p:sp>
      <p:sp>
        <p:nvSpPr>
          <p:cNvPr id="29" name="diagram frame"/>
          <p:cNvSpPr/>
          <p:nvPr/>
        </p:nvSpPr>
        <p:spPr>
          <a:xfrm>
            <a:off x="5029200" y="3035808"/>
            <a:ext cx="34747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frontier segment"/>
          <p:cNvSpPr/>
          <p:nvPr/>
        </p:nvSpPr>
        <p:spPr>
          <a:xfrm>
            <a:off x="5029200" y="3537814"/>
            <a:ext cx="496389" cy="278892"/>
          </a:xfrm>
          <a:prstGeom prst="line">
            <a:avLst/>
          </a:prstGeom>
          <a:noFill/>
          <a:ln w="28575">
            <a:solidFill>
              <a:srgbClr val="2E8B86"/>
            </a:solidFill>
            <a:prstDash val="solid"/>
          </a:ln>
        </p:spPr>
      </p:sp>
      <p:sp>
        <p:nvSpPr>
          <p:cNvPr id="31" name="frontier segment"/>
          <p:cNvSpPr/>
          <p:nvPr/>
        </p:nvSpPr>
        <p:spPr>
          <a:xfrm flipV="1">
            <a:off x="5525589" y="3370478"/>
            <a:ext cx="496389" cy="446227"/>
          </a:xfrm>
          <a:prstGeom prst="line">
            <a:avLst/>
          </a:prstGeom>
          <a:noFill/>
          <a:ln w="28575">
            <a:solidFill>
              <a:srgbClr val="2E8B86"/>
            </a:solidFill>
            <a:prstDash val="solid"/>
          </a:ln>
        </p:spPr>
      </p:sp>
      <p:sp>
        <p:nvSpPr>
          <p:cNvPr id="32" name="frontier segment"/>
          <p:cNvSpPr/>
          <p:nvPr/>
        </p:nvSpPr>
        <p:spPr>
          <a:xfrm>
            <a:off x="6021977" y="3370478"/>
            <a:ext cx="496389" cy="390449"/>
          </a:xfrm>
          <a:prstGeom prst="line">
            <a:avLst/>
          </a:prstGeom>
          <a:noFill/>
          <a:ln w="28575">
            <a:solidFill>
              <a:srgbClr val="2E8B86"/>
            </a:solidFill>
            <a:prstDash val="solid"/>
          </a:ln>
        </p:spPr>
      </p:sp>
      <p:sp>
        <p:nvSpPr>
          <p:cNvPr id="33" name="frontier segment"/>
          <p:cNvSpPr/>
          <p:nvPr/>
        </p:nvSpPr>
        <p:spPr>
          <a:xfrm flipV="1">
            <a:off x="6518366" y="3258922"/>
            <a:ext cx="496389" cy="502006"/>
          </a:xfrm>
          <a:prstGeom prst="line">
            <a:avLst/>
          </a:prstGeom>
          <a:noFill/>
          <a:ln w="28575">
            <a:solidFill>
              <a:srgbClr val="2E8B86"/>
            </a:solidFill>
            <a:prstDash val="solid"/>
          </a:ln>
        </p:spPr>
      </p:sp>
      <p:sp>
        <p:nvSpPr>
          <p:cNvPr id="34" name="frontier segment"/>
          <p:cNvSpPr/>
          <p:nvPr/>
        </p:nvSpPr>
        <p:spPr>
          <a:xfrm>
            <a:off x="7014754" y="3258922"/>
            <a:ext cx="496389" cy="390449"/>
          </a:xfrm>
          <a:prstGeom prst="line">
            <a:avLst/>
          </a:prstGeom>
          <a:noFill/>
          <a:ln w="28575">
            <a:solidFill>
              <a:srgbClr val="2E8B86"/>
            </a:solidFill>
            <a:prstDash val="solid"/>
          </a:ln>
        </p:spPr>
      </p:sp>
      <p:sp>
        <p:nvSpPr>
          <p:cNvPr id="35" name="frontier segment"/>
          <p:cNvSpPr/>
          <p:nvPr/>
        </p:nvSpPr>
        <p:spPr>
          <a:xfrm>
            <a:off x="7511143" y="3649370"/>
            <a:ext cx="496389" cy="223114"/>
          </a:xfrm>
          <a:prstGeom prst="line">
            <a:avLst/>
          </a:prstGeom>
          <a:noFill/>
          <a:ln w="28575">
            <a:solidFill>
              <a:srgbClr val="2E8B86"/>
            </a:solidFill>
            <a:prstDash val="solid"/>
          </a:ln>
        </p:spPr>
      </p:sp>
      <p:sp>
        <p:nvSpPr>
          <p:cNvPr id="36" name="frontier segment"/>
          <p:cNvSpPr/>
          <p:nvPr/>
        </p:nvSpPr>
        <p:spPr>
          <a:xfrm flipV="1">
            <a:off x="8007531" y="3482035"/>
            <a:ext cx="496389" cy="390449"/>
          </a:xfrm>
          <a:prstGeom prst="line">
            <a:avLst/>
          </a:prstGeom>
          <a:noFill/>
          <a:ln w="28575">
            <a:solidFill>
              <a:srgbClr val="2E8B86"/>
            </a:solidFill>
            <a:prstDash val="solid"/>
          </a:ln>
        </p:spPr>
      </p:sp>
      <p:sp>
        <p:nvSpPr>
          <p:cNvPr id="37" name="inside label"/>
          <p:cNvSpPr txBox="1"/>
          <p:nvPr/>
        </p:nvSpPr>
        <p:spPr>
          <a:xfrm>
            <a:off x="5102352" y="3877056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8B86"/>
                </a:solidFill>
              </a:rPr>
              <a:t>Inside the frontier: AI performs well</a:t>
            </a:r>
            <a:endParaRPr lang="en-US" sz="800" dirty="0"/>
          </a:p>
        </p:txBody>
      </p:sp>
      <p:sp>
        <p:nvSpPr>
          <p:cNvPr id="38" name="outside label"/>
          <p:cNvSpPr txBox="1"/>
          <p:nvPr/>
        </p:nvSpPr>
        <p:spPr>
          <a:xfrm>
            <a:off x="5102352" y="3090672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Outside the frontier: AI struggles</a:t>
            </a:r>
            <a:endParaRPr lang="en-US" sz="800" dirty="0"/>
          </a:p>
        </p:txBody>
      </p:sp>
      <p:sp>
        <p:nvSpPr>
          <p:cNvPr id="39" name="axis label"/>
          <p:cNvSpPr txBox="1"/>
          <p:nvPr/>
        </p:nvSpPr>
        <p:spPr>
          <a:xfrm>
            <a:off x="5029200" y="41696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chemeClr val="tx2"/>
                </a:solidFill>
              </a:rPr>
              <a:t>Tasks of similar apparent difficulty</a:t>
            </a:r>
            <a:endParaRPr lang="en-US" sz="750" dirty="0"/>
          </a:p>
        </p:txBody>
      </p:sp>
      <p:sp>
        <p:nvSpPr>
          <p:cNvPr id="40" name="reference"/>
          <p:cNvSpPr txBox="1"/>
          <p:nvPr/>
        </p:nvSpPr>
        <p:spPr>
          <a:xfrm>
            <a:off x="457200" y="44256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chemeClr val="tx2"/>
                </a:solidFill>
              </a:rPr>
              <a:t>Dell'Acqua, F., McFowland III, E., Mollick, E., Lifshitz-Assaf, H., Kellogg, K. C., Rajendran, S., Krayer, L., Candelon, F., &amp; Lakhani, K. R. (2023). Navigating the Jagged Technological Frontier. Harvard Business School Working Paper 24-013.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Article 2  |  Key findings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4747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AI Can Improve Productivity, but Has Limits</a:t>
            </a:r>
            <a:endParaRPr lang="en-US" sz="2600" dirty="0"/>
          </a:p>
        </p:txBody>
      </p:sp>
      <p:sp>
        <p:nvSpPr>
          <p:cNvPr id="4" name="tag finding"/>
          <p:cNvSpPr/>
          <p:nvPr/>
        </p:nvSpPr>
        <p:spPr>
          <a:xfrm>
            <a:off x="457200" y="1133856"/>
            <a:ext cx="2286000" cy="219456"/>
          </a:xfrm>
          <a:prstGeom prst="roundRect">
            <a:avLst>
              <a:gd name="adj" fmla="val 50000"/>
            </a:avLst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sp>
        <p:nvSpPr>
          <p:cNvPr id="5" name="tag text"/>
          <p:cNvSpPr txBox="1"/>
          <p:nvPr/>
        </p:nvSpPr>
        <p:spPr>
          <a:xfrm>
            <a:off x="457200" y="11338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chemeClr val="bg1"/>
                </a:solidFill>
              </a:rPr>
              <a:t>FINDING (reported in the article)</a:t>
            </a:r>
            <a:endParaRPr lang="en-US" sz="800" dirty="0"/>
          </a:p>
        </p:txBody>
      </p:sp>
      <p:graphicFrame>
        <p:nvGraphicFramePr>
          <p:cNvPr id="6" name="findings chart" descr=""/>
          <p:cNvGraphicFramePr/>
          <p:nvPr/>
        </p:nvGraphicFramePr>
        <p:xfrm>
          <a:off x="457200" y="1371600"/>
          <a:ext cx="48463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hart note"/>
          <p:cNvSpPr txBox="1"/>
          <p:nvPr/>
        </p:nvSpPr>
        <p:spPr>
          <a:xfrm>
            <a:off x="457200" y="34198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chemeClr val="tx2"/>
                </a:solidFill>
              </a:rPr>
              <a:t>Quality is reported as "more than 40%" higher; the bar is plotted at 40. Performer figures are each group's improvement over its own baseline score.</a:t>
            </a:r>
            <a:endParaRPr lang="en-US" sz="750" dirty="0"/>
          </a:p>
        </p:txBody>
      </p:sp>
      <p:sp>
        <p:nvSpPr>
          <p:cNvPr id="8" name="outside callout"/>
          <p:cNvSpPr/>
          <p:nvPr/>
        </p:nvSpPr>
        <p:spPr>
          <a:xfrm>
            <a:off x="5577840" y="1133856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outside head"/>
          <p:cNvSpPr txBox="1"/>
          <p:nvPr/>
        </p:nvSpPr>
        <p:spPr>
          <a:xfrm>
            <a:off x="5760720" y="12252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D6D4"/>
                </a:solidFill>
              </a:rPr>
              <a:t>Outside the frontier</a:t>
            </a:r>
            <a:endParaRPr lang="en-US" sz="1000" dirty="0"/>
          </a:p>
        </p:txBody>
      </p:sp>
      <p:sp>
        <p:nvSpPr>
          <p:cNvPr id="10" name="outside stat"/>
          <p:cNvSpPr txBox="1"/>
          <p:nvPr/>
        </p:nvSpPr>
        <p:spPr>
          <a:xfrm>
            <a:off x="5760720" y="14264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−19</a:t>
            </a:r>
            <a:endParaRPr lang="en-US" sz="4000" dirty="0"/>
          </a:p>
        </p:txBody>
      </p:sp>
      <p:sp>
        <p:nvSpPr>
          <p:cNvPr id="11" name="outside unit"/>
          <p:cNvSpPr txBox="1"/>
          <p:nvPr/>
        </p:nvSpPr>
        <p:spPr>
          <a:xfrm>
            <a:off x="5760720" y="1883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D4"/>
                </a:solidFill>
              </a:rPr>
              <a:t>percentage points</a:t>
            </a:r>
            <a:endParaRPr lang="en-US" sz="950" dirty="0"/>
          </a:p>
        </p:txBody>
      </p:sp>
      <p:sp>
        <p:nvSpPr>
          <p:cNvPr id="12" name="outside body"/>
          <p:cNvSpPr txBox="1"/>
          <p:nvPr/>
        </p:nvSpPr>
        <p:spPr>
          <a:xfrm>
            <a:off x="5760720" y="21214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For a task selected to be outside the frontier, AI users were 19 percentage points less likely to produce correct solutions than consultants without AI.</a:t>
            </a:r>
            <a:endParaRPr lang="en-US" sz="900" dirty="0"/>
          </a:p>
        </p:txBody>
      </p:sp>
      <p:sp>
        <p:nvSpPr>
          <p:cNvPr id="13" name="unit note card"/>
          <p:cNvSpPr/>
          <p:nvPr/>
        </p:nvSpPr>
        <p:spPr>
          <a:xfrm>
            <a:off x="5577840" y="2962656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4" name="unit note"/>
          <p:cNvSpPr txBox="1"/>
          <p:nvPr/>
        </p:nvSpPr>
        <p:spPr>
          <a:xfrm>
            <a:off x="5715000" y="301752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Percentage change (e.g. +12.2%) compares to a baseline. Percentage points (−19) is the gap between two success rates.</a:t>
            </a:r>
            <a:endParaRPr lang="en-US" sz="800" dirty="0"/>
          </a:p>
        </p:txBody>
      </p:sp>
      <p:sp>
        <p:nvSpPr>
          <p:cNvPr id="15" name="approach head"/>
          <p:cNvSpPr txBox="1"/>
          <p:nvPr/>
        </p:nvSpPr>
        <p:spPr>
          <a:xfrm>
            <a:off x="457200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Two successful patterns of AI use</a:t>
            </a:r>
            <a:endParaRPr lang="en-US" sz="1050" dirty="0"/>
          </a:p>
        </p:txBody>
      </p:sp>
      <p:sp>
        <p:nvSpPr>
          <p:cNvPr id="16" name="approach Centaurs"/>
          <p:cNvSpPr/>
          <p:nvPr/>
        </p:nvSpPr>
        <p:spPr>
          <a:xfrm>
            <a:off x="457200" y="4059936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pic>
        <p:nvPicPr>
          <p:cNvPr id="17" name="icon FiGitBranc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42232"/>
            <a:ext cx="219456" cy="219456"/>
          </a:xfrm>
          <a:prstGeom prst="rect">
            <a:avLst/>
          </a:prstGeom>
        </p:spPr>
      </p:pic>
      <p:sp>
        <p:nvSpPr>
          <p:cNvPr id="18" name="approach text"/>
          <p:cNvSpPr txBox="1"/>
          <p:nvPr/>
        </p:nvSpPr>
        <p:spPr>
          <a:xfrm>
            <a:off x="841248" y="4059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Centaurs  </a:t>
            </a:r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Divide tasks between humans and AI, delegating sub-tasks to whichever is better suited.</a:t>
            </a:r>
            <a:endParaRPr lang="en-US" sz="950" dirty="0"/>
          </a:p>
        </p:txBody>
      </p:sp>
      <p:sp>
        <p:nvSpPr>
          <p:cNvPr id="19" name="approach Cyborgs"/>
          <p:cNvSpPr/>
          <p:nvPr/>
        </p:nvSpPr>
        <p:spPr>
          <a:xfrm>
            <a:off x="4709160" y="4059936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pic>
        <p:nvPicPr>
          <p:cNvPr id="20" name="icon FiRefreshC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142232"/>
            <a:ext cx="219456" cy="219456"/>
          </a:xfrm>
          <a:prstGeom prst="rect">
            <a:avLst/>
          </a:prstGeom>
        </p:spPr>
      </p:pic>
      <p:sp>
        <p:nvSpPr>
          <p:cNvPr id="21" name="approach text"/>
          <p:cNvSpPr txBox="1"/>
          <p:nvPr/>
        </p:nvSpPr>
        <p:spPr>
          <a:xfrm>
            <a:off x="5093208" y="4059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Cyborgs  </a:t>
            </a:r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Integrate AI continuously into the workflow, moving back and forth with the tool.</a:t>
            </a:r>
            <a:endParaRPr lang="en-US" sz="950" dirty="0"/>
          </a:p>
        </p:txBody>
      </p:sp>
      <p:sp>
        <p:nvSpPr>
          <p:cNvPr id="22" name="reference"/>
          <p:cNvSpPr txBox="1"/>
          <p:nvPr/>
        </p:nvSpPr>
        <p:spPr>
          <a:xfrm>
            <a:off x="457200" y="44256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chemeClr val="tx2"/>
                </a:solidFill>
              </a:rPr>
              <a:t>Dell'Acqua, F., McFowland III, E., Mollick, E., Lifshitz-Assaf, H., Kellogg, K. C., Rajendran, S., Krayer, L., Candelon, F., &amp; Lakhani, K. R. (2023). Navigating the Jagged Technological Frontier. Harvard Business School Working Paper 24-013.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Article 5  |  Research purpose and findings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4747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Uneven Impact of Generative AI on Entrepreneurial Performance</a:t>
            </a:r>
            <a:endParaRPr lang="en-US" sz="2600" dirty="0"/>
          </a:p>
        </p:txBody>
      </p:sp>
      <p:sp>
        <p:nvSpPr>
          <p:cNvPr id="4" name="byline"/>
          <p:cNvSpPr txBox="1"/>
          <p:nvPr/>
        </p:nvSpPr>
        <p:spPr>
          <a:xfrm>
            <a:off x="457200" y="10607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Nicholas G. Otis et al.  |  Management Science, Vol. 72, No. 7, 2026  |  DOI 10.1287/mnsc.2024.06909</a:t>
            </a:r>
            <a:endParaRPr lang="en-US" sz="900" dirty="0"/>
          </a:p>
        </p:txBody>
      </p:sp>
      <p:sp>
        <p:nvSpPr>
          <p:cNvPr id="5" name="icon circle"/>
          <p:cNvSpPr/>
          <p:nvPr/>
        </p:nvSpPr>
        <p:spPr>
          <a:xfrm>
            <a:off x="457200" y="1426464"/>
            <a:ext cx="384048" cy="384048"/>
          </a:xfrm>
          <a:prstGeom prst="ellipse">
            <a:avLst/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pic>
        <p:nvPicPr>
          <p:cNvPr id="6" name="icon FiMapPi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508760"/>
            <a:ext cx="219456" cy="219456"/>
          </a:xfrm>
          <a:prstGeom prst="rect">
            <a:avLst/>
          </a:prstGeom>
        </p:spPr>
      </p:pic>
      <p:sp>
        <p:nvSpPr>
          <p:cNvPr id="7" name="fact Setting"/>
          <p:cNvSpPr txBox="1"/>
          <p:nvPr/>
        </p:nvSpPr>
        <p:spPr>
          <a:xfrm>
            <a:off x="969264" y="1389888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Setting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Field experiment with small-business entrepreneurs in Kenya</a:t>
            </a:r>
            <a:endParaRPr lang="en-US" sz="1150" dirty="0"/>
          </a:p>
        </p:txBody>
      </p:sp>
      <p:sp>
        <p:nvSpPr>
          <p:cNvPr id="8" name="icon circle"/>
          <p:cNvSpPr/>
          <p:nvPr/>
        </p:nvSpPr>
        <p:spPr>
          <a:xfrm>
            <a:off x="457200" y="2011680"/>
            <a:ext cx="384048" cy="384048"/>
          </a:xfrm>
          <a:prstGeom prst="ellipse">
            <a:avLst/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pic>
        <p:nvPicPr>
          <p:cNvPr id="9" name="icon FiMessageSquar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93976"/>
            <a:ext cx="219456" cy="219456"/>
          </a:xfrm>
          <a:prstGeom prst="rect">
            <a:avLst/>
          </a:prstGeom>
        </p:spPr>
      </p:pic>
      <p:sp>
        <p:nvSpPr>
          <p:cNvPr id="10" name="fact Intervention"/>
          <p:cNvSpPr txBox="1"/>
          <p:nvPr/>
        </p:nvSpPr>
        <p:spPr>
          <a:xfrm>
            <a:off x="969264" y="1975104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Intervention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Access to a GPT-4-powered AI business assistant that gave business advice</a:t>
            </a:r>
            <a:endParaRPr lang="en-US" sz="1150" dirty="0"/>
          </a:p>
        </p:txBody>
      </p:sp>
      <p:sp>
        <p:nvSpPr>
          <p:cNvPr id="11" name="icon circle"/>
          <p:cNvSpPr/>
          <p:nvPr/>
        </p:nvSpPr>
        <p:spPr>
          <a:xfrm>
            <a:off x="457200" y="2596896"/>
            <a:ext cx="384048" cy="384048"/>
          </a:xfrm>
          <a:prstGeom prst="ellipse">
            <a:avLst/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pic>
        <p:nvPicPr>
          <p:cNvPr id="12" name="icon FiDollarSig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679192"/>
            <a:ext cx="219456" cy="219456"/>
          </a:xfrm>
          <a:prstGeom prst="rect">
            <a:avLst/>
          </a:prstGeom>
        </p:spPr>
      </p:pic>
      <p:sp>
        <p:nvSpPr>
          <p:cNvPr id="13" name="fact Outcomes examined"/>
          <p:cNvSpPr txBox="1"/>
          <p:nvPr/>
        </p:nvSpPr>
        <p:spPr>
          <a:xfrm>
            <a:off x="969264" y="2560320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Outcomes examined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Small-business revenue and profit</a:t>
            </a:r>
            <a:endParaRPr lang="en-US" sz="1150" dirty="0"/>
          </a:p>
        </p:txBody>
      </p:sp>
      <p:sp>
        <p:nvSpPr>
          <p:cNvPr id="14" name="main effect card"/>
          <p:cNvSpPr/>
          <p:nvPr/>
        </p:nvSpPr>
        <p:spPr>
          <a:xfrm>
            <a:off x="457200" y="3200400"/>
            <a:ext cx="3840480" cy="1170432"/>
          </a:xfrm>
          <a:prstGeom prst="roundRect">
            <a:avLst>
              <a:gd name="adj" fmla="val 625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ag finding"/>
          <p:cNvSpPr/>
          <p:nvPr/>
        </p:nvSpPr>
        <p:spPr>
          <a:xfrm>
            <a:off x="621792" y="3310128"/>
            <a:ext cx="2286000" cy="219456"/>
          </a:xfrm>
          <a:prstGeom prst="roundRect">
            <a:avLst>
              <a:gd name="adj" fmla="val 50000"/>
            </a:avLst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sp>
        <p:nvSpPr>
          <p:cNvPr id="16" name="tag text"/>
          <p:cNvSpPr txBox="1"/>
          <p:nvPr/>
        </p:nvSpPr>
        <p:spPr>
          <a:xfrm>
            <a:off x="621792" y="3310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chemeClr val="bg1"/>
                </a:solidFill>
              </a:rPr>
              <a:t>FINDING (reported in the article)</a:t>
            </a:r>
            <a:endParaRPr lang="en-US" sz="800" dirty="0"/>
          </a:p>
        </p:txBody>
      </p:sp>
      <p:sp>
        <p:nvSpPr>
          <p:cNvPr id="17" name="main head"/>
          <p:cNvSpPr txBox="1"/>
          <p:nvPr/>
        </p:nvSpPr>
        <p:spPr>
          <a:xfrm>
            <a:off x="621792" y="3566160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D6D4"/>
                </a:solidFill>
              </a:rPr>
              <a:t>Average effect</a:t>
            </a:r>
            <a:endParaRPr lang="en-US" sz="1050" dirty="0"/>
          </a:p>
        </p:txBody>
      </p:sp>
      <p:sp>
        <p:nvSpPr>
          <p:cNvPr id="18" name="main body"/>
          <p:cNvSpPr txBox="1"/>
          <p:nvPr/>
        </p:nvSpPr>
        <p:spPr>
          <a:xfrm>
            <a:off x="621792" y="3785616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The researchers could not reject the null hypothesis of no average treatment effect on revenue and profits.</a:t>
            </a:r>
            <a:endParaRPr lang="en-US" sz="950" dirty="0"/>
          </a:p>
        </p:txBody>
      </p:sp>
      <p:sp>
        <p:nvSpPr>
          <p:cNvPr id="19" name="subgroup card"/>
          <p:cNvSpPr/>
          <p:nvPr/>
        </p:nvSpPr>
        <p:spPr>
          <a:xfrm>
            <a:off x="4617720" y="1371600"/>
            <a:ext cx="4069080" cy="1920240"/>
          </a:xfrm>
          <a:prstGeom prst="roundRect">
            <a:avLst>
              <a:gd name="adj" fmla="val 381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0" name="tag finding"/>
          <p:cNvSpPr/>
          <p:nvPr/>
        </p:nvSpPr>
        <p:spPr>
          <a:xfrm>
            <a:off x="4782312" y="1481328"/>
            <a:ext cx="2286000" cy="219456"/>
          </a:xfrm>
          <a:prstGeom prst="roundRect">
            <a:avLst>
              <a:gd name="adj" fmla="val 50000"/>
            </a:avLst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sp>
        <p:nvSpPr>
          <p:cNvPr id="21" name="tag text"/>
          <p:cNvSpPr txBox="1"/>
          <p:nvPr/>
        </p:nvSpPr>
        <p:spPr>
          <a:xfrm>
            <a:off x="4782312" y="14813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chemeClr val="bg1"/>
                </a:solidFill>
              </a:rPr>
              <a:t>FINDING (reported in the article)</a:t>
            </a:r>
            <a:endParaRPr lang="en-US" sz="800" dirty="0"/>
          </a:p>
        </p:txBody>
      </p:sp>
      <p:sp>
        <p:nvSpPr>
          <p:cNvPr id="22" name="subgroup head"/>
          <p:cNvSpPr txBox="1"/>
          <p:nvPr/>
        </p:nvSpPr>
        <p:spPr>
          <a:xfrm>
            <a:off x="4782312" y="1737360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Subgroup results by baseline performance</a:t>
            </a:r>
            <a:endParaRPr lang="en-US" sz="1100" dirty="0"/>
          </a:p>
        </p:txBody>
      </p:sp>
      <p:sp>
        <p:nvSpPr>
          <p:cNvPr id="23" name="zero line"/>
          <p:cNvSpPr/>
          <p:nvPr/>
        </p:nvSpPr>
        <p:spPr>
          <a:xfrm>
            <a:off x="6652260" y="2194560"/>
            <a:ext cx="0" cy="1024128"/>
          </a:xfrm>
          <a:prstGeom prst="line">
            <a:avLst/>
          </a:prstGeom>
          <a:noFill/>
          <a:ln w="9525">
            <a:solidFill>
              <a:srgbClr val="9AA5B4"/>
            </a:solidFill>
            <a:prstDash val="dash"/>
          </a:ln>
        </p:spPr>
      </p:sp>
      <p:sp>
        <p:nvSpPr>
          <p:cNvPr id="24" name="bar label 0"/>
          <p:cNvSpPr txBox="1"/>
          <p:nvPr/>
        </p:nvSpPr>
        <p:spPr>
          <a:xfrm>
            <a:off x="4782312" y="2011680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Low performers at baseline  </a:t>
            </a:r>
            <a:pPr indent="0" marL="0">
              <a:buNone/>
            </a:pPr>
            <a:r>
              <a:rPr lang="en-US" sz="900" b="1" dirty="0">
                <a:solidFill>
                  <a:srgbClr val="5A6472"/>
                </a:solidFill>
              </a:rPr>
              <a:t>nearly 10% worse</a:t>
            </a:r>
            <a:endParaRPr lang="en-US" sz="900" dirty="0"/>
          </a:p>
        </p:txBody>
      </p:sp>
      <p:sp>
        <p:nvSpPr>
          <p:cNvPr id="25" name="bar 0"/>
          <p:cNvSpPr/>
          <p:nvPr/>
        </p:nvSpPr>
        <p:spPr>
          <a:xfrm>
            <a:off x="5567172" y="2249424"/>
            <a:ext cx="1085088" cy="237744"/>
          </a:xfrm>
          <a:prstGeom prst="rect">
            <a:avLst/>
          </a:prstGeom>
          <a:solidFill>
            <a:srgbClr val="9AA5B4"/>
          </a:solidFill>
          <a:ln w="12700">
            <a:solidFill>
              <a:srgbClr val="9AA5B4"/>
            </a:solidFill>
            <a:prstDash val="solid"/>
          </a:ln>
        </p:spPr>
      </p:sp>
      <p:sp>
        <p:nvSpPr>
          <p:cNvPr id="26" name="bar label 1"/>
          <p:cNvSpPr txBox="1"/>
          <p:nvPr/>
        </p:nvSpPr>
        <p:spPr>
          <a:xfrm>
            <a:off x="4782312" y="2560320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High performers at baseline  </a:t>
            </a:r>
            <a:pPr indent="0" marL="0">
              <a:buNone/>
            </a:pPr>
            <a:r>
              <a:rPr lang="en-US" sz="900" b="1" dirty="0">
                <a:solidFill>
                  <a:srgbClr val="2E8B86"/>
                </a:solidFill>
              </a:rPr>
              <a:t>may have benefited by more than 15%</a:t>
            </a:r>
            <a:endParaRPr lang="en-US" sz="900" dirty="0"/>
          </a:p>
        </p:txBody>
      </p:sp>
      <p:sp>
        <p:nvSpPr>
          <p:cNvPr id="27" name="bar 1"/>
          <p:cNvSpPr/>
          <p:nvPr/>
        </p:nvSpPr>
        <p:spPr>
          <a:xfrm>
            <a:off x="6652260" y="2798064"/>
            <a:ext cx="1627632" cy="237744"/>
          </a:xfrm>
          <a:prstGeom prst="rect">
            <a:avLst/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sp>
        <p:nvSpPr>
          <p:cNvPr id="28" name="bar note"/>
          <p:cNvSpPr txBox="1"/>
          <p:nvPr/>
        </p:nvSpPr>
        <p:spPr>
          <a:xfrm>
            <a:off x="4782312" y="3255264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chemeClr val="tx2"/>
                </a:solidFill>
              </a:rPr>
              <a:t>Bar lengths are illustrative of the reported figures</a:t>
            </a:r>
            <a:endParaRPr lang="en-US" sz="750" dirty="0"/>
          </a:p>
        </p:txBody>
      </p:sp>
      <p:sp>
        <p:nvSpPr>
          <p:cNvPr id="29" name="mechanism card"/>
          <p:cNvSpPr/>
          <p:nvPr/>
        </p:nvSpPr>
        <p:spPr>
          <a:xfrm>
            <a:off x="4617720" y="3401568"/>
            <a:ext cx="4069080" cy="457200"/>
          </a:xfrm>
          <a:prstGeom prst="roundRect">
            <a:avLst>
              <a:gd name="adj" fmla="val 16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0" name="mechanism"/>
          <p:cNvSpPr txBox="1"/>
          <p:nvPr/>
        </p:nvSpPr>
        <p:spPr>
          <a:xfrm>
            <a:off x="4754880" y="3419856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The difference did not appear to result from differences in the questions asked or the AI advice given, but from the advice entrepreneurs chose to implement.</a:t>
            </a:r>
            <a:endParaRPr lang="en-US" sz="850" dirty="0"/>
          </a:p>
        </p:txBody>
      </p:sp>
      <p:sp>
        <p:nvSpPr>
          <p:cNvPr id="31" name="caution card"/>
          <p:cNvSpPr/>
          <p:nvPr/>
        </p:nvSpPr>
        <p:spPr>
          <a:xfrm>
            <a:off x="4617720" y="3950208"/>
            <a:ext cx="40690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2E8B86"/>
            </a:solidFill>
            <a:prstDash val="solid"/>
          </a:ln>
        </p:spPr>
      </p:sp>
      <p:pic>
        <p:nvPicPr>
          <p:cNvPr id="32" name="icon FiAlertTriang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4050792"/>
            <a:ext cx="219456" cy="219456"/>
          </a:xfrm>
          <a:prstGeom prst="rect">
            <a:avLst/>
          </a:prstGeom>
        </p:spPr>
      </p:pic>
      <p:sp>
        <p:nvSpPr>
          <p:cNvPr id="33" name="caution"/>
          <p:cNvSpPr txBox="1"/>
          <p:nvPr/>
        </p:nvSpPr>
        <p:spPr>
          <a:xfrm>
            <a:off x="5020056" y="3968496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Caution: these are subgroup averages. They do not show that every high-performing entrepreneur benefits or that every low-performing entrepreneur loses.</a:t>
            </a:r>
            <a:endParaRPr lang="en-US" sz="800" dirty="0"/>
          </a:p>
        </p:txBody>
      </p:sp>
      <p:sp>
        <p:nvSpPr>
          <p:cNvPr id="34" name="reference"/>
          <p:cNvSpPr txBox="1"/>
          <p:nvPr/>
        </p:nvSpPr>
        <p:spPr>
          <a:xfrm>
            <a:off x="457200" y="44256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chemeClr val="tx2"/>
                </a:solidFill>
              </a:rPr>
              <a:t>Otis, N. G., Clarke, R., Delecourt, S., Holtz, D., &amp; Koning, R. (2026). The Uneven Impact of Generative Artificial Intelligence on Entrepreneurial Performance: Evidence from a Field Experiment in Kenya. Management Science, 72(7). https://doi.org/10.1287/mnsc.2024.06909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Discussion and comparison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4747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AI Is a Tool, Not a Guarantee of Success</a:t>
            </a:r>
            <a:endParaRPr lang="en-US" sz="2600" dirty="0"/>
          </a:p>
        </p:txBody>
      </p:sp>
      <p:sp>
        <p:nvSpPr>
          <p:cNvPr id="4" name="tag finding"/>
          <p:cNvSpPr/>
          <p:nvPr/>
        </p:nvSpPr>
        <p:spPr>
          <a:xfrm>
            <a:off x="457200" y="1115568"/>
            <a:ext cx="2286000" cy="219456"/>
          </a:xfrm>
          <a:prstGeom prst="roundRect">
            <a:avLst>
              <a:gd name="adj" fmla="val 50000"/>
            </a:avLst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sp>
        <p:nvSpPr>
          <p:cNvPr id="5" name="tag text"/>
          <p:cNvSpPr txBox="1"/>
          <p:nvPr/>
        </p:nvSpPr>
        <p:spPr>
          <a:xfrm>
            <a:off x="457200" y="11155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chemeClr val="bg1"/>
                </a:solidFill>
              </a:rPr>
              <a:t>FINDING (reported in the article)</a:t>
            </a:r>
            <a:endParaRPr lang="en-US" sz="800" dirty="0"/>
          </a:p>
        </p:txBody>
      </p:sp>
      <p:graphicFrame>
        <p:nvGraphicFramePr>
          <p:cNvPr id="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37560"/>
                <a:gridCol w="33375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Article 2  |  Dell'Acqua et al. (2023)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Article 5  |  Otis et al. (2026)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Focus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Knowledge workers and consultants (BCG)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Entrepreneurs in Kenya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result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Higher productivity and work quality for tasks within AI's capability frontier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No established average treatment effect on revenue and profits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Key limitation or insight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Reduced correctness on a task outside that frontier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A647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Outcomes differed by baseline performance and by which AI recommendations were implemented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clusion card"/>
          <p:cNvSpPr/>
          <p:nvPr/>
        </p:nvSpPr>
        <p:spPr>
          <a:xfrm>
            <a:off x="457200" y="3310128"/>
            <a:ext cx="8229600" cy="1042416"/>
          </a:xfrm>
          <a:prstGeom prst="roundRect">
            <a:avLst>
              <a:gd name="adj" fmla="val 7018"/>
            </a:avLst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sp>
        <p:nvSpPr>
          <p:cNvPr id="8" name="tag interp"/>
          <p:cNvSpPr/>
          <p:nvPr/>
        </p:nvSpPr>
        <p:spPr>
          <a:xfrm>
            <a:off x="640080" y="3419856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" name="tag text"/>
          <p:cNvSpPr txBox="1"/>
          <p:nvPr/>
        </p:nvSpPr>
        <p:spPr>
          <a:xfrm>
            <a:off x="640080" y="3419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chemeClr val="tx2"/>
                </a:solidFill>
              </a:rPr>
              <a:t>INTERPRETATION</a:t>
            </a:r>
            <a:endParaRPr lang="en-US" sz="800" dirty="0"/>
          </a:p>
        </p:txBody>
      </p:sp>
      <p:sp>
        <p:nvSpPr>
          <p:cNvPr id="10" name="conclusion head"/>
          <p:cNvSpPr txBox="1"/>
          <p:nvPr/>
        </p:nvSpPr>
        <p:spPr>
          <a:xfrm>
            <a:off x="640080" y="36758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11" name="conclusion"/>
          <p:cNvSpPr txBox="1"/>
          <p:nvPr/>
        </p:nvSpPr>
        <p:spPr>
          <a:xfrm>
            <a:off x="640080" y="39136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 can influence real-world performance, but its impact depends on task suitability, user behavior, and human judgment.</a:t>
            </a:r>
            <a:endParaRPr lang="en-US" sz="1000" dirty="0"/>
          </a:p>
        </p:txBody>
      </p:sp>
      <p:pic>
        <p:nvPicPr>
          <p:cNvPr id="12" name="icon 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3474720"/>
            <a:ext cx="182880" cy="182880"/>
          </a:xfrm>
          <a:prstGeom prst="rect">
            <a:avLst/>
          </a:prstGeom>
        </p:spPr>
      </p:pic>
      <p:sp>
        <p:nvSpPr>
          <p:cNvPr id="13" name="takeaway 1"/>
          <p:cNvSpPr txBox="1"/>
          <p:nvPr/>
        </p:nvSpPr>
        <p:spPr>
          <a:xfrm>
            <a:off x="5120640" y="3438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Match the task to what AI does well</a:t>
            </a:r>
            <a:endParaRPr lang="en-US" sz="950" dirty="0"/>
          </a:p>
        </p:txBody>
      </p:sp>
      <p:pic>
        <p:nvPicPr>
          <p:cNvPr id="14" name="icon 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767328"/>
            <a:ext cx="182880" cy="182880"/>
          </a:xfrm>
          <a:prstGeom prst="rect">
            <a:avLst/>
          </a:prstGeom>
        </p:spPr>
      </p:pic>
      <p:sp>
        <p:nvSpPr>
          <p:cNvPr id="15" name="takeaway 2"/>
          <p:cNvSpPr txBox="1"/>
          <p:nvPr/>
        </p:nvSpPr>
        <p:spPr>
          <a:xfrm>
            <a:off x="5120640" y="3730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Evaluate AI advice critically before acting</a:t>
            </a:r>
            <a:endParaRPr lang="en-US" sz="950" dirty="0"/>
          </a:p>
        </p:txBody>
      </p:sp>
      <p:pic>
        <p:nvPicPr>
          <p:cNvPr id="16" name="icon 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059936"/>
            <a:ext cx="182880" cy="182880"/>
          </a:xfrm>
          <a:prstGeom prst="rect">
            <a:avLst/>
          </a:prstGeom>
        </p:spPr>
      </p:pic>
      <p:sp>
        <p:nvSpPr>
          <p:cNvPr id="17" name="takeaway 3"/>
          <p:cNvSpPr txBox="1"/>
          <p:nvPr/>
        </p:nvSpPr>
        <p:spPr>
          <a:xfrm>
            <a:off x="5120640" y="4023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Keep human judgment in the loop</a:t>
            </a:r>
            <a:endParaRPr lang="en-US" sz="950" dirty="0"/>
          </a:p>
        </p:txBody>
      </p:sp>
      <p:sp>
        <p:nvSpPr>
          <p:cNvPr id="18" name="reference"/>
          <p:cNvSpPr txBox="1"/>
          <p:nvPr/>
        </p:nvSpPr>
        <p:spPr>
          <a:xfrm>
            <a:off x="457200" y="44256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chemeClr val="tx2"/>
                </a:solidFill>
              </a:rPr>
              <a:t>Dell'Acqua et al. (2023), Harvard Business School Working Paper 24-013   |   Otis et al. (2026), Management Science, 72(7), https://doi.org/10.1287/mnsc.2024.06909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ปัญญาประดิษฐ์กับประสิทธิภาพการทำงาน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หลักฐานจากการทดลองภาคสนามสองชิ้นล่าสุด</a:t>
            </a:r>
            <a:endParaRPr lang="en-US" sz="1500" dirty="0"/>
          </a:p>
        </p:txBody>
      </p:sp>
      <p:sp>
        <p:nvSpPr>
          <p:cNvPr id="4" name="central question"/>
          <p:cNvSpPr txBox="1"/>
          <p:nvPr/>
        </p:nvSpPr>
        <p:spPr>
          <a:xfrm>
            <a:off x="457200" y="1938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6D4"/>
                </a:solidFill>
              </a:rPr>
              <a:t>คำถามหลัก: AI ส่งผลต่อผลิตภาพ คุณภาพงาน และผลการดำเนินธุรกิจอย่างไร?</a:t>
            </a:r>
            <a:endParaRPr lang="en-US" sz="1300" dirty="0"/>
          </a:p>
        </p:txBody>
      </p:sp>
      <p:sp>
        <p:nvSpPr>
          <p:cNvPr id="5" name="article card 1"/>
          <p:cNvSpPr/>
          <p:nvPr/>
        </p:nvSpPr>
        <p:spPr>
          <a:xfrm>
            <a:off x="457200" y="246888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3C4D6E"/>
          </a:solidFill>
          <a:ln w="12700">
            <a:solidFill>
              <a:srgbClr val="3C4D6E"/>
            </a:solidFill>
            <a:prstDash val="solid"/>
          </a:ln>
        </p:spPr>
      </p:sp>
      <p:sp>
        <p:nvSpPr>
          <p:cNvPr id="6" name="article label"/>
          <p:cNvSpPr txBox="1"/>
          <p:nvPr/>
        </p:nvSpPr>
        <p:spPr>
          <a:xfrm>
            <a:off x="658368" y="259689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8B86"/>
                </a:solidFill>
              </a:rPr>
              <a:t>บทความที่ 2</a:t>
            </a:r>
            <a:endParaRPr lang="en-US" sz="1050" dirty="0"/>
          </a:p>
        </p:txBody>
      </p:sp>
      <p:sp>
        <p:nvSpPr>
          <p:cNvPr id="7" name="article title"/>
          <p:cNvSpPr txBox="1"/>
          <p:nvPr/>
        </p:nvSpPr>
        <p:spPr>
          <a:xfrm>
            <a:off x="658368" y="2834640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Navigating the Jagged Technological Frontier: Field Experimental Evidence of the Effects of AI on Knowledge Worker Productivity and Quality</a:t>
            </a:r>
            <a:endParaRPr lang="en-US" sz="1150" dirty="0"/>
          </a:p>
        </p:txBody>
      </p:sp>
      <p:sp>
        <p:nvSpPr>
          <p:cNvPr id="8" name="article meta"/>
          <p:cNvSpPr txBox="1"/>
          <p:nvPr/>
        </p:nvSpPr>
        <p:spPr>
          <a:xfrm>
            <a:off x="658368" y="3547872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6D4"/>
                </a:solidFill>
              </a:rPr>
              <a:t>Fabrizio Dell'Acqua et al.  |  Harvard Business School Working Paper 24-013, 2023</a:t>
            </a:r>
            <a:endParaRPr lang="en-US" sz="950" dirty="0"/>
          </a:p>
        </p:txBody>
      </p:sp>
      <p:sp>
        <p:nvSpPr>
          <p:cNvPr id="9" name="article card 2"/>
          <p:cNvSpPr/>
          <p:nvPr/>
        </p:nvSpPr>
        <p:spPr>
          <a:xfrm>
            <a:off x="4709160" y="246888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3C4D6E"/>
          </a:solidFill>
          <a:ln w="12700">
            <a:solidFill>
              <a:srgbClr val="3C4D6E"/>
            </a:solidFill>
            <a:prstDash val="solid"/>
          </a:ln>
        </p:spPr>
      </p:sp>
      <p:sp>
        <p:nvSpPr>
          <p:cNvPr id="10" name="article label"/>
          <p:cNvSpPr txBox="1"/>
          <p:nvPr/>
        </p:nvSpPr>
        <p:spPr>
          <a:xfrm>
            <a:off x="4910328" y="2596896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8B86"/>
                </a:solidFill>
              </a:rPr>
              <a:t>บทความที่ 5</a:t>
            </a:r>
            <a:endParaRPr lang="en-US" sz="1050" dirty="0"/>
          </a:p>
        </p:txBody>
      </p:sp>
      <p:sp>
        <p:nvSpPr>
          <p:cNvPr id="11" name="article title"/>
          <p:cNvSpPr txBox="1"/>
          <p:nvPr/>
        </p:nvSpPr>
        <p:spPr>
          <a:xfrm>
            <a:off x="4910328" y="2834640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The Uneven Impact of Generative Artificial Intelligence on Entrepreneurial Performance: Evidence from a Field Experiment in Kenya</a:t>
            </a:r>
            <a:endParaRPr lang="en-US" sz="1150" dirty="0"/>
          </a:p>
        </p:txBody>
      </p:sp>
      <p:sp>
        <p:nvSpPr>
          <p:cNvPr id="12" name="article meta"/>
          <p:cNvSpPr txBox="1"/>
          <p:nvPr/>
        </p:nvSpPr>
        <p:spPr>
          <a:xfrm>
            <a:off x="4910328" y="3547872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6D4"/>
                </a:solidFill>
              </a:rPr>
              <a:t>Nicholas G. Otis et al.  |  Management Science, Vol. 72, No. 7, 2026  |  DOI 10.1287/mnsc.2024.06909</a:t>
            </a:r>
            <a:endParaRPr lang="en-US" sz="950" dirty="0"/>
          </a:p>
        </p:txBody>
      </p:sp>
      <p:sp>
        <p:nvSpPr>
          <p:cNvPr id="13" name="presenter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Chayanun Sungsa-ard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C9D6D4"/>
                </a:solidFill>
              </a:rPr>
              <a:t>รหัสนักศึกษา 691401708  |  หลักสูตรบริหารธุรกิจมหาบัณฑิต (MBA)  |  ENG 501 English for Master's Degree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บทความที่ 2  |  วัตถุประสงค์และวิธีวิจัย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4747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การนำทางในพรมแดนเทคโนโลยีที่ไม่สม่ำเสมอ</a:t>
            </a:r>
            <a:endParaRPr lang="en-US" sz="2600" dirty="0"/>
          </a:p>
        </p:txBody>
      </p:sp>
      <p:sp>
        <p:nvSpPr>
          <p:cNvPr id="4" name="byline"/>
          <p:cNvSpPr txBox="1"/>
          <p:nvPr/>
        </p:nvSpPr>
        <p:spPr>
          <a:xfrm>
            <a:off x="457200" y="10607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Fabrizio Dell'Acqua et al.  |  Harvard Business School Working Paper 24-013, 2023</a:t>
            </a:r>
            <a:endParaRPr lang="en-US" sz="1000" dirty="0"/>
          </a:p>
        </p:txBody>
      </p:sp>
      <p:sp>
        <p:nvSpPr>
          <p:cNvPr id="5" name="icon circle"/>
          <p:cNvSpPr/>
          <p:nvPr/>
        </p:nvSpPr>
        <p:spPr>
          <a:xfrm>
            <a:off x="457200" y="1426464"/>
            <a:ext cx="384048" cy="384048"/>
          </a:xfrm>
          <a:prstGeom prst="ellipse">
            <a:avLst/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pic>
        <p:nvPicPr>
          <p:cNvPr id="6" name="icon FiBriefca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508760"/>
            <a:ext cx="219456" cy="219456"/>
          </a:xfrm>
          <a:prstGeom prst="rect">
            <a:avLst/>
          </a:prstGeom>
        </p:spPr>
      </p:pic>
      <p:sp>
        <p:nvSpPr>
          <p:cNvPr id="7" name="fact องค์กรที่ร่วมวิจัย"/>
          <p:cNvSpPr txBox="1"/>
          <p:nvPr/>
        </p:nvSpPr>
        <p:spPr>
          <a:xfrm>
            <a:off x="969264" y="1389888"/>
            <a:ext cx="3557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องค์กรที่ร่วมวิจัย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การทดลองภาคสนามร่วมกับ Boston Consulting Group (BCG)</a:t>
            </a:r>
            <a:endParaRPr lang="en-US" sz="1250" dirty="0"/>
          </a:p>
        </p:txBody>
      </p:sp>
      <p:sp>
        <p:nvSpPr>
          <p:cNvPr id="8" name="icon circle"/>
          <p:cNvSpPr/>
          <p:nvPr/>
        </p:nvSpPr>
        <p:spPr>
          <a:xfrm>
            <a:off x="457200" y="1993392"/>
            <a:ext cx="384048" cy="384048"/>
          </a:xfrm>
          <a:prstGeom prst="ellipse">
            <a:avLst/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pic>
        <p:nvPicPr>
          <p:cNvPr id="9" name="icon FiUs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75688"/>
            <a:ext cx="219456" cy="219456"/>
          </a:xfrm>
          <a:prstGeom prst="rect">
            <a:avLst/>
          </a:prstGeom>
        </p:spPr>
      </p:pic>
      <p:sp>
        <p:nvSpPr>
          <p:cNvPr id="10" name="fact ผู้เข้าร่วม"/>
          <p:cNvSpPr txBox="1"/>
          <p:nvPr/>
        </p:nvSpPr>
        <p:spPr>
          <a:xfrm>
            <a:off x="969264" y="1956816"/>
            <a:ext cx="3557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ผู้เข้าร่วม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ที่ปรึกษาจำนวน 758 คน</a:t>
            </a:r>
            <a:endParaRPr lang="en-US" sz="1250" dirty="0"/>
          </a:p>
        </p:txBody>
      </p:sp>
      <p:sp>
        <p:nvSpPr>
          <p:cNvPr id="11" name="icon circle"/>
          <p:cNvSpPr/>
          <p:nvPr/>
        </p:nvSpPr>
        <p:spPr>
          <a:xfrm>
            <a:off x="457200" y="2560320"/>
            <a:ext cx="384048" cy="384048"/>
          </a:xfrm>
          <a:prstGeom prst="ellipse">
            <a:avLst/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pic>
        <p:nvPicPr>
          <p:cNvPr id="12" name="icon FiTarg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642616"/>
            <a:ext cx="219456" cy="219456"/>
          </a:xfrm>
          <a:prstGeom prst="rect">
            <a:avLst/>
          </a:prstGeom>
        </p:spPr>
      </p:pic>
      <p:sp>
        <p:nvSpPr>
          <p:cNvPr id="13" name="fact ประเด็นที่ศึกษา"/>
          <p:cNvSpPr txBox="1"/>
          <p:nvPr/>
        </p:nvSpPr>
        <p:spPr>
          <a:xfrm>
            <a:off x="969264" y="2523744"/>
            <a:ext cx="3557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ประเด็นที่ศึกษา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ผลิตภาพ คุณภาพงาน และขอบเขตความสามารถของ AI</a:t>
            </a:r>
            <a:endParaRPr lang="en-US" sz="1250" dirty="0"/>
          </a:p>
        </p:txBody>
      </p:sp>
      <p:sp>
        <p:nvSpPr>
          <p:cNvPr id="14" name="conditions head"/>
          <p:cNvSpPr txBox="1"/>
          <p:nvPr/>
        </p:nvSpPr>
        <p:spPr>
          <a:xfrm>
            <a:off x="457200" y="318211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เงื่อนไขการทดลองสามกลุ่ม</a:t>
            </a:r>
            <a:endParaRPr lang="en-US" sz="1250" dirty="0"/>
          </a:p>
        </p:txBody>
      </p:sp>
      <p:sp>
        <p:nvSpPr>
          <p:cNvPr id="15" name="condition 1"/>
          <p:cNvSpPr/>
          <p:nvPr/>
        </p:nvSpPr>
        <p:spPr>
          <a:xfrm>
            <a:off x="457200" y="3456432"/>
            <a:ext cx="1295400" cy="896112"/>
          </a:xfrm>
          <a:prstGeom prst="roundRect">
            <a:avLst>
              <a:gd name="adj" fmla="val 816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condition number"/>
          <p:cNvSpPr txBox="1"/>
          <p:nvPr/>
        </p:nvSpPr>
        <p:spPr>
          <a:xfrm>
            <a:off x="54864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86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condition text"/>
          <p:cNvSpPr txBox="1"/>
          <p:nvPr/>
        </p:nvSpPr>
        <p:spPr>
          <a:xfrm>
            <a:off x="548640" y="3767328"/>
            <a:ext cx="111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ไม่สามารถใช้ AI</a:t>
            </a:r>
            <a:endParaRPr lang="en-US" sz="1050" dirty="0"/>
          </a:p>
        </p:txBody>
      </p:sp>
      <p:sp>
        <p:nvSpPr>
          <p:cNvPr id="18" name="condition 2"/>
          <p:cNvSpPr/>
          <p:nvPr/>
        </p:nvSpPr>
        <p:spPr>
          <a:xfrm>
            <a:off x="1844040" y="3456432"/>
            <a:ext cx="1295400" cy="896112"/>
          </a:xfrm>
          <a:prstGeom prst="roundRect">
            <a:avLst>
              <a:gd name="adj" fmla="val 816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condition number"/>
          <p:cNvSpPr txBox="1"/>
          <p:nvPr/>
        </p:nvSpPr>
        <p:spPr>
          <a:xfrm>
            <a:off x="193548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D6D4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condition text"/>
          <p:cNvSpPr txBox="1"/>
          <p:nvPr/>
        </p:nvSpPr>
        <p:spPr>
          <a:xfrm>
            <a:off x="1935480" y="3767328"/>
            <a:ext cx="111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ใช้ GPT-4 ได้</a:t>
            </a:r>
            <a:endParaRPr lang="en-US" sz="1050" dirty="0"/>
          </a:p>
        </p:txBody>
      </p:sp>
      <p:sp>
        <p:nvSpPr>
          <p:cNvPr id="21" name="condition 3"/>
          <p:cNvSpPr/>
          <p:nvPr/>
        </p:nvSpPr>
        <p:spPr>
          <a:xfrm>
            <a:off x="3230880" y="3456432"/>
            <a:ext cx="1295400" cy="896112"/>
          </a:xfrm>
          <a:prstGeom prst="roundRect">
            <a:avLst>
              <a:gd name="adj" fmla="val 816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condition number"/>
          <p:cNvSpPr txBox="1"/>
          <p:nvPr/>
        </p:nvSpPr>
        <p:spPr>
          <a:xfrm>
            <a:off x="332232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D6D4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condition text"/>
          <p:cNvSpPr txBox="1"/>
          <p:nvPr/>
        </p:nvSpPr>
        <p:spPr>
          <a:xfrm>
            <a:off x="3322320" y="3767328"/>
            <a:ext cx="111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ใช้ GPT-4 ได้ พร้อมคำแนะนำการเขียน prompt</a:t>
            </a:r>
            <a:endParaRPr lang="en-US" sz="1050" dirty="0"/>
          </a:p>
        </p:txBody>
      </p:sp>
      <p:sp>
        <p:nvSpPr>
          <p:cNvPr id="24" name="concept card"/>
          <p:cNvSpPr/>
          <p:nvPr/>
        </p:nvSpPr>
        <p:spPr>
          <a:xfrm>
            <a:off x="4846320" y="1426464"/>
            <a:ext cx="3840480" cy="2907792"/>
          </a:xfrm>
          <a:prstGeom prst="roundRect">
            <a:avLst>
              <a:gd name="adj" fmla="val 2516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5" name="tag concept"/>
          <p:cNvSpPr/>
          <p:nvPr/>
        </p:nvSpPr>
        <p:spPr>
          <a:xfrm>
            <a:off x="5029200" y="1572768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tag text"/>
          <p:cNvSpPr txBox="1"/>
          <p:nvPr/>
        </p:nvSpPr>
        <p:spPr>
          <a:xfrm>
            <a:off x="5029200" y="15727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tx2"/>
                </a:solidFill>
              </a:rPr>
              <a:t>แนวคิด</a:t>
            </a:r>
            <a:endParaRPr lang="en-US" sz="900" dirty="0"/>
          </a:p>
        </p:txBody>
      </p:sp>
      <p:sp>
        <p:nvSpPr>
          <p:cNvPr id="27" name="concept head"/>
          <p:cNvSpPr txBox="1"/>
          <p:nvPr/>
        </p:nvSpPr>
        <p:spPr>
          <a:xfrm>
            <a:off x="5029200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แนวคิด "Jagged Technological Frontier"</a:t>
            </a:r>
            <a:endParaRPr lang="en-US" sz="1200" dirty="0"/>
          </a:p>
        </p:txBody>
      </p:sp>
      <p:sp>
        <p:nvSpPr>
          <p:cNvPr id="28" name="concept body"/>
          <p:cNvSpPr txBox="1"/>
          <p:nvPr/>
        </p:nvSpPr>
        <p:spPr>
          <a:xfrm>
            <a:off x="5029200" y="213969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AI ทำงานบางอย่างได้ดี แต่กลับทำงานอื่นที่ดูยากพอกันได้ไม่ดี เส้นแบ่งนี้ไม่สม่ำเสมอ ผู้ใช้จึงไม่ควรสรุปว่างานใด "ปลอดภัย" ที่จะมอบให้ AI เพียงเพราะงานนั้นดูง่าย</a:t>
            </a:r>
            <a:endParaRPr lang="en-US" sz="1050" dirty="0"/>
          </a:p>
        </p:txBody>
      </p:sp>
      <p:sp>
        <p:nvSpPr>
          <p:cNvPr id="29" name="diagram frame"/>
          <p:cNvSpPr/>
          <p:nvPr/>
        </p:nvSpPr>
        <p:spPr>
          <a:xfrm>
            <a:off x="5029200" y="3035808"/>
            <a:ext cx="34747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frontier segment"/>
          <p:cNvSpPr/>
          <p:nvPr/>
        </p:nvSpPr>
        <p:spPr>
          <a:xfrm>
            <a:off x="5029200" y="3537814"/>
            <a:ext cx="496389" cy="278892"/>
          </a:xfrm>
          <a:prstGeom prst="line">
            <a:avLst/>
          </a:prstGeom>
          <a:noFill/>
          <a:ln w="28575">
            <a:solidFill>
              <a:srgbClr val="2E8B86"/>
            </a:solidFill>
            <a:prstDash val="solid"/>
          </a:ln>
        </p:spPr>
      </p:sp>
      <p:sp>
        <p:nvSpPr>
          <p:cNvPr id="31" name="frontier segment"/>
          <p:cNvSpPr/>
          <p:nvPr/>
        </p:nvSpPr>
        <p:spPr>
          <a:xfrm flipV="1">
            <a:off x="5525589" y="3370478"/>
            <a:ext cx="496389" cy="446227"/>
          </a:xfrm>
          <a:prstGeom prst="line">
            <a:avLst/>
          </a:prstGeom>
          <a:noFill/>
          <a:ln w="28575">
            <a:solidFill>
              <a:srgbClr val="2E8B86"/>
            </a:solidFill>
            <a:prstDash val="solid"/>
          </a:ln>
        </p:spPr>
      </p:sp>
      <p:sp>
        <p:nvSpPr>
          <p:cNvPr id="32" name="frontier segment"/>
          <p:cNvSpPr/>
          <p:nvPr/>
        </p:nvSpPr>
        <p:spPr>
          <a:xfrm>
            <a:off x="6021977" y="3370478"/>
            <a:ext cx="496389" cy="390449"/>
          </a:xfrm>
          <a:prstGeom prst="line">
            <a:avLst/>
          </a:prstGeom>
          <a:noFill/>
          <a:ln w="28575">
            <a:solidFill>
              <a:srgbClr val="2E8B86"/>
            </a:solidFill>
            <a:prstDash val="solid"/>
          </a:ln>
        </p:spPr>
      </p:sp>
      <p:sp>
        <p:nvSpPr>
          <p:cNvPr id="33" name="frontier segment"/>
          <p:cNvSpPr/>
          <p:nvPr/>
        </p:nvSpPr>
        <p:spPr>
          <a:xfrm flipV="1">
            <a:off x="6518366" y="3258922"/>
            <a:ext cx="496389" cy="502006"/>
          </a:xfrm>
          <a:prstGeom prst="line">
            <a:avLst/>
          </a:prstGeom>
          <a:noFill/>
          <a:ln w="28575">
            <a:solidFill>
              <a:srgbClr val="2E8B86"/>
            </a:solidFill>
            <a:prstDash val="solid"/>
          </a:ln>
        </p:spPr>
      </p:sp>
      <p:sp>
        <p:nvSpPr>
          <p:cNvPr id="34" name="frontier segment"/>
          <p:cNvSpPr/>
          <p:nvPr/>
        </p:nvSpPr>
        <p:spPr>
          <a:xfrm>
            <a:off x="7014754" y="3258922"/>
            <a:ext cx="496389" cy="390449"/>
          </a:xfrm>
          <a:prstGeom prst="line">
            <a:avLst/>
          </a:prstGeom>
          <a:noFill/>
          <a:ln w="28575">
            <a:solidFill>
              <a:srgbClr val="2E8B86"/>
            </a:solidFill>
            <a:prstDash val="solid"/>
          </a:ln>
        </p:spPr>
      </p:sp>
      <p:sp>
        <p:nvSpPr>
          <p:cNvPr id="35" name="frontier segment"/>
          <p:cNvSpPr/>
          <p:nvPr/>
        </p:nvSpPr>
        <p:spPr>
          <a:xfrm>
            <a:off x="7511143" y="3649370"/>
            <a:ext cx="496389" cy="223114"/>
          </a:xfrm>
          <a:prstGeom prst="line">
            <a:avLst/>
          </a:prstGeom>
          <a:noFill/>
          <a:ln w="28575">
            <a:solidFill>
              <a:srgbClr val="2E8B86"/>
            </a:solidFill>
            <a:prstDash val="solid"/>
          </a:ln>
        </p:spPr>
      </p:sp>
      <p:sp>
        <p:nvSpPr>
          <p:cNvPr id="36" name="frontier segment"/>
          <p:cNvSpPr/>
          <p:nvPr/>
        </p:nvSpPr>
        <p:spPr>
          <a:xfrm flipV="1">
            <a:off x="8007531" y="3482035"/>
            <a:ext cx="496389" cy="390449"/>
          </a:xfrm>
          <a:prstGeom prst="line">
            <a:avLst/>
          </a:prstGeom>
          <a:noFill/>
          <a:ln w="28575">
            <a:solidFill>
              <a:srgbClr val="2E8B86"/>
            </a:solidFill>
            <a:prstDash val="solid"/>
          </a:ln>
        </p:spPr>
      </p:sp>
      <p:sp>
        <p:nvSpPr>
          <p:cNvPr id="37" name="inside label"/>
          <p:cNvSpPr txBox="1"/>
          <p:nvPr/>
        </p:nvSpPr>
        <p:spPr>
          <a:xfrm>
            <a:off x="5102352" y="3877056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B86"/>
                </a:solidFill>
              </a:rPr>
              <a:t>ภายในพรมแดน: AI ทำได้ดี</a:t>
            </a:r>
            <a:endParaRPr lang="en-US" sz="900" dirty="0"/>
          </a:p>
        </p:txBody>
      </p:sp>
      <p:sp>
        <p:nvSpPr>
          <p:cNvPr id="38" name="outside label"/>
          <p:cNvSpPr txBox="1"/>
          <p:nvPr/>
        </p:nvSpPr>
        <p:spPr>
          <a:xfrm>
            <a:off x="5102352" y="3090672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ภายนอกพรมแดน: AI ทำได้ไม่ดี</a:t>
            </a:r>
            <a:endParaRPr lang="en-US" sz="900" dirty="0"/>
          </a:p>
        </p:txBody>
      </p:sp>
      <p:sp>
        <p:nvSpPr>
          <p:cNvPr id="39" name="axis label"/>
          <p:cNvSpPr txBox="1"/>
          <p:nvPr/>
        </p:nvSpPr>
        <p:spPr>
          <a:xfrm>
            <a:off x="5029200" y="41696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chemeClr val="tx2"/>
                </a:solidFill>
              </a:rPr>
              <a:t>งานที่ดูยากในระดับใกล้เคียงกัน</a:t>
            </a:r>
            <a:endParaRPr lang="en-US" sz="850" dirty="0"/>
          </a:p>
        </p:txBody>
      </p:sp>
      <p:sp>
        <p:nvSpPr>
          <p:cNvPr id="40" name="reference"/>
          <p:cNvSpPr txBox="1"/>
          <p:nvPr/>
        </p:nvSpPr>
        <p:spPr>
          <a:xfrm>
            <a:off x="457200" y="44256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chemeClr val="tx2"/>
                </a:solidFill>
              </a:rPr>
              <a:t>Dell'Acqua, F., McFowland III, E., Mollick, E., Lifshitz-Assaf, H., Kellogg, K. C., Rajendran, S., Krayer, L., Candelon, F., &amp; Lakhani, K. R. (2023). Navigating the Jagged Technological Frontier. Harvard Business School Working Paper 24-013.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บทความที่ 2  |  ผลการศึกษาที่สำคัญ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4747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AI ช่วยเพิ่มประสิทธิภาพ แต่มีข้อจำกัด</a:t>
            </a:r>
            <a:endParaRPr lang="en-US" sz="2600" dirty="0"/>
          </a:p>
        </p:txBody>
      </p:sp>
      <p:sp>
        <p:nvSpPr>
          <p:cNvPr id="4" name="tag finding"/>
          <p:cNvSpPr/>
          <p:nvPr/>
        </p:nvSpPr>
        <p:spPr>
          <a:xfrm>
            <a:off x="457200" y="1133856"/>
            <a:ext cx="2286000" cy="219456"/>
          </a:xfrm>
          <a:prstGeom prst="roundRect">
            <a:avLst>
              <a:gd name="adj" fmla="val 50000"/>
            </a:avLst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sp>
        <p:nvSpPr>
          <p:cNvPr id="5" name="tag text"/>
          <p:cNvSpPr txBox="1"/>
          <p:nvPr/>
        </p:nvSpPr>
        <p:spPr>
          <a:xfrm>
            <a:off x="457200" y="11338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ผลการวิจัย (รายงานในบทความ)</a:t>
            </a:r>
            <a:endParaRPr lang="en-US" sz="900" dirty="0"/>
          </a:p>
        </p:txBody>
      </p:sp>
      <p:graphicFrame>
        <p:nvGraphicFramePr>
          <p:cNvPr id="6" name="findings chart" descr=""/>
          <p:cNvGraphicFramePr/>
          <p:nvPr/>
        </p:nvGraphicFramePr>
        <p:xfrm>
          <a:off x="457200" y="1371600"/>
          <a:ext cx="48463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hart note"/>
          <p:cNvSpPr txBox="1"/>
          <p:nvPr/>
        </p:nvSpPr>
        <p:spPr>
          <a:xfrm>
            <a:off x="457200" y="34198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chemeClr val="tx2"/>
                </a:solidFill>
              </a:rPr>
              <a:t>คุณภาพรายงานว่าสูงขึ้น "มากกว่า 40%" แท่งกราฟจึงแสดงที่ 40 ส่วนตัวเลขของแต่ละกลุ่มคือการพัฒนาเทียบกับคะแนนเดิมของกลุ่มนั้นเอง</a:t>
            </a:r>
            <a:endParaRPr lang="en-US" sz="850" dirty="0"/>
          </a:p>
        </p:txBody>
      </p:sp>
      <p:sp>
        <p:nvSpPr>
          <p:cNvPr id="8" name="outside callout"/>
          <p:cNvSpPr/>
          <p:nvPr/>
        </p:nvSpPr>
        <p:spPr>
          <a:xfrm>
            <a:off x="5577840" y="1133856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outside head"/>
          <p:cNvSpPr txBox="1"/>
          <p:nvPr/>
        </p:nvSpPr>
        <p:spPr>
          <a:xfrm>
            <a:off x="5760720" y="12252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6D4"/>
                </a:solidFill>
              </a:rPr>
              <a:t>งานภายนอกพรมแดน</a:t>
            </a:r>
            <a:endParaRPr lang="en-US" sz="1100" dirty="0"/>
          </a:p>
        </p:txBody>
      </p:sp>
      <p:sp>
        <p:nvSpPr>
          <p:cNvPr id="10" name="outside stat"/>
          <p:cNvSpPr txBox="1"/>
          <p:nvPr/>
        </p:nvSpPr>
        <p:spPr>
          <a:xfrm>
            <a:off x="5760720" y="14264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−19</a:t>
            </a:r>
            <a:endParaRPr lang="en-US" sz="4000" dirty="0"/>
          </a:p>
        </p:txBody>
      </p:sp>
      <p:sp>
        <p:nvSpPr>
          <p:cNvPr id="11" name="outside unit"/>
          <p:cNvSpPr txBox="1"/>
          <p:nvPr/>
        </p:nvSpPr>
        <p:spPr>
          <a:xfrm>
            <a:off x="5760720" y="1883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D4"/>
                </a:solidFill>
              </a:rPr>
              <a:t>จุดร้อยละ (percentage points)</a:t>
            </a:r>
            <a:endParaRPr lang="en-US" sz="1050" dirty="0"/>
          </a:p>
        </p:txBody>
      </p:sp>
      <p:sp>
        <p:nvSpPr>
          <p:cNvPr id="12" name="outside body"/>
          <p:cNvSpPr txBox="1"/>
          <p:nvPr/>
        </p:nvSpPr>
        <p:spPr>
          <a:xfrm>
            <a:off x="5760720" y="21214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สำหรับงานที่เลือกให้อยู่นอกพรมแดน ผู้ใช้ AI มีโอกาสได้คำตอบที่ถูกต้องน้อยกว่าผู้ไม่ใช้ AI อยู่ 19 จุดร้อยละ</a:t>
            </a:r>
            <a:endParaRPr lang="en-US" sz="1000" dirty="0"/>
          </a:p>
        </p:txBody>
      </p:sp>
      <p:sp>
        <p:nvSpPr>
          <p:cNvPr id="13" name="unit note card"/>
          <p:cNvSpPr/>
          <p:nvPr/>
        </p:nvSpPr>
        <p:spPr>
          <a:xfrm>
            <a:off x="5577840" y="2962656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4" name="unit note"/>
          <p:cNvSpPr txBox="1"/>
          <p:nvPr/>
        </p:nvSpPr>
        <p:spPr>
          <a:xfrm>
            <a:off x="5715000" y="301752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ร้อยละการเปลี่ยนแปลง (เช่น +12.2%) เทียบกับค่าฐานเดิม ส่วนจุดร้อยละ (−19) คือส่วนต่างระหว่างอัตราความถูกต้องของสองกลุ่ม</a:t>
            </a:r>
            <a:endParaRPr lang="en-US" sz="900" dirty="0"/>
          </a:p>
        </p:txBody>
      </p:sp>
      <p:sp>
        <p:nvSpPr>
          <p:cNvPr id="15" name="approach head"/>
          <p:cNvSpPr txBox="1"/>
          <p:nvPr/>
        </p:nvSpPr>
        <p:spPr>
          <a:xfrm>
            <a:off x="457200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รูปแบบการใช้ AI ที่ประสบความสำเร็จสองแบบ</a:t>
            </a:r>
            <a:endParaRPr lang="en-US" sz="1150" dirty="0"/>
          </a:p>
        </p:txBody>
      </p:sp>
      <p:sp>
        <p:nvSpPr>
          <p:cNvPr id="16" name="approach Centaurs (เซนทอร์)"/>
          <p:cNvSpPr/>
          <p:nvPr/>
        </p:nvSpPr>
        <p:spPr>
          <a:xfrm>
            <a:off x="457200" y="4059936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pic>
        <p:nvPicPr>
          <p:cNvPr id="17" name="icon FiGitBranc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42232"/>
            <a:ext cx="219456" cy="219456"/>
          </a:xfrm>
          <a:prstGeom prst="rect">
            <a:avLst/>
          </a:prstGeom>
        </p:spPr>
      </p:pic>
      <p:sp>
        <p:nvSpPr>
          <p:cNvPr id="18" name="approach text"/>
          <p:cNvSpPr txBox="1"/>
          <p:nvPr/>
        </p:nvSpPr>
        <p:spPr>
          <a:xfrm>
            <a:off x="841248" y="4059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Centaurs (เซนทอร์)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แบ่งงานระหว่างคนกับ AI โดยมอบงานย่อยให้ฝ่ายที่เหมาะสมกว่า</a:t>
            </a:r>
            <a:endParaRPr lang="en-US" sz="1050" dirty="0"/>
          </a:p>
        </p:txBody>
      </p:sp>
      <p:sp>
        <p:nvSpPr>
          <p:cNvPr id="19" name="approach Cyborgs (ไซบอร์ก)"/>
          <p:cNvSpPr/>
          <p:nvPr/>
        </p:nvSpPr>
        <p:spPr>
          <a:xfrm>
            <a:off x="4709160" y="4059936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pic>
        <p:nvPicPr>
          <p:cNvPr id="20" name="icon FiRefreshC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142232"/>
            <a:ext cx="219456" cy="219456"/>
          </a:xfrm>
          <a:prstGeom prst="rect">
            <a:avLst/>
          </a:prstGeom>
        </p:spPr>
      </p:pic>
      <p:sp>
        <p:nvSpPr>
          <p:cNvPr id="21" name="approach text"/>
          <p:cNvSpPr txBox="1"/>
          <p:nvPr/>
        </p:nvSpPr>
        <p:spPr>
          <a:xfrm>
            <a:off x="5093208" y="4059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Cyborgs (ไซบอร์ก)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ผสาน AI เข้ากับขั้นตอนการทำงานอย่างต่อเนื่อง สลับไปมากับเครื่องมือตลอดเวลา</a:t>
            </a:r>
            <a:endParaRPr lang="en-US" sz="1050" dirty="0"/>
          </a:p>
        </p:txBody>
      </p:sp>
      <p:sp>
        <p:nvSpPr>
          <p:cNvPr id="22" name="reference"/>
          <p:cNvSpPr txBox="1"/>
          <p:nvPr/>
        </p:nvSpPr>
        <p:spPr>
          <a:xfrm>
            <a:off x="457200" y="44256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chemeClr val="tx2"/>
                </a:solidFill>
              </a:rPr>
              <a:t>Dell'Acqua, F., McFowland III, E., Mollick, E., Lifshitz-Assaf, H., Kellogg, K. C., Rajendran, S., Krayer, L., Candelon, F., &amp; Lakhani, K. R. (2023). Navigating the Jagged Technological Frontier. Harvard Business School Working Paper 24-013.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บทความที่ 5  |  วัตถุประสงค์และผลการศึกษา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4747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ผลกระทบของ AI ต่อผู้ประกอบการที่แตกต่างกัน</a:t>
            </a:r>
            <a:endParaRPr lang="en-US" sz="2600" dirty="0"/>
          </a:p>
        </p:txBody>
      </p:sp>
      <p:sp>
        <p:nvSpPr>
          <p:cNvPr id="4" name="byline"/>
          <p:cNvSpPr txBox="1"/>
          <p:nvPr/>
        </p:nvSpPr>
        <p:spPr>
          <a:xfrm>
            <a:off x="457200" y="10607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Nicholas G. Otis et al.  |  Management Science, Vol. 72, No. 7, 2026  |  DOI 10.1287/mnsc.2024.06909</a:t>
            </a:r>
            <a:endParaRPr lang="en-US" sz="1000" dirty="0"/>
          </a:p>
        </p:txBody>
      </p:sp>
      <p:sp>
        <p:nvSpPr>
          <p:cNvPr id="5" name="icon circle"/>
          <p:cNvSpPr/>
          <p:nvPr/>
        </p:nvSpPr>
        <p:spPr>
          <a:xfrm>
            <a:off x="457200" y="1426464"/>
            <a:ext cx="384048" cy="384048"/>
          </a:xfrm>
          <a:prstGeom prst="ellipse">
            <a:avLst/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pic>
        <p:nvPicPr>
          <p:cNvPr id="6" name="icon FiMapPi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508760"/>
            <a:ext cx="219456" cy="219456"/>
          </a:xfrm>
          <a:prstGeom prst="rect">
            <a:avLst/>
          </a:prstGeom>
        </p:spPr>
      </p:pic>
      <p:sp>
        <p:nvSpPr>
          <p:cNvPr id="7" name="fact บริบทการศึกษา"/>
          <p:cNvSpPr txBox="1"/>
          <p:nvPr/>
        </p:nvSpPr>
        <p:spPr>
          <a:xfrm>
            <a:off x="969264" y="1389888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บริบทการศึกษา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การทดลองภาคสนามกับผู้ประกอบการธุรกิจขนาดเล็กในประเทศเคนยา</a:t>
            </a:r>
            <a:endParaRPr lang="en-US" sz="1250" dirty="0"/>
          </a:p>
        </p:txBody>
      </p:sp>
      <p:sp>
        <p:nvSpPr>
          <p:cNvPr id="8" name="icon circle"/>
          <p:cNvSpPr/>
          <p:nvPr/>
        </p:nvSpPr>
        <p:spPr>
          <a:xfrm>
            <a:off x="457200" y="2011680"/>
            <a:ext cx="384048" cy="384048"/>
          </a:xfrm>
          <a:prstGeom prst="ellipse">
            <a:avLst/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pic>
        <p:nvPicPr>
          <p:cNvPr id="9" name="icon FiMessageSquar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93976"/>
            <a:ext cx="219456" cy="219456"/>
          </a:xfrm>
          <a:prstGeom prst="rect">
            <a:avLst/>
          </a:prstGeom>
        </p:spPr>
      </p:pic>
      <p:sp>
        <p:nvSpPr>
          <p:cNvPr id="10" name="fact สิ่งที่ทดลอง"/>
          <p:cNvSpPr txBox="1"/>
          <p:nvPr/>
        </p:nvSpPr>
        <p:spPr>
          <a:xfrm>
            <a:off x="969264" y="1975104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สิ่งที่ทดลอง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การเข้าถึงผู้ช่วยธุรกิจ AI ที่ขับเคลื่อนด้วย GPT-4 ซึ่งให้คำแนะนำทางธุรกิจ</a:t>
            </a:r>
            <a:endParaRPr lang="en-US" sz="1250" dirty="0"/>
          </a:p>
        </p:txBody>
      </p:sp>
      <p:sp>
        <p:nvSpPr>
          <p:cNvPr id="11" name="icon circle"/>
          <p:cNvSpPr/>
          <p:nvPr/>
        </p:nvSpPr>
        <p:spPr>
          <a:xfrm>
            <a:off x="457200" y="2596896"/>
            <a:ext cx="384048" cy="384048"/>
          </a:xfrm>
          <a:prstGeom prst="ellipse">
            <a:avLst/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pic>
        <p:nvPicPr>
          <p:cNvPr id="12" name="icon FiDollarSig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679192"/>
            <a:ext cx="219456" cy="219456"/>
          </a:xfrm>
          <a:prstGeom prst="rect">
            <a:avLst/>
          </a:prstGeom>
        </p:spPr>
      </p:pic>
      <p:sp>
        <p:nvSpPr>
          <p:cNvPr id="13" name="fact ตัวแปรผลลัพธ์"/>
          <p:cNvSpPr txBox="1"/>
          <p:nvPr/>
        </p:nvSpPr>
        <p:spPr>
          <a:xfrm>
            <a:off x="969264" y="2560320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ตัวแปรผลลัพธ์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รายได้และกำไรของธุรกิจขนาดเล็ก</a:t>
            </a:r>
            <a:endParaRPr lang="en-US" sz="1250" dirty="0"/>
          </a:p>
        </p:txBody>
      </p:sp>
      <p:sp>
        <p:nvSpPr>
          <p:cNvPr id="14" name="main effect card"/>
          <p:cNvSpPr/>
          <p:nvPr/>
        </p:nvSpPr>
        <p:spPr>
          <a:xfrm>
            <a:off x="457200" y="3200400"/>
            <a:ext cx="3840480" cy="1170432"/>
          </a:xfrm>
          <a:prstGeom prst="roundRect">
            <a:avLst>
              <a:gd name="adj" fmla="val 625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ag finding"/>
          <p:cNvSpPr/>
          <p:nvPr/>
        </p:nvSpPr>
        <p:spPr>
          <a:xfrm>
            <a:off x="621792" y="3310128"/>
            <a:ext cx="2286000" cy="219456"/>
          </a:xfrm>
          <a:prstGeom prst="roundRect">
            <a:avLst>
              <a:gd name="adj" fmla="val 50000"/>
            </a:avLst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sp>
        <p:nvSpPr>
          <p:cNvPr id="16" name="tag text"/>
          <p:cNvSpPr txBox="1"/>
          <p:nvPr/>
        </p:nvSpPr>
        <p:spPr>
          <a:xfrm>
            <a:off x="621792" y="3310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ผลการวิจัย (รายงานในบทความ)</a:t>
            </a:r>
            <a:endParaRPr lang="en-US" sz="900" dirty="0"/>
          </a:p>
        </p:txBody>
      </p:sp>
      <p:sp>
        <p:nvSpPr>
          <p:cNvPr id="17" name="main head"/>
          <p:cNvSpPr txBox="1"/>
          <p:nvPr/>
        </p:nvSpPr>
        <p:spPr>
          <a:xfrm>
            <a:off x="621792" y="3566160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D6D4"/>
                </a:solidFill>
              </a:rPr>
              <a:t>ผลโดยเฉลี่ย</a:t>
            </a:r>
            <a:endParaRPr lang="en-US" sz="1150" dirty="0"/>
          </a:p>
        </p:txBody>
      </p:sp>
      <p:sp>
        <p:nvSpPr>
          <p:cNvPr id="18" name="main body"/>
          <p:cNvSpPr txBox="1"/>
          <p:nvPr/>
        </p:nvSpPr>
        <p:spPr>
          <a:xfrm>
            <a:off x="621792" y="3785616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ผู้วิจัยไม่สามารถปฏิเสธสมมติฐานว่าง (null hypothesis) ที่ว่าไม่มีผลเฉลี่ยของการทดลองต่อรายได้และกำไร</a:t>
            </a:r>
            <a:endParaRPr lang="en-US" sz="1050" dirty="0"/>
          </a:p>
        </p:txBody>
      </p:sp>
      <p:sp>
        <p:nvSpPr>
          <p:cNvPr id="19" name="subgroup card"/>
          <p:cNvSpPr/>
          <p:nvPr/>
        </p:nvSpPr>
        <p:spPr>
          <a:xfrm>
            <a:off x="4617720" y="1371600"/>
            <a:ext cx="4069080" cy="1920240"/>
          </a:xfrm>
          <a:prstGeom prst="roundRect">
            <a:avLst>
              <a:gd name="adj" fmla="val 381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0" name="tag finding"/>
          <p:cNvSpPr/>
          <p:nvPr/>
        </p:nvSpPr>
        <p:spPr>
          <a:xfrm>
            <a:off x="4782312" y="1481328"/>
            <a:ext cx="2286000" cy="219456"/>
          </a:xfrm>
          <a:prstGeom prst="roundRect">
            <a:avLst>
              <a:gd name="adj" fmla="val 50000"/>
            </a:avLst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sp>
        <p:nvSpPr>
          <p:cNvPr id="21" name="tag text"/>
          <p:cNvSpPr txBox="1"/>
          <p:nvPr/>
        </p:nvSpPr>
        <p:spPr>
          <a:xfrm>
            <a:off x="4782312" y="14813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ผลการวิจัย (รายงานในบทความ)</a:t>
            </a:r>
            <a:endParaRPr lang="en-US" sz="900" dirty="0"/>
          </a:p>
        </p:txBody>
      </p:sp>
      <p:sp>
        <p:nvSpPr>
          <p:cNvPr id="22" name="subgroup head"/>
          <p:cNvSpPr txBox="1"/>
          <p:nvPr/>
        </p:nvSpPr>
        <p:spPr>
          <a:xfrm>
            <a:off x="4782312" y="1737360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ผลแยกตามกลุ่มผลการดำเนินงานตั้งต้น</a:t>
            </a:r>
            <a:endParaRPr lang="en-US" sz="1200" dirty="0"/>
          </a:p>
        </p:txBody>
      </p:sp>
      <p:sp>
        <p:nvSpPr>
          <p:cNvPr id="23" name="zero line"/>
          <p:cNvSpPr/>
          <p:nvPr/>
        </p:nvSpPr>
        <p:spPr>
          <a:xfrm>
            <a:off x="6652260" y="2194560"/>
            <a:ext cx="0" cy="1024128"/>
          </a:xfrm>
          <a:prstGeom prst="line">
            <a:avLst/>
          </a:prstGeom>
          <a:noFill/>
          <a:ln w="9525">
            <a:solidFill>
              <a:srgbClr val="9AA5B4"/>
            </a:solidFill>
            <a:prstDash val="dash"/>
          </a:ln>
        </p:spPr>
      </p:sp>
      <p:sp>
        <p:nvSpPr>
          <p:cNvPr id="24" name="bar label 0"/>
          <p:cNvSpPr txBox="1"/>
          <p:nvPr/>
        </p:nvSpPr>
        <p:spPr>
          <a:xfrm>
            <a:off x="4782312" y="2011680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กลุ่มผลงานต่ำตั้งแต่ต้น  </a:t>
            </a:r>
            <a:pPr indent="0" marL="0">
              <a:buNone/>
            </a:pPr>
            <a:r>
              <a:rPr lang="en-US" sz="1000" b="1" dirty="0">
                <a:solidFill>
                  <a:srgbClr val="5A6472"/>
                </a:solidFill>
              </a:rPr>
              <a:t>แย่ลงเกือบ 10%</a:t>
            </a:r>
            <a:endParaRPr lang="en-US" sz="1000" dirty="0"/>
          </a:p>
        </p:txBody>
      </p:sp>
      <p:sp>
        <p:nvSpPr>
          <p:cNvPr id="25" name="bar 0"/>
          <p:cNvSpPr/>
          <p:nvPr/>
        </p:nvSpPr>
        <p:spPr>
          <a:xfrm>
            <a:off x="5567172" y="2249424"/>
            <a:ext cx="1085088" cy="237744"/>
          </a:xfrm>
          <a:prstGeom prst="rect">
            <a:avLst/>
          </a:prstGeom>
          <a:solidFill>
            <a:srgbClr val="9AA5B4"/>
          </a:solidFill>
          <a:ln w="12700">
            <a:solidFill>
              <a:srgbClr val="9AA5B4"/>
            </a:solidFill>
            <a:prstDash val="solid"/>
          </a:ln>
        </p:spPr>
      </p:sp>
      <p:sp>
        <p:nvSpPr>
          <p:cNvPr id="26" name="bar label 1"/>
          <p:cNvSpPr txBox="1"/>
          <p:nvPr/>
        </p:nvSpPr>
        <p:spPr>
          <a:xfrm>
            <a:off x="4782312" y="2560320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กลุ่มผลงานสูงตั้งแต่ต้น  </a:t>
            </a:r>
            <a:pPr indent="0" marL="0">
              <a:buNone/>
            </a:pPr>
            <a:r>
              <a:rPr lang="en-US" sz="1000" b="1" dirty="0">
                <a:solidFill>
                  <a:srgbClr val="2E8B86"/>
                </a:solidFill>
              </a:rPr>
              <a:t>อาจได้ประโยชน์มากกว่า 15%</a:t>
            </a:r>
            <a:endParaRPr lang="en-US" sz="1000" dirty="0"/>
          </a:p>
        </p:txBody>
      </p:sp>
      <p:sp>
        <p:nvSpPr>
          <p:cNvPr id="27" name="bar 1"/>
          <p:cNvSpPr/>
          <p:nvPr/>
        </p:nvSpPr>
        <p:spPr>
          <a:xfrm>
            <a:off x="6652260" y="2798064"/>
            <a:ext cx="1627632" cy="237744"/>
          </a:xfrm>
          <a:prstGeom prst="rect">
            <a:avLst/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sp>
        <p:nvSpPr>
          <p:cNvPr id="28" name="bar note"/>
          <p:cNvSpPr txBox="1"/>
          <p:nvPr/>
        </p:nvSpPr>
        <p:spPr>
          <a:xfrm>
            <a:off x="4782312" y="3255264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chemeClr val="tx2"/>
                </a:solidFill>
              </a:rPr>
              <a:t>ความยาวแท่งเป็นเพียงภาพประกอบของตัวเลขที่รายงาน</a:t>
            </a:r>
            <a:endParaRPr lang="en-US" sz="850" dirty="0"/>
          </a:p>
        </p:txBody>
      </p:sp>
      <p:sp>
        <p:nvSpPr>
          <p:cNvPr id="29" name="mechanism card"/>
          <p:cNvSpPr/>
          <p:nvPr/>
        </p:nvSpPr>
        <p:spPr>
          <a:xfrm>
            <a:off x="4617720" y="3401568"/>
            <a:ext cx="4069080" cy="457200"/>
          </a:xfrm>
          <a:prstGeom prst="roundRect">
            <a:avLst>
              <a:gd name="adj" fmla="val 16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0" name="mechanism"/>
          <p:cNvSpPr txBox="1"/>
          <p:nvPr/>
        </p:nvSpPr>
        <p:spPr>
          <a:xfrm>
            <a:off x="4754880" y="3419856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ความแตกต่างนี้ไม่ได้มาจากคำถามที่ถามหรือคำแนะนำที่ AI ให้ แต่มาจากคำแนะนำที่ผู้ประกอบการเลือกนำไปปฏิบัติ</a:t>
            </a:r>
            <a:endParaRPr lang="en-US" sz="950" dirty="0"/>
          </a:p>
        </p:txBody>
      </p:sp>
      <p:sp>
        <p:nvSpPr>
          <p:cNvPr id="31" name="caution card"/>
          <p:cNvSpPr/>
          <p:nvPr/>
        </p:nvSpPr>
        <p:spPr>
          <a:xfrm>
            <a:off x="4617720" y="3950208"/>
            <a:ext cx="40690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2E8B86"/>
            </a:solidFill>
            <a:prstDash val="solid"/>
          </a:ln>
        </p:spPr>
      </p:sp>
      <p:pic>
        <p:nvPicPr>
          <p:cNvPr id="32" name="icon FiAlertTriang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4050792"/>
            <a:ext cx="219456" cy="219456"/>
          </a:xfrm>
          <a:prstGeom prst="rect">
            <a:avLst/>
          </a:prstGeom>
        </p:spPr>
      </p:pic>
      <p:sp>
        <p:nvSpPr>
          <p:cNvPr id="33" name="caution"/>
          <p:cNvSpPr txBox="1"/>
          <p:nvPr/>
        </p:nvSpPr>
        <p:spPr>
          <a:xfrm>
            <a:off x="5020056" y="3968496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ข้อควรระวัง: ตัวเลขนี้เป็นค่าเฉลี่ยของกลุ่มย่อย ไม่ได้แสดงว่าผู้ประกอบการที่เก่งทุกคนจะได้ประโยชน์ หรือผู้ประกอบการที่อ่อนทุกคนจะเสียประโยชน์</a:t>
            </a:r>
            <a:endParaRPr lang="en-US" sz="900" dirty="0"/>
          </a:p>
        </p:txBody>
      </p:sp>
      <p:sp>
        <p:nvSpPr>
          <p:cNvPr id="34" name="reference"/>
          <p:cNvSpPr txBox="1"/>
          <p:nvPr/>
        </p:nvSpPr>
        <p:spPr>
          <a:xfrm>
            <a:off x="457200" y="44256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chemeClr val="tx2"/>
                </a:solidFill>
              </a:rPr>
              <a:t>Otis, N. G., Clarke, R., Delecourt, S., Holtz, D., &amp; Koning, R. (2026). The Uneven Impact of Generative Artificial Intelligence on Entrepreneurial Performance: Evidence from a Field Experiment in Kenya. Management Science, 72(7). https://doi.org/10.1287/mnsc.2024.06909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อภิปรายผลและเปรียบเทียบ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4747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AI เป็นเครื่องมือ ไม่ใช่หลักประกันความสำเร็จ</a:t>
            </a:r>
            <a:endParaRPr lang="en-US" sz="2600" dirty="0"/>
          </a:p>
        </p:txBody>
      </p:sp>
      <p:sp>
        <p:nvSpPr>
          <p:cNvPr id="4" name="tag finding"/>
          <p:cNvSpPr/>
          <p:nvPr/>
        </p:nvSpPr>
        <p:spPr>
          <a:xfrm>
            <a:off x="457200" y="1115568"/>
            <a:ext cx="2286000" cy="219456"/>
          </a:xfrm>
          <a:prstGeom prst="roundRect">
            <a:avLst>
              <a:gd name="adj" fmla="val 50000"/>
            </a:avLst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sp>
        <p:nvSpPr>
          <p:cNvPr id="5" name="tag text"/>
          <p:cNvSpPr txBox="1"/>
          <p:nvPr/>
        </p:nvSpPr>
        <p:spPr>
          <a:xfrm>
            <a:off x="457200" y="11155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</a:rPr>
              <a:t>ผลการวิจัย (รายงานในบทความ)</a:t>
            </a:r>
            <a:endParaRPr lang="en-US" sz="900" dirty="0"/>
          </a:p>
        </p:txBody>
      </p:sp>
      <p:graphicFrame>
        <p:nvGraphicFramePr>
          <p:cNvPr id="1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37560"/>
                <a:gridCol w="33375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บทความที่ 2  |  Dell'Acqua et al. (2023)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บทความที่ 5  |  Otis et al. (2026)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กลุ่มที่ศึกษา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7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พนักงานความรู้และที่ปรึกษา (BCG)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7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ผู้ประกอบการในประเทศเคนยา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ผลหลัก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7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ผลิตภาพและคุณภาพงานสูงขึ้นสำหรับงานภายในพรมแดนความสามารถของ AI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7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ไม่พบผลเฉลี่ยของการทดลองต่อรายได้และกำไรอย่างชัดเจน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ข้อจำกัดหรือข้อค้นพบสำคัญ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7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ความถูกต้องลดลงในงานที่อยู่นอกพรมแดนนั้น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7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ผลลัพธ์ต่างกันตามผลการดำเนินงานตั้งต้น และตามคำแนะนำของ AI ที่เลือกนำไปปฏิบัติ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clusion card"/>
          <p:cNvSpPr/>
          <p:nvPr/>
        </p:nvSpPr>
        <p:spPr>
          <a:xfrm>
            <a:off x="457200" y="3310128"/>
            <a:ext cx="8229600" cy="1042416"/>
          </a:xfrm>
          <a:prstGeom prst="roundRect">
            <a:avLst>
              <a:gd name="adj" fmla="val 7018"/>
            </a:avLst>
          </a:prstGeom>
          <a:solidFill>
            <a:srgbClr val="2E8B86"/>
          </a:solidFill>
          <a:ln w="12700">
            <a:solidFill>
              <a:srgbClr val="2E8B86"/>
            </a:solidFill>
            <a:prstDash val="solid"/>
          </a:ln>
        </p:spPr>
      </p:sp>
      <p:sp>
        <p:nvSpPr>
          <p:cNvPr id="8" name="tag interp"/>
          <p:cNvSpPr/>
          <p:nvPr/>
        </p:nvSpPr>
        <p:spPr>
          <a:xfrm>
            <a:off x="640080" y="3419856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" name="tag text"/>
          <p:cNvSpPr txBox="1"/>
          <p:nvPr/>
        </p:nvSpPr>
        <p:spPr>
          <a:xfrm>
            <a:off x="640080" y="3419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tx2"/>
                </a:solidFill>
              </a:rPr>
              <a:t>การตีความ</a:t>
            </a:r>
            <a:endParaRPr lang="en-US" sz="900" dirty="0"/>
          </a:p>
        </p:txBody>
      </p:sp>
      <p:sp>
        <p:nvSpPr>
          <p:cNvPr id="10" name="conclusion head"/>
          <p:cNvSpPr txBox="1"/>
          <p:nvPr/>
        </p:nvSpPr>
        <p:spPr>
          <a:xfrm>
            <a:off x="640080" y="36758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บทสรุป</a:t>
            </a:r>
            <a:endParaRPr lang="en-US" sz="1200" dirty="0"/>
          </a:p>
        </p:txBody>
      </p:sp>
      <p:sp>
        <p:nvSpPr>
          <p:cNvPr id="11" name="conclusion"/>
          <p:cNvSpPr txBox="1"/>
          <p:nvPr/>
        </p:nvSpPr>
        <p:spPr>
          <a:xfrm>
            <a:off x="640080" y="39136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 ส่งผลต่อผลการทำงานจริงได้ แต่ผลกระทบขึ้นอยู่กับความเหมาะสมของงาน พฤติกรรมของผู้ใช้ และวิจารณญาณของมนุษย์</a:t>
            </a:r>
            <a:endParaRPr lang="en-US" sz="1100" dirty="0"/>
          </a:p>
        </p:txBody>
      </p:sp>
      <p:pic>
        <p:nvPicPr>
          <p:cNvPr id="12" name="icon 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3474720"/>
            <a:ext cx="182880" cy="182880"/>
          </a:xfrm>
          <a:prstGeom prst="rect">
            <a:avLst/>
          </a:prstGeom>
        </p:spPr>
      </p:pic>
      <p:sp>
        <p:nvSpPr>
          <p:cNvPr id="13" name="takeaway 1"/>
          <p:cNvSpPr txBox="1"/>
          <p:nvPr/>
        </p:nvSpPr>
        <p:spPr>
          <a:xfrm>
            <a:off x="5120640" y="3438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เลือกงานให้เหมาะกับสิ่งที่ AI ทำได้ดี</a:t>
            </a:r>
            <a:endParaRPr lang="en-US" sz="1050" dirty="0"/>
          </a:p>
        </p:txBody>
      </p:sp>
      <p:pic>
        <p:nvPicPr>
          <p:cNvPr id="14" name="icon 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767328"/>
            <a:ext cx="182880" cy="182880"/>
          </a:xfrm>
          <a:prstGeom prst="rect">
            <a:avLst/>
          </a:prstGeom>
        </p:spPr>
      </p:pic>
      <p:sp>
        <p:nvSpPr>
          <p:cNvPr id="15" name="takeaway 2"/>
          <p:cNvSpPr txBox="1"/>
          <p:nvPr/>
        </p:nvSpPr>
        <p:spPr>
          <a:xfrm>
            <a:off x="5120640" y="3730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ประเมินคำแนะนำของ AI อย่างมีวิจารณญาณก่อนนำไปใช้</a:t>
            </a:r>
            <a:endParaRPr lang="en-US" sz="1050" dirty="0"/>
          </a:p>
        </p:txBody>
      </p:sp>
      <p:pic>
        <p:nvPicPr>
          <p:cNvPr id="16" name="icon 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059936"/>
            <a:ext cx="182880" cy="182880"/>
          </a:xfrm>
          <a:prstGeom prst="rect">
            <a:avLst/>
          </a:prstGeom>
        </p:spPr>
      </p:pic>
      <p:sp>
        <p:nvSpPr>
          <p:cNvPr id="17" name="takeaway 3"/>
          <p:cNvSpPr txBox="1"/>
          <p:nvPr/>
        </p:nvSpPr>
        <p:spPr>
          <a:xfrm>
            <a:off x="5120640" y="4023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ให้มนุษย์เป็นผู้ตัดสินใจขั้นสุดท้าย</a:t>
            </a:r>
            <a:endParaRPr lang="en-US" sz="1050" dirty="0"/>
          </a:p>
        </p:txBody>
      </p:sp>
      <p:sp>
        <p:nvSpPr>
          <p:cNvPr id="18" name="reference"/>
          <p:cNvSpPr txBox="1"/>
          <p:nvPr/>
        </p:nvSpPr>
        <p:spPr>
          <a:xfrm>
            <a:off x="457200" y="44256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chemeClr val="tx2"/>
                </a:solidFill>
              </a:rPr>
              <a:t>Dell'Acqua et al. (2023), Harvard Business School Working Paper 24-013   |   Otis et al. (2026), Management Science, 72(7), https://doi.org/10.1287/mnsc.2024.06909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5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Navy Teal">
  <a:themeElements>
    <a:clrScheme name="Academic Navy Teal">
      <a:dk1>
        <a:srgbClr val="1B2A4A"/>
      </a:dk1>
      <a:lt1>
        <a:srgbClr val="FFFFFF"/>
      </a:lt1>
      <a:dk2>
        <a:srgbClr val="5A6472"/>
      </a:dk2>
      <a:lt2>
        <a:srgbClr val="EEF1F5"/>
      </a:lt2>
      <a:accent1>
        <a:srgbClr val="2E8B86"/>
      </a:accent1>
      <a:accent2>
        <a:srgbClr val="1B2A4A"/>
      </a:accent2>
      <a:accent3>
        <a:srgbClr val="9AA5B4"/>
      </a:accent3>
      <a:accent4>
        <a:srgbClr val="C9D6D4"/>
      </a:accent4>
      <a:accent5>
        <a:srgbClr val="D8DEE6"/>
      </a:accent5>
      <a:accent6>
        <a:srgbClr val="3C4D6E"/>
      </a:accent6>
      <a:hlink>
        <a:srgbClr val="2E8B86"/>
      </a:hlink>
      <a:folHlink>
        <a:srgbClr val="5A6472"/>
      </a:folHlink>
    </a:clrScheme>
    <a:fontScheme name="Academic Navy Teal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and Work Performance</dc:title>
  <dc:subject>ENG 501 English for Master's Degree</dc:subject>
  <dc:creator>Chayanun Sungsa-ard</dc:creator>
  <cp:lastModifiedBy>Chayanun Sungsa-ard</cp:lastModifiedBy>
  <cp:revision>1</cp:revision>
  <dcterms:created xsi:type="dcterms:W3CDTF">2026-10-09T14:48:18Z</dcterms:created>
  <dcterms:modified xsi:type="dcterms:W3CDTF">2026-10-09T14:48:18Z</dcterms:modified>
</cp:coreProperties>
</file>