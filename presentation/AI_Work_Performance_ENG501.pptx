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glish version: two field experiments on AI, productivity and business performance." id="{fd813ca2-37fc-a93e-61f2-48f9a7e71516}">
          <p14:sldIdLst>
            <p14:sldId id="256"/>
            <p14:sldId id="257"/>
            <p14:sldId id="258"/>
            <p14:sldId id="259"/>
            <p14:sldId id="260"/>
            <p14:sldId id="261"/>
            <p14:sldId id="262"/>
            <p14:sldId id="263"/>
            <p14:sldId id="264"/>
            <p14:sldId id="265"/>
          </p14:sldIdLst>
        </p14:section>
        <p14:section name="ฉบับภาษาไทย: การทดลองภาคสนามสองชิ้นเรื่อง AI ผลิตภาพ และผลการดำเนินธุรกิจ" id="{0406d872-9cf5-6b59-1f66-d409e1cc735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will look at one question: how does AI affect productivity, work quality and business performance? I will use two recent field experiments. Article 2 studies consultants at BCG working with GPT-4. Article 5 studies small-business entrepreneurs in Kenya who received a GPT-4 business assistant. First the office, then the marketplace, and finally what the two studies tell us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2 is a field experiment run with Boston Consulting Group. 758 consultants were randomly assigned to one of three conditions: no AI, GPT-4, or GPT-4 plus a short prompt-engineering overview. The authors study productivity, quality, and where AI's abilities end. They call that boundary the jagged technological frontier: AI handles some tasks well but struggles with others that look equally hard. Keep that picture in mind, because the results split exactly along that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frontier the gains were large: 12.2% more tasks completed, 25.1% faster, and more than 40% higher quality than the control group. Below-average performers improved by 43% and above-average performers by 17%, each against their own baseline. But for a task chosen to sit outside the frontier, AI users were 19 percentage points less likely to produce a correct solution. Note the unit: that is a gap between two success rates, not a percentage change. The consultants who did well used AI in two ways: Centaurs divided tasks between themselves and the AI, and Cyborgs wove AI into every step. The office result is clear. The next study asks whether it survives contact with a real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5 moves from consultants to entrepreneurs in Kenya. Half of the small-business owners received a GPT-4-powered business assistant that gave advice; the outcomes were revenue and profit. On average, the researchers could not reject the null hypothesis of no treatment effect. But the average hides two stories. Entrepreneurs who were low performers at baseline did nearly 10% worse with the assistant, while high performers may have benefited by more than 15%. The questions and the AI advice were similar; the difference lay in which advice the entrepreneurs chose to implement. I want to be careful here: these are subgroup averages, not a rule for every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studies side by side. Article 2 shows higher productivity and quality for knowledge work inside AI's frontier, and lower correctness outside it. Article 5 shows no established average effect on revenue and profit, with outcomes that depended on baseline performance and on which recommendations were implemented. The common thread is the human in the loop. AI can influence real performance, but the impact depends on task suitability, user behavior and human judgment. That is why I framed the title as AI being a tool, not a guarantee of success. Thank you,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สวัสดีครับ วันนี้ผมจะตอบคำถามเดียวคือ AI ส่งผลต่อผลิตภาพ คุณภาพงาน และผลการดำเนินธุรกิจอย่างไร โดยใช้การทดลองภาคสนามสองชิ้น บทความที่ 2 ศึกษาที่ปรึกษาของ BCG ที่ใช้ GPT-4 ส่วนบทความที่ 5 ศึกษาผู้ประกอบการรายย่อยในเคนยาที่ได้รับผู้ช่วยธุรกิจ GPT-4 เราจะเริ่มจากในสำนักงาน ไปสู่ตลาดจริง แล้วสรุปสิ่งที่สองงานบอกเราร่วมกัน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2 เป็นการทดลองภาคสนามร่วมกับ Boston Consulting Group ที่ปรึกษา 758 คนถูกสุ่มเข้าสามกลุ่ม คือไม่ใช้ AI ใช้ GPT-4 และใช้ GPT-4 พร้อมคำแนะนำการเขียน prompt ผู้วิจัยศึกษาผลิตภาพ คุณภาพ และจุดที่ความสามารถของ AI สิ้นสุด ซึ่งเรียกว่า jagged technological frontier คือ AI ทำงานบางอย่างได้ดี แต่ทำงานอื่นที่ดูยากพอกันได้ไม่ดี ขอให้จำภาพนี้ไว้ เพราะผลการศึกษาแยกตามเส้นนี้พอดี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ภายในพรมแดน ผลดีมีขนาดใหญ่ คือทำงานเสร็จเพิ่มขึ้น 12.2% เร็วขึ้น 25.1% และคุณภาพสูงกว่ากลุ่มควบคุมมากกว่า 40% กลุ่มผลงานต่ำกว่าค่าเฉลี่ยดีขึ้น 43% กลุ่มสูงกว่าค่าเฉลี่ยดีขึ้น 17% เทียบกับคะแนนเดิมของตนเอง แต่สำหรับงานที่เลือกให้อยู่นอกพรมแดน ผู้ใช้ AI มีโอกาสได้คำตอบถูกน้อยกว่า 19 จุดร้อยละ สังเกตหน่วยด้วยครับ นี่คือส่วนต่างของอัตราความถูกต้อง ไม่ใช่ร้อยละการเปลี่ยนแปลง ที่ปรึกษาที่ทำได้ดีใช้ AI สองแบบ คือ Centaurs ที่แบ่งงานระหว่างตัวเองกับ AI และ Cyborgs ที่ผสาน AI เข้าไปทุกขั้นตอน ผลในสำนักงานชัดเจน งานถัดไปถามว่าผลนี้จะอยู่รอดเมื่อเจอธุรกิจจริงหรือไม่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5 ย้ายจากที่ปรึกษาไปสู่ผู้ประกอบการในเคนยา เจ้าของธุรกิจขนาดเล็กครึ่งหนึ่งได้รับผู้ช่วยธุรกิจที่ขับเคลื่อนด้วย GPT-4 ซึ่งให้คำแนะนำ ตัวแปรผลลัพธ์คือรายได้และกำไร โดยเฉลี่ยผู้วิจัยไม่สามารถปฏิเสธสมมติฐานว่างที่ว่าไม่มีผลของการทดลอง แต่ค่าเฉลี่ยซ่อนสองเรื่องไว้ ผู้ประกอบการที่ผลงานต่ำตั้งแต่ต้นแย่ลงเกือบ 10% ขณะที่กลุ่มผลงานสูงอาจได้ประโยชน์มากกว่า 15% คำถามและคำแนะนำของ AI ใกล้เคียงกัน ความต่างอยู่ที่คำแนะนำที่ผู้ประกอบการเลือกนำไปปฏิบัติ ขอย้ำว่านี่คือค่าเฉลี่ยของกลุ่มย่อย ไม่ใช่กฎสำหรับทุกคน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เมื่อวางสองงานเคียงกัน บทความที่ 2 แสดงว่าผลิตภาพและคุณภาพของงานความรู้สูงขึ้นภายในพรมแดนของ AI แต่ความถูกต้องลดลงนอกพรมแดน บทความที่ 5 ไม่พบผลเฉลี่ยต่อรายได้และกำไรอย่างชัดเจน และผลลัพธ์ขึ้นกับผลงานตั้งต้นและคำแนะนำที่เลือกนำไปใช้ จุดร่วมคือมนุษย์ที่อยู่ในกระบวนการ AI ส่งผลต่อผลการทำงานจริงได้ แต่ขึ้นอยู่กับความเหมาะสมของงาน พฤติกรรมของผู้ใช้ และวิจารณญาณของมนุษย์ นี่คือเหตุผลที่ผมตั้งชื่อว่า AI เป็นเครื่องมือ ไม่ใช่หลักประกันความสำเร็จ ขอบคุณครับ ยินดีรับคำถาม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pic>
        <p:nvPicPr>
          <p:cNvPr id="2" name="static" descr="/home/user/slide-present-en/presentation/webdeck/art/bg-dark.jpg">    </p:cNvPr>
          <p:cNvPicPr>
            <a:picLocks noChangeAspect="1"/>
          </p:cNvPicPr>
          <p:nvPr/>
        </p:nvPicPr>
        <p:blipFill>
          <a:blip r:embed="rId1"/>
          <a:stretch>
            <a:fillRect/>
          </a:stretch>
        </p:blipFill>
        <p:spPr>
          <a:xfrm>
            <a:off x="0" y="0"/>
            <a:ext cx="9144000" cy="5143500"/>
          </a:xfrm>
          <a:prstGeom prst="rect">
            <a:avLst/>
          </a:prstGeom>
        </p:spPr>
      </p:pic>
      <p:sp>
        <p:nvSpPr>
          <p:cNvPr id="3" name="static"/>
          <p:cNvSpPr txBox="1"/>
          <p:nvPr/>
        </p:nvSpPr>
        <p:spPr>
          <a:xfrm>
            <a:off x="609600" y="5334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BFE6E0"/>
                </a:solidFill>
                <a:latin typeface="Poppins" pitchFamily="34" charset="0"/>
                <a:ea typeface="Poppins" pitchFamily="34" charset="-122"/>
                <a:cs typeface="Poppins" pitchFamily="34" charset="-120"/>
              </a:rPr>
              <a:t>ENG 501 · ENGLISH FOR MASTER'S DEGREE</a:t>
            </a:r>
            <a:endParaRPr lang="en-US" sz="900" dirty="0"/>
          </a:p>
        </p:txBody>
      </p:sp>
      <p:sp>
        <p:nvSpPr>
          <p:cNvPr id="4" name="static"/>
          <p:cNvSpPr txBox="1"/>
          <p:nvPr/>
        </p:nvSpPr>
        <p:spPr>
          <a:xfrm>
            <a:off x="609600" y="693390"/>
            <a:ext cx="5943600" cy="1015305"/>
          </a:xfrm>
          <a:prstGeom prst="rect">
            <a:avLst/>
          </a:prstGeom>
          <a:noFill/>
          <a:ln/>
        </p:spPr>
        <p:txBody>
          <a:bodyPr wrap="square" lIns="0" tIns="95250" rIns="0" bIns="0" rtlCol="0" anchor="t"/>
          <a:lstStyle/>
          <a:p>
            <a:pPr algn="l" indent="0" marL="0">
              <a:lnSpc>
                <a:spcPts val="3622"/>
              </a:lnSpc>
              <a:buNone/>
            </a:pPr>
            <a:r>
              <a:rPr lang="en-US" sz="3450" b="1" dirty="0">
                <a:solidFill>
                  <a:srgbClr val="F7F9FB"/>
                </a:solidFill>
                <a:latin typeface="Poppins" pitchFamily="34" charset="0"/>
                <a:ea typeface="Poppins" pitchFamily="34" charset="-122"/>
                <a:cs typeface="Poppins" pitchFamily="34" charset="-120"/>
              </a:rPr>
              <a:t>Artificial Intelligence and Work Performance</a:t>
            </a:r>
            <a:endParaRPr lang="en-US" sz="3450" dirty="0"/>
          </a:p>
        </p:txBody>
      </p:sp>
      <p:sp>
        <p:nvSpPr>
          <p:cNvPr id="5" name="static"/>
          <p:cNvSpPr txBox="1"/>
          <p:nvPr/>
        </p:nvSpPr>
        <p:spPr>
          <a:xfrm>
            <a:off x="609600" y="1708696"/>
            <a:ext cx="5715000" cy="276225"/>
          </a:xfrm>
          <a:prstGeom prst="rect">
            <a:avLst/>
          </a:prstGeom>
          <a:noFill/>
          <a:ln/>
        </p:spPr>
        <p:txBody>
          <a:bodyPr wrap="none" lIns="0" tIns="0" rIns="0" bIns="0" rtlCol="0" anchor="ctr"/>
          <a:lstStyle/>
          <a:p>
            <a:pPr algn="l" indent="0" marL="0">
              <a:lnSpc>
                <a:spcPts val="1575"/>
              </a:lnSpc>
              <a:buNone/>
            </a:pPr>
            <a:r>
              <a:rPr lang="en-US" sz="1125" dirty="0">
                <a:solidFill>
                  <a:srgbClr val="BFE6E0"/>
                </a:solidFill>
                <a:latin typeface="Poppins" pitchFamily="34" charset="0"/>
                <a:ea typeface="Poppins" pitchFamily="34" charset="-122"/>
                <a:cs typeface="Poppins" pitchFamily="34" charset="-120"/>
              </a:rPr>
              <a:t>Evidence from two recent field experiments</a:t>
            </a:r>
            <a:endParaRPr lang="en-US" sz="1125" dirty="0"/>
          </a:p>
        </p:txBody>
      </p:sp>
      <p:pic>
        <p:nvPicPr>
          <p:cNvPr id="6" name="b1:pop (Friendly robot mascot waving)" descr="/home/user/slide-present-en/presentation/webdeck/art/robot-wave-dark.png">    </p:cNvPr>
          <p:cNvPicPr>
            <a:picLocks noChangeAspect="1"/>
          </p:cNvPicPr>
          <p:nvPr/>
        </p:nvPicPr>
        <p:blipFill>
          <a:blip r:embed="rId2"/>
          <a:stretch>
            <a:fillRect/>
          </a:stretch>
        </p:blipFill>
        <p:spPr>
          <a:xfrm>
            <a:off x="6667500" y="342900"/>
            <a:ext cx="1809750" cy="1571625"/>
          </a:xfrm>
          <a:prstGeom prst="rect">
            <a:avLst/>
          </a:prstGeom>
        </p:spPr>
      </p:pic>
      <p:sp>
        <p:nvSpPr>
          <p:cNvPr id="7" name="b2:fade"/>
          <p:cNvSpPr txBox="1"/>
          <p:nvPr/>
        </p:nvSpPr>
        <p:spPr>
          <a:xfrm>
            <a:off x="609600" y="2238375"/>
            <a:ext cx="7143750" cy="213345"/>
          </a:xfrm>
          <a:prstGeom prst="rect">
            <a:avLst/>
          </a:prstGeom>
          <a:noFill/>
          <a:ln/>
        </p:spPr>
        <p:txBody>
          <a:bodyPr wrap="none" lIns="0" tIns="0" rIns="0" bIns="0" rtlCol="0" anchor="ctr"/>
          <a:lstStyle/>
          <a:p>
            <a:pPr algn="l" indent="0" marL="0">
              <a:lnSpc>
                <a:spcPts val="1680"/>
              </a:lnSpc>
              <a:buNone/>
            </a:pPr>
            <a:r>
              <a:rPr lang="en-US" sz="1200" b="1" dirty="0">
                <a:solidFill>
                  <a:srgbClr val="F7F9FB"/>
                </a:solidFill>
                <a:latin typeface="Poppins" pitchFamily="34" charset="0"/>
                <a:ea typeface="Poppins" pitchFamily="34" charset="-122"/>
                <a:cs typeface="Poppins" pitchFamily="34" charset="-120"/>
              </a:rPr>
              <a:t>How does AI affect productivity, work quality, and business performance?</a:t>
            </a:r>
            <a:endParaRPr lang="en-US" sz="1200" dirty="0"/>
          </a:p>
        </p:txBody>
      </p:sp>
      <p:sp>
        <p:nvSpPr>
          <p:cNvPr id="8" name="b3:rise"/>
          <p:cNvSpPr/>
          <p:nvPr/>
        </p:nvSpPr>
        <p:spPr>
          <a:xfrm>
            <a:off x="609600" y="2667000"/>
            <a:ext cx="3886200" cy="1420044"/>
          </a:xfrm>
          <a:prstGeom prst="roundRect">
            <a:avLst>
              <a:gd name="adj" fmla="val 6708"/>
            </a:avLst>
          </a:prstGeom>
          <a:solidFill>
            <a:srgbClr val="2A3D63"/>
          </a:solidFill>
          <a:ln/>
        </p:spPr>
      </p:sp>
      <p:sp>
        <p:nvSpPr>
          <p:cNvPr id="9" name="b3:rise"/>
          <p:cNvSpPr txBox="1"/>
          <p:nvPr/>
        </p:nvSpPr>
        <p:spPr>
          <a:xfrm>
            <a:off x="8001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ARTICLE 2</a:t>
            </a:r>
            <a:endParaRPr lang="en-US" sz="900" dirty="0"/>
          </a:p>
        </p:txBody>
      </p:sp>
      <p:sp>
        <p:nvSpPr>
          <p:cNvPr id="10" name="b3:rise"/>
          <p:cNvSpPr txBox="1"/>
          <p:nvPr/>
        </p:nvSpPr>
        <p:spPr>
          <a:xfrm>
            <a:off x="8001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75" dirty="0"/>
          </a:p>
        </p:txBody>
      </p:sp>
      <p:sp>
        <p:nvSpPr>
          <p:cNvPr id="11" name="b3:rise"/>
          <p:cNvSpPr txBox="1"/>
          <p:nvPr/>
        </p:nvSpPr>
        <p:spPr>
          <a:xfrm>
            <a:off x="8001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Fabrizio Dell'Acqua et al. · Harvard Business School Working Paper 24-013, 2023</a:t>
            </a:r>
            <a:endParaRPr lang="en-US" sz="900" dirty="0"/>
          </a:p>
        </p:txBody>
      </p:sp>
      <p:sp>
        <p:nvSpPr>
          <p:cNvPr id="12" name="b3:rise"/>
          <p:cNvSpPr/>
          <p:nvPr/>
        </p:nvSpPr>
        <p:spPr>
          <a:xfrm>
            <a:off x="4648200" y="2667000"/>
            <a:ext cx="3886200" cy="1420044"/>
          </a:xfrm>
          <a:prstGeom prst="roundRect">
            <a:avLst>
              <a:gd name="adj" fmla="val 6708"/>
            </a:avLst>
          </a:prstGeom>
          <a:solidFill>
            <a:srgbClr val="2A3D63"/>
          </a:solidFill>
          <a:ln/>
        </p:spPr>
      </p:sp>
      <p:sp>
        <p:nvSpPr>
          <p:cNvPr id="13" name="b3:rise"/>
          <p:cNvSpPr txBox="1"/>
          <p:nvPr/>
        </p:nvSpPr>
        <p:spPr>
          <a:xfrm>
            <a:off x="48387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ARTICLE 5</a:t>
            </a:r>
            <a:endParaRPr lang="en-US" sz="900" dirty="0"/>
          </a:p>
        </p:txBody>
      </p:sp>
      <p:sp>
        <p:nvSpPr>
          <p:cNvPr id="14" name="b3:rise"/>
          <p:cNvSpPr txBox="1"/>
          <p:nvPr/>
        </p:nvSpPr>
        <p:spPr>
          <a:xfrm>
            <a:off x="48387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75" dirty="0"/>
          </a:p>
        </p:txBody>
      </p:sp>
      <p:sp>
        <p:nvSpPr>
          <p:cNvPr id="15" name="b3:rise"/>
          <p:cNvSpPr txBox="1"/>
          <p:nvPr/>
        </p:nvSpPr>
        <p:spPr>
          <a:xfrm>
            <a:off x="48387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Nicholas G. Otis et al. · Management Science, Vol. 72, No. 7, 2026 · DOI 10.1287/mnsc.2024.06909</a:t>
            </a:r>
            <a:endParaRPr lang="en-US" sz="900" dirty="0"/>
          </a:p>
        </p:txBody>
      </p:sp>
      <p:sp>
        <p:nvSpPr>
          <p:cNvPr id="16" name="static"/>
          <p:cNvSpPr txBox="1"/>
          <p:nvPr/>
        </p:nvSpPr>
        <p:spPr>
          <a:xfrm>
            <a:off x="609600" y="4678710"/>
            <a:ext cx="6191250" cy="159990"/>
          </a:xfrm>
          <a:prstGeom prst="rect">
            <a:avLst/>
          </a:prstGeom>
          <a:noFill/>
          <a:ln/>
        </p:spPr>
        <p:txBody>
          <a:bodyPr wrap="none" lIns="0" tIns="0" rIns="0" bIns="0" rtlCol="0" anchor="ctr"/>
          <a:lstStyle/>
          <a:p>
            <a:pPr algn="l" indent="0" marL="0">
              <a:lnSpc>
                <a:spcPts val="1260"/>
              </a:lnSpc>
              <a:buNone/>
            </a:pPr>
            <a:r>
              <a:rPr lang="en-US" sz="900" b="1" dirty="0">
                <a:solidFill>
                  <a:srgbClr val="BFE6E0"/>
                </a:solidFill>
                <a:latin typeface="Poppins" pitchFamily="34" charset="0"/>
                <a:ea typeface="Poppins" pitchFamily="34" charset="-122"/>
                <a:cs typeface="Poppins" pitchFamily="34" charset="-120"/>
              </a:rPr>
              <a:t>Chayanun Sungsa-ard</a:t>
            </a:r>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 · Student ID 691401708 · MBA · ENG 501 English for Master's Degree</a:t>
            </a:r>
            <a:endParaRPr lang="en-US" sz="900" dirty="0"/>
          </a:p>
        </p:txBody>
      </p:sp>
      <p:sp>
        <p:nvSpPr>
          <p:cNvPr id="17" name="!!key1-en-1"/>
          <p:cNvSpPr/>
          <p:nvPr/>
        </p:nvSpPr>
        <p:spPr>
          <a:xfrm>
            <a:off x="7048500" y="4572000"/>
            <a:ext cx="1485900" cy="255240"/>
          </a:xfrm>
          <a:prstGeom prst="roundRect">
            <a:avLst>
              <a:gd name="adj" fmla="val 50000"/>
            </a:avLst>
          </a:prstGeom>
          <a:solidFill>
            <a:srgbClr val="2E8B86"/>
          </a:solidFill>
          <a:ln/>
        </p:spPr>
      </p:sp>
      <p:sp>
        <p:nvSpPr>
          <p:cNvPr id="18" name="!!key1-en-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Field experiment 1: BCG</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Scale>
                                      <p:cBhvr>
                                        <p:cTn id="5" dur="500" fill="hold"/>
                                        <p:tgtEl>
                                          <p:spTgt spid="6"/>
                                        </p:tgtEl>
                                      </p:cBhvr>
                                      <p:from x="0" y="0"/>
                                      <p:to x="100000" y="100000"/>
                                    </p:animScale>
                                    <p:animEffect transition="in" filter="fade">
                                      <p:cBhvr>
                                        <p:cTn id="6"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46" fill="hold">
                      <p:stCondLst>
                        <p:cond delay="indefinite"/>
                      </p:stCondLst>
                      <p:childTnLst>
                        <p:par>
                          <p:cTn id="47"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700"/>
                                        <p:tgtEl>
                                          <p:spTgt spid="8"/>
                                        </p:tgtEl>
                                      </p:cBhvr>
                                    </p:animEffect>
                                    <p:anim calcmode="lin" valueType="num">
                                      <p:cBhvr additive="base">
                                        <p:cTn id="17" dur="700" fill="hold"/>
                                        <p:tgtEl>
                                          <p:spTgt spid="8"/>
                                        </p:tgtEl>
                                        <p:attrNameLst>
                                          <p:attrName>ppt_y</p:attrName>
                                        </p:attrNameLst>
                                      </p:cBhvr>
                                      <p:tavLst>
                                        <p:tav tm="0">
                                          <p:val>
                                            <p:strVal val="#ppt_y+.08"/>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00"/>
                                        <p:tgtEl>
                                          <p:spTgt spid="9"/>
                                        </p:tgtEl>
                                      </p:cBhvr>
                                    </p:animEffect>
                                    <p:anim calcmode="lin" valueType="num">
                                      <p:cBhvr additive="base">
                                        <p:cTn id="21" dur="700" fill="hold"/>
                                        <p:tgtEl>
                                          <p:spTgt spid="9"/>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8" presetID="23" presetClass="entr" presetSubtype="16"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Scale>
                                      <p:cBhvr>
                                        <p:cTn id="50" dur="500" fill="hold"/>
                                        <p:tgtEl>
                                          <p:spTgt spid="17"/>
                                        </p:tgtEl>
                                      </p:cBhvr>
                                      <p:from x="0" y="0"/>
                                      <p:to x="100000" y="100000"/>
                                    </p:animScale>
                                    <p:animEffect transition="in" filter="fade">
                                      <p:cBhvr>
                                        <p:cTn id="51" dur="500"/>
                                        <p:tgtEl>
                                          <p:spTgt spid="17"/>
                                        </p:tgtEl>
                                      </p:cBhvr>
                                    </p:animEffect>
                                  </p:childTnLst>
                                </p:cTn>
                              </p:par>
                              <p:par>
                                <p:cTn id="52" presetID="23" presetClass="entr" presetSubtype="16"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Scale>
                                      <p:cBhvr>
                                        <p:cTn id="54" dur="500" fill="hold"/>
                                        <p:tgtEl>
                                          <p:spTgt spid="18"/>
                                        </p:tgtEl>
                                      </p:cBhvr>
                                      <p:from x="0" y="0"/>
                                      <p:to x="100000" y="100000"/>
                                    </p:animScale>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2 · RESEARCH PURPOSE AND METHOD</a:t>
            </a:r>
            <a:endParaRPr lang="en-US" sz="900" dirty="0"/>
          </a:p>
        </p:txBody>
      </p:sp>
      <p:sp>
        <p:nvSpPr>
          <p:cNvPr id="3" name="static"/>
          <p:cNvSpPr txBox="1"/>
          <p:nvPr/>
        </p:nvSpPr>
        <p:spPr>
          <a:xfrm>
            <a:off x="609600" y="617190"/>
            <a:ext cx="7924800" cy="392385"/>
          </a:xfrm>
          <a:prstGeom prst="rect">
            <a:avLst/>
          </a:prstGeom>
          <a:noFill/>
          <a:ln/>
        </p:spPr>
        <p:txBody>
          <a:bodyPr wrap="non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Navigating the Jagged Technological Frontier</a:t>
            </a:r>
            <a:endParaRPr lang="en-US" sz="2400" dirty="0"/>
          </a:p>
        </p:txBody>
      </p:sp>
      <p:sp>
        <p:nvSpPr>
          <p:cNvPr id="4" name="b1:rise"/>
          <p:cNvSpPr/>
          <p:nvPr/>
        </p:nvSpPr>
        <p:spPr>
          <a:xfrm>
            <a:off x="609600" y="1521098"/>
            <a:ext cx="342900" cy="342900"/>
          </a:xfrm>
          <a:prstGeom prst="roundRect">
            <a:avLst>
              <a:gd name="adj" fmla="val 50000"/>
            </a:avLst>
          </a:prstGeom>
          <a:solidFill>
            <a:srgbClr val="E6F3F1"/>
          </a:solidFill>
          <a:ln/>
        </p:spPr>
      </p:sp>
      <p:pic>
        <p:nvPicPr>
          <p:cNvPr id="5" name="b1:rise icon Users" descr="preencoded.png">    </p:cNvPr>
          <p:cNvPicPr>
            <a:picLocks noChangeAspect="1"/>
          </p:cNvPicPr>
          <p:nvPr/>
        </p:nvPicPr>
        <p:blipFill>
          <a:blip r:embed="rId1"/>
          <a:stretch>
            <a:fillRect/>
          </a:stretch>
        </p:blipFill>
        <p:spPr>
          <a:xfrm>
            <a:off x="695325" y="1606823"/>
            <a:ext cx="171450" cy="171450"/>
          </a:xfrm>
          <a:prstGeom prst="rect">
            <a:avLst/>
          </a:prstGeom>
        </p:spPr>
      </p:pic>
      <p:sp>
        <p:nvSpPr>
          <p:cNvPr id="6" name="b1:rise"/>
          <p:cNvSpPr txBox="1"/>
          <p:nvPr/>
        </p:nvSpPr>
        <p:spPr>
          <a:xfrm>
            <a:off x="1066800" y="1428750"/>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Partner and participants</a:t>
            </a:r>
            <a:endParaRPr lang="en-US" sz="1125" dirty="0"/>
          </a:p>
        </p:txBody>
      </p:sp>
      <p:sp>
        <p:nvSpPr>
          <p:cNvPr id="7" name="b1:rise"/>
          <p:cNvSpPr txBox="1"/>
          <p:nvPr/>
        </p:nvSpPr>
        <p:spPr>
          <a:xfrm>
            <a:off x="1066800" y="1609725"/>
            <a:ext cx="3288792" cy="34662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Field experiment with Boston Consulting Group (BCG),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758 consultants</a:t>
            </a:r>
            <a:endParaRPr lang="en-US" sz="975" dirty="0"/>
          </a:p>
        </p:txBody>
      </p:sp>
      <p:sp>
        <p:nvSpPr>
          <p:cNvPr id="8" name="b1:rise"/>
          <p:cNvSpPr/>
          <p:nvPr/>
        </p:nvSpPr>
        <p:spPr>
          <a:xfrm>
            <a:off x="609600" y="2095351"/>
            <a:ext cx="342900" cy="342900"/>
          </a:xfrm>
          <a:prstGeom prst="roundRect">
            <a:avLst>
              <a:gd name="adj" fmla="val 50000"/>
            </a:avLst>
          </a:prstGeom>
          <a:solidFill>
            <a:srgbClr val="E6F3F1"/>
          </a:solidFill>
          <a:ln/>
        </p:spPr>
      </p:sp>
      <p:pic>
        <p:nvPicPr>
          <p:cNvPr id="9" name="b1:rise icon Activity" descr="preencoded.png">    </p:cNvPr>
          <p:cNvPicPr>
            <a:picLocks noChangeAspect="1"/>
          </p:cNvPicPr>
          <p:nvPr/>
        </p:nvPicPr>
        <p:blipFill>
          <a:blip r:embed="rId2"/>
          <a:stretch>
            <a:fillRect/>
          </a:stretch>
        </p:blipFill>
        <p:spPr>
          <a:xfrm>
            <a:off x="695325" y="2181076"/>
            <a:ext cx="171450" cy="171450"/>
          </a:xfrm>
          <a:prstGeom prst="rect">
            <a:avLst/>
          </a:prstGeom>
        </p:spPr>
      </p:pic>
      <p:sp>
        <p:nvSpPr>
          <p:cNvPr id="10" name="b1:rise"/>
          <p:cNvSpPr txBox="1"/>
          <p:nvPr/>
        </p:nvSpPr>
        <p:spPr>
          <a:xfrm>
            <a:off x="1066800" y="2089696"/>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Focus</a:t>
            </a:r>
            <a:endParaRPr lang="en-US" sz="1125" dirty="0"/>
          </a:p>
        </p:txBody>
      </p:sp>
      <p:sp>
        <p:nvSpPr>
          <p:cNvPr id="11" name="b1:rise"/>
          <p:cNvSpPr txBox="1"/>
          <p:nvPr/>
        </p:nvSpPr>
        <p:spPr>
          <a:xfrm>
            <a:off x="1066800" y="2270671"/>
            <a:ext cx="3162300" cy="173310"/>
          </a:xfrm>
          <a:prstGeom prst="rect">
            <a:avLst/>
          </a:prstGeom>
          <a:noFill/>
          <a:ln/>
        </p:spPr>
        <p:txBody>
          <a:bodyPr wrap="none" lIns="0" tIns="0" rIns="0" bIns="0" rtlCol="0" anchor="ctr"/>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Productivity, work quality, and the limits of AI</a:t>
            </a:r>
            <a:endParaRPr lang="en-US" sz="975" dirty="0"/>
          </a:p>
        </p:txBody>
      </p:sp>
      <p:sp>
        <p:nvSpPr>
          <p:cNvPr id="12" name="b2:rise"/>
          <p:cNvSpPr txBox="1"/>
          <p:nvPr/>
        </p:nvSpPr>
        <p:spPr>
          <a:xfrm>
            <a:off x="609600" y="2667000"/>
            <a:ext cx="36195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Three experimental conditions</a:t>
            </a:r>
            <a:endParaRPr lang="en-US" sz="1125" dirty="0"/>
          </a:p>
        </p:txBody>
      </p:sp>
      <p:sp>
        <p:nvSpPr>
          <p:cNvPr id="13" name="b2:rise"/>
          <p:cNvSpPr/>
          <p:nvPr/>
        </p:nvSpPr>
        <p:spPr>
          <a:xfrm>
            <a:off x="609600" y="2933700"/>
            <a:ext cx="1143000" cy="1148581"/>
          </a:xfrm>
          <a:prstGeom prst="roundRect">
            <a:avLst>
              <a:gd name="adj" fmla="val 7500"/>
            </a:avLst>
          </a:prstGeom>
          <a:solidFill>
            <a:srgbClr val="EEF1F5"/>
          </a:solidFill>
          <a:ln/>
        </p:spPr>
      </p:sp>
      <p:sp>
        <p:nvSpPr>
          <p:cNvPr id="14" name="b2:rise"/>
          <p:cNvSpPr txBox="1"/>
          <p:nvPr/>
        </p:nvSpPr>
        <p:spPr>
          <a:xfrm>
            <a:off x="7429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oppins" pitchFamily="34" charset="0"/>
                <a:ea typeface="Poppins" pitchFamily="34" charset="-122"/>
                <a:cs typeface="Poppins" pitchFamily="34" charset="-120"/>
              </a:rPr>
              <a:t>1</a:t>
            </a:r>
            <a:endParaRPr lang="en-US" sz="1200" dirty="0"/>
          </a:p>
        </p:txBody>
      </p:sp>
      <p:sp>
        <p:nvSpPr>
          <p:cNvPr id="15" name="b2:rise"/>
          <p:cNvSpPr txBox="1"/>
          <p:nvPr/>
        </p:nvSpPr>
        <p:spPr>
          <a:xfrm>
            <a:off x="74295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oppins" pitchFamily="34" charset="0"/>
                <a:ea typeface="Poppins" pitchFamily="34" charset="-122"/>
                <a:cs typeface="Poppins" pitchFamily="34" charset="-120"/>
              </a:rPr>
              <a:t>No AI access</a:t>
            </a:r>
            <a:endParaRPr lang="en-US" sz="900" dirty="0"/>
          </a:p>
        </p:txBody>
      </p:sp>
      <p:sp>
        <p:nvSpPr>
          <p:cNvPr id="16" name="b2:rise"/>
          <p:cNvSpPr/>
          <p:nvPr/>
        </p:nvSpPr>
        <p:spPr>
          <a:xfrm>
            <a:off x="1847850" y="2933700"/>
            <a:ext cx="1143000" cy="1148581"/>
          </a:xfrm>
          <a:prstGeom prst="roundRect">
            <a:avLst>
              <a:gd name="adj" fmla="val 7500"/>
            </a:avLst>
          </a:prstGeom>
          <a:solidFill>
            <a:srgbClr val="EEF1F5"/>
          </a:solidFill>
          <a:ln/>
        </p:spPr>
      </p:sp>
      <p:sp>
        <p:nvSpPr>
          <p:cNvPr id="17" name="b2:rise"/>
          <p:cNvSpPr txBox="1"/>
          <p:nvPr/>
        </p:nvSpPr>
        <p:spPr>
          <a:xfrm>
            <a:off x="198120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oppins" pitchFamily="34" charset="0"/>
                <a:ea typeface="Poppins" pitchFamily="34" charset="-122"/>
                <a:cs typeface="Poppins" pitchFamily="34" charset="-120"/>
              </a:rPr>
              <a:t>2</a:t>
            </a:r>
            <a:endParaRPr lang="en-US" sz="1200" dirty="0"/>
          </a:p>
        </p:txBody>
      </p:sp>
      <p:sp>
        <p:nvSpPr>
          <p:cNvPr id="18" name="b2:rise"/>
          <p:cNvSpPr txBox="1"/>
          <p:nvPr/>
        </p:nvSpPr>
        <p:spPr>
          <a:xfrm>
            <a:off x="198120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oppins" pitchFamily="34" charset="0"/>
                <a:ea typeface="Poppins" pitchFamily="34" charset="-122"/>
                <a:cs typeface="Poppins" pitchFamily="34" charset="-120"/>
              </a:rPr>
              <a:t>GPT-4 access</a:t>
            </a:r>
            <a:endParaRPr lang="en-US" sz="900" dirty="0"/>
          </a:p>
        </p:txBody>
      </p:sp>
      <p:sp>
        <p:nvSpPr>
          <p:cNvPr id="19" name="b2:rise"/>
          <p:cNvSpPr/>
          <p:nvPr/>
        </p:nvSpPr>
        <p:spPr>
          <a:xfrm>
            <a:off x="3086100" y="2933700"/>
            <a:ext cx="1143000" cy="1148581"/>
          </a:xfrm>
          <a:prstGeom prst="roundRect">
            <a:avLst>
              <a:gd name="adj" fmla="val 7500"/>
            </a:avLst>
          </a:prstGeom>
          <a:solidFill>
            <a:srgbClr val="1B2A4A"/>
          </a:solidFill>
          <a:ln/>
        </p:spPr>
      </p:sp>
      <p:sp>
        <p:nvSpPr>
          <p:cNvPr id="20" name="b2:rise"/>
          <p:cNvSpPr txBox="1"/>
          <p:nvPr/>
        </p:nvSpPr>
        <p:spPr>
          <a:xfrm>
            <a:off x="32194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BFE6E0"/>
                </a:solidFill>
                <a:latin typeface="Poppins" pitchFamily="34" charset="0"/>
                <a:ea typeface="Poppins" pitchFamily="34" charset="-122"/>
                <a:cs typeface="Poppins" pitchFamily="34" charset="-120"/>
              </a:rPr>
              <a:t>3</a:t>
            </a:r>
            <a:endParaRPr lang="en-US" sz="1200" dirty="0"/>
          </a:p>
        </p:txBody>
      </p:sp>
      <p:sp>
        <p:nvSpPr>
          <p:cNvPr id="21" name="b2:rise"/>
          <p:cNvSpPr txBox="1"/>
          <p:nvPr/>
        </p:nvSpPr>
        <p:spPr>
          <a:xfrm>
            <a:off x="3219450" y="3308970"/>
            <a:ext cx="911352" cy="639961"/>
          </a:xfrm>
          <a:prstGeom prst="rect">
            <a:avLst/>
          </a:prstGeom>
          <a:noFill/>
          <a:ln/>
        </p:spPr>
        <p:txBody>
          <a:bodyPr wrap="square" lIns="0" tIns="0" rIns="0" bIns="0" rtlCol="0" anchor="t"/>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GPT-4 + prompt engineering guidance</a:t>
            </a:r>
            <a:endParaRPr lang="en-US" sz="900" dirty="0"/>
          </a:p>
        </p:txBody>
      </p:sp>
      <p:sp>
        <p:nvSpPr>
          <p:cNvPr id="22" name="b3:fade"/>
          <p:cNvSpPr/>
          <p:nvPr/>
        </p:nvSpPr>
        <p:spPr>
          <a:xfrm>
            <a:off x="4724400" y="1428750"/>
            <a:ext cx="809625" cy="236190"/>
          </a:xfrm>
          <a:prstGeom prst="roundRect">
            <a:avLst>
              <a:gd name="adj" fmla="val 50000"/>
            </a:avLst>
          </a:prstGeom>
          <a:solidFill>
            <a:srgbClr val="EEF1F5"/>
          </a:solidFill>
          <a:ln/>
        </p:spPr>
      </p:sp>
      <p:sp>
        <p:nvSpPr>
          <p:cNvPr id="23" name="b3:fade"/>
          <p:cNvSpPr txBox="1"/>
          <p:nvPr/>
        </p:nvSpPr>
        <p:spPr>
          <a:xfrm>
            <a:off x="4724400" y="1428750"/>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6B7280"/>
                </a:solidFill>
                <a:latin typeface="Poppins" pitchFamily="34" charset="0"/>
                <a:ea typeface="Poppins" pitchFamily="34" charset="-122"/>
                <a:cs typeface="Poppins" pitchFamily="34" charset="-120"/>
              </a:rPr>
              <a:t>CONCEPT</a:t>
            </a:r>
            <a:endParaRPr lang="en-US" sz="900" dirty="0"/>
          </a:p>
        </p:txBody>
      </p:sp>
      <p:sp>
        <p:nvSpPr>
          <p:cNvPr id="24" name="b3:fade"/>
          <p:cNvSpPr txBox="1"/>
          <p:nvPr/>
        </p:nvSpPr>
        <p:spPr>
          <a:xfrm>
            <a:off x="4724400" y="1741140"/>
            <a:ext cx="2773680" cy="388590"/>
          </a:xfrm>
          <a:prstGeom prst="rect">
            <a:avLst/>
          </a:prstGeom>
          <a:noFill/>
          <a:ln/>
        </p:spPr>
        <p:txBody>
          <a:bodyPr wrap="square" lIns="0" tIns="0" rIns="0" bIns="0" rtlCol="0" anchor="t"/>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The Jagged Technological Frontier</a:t>
            </a:r>
            <a:endParaRPr lang="en-US" sz="1275" dirty="0"/>
          </a:p>
        </p:txBody>
      </p:sp>
      <p:sp>
        <p:nvSpPr>
          <p:cNvPr id="25" name="b3:fade"/>
          <p:cNvSpPr txBox="1"/>
          <p:nvPr/>
        </p:nvSpPr>
        <p:spPr>
          <a:xfrm>
            <a:off x="4724400" y="2205930"/>
            <a:ext cx="2773680" cy="51993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AI performs some tasks well yet struggles with others that look equally difficult. The boundary is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uneven and hard to see</a:t>
            </a:r>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a:t>
            </a:r>
            <a:endParaRPr lang="en-US" sz="975" dirty="0"/>
          </a:p>
        </p:txBody>
      </p:sp>
      <p:pic>
        <p:nvPicPr>
          <p:cNvPr id="26" name="b3:pop (Robot mascot holding a magnifying glass)" descr="/home/user/slide-present-en/presentation/webdeck/art/robot-search.png">    </p:cNvPr>
          <p:cNvPicPr>
            <a:picLocks noChangeAspect="1"/>
          </p:cNvPicPr>
          <p:nvPr/>
        </p:nvPicPr>
        <p:blipFill>
          <a:blip r:embed="rId3"/>
          <a:stretch>
            <a:fillRect/>
          </a:stretch>
        </p:blipFill>
        <p:spPr>
          <a:xfrm>
            <a:off x="7486650" y="1428750"/>
            <a:ext cx="1047750" cy="904875"/>
          </a:xfrm>
          <a:prstGeom prst="rect">
            <a:avLst/>
          </a:prstGeom>
        </p:spPr>
      </p:pic>
      <p:sp>
        <p:nvSpPr>
          <p:cNvPr id="27" name="b4:rise"/>
          <p:cNvSpPr txBox="1"/>
          <p:nvPr/>
        </p:nvSpPr>
        <p:spPr>
          <a:xfrm>
            <a:off x="4724400" y="2743200"/>
            <a:ext cx="3810000" cy="159990"/>
          </a:xfrm>
          <a:prstGeom prst="rect">
            <a:avLst/>
          </a:prstGeom>
          <a:noFill/>
          <a:ln/>
        </p:spPr>
        <p:txBody>
          <a:bodyPr wrap="none" lIns="0" tIns="0" rIns="0" bIns="0" rtlCol="0" anchor="ctr"/>
          <a:lstStyle/>
          <a:p>
            <a:pPr algn="r" indent="0" marL="0">
              <a:lnSpc>
                <a:spcPts val="1260"/>
              </a:lnSpc>
              <a:buNone/>
            </a:pPr>
            <a:r>
              <a:rPr lang="en-US" sz="900" b="1" dirty="0">
                <a:solidFill>
                  <a:srgbClr val="6B7280"/>
                </a:solidFill>
                <a:latin typeface="Poppins" pitchFamily="34" charset="0"/>
                <a:ea typeface="Poppins" pitchFamily="34" charset="-122"/>
                <a:cs typeface="Poppins" pitchFamily="34" charset="-120"/>
              </a:rPr>
              <a:t>Outside the frontier: AI struggles</a:t>
            </a:r>
            <a:endParaRPr lang="en-US" sz="900" dirty="0"/>
          </a:p>
        </p:txBody>
      </p:sp>
      <p:sp>
        <p:nvSpPr>
          <p:cNvPr id="28" name="b4:rise"/>
          <p:cNvSpPr/>
          <p:nvPr/>
        </p:nvSpPr>
        <p:spPr>
          <a:xfrm>
            <a:off x="4724400" y="2941290"/>
            <a:ext cx="3810000" cy="933450"/>
          </a:xfrm>
          <a:prstGeom prst="roundRect">
            <a:avLst>
              <a:gd name="adj" fmla="val 9184"/>
            </a:avLst>
          </a:prstGeom>
          <a:ln w="6350">
            <a:solidFill>
              <a:srgbClr val="E3E8EE"/>
            </a:solidFill>
            <a:prstDash val="solid"/>
          </a:ln>
        </p:spPr>
      </p:sp>
      <p:pic>
        <p:nvPicPr>
          <p:cNvPr id="29" name="b4:rise (Jagged line dividing tasks AI does well from tasks it does not)" descr="/home/user/slide-present-en/presentation/webdeck/art/frontier.png">    </p:cNvPr>
          <p:cNvPicPr>
            <a:picLocks noChangeAspect="1"/>
          </p:cNvPicPr>
          <p:nvPr/>
        </p:nvPicPr>
        <p:blipFill>
          <a:blip r:embed="rId4"/>
          <a:stretch>
            <a:fillRect/>
          </a:stretch>
        </p:blipFill>
        <p:spPr>
          <a:xfrm>
            <a:off x="4724400" y="2941290"/>
            <a:ext cx="3810000" cy="933450"/>
          </a:xfrm>
          <a:prstGeom prst="rect">
            <a:avLst/>
          </a:prstGeom>
        </p:spPr>
      </p:pic>
      <p:sp>
        <p:nvSpPr>
          <p:cNvPr id="30" name="b4:rise"/>
          <p:cNvSpPr/>
          <p:nvPr/>
        </p:nvSpPr>
        <p:spPr>
          <a:xfrm>
            <a:off x="4724400" y="2941290"/>
            <a:ext cx="3810000" cy="933450"/>
          </a:xfrm>
          <a:prstGeom prst="roundRect">
            <a:avLst>
              <a:gd name="adj" fmla="val 9184"/>
            </a:avLst>
          </a:prstGeom>
          <a:ln w="6350">
            <a:solidFill>
              <a:srgbClr val="E3E8EE"/>
            </a:solidFill>
            <a:prstDash val="solid"/>
          </a:ln>
        </p:spPr>
      </p:sp>
      <p:sp>
        <p:nvSpPr>
          <p:cNvPr id="31" name="b4:rise"/>
          <p:cNvSpPr txBox="1"/>
          <p:nvPr/>
        </p:nvSpPr>
        <p:spPr>
          <a:xfrm>
            <a:off x="4724400" y="3912840"/>
            <a:ext cx="3810000" cy="159990"/>
          </a:xfrm>
          <a:prstGeom prst="rect">
            <a:avLst/>
          </a:prstGeom>
          <a:noFill/>
          <a:ln/>
        </p:spPr>
        <p:txBody>
          <a:bodyPr wrap="none" lIns="0" tIns="0" rIns="0" bIns="0" rtlCol="0" anchor="ctr"/>
          <a:lstStyle/>
          <a:p>
            <a:pPr algn="l" indent="0" marL="0">
              <a:lnSpc>
                <a:spcPts val="1260"/>
              </a:lnSpc>
              <a:buNone/>
            </a:pPr>
            <a:r>
              <a:rPr lang="en-US" sz="900" b="1" dirty="0">
                <a:solidFill>
                  <a:srgbClr val="2E8B86"/>
                </a:solidFill>
                <a:latin typeface="Poppins" pitchFamily="34" charset="0"/>
                <a:ea typeface="Poppins" pitchFamily="34" charset="-122"/>
                <a:cs typeface="Poppins" pitchFamily="34" charset="-120"/>
              </a:rPr>
              <a:t>Inside the frontier: AI performs well</a:t>
            </a:r>
            <a:endParaRPr lang="en-US" sz="900" dirty="0"/>
          </a:p>
        </p:txBody>
      </p:sp>
      <p:sp>
        <p:nvSpPr>
          <p:cNvPr id="32" name="b4:rise"/>
          <p:cNvSpPr txBox="1"/>
          <p:nvPr/>
        </p:nvSpPr>
        <p:spPr>
          <a:xfrm>
            <a:off x="4724400" y="4110930"/>
            <a:ext cx="3962400" cy="308521"/>
          </a:xfrm>
          <a:prstGeom prst="rect">
            <a:avLst/>
          </a:prstGeom>
          <a:noFill/>
          <a:ln/>
        </p:spPr>
        <p:txBody>
          <a:bodyPr wrap="square" lIns="0" tIns="0" rIns="0" bIns="0" rtlCol="0" anchor="t"/>
          <a:lstStyle/>
          <a:p>
            <a:pPr algn="l" indent="0" marL="0">
              <a:lnSpc>
                <a:spcPts val="1215"/>
              </a:lnSpc>
              <a:buNone/>
            </a:pPr>
            <a:r>
              <a:rPr lang="en-US" sz="900" dirty="0">
                <a:solidFill>
                  <a:srgbClr val="6B7280"/>
                </a:solidFill>
                <a:latin typeface="Poppins" pitchFamily="34" charset="0"/>
                <a:ea typeface="Poppins" pitchFamily="34" charset="-122"/>
                <a:cs typeface="Poppins" pitchFamily="34" charset="-120"/>
              </a:rPr>
              <a:t>How to read it: each dot is a task of similar apparent difficulty. Below the line (shaded) AI performs well; above it AI struggles.</a:t>
            </a:r>
            <a:endParaRPr lang="en-US" sz="900" dirty="0"/>
          </a:p>
        </p:txBody>
      </p:sp>
      <p:sp>
        <p:nvSpPr>
          <p:cNvPr id="33"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Harvard Business School Working Paper 24-013.</a:t>
            </a:r>
            <a:endParaRPr lang="en-US" sz="900" dirty="0"/>
          </a:p>
        </p:txBody>
      </p:sp>
      <p:sp>
        <p:nvSpPr>
          <p:cNvPr id="34" name="b5:fade"/>
          <p:cNvSpPr txBox="1"/>
          <p:nvPr/>
        </p:nvSpPr>
        <p:spPr>
          <a:xfrm>
            <a:off x="3360167" y="4613597"/>
            <a:ext cx="3620095" cy="171971"/>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What happened when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758 consultants</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used GPT-4? →</a:t>
            </a:r>
            <a:endParaRPr lang="en-US" sz="900" dirty="0"/>
          </a:p>
        </p:txBody>
      </p:sp>
      <p:sp>
        <p:nvSpPr>
          <p:cNvPr id="35" name="!!key1-en-1"/>
          <p:cNvSpPr/>
          <p:nvPr/>
        </p:nvSpPr>
        <p:spPr>
          <a:xfrm>
            <a:off x="7048500" y="342900"/>
            <a:ext cx="1485900" cy="255240"/>
          </a:xfrm>
          <a:prstGeom prst="roundRect">
            <a:avLst>
              <a:gd name="adj" fmla="val 50000"/>
            </a:avLst>
          </a:prstGeom>
          <a:solidFill>
            <a:srgbClr val="2E8B86"/>
          </a:solidFill>
          <a:ln/>
        </p:spPr>
      </p:sp>
      <p:sp>
        <p:nvSpPr>
          <p:cNvPr id="36" name="!!key1-en-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Field experiment 1: BCG</a:t>
            </a:r>
            <a:endParaRPr lang="en-US" sz="900" dirty="0"/>
          </a:p>
        </p:txBody>
      </p:sp>
      <p:sp>
        <p:nvSpPr>
          <p:cNvPr id="37" name="!!key2-en-1"/>
          <p:cNvSpPr/>
          <p:nvPr/>
        </p:nvSpPr>
        <p:spPr>
          <a:xfrm>
            <a:off x="7048500" y="4572000"/>
            <a:ext cx="1485900" cy="255240"/>
          </a:xfrm>
          <a:prstGeom prst="roundRect">
            <a:avLst>
              <a:gd name="adj" fmla="val 50000"/>
            </a:avLst>
          </a:prstGeom>
          <a:solidFill>
            <a:srgbClr val="2E8B86"/>
          </a:solidFill>
          <a:ln/>
        </p:spPr>
      </p:sp>
      <p:sp>
        <p:nvSpPr>
          <p:cNvPr id="38" name="!!key2-en-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The jagged frontier</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5" fill="hold">
                      <p:stCondLst>
                        <p:cond delay="indefinite"/>
                      </p:stCondLst>
                      <p:childTnLst>
                        <p:par>
                          <p:cTn id="3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700"/>
                                        <p:tgtEl>
                                          <p:spTgt spid="12"/>
                                        </p:tgtEl>
                                      </p:cBhvr>
                                    </p:animEffect>
                                    <p:anim calcmode="lin" valueType="num">
                                      <p:cBhvr additive="base">
                                        <p:cTn id="40" dur="700" fill="hold"/>
                                        <p:tgtEl>
                                          <p:spTgt spid="12"/>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700"/>
                                        <p:tgtEl>
                                          <p:spTgt spid="13"/>
                                        </p:tgtEl>
                                      </p:cBhvr>
                                    </p:animEffect>
                                    <p:anim calcmode="lin" valueType="num">
                                      <p:cBhvr additive="base">
                                        <p:cTn id="44" dur="700" fill="hold"/>
                                        <p:tgtEl>
                                          <p:spTgt spid="13"/>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700"/>
                                        <p:tgtEl>
                                          <p:spTgt spid="14"/>
                                        </p:tgtEl>
                                      </p:cBhvr>
                                    </p:animEffect>
                                    <p:anim calcmode="lin" valueType="num">
                                      <p:cBhvr additive="base">
                                        <p:cTn id="48" dur="700" fill="hold"/>
                                        <p:tgtEl>
                                          <p:spTgt spid="14"/>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700"/>
                                        <p:tgtEl>
                                          <p:spTgt spid="19"/>
                                        </p:tgtEl>
                                      </p:cBhvr>
                                    </p:animEffect>
                                    <p:anim calcmode="lin" valueType="num">
                                      <p:cBhvr additive="base">
                                        <p:cTn id="68" dur="700" fill="hold"/>
                                        <p:tgtEl>
                                          <p:spTgt spid="19"/>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700"/>
                                        <p:tgtEl>
                                          <p:spTgt spid="20"/>
                                        </p:tgtEl>
                                      </p:cBhvr>
                                    </p:animEffect>
                                    <p:anim calcmode="lin" valueType="num">
                                      <p:cBhvr additive="base">
                                        <p:cTn id="72" dur="700" fill="hold"/>
                                        <p:tgtEl>
                                          <p:spTgt spid="20"/>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additive="base">
                                        <p:cTn id="7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500"/>
                                        <p:tgtEl>
                                          <p:spTgt spid="26"/>
                                        </p:tgtEl>
                                      </p:cBhvr>
                                    </p:animEffect>
                                  </p:childTnLst>
                                </p:cTn>
                              </p:par>
                            </p:childTnLst>
                          </p:cTn>
                        </p:par>
                      </p:childTnLst>
                    </p:cTn>
                  </p:par>
                  <p:par>
                    <p:cTn id="120" fill="hold">
                      <p:stCondLst>
                        <p:cond delay="indefinite"/>
                      </p:stCondLst>
                      <p:childTnLst>
                        <p:par>
                          <p:cTn id="121"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8"/>
                                          </p:val>
                                        </p:tav>
                                        <p:tav tm="100000">
                                          <p:val>
                                            <p:strVal val="#ppt_y"/>
                                          </p:val>
                                        </p:tav>
                                      </p:tavLst>
                                    </p:anim>
                                  </p:childTnLst>
                                </p:cTn>
                              </p:par>
                              <p:par>
                                <p:cTn id="100" presetID="42" presetClass="entr" presetSubtype="0" fill="hold" grpId="0" nodeType="withEffect">
                                  <p:stCondLst>
                                    <p:cond delay="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8"/>
                                          </p:val>
                                        </p:tav>
                                        <p:tav tm="100000">
                                          <p:val>
                                            <p:strVal val="#ppt_y"/>
                                          </p:val>
                                        </p:tav>
                                      </p:tavLst>
                                    </p:anim>
                                  </p:childTnLst>
                                </p:cTn>
                              </p:par>
                              <p:par>
                                <p:cTn id="108" presetID="42" presetClass="entr" presetSubtype="0" fill="hold" grpId="0" nodeType="withEffect">
                                  <p:stCondLst>
                                    <p:cond delay="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8"/>
                                          </p:val>
                                        </p:tav>
                                        <p:tav tm="100000">
                                          <p:val>
                                            <p:strVal val="#ppt_y"/>
                                          </p:val>
                                        </p:tav>
                                      </p:tavLst>
                                    </p:anim>
                                  </p:childTnLst>
                                </p:cTn>
                              </p:par>
                              <p:par>
                                <p:cTn id="112" presetID="42" presetClass="entr" presetSubtype="0" fill="hold" grpId="0" nodeType="with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childTnLst>
                          </p:cTn>
                        </p:par>
                      </p:childTnLst>
                    </p:cTn>
                  </p:par>
                  <p:par>
                    <p:cTn id="135" fill="hold">
                      <p:stCondLst>
                        <p:cond delay="indefinite"/>
                      </p:stCondLst>
                      <p:childTnLst>
                        <p:par>
                          <p:cTn id="136" fill="hold">
                            <p:stCondLst>
                              <p:cond delay="0"/>
                            </p:stCondLst>
                            <p:childTnLst>
                              <p:par>
                                <p:cTn id="127" presetID="23" presetClass="entr" presetSubtype="16" fill="hold" grpId="0" nodeType="clickEffect">
                                  <p:stCondLst>
                                    <p:cond delay="0"/>
                                  </p:stCondLst>
                                  <p:childTnLst>
                                    <p:set>
                                      <p:cBhvr>
                                        <p:cTn id="128" dur="1" fill="hold">
                                          <p:stCondLst>
                                            <p:cond delay="0"/>
                                          </p:stCondLst>
                                        </p:cTn>
                                        <p:tgtEl>
                                          <p:spTgt spid="37"/>
                                        </p:tgtEl>
                                        <p:attrNameLst>
                                          <p:attrName>style.visibility</p:attrName>
                                        </p:attrNameLst>
                                      </p:cBhvr>
                                      <p:to>
                                        <p:strVal val="visible"/>
                                      </p:to>
                                    </p:set>
                                    <p:animScale>
                                      <p:cBhvr>
                                        <p:cTn id="129" dur="500" fill="hold"/>
                                        <p:tgtEl>
                                          <p:spTgt spid="37"/>
                                        </p:tgtEl>
                                      </p:cBhvr>
                                      <p:from x="0" y="0"/>
                                      <p:to x="100000" y="100000"/>
                                    </p:animScale>
                                    <p:animEffect transition="in" filter="fade">
                                      <p:cBhvr>
                                        <p:cTn id="130" dur="500"/>
                                        <p:tgtEl>
                                          <p:spTgt spid="37"/>
                                        </p:tgtEl>
                                      </p:cBhvr>
                                    </p:animEffect>
                                  </p:childTnLst>
                                </p:cTn>
                              </p:par>
                              <p:par>
                                <p:cTn id="131" presetID="23" presetClass="entr" presetSubtype="16" fill="hold" grpId="0" nodeType="withEffect">
                                  <p:stCondLst>
                                    <p:cond delay="0"/>
                                  </p:stCondLst>
                                  <p:childTnLst>
                                    <p:set>
                                      <p:cBhvr>
                                        <p:cTn id="132" dur="1" fill="hold">
                                          <p:stCondLst>
                                            <p:cond delay="0"/>
                                          </p:stCondLst>
                                        </p:cTn>
                                        <p:tgtEl>
                                          <p:spTgt spid="38"/>
                                        </p:tgtEl>
                                        <p:attrNameLst>
                                          <p:attrName>style.visibility</p:attrName>
                                        </p:attrNameLst>
                                      </p:cBhvr>
                                      <p:to>
                                        <p:strVal val="visible"/>
                                      </p:to>
                                    </p:set>
                                    <p:animScale>
                                      <p:cBhvr>
                                        <p:cTn id="133" dur="500" fill="hold"/>
                                        <p:tgtEl>
                                          <p:spTgt spid="38"/>
                                        </p:tgtEl>
                                      </p:cBhvr>
                                      <p:from x="0" y="0"/>
                                      <p:to x="100000" y="100000"/>
                                    </p:animScale>
                                    <p:animEffect transition="in" filter="fade">
                                      <p:cBhvr>
                                        <p:cTn id="134"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30" grpId="0" animBg="1"/>
      <p:bldP spid="31" grpId="0" animBg="1"/>
      <p:bldP spid="32" grpId="0" animBg="1"/>
      <p:bldP spid="34" grpId="0" animBg="1"/>
      <p:bldP spid="37" grpId="0" animBg="1"/>
      <p:bldP spid="3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2 · KEY FINDINGS</a:t>
            </a:r>
            <a:endParaRPr lang="en-US" sz="900" dirty="0"/>
          </a:p>
        </p:txBody>
      </p:sp>
      <p:sp>
        <p:nvSpPr>
          <p:cNvPr id="3" name="static"/>
          <p:cNvSpPr txBox="1"/>
          <p:nvPr/>
        </p:nvSpPr>
        <p:spPr>
          <a:xfrm>
            <a:off x="609600" y="617190"/>
            <a:ext cx="7924800" cy="392385"/>
          </a:xfrm>
          <a:prstGeom prst="rect">
            <a:avLst/>
          </a:prstGeom>
          <a:noFill/>
          <a:ln/>
        </p:spPr>
        <p:txBody>
          <a:bodyPr wrap="non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AI Can Improve Productivity, but Has Limits</a:t>
            </a:r>
            <a:endParaRPr lang="en-US" sz="2400" dirty="0"/>
          </a:p>
        </p:txBody>
      </p:sp>
      <p:sp>
        <p:nvSpPr>
          <p:cNvPr id="4" name="b1:fade"/>
          <p:cNvSpPr/>
          <p:nvPr/>
        </p:nvSpPr>
        <p:spPr>
          <a:xfrm>
            <a:off x="609600" y="1381125"/>
            <a:ext cx="809625" cy="236190"/>
          </a:xfrm>
          <a:prstGeom prst="roundRect">
            <a:avLst>
              <a:gd name="adj" fmla="val 50000"/>
            </a:avLst>
          </a:prstGeom>
          <a:solidFill>
            <a:srgbClr val="BFE6E0"/>
          </a:solidFill>
          <a:ln/>
        </p:spPr>
      </p:sp>
      <p:sp>
        <p:nvSpPr>
          <p:cNvPr id="5" name="b1:fade"/>
          <p:cNvSpPr txBox="1"/>
          <p:nvPr/>
        </p:nvSpPr>
        <p:spPr>
          <a:xfrm>
            <a:off x="609600" y="1381125"/>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6" name="b1:fade"/>
          <p:cNvSpPr txBox="1"/>
          <p:nvPr/>
        </p:nvSpPr>
        <p:spPr>
          <a:xfrm>
            <a:off x="609600" y="1683990"/>
            <a:ext cx="4191000" cy="159990"/>
          </a:xfrm>
          <a:prstGeom prst="rect">
            <a:avLst/>
          </a:prstGeom>
          <a:noFill/>
          <a:ln/>
        </p:spPr>
        <p:txBody>
          <a:bodyPr wrap="none" lIns="0" tIns="0" rIns="0" bIns="0" rtlCol="0" anchor="ctr"/>
          <a:lstStyle/>
          <a:p>
            <a:pPr algn="l" indent="0" marL="0">
              <a:lnSpc>
                <a:spcPts val="1260"/>
              </a:lnSpc>
              <a:buNone/>
            </a:pPr>
            <a:r>
              <a:rPr lang="en-US" sz="1050" b="1" dirty="0">
                <a:solidFill>
                  <a:srgbClr val="4A5568"/>
                </a:solidFill>
                <a:latin typeface="Poppins" pitchFamily="34" charset="0"/>
                <a:ea typeface="Poppins" pitchFamily="34" charset="-122"/>
                <a:cs typeface="Poppins" pitchFamily="34" charset="-120"/>
              </a:rPr>
              <a:t>Change for consultants using AI, tasks </a:t>
            </a:r>
            <a:pPr algn="l" indent="0" marL="0">
              <a:lnSpc>
                <a:spcPts val="1260"/>
              </a:lnSpc>
              <a:buNone/>
            </a:pPr>
            <a:r>
              <a:rPr lang="en-US" sz="1050" b="1" dirty="0">
                <a:solidFill>
                  <a:srgbClr val="2E8B86"/>
                </a:solidFill>
                <a:latin typeface="Poppins" pitchFamily="34" charset="0"/>
                <a:ea typeface="Poppins" pitchFamily="34" charset="-122"/>
                <a:cs typeface="Poppins" pitchFamily="34" charset="-120"/>
              </a:rPr>
              <a:t>inside the frontier</a:t>
            </a:r>
            <a:endParaRPr lang="en-US" sz="1050" dirty="0"/>
          </a:p>
        </p:txBody>
      </p:sp>
      <p:sp>
        <p:nvSpPr>
          <p:cNvPr id="7" name="b2:left"/>
          <p:cNvSpPr txBox="1"/>
          <p:nvPr/>
        </p:nvSpPr>
        <p:spPr>
          <a:xfrm>
            <a:off x="609600" y="19202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Tasks completed</a:t>
            </a:r>
            <a:endParaRPr lang="en-US" sz="900" dirty="0"/>
          </a:p>
        </p:txBody>
      </p:sp>
      <p:sp>
        <p:nvSpPr>
          <p:cNvPr id="8" name="b2:left"/>
          <p:cNvSpPr/>
          <p:nvPr/>
        </p:nvSpPr>
        <p:spPr>
          <a:xfrm>
            <a:off x="1685925" y="1905000"/>
            <a:ext cx="695325" cy="190500"/>
          </a:xfrm>
          <a:prstGeom prst="roundRect">
            <a:avLst>
              <a:gd name="adj" fmla="val 15000"/>
            </a:avLst>
          </a:prstGeom>
          <a:solidFill>
            <a:srgbClr val="2E8B86"/>
          </a:solidFill>
          <a:ln/>
        </p:spPr>
      </p:sp>
      <p:sp>
        <p:nvSpPr>
          <p:cNvPr id="9" name="b2:left"/>
          <p:cNvSpPr txBox="1"/>
          <p:nvPr/>
        </p:nvSpPr>
        <p:spPr>
          <a:xfrm>
            <a:off x="2457450" y="1920255"/>
            <a:ext cx="374154"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+12.2%</a:t>
            </a:r>
            <a:endParaRPr lang="en-US" sz="900" dirty="0"/>
          </a:p>
        </p:txBody>
      </p:sp>
      <p:sp>
        <p:nvSpPr>
          <p:cNvPr id="10" name="b3:left"/>
          <p:cNvSpPr txBox="1"/>
          <p:nvPr/>
        </p:nvSpPr>
        <p:spPr>
          <a:xfrm>
            <a:off x="609600" y="219648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Task speed</a:t>
            </a:r>
            <a:endParaRPr lang="en-US" sz="900" dirty="0"/>
          </a:p>
        </p:txBody>
      </p:sp>
      <p:sp>
        <p:nvSpPr>
          <p:cNvPr id="11" name="b3:left"/>
          <p:cNvSpPr/>
          <p:nvPr/>
        </p:nvSpPr>
        <p:spPr>
          <a:xfrm>
            <a:off x="1685925" y="2181225"/>
            <a:ext cx="1433513" cy="190500"/>
          </a:xfrm>
          <a:prstGeom prst="roundRect">
            <a:avLst>
              <a:gd name="adj" fmla="val 15000"/>
            </a:avLst>
          </a:prstGeom>
          <a:solidFill>
            <a:srgbClr val="2E8B86"/>
          </a:solidFill>
          <a:ln/>
        </p:spPr>
      </p:sp>
      <p:sp>
        <p:nvSpPr>
          <p:cNvPr id="12" name="b3:left"/>
          <p:cNvSpPr txBox="1"/>
          <p:nvPr/>
        </p:nvSpPr>
        <p:spPr>
          <a:xfrm>
            <a:off x="3195638" y="2196480"/>
            <a:ext cx="382116"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+25.1%</a:t>
            </a:r>
            <a:endParaRPr lang="en-US" sz="900" dirty="0"/>
          </a:p>
        </p:txBody>
      </p:sp>
      <p:sp>
        <p:nvSpPr>
          <p:cNvPr id="13" name="b4:left"/>
          <p:cNvSpPr txBox="1"/>
          <p:nvPr/>
        </p:nvSpPr>
        <p:spPr>
          <a:xfrm>
            <a:off x="609600" y="247270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Quality</a:t>
            </a:r>
            <a:endParaRPr lang="en-US" sz="900" dirty="0"/>
          </a:p>
        </p:txBody>
      </p:sp>
      <p:sp>
        <p:nvSpPr>
          <p:cNvPr id="14" name="b4:left"/>
          <p:cNvSpPr/>
          <p:nvPr/>
        </p:nvSpPr>
        <p:spPr>
          <a:xfrm>
            <a:off x="1685925" y="2457450"/>
            <a:ext cx="2286000" cy="190500"/>
          </a:xfrm>
          <a:prstGeom prst="roundRect">
            <a:avLst>
              <a:gd name="adj" fmla="val 15000"/>
            </a:avLst>
          </a:prstGeom>
          <a:solidFill>
            <a:srgbClr val="2E8B86"/>
          </a:solidFill>
          <a:ln/>
        </p:spPr>
      </p:sp>
      <p:sp>
        <p:nvSpPr>
          <p:cNvPr id="15" name="b4:left"/>
          <p:cNvSpPr txBox="1"/>
          <p:nvPr/>
        </p:nvSpPr>
        <p:spPr>
          <a:xfrm>
            <a:off x="4048125" y="2472705"/>
            <a:ext cx="958007"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more than +40%</a:t>
            </a:r>
            <a:endParaRPr lang="en-US" sz="900" dirty="0"/>
          </a:p>
        </p:txBody>
      </p:sp>
      <p:sp>
        <p:nvSpPr>
          <p:cNvPr id="16" name="b5:left"/>
          <p:cNvSpPr txBox="1"/>
          <p:nvPr/>
        </p:nvSpPr>
        <p:spPr>
          <a:xfrm>
            <a:off x="609600" y="274893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Below-average</a:t>
            </a:r>
            <a:endParaRPr lang="en-US" sz="900" dirty="0"/>
          </a:p>
        </p:txBody>
      </p:sp>
      <p:sp>
        <p:nvSpPr>
          <p:cNvPr id="17" name="b5:left"/>
          <p:cNvSpPr/>
          <p:nvPr/>
        </p:nvSpPr>
        <p:spPr>
          <a:xfrm>
            <a:off x="1685925" y="2733675"/>
            <a:ext cx="2457450" cy="190500"/>
          </a:xfrm>
          <a:prstGeom prst="roundRect">
            <a:avLst>
              <a:gd name="adj" fmla="val 15000"/>
            </a:avLst>
          </a:prstGeom>
          <a:solidFill>
            <a:srgbClr val="1B2A4A"/>
          </a:solidFill>
          <a:ln/>
        </p:spPr>
      </p:sp>
      <p:sp>
        <p:nvSpPr>
          <p:cNvPr id="18" name="b5:left"/>
          <p:cNvSpPr txBox="1"/>
          <p:nvPr/>
        </p:nvSpPr>
        <p:spPr>
          <a:xfrm>
            <a:off x="4219575" y="2748930"/>
            <a:ext cx="315813"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+43%</a:t>
            </a:r>
            <a:endParaRPr lang="en-US" sz="900" dirty="0"/>
          </a:p>
        </p:txBody>
      </p:sp>
      <p:sp>
        <p:nvSpPr>
          <p:cNvPr id="19" name="b6:left"/>
          <p:cNvSpPr txBox="1"/>
          <p:nvPr/>
        </p:nvSpPr>
        <p:spPr>
          <a:xfrm>
            <a:off x="609600" y="30251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Above-average</a:t>
            </a:r>
            <a:endParaRPr lang="en-US" sz="900" dirty="0"/>
          </a:p>
        </p:txBody>
      </p:sp>
      <p:sp>
        <p:nvSpPr>
          <p:cNvPr id="20" name="b6:left"/>
          <p:cNvSpPr/>
          <p:nvPr/>
        </p:nvSpPr>
        <p:spPr>
          <a:xfrm>
            <a:off x="1685925" y="3009900"/>
            <a:ext cx="971550" cy="190500"/>
          </a:xfrm>
          <a:prstGeom prst="roundRect">
            <a:avLst>
              <a:gd name="adj" fmla="val 15000"/>
            </a:avLst>
          </a:prstGeom>
          <a:solidFill>
            <a:srgbClr val="1B2A4A"/>
          </a:solidFill>
          <a:ln/>
        </p:spPr>
      </p:sp>
      <p:sp>
        <p:nvSpPr>
          <p:cNvPr id="21" name="b6:left"/>
          <p:cNvSpPr txBox="1"/>
          <p:nvPr/>
        </p:nvSpPr>
        <p:spPr>
          <a:xfrm>
            <a:off x="2733675" y="3025155"/>
            <a:ext cx="275853"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+17%</a:t>
            </a:r>
            <a:endParaRPr lang="en-US" sz="900" dirty="0"/>
          </a:p>
        </p:txBody>
      </p:sp>
      <p:sp>
        <p:nvSpPr>
          <p:cNvPr id="22" name="b6:fade"/>
          <p:cNvSpPr txBox="1"/>
          <p:nvPr/>
        </p:nvSpPr>
        <p:spPr>
          <a:xfrm>
            <a:off x="609600" y="3333750"/>
            <a:ext cx="4259580" cy="462781"/>
          </a:xfrm>
          <a:prstGeom prst="rect">
            <a:avLst/>
          </a:prstGeom>
          <a:noFill/>
          <a:ln/>
        </p:spPr>
        <p:txBody>
          <a:bodyPr wrap="square" lIns="0" tIns="0" rIns="0" bIns="0" rtlCol="0" anchor="t"/>
          <a:lstStyle/>
          <a:p>
            <a:pPr algn="l" indent="0" marL="0">
              <a:lnSpc>
                <a:spcPts val="1215"/>
              </a:lnSpc>
              <a:buNone/>
            </a:pPr>
            <a:r>
              <a:rPr lang="en-US" sz="900" dirty="0">
                <a:solidFill>
                  <a:srgbClr val="9AA5B4"/>
                </a:solidFill>
                <a:latin typeface="Poppins" pitchFamily="34" charset="0"/>
                <a:ea typeface="Poppins" pitchFamily="34" charset="-122"/>
                <a:cs typeface="Poppins" pitchFamily="34" charset="-120"/>
              </a:rPr>
              <a:t>Quality is reported as "more than 40%" vs. the control group. Below-/above-average are performer groups, each improving against its own baseline score.</a:t>
            </a:r>
            <a:endParaRPr lang="en-US" sz="900" dirty="0"/>
          </a:p>
        </p:txBody>
      </p:sp>
      <p:sp>
        <p:nvSpPr>
          <p:cNvPr id="23" name="b7:pop"/>
          <p:cNvSpPr/>
          <p:nvPr/>
        </p:nvSpPr>
        <p:spPr>
          <a:xfrm>
            <a:off x="5200650" y="1381125"/>
            <a:ext cx="3333750" cy="1861021"/>
          </a:xfrm>
          <a:prstGeom prst="roundRect">
            <a:avLst>
              <a:gd name="adj" fmla="val 6142"/>
            </a:avLst>
          </a:prstGeom>
          <a:solidFill>
            <a:srgbClr val="1B2A4A"/>
          </a:solidFill>
          <a:ln/>
        </p:spPr>
      </p:sp>
      <p:sp>
        <p:nvSpPr>
          <p:cNvPr id="24" name="b7:pop"/>
          <p:cNvSpPr txBox="1"/>
          <p:nvPr/>
        </p:nvSpPr>
        <p:spPr>
          <a:xfrm>
            <a:off x="5410200" y="1571625"/>
            <a:ext cx="291465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OUTSIDE THE FRONTIER</a:t>
            </a:r>
            <a:endParaRPr lang="en-US" sz="900" dirty="0"/>
          </a:p>
        </p:txBody>
      </p:sp>
      <p:sp>
        <p:nvSpPr>
          <p:cNvPr id="25" name="b7:pop"/>
          <p:cNvSpPr txBox="1"/>
          <p:nvPr/>
        </p:nvSpPr>
        <p:spPr>
          <a:xfrm>
            <a:off x="5410200" y="1760190"/>
            <a:ext cx="2914650" cy="523875"/>
          </a:xfrm>
          <a:prstGeom prst="rect">
            <a:avLst/>
          </a:prstGeom>
          <a:noFill/>
          <a:ln/>
        </p:spPr>
        <p:txBody>
          <a:bodyPr wrap="none" lIns="0" tIns="0" rIns="0" bIns="0" rtlCol="0" anchor="ctr"/>
          <a:lstStyle/>
          <a:p>
            <a:pPr algn="l" indent="0" marL="0">
              <a:lnSpc>
                <a:spcPts val="4125"/>
              </a:lnSpc>
              <a:buNone/>
            </a:pPr>
            <a:r>
              <a:rPr lang="en-US" sz="4125" b="1" dirty="0">
                <a:solidFill>
                  <a:srgbClr val="F7F9FB"/>
                </a:solidFill>
                <a:latin typeface="Poppins" pitchFamily="34" charset="0"/>
                <a:ea typeface="Poppins" pitchFamily="34" charset="-122"/>
                <a:cs typeface="Poppins" pitchFamily="34" charset="-120"/>
              </a:rPr>
              <a:t>−19</a:t>
            </a:r>
            <a:endParaRPr lang="en-US" sz="4125" dirty="0"/>
          </a:p>
        </p:txBody>
      </p:sp>
      <p:sp>
        <p:nvSpPr>
          <p:cNvPr id="26" name="b7:pop"/>
          <p:cNvSpPr txBox="1"/>
          <p:nvPr/>
        </p:nvSpPr>
        <p:spPr>
          <a:xfrm>
            <a:off x="5410200" y="2312640"/>
            <a:ext cx="2914650" cy="173310"/>
          </a:xfrm>
          <a:prstGeom prst="rect">
            <a:avLst/>
          </a:prstGeom>
          <a:noFill/>
          <a:ln/>
        </p:spPr>
        <p:txBody>
          <a:bodyPr wrap="none" lIns="0" tIns="0" rIns="0" bIns="0" rtlCol="0" anchor="ctr"/>
          <a:lstStyle/>
          <a:p>
            <a:pPr algn="l" indent="0" marL="0">
              <a:lnSpc>
                <a:spcPts val="1365"/>
              </a:lnSpc>
              <a:buNone/>
            </a:pPr>
            <a:r>
              <a:rPr lang="en-US" sz="975" dirty="0">
                <a:solidFill>
                  <a:srgbClr val="BFE6E0"/>
                </a:solidFill>
                <a:latin typeface="Poppins" pitchFamily="34" charset="0"/>
                <a:ea typeface="Poppins" pitchFamily="34" charset="-122"/>
                <a:cs typeface="Poppins" pitchFamily="34" charset="-120"/>
              </a:rPr>
              <a:t>percentage points</a:t>
            </a:r>
            <a:endParaRPr lang="en-US" sz="975" dirty="0"/>
          </a:p>
        </p:txBody>
      </p:sp>
      <p:sp>
        <p:nvSpPr>
          <p:cNvPr id="27" name="b7:pop"/>
          <p:cNvSpPr txBox="1"/>
          <p:nvPr/>
        </p:nvSpPr>
        <p:spPr>
          <a:xfrm>
            <a:off x="5410200" y="2514526"/>
            <a:ext cx="2971800" cy="537121"/>
          </a:xfrm>
          <a:prstGeom prst="rect">
            <a:avLst/>
          </a:prstGeom>
          <a:noFill/>
          <a:ln/>
        </p:spPr>
        <p:txBody>
          <a:bodyPr wrap="square" lIns="0" tIns="57150" rIns="0" bIns="0" rtlCol="0" anchor="t"/>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AI users were </a:t>
            </a:r>
            <a:pPr algn="l" indent="0" marL="0">
              <a:lnSpc>
                <a:spcPts val="1260"/>
              </a:lnSpc>
              <a:buNone/>
            </a:pPr>
            <a:r>
              <a:rPr lang="en-US" sz="900" b="1" dirty="0">
                <a:solidFill>
                  <a:srgbClr val="BFE6E0"/>
                </a:solidFill>
                <a:latin typeface="Poppins" pitchFamily="34" charset="0"/>
                <a:ea typeface="Poppins" pitchFamily="34" charset="-122"/>
                <a:cs typeface="Poppins" pitchFamily="34" charset="-120"/>
              </a:rPr>
              <a:t>19 percentage points</a:t>
            </a:r>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 less likely to produce correct solutions than consultants without AI.</a:t>
            </a:r>
            <a:endParaRPr lang="en-US" sz="900" dirty="0"/>
          </a:p>
        </p:txBody>
      </p:sp>
      <p:pic>
        <p:nvPicPr>
          <p:cNvPr id="28" name="b7:pop (Confused robot mascot)" descr="/home/user/slide-present-en/presentation/webdeck/art/robot-confused-dark.png">    </p:cNvPr>
          <p:cNvPicPr>
            <a:picLocks noChangeAspect="1"/>
          </p:cNvPicPr>
          <p:nvPr/>
        </p:nvPicPr>
        <p:blipFill>
          <a:blip r:embed="rId1"/>
          <a:stretch>
            <a:fillRect/>
          </a:stretch>
        </p:blipFill>
        <p:spPr>
          <a:xfrm>
            <a:off x="7448550" y="1495425"/>
            <a:ext cx="952500" cy="819150"/>
          </a:xfrm>
          <a:prstGeom prst="rect">
            <a:avLst/>
          </a:prstGeom>
        </p:spPr>
      </p:pic>
      <p:sp>
        <p:nvSpPr>
          <p:cNvPr id="29" name="b8:fade"/>
          <p:cNvSpPr txBox="1"/>
          <p:nvPr/>
        </p:nvSpPr>
        <p:spPr>
          <a:xfrm>
            <a:off x="5200650" y="3333750"/>
            <a:ext cx="3467100" cy="308521"/>
          </a:xfrm>
          <a:prstGeom prst="rect">
            <a:avLst/>
          </a:prstGeom>
          <a:noFill/>
          <a:ln/>
        </p:spPr>
        <p:txBody>
          <a:bodyPr wrap="square" lIns="0" tIns="0" rIns="0" bIns="0" rtlCol="0" anchor="t"/>
          <a:lstStyle/>
          <a:p>
            <a:pPr algn="l" indent="0" marL="0">
              <a:lnSpc>
                <a:spcPts val="1215"/>
              </a:lnSpc>
              <a:buNone/>
            </a:pPr>
            <a:r>
              <a:rPr lang="en-US" sz="900" dirty="0">
                <a:solidFill>
                  <a:srgbClr val="6B7280"/>
                </a:solidFill>
                <a:latin typeface="Poppins" pitchFamily="34" charset="0"/>
                <a:ea typeface="Poppins" pitchFamily="34" charset="-122"/>
                <a:cs typeface="Poppins" pitchFamily="34" charset="-120"/>
              </a:rPr>
              <a:t>A gap between two success rates, not a percentage change.</a:t>
            </a:r>
            <a:endParaRPr lang="en-US" sz="900" dirty="0"/>
          </a:p>
        </p:txBody>
      </p:sp>
      <p:sp>
        <p:nvSpPr>
          <p:cNvPr id="30" name="b9:rise"/>
          <p:cNvSpPr/>
          <p:nvPr/>
        </p:nvSpPr>
        <p:spPr>
          <a:xfrm>
            <a:off x="5200650" y="3657600"/>
            <a:ext cx="4763" cy="0"/>
          </a:xfrm>
          <a:prstGeom prst="line">
            <a:avLst/>
          </a:prstGeom>
          <a:noFill/>
          <a:ln w="6350">
            <a:solidFill>
              <a:srgbClr val="E3E8EE"/>
            </a:solidFill>
            <a:prstDash val="solid"/>
          </a:ln>
        </p:spPr>
      </p:sp>
      <p:sp>
        <p:nvSpPr>
          <p:cNvPr id="31" name="b9:rise"/>
          <p:cNvSpPr txBox="1"/>
          <p:nvPr/>
        </p:nvSpPr>
        <p:spPr>
          <a:xfrm>
            <a:off x="5200650" y="3657600"/>
            <a:ext cx="3333750" cy="212378"/>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Two successful patterns of AI use</a:t>
            </a:r>
            <a:endParaRPr lang="en-US" sz="1050" dirty="0"/>
          </a:p>
        </p:txBody>
      </p:sp>
      <p:pic>
        <p:nvPicPr>
          <p:cNvPr id="32" name="b9:rise (Human and robot side by side)" descr="/home/user/slide-present-en/presentation/webdeck/art/centaur.png">    </p:cNvPr>
          <p:cNvPicPr>
            <a:picLocks noChangeAspect="1"/>
          </p:cNvPicPr>
          <p:nvPr/>
        </p:nvPicPr>
        <p:blipFill>
          <a:blip r:embed="rId2"/>
          <a:stretch>
            <a:fillRect/>
          </a:stretch>
        </p:blipFill>
        <p:spPr>
          <a:xfrm>
            <a:off x="5200650" y="3917603"/>
            <a:ext cx="342900" cy="228600"/>
          </a:xfrm>
          <a:prstGeom prst="rect">
            <a:avLst/>
          </a:prstGeom>
        </p:spPr>
      </p:pic>
      <p:sp>
        <p:nvSpPr>
          <p:cNvPr id="33" name="b9:rise"/>
          <p:cNvSpPr txBox="1"/>
          <p:nvPr/>
        </p:nvSpPr>
        <p:spPr>
          <a:xfrm>
            <a:off x="5619750" y="3945210"/>
            <a:ext cx="2838301"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Centaurs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divide tasks between human and AI</a:t>
            </a:r>
            <a:endParaRPr lang="en-US" sz="975" dirty="0"/>
          </a:p>
        </p:txBody>
      </p:sp>
      <p:pic>
        <p:nvPicPr>
          <p:cNvPr id="34" name="b9:rise (Half human, half robot face)" descr="/home/user/slide-present-en/presentation/webdeck/art/cyborg.png">    </p:cNvPr>
          <p:cNvPicPr>
            <a:picLocks noChangeAspect="1"/>
          </p:cNvPicPr>
          <p:nvPr/>
        </p:nvPicPr>
        <p:blipFill>
          <a:blip r:embed="rId3"/>
          <a:stretch>
            <a:fillRect/>
          </a:stretch>
        </p:blipFill>
        <p:spPr>
          <a:xfrm>
            <a:off x="5200650" y="4193828"/>
            <a:ext cx="342900" cy="228600"/>
          </a:xfrm>
          <a:prstGeom prst="rect">
            <a:avLst/>
          </a:prstGeom>
        </p:spPr>
      </p:pic>
      <p:sp>
        <p:nvSpPr>
          <p:cNvPr id="35" name="b9:rise"/>
          <p:cNvSpPr txBox="1"/>
          <p:nvPr/>
        </p:nvSpPr>
        <p:spPr>
          <a:xfrm>
            <a:off x="5619750" y="4221435"/>
            <a:ext cx="2231157"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Cyborgs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integrate AI into every step</a:t>
            </a:r>
            <a:endParaRPr lang="en-US" sz="975" dirty="0"/>
          </a:p>
        </p:txBody>
      </p:sp>
      <p:sp>
        <p:nvSpPr>
          <p:cNvPr id="36"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Harvard Business School Working Paper 24-013.</a:t>
            </a:r>
            <a:endParaRPr lang="en-US" sz="900" dirty="0"/>
          </a:p>
        </p:txBody>
      </p:sp>
      <p:sp>
        <p:nvSpPr>
          <p:cNvPr id="37" name="b10:fade"/>
          <p:cNvSpPr txBox="1"/>
          <p:nvPr/>
        </p:nvSpPr>
        <p:spPr>
          <a:xfrm>
            <a:off x="4032721"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Does this hold for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real small businesses</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a:t>
            </a:r>
            <a:endParaRPr lang="en-US" sz="900" dirty="0"/>
          </a:p>
        </p:txBody>
      </p:sp>
      <p:sp>
        <p:nvSpPr>
          <p:cNvPr id="38" name="!!key2-en-1"/>
          <p:cNvSpPr/>
          <p:nvPr/>
        </p:nvSpPr>
        <p:spPr>
          <a:xfrm>
            <a:off x="7048500" y="342900"/>
            <a:ext cx="1485900" cy="255240"/>
          </a:xfrm>
          <a:prstGeom prst="roundRect">
            <a:avLst>
              <a:gd name="adj" fmla="val 50000"/>
            </a:avLst>
          </a:prstGeom>
          <a:solidFill>
            <a:srgbClr val="2E8B86"/>
          </a:solidFill>
          <a:ln/>
        </p:spPr>
      </p:sp>
      <p:sp>
        <p:nvSpPr>
          <p:cNvPr id="39" name="!!key2-en-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The jagged frontier</a:t>
            </a:r>
            <a:endParaRPr lang="en-US" sz="900" dirty="0"/>
          </a:p>
        </p:txBody>
      </p:sp>
      <p:sp>
        <p:nvSpPr>
          <p:cNvPr id="40" name="!!key3-en-1"/>
          <p:cNvSpPr/>
          <p:nvPr/>
        </p:nvSpPr>
        <p:spPr>
          <a:xfrm>
            <a:off x="7048500" y="4572000"/>
            <a:ext cx="1485900" cy="255240"/>
          </a:xfrm>
          <a:prstGeom prst="roundRect">
            <a:avLst>
              <a:gd name="adj" fmla="val 50000"/>
            </a:avLst>
          </a:prstGeom>
          <a:solidFill>
            <a:srgbClr val="2E8B86"/>
          </a:solidFill>
          <a:ln/>
        </p:spPr>
      </p:sp>
      <p:sp>
        <p:nvSpPr>
          <p:cNvPr id="41" name="!!key3-en-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Real small businesses</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0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childTnLst>
                          </p:cTn>
                        </p:par>
                      </p:childTnLst>
                    </p:cTn>
                  </p:par>
                  <p:par>
                    <p:cTn id="45" fill="hold">
                      <p:stCondLst>
                        <p:cond delay="indefinite"/>
                      </p:stCondLst>
                      <p:childTnLst>
                        <p:par>
                          <p:cTn id="46"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500"/>
                                        <p:tgtEl>
                                          <p:spTgt spid="13"/>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500"/>
                                        <p:tgtEl>
                                          <p:spTgt spid="14"/>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childTnLst>
                          </p:cTn>
                        </p:par>
                      </p:childTnLst>
                    </p:cTn>
                  </p:par>
                  <p:par>
                    <p:cTn id="56" fill="hold">
                      <p:stCondLst>
                        <p:cond delay="indefinite"/>
                      </p:stCondLst>
                      <p:childTnLst>
                        <p:par>
                          <p:cTn id="57"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wipe(left)">
                                      <p:cBhvr>
                                        <p:cTn id="49" dur="500"/>
                                        <p:tgtEl>
                                          <p:spTgt spid="16"/>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50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500"/>
                                        <p:tgtEl>
                                          <p:spTgt spid="19"/>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500"/>
                                        <p:tgtEl>
                                          <p:spTgt spid="20"/>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left)">
                                      <p:cBhvr>
                                        <p:cTn id="66" dur="500"/>
                                        <p:tgtEl>
                                          <p:spTgt spid="21"/>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500"/>
                                        <p:tgtEl>
                                          <p:spTgt spid="22"/>
                                        </p:tgtEl>
                                      </p:cBhvr>
                                    </p:animEffect>
                                  </p:childTnLst>
                                </p:cTn>
                              </p:par>
                            </p:childTnLst>
                          </p:cTn>
                        </p:par>
                      </p:childTnLst>
                    </p:cTn>
                  </p:par>
                  <p:par>
                    <p:cTn id="96" fill="hold">
                      <p:stCondLst>
                        <p:cond delay="indefinite"/>
                      </p:stCondLst>
                      <p:childTnLst>
                        <p:par>
                          <p:cTn id="97" fill="hold">
                            <p:stCondLst>
                              <p:cond delay="0"/>
                            </p:stCondLst>
                            <p:childTnLst>
                              <p:par>
                                <p:cTn id="72" presetID="23" presetClass="entr" presetSubtype="16"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par>
                                <p:cTn id="76" presetID="2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Scale>
                                      <p:cBhvr>
                                        <p:cTn id="78" dur="500" fill="hold"/>
                                        <p:tgtEl>
                                          <p:spTgt spid="24"/>
                                        </p:tgtEl>
                                      </p:cBhvr>
                                      <p:from x="0" y="0"/>
                                      <p:to x="100000" y="100000"/>
                                    </p:animScale>
                                    <p:animEffect transition="in" filter="fade">
                                      <p:cBhvr>
                                        <p:cTn id="79" dur="500"/>
                                        <p:tgtEl>
                                          <p:spTgt spid="24"/>
                                        </p:tgtEl>
                                      </p:cBhvr>
                                    </p:animEffect>
                                  </p:childTnLst>
                                </p:cTn>
                              </p:par>
                              <p:par>
                                <p:cTn id="80" presetID="23" presetClass="entr" presetSubtype="16"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Scale>
                                      <p:cBhvr>
                                        <p:cTn id="82" dur="500" fill="hold"/>
                                        <p:tgtEl>
                                          <p:spTgt spid="25"/>
                                        </p:tgtEl>
                                      </p:cBhvr>
                                      <p:from x="0" y="0"/>
                                      <p:to x="100000" y="100000"/>
                                    </p:animScale>
                                    <p:animEffect transition="in" filter="fade">
                                      <p:cBhvr>
                                        <p:cTn id="83" dur="500"/>
                                        <p:tgtEl>
                                          <p:spTgt spid="25"/>
                                        </p:tgtEl>
                                      </p:cBhvr>
                                    </p:animEffect>
                                  </p:childTnLst>
                                </p:cTn>
                              </p:par>
                              <p:par>
                                <p:cTn id="84" presetID="23" presetClass="entr" presetSubtype="16"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Scale>
                                      <p:cBhvr>
                                        <p:cTn id="86" dur="500" fill="hold"/>
                                        <p:tgtEl>
                                          <p:spTgt spid="26"/>
                                        </p:tgtEl>
                                      </p:cBhvr>
                                      <p:from x="0" y="0"/>
                                      <p:to x="100000" y="100000"/>
                                    </p:animScale>
                                    <p:animEffect transition="in" filter="fade">
                                      <p:cBhvr>
                                        <p:cTn id="87" dur="500"/>
                                        <p:tgtEl>
                                          <p:spTgt spid="26"/>
                                        </p:tgtEl>
                                      </p:cBhvr>
                                    </p:animEffect>
                                  </p:childTnLst>
                                </p:cTn>
                              </p:par>
                              <p:par>
                                <p:cTn id="88" presetID="23" presetClass="entr" presetSubtype="16" fill="hold" grpId="0" nodeType="withEffect">
                                  <p:stCondLst>
                                    <p:cond delay="0"/>
                                  </p:stCondLst>
                                  <p:childTnLst>
                                    <p:set>
                                      <p:cBhvr>
                                        <p:cTn id="89" dur="1" fill="hold">
                                          <p:stCondLst>
                                            <p:cond delay="0"/>
                                          </p:stCondLst>
                                        </p:cTn>
                                        <p:tgtEl>
                                          <p:spTgt spid="27"/>
                                        </p:tgtEl>
                                        <p:attrNameLst>
                                          <p:attrName>style.visibility</p:attrName>
                                        </p:attrNameLst>
                                      </p:cBhvr>
                                      <p:to>
                                        <p:strVal val="visible"/>
                                      </p:to>
                                    </p:set>
                                    <p:animScale>
                                      <p:cBhvr>
                                        <p:cTn id="90" dur="500" fill="hold"/>
                                        <p:tgtEl>
                                          <p:spTgt spid="27"/>
                                        </p:tgtEl>
                                      </p:cBhvr>
                                      <p:from x="0" y="0"/>
                                      <p:to x="100000" y="100000"/>
                                    </p:animScale>
                                    <p:animEffect transition="in" filter="fade">
                                      <p:cBhvr>
                                        <p:cTn id="91" dur="500"/>
                                        <p:tgtEl>
                                          <p:spTgt spid="27"/>
                                        </p:tgtEl>
                                      </p:cBhvr>
                                    </p:animEffect>
                                  </p:childTnLst>
                                </p:cTn>
                              </p:par>
                              <p:par>
                                <p:cTn id="92" presetID="23" presetClass="entr" presetSubtype="16" fill="hold" grpId="0" nodeType="withEffect">
                                  <p:stCondLst>
                                    <p:cond delay="0"/>
                                  </p:stCondLst>
                                  <p:childTnLst>
                                    <p:set>
                                      <p:cBhvr>
                                        <p:cTn id="93" dur="1" fill="hold">
                                          <p:stCondLst>
                                            <p:cond delay="0"/>
                                          </p:stCondLst>
                                        </p:cTn>
                                        <p:tgtEl>
                                          <p:spTgt spid="28"/>
                                        </p:tgtEl>
                                        <p:attrNameLst>
                                          <p:attrName>style.visibility</p:attrName>
                                        </p:attrNameLst>
                                      </p:cBhvr>
                                      <p:to>
                                        <p:strVal val="visible"/>
                                      </p:to>
                                    </p:set>
                                    <p:animScale>
                                      <p:cBhvr>
                                        <p:cTn id="94" dur="500" fill="hold"/>
                                        <p:tgtEl>
                                          <p:spTgt spid="28"/>
                                        </p:tgtEl>
                                      </p:cBhvr>
                                      <p:from x="0" y="0"/>
                                      <p:to x="100000" y="100000"/>
                                    </p:animScale>
                                    <p:animEffect transition="in" filter="fade">
                                      <p:cBhvr>
                                        <p:cTn id="95" dur="500"/>
                                        <p:tgtEl>
                                          <p:spTgt spid="28"/>
                                        </p:tgtEl>
                                      </p:cBhvr>
                                    </p:animEffect>
                                  </p:childTnLst>
                                </p:cTn>
                              </p:par>
                            </p:childTnLst>
                          </p:cTn>
                        </p:par>
                      </p:childTnLst>
                    </p:cTn>
                  </p:par>
                  <p:par>
                    <p:cTn id="101" fill="hold">
                      <p:stCondLst>
                        <p:cond delay="indefinite"/>
                      </p:stCondLst>
                      <p:childTnLst>
                        <p:par>
                          <p:cTn id="102"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par>
                    <p:cTn id="127" fill="hold">
                      <p:stCondLst>
                        <p:cond delay="indefinite"/>
                      </p:stCondLst>
                      <p:childTnLst>
                        <p:par>
                          <p:cTn id="128"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700"/>
                                        <p:tgtEl>
                                          <p:spTgt spid="30"/>
                                        </p:tgtEl>
                                      </p:cBhvr>
                                    </p:animEffect>
                                    <p:anim calcmode="lin" valueType="num">
                                      <p:cBhvr additive="base">
                                        <p:cTn id="106" dur="700" fill="hold"/>
                                        <p:tgtEl>
                                          <p:spTgt spid="30"/>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1"/>
                                        </p:tgtEl>
                                        <p:attrNameLst>
                                          <p:attrName>style.visibility</p:attrName>
                                        </p:attrNameLst>
                                      </p:cBhvr>
                                      <p:to>
                                        <p:strVal val="visible"/>
                                      </p:to>
                                    </p:set>
                                    <p:animEffect transition="in" filter="fade">
                                      <p:cBhvr>
                                        <p:cTn id="109" dur="700"/>
                                        <p:tgtEl>
                                          <p:spTgt spid="31"/>
                                        </p:tgtEl>
                                      </p:cBhvr>
                                    </p:animEffect>
                                    <p:anim calcmode="lin" valueType="num">
                                      <p:cBhvr additive="base">
                                        <p:cTn id="110" dur="700" fill="hold"/>
                                        <p:tgtEl>
                                          <p:spTgt spid="31"/>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2"/>
                                        </p:tgtEl>
                                        <p:attrNameLst>
                                          <p:attrName>style.visibility</p:attrName>
                                        </p:attrNameLst>
                                      </p:cBhvr>
                                      <p:to>
                                        <p:strVal val="visible"/>
                                      </p:to>
                                    </p:set>
                                    <p:animEffect transition="in" filter="fade">
                                      <p:cBhvr>
                                        <p:cTn id="113" dur="700"/>
                                        <p:tgtEl>
                                          <p:spTgt spid="32"/>
                                        </p:tgtEl>
                                      </p:cBhvr>
                                    </p:animEffect>
                                    <p:anim calcmode="lin" valueType="num">
                                      <p:cBhvr additive="base">
                                        <p:cTn id="114" dur="700" fill="hold"/>
                                        <p:tgtEl>
                                          <p:spTgt spid="32"/>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3"/>
                                        </p:tgtEl>
                                        <p:attrNameLst>
                                          <p:attrName>style.visibility</p:attrName>
                                        </p:attrNameLst>
                                      </p:cBhvr>
                                      <p:to>
                                        <p:strVal val="visible"/>
                                      </p:to>
                                    </p:set>
                                    <p:animEffect transition="in" filter="fade">
                                      <p:cBhvr>
                                        <p:cTn id="117" dur="700"/>
                                        <p:tgtEl>
                                          <p:spTgt spid="33"/>
                                        </p:tgtEl>
                                      </p:cBhvr>
                                    </p:animEffect>
                                    <p:anim calcmode="lin" valueType="num">
                                      <p:cBhvr additive="base">
                                        <p:cTn id="118" dur="700" fill="hold"/>
                                        <p:tgtEl>
                                          <p:spTgt spid="33"/>
                                        </p:tgtEl>
                                        <p:attrNameLst>
                                          <p:attrName>ppt_y</p:attrName>
                                        </p:attrNameLst>
                                      </p:cBhvr>
                                      <p:tavLst>
                                        <p:tav tm="0">
                                          <p:val>
                                            <p:strVal val="#ppt_y+.08"/>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700"/>
                                        <p:tgtEl>
                                          <p:spTgt spid="34"/>
                                        </p:tgtEl>
                                      </p:cBhvr>
                                    </p:animEffect>
                                    <p:anim calcmode="lin" valueType="num">
                                      <p:cBhvr additive="base">
                                        <p:cTn id="122" dur="700" fill="hold"/>
                                        <p:tgtEl>
                                          <p:spTgt spid="34"/>
                                        </p:tgtEl>
                                        <p:attrNameLst>
                                          <p:attrName>ppt_y</p:attrName>
                                        </p:attrNameLst>
                                      </p:cBhvr>
                                      <p:tavLst>
                                        <p:tav tm="0">
                                          <p:val>
                                            <p:strVal val="#ppt_y+.08"/>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700"/>
                                        <p:tgtEl>
                                          <p:spTgt spid="35"/>
                                        </p:tgtEl>
                                      </p:cBhvr>
                                    </p:animEffect>
                                    <p:anim calcmode="lin" valueType="num">
                                      <p:cBhvr additive="base">
                                        <p:cTn id="126"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2" fill="hold">
                      <p:stCondLst>
                        <p:cond delay="indefinite"/>
                      </p:stCondLst>
                      <p:childTnLst>
                        <p:par>
                          <p:cTn id="133" fill="hold">
                            <p:stCondLst>
                              <p:cond delay="0"/>
                            </p:stCondLst>
                            <p:childTnLst>
                              <p:par>
                                <p:cTn id="129" presetID="10" presetClass="entr" presetSubtype="0" fill="hold" grpId="0" nodeType="click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500"/>
                                        <p:tgtEl>
                                          <p:spTgt spid="37"/>
                                        </p:tgtEl>
                                      </p:cBhvr>
                                    </p:animEffect>
                                  </p:childTnLst>
                                </p:cTn>
                              </p:par>
                            </p:childTnLst>
                          </p:cTn>
                        </p:par>
                      </p:childTnLst>
                    </p:cTn>
                  </p:par>
                  <p:par>
                    <p:cTn id="142" fill="hold">
                      <p:stCondLst>
                        <p:cond delay="indefinite"/>
                      </p:stCondLst>
                      <p:childTnLst>
                        <p:par>
                          <p:cTn id="143" fill="hold">
                            <p:stCondLst>
                              <p:cond delay="0"/>
                            </p:stCondLst>
                            <p:childTnLst>
                              <p:par>
                                <p:cTn id="134" presetID="23" presetClass="entr" presetSubtype="16"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Scale>
                                      <p:cBhvr>
                                        <p:cTn id="136" dur="500" fill="hold"/>
                                        <p:tgtEl>
                                          <p:spTgt spid="40"/>
                                        </p:tgtEl>
                                      </p:cBhvr>
                                      <p:from x="0" y="0"/>
                                      <p:to x="100000" y="100000"/>
                                    </p:animScale>
                                    <p:animEffect transition="in" filter="fade">
                                      <p:cBhvr>
                                        <p:cTn id="137" dur="500"/>
                                        <p:tgtEl>
                                          <p:spTgt spid="40"/>
                                        </p:tgtEl>
                                      </p:cBhvr>
                                    </p:animEffect>
                                  </p:childTnLst>
                                </p:cTn>
                              </p:par>
                              <p:par>
                                <p:cTn id="138" presetID="23" presetClass="entr" presetSubtype="16" fill="hold" grpId="0" nodeType="withEffect">
                                  <p:stCondLst>
                                    <p:cond delay="0"/>
                                  </p:stCondLst>
                                  <p:childTnLst>
                                    <p:set>
                                      <p:cBhvr>
                                        <p:cTn id="139" dur="1" fill="hold">
                                          <p:stCondLst>
                                            <p:cond delay="0"/>
                                          </p:stCondLst>
                                        </p:cTn>
                                        <p:tgtEl>
                                          <p:spTgt spid="41"/>
                                        </p:tgtEl>
                                        <p:attrNameLst>
                                          <p:attrName>style.visibility</p:attrName>
                                        </p:attrNameLst>
                                      </p:cBhvr>
                                      <p:to>
                                        <p:strVal val="visible"/>
                                      </p:to>
                                    </p:set>
                                    <p:animScale>
                                      <p:cBhvr>
                                        <p:cTn id="140" dur="500" fill="hold"/>
                                        <p:tgtEl>
                                          <p:spTgt spid="41"/>
                                        </p:tgtEl>
                                      </p:cBhvr>
                                      <p:from x="0" y="0"/>
                                      <p:to x="100000" y="100000"/>
                                    </p:animScale>
                                    <p:animEffect transition="in" filter="fade">
                                      <p:cBhvr>
                                        <p:cTn id="141"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5 · RESEARCH PURPOSE AND FINDINGS</a:t>
            </a:r>
            <a:endParaRPr lang="en-US" sz="900" dirty="0"/>
          </a:p>
        </p:txBody>
      </p:sp>
      <p:sp>
        <p:nvSpPr>
          <p:cNvPr id="3" name="static"/>
          <p:cNvSpPr txBox="1"/>
          <p:nvPr/>
        </p:nvSpPr>
        <p:spPr>
          <a:xfrm>
            <a:off x="609600" y="617190"/>
            <a:ext cx="7429500" cy="685800"/>
          </a:xfrm>
          <a:prstGeom prst="rect">
            <a:avLst/>
          </a:prstGeom>
          <a:noFill/>
          <a:ln/>
        </p:spPr>
        <p:txBody>
          <a:bodyPr wrap="square" lIns="0" tIns="57150" rIns="0" bIns="0" rtlCol="0" anchor="t"/>
          <a:lstStyle/>
          <a:p>
            <a:pPr algn="l" indent="0" marL="0">
              <a:lnSpc>
                <a:spcPts val="2475"/>
              </a:lnSpc>
              <a:buNone/>
            </a:pPr>
            <a:r>
              <a:rPr lang="en-US" sz="2250" b="1" dirty="0">
                <a:solidFill>
                  <a:srgbClr val="1B2A4A"/>
                </a:solidFill>
                <a:latin typeface="Poppins" pitchFamily="34" charset="0"/>
                <a:ea typeface="Poppins" pitchFamily="34" charset="-122"/>
                <a:cs typeface="Poppins" pitchFamily="34" charset="-120"/>
              </a:rPr>
              <a:t>The Uneven Impact of Generative AI on Entrepreneurial Performance</a:t>
            </a:r>
            <a:endParaRPr lang="en-US" sz="2250" dirty="0"/>
          </a:p>
        </p:txBody>
      </p:sp>
      <p:sp>
        <p:nvSpPr>
          <p:cNvPr id="4" name="b1:rise"/>
          <p:cNvSpPr/>
          <p:nvPr/>
        </p:nvSpPr>
        <p:spPr>
          <a:xfrm>
            <a:off x="609600" y="1476375"/>
            <a:ext cx="342900" cy="342900"/>
          </a:xfrm>
          <a:prstGeom prst="roundRect">
            <a:avLst>
              <a:gd name="adj" fmla="val 50000"/>
            </a:avLst>
          </a:prstGeom>
          <a:solidFill>
            <a:srgbClr val="E6F3F1"/>
          </a:solidFill>
          <a:ln/>
        </p:spPr>
      </p:sp>
      <p:pic>
        <p:nvPicPr>
          <p:cNvPr id="5" name="b1:rise icon Globe" descr="preencoded.png">    </p:cNvPr>
          <p:cNvPicPr>
            <a:picLocks noChangeAspect="1"/>
          </p:cNvPicPr>
          <p:nvPr/>
        </p:nvPicPr>
        <p:blipFill>
          <a:blip r:embed="rId1"/>
          <a:stretch>
            <a:fillRect/>
          </a:stretch>
        </p:blipFill>
        <p:spPr>
          <a:xfrm>
            <a:off x="695325" y="1562100"/>
            <a:ext cx="171450" cy="171450"/>
          </a:xfrm>
          <a:prstGeom prst="rect">
            <a:avLst/>
          </a:prstGeom>
        </p:spPr>
      </p:pic>
      <p:sp>
        <p:nvSpPr>
          <p:cNvPr id="6" name="b1:rise"/>
          <p:cNvSpPr txBox="1"/>
          <p:nvPr/>
        </p:nvSpPr>
        <p:spPr>
          <a:xfrm>
            <a:off x="1066800" y="147972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Setting</a:t>
            </a:r>
            <a:endParaRPr lang="en-US" sz="1050" dirty="0"/>
          </a:p>
        </p:txBody>
      </p:sp>
      <p:sp>
        <p:nvSpPr>
          <p:cNvPr id="7" name="b1:rise"/>
          <p:cNvSpPr txBox="1"/>
          <p:nvPr/>
        </p:nvSpPr>
        <p:spPr>
          <a:xfrm>
            <a:off x="1066800" y="164923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Small-business entrepreneurs in Kenya</a:t>
            </a:r>
            <a:endParaRPr lang="en-US" sz="938" dirty="0"/>
          </a:p>
        </p:txBody>
      </p:sp>
      <p:sp>
        <p:nvSpPr>
          <p:cNvPr id="8" name="b1:rise"/>
          <p:cNvSpPr/>
          <p:nvPr/>
        </p:nvSpPr>
        <p:spPr>
          <a:xfrm>
            <a:off x="609600" y="2004045"/>
            <a:ext cx="342900" cy="342900"/>
          </a:xfrm>
          <a:prstGeom prst="roundRect">
            <a:avLst>
              <a:gd name="adj" fmla="val 50000"/>
            </a:avLst>
          </a:prstGeom>
          <a:solidFill>
            <a:srgbClr val="E6F3F1"/>
          </a:solidFill>
          <a:ln/>
        </p:spPr>
      </p:sp>
      <p:pic>
        <p:nvPicPr>
          <p:cNvPr id="9" name="b1:rise icon Chat" descr="preencoded.png">    </p:cNvPr>
          <p:cNvPicPr>
            <a:picLocks noChangeAspect="1"/>
          </p:cNvPicPr>
          <p:nvPr/>
        </p:nvPicPr>
        <p:blipFill>
          <a:blip r:embed="rId2"/>
          <a:stretch>
            <a:fillRect/>
          </a:stretch>
        </p:blipFill>
        <p:spPr>
          <a:xfrm>
            <a:off x="695325" y="2089770"/>
            <a:ext cx="171450" cy="171450"/>
          </a:xfrm>
          <a:prstGeom prst="rect">
            <a:avLst/>
          </a:prstGeom>
        </p:spPr>
      </p:pic>
      <p:sp>
        <p:nvSpPr>
          <p:cNvPr id="10" name="b1:rise"/>
          <p:cNvSpPr txBox="1"/>
          <p:nvPr/>
        </p:nvSpPr>
        <p:spPr>
          <a:xfrm>
            <a:off x="1066800" y="1924050"/>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Intervention</a:t>
            </a:r>
            <a:endParaRPr lang="en-US" sz="1050" dirty="0"/>
          </a:p>
        </p:txBody>
      </p:sp>
      <p:sp>
        <p:nvSpPr>
          <p:cNvPr id="11" name="b1:rise"/>
          <p:cNvSpPr txBox="1"/>
          <p:nvPr/>
        </p:nvSpPr>
        <p:spPr>
          <a:xfrm>
            <a:off x="1066800" y="2093565"/>
            <a:ext cx="3288792" cy="333375"/>
          </a:xfrm>
          <a:prstGeom prst="rect">
            <a:avLst/>
          </a:prstGeom>
          <a:noFill/>
          <a:ln/>
        </p:spPr>
        <p:txBody>
          <a:bodyPr wrap="square" lIns="0" tIns="0" rIns="0" bIns="0" rtlCol="0" anchor="t"/>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GPT-4-powered AI business assistant giving business advice</a:t>
            </a:r>
            <a:endParaRPr lang="en-US" sz="938" dirty="0"/>
          </a:p>
        </p:txBody>
      </p:sp>
      <p:sp>
        <p:nvSpPr>
          <p:cNvPr id="12" name="b1:rise"/>
          <p:cNvSpPr/>
          <p:nvPr/>
        </p:nvSpPr>
        <p:spPr>
          <a:xfrm>
            <a:off x="609600" y="2531715"/>
            <a:ext cx="342900" cy="342900"/>
          </a:xfrm>
          <a:prstGeom prst="roundRect">
            <a:avLst>
              <a:gd name="adj" fmla="val 50000"/>
            </a:avLst>
          </a:prstGeom>
          <a:solidFill>
            <a:srgbClr val="E6F3F1"/>
          </a:solidFill>
          <a:ln/>
        </p:spPr>
      </p:sp>
      <p:pic>
        <p:nvPicPr>
          <p:cNvPr id="13" name="b1:rise icon Chart" descr="preencoded.png">    </p:cNvPr>
          <p:cNvPicPr>
            <a:picLocks noChangeAspect="1"/>
          </p:cNvPicPr>
          <p:nvPr/>
        </p:nvPicPr>
        <p:blipFill>
          <a:blip r:embed="rId3"/>
          <a:stretch>
            <a:fillRect/>
          </a:stretch>
        </p:blipFill>
        <p:spPr>
          <a:xfrm>
            <a:off x="695325" y="2617440"/>
            <a:ext cx="171450" cy="171450"/>
          </a:xfrm>
          <a:prstGeom prst="rect">
            <a:avLst/>
          </a:prstGeom>
        </p:spPr>
      </p:pic>
      <p:sp>
        <p:nvSpPr>
          <p:cNvPr id="14" name="b1:rise"/>
          <p:cNvSpPr txBox="1"/>
          <p:nvPr/>
        </p:nvSpPr>
        <p:spPr>
          <a:xfrm>
            <a:off x="1066800" y="253506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Outcomes</a:t>
            </a:r>
            <a:endParaRPr lang="en-US" sz="1050" dirty="0"/>
          </a:p>
        </p:txBody>
      </p:sp>
      <p:sp>
        <p:nvSpPr>
          <p:cNvPr id="15" name="b1:rise"/>
          <p:cNvSpPr txBox="1"/>
          <p:nvPr/>
        </p:nvSpPr>
        <p:spPr>
          <a:xfrm>
            <a:off x="1066800" y="270457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Revenue and profit</a:t>
            </a:r>
            <a:endParaRPr lang="en-US" sz="938" dirty="0"/>
          </a:p>
        </p:txBody>
      </p:sp>
      <p:sp>
        <p:nvSpPr>
          <p:cNvPr id="16" name="b2:pop"/>
          <p:cNvSpPr/>
          <p:nvPr/>
        </p:nvSpPr>
        <p:spPr>
          <a:xfrm>
            <a:off x="609600" y="3048000"/>
            <a:ext cx="3619500" cy="1315343"/>
          </a:xfrm>
          <a:prstGeom prst="roundRect">
            <a:avLst>
              <a:gd name="adj" fmla="val 8690"/>
            </a:avLst>
          </a:prstGeom>
          <a:solidFill>
            <a:srgbClr val="1B2A4A"/>
          </a:solidFill>
          <a:ln/>
        </p:spPr>
      </p:sp>
      <p:sp>
        <p:nvSpPr>
          <p:cNvPr id="17" name="b2:pop"/>
          <p:cNvSpPr/>
          <p:nvPr/>
        </p:nvSpPr>
        <p:spPr>
          <a:xfrm>
            <a:off x="800100" y="3219450"/>
            <a:ext cx="714375" cy="217140"/>
          </a:xfrm>
          <a:prstGeom prst="roundRect">
            <a:avLst>
              <a:gd name="adj" fmla="val 50000"/>
            </a:avLst>
          </a:prstGeom>
          <a:solidFill>
            <a:srgbClr val="BFE6E0"/>
          </a:solidFill>
          <a:ln/>
        </p:spPr>
      </p:sp>
      <p:sp>
        <p:nvSpPr>
          <p:cNvPr id="18" name="b2:pop"/>
          <p:cNvSpPr txBox="1"/>
          <p:nvPr/>
        </p:nvSpPr>
        <p:spPr>
          <a:xfrm>
            <a:off x="800100" y="3219450"/>
            <a:ext cx="714375"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19" name="b2:pop"/>
          <p:cNvSpPr txBox="1"/>
          <p:nvPr/>
        </p:nvSpPr>
        <p:spPr>
          <a:xfrm>
            <a:off x="800100" y="3484215"/>
            <a:ext cx="3238500" cy="159990"/>
          </a:xfrm>
          <a:prstGeom prst="rect">
            <a:avLst/>
          </a:prstGeom>
          <a:noFill/>
          <a:ln/>
        </p:spPr>
        <p:txBody>
          <a:bodyPr wrap="none" lIns="0" tIns="0" rIns="0" bIns="0" rtlCol="0" anchor="ctr"/>
          <a:lstStyle/>
          <a:p>
            <a:pPr algn="l" indent="0" marL="0">
              <a:lnSpc>
                <a:spcPts val="1260"/>
              </a:lnSpc>
              <a:buNone/>
            </a:pPr>
            <a:r>
              <a:rPr lang="en-US" sz="1050" b="1" dirty="0">
                <a:solidFill>
                  <a:srgbClr val="BFE6E0"/>
                </a:solidFill>
                <a:latin typeface="Poppins" pitchFamily="34" charset="0"/>
                <a:ea typeface="Poppins" pitchFamily="34" charset="-122"/>
                <a:cs typeface="Poppins" pitchFamily="34" charset="-120"/>
              </a:rPr>
              <a:t>Average effect</a:t>
            </a:r>
            <a:endParaRPr lang="en-US" sz="1050" dirty="0"/>
          </a:p>
        </p:txBody>
      </p:sp>
      <p:sp>
        <p:nvSpPr>
          <p:cNvPr id="20" name="b2:pop"/>
          <p:cNvSpPr txBox="1"/>
          <p:nvPr/>
        </p:nvSpPr>
        <p:spPr>
          <a:xfrm>
            <a:off x="800100" y="3691830"/>
            <a:ext cx="2278380" cy="500063"/>
          </a:xfrm>
          <a:prstGeom prst="rect">
            <a:avLst/>
          </a:prstGeom>
          <a:noFill/>
          <a:ln/>
        </p:spPr>
        <p:txBody>
          <a:bodyPr wrap="square" lIns="0" tIns="0" rIns="0" bIns="0" rtlCol="0" anchor="t"/>
          <a:lstStyle/>
          <a:p>
            <a:pPr algn="l" indent="0" marL="0">
              <a:lnSpc>
                <a:spcPts val="1313"/>
              </a:lnSpc>
              <a:buNone/>
            </a:pPr>
            <a:r>
              <a:rPr lang="en-US" sz="938" dirty="0">
                <a:solidFill>
                  <a:srgbClr val="F7F9FB"/>
                </a:solidFill>
                <a:latin typeface="Poppins" pitchFamily="34" charset="0"/>
                <a:ea typeface="Poppins" pitchFamily="34" charset="-122"/>
                <a:cs typeface="Poppins" pitchFamily="34" charset="-120"/>
              </a:rPr>
              <a:t>The null hypothesis of no average treatment effect on revenue and profits could not be rejected.</a:t>
            </a:r>
            <a:endParaRPr lang="en-US" sz="938" dirty="0"/>
          </a:p>
        </p:txBody>
      </p:sp>
      <p:pic>
        <p:nvPicPr>
          <p:cNvPr id="21" name="b2:pop (Robot mascot holding a phone)" descr="/home/user/slide-present-en/presentation/webdeck/art/robot-shop-dark.png">    </p:cNvPr>
          <p:cNvPicPr>
            <a:picLocks noChangeAspect="1"/>
          </p:cNvPicPr>
          <p:nvPr/>
        </p:nvPicPr>
        <p:blipFill>
          <a:blip r:embed="rId4"/>
          <a:stretch>
            <a:fillRect/>
          </a:stretch>
        </p:blipFill>
        <p:spPr>
          <a:xfrm>
            <a:off x="3209925" y="3162300"/>
            <a:ext cx="904875" cy="781050"/>
          </a:xfrm>
          <a:prstGeom prst="rect">
            <a:avLst/>
          </a:prstGeom>
        </p:spPr>
      </p:pic>
      <p:sp>
        <p:nvSpPr>
          <p:cNvPr id="22" name="b3:fade"/>
          <p:cNvSpPr/>
          <p:nvPr/>
        </p:nvSpPr>
        <p:spPr>
          <a:xfrm>
            <a:off x="4838700" y="1476375"/>
            <a:ext cx="809625" cy="236190"/>
          </a:xfrm>
          <a:prstGeom prst="roundRect">
            <a:avLst>
              <a:gd name="adj" fmla="val 50000"/>
            </a:avLst>
          </a:prstGeom>
          <a:solidFill>
            <a:srgbClr val="BFE6E0"/>
          </a:solidFill>
          <a:ln/>
        </p:spPr>
      </p:sp>
      <p:sp>
        <p:nvSpPr>
          <p:cNvPr id="23" name="b3:fade"/>
          <p:cNvSpPr txBox="1"/>
          <p:nvPr/>
        </p:nvSpPr>
        <p:spPr>
          <a:xfrm>
            <a:off x="4838700" y="1476375"/>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24" name="b3:fade"/>
          <p:cNvSpPr txBox="1"/>
          <p:nvPr/>
        </p:nvSpPr>
        <p:spPr>
          <a:xfrm>
            <a:off x="4838700" y="1788765"/>
            <a:ext cx="2667000" cy="194295"/>
          </a:xfrm>
          <a:prstGeom prst="rect">
            <a:avLst/>
          </a:prstGeom>
          <a:noFill/>
          <a:ln/>
        </p:spPr>
        <p:txBody>
          <a:bodyPr wrap="none" lIns="0" tIns="0" rIns="0" bIns="0" rtlCol="0" anchor="ctr"/>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By baseline performance</a:t>
            </a:r>
            <a:endParaRPr lang="en-US" sz="1275" dirty="0"/>
          </a:p>
        </p:txBody>
      </p:sp>
      <p:pic>
        <p:nvPicPr>
          <p:cNvPr id="25" name="b3:pop (Entrepreneur holding a phone)" descr="/home/user/slide-present-en/presentation/webdeck/art/human-phone.png">    </p:cNvPr>
          <p:cNvPicPr>
            <a:picLocks noChangeAspect="1"/>
          </p:cNvPicPr>
          <p:nvPr/>
        </p:nvPicPr>
        <p:blipFill>
          <a:blip r:embed="rId5"/>
          <a:stretch>
            <a:fillRect/>
          </a:stretch>
        </p:blipFill>
        <p:spPr>
          <a:xfrm>
            <a:off x="7581900" y="1428750"/>
            <a:ext cx="952500" cy="1000125"/>
          </a:xfrm>
          <a:prstGeom prst="rect">
            <a:avLst/>
          </a:prstGeom>
        </p:spPr>
      </p:pic>
      <p:sp>
        <p:nvSpPr>
          <p:cNvPr id="26" name="b4:left"/>
          <p:cNvSpPr txBox="1"/>
          <p:nvPr/>
        </p:nvSpPr>
        <p:spPr>
          <a:xfrm>
            <a:off x="4838700" y="2095500"/>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Low performers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a:t>
            </a:r>
            <a:pPr algn="l" indent="0" marL="0">
              <a:lnSpc>
                <a:spcPts val="1365"/>
              </a:lnSpc>
              <a:buNone/>
            </a:pPr>
            <a:r>
              <a:rPr lang="en-US" sz="975" b="1" dirty="0">
                <a:solidFill>
                  <a:srgbClr val="6B7280"/>
                </a:solidFill>
                <a:latin typeface="Poppins" pitchFamily="34" charset="0"/>
                <a:ea typeface="Poppins" pitchFamily="34" charset="-122"/>
                <a:cs typeface="Poppins" pitchFamily="34" charset="-120"/>
              </a:rPr>
              <a:t>nearly 10% worse</a:t>
            </a:r>
            <a:endParaRPr lang="en-US" sz="975" dirty="0"/>
          </a:p>
        </p:txBody>
      </p:sp>
      <p:sp>
        <p:nvSpPr>
          <p:cNvPr id="27" name="b4:left"/>
          <p:cNvSpPr/>
          <p:nvPr/>
        </p:nvSpPr>
        <p:spPr>
          <a:xfrm>
            <a:off x="4838700" y="2316435"/>
            <a:ext cx="857250" cy="190500"/>
          </a:xfrm>
          <a:prstGeom prst="roundRect">
            <a:avLst>
              <a:gd name="adj" fmla="val 15000"/>
            </a:avLst>
          </a:prstGeom>
          <a:solidFill>
            <a:srgbClr val="A3ADBB"/>
          </a:solidFill>
          <a:ln/>
        </p:spPr>
      </p:sp>
      <p:sp>
        <p:nvSpPr>
          <p:cNvPr id="28" name="b5:left"/>
          <p:cNvSpPr txBox="1"/>
          <p:nvPr/>
        </p:nvSpPr>
        <p:spPr>
          <a:xfrm>
            <a:off x="4838700" y="2600325"/>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High performers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may have benefited by more than 15%</a:t>
            </a:r>
            <a:endParaRPr lang="en-US" sz="975" dirty="0"/>
          </a:p>
        </p:txBody>
      </p:sp>
      <p:sp>
        <p:nvSpPr>
          <p:cNvPr id="29" name="b5:left"/>
          <p:cNvSpPr/>
          <p:nvPr/>
        </p:nvSpPr>
        <p:spPr>
          <a:xfrm>
            <a:off x="4838700" y="2821260"/>
            <a:ext cx="1285875" cy="190500"/>
          </a:xfrm>
          <a:prstGeom prst="roundRect">
            <a:avLst>
              <a:gd name="adj" fmla="val 15000"/>
            </a:avLst>
          </a:prstGeom>
          <a:solidFill>
            <a:srgbClr val="2E8B86"/>
          </a:solidFill>
          <a:ln/>
        </p:spPr>
      </p:sp>
      <p:sp>
        <p:nvSpPr>
          <p:cNvPr id="30" name="b5:left"/>
          <p:cNvSpPr txBox="1"/>
          <p:nvPr/>
        </p:nvSpPr>
        <p:spPr>
          <a:xfrm>
            <a:off x="4838700" y="3059385"/>
            <a:ext cx="36957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Bar lengths are illustrative</a:t>
            </a:r>
            <a:endParaRPr lang="en-US" sz="900" dirty="0"/>
          </a:p>
        </p:txBody>
      </p:sp>
      <p:sp>
        <p:nvSpPr>
          <p:cNvPr id="31" name="b6:rise"/>
          <p:cNvSpPr/>
          <p:nvPr/>
        </p:nvSpPr>
        <p:spPr>
          <a:xfrm>
            <a:off x="4838700" y="3333750"/>
            <a:ext cx="4763" cy="0"/>
          </a:xfrm>
          <a:prstGeom prst="line">
            <a:avLst/>
          </a:prstGeom>
          <a:noFill/>
          <a:ln w="6350">
            <a:solidFill>
              <a:srgbClr val="E3E8EE"/>
            </a:solidFill>
            <a:prstDash val="solid"/>
          </a:ln>
        </p:spPr>
      </p:sp>
      <p:pic>
        <p:nvPicPr>
          <p:cNvPr id="32" name="b6:rise icon Chat" descr="preencoded.png">    </p:cNvPr>
          <p:cNvPicPr>
            <a:picLocks noChangeAspect="1"/>
          </p:cNvPicPr>
          <p:nvPr/>
        </p:nvPicPr>
        <p:blipFill>
          <a:blip r:embed="rId6"/>
          <a:stretch>
            <a:fillRect/>
          </a:stretch>
        </p:blipFill>
        <p:spPr>
          <a:xfrm>
            <a:off x="4838700" y="3499247"/>
            <a:ext cx="152400" cy="152400"/>
          </a:xfrm>
          <a:prstGeom prst="rect">
            <a:avLst/>
          </a:prstGeom>
        </p:spPr>
      </p:pic>
      <p:sp>
        <p:nvSpPr>
          <p:cNvPr id="33" name="b6:rise"/>
          <p:cNvSpPr txBox="1"/>
          <p:nvPr/>
        </p:nvSpPr>
        <p:spPr>
          <a:xfrm>
            <a:off x="5067300" y="3414713"/>
            <a:ext cx="3605784" cy="321469"/>
          </a:xfrm>
          <a:prstGeom prst="rect">
            <a:avLst/>
          </a:prstGeom>
          <a:noFill/>
          <a:ln/>
        </p:spPr>
        <p:txBody>
          <a:bodyPr wrap="square" lIns="0" tIns="0" rIns="0" bIns="0" rtlCol="0" anchor="t"/>
          <a:lstStyle/>
          <a:p>
            <a:pPr algn="l" indent="0" marL="0">
              <a:lnSpc>
                <a:spcPts val="1266"/>
              </a:lnSpc>
              <a:buNone/>
            </a:pPr>
            <a:r>
              <a:rPr lang="en-US" sz="938" dirty="0">
                <a:solidFill>
                  <a:srgbClr val="1B2A4A"/>
                </a:solidFill>
                <a:latin typeface="Poppins" pitchFamily="34" charset="0"/>
                <a:ea typeface="Poppins" pitchFamily="34" charset="-122"/>
                <a:cs typeface="Poppins" pitchFamily="34" charset="-120"/>
              </a:rPr>
              <a:t>Similar questions, similar advice. The difference lay in </a:t>
            </a:r>
            <a:pPr algn="l" indent="0" marL="0">
              <a:lnSpc>
                <a:spcPts val="1266"/>
              </a:lnSpc>
              <a:buNone/>
            </a:pPr>
            <a:r>
              <a:rPr lang="en-US" sz="938" b="1" dirty="0">
                <a:solidFill>
                  <a:srgbClr val="2E8B86"/>
                </a:solidFill>
                <a:latin typeface="Poppins" pitchFamily="34" charset="0"/>
                <a:ea typeface="Poppins" pitchFamily="34" charset="-122"/>
                <a:cs typeface="Poppins" pitchFamily="34" charset="-120"/>
              </a:rPr>
              <a:t>which advice entrepreneurs chose to implement</a:t>
            </a:r>
            <a:pPr algn="l" indent="0" marL="0">
              <a:lnSpc>
                <a:spcPts val="1266"/>
              </a:lnSpc>
              <a:buNone/>
            </a:pPr>
            <a:r>
              <a:rPr lang="en-US" sz="938" dirty="0">
                <a:solidFill>
                  <a:srgbClr val="1B2A4A"/>
                </a:solidFill>
                <a:latin typeface="Poppins" pitchFamily="34" charset="0"/>
                <a:ea typeface="Poppins" pitchFamily="34" charset="-122"/>
                <a:cs typeface="Poppins" pitchFamily="34" charset="-120"/>
              </a:rPr>
              <a:t>.</a:t>
            </a:r>
            <a:endParaRPr lang="en-US" sz="938" dirty="0"/>
          </a:p>
        </p:txBody>
      </p:sp>
      <p:pic>
        <p:nvPicPr>
          <p:cNvPr id="34" name="b6:rise icon Warning" descr="preencoded.png">    </p:cNvPr>
          <p:cNvPicPr>
            <a:picLocks noChangeAspect="1"/>
          </p:cNvPicPr>
          <p:nvPr/>
        </p:nvPicPr>
        <p:blipFill>
          <a:blip r:embed="rId7"/>
          <a:stretch>
            <a:fillRect/>
          </a:stretch>
        </p:blipFill>
        <p:spPr>
          <a:xfrm>
            <a:off x="4838700" y="3906441"/>
            <a:ext cx="152400" cy="152400"/>
          </a:xfrm>
          <a:prstGeom prst="rect">
            <a:avLst/>
          </a:prstGeom>
        </p:spPr>
      </p:pic>
      <p:sp>
        <p:nvSpPr>
          <p:cNvPr id="35" name="b6:rise"/>
          <p:cNvSpPr txBox="1"/>
          <p:nvPr/>
        </p:nvSpPr>
        <p:spPr>
          <a:xfrm>
            <a:off x="5067300" y="3821906"/>
            <a:ext cx="3605784" cy="321469"/>
          </a:xfrm>
          <a:prstGeom prst="rect">
            <a:avLst/>
          </a:prstGeom>
          <a:noFill/>
          <a:ln/>
        </p:spPr>
        <p:txBody>
          <a:bodyPr wrap="square" lIns="0" tIns="0" rIns="0" bIns="0" rtlCol="0" anchor="t"/>
          <a:lstStyle/>
          <a:p>
            <a:pPr algn="l" indent="0" marL="0">
              <a:lnSpc>
                <a:spcPts val="1266"/>
              </a:lnSpc>
              <a:buNone/>
            </a:pPr>
            <a:r>
              <a:rPr lang="en-US" sz="938" dirty="0">
                <a:solidFill>
                  <a:srgbClr val="4A5568"/>
                </a:solidFill>
                <a:latin typeface="Poppins" pitchFamily="34" charset="0"/>
                <a:ea typeface="Poppins" pitchFamily="34" charset="-122"/>
                <a:cs typeface="Poppins" pitchFamily="34" charset="-120"/>
              </a:rPr>
              <a:t>Subgroup averages only: not every high performer gains, and not every low performer loses.</a:t>
            </a:r>
            <a:endParaRPr lang="en-US" sz="938" dirty="0"/>
          </a:p>
        </p:txBody>
      </p:sp>
      <p:sp>
        <p:nvSpPr>
          <p:cNvPr id="36" name="static"/>
          <p:cNvSpPr txBox="1"/>
          <p:nvPr/>
        </p:nvSpPr>
        <p:spPr>
          <a:xfrm>
            <a:off x="609600" y="4827315"/>
            <a:ext cx="47625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Otis et al. (2026). Management Science, 72(7). doi.org/10.1287/mnsc.2024.06909</a:t>
            </a:r>
            <a:endParaRPr lang="en-US" sz="900" dirty="0"/>
          </a:p>
        </p:txBody>
      </p:sp>
      <p:sp>
        <p:nvSpPr>
          <p:cNvPr id="37" name="b7:fade"/>
          <p:cNvSpPr txBox="1"/>
          <p:nvPr/>
        </p:nvSpPr>
        <p:spPr>
          <a:xfrm>
            <a:off x="4022229"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Two studies,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one lesson</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a:t>
            </a:r>
            <a:endParaRPr lang="en-US" sz="900" dirty="0"/>
          </a:p>
        </p:txBody>
      </p:sp>
      <p:sp>
        <p:nvSpPr>
          <p:cNvPr id="38" name="!!key3-en-1"/>
          <p:cNvSpPr/>
          <p:nvPr/>
        </p:nvSpPr>
        <p:spPr>
          <a:xfrm>
            <a:off x="7048500" y="342900"/>
            <a:ext cx="1485900" cy="255240"/>
          </a:xfrm>
          <a:prstGeom prst="roundRect">
            <a:avLst>
              <a:gd name="adj" fmla="val 50000"/>
            </a:avLst>
          </a:prstGeom>
          <a:solidFill>
            <a:srgbClr val="2E8B86"/>
          </a:solidFill>
          <a:ln/>
        </p:spPr>
      </p:sp>
      <p:sp>
        <p:nvSpPr>
          <p:cNvPr id="39" name="!!key3-en-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Real small businesses</a:t>
            </a:r>
            <a:endParaRPr lang="en-US" sz="900" dirty="0"/>
          </a:p>
        </p:txBody>
      </p:sp>
      <p:sp>
        <p:nvSpPr>
          <p:cNvPr id="40" name="!!key4-en-1"/>
          <p:cNvSpPr/>
          <p:nvPr/>
        </p:nvSpPr>
        <p:spPr>
          <a:xfrm>
            <a:off x="7048500" y="4572000"/>
            <a:ext cx="1485900" cy="255240"/>
          </a:xfrm>
          <a:prstGeom prst="roundRect">
            <a:avLst>
              <a:gd name="adj" fmla="val 50000"/>
            </a:avLst>
          </a:prstGeom>
          <a:solidFill>
            <a:srgbClr val="2E8B86"/>
          </a:solidFill>
          <a:ln/>
        </p:spPr>
      </p:sp>
      <p:sp>
        <p:nvSpPr>
          <p:cNvPr id="41" name="!!key4-en-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Human judgment</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53" presetID="23" presetClass="entr" presetSubtype="16"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Scale>
                                      <p:cBhvr>
                                        <p:cTn id="55" dur="500" fill="hold"/>
                                        <p:tgtEl>
                                          <p:spTgt spid="16"/>
                                        </p:tgtEl>
                                      </p:cBhvr>
                                      <p:from x="0" y="0"/>
                                      <p:to x="100000" y="100000"/>
                                    </p:animScale>
                                    <p:animEffect transition="in" filter="fade">
                                      <p:cBhvr>
                                        <p:cTn id="56" dur="500"/>
                                        <p:tgtEl>
                                          <p:spTgt spid="16"/>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Scale>
                                      <p:cBhvr>
                                        <p:cTn id="59" dur="500" fill="hold"/>
                                        <p:tgtEl>
                                          <p:spTgt spid="17"/>
                                        </p:tgtEl>
                                      </p:cBhvr>
                                      <p:from x="0" y="0"/>
                                      <p:to x="100000" y="100000"/>
                                    </p:animScale>
                                    <p:animEffect transition="in" filter="fade">
                                      <p:cBhvr>
                                        <p:cTn id="60" dur="500"/>
                                        <p:tgtEl>
                                          <p:spTgt spid="17"/>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Scale>
                                      <p:cBhvr>
                                        <p:cTn id="63" dur="500" fill="hold"/>
                                        <p:tgtEl>
                                          <p:spTgt spid="18"/>
                                        </p:tgtEl>
                                      </p:cBhvr>
                                      <p:from x="0" y="0"/>
                                      <p:to x="100000" y="100000"/>
                                    </p:animScale>
                                    <p:animEffect transition="in" filter="fade">
                                      <p:cBhvr>
                                        <p:cTn id="64" dur="500"/>
                                        <p:tgtEl>
                                          <p:spTgt spid="18"/>
                                        </p:tgtEl>
                                      </p:cBhvr>
                                    </p:animEffect>
                                  </p:childTnLst>
                                </p:cTn>
                              </p:par>
                              <p:par>
                                <p:cTn id="65" presetID="23" presetClass="entr" presetSubtype="16"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Scale>
                                      <p:cBhvr>
                                        <p:cTn id="67" dur="500" fill="hold"/>
                                        <p:tgtEl>
                                          <p:spTgt spid="19"/>
                                        </p:tgtEl>
                                      </p:cBhvr>
                                      <p:from x="0" y="0"/>
                                      <p:to x="100000" y="100000"/>
                                    </p:animScale>
                                    <p:animEffect transition="in" filter="fade">
                                      <p:cBhvr>
                                        <p:cTn id="68" dur="500"/>
                                        <p:tgtEl>
                                          <p:spTgt spid="19"/>
                                        </p:tgtEl>
                                      </p:cBhvr>
                                    </p:animEffect>
                                  </p:childTnLst>
                                </p:cTn>
                              </p:par>
                              <p:par>
                                <p:cTn id="69" presetID="23" presetClass="entr" presetSubtype="16"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Scale>
                                      <p:cBhvr>
                                        <p:cTn id="71" dur="500" fill="hold"/>
                                        <p:tgtEl>
                                          <p:spTgt spid="20"/>
                                        </p:tgtEl>
                                      </p:cBhvr>
                                      <p:from x="0" y="0"/>
                                      <p:to x="100000" y="100000"/>
                                    </p:animScale>
                                    <p:animEffect transition="in" filter="fade">
                                      <p:cBhvr>
                                        <p:cTn id="72" dur="500"/>
                                        <p:tgtEl>
                                          <p:spTgt spid="20"/>
                                        </p:tgtEl>
                                      </p:cBhvr>
                                    </p:animEffect>
                                  </p:childTnLst>
                                </p:cTn>
                              </p:par>
                              <p:par>
                                <p:cTn id="73" presetID="23" presetClass="entr" presetSubtype="16"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Scale>
                                      <p:cBhvr>
                                        <p:cTn id="75" dur="500" fill="hold"/>
                                        <p:tgtEl>
                                          <p:spTgt spid="21"/>
                                        </p:tgtEl>
                                      </p:cBhvr>
                                      <p:from x="0" y="0"/>
                                      <p:to x="100000" y="100000"/>
                                    </p:animScale>
                                    <p:animEffect transition="in" filter="fade">
                                      <p:cBhvr>
                                        <p:cTn id="76" dur="500"/>
                                        <p:tgtEl>
                                          <p:spTgt spid="21"/>
                                        </p:tgtEl>
                                      </p:cBhvr>
                                    </p:animEffect>
                                  </p:childTnLst>
                                </p:cTn>
                              </p:par>
                            </p:childTnLst>
                          </p:cTn>
                        </p:par>
                      </p:childTnLst>
                    </p:cTn>
                  </p:par>
                  <p:par>
                    <p:cTn id="91" fill="hold">
                      <p:stCondLst>
                        <p:cond delay="indefinite"/>
                      </p:stCondLst>
                      <p:childTnLst>
                        <p:par>
                          <p:cTn id="92"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childTnLst>
                          </p:cTn>
                        </p:par>
                      </p:childTnLst>
                    </p:cTn>
                  </p:par>
                  <p:par>
                    <p:cTn id="99" fill="hold">
                      <p:stCondLst>
                        <p:cond delay="indefinite"/>
                      </p:stCondLst>
                      <p:childTnLst>
                        <p:par>
                          <p:cTn id="100" fill="hold">
                            <p:stCondLst>
                              <p:cond delay="0"/>
                            </p:stCondLst>
                            <p:childTnLst>
                              <p:par>
                                <p:cTn id="93" presetID="22" presetClass="entr" presetSubtype="8" fill="hold" grpId="0" nodeType="click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500"/>
                                        <p:tgtEl>
                                          <p:spTgt spid="26"/>
                                        </p:tgtEl>
                                      </p:cBhvr>
                                    </p:animEffect>
                                  </p:childTnLst>
                                </p:cTn>
                              </p:par>
                              <p:par>
                                <p:cTn id="96" presetID="22" presetClass="entr" presetSubtype="8" fill="hold" grpId="0" nodeType="with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wipe(left)">
                                      <p:cBhvr>
                                        <p:cTn id="103" dur="500"/>
                                        <p:tgtEl>
                                          <p:spTgt spid="28"/>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wipe(left)">
                                      <p:cBhvr>
                                        <p:cTn id="106" dur="500"/>
                                        <p:tgtEl>
                                          <p:spTgt spid="29"/>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30"/>
                                        </p:tgtEl>
                                        <p:attrNameLst>
                                          <p:attrName>style.visibility</p:attrName>
                                        </p:attrNameLst>
                                      </p:cBhvr>
                                      <p:to>
                                        <p:strVal val="visible"/>
                                      </p:to>
                                    </p:set>
                                    <p:animEffect transition="in" filter="wipe(left)">
                                      <p:cBhvr>
                                        <p:cTn id="109" dur="500"/>
                                        <p:tgtEl>
                                          <p:spTgt spid="30"/>
                                        </p:tgtEl>
                                      </p:cBhvr>
                                    </p:animEffect>
                                  </p:childTnLst>
                                </p:cTn>
                              </p:par>
                            </p:childTnLst>
                          </p:cTn>
                        </p:par>
                      </p:childTnLst>
                    </p:cTn>
                  </p:par>
                  <p:par>
                    <p:cTn id="132" fill="hold">
                      <p:stCondLst>
                        <p:cond delay="indefinite"/>
                      </p:stCondLst>
                      <p:childTnLst>
                        <p:par>
                          <p:cTn id="133" fill="hold">
                            <p:stCondLst>
                              <p:cond delay="0"/>
                            </p:stCondLst>
                            <p:childTnLst>
                              <p:par>
                                <p:cTn id="112" presetID="42" presetClass="entr" presetSubtype="0" fill="hold" grpId="0" nodeType="click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8"/>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8"/>
                                          </p:val>
                                        </p:tav>
                                        <p:tav tm="100000">
                                          <p:val>
                                            <p:strVal val="#ppt_y"/>
                                          </p:val>
                                        </p:tav>
                                      </p:tavLst>
                                    </p:anim>
                                  </p:childTnLst>
                                </p:cTn>
                              </p:par>
                              <p:par>
                                <p:cTn id="128" presetID="42" presetClass="entr" presetSubtype="0" fill="hold" grpId="0" nodeType="withEffect">
                                  <p:stCondLst>
                                    <p:cond delay="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7" fill="hold">
                      <p:stCondLst>
                        <p:cond delay="indefinite"/>
                      </p:stCondLst>
                      <p:childTnLst>
                        <p:par>
                          <p:cTn id="138" fill="hold">
                            <p:stCondLst>
                              <p:cond delay="0"/>
                            </p:stCondLst>
                            <p:childTnLst>
                              <p:par>
                                <p:cTn id="134" presetID="10" presetClass="entr" presetSubtype="0" fill="hold" grpId="0" nodeType="clickEffect">
                                  <p:stCondLst>
                                    <p:cond delay="0"/>
                                  </p:stCondLst>
                                  <p:childTnLst>
                                    <p:set>
                                      <p:cBhvr>
                                        <p:cTn id="135" dur="1" fill="hold">
                                          <p:stCondLst>
                                            <p:cond delay="0"/>
                                          </p:stCondLst>
                                        </p:cTn>
                                        <p:tgtEl>
                                          <p:spTgt spid="37"/>
                                        </p:tgtEl>
                                        <p:attrNameLst>
                                          <p:attrName>style.visibility</p:attrName>
                                        </p:attrNameLst>
                                      </p:cBhvr>
                                      <p:to>
                                        <p:strVal val="visible"/>
                                      </p:to>
                                    </p:set>
                                    <p:animEffect transition="in" filter="fade">
                                      <p:cBhvr>
                                        <p:cTn id="136" dur="500"/>
                                        <p:tgtEl>
                                          <p:spTgt spid="37"/>
                                        </p:tgtEl>
                                      </p:cBhvr>
                                    </p:animEffect>
                                  </p:childTnLst>
                                </p:cTn>
                              </p:par>
                            </p:childTnLst>
                          </p:cTn>
                        </p:par>
                      </p:childTnLst>
                    </p:cTn>
                  </p:par>
                  <p:par>
                    <p:cTn id="147" fill="hold">
                      <p:stCondLst>
                        <p:cond delay="indefinite"/>
                      </p:stCondLst>
                      <p:childTnLst>
                        <p:par>
                          <p:cTn id="148" fill="hold">
                            <p:stCondLst>
                              <p:cond delay="0"/>
                            </p:stCondLst>
                            <p:childTnLst>
                              <p:par>
                                <p:cTn id="139" presetID="23" presetClass="entr" presetSubtype="16" fill="hold" grpId="0" nodeType="clickEffect">
                                  <p:stCondLst>
                                    <p:cond delay="0"/>
                                  </p:stCondLst>
                                  <p:childTnLst>
                                    <p:set>
                                      <p:cBhvr>
                                        <p:cTn id="140" dur="1" fill="hold">
                                          <p:stCondLst>
                                            <p:cond delay="0"/>
                                          </p:stCondLst>
                                        </p:cTn>
                                        <p:tgtEl>
                                          <p:spTgt spid="40"/>
                                        </p:tgtEl>
                                        <p:attrNameLst>
                                          <p:attrName>style.visibility</p:attrName>
                                        </p:attrNameLst>
                                      </p:cBhvr>
                                      <p:to>
                                        <p:strVal val="visible"/>
                                      </p:to>
                                    </p:set>
                                    <p:animScale>
                                      <p:cBhvr>
                                        <p:cTn id="141" dur="500" fill="hold"/>
                                        <p:tgtEl>
                                          <p:spTgt spid="40"/>
                                        </p:tgtEl>
                                      </p:cBhvr>
                                      <p:from x="0" y="0"/>
                                      <p:to x="100000" y="100000"/>
                                    </p:animScale>
                                    <p:animEffect transition="in" filter="fade">
                                      <p:cBhvr>
                                        <p:cTn id="142" dur="500"/>
                                        <p:tgtEl>
                                          <p:spTgt spid="40"/>
                                        </p:tgtEl>
                                      </p:cBhvr>
                                    </p:animEffect>
                                  </p:childTnLst>
                                </p:cTn>
                              </p:par>
                              <p:par>
                                <p:cTn id="143" presetID="23" presetClass="entr" presetSubtype="16"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Scale>
                                      <p:cBhvr>
                                        <p:cTn id="145" dur="500" fill="hold"/>
                                        <p:tgtEl>
                                          <p:spTgt spid="41"/>
                                        </p:tgtEl>
                                      </p:cBhvr>
                                      <p:from x="0" y="0"/>
                                      <p:to x="100000" y="100000"/>
                                    </p:animScale>
                                    <p:animEffect transition="in" filter="fade">
                                      <p:cBhvr>
                                        <p:cTn id="146"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DISCUSSION AND COMPARISON</a:t>
            </a:r>
            <a:endParaRPr lang="en-US" sz="900" dirty="0"/>
          </a:p>
        </p:txBody>
      </p:sp>
      <p:sp>
        <p:nvSpPr>
          <p:cNvPr id="3" name="static"/>
          <p:cNvSpPr txBox="1"/>
          <p:nvPr/>
        </p:nvSpPr>
        <p:spPr>
          <a:xfrm>
            <a:off x="609600" y="617190"/>
            <a:ext cx="7924800" cy="392385"/>
          </a:xfrm>
          <a:prstGeom prst="rect">
            <a:avLst/>
          </a:prstGeom>
          <a:noFill/>
          <a:ln/>
        </p:spPr>
        <p:txBody>
          <a:bodyPr wrap="non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AI Is a Tool, Not a Guarantee of Success</a:t>
            </a:r>
            <a:endParaRPr lang="en-US" sz="2400" dirty="0"/>
          </a:p>
        </p:txBody>
      </p:sp>
      <p:sp>
        <p:nvSpPr>
          <p:cNvPr id="4" name="b1:rise"/>
          <p:cNvSpPr/>
          <p:nvPr/>
        </p:nvSpPr>
        <p:spPr>
          <a:xfrm>
            <a:off x="609600" y="1381125"/>
            <a:ext cx="809625" cy="236190"/>
          </a:xfrm>
          <a:prstGeom prst="roundRect">
            <a:avLst>
              <a:gd name="adj" fmla="val 50000"/>
            </a:avLst>
          </a:prstGeom>
          <a:solidFill>
            <a:srgbClr val="BFE6E0"/>
          </a:solidFill>
          <a:ln/>
        </p:spPr>
      </p:sp>
      <p:sp>
        <p:nvSpPr>
          <p:cNvPr id="5" name="b1:rise"/>
          <p:cNvSpPr txBox="1"/>
          <p:nvPr/>
        </p:nvSpPr>
        <p:spPr>
          <a:xfrm>
            <a:off x="609600" y="1381125"/>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6" name="b1:rise"/>
          <p:cNvSpPr/>
          <p:nvPr/>
        </p:nvSpPr>
        <p:spPr>
          <a:xfrm>
            <a:off x="609600" y="1976884"/>
            <a:ext cx="4763" cy="0"/>
          </a:xfrm>
          <a:prstGeom prst="line">
            <a:avLst/>
          </a:prstGeom>
          <a:noFill/>
          <a:ln w="6350">
            <a:solidFill>
              <a:srgbClr val="D8DEE6"/>
            </a:solidFill>
            <a:prstDash val="solid"/>
          </a:ln>
        </p:spPr>
      </p:sp>
      <p:sp>
        <p:nvSpPr>
          <p:cNvPr id="7" name="b1:rise"/>
          <p:cNvSpPr/>
          <p:nvPr/>
        </p:nvSpPr>
        <p:spPr>
          <a:xfrm>
            <a:off x="2036043" y="1976884"/>
            <a:ext cx="4763" cy="0"/>
          </a:xfrm>
          <a:prstGeom prst="line">
            <a:avLst/>
          </a:prstGeom>
          <a:noFill/>
          <a:ln w="6350">
            <a:solidFill>
              <a:srgbClr val="D8DEE6"/>
            </a:solidFill>
            <a:prstDash val="solid"/>
          </a:ln>
        </p:spPr>
      </p:sp>
      <p:sp>
        <p:nvSpPr>
          <p:cNvPr id="8" name="b1:rise"/>
          <p:cNvSpPr txBox="1"/>
          <p:nvPr/>
        </p:nvSpPr>
        <p:spPr>
          <a:xfrm>
            <a:off x="2036043" y="1674465"/>
            <a:ext cx="3249141" cy="302419"/>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oppins" pitchFamily="34" charset="0"/>
                <a:ea typeface="Poppins" pitchFamily="34" charset="-122"/>
                <a:cs typeface="Poppins" pitchFamily="34" charset="-120"/>
              </a:rPr>
              <a:t>Article 2 · Consultants</a:t>
            </a:r>
            <a:endParaRPr lang="en-US" sz="900" dirty="0"/>
          </a:p>
        </p:txBody>
      </p:sp>
      <p:sp>
        <p:nvSpPr>
          <p:cNvPr id="9" name="b1:rise"/>
          <p:cNvSpPr/>
          <p:nvPr/>
        </p:nvSpPr>
        <p:spPr>
          <a:xfrm>
            <a:off x="5285184" y="1976884"/>
            <a:ext cx="4763" cy="0"/>
          </a:xfrm>
          <a:prstGeom prst="line">
            <a:avLst/>
          </a:prstGeom>
          <a:noFill/>
          <a:ln w="6350">
            <a:solidFill>
              <a:srgbClr val="D8DEE6"/>
            </a:solidFill>
            <a:prstDash val="solid"/>
          </a:ln>
        </p:spPr>
      </p:sp>
      <p:sp>
        <p:nvSpPr>
          <p:cNvPr id="10" name="b1:rise"/>
          <p:cNvSpPr txBox="1"/>
          <p:nvPr/>
        </p:nvSpPr>
        <p:spPr>
          <a:xfrm>
            <a:off x="5285184" y="1674465"/>
            <a:ext cx="3249216" cy="302419"/>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oppins" pitchFamily="34" charset="0"/>
                <a:ea typeface="Poppins" pitchFamily="34" charset="-122"/>
                <a:cs typeface="Poppins" pitchFamily="34" charset="-120"/>
              </a:rPr>
              <a:t>Article 5 · Entrepreneurs</a:t>
            </a:r>
            <a:endParaRPr lang="en-US" sz="900" dirty="0"/>
          </a:p>
        </p:txBody>
      </p:sp>
      <p:sp>
        <p:nvSpPr>
          <p:cNvPr id="11" name="b1:rise"/>
          <p:cNvSpPr/>
          <p:nvPr/>
        </p:nvSpPr>
        <p:spPr>
          <a:xfrm>
            <a:off x="609600" y="2281684"/>
            <a:ext cx="4763" cy="0"/>
          </a:xfrm>
          <a:prstGeom prst="line">
            <a:avLst/>
          </a:prstGeom>
          <a:noFill/>
          <a:ln w="6350">
            <a:solidFill>
              <a:srgbClr val="D8DEE6"/>
            </a:solidFill>
            <a:prstDash val="solid"/>
          </a:ln>
        </p:spPr>
      </p:sp>
      <p:sp>
        <p:nvSpPr>
          <p:cNvPr id="12" name="b1:rise"/>
          <p:cNvSpPr txBox="1"/>
          <p:nvPr/>
        </p:nvSpPr>
        <p:spPr>
          <a:xfrm>
            <a:off x="609600" y="1976884"/>
            <a:ext cx="1426443" cy="304800"/>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Focus</a:t>
            </a:r>
            <a:endParaRPr lang="en-US" sz="900" dirty="0"/>
          </a:p>
        </p:txBody>
      </p:sp>
      <p:sp>
        <p:nvSpPr>
          <p:cNvPr id="13" name="b1:rise"/>
          <p:cNvSpPr/>
          <p:nvPr/>
        </p:nvSpPr>
        <p:spPr>
          <a:xfrm>
            <a:off x="2036043" y="2281684"/>
            <a:ext cx="4763" cy="0"/>
          </a:xfrm>
          <a:prstGeom prst="line">
            <a:avLst/>
          </a:prstGeom>
          <a:noFill/>
          <a:ln w="6350">
            <a:solidFill>
              <a:srgbClr val="D8DEE6"/>
            </a:solidFill>
            <a:prstDash val="solid"/>
          </a:ln>
        </p:spPr>
      </p:sp>
      <p:sp>
        <p:nvSpPr>
          <p:cNvPr id="14" name="b1:rise"/>
          <p:cNvSpPr txBox="1"/>
          <p:nvPr/>
        </p:nvSpPr>
        <p:spPr>
          <a:xfrm>
            <a:off x="2036043" y="1976884"/>
            <a:ext cx="3249141" cy="304800"/>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Knowledge workers at BCG</a:t>
            </a:r>
            <a:endParaRPr lang="en-US" sz="900" dirty="0"/>
          </a:p>
        </p:txBody>
      </p:sp>
      <p:sp>
        <p:nvSpPr>
          <p:cNvPr id="15" name="b1:rise"/>
          <p:cNvSpPr/>
          <p:nvPr/>
        </p:nvSpPr>
        <p:spPr>
          <a:xfrm>
            <a:off x="5285184" y="2281684"/>
            <a:ext cx="4763" cy="0"/>
          </a:xfrm>
          <a:prstGeom prst="line">
            <a:avLst/>
          </a:prstGeom>
          <a:noFill/>
          <a:ln w="6350">
            <a:solidFill>
              <a:srgbClr val="D8DEE6"/>
            </a:solidFill>
            <a:prstDash val="solid"/>
          </a:ln>
        </p:spPr>
      </p:sp>
      <p:sp>
        <p:nvSpPr>
          <p:cNvPr id="16" name="b1:rise"/>
          <p:cNvSpPr txBox="1"/>
          <p:nvPr/>
        </p:nvSpPr>
        <p:spPr>
          <a:xfrm>
            <a:off x="5285184" y="1976884"/>
            <a:ext cx="3249216" cy="304800"/>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Small businesses in Kenya</a:t>
            </a:r>
            <a:endParaRPr lang="en-US" sz="900" dirty="0"/>
          </a:p>
        </p:txBody>
      </p:sp>
      <p:sp>
        <p:nvSpPr>
          <p:cNvPr id="17" name="b1:rise"/>
          <p:cNvSpPr/>
          <p:nvPr/>
        </p:nvSpPr>
        <p:spPr>
          <a:xfrm>
            <a:off x="609600" y="2281684"/>
            <a:ext cx="7924800" cy="471488"/>
          </a:xfrm>
          <a:prstGeom prst="rect">
            <a:avLst/>
          </a:prstGeom>
          <a:solidFill>
            <a:srgbClr val="EEF1F5"/>
          </a:solidFill>
          <a:ln/>
        </p:spPr>
      </p:sp>
      <p:sp>
        <p:nvSpPr>
          <p:cNvPr id="18" name="b1:rise"/>
          <p:cNvSpPr/>
          <p:nvPr/>
        </p:nvSpPr>
        <p:spPr>
          <a:xfrm>
            <a:off x="609600" y="2753171"/>
            <a:ext cx="4763" cy="0"/>
          </a:xfrm>
          <a:prstGeom prst="line">
            <a:avLst/>
          </a:prstGeom>
          <a:noFill/>
          <a:ln w="6350">
            <a:solidFill>
              <a:srgbClr val="D8DEE6"/>
            </a:solidFill>
            <a:prstDash val="solid"/>
          </a:ln>
        </p:spPr>
      </p:sp>
      <p:sp>
        <p:nvSpPr>
          <p:cNvPr id="19" name="b1:rise"/>
          <p:cNvSpPr txBox="1"/>
          <p:nvPr/>
        </p:nvSpPr>
        <p:spPr>
          <a:xfrm>
            <a:off x="609600" y="2281684"/>
            <a:ext cx="1483501"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Main result</a:t>
            </a:r>
            <a:endParaRPr lang="en-US" sz="900" dirty="0"/>
          </a:p>
        </p:txBody>
      </p:sp>
      <p:sp>
        <p:nvSpPr>
          <p:cNvPr id="20" name="b1:rise"/>
          <p:cNvSpPr/>
          <p:nvPr/>
        </p:nvSpPr>
        <p:spPr>
          <a:xfrm>
            <a:off x="2036043" y="2753171"/>
            <a:ext cx="4763" cy="0"/>
          </a:xfrm>
          <a:prstGeom prst="line">
            <a:avLst/>
          </a:prstGeom>
          <a:noFill/>
          <a:ln w="6350">
            <a:solidFill>
              <a:srgbClr val="D8DEE6"/>
            </a:solidFill>
            <a:prstDash val="solid"/>
          </a:ln>
        </p:spPr>
      </p:sp>
      <p:sp>
        <p:nvSpPr>
          <p:cNvPr id="21" name="b1:rise"/>
          <p:cNvSpPr txBox="1"/>
          <p:nvPr/>
        </p:nvSpPr>
        <p:spPr>
          <a:xfrm>
            <a:off x="2036043" y="2281684"/>
            <a:ext cx="3379107"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Higher productivity and quality inside AI's capability frontier</a:t>
            </a:r>
            <a:endParaRPr lang="en-US" sz="900" dirty="0"/>
          </a:p>
        </p:txBody>
      </p:sp>
      <p:sp>
        <p:nvSpPr>
          <p:cNvPr id="22" name="b1:rise"/>
          <p:cNvSpPr/>
          <p:nvPr/>
        </p:nvSpPr>
        <p:spPr>
          <a:xfrm>
            <a:off x="5285184" y="2753171"/>
            <a:ext cx="4763" cy="0"/>
          </a:xfrm>
          <a:prstGeom prst="line">
            <a:avLst/>
          </a:prstGeom>
          <a:noFill/>
          <a:ln w="6350">
            <a:solidFill>
              <a:srgbClr val="D8DEE6"/>
            </a:solidFill>
            <a:prstDash val="solid"/>
          </a:ln>
        </p:spPr>
      </p:sp>
      <p:sp>
        <p:nvSpPr>
          <p:cNvPr id="23" name="b1:rise"/>
          <p:cNvSpPr txBox="1"/>
          <p:nvPr/>
        </p:nvSpPr>
        <p:spPr>
          <a:xfrm>
            <a:off x="5285184" y="2281684"/>
            <a:ext cx="3379184"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No established average effect on revenue and profit</a:t>
            </a:r>
            <a:endParaRPr lang="en-US" sz="900" dirty="0"/>
          </a:p>
        </p:txBody>
      </p:sp>
      <p:sp>
        <p:nvSpPr>
          <p:cNvPr id="24" name="b1:rise"/>
          <p:cNvSpPr/>
          <p:nvPr/>
        </p:nvSpPr>
        <p:spPr>
          <a:xfrm>
            <a:off x="609600" y="3224659"/>
            <a:ext cx="4763" cy="0"/>
          </a:xfrm>
          <a:prstGeom prst="line">
            <a:avLst/>
          </a:prstGeom>
          <a:noFill/>
          <a:ln w="6350">
            <a:solidFill>
              <a:srgbClr val="D8DEE6"/>
            </a:solidFill>
            <a:prstDash val="solid"/>
          </a:ln>
        </p:spPr>
      </p:sp>
      <p:sp>
        <p:nvSpPr>
          <p:cNvPr id="25" name="b1:rise"/>
          <p:cNvSpPr txBox="1"/>
          <p:nvPr/>
        </p:nvSpPr>
        <p:spPr>
          <a:xfrm>
            <a:off x="609600" y="2753171"/>
            <a:ext cx="1483501"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Key insight</a:t>
            </a:r>
            <a:endParaRPr lang="en-US" sz="900" dirty="0"/>
          </a:p>
        </p:txBody>
      </p:sp>
      <p:sp>
        <p:nvSpPr>
          <p:cNvPr id="26" name="b1:rise"/>
          <p:cNvSpPr/>
          <p:nvPr/>
        </p:nvSpPr>
        <p:spPr>
          <a:xfrm>
            <a:off x="2036043" y="3224659"/>
            <a:ext cx="4763" cy="0"/>
          </a:xfrm>
          <a:prstGeom prst="line">
            <a:avLst/>
          </a:prstGeom>
          <a:noFill/>
          <a:ln w="6350">
            <a:solidFill>
              <a:srgbClr val="D8DEE6"/>
            </a:solidFill>
            <a:prstDash val="solid"/>
          </a:ln>
        </p:spPr>
      </p:sp>
      <p:sp>
        <p:nvSpPr>
          <p:cNvPr id="27" name="b1:rise"/>
          <p:cNvSpPr txBox="1"/>
          <p:nvPr/>
        </p:nvSpPr>
        <p:spPr>
          <a:xfrm>
            <a:off x="2036043" y="2753171"/>
            <a:ext cx="3379107"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Lower correctness on a task outside the frontier</a:t>
            </a:r>
            <a:endParaRPr lang="en-US" sz="900" dirty="0"/>
          </a:p>
        </p:txBody>
      </p:sp>
      <p:sp>
        <p:nvSpPr>
          <p:cNvPr id="28" name="b1:rise"/>
          <p:cNvSpPr/>
          <p:nvPr/>
        </p:nvSpPr>
        <p:spPr>
          <a:xfrm>
            <a:off x="5285184" y="3224659"/>
            <a:ext cx="4763" cy="0"/>
          </a:xfrm>
          <a:prstGeom prst="line">
            <a:avLst/>
          </a:prstGeom>
          <a:noFill/>
          <a:ln w="6350">
            <a:solidFill>
              <a:srgbClr val="D8DEE6"/>
            </a:solidFill>
            <a:prstDash val="solid"/>
          </a:ln>
        </p:spPr>
      </p:sp>
      <p:sp>
        <p:nvSpPr>
          <p:cNvPr id="29" name="b1:rise"/>
          <p:cNvSpPr txBox="1"/>
          <p:nvPr/>
        </p:nvSpPr>
        <p:spPr>
          <a:xfrm>
            <a:off x="5285184" y="2753171"/>
            <a:ext cx="3379184"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Outcomes depended on baseline performance and the advice implemented</a:t>
            </a:r>
            <a:endParaRPr lang="en-US" sz="900" dirty="0"/>
          </a:p>
        </p:txBody>
      </p:sp>
      <p:sp>
        <p:nvSpPr>
          <p:cNvPr id="30" name="b2:pop"/>
          <p:cNvSpPr/>
          <p:nvPr/>
        </p:nvSpPr>
        <p:spPr>
          <a:xfrm>
            <a:off x="609600" y="3143250"/>
            <a:ext cx="7924800" cy="1052066"/>
          </a:xfrm>
          <a:prstGeom prst="roundRect">
            <a:avLst>
              <a:gd name="adj" fmla="val 10864"/>
            </a:avLst>
          </a:prstGeom>
          <a:solidFill>
            <a:srgbClr val="2E8B86"/>
          </a:solidFill>
          <a:ln/>
        </p:spPr>
      </p:sp>
      <p:sp>
        <p:nvSpPr>
          <p:cNvPr id="31" name="b2:pop"/>
          <p:cNvSpPr/>
          <p:nvPr/>
        </p:nvSpPr>
        <p:spPr>
          <a:xfrm>
            <a:off x="819150" y="3276600"/>
            <a:ext cx="1362075" cy="217140"/>
          </a:xfrm>
          <a:prstGeom prst="roundRect">
            <a:avLst>
              <a:gd name="adj" fmla="val 50000"/>
            </a:avLst>
          </a:prstGeom>
          <a:solidFill>
            <a:srgbClr val="F7F9FB"/>
          </a:solidFill>
          <a:ln/>
        </p:spPr>
      </p:sp>
      <p:sp>
        <p:nvSpPr>
          <p:cNvPr id="32" name="b2:pop"/>
          <p:cNvSpPr txBox="1"/>
          <p:nvPr/>
        </p:nvSpPr>
        <p:spPr>
          <a:xfrm>
            <a:off x="819150" y="3276600"/>
            <a:ext cx="1362075"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INTERPRETATION</a:t>
            </a:r>
            <a:endParaRPr lang="en-US" sz="900" dirty="0"/>
          </a:p>
        </p:txBody>
      </p:sp>
      <p:sp>
        <p:nvSpPr>
          <p:cNvPr id="33" name="b2:pop"/>
          <p:cNvSpPr txBox="1"/>
          <p:nvPr/>
        </p:nvSpPr>
        <p:spPr>
          <a:xfrm>
            <a:off x="819150" y="3541365"/>
            <a:ext cx="3467100" cy="520601"/>
          </a:xfrm>
          <a:prstGeom prst="rect">
            <a:avLst/>
          </a:prstGeom>
          <a:noFill/>
          <a:ln/>
        </p:spPr>
        <p:txBody>
          <a:bodyPr wrap="square" lIns="0" tIns="0" rIns="0" bIns="0" rtlCol="0" anchor="t"/>
          <a:lstStyle/>
          <a:p>
            <a:pPr algn="l" indent="0" marL="0">
              <a:lnSpc>
                <a:spcPts val="1367"/>
              </a:lnSpc>
              <a:buNone/>
            </a:pPr>
            <a:r>
              <a:rPr lang="en-US" sz="1013" b="1" dirty="0">
                <a:solidFill>
                  <a:srgbClr val="F7F9FB"/>
                </a:solidFill>
                <a:latin typeface="Poppins" pitchFamily="34" charset="0"/>
                <a:ea typeface="Poppins" pitchFamily="34" charset="-122"/>
                <a:cs typeface="Poppins" pitchFamily="34" charset="-120"/>
              </a:rPr>
              <a:t>AI can influence real-world performance, but its impact depends on task suitability, user behavior, and </a:t>
            </a:r>
            <a:pPr algn="l" indent="0" marL="0">
              <a:lnSpc>
                <a:spcPts val="1367"/>
              </a:lnSpc>
              <a:buNone/>
            </a:pPr>
            <a:r>
              <a:rPr lang="en-US" sz="1013" b="1" u="sng" dirty="0">
                <a:solidFill>
                  <a:srgbClr val="F7F9FB"/>
                </a:solidFill>
                <a:latin typeface="Poppins" pitchFamily="34" charset="0"/>
                <a:ea typeface="Poppins" pitchFamily="34" charset="-122"/>
                <a:cs typeface="Poppins" pitchFamily="34" charset="-120"/>
              </a:rPr>
              <a:t>human judgment</a:t>
            </a:r>
            <a:pPr algn="l" indent="0" marL="0">
              <a:lnSpc>
                <a:spcPts val="1367"/>
              </a:lnSpc>
              <a:buNone/>
            </a:pPr>
            <a:r>
              <a:rPr lang="en-US" sz="1013" b="1" dirty="0">
                <a:solidFill>
                  <a:srgbClr val="F7F9FB"/>
                </a:solidFill>
                <a:latin typeface="Poppins" pitchFamily="34" charset="0"/>
                <a:ea typeface="Poppins" pitchFamily="34" charset="-122"/>
                <a:cs typeface="Poppins" pitchFamily="34" charset="-120"/>
              </a:rPr>
              <a:t>.</a:t>
            </a:r>
            <a:endParaRPr lang="en-US" sz="1013" dirty="0"/>
          </a:p>
        </p:txBody>
      </p:sp>
      <p:pic>
        <p:nvPicPr>
          <p:cNvPr id="34" name="b2:pop icon Check" descr="preencoded.png">    </p:cNvPr>
          <p:cNvPicPr>
            <a:picLocks noChangeAspect="1"/>
          </p:cNvPicPr>
          <p:nvPr/>
        </p:nvPicPr>
        <p:blipFill>
          <a:blip r:embed="rId1"/>
          <a:stretch>
            <a:fillRect/>
          </a:stretch>
        </p:blipFill>
        <p:spPr>
          <a:xfrm>
            <a:off x="4343400" y="3390230"/>
            <a:ext cx="142875" cy="142875"/>
          </a:xfrm>
          <a:prstGeom prst="rect">
            <a:avLst/>
          </a:prstGeom>
        </p:spPr>
      </p:pic>
      <p:sp>
        <p:nvSpPr>
          <p:cNvPr id="35" name="b2:pop"/>
          <p:cNvSpPr txBox="1"/>
          <p:nvPr/>
        </p:nvSpPr>
        <p:spPr>
          <a:xfrm>
            <a:off x="4552950" y="3381673"/>
            <a:ext cx="1772841"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Match the task to AI's strengths</a:t>
            </a:r>
            <a:endParaRPr lang="en-US" sz="900" dirty="0"/>
          </a:p>
        </p:txBody>
      </p:sp>
      <p:pic>
        <p:nvPicPr>
          <p:cNvPr id="36" name="b2:pop icon Check" descr="preencoded.png">    </p:cNvPr>
          <p:cNvPicPr>
            <a:picLocks noChangeAspect="1"/>
          </p:cNvPicPr>
          <p:nvPr/>
        </p:nvPicPr>
        <p:blipFill>
          <a:blip r:embed="rId2"/>
          <a:stretch>
            <a:fillRect/>
          </a:stretch>
        </p:blipFill>
        <p:spPr>
          <a:xfrm>
            <a:off x="4343400" y="3597846"/>
            <a:ext cx="142875" cy="142875"/>
          </a:xfrm>
          <a:prstGeom prst="rect">
            <a:avLst/>
          </a:prstGeom>
        </p:spPr>
      </p:pic>
      <p:sp>
        <p:nvSpPr>
          <p:cNvPr id="37" name="b2:pop"/>
          <p:cNvSpPr txBox="1"/>
          <p:nvPr/>
        </p:nvSpPr>
        <p:spPr>
          <a:xfrm>
            <a:off x="4552950" y="3589288"/>
            <a:ext cx="1551905"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Evaluate AI advice critically</a:t>
            </a:r>
            <a:endParaRPr lang="en-US" sz="900" dirty="0"/>
          </a:p>
        </p:txBody>
      </p:sp>
      <p:pic>
        <p:nvPicPr>
          <p:cNvPr id="38" name="b2:pop icon Check" descr="preencoded.png">    </p:cNvPr>
          <p:cNvPicPr>
            <a:picLocks noChangeAspect="1"/>
          </p:cNvPicPr>
          <p:nvPr/>
        </p:nvPicPr>
        <p:blipFill>
          <a:blip r:embed="rId3"/>
          <a:stretch>
            <a:fillRect/>
          </a:stretch>
        </p:blipFill>
        <p:spPr>
          <a:xfrm>
            <a:off x="4343400" y="3805461"/>
            <a:ext cx="142875" cy="142875"/>
          </a:xfrm>
          <a:prstGeom prst="rect">
            <a:avLst/>
          </a:prstGeom>
        </p:spPr>
      </p:pic>
      <p:sp>
        <p:nvSpPr>
          <p:cNvPr id="39" name="b2:pop"/>
          <p:cNvSpPr txBox="1"/>
          <p:nvPr/>
        </p:nvSpPr>
        <p:spPr>
          <a:xfrm>
            <a:off x="4552950" y="3796903"/>
            <a:ext cx="1952476"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Keep human judgment in the loop</a:t>
            </a:r>
            <a:endParaRPr lang="en-US" sz="900" dirty="0"/>
          </a:p>
        </p:txBody>
      </p:sp>
      <p:pic>
        <p:nvPicPr>
          <p:cNvPr id="40" name="b2:pop (Person reaching out to shake hands)" descr="/home/user/slide-present-en/presentation/webdeck/art/human-shake-teal.png">    </p:cNvPr>
          <p:cNvPicPr>
            <a:picLocks noChangeAspect="1"/>
          </p:cNvPicPr>
          <p:nvPr/>
        </p:nvPicPr>
        <p:blipFill>
          <a:blip r:embed="rId4"/>
          <a:stretch>
            <a:fillRect/>
          </a:stretch>
        </p:blipFill>
        <p:spPr>
          <a:xfrm>
            <a:off x="7134225" y="3345433"/>
            <a:ext cx="571500" cy="647700"/>
          </a:xfrm>
          <a:prstGeom prst="rect">
            <a:avLst/>
          </a:prstGeom>
        </p:spPr>
      </p:pic>
      <p:pic>
        <p:nvPicPr>
          <p:cNvPr id="41" name="b2:pop (Robot mascot reaching out to shake hands)" descr="/home/user/slide-present-en/presentation/webdeck/art/robot-shake-teal.png">    </p:cNvPr>
          <p:cNvPicPr>
            <a:picLocks noChangeAspect="1"/>
          </p:cNvPicPr>
          <p:nvPr/>
        </p:nvPicPr>
        <p:blipFill>
          <a:blip r:embed="rId5"/>
          <a:stretch>
            <a:fillRect/>
          </a:stretch>
        </p:blipFill>
        <p:spPr>
          <a:xfrm>
            <a:off x="7705725" y="3345433"/>
            <a:ext cx="619125" cy="647700"/>
          </a:xfrm>
          <a:prstGeom prst="rect">
            <a:avLst/>
          </a:prstGeom>
        </p:spPr>
      </p:pic>
      <p:sp>
        <p:nvSpPr>
          <p:cNvPr id="42" name="static"/>
          <p:cNvSpPr txBox="1"/>
          <p:nvPr/>
        </p:nvSpPr>
        <p:spPr>
          <a:xfrm>
            <a:off x="609600" y="4678710"/>
            <a:ext cx="5448300" cy="319980"/>
          </a:xfrm>
          <a:prstGeom prst="rect">
            <a:avLst/>
          </a:prstGeom>
          <a:noFill/>
          <a:ln/>
        </p:spPr>
        <p:txBody>
          <a:bodyPr wrap="square" lIns="0" tIns="0" rIns="0" bIns="0" rtlCol="0" anchor="t"/>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HBS Working Paper 24-013 · Otis et al. (2026), Management Science 72(7), doi.org/10.1287/mnsc.2024.06909</a:t>
            </a:r>
            <a:endParaRPr lang="en-US" sz="900" dirty="0"/>
          </a:p>
        </p:txBody>
      </p:sp>
      <p:sp>
        <p:nvSpPr>
          <p:cNvPr id="43" name="b3:fade"/>
          <p:cNvSpPr txBox="1"/>
          <p:nvPr/>
        </p:nvSpPr>
        <p:spPr>
          <a:xfrm>
            <a:off x="6153150" y="4678710"/>
            <a:ext cx="23812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Thank you.</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Questions are welcome.</a:t>
            </a:r>
            <a:endParaRPr lang="en-US" sz="900" dirty="0"/>
          </a:p>
        </p:txBody>
      </p:sp>
      <p:sp>
        <p:nvSpPr>
          <p:cNvPr id="44" name="!!key4-en-1"/>
          <p:cNvSpPr/>
          <p:nvPr/>
        </p:nvSpPr>
        <p:spPr>
          <a:xfrm>
            <a:off x="7048500" y="342900"/>
            <a:ext cx="1485900" cy="255240"/>
          </a:xfrm>
          <a:prstGeom prst="roundRect">
            <a:avLst>
              <a:gd name="adj" fmla="val 50000"/>
            </a:avLst>
          </a:prstGeom>
          <a:solidFill>
            <a:srgbClr val="2E8B86"/>
          </a:solidFill>
          <a:ln/>
        </p:spPr>
      </p:sp>
      <p:sp>
        <p:nvSpPr>
          <p:cNvPr id="45" name="!!key4-en-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Human judgment</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07" fill="hold">
                      <p:stCondLst>
                        <p:cond delay="indefinite"/>
                      </p:stCondLst>
                      <p:childTnLst>
                        <p:par>
                          <p:cTn id="10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8"/>
                                          </p:val>
                                        </p:tav>
                                        <p:tav tm="100000">
                                          <p:val>
                                            <p:strVal val="#ppt_y"/>
                                          </p:val>
                                        </p:tav>
                                      </p:tavLst>
                                    </p:anim>
                                  </p:childTnLst>
                                </p:cTn>
                              </p:par>
                            </p:childTnLst>
                          </p:cTn>
                        </p:par>
                      </p:childTnLst>
                    </p:cTn>
                  </p:par>
                  <p:par>
                    <p:cTn id="157" fill="hold">
                      <p:stCondLst>
                        <p:cond delay="indefinite"/>
                      </p:stCondLst>
                      <p:childTnLst>
                        <p:par>
                          <p:cTn id="158" fill="hold">
                            <p:stCondLst>
                              <p:cond delay="0"/>
                            </p:stCondLst>
                            <p:childTnLst>
                              <p:par>
                                <p:cTn id="109" presetID="23" presetClass="entr" presetSubtype="16" fill="hold" grpId="0" nodeType="clickEffect">
                                  <p:stCondLst>
                                    <p:cond delay="0"/>
                                  </p:stCondLst>
                                  <p:childTnLst>
                                    <p:set>
                                      <p:cBhvr>
                                        <p:cTn id="110" dur="1" fill="hold">
                                          <p:stCondLst>
                                            <p:cond delay="0"/>
                                          </p:stCondLst>
                                        </p:cTn>
                                        <p:tgtEl>
                                          <p:spTgt spid="30"/>
                                        </p:tgtEl>
                                        <p:attrNameLst>
                                          <p:attrName>style.visibility</p:attrName>
                                        </p:attrNameLst>
                                      </p:cBhvr>
                                      <p:to>
                                        <p:strVal val="visible"/>
                                      </p:to>
                                    </p:set>
                                    <p:animScale>
                                      <p:cBhvr>
                                        <p:cTn id="111" dur="500" fill="hold"/>
                                        <p:tgtEl>
                                          <p:spTgt spid="30"/>
                                        </p:tgtEl>
                                      </p:cBhvr>
                                      <p:from x="0" y="0"/>
                                      <p:to x="100000" y="100000"/>
                                    </p:animScale>
                                    <p:animEffect transition="in" filter="fade">
                                      <p:cBhvr>
                                        <p:cTn id="112" dur="500"/>
                                        <p:tgtEl>
                                          <p:spTgt spid="30"/>
                                        </p:tgtEl>
                                      </p:cBhvr>
                                    </p:animEffect>
                                  </p:childTnLst>
                                </p:cTn>
                              </p:par>
                              <p:par>
                                <p:cTn id="113" presetID="23" presetClass="entr" presetSubtype="16" fill="hold" grpId="0" nodeType="withEffect">
                                  <p:stCondLst>
                                    <p:cond delay="0"/>
                                  </p:stCondLst>
                                  <p:childTnLst>
                                    <p:set>
                                      <p:cBhvr>
                                        <p:cTn id="114" dur="1" fill="hold">
                                          <p:stCondLst>
                                            <p:cond delay="0"/>
                                          </p:stCondLst>
                                        </p:cTn>
                                        <p:tgtEl>
                                          <p:spTgt spid="31"/>
                                        </p:tgtEl>
                                        <p:attrNameLst>
                                          <p:attrName>style.visibility</p:attrName>
                                        </p:attrNameLst>
                                      </p:cBhvr>
                                      <p:to>
                                        <p:strVal val="visible"/>
                                      </p:to>
                                    </p:set>
                                    <p:animScale>
                                      <p:cBhvr>
                                        <p:cTn id="115" dur="500" fill="hold"/>
                                        <p:tgtEl>
                                          <p:spTgt spid="31"/>
                                        </p:tgtEl>
                                      </p:cBhvr>
                                      <p:from x="0" y="0"/>
                                      <p:to x="100000" y="100000"/>
                                    </p:animScale>
                                    <p:animEffect transition="in" filter="fade">
                                      <p:cBhvr>
                                        <p:cTn id="116" dur="500"/>
                                        <p:tgtEl>
                                          <p:spTgt spid="31"/>
                                        </p:tgtEl>
                                      </p:cBhvr>
                                    </p:animEffect>
                                  </p:childTnLst>
                                </p:cTn>
                              </p:par>
                              <p:par>
                                <p:cTn id="117" presetID="23" presetClass="entr" presetSubtype="16" fill="hold" grpId="0" nodeType="withEffect">
                                  <p:stCondLst>
                                    <p:cond delay="0"/>
                                  </p:stCondLst>
                                  <p:childTnLst>
                                    <p:set>
                                      <p:cBhvr>
                                        <p:cTn id="118" dur="1" fill="hold">
                                          <p:stCondLst>
                                            <p:cond delay="0"/>
                                          </p:stCondLst>
                                        </p:cTn>
                                        <p:tgtEl>
                                          <p:spTgt spid="32"/>
                                        </p:tgtEl>
                                        <p:attrNameLst>
                                          <p:attrName>style.visibility</p:attrName>
                                        </p:attrNameLst>
                                      </p:cBhvr>
                                      <p:to>
                                        <p:strVal val="visible"/>
                                      </p:to>
                                    </p:set>
                                    <p:animScale>
                                      <p:cBhvr>
                                        <p:cTn id="119" dur="500" fill="hold"/>
                                        <p:tgtEl>
                                          <p:spTgt spid="32"/>
                                        </p:tgtEl>
                                      </p:cBhvr>
                                      <p:from x="0" y="0"/>
                                      <p:to x="100000" y="100000"/>
                                    </p:animScale>
                                    <p:animEffect transition="in" filter="fade">
                                      <p:cBhvr>
                                        <p:cTn id="120" dur="500"/>
                                        <p:tgtEl>
                                          <p:spTgt spid="32"/>
                                        </p:tgtEl>
                                      </p:cBhvr>
                                    </p:animEffect>
                                  </p:childTnLst>
                                </p:cTn>
                              </p:par>
                              <p:par>
                                <p:cTn id="121" presetID="23" presetClass="entr" presetSubtype="16" fill="hold" grpId="0" nodeType="withEffect">
                                  <p:stCondLst>
                                    <p:cond delay="0"/>
                                  </p:stCondLst>
                                  <p:childTnLst>
                                    <p:set>
                                      <p:cBhvr>
                                        <p:cTn id="122" dur="1" fill="hold">
                                          <p:stCondLst>
                                            <p:cond delay="0"/>
                                          </p:stCondLst>
                                        </p:cTn>
                                        <p:tgtEl>
                                          <p:spTgt spid="33"/>
                                        </p:tgtEl>
                                        <p:attrNameLst>
                                          <p:attrName>style.visibility</p:attrName>
                                        </p:attrNameLst>
                                      </p:cBhvr>
                                      <p:to>
                                        <p:strVal val="visible"/>
                                      </p:to>
                                    </p:set>
                                    <p:animScale>
                                      <p:cBhvr>
                                        <p:cTn id="123" dur="500" fill="hold"/>
                                        <p:tgtEl>
                                          <p:spTgt spid="33"/>
                                        </p:tgtEl>
                                      </p:cBhvr>
                                      <p:from x="0" y="0"/>
                                      <p:to x="100000" y="100000"/>
                                    </p:animScale>
                                    <p:animEffect transition="in" filter="fade">
                                      <p:cBhvr>
                                        <p:cTn id="124" dur="500"/>
                                        <p:tgtEl>
                                          <p:spTgt spid="33"/>
                                        </p:tgtEl>
                                      </p:cBhvr>
                                    </p:animEffect>
                                  </p:childTnLst>
                                </p:cTn>
                              </p:par>
                              <p:par>
                                <p:cTn id="125" presetID="23" presetClass="entr" presetSubtype="16" fill="hold" grpId="0" nodeType="withEffect">
                                  <p:stCondLst>
                                    <p:cond delay="0"/>
                                  </p:stCondLst>
                                  <p:childTnLst>
                                    <p:set>
                                      <p:cBhvr>
                                        <p:cTn id="126" dur="1" fill="hold">
                                          <p:stCondLst>
                                            <p:cond delay="0"/>
                                          </p:stCondLst>
                                        </p:cTn>
                                        <p:tgtEl>
                                          <p:spTgt spid="34"/>
                                        </p:tgtEl>
                                        <p:attrNameLst>
                                          <p:attrName>style.visibility</p:attrName>
                                        </p:attrNameLst>
                                      </p:cBhvr>
                                      <p:to>
                                        <p:strVal val="visible"/>
                                      </p:to>
                                    </p:set>
                                    <p:animScale>
                                      <p:cBhvr>
                                        <p:cTn id="127" dur="500" fill="hold"/>
                                        <p:tgtEl>
                                          <p:spTgt spid="34"/>
                                        </p:tgtEl>
                                      </p:cBhvr>
                                      <p:from x="0" y="0"/>
                                      <p:to x="100000" y="100000"/>
                                    </p:animScale>
                                    <p:animEffect transition="in" filter="fade">
                                      <p:cBhvr>
                                        <p:cTn id="128" dur="500"/>
                                        <p:tgtEl>
                                          <p:spTgt spid="34"/>
                                        </p:tgtEl>
                                      </p:cBhvr>
                                    </p:animEffect>
                                  </p:childTnLst>
                                </p:cTn>
                              </p:par>
                              <p:par>
                                <p:cTn id="129" presetID="23" presetClass="entr" presetSubtype="16" fill="hold" grpId="0" nodeType="withEffect">
                                  <p:stCondLst>
                                    <p:cond delay="0"/>
                                  </p:stCondLst>
                                  <p:childTnLst>
                                    <p:set>
                                      <p:cBhvr>
                                        <p:cTn id="130" dur="1" fill="hold">
                                          <p:stCondLst>
                                            <p:cond delay="0"/>
                                          </p:stCondLst>
                                        </p:cTn>
                                        <p:tgtEl>
                                          <p:spTgt spid="35"/>
                                        </p:tgtEl>
                                        <p:attrNameLst>
                                          <p:attrName>style.visibility</p:attrName>
                                        </p:attrNameLst>
                                      </p:cBhvr>
                                      <p:to>
                                        <p:strVal val="visible"/>
                                      </p:to>
                                    </p:set>
                                    <p:animScale>
                                      <p:cBhvr>
                                        <p:cTn id="131" dur="500" fill="hold"/>
                                        <p:tgtEl>
                                          <p:spTgt spid="35"/>
                                        </p:tgtEl>
                                      </p:cBhvr>
                                      <p:from x="0" y="0"/>
                                      <p:to x="100000" y="100000"/>
                                    </p:animScale>
                                    <p:animEffect transition="in" filter="fade">
                                      <p:cBhvr>
                                        <p:cTn id="132" dur="500"/>
                                        <p:tgtEl>
                                          <p:spTgt spid="35"/>
                                        </p:tgtEl>
                                      </p:cBhvr>
                                    </p:animEffect>
                                  </p:childTnLst>
                                </p:cTn>
                              </p:par>
                              <p:par>
                                <p:cTn id="133" presetID="23" presetClass="entr" presetSubtype="16" fill="hold" grpId="0" nodeType="withEffect">
                                  <p:stCondLst>
                                    <p:cond delay="0"/>
                                  </p:stCondLst>
                                  <p:childTnLst>
                                    <p:set>
                                      <p:cBhvr>
                                        <p:cTn id="134" dur="1" fill="hold">
                                          <p:stCondLst>
                                            <p:cond delay="0"/>
                                          </p:stCondLst>
                                        </p:cTn>
                                        <p:tgtEl>
                                          <p:spTgt spid="36"/>
                                        </p:tgtEl>
                                        <p:attrNameLst>
                                          <p:attrName>style.visibility</p:attrName>
                                        </p:attrNameLst>
                                      </p:cBhvr>
                                      <p:to>
                                        <p:strVal val="visible"/>
                                      </p:to>
                                    </p:set>
                                    <p:animScale>
                                      <p:cBhvr>
                                        <p:cTn id="135" dur="500" fill="hold"/>
                                        <p:tgtEl>
                                          <p:spTgt spid="36"/>
                                        </p:tgtEl>
                                      </p:cBhvr>
                                      <p:from x="0" y="0"/>
                                      <p:to x="100000" y="100000"/>
                                    </p:animScale>
                                    <p:animEffect transition="in" filter="fade">
                                      <p:cBhvr>
                                        <p:cTn id="136" dur="500"/>
                                        <p:tgtEl>
                                          <p:spTgt spid="36"/>
                                        </p:tgtEl>
                                      </p:cBhvr>
                                    </p:animEffect>
                                  </p:childTnLst>
                                </p:cTn>
                              </p:par>
                              <p:par>
                                <p:cTn id="137" presetID="23" presetClass="entr" presetSubtype="16" fill="hold" grpId="0" nodeType="withEffect">
                                  <p:stCondLst>
                                    <p:cond delay="0"/>
                                  </p:stCondLst>
                                  <p:childTnLst>
                                    <p:set>
                                      <p:cBhvr>
                                        <p:cTn id="138" dur="1" fill="hold">
                                          <p:stCondLst>
                                            <p:cond delay="0"/>
                                          </p:stCondLst>
                                        </p:cTn>
                                        <p:tgtEl>
                                          <p:spTgt spid="37"/>
                                        </p:tgtEl>
                                        <p:attrNameLst>
                                          <p:attrName>style.visibility</p:attrName>
                                        </p:attrNameLst>
                                      </p:cBhvr>
                                      <p:to>
                                        <p:strVal val="visible"/>
                                      </p:to>
                                    </p:set>
                                    <p:animScale>
                                      <p:cBhvr>
                                        <p:cTn id="139" dur="500" fill="hold"/>
                                        <p:tgtEl>
                                          <p:spTgt spid="37"/>
                                        </p:tgtEl>
                                      </p:cBhvr>
                                      <p:from x="0" y="0"/>
                                      <p:to x="100000" y="100000"/>
                                    </p:animScale>
                                    <p:animEffect transition="in" filter="fade">
                                      <p:cBhvr>
                                        <p:cTn id="140" dur="500"/>
                                        <p:tgtEl>
                                          <p:spTgt spid="37"/>
                                        </p:tgtEl>
                                      </p:cBhvr>
                                    </p:animEffect>
                                  </p:childTnLst>
                                </p:cTn>
                              </p:par>
                              <p:par>
                                <p:cTn id="141" presetID="23" presetClass="entr" presetSubtype="16" fill="hold" grpId="0" nodeType="withEffect">
                                  <p:stCondLst>
                                    <p:cond delay="0"/>
                                  </p:stCondLst>
                                  <p:childTnLst>
                                    <p:set>
                                      <p:cBhvr>
                                        <p:cTn id="142" dur="1" fill="hold">
                                          <p:stCondLst>
                                            <p:cond delay="0"/>
                                          </p:stCondLst>
                                        </p:cTn>
                                        <p:tgtEl>
                                          <p:spTgt spid="38"/>
                                        </p:tgtEl>
                                        <p:attrNameLst>
                                          <p:attrName>style.visibility</p:attrName>
                                        </p:attrNameLst>
                                      </p:cBhvr>
                                      <p:to>
                                        <p:strVal val="visible"/>
                                      </p:to>
                                    </p:set>
                                    <p:animScale>
                                      <p:cBhvr>
                                        <p:cTn id="143" dur="500" fill="hold"/>
                                        <p:tgtEl>
                                          <p:spTgt spid="38"/>
                                        </p:tgtEl>
                                      </p:cBhvr>
                                      <p:from x="0" y="0"/>
                                      <p:to x="100000" y="100000"/>
                                    </p:animScale>
                                    <p:animEffect transition="in" filter="fade">
                                      <p:cBhvr>
                                        <p:cTn id="144" dur="500"/>
                                        <p:tgtEl>
                                          <p:spTgt spid="38"/>
                                        </p:tgtEl>
                                      </p:cBhvr>
                                    </p:animEffect>
                                  </p:childTnLst>
                                </p:cTn>
                              </p:par>
                              <p:par>
                                <p:cTn id="145" presetID="23" presetClass="entr" presetSubtype="16" fill="hold" grpId="0" nodeType="withEffect">
                                  <p:stCondLst>
                                    <p:cond delay="0"/>
                                  </p:stCondLst>
                                  <p:childTnLst>
                                    <p:set>
                                      <p:cBhvr>
                                        <p:cTn id="146" dur="1" fill="hold">
                                          <p:stCondLst>
                                            <p:cond delay="0"/>
                                          </p:stCondLst>
                                        </p:cTn>
                                        <p:tgtEl>
                                          <p:spTgt spid="39"/>
                                        </p:tgtEl>
                                        <p:attrNameLst>
                                          <p:attrName>style.visibility</p:attrName>
                                        </p:attrNameLst>
                                      </p:cBhvr>
                                      <p:to>
                                        <p:strVal val="visible"/>
                                      </p:to>
                                    </p:set>
                                    <p:animScale>
                                      <p:cBhvr>
                                        <p:cTn id="147" dur="500" fill="hold"/>
                                        <p:tgtEl>
                                          <p:spTgt spid="39"/>
                                        </p:tgtEl>
                                      </p:cBhvr>
                                      <p:from x="0" y="0"/>
                                      <p:to x="100000" y="100000"/>
                                    </p:animScale>
                                    <p:animEffect transition="in" filter="fade">
                                      <p:cBhvr>
                                        <p:cTn id="148" dur="500"/>
                                        <p:tgtEl>
                                          <p:spTgt spid="39"/>
                                        </p:tgtEl>
                                      </p:cBhvr>
                                    </p:animEffect>
                                  </p:childTnLst>
                                </p:cTn>
                              </p:par>
                              <p:par>
                                <p:cTn id="149" presetID="23" presetClass="entr" presetSubtype="16" fill="hold" grpId="0" nodeType="withEffect">
                                  <p:stCondLst>
                                    <p:cond delay="0"/>
                                  </p:stCondLst>
                                  <p:childTnLst>
                                    <p:set>
                                      <p:cBhvr>
                                        <p:cTn id="150" dur="1" fill="hold">
                                          <p:stCondLst>
                                            <p:cond delay="0"/>
                                          </p:stCondLst>
                                        </p:cTn>
                                        <p:tgtEl>
                                          <p:spTgt spid="40"/>
                                        </p:tgtEl>
                                        <p:attrNameLst>
                                          <p:attrName>style.visibility</p:attrName>
                                        </p:attrNameLst>
                                      </p:cBhvr>
                                      <p:to>
                                        <p:strVal val="visible"/>
                                      </p:to>
                                    </p:set>
                                    <p:animScale>
                                      <p:cBhvr>
                                        <p:cTn id="151" dur="500" fill="hold"/>
                                        <p:tgtEl>
                                          <p:spTgt spid="40"/>
                                        </p:tgtEl>
                                      </p:cBhvr>
                                      <p:from x="0" y="0"/>
                                      <p:to x="100000" y="100000"/>
                                    </p:animScale>
                                    <p:animEffect transition="in" filter="fade">
                                      <p:cBhvr>
                                        <p:cTn id="152" dur="500"/>
                                        <p:tgtEl>
                                          <p:spTgt spid="40"/>
                                        </p:tgtEl>
                                      </p:cBhvr>
                                    </p:animEffect>
                                  </p:childTnLst>
                                </p:cTn>
                              </p:par>
                              <p:par>
                                <p:cTn id="153" presetID="23" presetClass="entr" presetSubtype="16" fill="hold" grpId="0" nodeType="withEffect">
                                  <p:stCondLst>
                                    <p:cond delay="0"/>
                                  </p:stCondLst>
                                  <p:childTnLst>
                                    <p:set>
                                      <p:cBhvr>
                                        <p:cTn id="154" dur="1" fill="hold">
                                          <p:stCondLst>
                                            <p:cond delay="0"/>
                                          </p:stCondLst>
                                        </p:cTn>
                                        <p:tgtEl>
                                          <p:spTgt spid="41"/>
                                        </p:tgtEl>
                                        <p:attrNameLst>
                                          <p:attrName>style.visibility</p:attrName>
                                        </p:attrNameLst>
                                      </p:cBhvr>
                                      <p:to>
                                        <p:strVal val="visible"/>
                                      </p:to>
                                    </p:set>
                                    <p:animScale>
                                      <p:cBhvr>
                                        <p:cTn id="155" dur="500" fill="hold"/>
                                        <p:tgtEl>
                                          <p:spTgt spid="41"/>
                                        </p:tgtEl>
                                      </p:cBhvr>
                                      <p:from x="0" y="0"/>
                                      <p:to x="100000" y="100000"/>
                                    </p:animScale>
                                    <p:animEffect transition="in" filter="fade">
                                      <p:cBhvr>
                                        <p:cTn id="156" dur="500"/>
                                        <p:tgtEl>
                                          <p:spTgt spid="41"/>
                                        </p:tgtEl>
                                      </p:cBhvr>
                                    </p:animEffect>
                                  </p:childTnLst>
                                </p:cTn>
                              </p:par>
                            </p:childTnLst>
                          </p:cTn>
                        </p:par>
                      </p:childTnLst>
                    </p:cTn>
                  </p:par>
                  <p:par>
                    <p:cTn id="162" fill="hold">
                      <p:stCondLst>
                        <p:cond delay="indefinite"/>
                      </p:stCondLst>
                      <p:childTnLst>
                        <p:par>
                          <p:cTn id="163" fill="hold">
                            <p:stCondLst>
                              <p:cond delay="0"/>
                            </p:stCondLst>
                            <p:childTnLst>
                              <p:par>
                                <p:cTn id="159" presetID="10" presetClass="entr" presetSubtype="0" fill="hold" grpId="0" nodeType="clickEffect">
                                  <p:stCondLst>
                                    <p:cond delay="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7" grpId="0" animBg="1"/>
      <p:bldP spid="39" grpId="0" animBg="1"/>
      <p:bldP spid="4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4A"/>
        </a:solidFill>
      </p:bgPr>
    </p:bg>
    <p:spTree>
      <p:nvGrpSpPr>
        <p:cNvPr id="1" name=""/>
        <p:cNvGrpSpPr/>
        <p:nvPr/>
      </p:nvGrpSpPr>
      <p:grpSpPr>
        <a:xfrm>
          <a:off x="0" y="0"/>
          <a:ext cx="0" cy="0"/>
          <a:chOff x="0" y="0"/>
          <a:chExt cx="0" cy="0"/>
        </a:xfrm>
      </p:grpSpPr>
      <p:pic>
        <p:nvPicPr>
          <p:cNvPr id="2" name="static" descr="/home/user/slide-present-en/presentation/webdeck/art/bg-dark.jpg">    </p:cNvPr>
          <p:cNvPicPr>
            <a:picLocks noChangeAspect="1"/>
          </p:cNvPicPr>
          <p:nvPr/>
        </p:nvPicPr>
        <p:blipFill>
          <a:blip r:embed="rId1"/>
          <a:stretch>
            <a:fillRect/>
          </a:stretch>
        </p:blipFill>
        <p:spPr>
          <a:xfrm>
            <a:off x="0" y="0"/>
            <a:ext cx="9144000" cy="5143500"/>
          </a:xfrm>
          <a:prstGeom prst="rect">
            <a:avLst/>
          </a:prstGeom>
        </p:spPr>
      </p:pic>
      <p:sp>
        <p:nvSpPr>
          <p:cNvPr id="3" name="static"/>
          <p:cNvSpPr txBox="1"/>
          <p:nvPr/>
        </p:nvSpPr>
        <p:spPr>
          <a:xfrm>
            <a:off x="609600" y="5334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BFE6E0"/>
                </a:solidFill>
                <a:latin typeface="Prompt" pitchFamily="34" charset="0"/>
                <a:ea typeface="Prompt" pitchFamily="34" charset="-122"/>
                <a:cs typeface="Prompt" pitchFamily="34" charset="-120"/>
              </a:rPr>
              <a:t>ENG 501 · ENGLISH FOR MASTER'S DEGREE</a:t>
            </a:r>
            <a:endParaRPr lang="en-US" sz="900" dirty="0"/>
          </a:p>
        </p:txBody>
      </p:sp>
      <p:sp>
        <p:nvSpPr>
          <p:cNvPr id="4" name="static"/>
          <p:cNvSpPr txBox="1"/>
          <p:nvPr/>
        </p:nvSpPr>
        <p:spPr>
          <a:xfrm>
            <a:off x="609600" y="693390"/>
            <a:ext cx="5943600" cy="1059061"/>
          </a:xfrm>
          <a:prstGeom prst="rect">
            <a:avLst/>
          </a:prstGeom>
          <a:noFill/>
          <a:ln/>
        </p:spPr>
        <p:txBody>
          <a:bodyPr wrap="square" lIns="0" tIns="95250" rIns="0" bIns="0" rtlCol="0" anchor="t"/>
          <a:lstStyle/>
          <a:p>
            <a:pPr algn="l" indent="0" marL="0">
              <a:lnSpc>
                <a:spcPts val="3795"/>
              </a:lnSpc>
              <a:buNone/>
            </a:pPr>
            <a:r>
              <a:rPr lang="en-US" sz="3300" b="1" dirty="0">
                <a:solidFill>
                  <a:srgbClr val="F7F9FB"/>
                </a:solidFill>
                <a:latin typeface="Prompt" pitchFamily="34" charset="0"/>
                <a:ea typeface="Prompt" pitchFamily="34" charset="-122"/>
                <a:cs typeface="Prompt" pitchFamily="34" charset="-120"/>
              </a:rPr>
              <a:t>ปัญญาประดิษฐ์กับประสิทธิภาพการทำงาน</a:t>
            </a:r>
            <a:endParaRPr lang="en-US" sz="3300" dirty="0"/>
          </a:p>
        </p:txBody>
      </p:sp>
      <p:sp>
        <p:nvSpPr>
          <p:cNvPr id="5" name="static"/>
          <p:cNvSpPr txBox="1"/>
          <p:nvPr/>
        </p:nvSpPr>
        <p:spPr>
          <a:xfrm>
            <a:off x="609600" y="1752451"/>
            <a:ext cx="5715000" cy="276225"/>
          </a:xfrm>
          <a:prstGeom prst="rect">
            <a:avLst/>
          </a:prstGeom>
          <a:noFill/>
          <a:ln/>
        </p:spPr>
        <p:txBody>
          <a:bodyPr wrap="none" lIns="0" tIns="0" rIns="0" bIns="0" rtlCol="0" anchor="ctr"/>
          <a:lstStyle/>
          <a:p>
            <a:pPr algn="l" indent="0" marL="0">
              <a:lnSpc>
                <a:spcPts val="1575"/>
              </a:lnSpc>
              <a:buNone/>
            </a:pPr>
            <a:r>
              <a:rPr lang="en-US" sz="1125" dirty="0">
                <a:solidFill>
                  <a:srgbClr val="BFE6E0"/>
                </a:solidFill>
                <a:latin typeface="Prompt" pitchFamily="34" charset="0"/>
                <a:ea typeface="Prompt" pitchFamily="34" charset="-122"/>
                <a:cs typeface="Prompt" pitchFamily="34" charset="-120"/>
              </a:rPr>
              <a:t>หลักฐานจากการทดลองภาคสนามสองชิ้นล่าสุด</a:t>
            </a:r>
            <a:endParaRPr lang="en-US" sz="1125" dirty="0"/>
          </a:p>
        </p:txBody>
      </p:sp>
      <p:pic>
        <p:nvPicPr>
          <p:cNvPr id="6" name="b1:pop (มาสคอตหุ่นยนต์โบกมือ)" descr="/home/user/slide-present-en/presentation/webdeck/art/robot-wave-dark.png">    </p:cNvPr>
          <p:cNvPicPr>
            <a:picLocks noChangeAspect="1"/>
          </p:cNvPicPr>
          <p:nvPr/>
        </p:nvPicPr>
        <p:blipFill>
          <a:blip r:embed="rId2"/>
          <a:stretch>
            <a:fillRect/>
          </a:stretch>
        </p:blipFill>
        <p:spPr>
          <a:xfrm>
            <a:off x="6667500" y="342900"/>
            <a:ext cx="1809750" cy="1571625"/>
          </a:xfrm>
          <a:prstGeom prst="rect">
            <a:avLst/>
          </a:prstGeom>
        </p:spPr>
      </p:pic>
      <p:sp>
        <p:nvSpPr>
          <p:cNvPr id="7" name="b2:fade"/>
          <p:cNvSpPr txBox="1"/>
          <p:nvPr/>
        </p:nvSpPr>
        <p:spPr>
          <a:xfrm>
            <a:off x="609600" y="2238375"/>
            <a:ext cx="7143750" cy="213345"/>
          </a:xfrm>
          <a:prstGeom prst="rect">
            <a:avLst/>
          </a:prstGeom>
          <a:noFill/>
          <a:ln/>
        </p:spPr>
        <p:txBody>
          <a:bodyPr wrap="none" lIns="0" tIns="0" rIns="0" bIns="0" rtlCol="0" anchor="ctr"/>
          <a:lstStyle/>
          <a:p>
            <a:pPr algn="l" indent="0" marL="0">
              <a:lnSpc>
                <a:spcPts val="1680"/>
              </a:lnSpc>
              <a:buNone/>
            </a:pPr>
            <a:r>
              <a:rPr lang="en-US" sz="1200" b="1" dirty="0">
                <a:solidFill>
                  <a:srgbClr val="F7F9FB"/>
                </a:solidFill>
                <a:latin typeface="Prompt" pitchFamily="34" charset="0"/>
                <a:ea typeface="Prompt" pitchFamily="34" charset="-122"/>
                <a:cs typeface="Prompt" pitchFamily="34" charset="-120"/>
              </a:rPr>
              <a:t>AI ส่งผลต่อผลิตภาพ คุณภาพงาน และผลการดำเนินธุรกิจอย่างไร?</a:t>
            </a:r>
            <a:endParaRPr lang="en-US" sz="1200" dirty="0"/>
          </a:p>
        </p:txBody>
      </p:sp>
      <p:sp>
        <p:nvSpPr>
          <p:cNvPr id="8" name="b3:rise"/>
          <p:cNvSpPr/>
          <p:nvPr/>
        </p:nvSpPr>
        <p:spPr>
          <a:xfrm>
            <a:off x="609600" y="2667000"/>
            <a:ext cx="3886200" cy="1420044"/>
          </a:xfrm>
          <a:prstGeom prst="roundRect">
            <a:avLst>
              <a:gd name="adj" fmla="val 6708"/>
            </a:avLst>
          </a:prstGeom>
          <a:solidFill>
            <a:srgbClr val="2A3D63"/>
          </a:solidFill>
          <a:ln/>
        </p:spPr>
      </p:sp>
      <p:sp>
        <p:nvSpPr>
          <p:cNvPr id="9" name="b3:rise"/>
          <p:cNvSpPr txBox="1"/>
          <p:nvPr/>
        </p:nvSpPr>
        <p:spPr>
          <a:xfrm>
            <a:off x="8001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บทความที่ 2</a:t>
            </a:r>
            <a:endParaRPr lang="en-US" sz="900" dirty="0"/>
          </a:p>
        </p:txBody>
      </p:sp>
      <p:sp>
        <p:nvSpPr>
          <p:cNvPr id="10" name="b3:rise"/>
          <p:cNvSpPr txBox="1"/>
          <p:nvPr/>
        </p:nvSpPr>
        <p:spPr>
          <a:xfrm>
            <a:off x="8001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75" dirty="0"/>
          </a:p>
        </p:txBody>
      </p:sp>
      <p:sp>
        <p:nvSpPr>
          <p:cNvPr id="11" name="b3:rise"/>
          <p:cNvSpPr txBox="1"/>
          <p:nvPr/>
        </p:nvSpPr>
        <p:spPr>
          <a:xfrm>
            <a:off x="8001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Fabrizio Dell'Acqua et al. · Harvard Business School Working Paper 24-013, 2023</a:t>
            </a:r>
            <a:endParaRPr lang="en-US" sz="900" dirty="0"/>
          </a:p>
        </p:txBody>
      </p:sp>
      <p:sp>
        <p:nvSpPr>
          <p:cNvPr id="12" name="b3:rise"/>
          <p:cNvSpPr/>
          <p:nvPr/>
        </p:nvSpPr>
        <p:spPr>
          <a:xfrm>
            <a:off x="4648200" y="2667000"/>
            <a:ext cx="3886200" cy="1420044"/>
          </a:xfrm>
          <a:prstGeom prst="roundRect">
            <a:avLst>
              <a:gd name="adj" fmla="val 6708"/>
            </a:avLst>
          </a:prstGeom>
          <a:solidFill>
            <a:srgbClr val="2A3D63"/>
          </a:solidFill>
          <a:ln/>
        </p:spPr>
      </p:sp>
      <p:sp>
        <p:nvSpPr>
          <p:cNvPr id="13" name="b3:rise"/>
          <p:cNvSpPr txBox="1"/>
          <p:nvPr/>
        </p:nvSpPr>
        <p:spPr>
          <a:xfrm>
            <a:off x="48387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บทความที่ 5</a:t>
            </a:r>
            <a:endParaRPr lang="en-US" sz="900" dirty="0"/>
          </a:p>
        </p:txBody>
      </p:sp>
      <p:sp>
        <p:nvSpPr>
          <p:cNvPr id="14" name="b3:rise"/>
          <p:cNvSpPr txBox="1"/>
          <p:nvPr/>
        </p:nvSpPr>
        <p:spPr>
          <a:xfrm>
            <a:off x="48387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75" dirty="0"/>
          </a:p>
        </p:txBody>
      </p:sp>
      <p:sp>
        <p:nvSpPr>
          <p:cNvPr id="15" name="b3:rise"/>
          <p:cNvSpPr txBox="1"/>
          <p:nvPr/>
        </p:nvSpPr>
        <p:spPr>
          <a:xfrm>
            <a:off x="48387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Nicholas G. Otis et al. · Management Science, Vol. 72, No. 7, 2026 · DOI 10.1287/mnsc.2024.06909</a:t>
            </a:r>
            <a:endParaRPr lang="en-US" sz="900" dirty="0"/>
          </a:p>
        </p:txBody>
      </p:sp>
      <p:sp>
        <p:nvSpPr>
          <p:cNvPr id="16" name="static"/>
          <p:cNvSpPr txBox="1"/>
          <p:nvPr/>
        </p:nvSpPr>
        <p:spPr>
          <a:xfrm>
            <a:off x="609600" y="4678710"/>
            <a:ext cx="6191250" cy="159990"/>
          </a:xfrm>
          <a:prstGeom prst="rect">
            <a:avLst/>
          </a:prstGeom>
          <a:noFill/>
          <a:ln/>
        </p:spPr>
        <p:txBody>
          <a:bodyPr wrap="none" lIns="0" tIns="0" rIns="0" bIns="0" rtlCol="0" anchor="ctr"/>
          <a:lstStyle/>
          <a:p>
            <a:pPr algn="l" indent="0" marL="0">
              <a:lnSpc>
                <a:spcPts val="1260"/>
              </a:lnSpc>
              <a:buNone/>
            </a:pPr>
            <a:r>
              <a:rPr lang="en-US" sz="900" b="1" dirty="0">
                <a:solidFill>
                  <a:srgbClr val="BFE6E0"/>
                </a:solidFill>
                <a:latin typeface="Prompt" pitchFamily="34" charset="0"/>
                <a:ea typeface="Prompt" pitchFamily="34" charset="-122"/>
                <a:cs typeface="Prompt" pitchFamily="34" charset="-120"/>
              </a:rPr>
              <a:t>Chayanun Sungsa-ard</a:t>
            </a:r>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 · รหัสนักศึกษา 691401708 · MBA · ENG 501 English for Master's Degree</a:t>
            </a:r>
            <a:endParaRPr lang="en-US" sz="900" dirty="0"/>
          </a:p>
        </p:txBody>
      </p:sp>
      <p:sp>
        <p:nvSpPr>
          <p:cNvPr id="17" name="!!key1-th-1"/>
          <p:cNvSpPr/>
          <p:nvPr/>
        </p:nvSpPr>
        <p:spPr>
          <a:xfrm>
            <a:off x="7048500" y="4572000"/>
            <a:ext cx="1485900" cy="255240"/>
          </a:xfrm>
          <a:prstGeom prst="roundRect">
            <a:avLst>
              <a:gd name="adj" fmla="val 50000"/>
            </a:avLst>
          </a:prstGeom>
          <a:solidFill>
            <a:srgbClr val="2E8B86"/>
          </a:solidFill>
          <a:ln/>
        </p:spPr>
      </p:sp>
      <p:sp>
        <p:nvSpPr>
          <p:cNvPr id="18" name="!!key1-th-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การทดลองที่ 1: BCG</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Scale>
                                      <p:cBhvr>
                                        <p:cTn id="5" dur="500" fill="hold"/>
                                        <p:tgtEl>
                                          <p:spTgt spid="6"/>
                                        </p:tgtEl>
                                      </p:cBhvr>
                                      <p:from x="0" y="0"/>
                                      <p:to x="100000" y="100000"/>
                                    </p:animScale>
                                    <p:animEffect transition="in" filter="fade">
                                      <p:cBhvr>
                                        <p:cTn id="6"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46" fill="hold">
                      <p:stCondLst>
                        <p:cond delay="indefinite"/>
                      </p:stCondLst>
                      <p:childTnLst>
                        <p:par>
                          <p:cTn id="47"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700"/>
                                        <p:tgtEl>
                                          <p:spTgt spid="8"/>
                                        </p:tgtEl>
                                      </p:cBhvr>
                                    </p:animEffect>
                                    <p:anim calcmode="lin" valueType="num">
                                      <p:cBhvr additive="base">
                                        <p:cTn id="17" dur="700" fill="hold"/>
                                        <p:tgtEl>
                                          <p:spTgt spid="8"/>
                                        </p:tgtEl>
                                        <p:attrNameLst>
                                          <p:attrName>ppt_y</p:attrName>
                                        </p:attrNameLst>
                                      </p:cBhvr>
                                      <p:tavLst>
                                        <p:tav tm="0">
                                          <p:val>
                                            <p:strVal val="#ppt_y+.08"/>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00"/>
                                        <p:tgtEl>
                                          <p:spTgt spid="9"/>
                                        </p:tgtEl>
                                      </p:cBhvr>
                                    </p:animEffect>
                                    <p:anim calcmode="lin" valueType="num">
                                      <p:cBhvr additive="base">
                                        <p:cTn id="21" dur="700" fill="hold"/>
                                        <p:tgtEl>
                                          <p:spTgt spid="9"/>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8" presetID="23" presetClass="entr" presetSubtype="16"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Scale>
                                      <p:cBhvr>
                                        <p:cTn id="50" dur="500" fill="hold"/>
                                        <p:tgtEl>
                                          <p:spTgt spid="17"/>
                                        </p:tgtEl>
                                      </p:cBhvr>
                                      <p:from x="0" y="0"/>
                                      <p:to x="100000" y="100000"/>
                                    </p:animScale>
                                    <p:animEffect transition="in" filter="fade">
                                      <p:cBhvr>
                                        <p:cTn id="51" dur="500"/>
                                        <p:tgtEl>
                                          <p:spTgt spid="17"/>
                                        </p:tgtEl>
                                      </p:cBhvr>
                                    </p:animEffect>
                                  </p:childTnLst>
                                </p:cTn>
                              </p:par>
                              <p:par>
                                <p:cTn id="52" presetID="23" presetClass="entr" presetSubtype="16"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Scale>
                                      <p:cBhvr>
                                        <p:cTn id="54" dur="500" fill="hold"/>
                                        <p:tgtEl>
                                          <p:spTgt spid="18"/>
                                        </p:tgtEl>
                                      </p:cBhvr>
                                      <p:from x="0" y="0"/>
                                      <p:to x="100000" y="100000"/>
                                    </p:animScale>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2 · วัตถุประสงค์และวิธีวิจัย</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การนำทางในพรมแดนเทคโนโลยีที่ไม่สม่ำเสมอ</a:t>
            </a:r>
            <a:endParaRPr lang="en-US" sz="2400" dirty="0"/>
          </a:p>
        </p:txBody>
      </p:sp>
      <p:sp>
        <p:nvSpPr>
          <p:cNvPr id="4" name="b1:rise"/>
          <p:cNvSpPr/>
          <p:nvPr/>
        </p:nvSpPr>
        <p:spPr>
          <a:xfrm>
            <a:off x="609600" y="1521098"/>
            <a:ext cx="342900" cy="342900"/>
          </a:xfrm>
          <a:prstGeom prst="roundRect">
            <a:avLst>
              <a:gd name="adj" fmla="val 50000"/>
            </a:avLst>
          </a:prstGeom>
          <a:solidFill>
            <a:srgbClr val="E6F3F1"/>
          </a:solidFill>
          <a:ln/>
        </p:spPr>
      </p:sp>
      <p:pic>
        <p:nvPicPr>
          <p:cNvPr id="5" name="b1:rise icon Users" descr="preencoded.png">    </p:cNvPr>
          <p:cNvPicPr>
            <a:picLocks noChangeAspect="1"/>
          </p:cNvPicPr>
          <p:nvPr/>
        </p:nvPicPr>
        <p:blipFill>
          <a:blip r:embed="rId1"/>
          <a:stretch>
            <a:fillRect/>
          </a:stretch>
        </p:blipFill>
        <p:spPr>
          <a:xfrm>
            <a:off x="695325" y="1606823"/>
            <a:ext cx="171450" cy="171450"/>
          </a:xfrm>
          <a:prstGeom prst="rect">
            <a:avLst/>
          </a:prstGeom>
        </p:spPr>
      </p:pic>
      <p:sp>
        <p:nvSpPr>
          <p:cNvPr id="6" name="b1:rise"/>
          <p:cNvSpPr txBox="1"/>
          <p:nvPr/>
        </p:nvSpPr>
        <p:spPr>
          <a:xfrm>
            <a:off x="1066800" y="1428750"/>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องค์กรที่ร่วมวิจัยและผู้เข้าร่วม</a:t>
            </a:r>
            <a:endParaRPr lang="en-US" sz="1125" dirty="0"/>
          </a:p>
        </p:txBody>
      </p:sp>
      <p:sp>
        <p:nvSpPr>
          <p:cNvPr id="7" name="b1:rise"/>
          <p:cNvSpPr txBox="1"/>
          <p:nvPr/>
        </p:nvSpPr>
        <p:spPr>
          <a:xfrm>
            <a:off x="1066800" y="1609725"/>
            <a:ext cx="3288792" cy="34662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rompt" pitchFamily="34" charset="0"/>
                <a:ea typeface="Prompt" pitchFamily="34" charset="-122"/>
                <a:cs typeface="Prompt" pitchFamily="34" charset="-120"/>
              </a:rPr>
              <a:t>การทดลองภาคสนามร่วมกับ Boston Consulting Group (BCG) </a:t>
            </a:r>
            <a:pPr algn="l" indent="0" marL="0">
              <a:lnSpc>
                <a:spcPts val="1365"/>
              </a:lnSpc>
              <a:buNone/>
            </a:pPr>
            <a:r>
              <a:rPr lang="en-US" sz="975" b="1" dirty="0">
                <a:solidFill>
                  <a:srgbClr val="2E8B86"/>
                </a:solidFill>
                <a:latin typeface="Prompt" pitchFamily="34" charset="0"/>
                <a:ea typeface="Prompt" pitchFamily="34" charset="-122"/>
                <a:cs typeface="Prompt" pitchFamily="34" charset="-120"/>
              </a:rPr>
              <a:t>ที่ปรึกษา 758 คน</a:t>
            </a:r>
            <a:endParaRPr lang="en-US" sz="975" dirty="0"/>
          </a:p>
        </p:txBody>
      </p:sp>
      <p:sp>
        <p:nvSpPr>
          <p:cNvPr id="8" name="b1:rise"/>
          <p:cNvSpPr/>
          <p:nvPr/>
        </p:nvSpPr>
        <p:spPr>
          <a:xfrm>
            <a:off x="609600" y="2095351"/>
            <a:ext cx="342900" cy="342900"/>
          </a:xfrm>
          <a:prstGeom prst="roundRect">
            <a:avLst>
              <a:gd name="adj" fmla="val 50000"/>
            </a:avLst>
          </a:prstGeom>
          <a:solidFill>
            <a:srgbClr val="E6F3F1"/>
          </a:solidFill>
          <a:ln/>
        </p:spPr>
      </p:sp>
      <p:pic>
        <p:nvPicPr>
          <p:cNvPr id="9" name="b1:rise icon Activity" descr="preencoded.png">    </p:cNvPr>
          <p:cNvPicPr>
            <a:picLocks noChangeAspect="1"/>
          </p:cNvPicPr>
          <p:nvPr/>
        </p:nvPicPr>
        <p:blipFill>
          <a:blip r:embed="rId2"/>
          <a:stretch>
            <a:fillRect/>
          </a:stretch>
        </p:blipFill>
        <p:spPr>
          <a:xfrm>
            <a:off x="695325" y="2181076"/>
            <a:ext cx="171450" cy="171450"/>
          </a:xfrm>
          <a:prstGeom prst="rect">
            <a:avLst/>
          </a:prstGeom>
        </p:spPr>
      </p:pic>
      <p:sp>
        <p:nvSpPr>
          <p:cNvPr id="10" name="b1:rise"/>
          <p:cNvSpPr txBox="1"/>
          <p:nvPr/>
        </p:nvSpPr>
        <p:spPr>
          <a:xfrm>
            <a:off x="1066800" y="2089696"/>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ประเด็นที่ศึกษา</a:t>
            </a:r>
            <a:endParaRPr lang="en-US" sz="1125" dirty="0"/>
          </a:p>
        </p:txBody>
      </p:sp>
      <p:sp>
        <p:nvSpPr>
          <p:cNvPr id="11" name="b1:rise"/>
          <p:cNvSpPr txBox="1"/>
          <p:nvPr/>
        </p:nvSpPr>
        <p:spPr>
          <a:xfrm>
            <a:off x="1066800" y="2270671"/>
            <a:ext cx="3162300" cy="173310"/>
          </a:xfrm>
          <a:prstGeom prst="rect">
            <a:avLst/>
          </a:prstGeom>
          <a:noFill/>
          <a:ln/>
        </p:spPr>
        <p:txBody>
          <a:bodyPr wrap="none" lIns="0" tIns="0" rIns="0" bIns="0" rtlCol="0" anchor="ctr"/>
          <a:lstStyle/>
          <a:p>
            <a:pPr algn="l" indent="0" marL="0">
              <a:lnSpc>
                <a:spcPts val="1365"/>
              </a:lnSpc>
              <a:buNone/>
            </a:pPr>
            <a:r>
              <a:rPr lang="en-US" sz="975" dirty="0">
                <a:solidFill>
                  <a:srgbClr val="4A5568"/>
                </a:solidFill>
                <a:latin typeface="Prompt" pitchFamily="34" charset="0"/>
                <a:ea typeface="Prompt" pitchFamily="34" charset="-122"/>
                <a:cs typeface="Prompt" pitchFamily="34" charset="-120"/>
              </a:rPr>
              <a:t>ผลิตภาพ คุณภาพงาน และขอบเขตความสามารถของ AI</a:t>
            </a:r>
            <a:endParaRPr lang="en-US" sz="975" dirty="0"/>
          </a:p>
        </p:txBody>
      </p:sp>
      <p:sp>
        <p:nvSpPr>
          <p:cNvPr id="12" name="b2:rise"/>
          <p:cNvSpPr txBox="1"/>
          <p:nvPr/>
        </p:nvSpPr>
        <p:spPr>
          <a:xfrm>
            <a:off x="609600" y="2667000"/>
            <a:ext cx="36195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เงื่อนไขการทดลองสามกลุ่ม</a:t>
            </a:r>
            <a:endParaRPr lang="en-US" sz="1125" dirty="0"/>
          </a:p>
        </p:txBody>
      </p:sp>
      <p:sp>
        <p:nvSpPr>
          <p:cNvPr id="13" name="b2:rise"/>
          <p:cNvSpPr/>
          <p:nvPr/>
        </p:nvSpPr>
        <p:spPr>
          <a:xfrm>
            <a:off x="609600" y="2933700"/>
            <a:ext cx="1143000" cy="988591"/>
          </a:xfrm>
          <a:prstGeom prst="roundRect">
            <a:avLst>
              <a:gd name="adj" fmla="val 8671"/>
            </a:avLst>
          </a:prstGeom>
          <a:solidFill>
            <a:srgbClr val="EEF1F5"/>
          </a:solidFill>
          <a:ln/>
        </p:spPr>
      </p:sp>
      <p:sp>
        <p:nvSpPr>
          <p:cNvPr id="14" name="b2:rise"/>
          <p:cNvSpPr txBox="1"/>
          <p:nvPr/>
        </p:nvSpPr>
        <p:spPr>
          <a:xfrm>
            <a:off x="7429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rompt" pitchFamily="34" charset="0"/>
                <a:ea typeface="Prompt" pitchFamily="34" charset="-122"/>
                <a:cs typeface="Prompt" pitchFamily="34" charset="-120"/>
              </a:rPr>
              <a:t>1</a:t>
            </a:r>
            <a:endParaRPr lang="en-US" sz="1200" dirty="0"/>
          </a:p>
        </p:txBody>
      </p:sp>
      <p:sp>
        <p:nvSpPr>
          <p:cNvPr id="15" name="b2:rise"/>
          <p:cNvSpPr txBox="1"/>
          <p:nvPr/>
        </p:nvSpPr>
        <p:spPr>
          <a:xfrm>
            <a:off x="74295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rompt" pitchFamily="34" charset="0"/>
                <a:ea typeface="Prompt" pitchFamily="34" charset="-122"/>
                <a:cs typeface="Prompt" pitchFamily="34" charset="-120"/>
              </a:rPr>
              <a:t>ไม่ใช้ AI</a:t>
            </a:r>
            <a:endParaRPr lang="en-US" sz="900" dirty="0"/>
          </a:p>
        </p:txBody>
      </p:sp>
      <p:sp>
        <p:nvSpPr>
          <p:cNvPr id="16" name="b2:rise"/>
          <p:cNvSpPr/>
          <p:nvPr/>
        </p:nvSpPr>
        <p:spPr>
          <a:xfrm>
            <a:off x="1847850" y="2933700"/>
            <a:ext cx="1143000" cy="988591"/>
          </a:xfrm>
          <a:prstGeom prst="roundRect">
            <a:avLst>
              <a:gd name="adj" fmla="val 8671"/>
            </a:avLst>
          </a:prstGeom>
          <a:solidFill>
            <a:srgbClr val="EEF1F5"/>
          </a:solidFill>
          <a:ln/>
        </p:spPr>
      </p:sp>
      <p:sp>
        <p:nvSpPr>
          <p:cNvPr id="17" name="b2:rise"/>
          <p:cNvSpPr txBox="1"/>
          <p:nvPr/>
        </p:nvSpPr>
        <p:spPr>
          <a:xfrm>
            <a:off x="198120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rompt" pitchFamily="34" charset="0"/>
                <a:ea typeface="Prompt" pitchFamily="34" charset="-122"/>
                <a:cs typeface="Prompt" pitchFamily="34" charset="-120"/>
              </a:rPr>
              <a:t>2</a:t>
            </a:r>
            <a:endParaRPr lang="en-US" sz="1200" dirty="0"/>
          </a:p>
        </p:txBody>
      </p:sp>
      <p:sp>
        <p:nvSpPr>
          <p:cNvPr id="18" name="b2:rise"/>
          <p:cNvSpPr txBox="1"/>
          <p:nvPr/>
        </p:nvSpPr>
        <p:spPr>
          <a:xfrm>
            <a:off x="198120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rompt" pitchFamily="34" charset="0"/>
                <a:ea typeface="Prompt" pitchFamily="34" charset="-122"/>
                <a:cs typeface="Prompt" pitchFamily="34" charset="-120"/>
              </a:rPr>
              <a:t>ใช้ GPT-4</a:t>
            </a:r>
            <a:endParaRPr lang="en-US" sz="900" dirty="0"/>
          </a:p>
        </p:txBody>
      </p:sp>
      <p:sp>
        <p:nvSpPr>
          <p:cNvPr id="19" name="b2:rise"/>
          <p:cNvSpPr/>
          <p:nvPr/>
        </p:nvSpPr>
        <p:spPr>
          <a:xfrm>
            <a:off x="3086100" y="2933700"/>
            <a:ext cx="1143000" cy="988591"/>
          </a:xfrm>
          <a:prstGeom prst="roundRect">
            <a:avLst>
              <a:gd name="adj" fmla="val 8671"/>
            </a:avLst>
          </a:prstGeom>
          <a:solidFill>
            <a:srgbClr val="1B2A4A"/>
          </a:solidFill>
          <a:ln/>
        </p:spPr>
      </p:sp>
      <p:sp>
        <p:nvSpPr>
          <p:cNvPr id="20" name="b2:rise"/>
          <p:cNvSpPr txBox="1"/>
          <p:nvPr/>
        </p:nvSpPr>
        <p:spPr>
          <a:xfrm>
            <a:off x="32194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BFE6E0"/>
                </a:solidFill>
                <a:latin typeface="Prompt" pitchFamily="34" charset="0"/>
                <a:ea typeface="Prompt" pitchFamily="34" charset="-122"/>
                <a:cs typeface="Prompt" pitchFamily="34" charset="-120"/>
              </a:rPr>
              <a:t>3</a:t>
            </a:r>
            <a:endParaRPr lang="en-US" sz="1200" dirty="0"/>
          </a:p>
        </p:txBody>
      </p:sp>
      <p:sp>
        <p:nvSpPr>
          <p:cNvPr id="21" name="b2:rise"/>
          <p:cNvSpPr txBox="1"/>
          <p:nvPr/>
        </p:nvSpPr>
        <p:spPr>
          <a:xfrm>
            <a:off x="3219450" y="3308970"/>
            <a:ext cx="911352" cy="479971"/>
          </a:xfrm>
          <a:prstGeom prst="rect">
            <a:avLst/>
          </a:prstGeom>
          <a:noFill/>
          <a:ln/>
        </p:spPr>
        <p:txBody>
          <a:bodyPr wrap="square" lIns="0" tIns="0" rIns="0" bIns="0" rtlCol="0" anchor="t"/>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ใช้ GPT-4 + คำแนะนำการเขียน prompt</a:t>
            </a:r>
            <a:endParaRPr lang="en-US" sz="900" dirty="0"/>
          </a:p>
        </p:txBody>
      </p:sp>
      <p:sp>
        <p:nvSpPr>
          <p:cNvPr id="22" name="b3:fade"/>
          <p:cNvSpPr/>
          <p:nvPr/>
        </p:nvSpPr>
        <p:spPr>
          <a:xfrm>
            <a:off x="4724400" y="1428750"/>
            <a:ext cx="809625" cy="236190"/>
          </a:xfrm>
          <a:prstGeom prst="roundRect">
            <a:avLst>
              <a:gd name="adj" fmla="val 50000"/>
            </a:avLst>
          </a:prstGeom>
          <a:solidFill>
            <a:srgbClr val="EEF1F5"/>
          </a:solidFill>
          <a:ln/>
        </p:spPr>
      </p:sp>
      <p:sp>
        <p:nvSpPr>
          <p:cNvPr id="23" name="b3:fade"/>
          <p:cNvSpPr txBox="1"/>
          <p:nvPr/>
        </p:nvSpPr>
        <p:spPr>
          <a:xfrm>
            <a:off x="4724400" y="1428750"/>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6B7280"/>
                </a:solidFill>
                <a:latin typeface="Prompt" pitchFamily="34" charset="0"/>
                <a:ea typeface="Prompt" pitchFamily="34" charset="-122"/>
                <a:cs typeface="Prompt" pitchFamily="34" charset="-120"/>
              </a:rPr>
              <a:t>แนวคิด</a:t>
            </a:r>
            <a:endParaRPr lang="en-US" sz="900" dirty="0"/>
          </a:p>
        </p:txBody>
      </p:sp>
      <p:sp>
        <p:nvSpPr>
          <p:cNvPr id="24" name="b3:fade"/>
          <p:cNvSpPr txBox="1"/>
          <p:nvPr/>
        </p:nvSpPr>
        <p:spPr>
          <a:xfrm>
            <a:off x="4724400" y="1741140"/>
            <a:ext cx="2667000" cy="194295"/>
          </a:xfrm>
          <a:prstGeom prst="rect">
            <a:avLst/>
          </a:prstGeom>
          <a:noFill/>
          <a:ln/>
        </p:spPr>
        <p:txBody>
          <a:bodyPr wrap="none" lIns="0" tIns="0" rIns="0" bIns="0" rtlCol="0" anchor="ctr"/>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Jagged Technological Frontier</a:t>
            </a:r>
            <a:endParaRPr lang="en-US" sz="1275" dirty="0"/>
          </a:p>
        </p:txBody>
      </p:sp>
      <p:sp>
        <p:nvSpPr>
          <p:cNvPr id="25" name="b3:fade"/>
          <p:cNvSpPr txBox="1"/>
          <p:nvPr/>
        </p:nvSpPr>
        <p:spPr>
          <a:xfrm>
            <a:off x="4724400" y="2011635"/>
            <a:ext cx="2773680" cy="371475"/>
          </a:xfrm>
          <a:prstGeom prst="rect">
            <a:avLst/>
          </a:prstGeom>
          <a:noFill/>
          <a:ln/>
        </p:spPr>
        <p:txBody>
          <a:bodyPr wrap="square" lIns="0" tIns="0" rIns="0" bIns="0" rtlCol="0" anchor="t"/>
          <a:lstStyle/>
          <a:p>
            <a:pPr algn="l" indent="0" marL="0">
              <a:lnSpc>
                <a:spcPts val="1463"/>
              </a:lnSpc>
              <a:buNone/>
            </a:pPr>
            <a:r>
              <a:rPr lang="en-US" sz="975" dirty="0">
                <a:solidFill>
                  <a:srgbClr val="4A5568"/>
                </a:solidFill>
                <a:latin typeface="Prompt" pitchFamily="34" charset="0"/>
                <a:ea typeface="Prompt" pitchFamily="34" charset="-122"/>
                <a:cs typeface="Prompt" pitchFamily="34" charset="-120"/>
              </a:rPr>
              <a:t>AI ทำงานบางอย่างได้ดี แต่ทำงานอื่นที่ดูยากพอกันได้ไม่ดี เส้นแบ่งนี้</a:t>
            </a:r>
            <a:pPr algn="l" indent="0" marL="0">
              <a:lnSpc>
                <a:spcPts val="1463"/>
              </a:lnSpc>
              <a:buNone/>
            </a:pPr>
            <a:r>
              <a:rPr lang="en-US" sz="975" b="1" dirty="0">
                <a:solidFill>
                  <a:srgbClr val="2E8B86"/>
                </a:solidFill>
                <a:latin typeface="Prompt" pitchFamily="34" charset="0"/>
                <a:ea typeface="Prompt" pitchFamily="34" charset="-122"/>
                <a:cs typeface="Prompt" pitchFamily="34" charset="-120"/>
              </a:rPr>
              <a:t>ไม่สม่ำเสมอและมองเห็นได้ยาก</a:t>
            </a:r>
            <a:endParaRPr lang="en-US" sz="975" dirty="0"/>
          </a:p>
        </p:txBody>
      </p:sp>
      <p:pic>
        <p:nvPicPr>
          <p:cNvPr id="26" name="b3:pop (มาสคอตหุ่นยนต์ถือแว่นขยาย)" descr="/home/user/slide-present-en/presentation/webdeck/art/robot-search.png">    </p:cNvPr>
          <p:cNvPicPr>
            <a:picLocks noChangeAspect="1"/>
          </p:cNvPicPr>
          <p:nvPr/>
        </p:nvPicPr>
        <p:blipFill>
          <a:blip r:embed="rId3"/>
          <a:stretch>
            <a:fillRect/>
          </a:stretch>
        </p:blipFill>
        <p:spPr>
          <a:xfrm>
            <a:off x="7486650" y="1428750"/>
            <a:ext cx="1047750" cy="904875"/>
          </a:xfrm>
          <a:prstGeom prst="rect">
            <a:avLst/>
          </a:prstGeom>
        </p:spPr>
      </p:pic>
      <p:sp>
        <p:nvSpPr>
          <p:cNvPr id="27" name="b4:rise"/>
          <p:cNvSpPr txBox="1"/>
          <p:nvPr/>
        </p:nvSpPr>
        <p:spPr>
          <a:xfrm>
            <a:off x="4724400" y="2743200"/>
            <a:ext cx="3810000" cy="159990"/>
          </a:xfrm>
          <a:prstGeom prst="rect">
            <a:avLst/>
          </a:prstGeom>
          <a:noFill/>
          <a:ln/>
        </p:spPr>
        <p:txBody>
          <a:bodyPr wrap="none" lIns="0" tIns="0" rIns="0" bIns="0" rtlCol="0" anchor="ctr"/>
          <a:lstStyle/>
          <a:p>
            <a:pPr algn="r" indent="0" marL="0">
              <a:lnSpc>
                <a:spcPts val="1260"/>
              </a:lnSpc>
              <a:buNone/>
            </a:pPr>
            <a:r>
              <a:rPr lang="en-US" sz="900" b="1" dirty="0">
                <a:solidFill>
                  <a:srgbClr val="6B7280"/>
                </a:solidFill>
                <a:latin typeface="Prompt" pitchFamily="34" charset="0"/>
                <a:ea typeface="Prompt" pitchFamily="34" charset="-122"/>
                <a:cs typeface="Prompt" pitchFamily="34" charset="-120"/>
              </a:rPr>
              <a:t>ภายนอกพรมแดน: AI ทำได้ไม่ดี</a:t>
            </a:r>
            <a:endParaRPr lang="en-US" sz="900" dirty="0"/>
          </a:p>
        </p:txBody>
      </p:sp>
      <p:sp>
        <p:nvSpPr>
          <p:cNvPr id="28" name="b4:rise"/>
          <p:cNvSpPr/>
          <p:nvPr/>
        </p:nvSpPr>
        <p:spPr>
          <a:xfrm>
            <a:off x="4724400" y="2941290"/>
            <a:ext cx="3810000" cy="933450"/>
          </a:xfrm>
          <a:prstGeom prst="roundRect">
            <a:avLst>
              <a:gd name="adj" fmla="val 9184"/>
            </a:avLst>
          </a:prstGeom>
          <a:ln w="6350">
            <a:solidFill>
              <a:srgbClr val="E3E8EE"/>
            </a:solidFill>
            <a:prstDash val="solid"/>
          </a:ln>
        </p:spPr>
      </p:sp>
      <p:pic>
        <p:nvPicPr>
          <p:cNvPr id="29" name="b4:rise (เส้นหยักแบ่งงานที่ AI ทำได้ดีกับงานที่ทำได้ไม่ดี)" descr="/home/user/slide-present-en/presentation/webdeck/art/frontier.png">    </p:cNvPr>
          <p:cNvPicPr>
            <a:picLocks noChangeAspect="1"/>
          </p:cNvPicPr>
          <p:nvPr/>
        </p:nvPicPr>
        <p:blipFill>
          <a:blip r:embed="rId4"/>
          <a:stretch>
            <a:fillRect/>
          </a:stretch>
        </p:blipFill>
        <p:spPr>
          <a:xfrm>
            <a:off x="4724400" y="2941290"/>
            <a:ext cx="3810000" cy="933450"/>
          </a:xfrm>
          <a:prstGeom prst="rect">
            <a:avLst/>
          </a:prstGeom>
        </p:spPr>
      </p:pic>
      <p:sp>
        <p:nvSpPr>
          <p:cNvPr id="30" name="b4:rise"/>
          <p:cNvSpPr/>
          <p:nvPr/>
        </p:nvSpPr>
        <p:spPr>
          <a:xfrm>
            <a:off x="4724400" y="2941290"/>
            <a:ext cx="3810000" cy="933450"/>
          </a:xfrm>
          <a:prstGeom prst="roundRect">
            <a:avLst>
              <a:gd name="adj" fmla="val 9184"/>
            </a:avLst>
          </a:prstGeom>
          <a:ln w="6350">
            <a:solidFill>
              <a:srgbClr val="E3E8EE"/>
            </a:solidFill>
            <a:prstDash val="solid"/>
          </a:ln>
        </p:spPr>
      </p:sp>
      <p:sp>
        <p:nvSpPr>
          <p:cNvPr id="31" name="b4:rise"/>
          <p:cNvSpPr txBox="1"/>
          <p:nvPr/>
        </p:nvSpPr>
        <p:spPr>
          <a:xfrm>
            <a:off x="4724400" y="3912840"/>
            <a:ext cx="3810000" cy="159990"/>
          </a:xfrm>
          <a:prstGeom prst="rect">
            <a:avLst/>
          </a:prstGeom>
          <a:noFill/>
          <a:ln/>
        </p:spPr>
        <p:txBody>
          <a:bodyPr wrap="none" lIns="0" tIns="0" rIns="0" bIns="0" rtlCol="0" anchor="ctr"/>
          <a:lstStyle/>
          <a:p>
            <a:pPr algn="l" indent="0" marL="0">
              <a:lnSpc>
                <a:spcPts val="1260"/>
              </a:lnSpc>
              <a:buNone/>
            </a:pPr>
            <a:r>
              <a:rPr lang="en-US" sz="900" b="1" dirty="0">
                <a:solidFill>
                  <a:srgbClr val="2E8B86"/>
                </a:solidFill>
                <a:latin typeface="Prompt" pitchFamily="34" charset="0"/>
                <a:ea typeface="Prompt" pitchFamily="34" charset="-122"/>
                <a:cs typeface="Prompt" pitchFamily="34" charset="-120"/>
              </a:rPr>
              <a:t>ภายในพรมแดน: AI ทำได้ดี</a:t>
            </a:r>
            <a:endParaRPr lang="en-US" sz="900" dirty="0"/>
          </a:p>
        </p:txBody>
      </p:sp>
      <p:sp>
        <p:nvSpPr>
          <p:cNvPr id="32" name="b4:rise"/>
          <p:cNvSpPr txBox="1"/>
          <p:nvPr/>
        </p:nvSpPr>
        <p:spPr>
          <a:xfrm>
            <a:off x="4724400" y="4110930"/>
            <a:ext cx="3962400" cy="331440"/>
          </a:xfrm>
          <a:prstGeom prst="rect">
            <a:avLst/>
          </a:prstGeom>
          <a:noFill/>
          <a:ln/>
        </p:spPr>
        <p:txBody>
          <a:bodyPr wrap="square" lIns="0" tIns="0" rIns="0" bIns="0" rtlCol="0" anchor="t"/>
          <a:lstStyle/>
          <a:p>
            <a:pPr algn="l" indent="0" marL="0">
              <a:lnSpc>
                <a:spcPts val="1305"/>
              </a:lnSpc>
              <a:buNone/>
            </a:pPr>
            <a:r>
              <a:rPr lang="en-US" sz="900" dirty="0">
                <a:solidFill>
                  <a:srgbClr val="6B7280"/>
                </a:solidFill>
                <a:latin typeface="Prompt" pitchFamily="34" charset="0"/>
                <a:ea typeface="Prompt" pitchFamily="34" charset="-122"/>
                <a:cs typeface="Prompt" pitchFamily="34" charset="-120"/>
              </a:rPr>
              <a:t>วิธีอ่านแผนภาพ: แต่ละจุดคืองานที่ดูยากพอๆ กัน ใต้เส้น (พื้นที่ระบายสี) คืองานที่ AI ทำได้ดี เหนือเส้นคืองานที่ AI ทำได้ไม่ดี</a:t>
            </a:r>
            <a:endParaRPr lang="en-US" sz="900" dirty="0"/>
          </a:p>
        </p:txBody>
      </p:sp>
      <p:sp>
        <p:nvSpPr>
          <p:cNvPr id="33"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Harvard Business School Working Paper 24-013.</a:t>
            </a:r>
            <a:endParaRPr lang="en-US" sz="900" dirty="0"/>
          </a:p>
        </p:txBody>
      </p:sp>
      <p:sp>
        <p:nvSpPr>
          <p:cNvPr id="34" name="b5:fade"/>
          <p:cNvSpPr txBox="1"/>
          <p:nvPr/>
        </p:nvSpPr>
        <p:spPr>
          <a:xfrm>
            <a:off x="4032721"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เมื่อ </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ที่ปรึกษา 758 คน </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ใช้ GPT-4 จริง เกิดอะไรขึ้น? →</a:t>
            </a:r>
            <a:endParaRPr lang="en-US" sz="900" dirty="0"/>
          </a:p>
        </p:txBody>
      </p:sp>
      <p:sp>
        <p:nvSpPr>
          <p:cNvPr id="35" name="!!key1-th-1"/>
          <p:cNvSpPr/>
          <p:nvPr/>
        </p:nvSpPr>
        <p:spPr>
          <a:xfrm>
            <a:off x="7048500" y="342900"/>
            <a:ext cx="1485900" cy="255240"/>
          </a:xfrm>
          <a:prstGeom prst="roundRect">
            <a:avLst>
              <a:gd name="adj" fmla="val 50000"/>
            </a:avLst>
          </a:prstGeom>
          <a:solidFill>
            <a:srgbClr val="2E8B86"/>
          </a:solidFill>
          <a:ln/>
        </p:spPr>
      </p:sp>
      <p:sp>
        <p:nvSpPr>
          <p:cNvPr id="36" name="!!key1-th-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การทดลองที่ 1: BCG</a:t>
            </a:r>
            <a:endParaRPr lang="en-US" sz="900" dirty="0"/>
          </a:p>
        </p:txBody>
      </p:sp>
      <p:sp>
        <p:nvSpPr>
          <p:cNvPr id="37" name="!!key2-th-1"/>
          <p:cNvSpPr/>
          <p:nvPr/>
        </p:nvSpPr>
        <p:spPr>
          <a:xfrm>
            <a:off x="7048500" y="4572000"/>
            <a:ext cx="1485900" cy="255240"/>
          </a:xfrm>
          <a:prstGeom prst="roundRect">
            <a:avLst>
              <a:gd name="adj" fmla="val 50000"/>
            </a:avLst>
          </a:prstGeom>
          <a:solidFill>
            <a:srgbClr val="2E8B86"/>
          </a:solidFill>
          <a:ln/>
        </p:spPr>
      </p:sp>
      <p:sp>
        <p:nvSpPr>
          <p:cNvPr id="38" name="!!key2-th-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พรมแดนที่ไม่สม่ำเสมอ</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5" fill="hold">
                      <p:stCondLst>
                        <p:cond delay="indefinite"/>
                      </p:stCondLst>
                      <p:childTnLst>
                        <p:par>
                          <p:cTn id="3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700"/>
                                        <p:tgtEl>
                                          <p:spTgt spid="12"/>
                                        </p:tgtEl>
                                      </p:cBhvr>
                                    </p:animEffect>
                                    <p:anim calcmode="lin" valueType="num">
                                      <p:cBhvr additive="base">
                                        <p:cTn id="40" dur="700" fill="hold"/>
                                        <p:tgtEl>
                                          <p:spTgt spid="12"/>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700"/>
                                        <p:tgtEl>
                                          <p:spTgt spid="13"/>
                                        </p:tgtEl>
                                      </p:cBhvr>
                                    </p:animEffect>
                                    <p:anim calcmode="lin" valueType="num">
                                      <p:cBhvr additive="base">
                                        <p:cTn id="44" dur="700" fill="hold"/>
                                        <p:tgtEl>
                                          <p:spTgt spid="13"/>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700"/>
                                        <p:tgtEl>
                                          <p:spTgt spid="14"/>
                                        </p:tgtEl>
                                      </p:cBhvr>
                                    </p:animEffect>
                                    <p:anim calcmode="lin" valueType="num">
                                      <p:cBhvr additive="base">
                                        <p:cTn id="48" dur="700" fill="hold"/>
                                        <p:tgtEl>
                                          <p:spTgt spid="14"/>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700"/>
                                        <p:tgtEl>
                                          <p:spTgt spid="19"/>
                                        </p:tgtEl>
                                      </p:cBhvr>
                                    </p:animEffect>
                                    <p:anim calcmode="lin" valueType="num">
                                      <p:cBhvr additive="base">
                                        <p:cTn id="68" dur="700" fill="hold"/>
                                        <p:tgtEl>
                                          <p:spTgt spid="19"/>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700"/>
                                        <p:tgtEl>
                                          <p:spTgt spid="20"/>
                                        </p:tgtEl>
                                      </p:cBhvr>
                                    </p:animEffect>
                                    <p:anim calcmode="lin" valueType="num">
                                      <p:cBhvr additive="base">
                                        <p:cTn id="72" dur="700" fill="hold"/>
                                        <p:tgtEl>
                                          <p:spTgt spid="20"/>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additive="base">
                                        <p:cTn id="7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500"/>
                                        <p:tgtEl>
                                          <p:spTgt spid="26"/>
                                        </p:tgtEl>
                                      </p:cBhvr>
                                    </p:animEffect>
                                  </p:childTnLst>
                                </p:cTn>
                              </p:par>
                            </p:childTnLst>
                          </p:cTn>
                        </p:par>
                      </p:childTnLst>
                    </p:cTn>
                  </p:par>
                  <p:par>
                    <p:cTn id="120" fill="hold">
                      <p:stCondLst>
                        <p:cond delay="indefinite"/>
                      </p:stCondLst>
                      <p:childTnLst>
                        <p:par>
                          <p:cTn id="121"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8"/>
                                          </p:val>
                                        </p:tav>
                                        <p:tav tm="100000">
                                          <p:val>
                                            <p:strVal val="#ppt_y"/>
                                          </p:val>
                                        </p:tav>
                                      </p:tavLst>
                                    </p:anim>
                                  </p:childTnLst>
                                </p:cTn>
                              </p:par>
                              <p:par>
                                <p:cTn id="100" presetID="42" presetClass="entr" presetSubtype="0" fill="hold" grpId="0" nodeType="withEffect">
                                  <p:stCondLst>
                                    <p:cond delay="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8"/>
                                          </p:val>
                                        </p:tav>
                                        <p:tav tm="100000">
                                          <p:val>
                                            <p:strVal val="#ppt_y"/>
                                          </p:val>
                                        </p:tav>
                                      </p:tavLst>
                                    </p:anim>
                                  </p:childTnLst>
                                </p:cTn>
                              </p:par>
                              <p:par>
                                <p:cTn id="108" presetID="42" presetClass="entr" presetSubtype="0" fill="hold" grpId="0" nodeType="withEffect">
                                  <p:stCondLst>
                                    <p:cond delay="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8"/>
                                          </p:val>
                                        </p:tav>
                                        <p:tav tm="100000">
                                          <p:val>
                                            <p:strVal val="#ppt_y"/>
                                          </p:val>
                                        </p:tav>
                                      </p:tavLst>
                                    </p:anim>
                                  </p:childTnLst>
                                </p:cTn>
                              </p:par>
                              <p:par>
                                <p:cTn id="112" presetID="42" presetClass="entr" presetSubtype="0" fill="hold" grpId="0" nodeType="with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childTnLst>
                          </p:cTn>
                        </p:par>
                      </p:childTnLst>
                    </p:cTn>
                  </p:par>
                  <p:par>
                    <p:cTn id="135" fill="hold">
                      <p:stCondLst>
                        <p:cond delay="indefinite"/>
                      </p:stCondLst>
                      <p:childTnLst>
                        <p:par>
                          <p:cTn id="136" fill="hold">
                            <p:stCondLst>
                              <p:cond delay="0"/>
                            </p:stCondLst>
                            <p:childTnLst>
                              <p:par>
                                <p:cTn id="127" presetID="23" presetClass="entr" presetSubtype="16" fill="hold" grpId="0" nodeType="clickEffect">
                                  <p:stCondLst>
                                    <p:cond delay="0"/>
                                  </p:stCondLst>
                                  <p:childTnLst>
                                    <p:set>
                                      <p:cBhvr>
                                        <p:cTn id="128" dur="1" fill="hold">
                                          <p:stCondLst>
                                            <p:cond delay="0"/>
                                          </p:stCondLst>
                                        </p:cTn>
                                        <p:tgtEl>
                                          <p:spTgt spid="37"/>
                                        </p:tgtEl>
                                        <p:attrNameLst>
                                          <p:attrName>style.visibility</p:attrName>
                                        </p:attrNameLst>
                                      </p:cBhvr>
                                      <p:to>
                                        <p:strVal val="visible"/>
                                      </p:to>
                                    </p:set>
                                    <p:animScale>
                                      <p:cBhvr>
                                        <p:cTn id="129" dur="500" fill="hold"/>
                                        <p:tgtEl>
                                          <p:spTgt spid="37"/>
                                        </p:tgtEl>
                                      </p:cBhvr>
                                      <p:from x="0" y="0"/>
                                      <p:to x="100000" y="100000"/>
                                    </p:animScale>
                                    <p:animEffect transition="in" filter="fade">
                                      <p:cBhvr>
                                        <p:cTn id="130" dur="500"/>
                                        <p:tgtEl>
                                          <p:spTgt spid="37"/>
                                        </p:tgtEl>
                                      </p:cBhvr>
                                    </p:animEffect>
                                  </p:childTnLst>
                                </p:cTn>
                              </p:par>
                              <p:par>
                                <p:cTn id="131" presetID="23" presetClass="entr" presetSubtype="16" fill="hold" grpId="0" nodeType="withEffect">
                                  <p:stCondLst>
                                    <p:cond delay="0"/>
                                  </p:stCondLst>
                                  <p:childTnLst>
                                    <p:set>
                                      <p:cBhvr>
                                        <p:cTn id="132" dur="1" fill="hold">
                                          <p:stCondLst>
                                            <p:cond delay="0"/>
                                          </p:stCondLst>
                                        </p:cTn>
                                        <p:tgtEl>
                                          <p:spTgt spid="38"/>
                                        </p:tgtEl>
                                        <p:attrNameLst>
                                          <p:attrName>style.visibility</p:attrName>
                                        </p:attrNameLst>
                                      </p:cBhvr>
                                      <p:to>
                                        <p:strVal val="visible"/>
                                      </p:to>
                                    </p:set>
                                    <p:animScale>
                                      <p:cBhvr>
                                        <p:cTn id="133" dur="500" fill="hold"/>
                                        <p:tgtEl>
                                          <p:spTgt spid="38"/>
                                        </p:tgtEl>
                                      </p:cBhvr>
                                      <p:from x="0" y="0"/>
                                      <p:to x="100000" y="100000"/>
                                    </p:animScale>
                                    <p:animEffect transition="in" filter="fade">
                                      <p:cBhvr>
                                        <p:cTn id="134"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30" grpId="0" animBg="1"/>
      <p:bldP spid="31" grpId="0" animBg="1"/>
      <p:bldP spid="32" grpId="0" animBg="1"/>
      <p:bldP spid="34" grpId="0" animBg="1"/>
      <p:bldP spid="37" grpId="0" animBg="1"/>
      <p:bldP spid="3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2 · ผลการศึกษาที่สำคัญ</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AI ช่วยเพิ่มประสิทธิภาพ แต่มีข้อจำกัด</a:t>
            </a:r>
            <a:endParaRPr lang="en-US" sz="2400" dirty="0"/>
          </a:p>
        </p:txBody>
      </p:sp>
      <p:sp>
        <p:nvSpPr>
          <p:cNvPr id="4" name="b1:fade"/>
          <p:cNvSpPr/>
          <p:nvPr/>
        </p:nvSpPr>
        <p:spPr>
          <a:xfrm>
            <a:off x="609600" y="1381125"/>
            <a:ext cx="952500" cy="236190"/>
          </a:xfrm>
          <a:prstGeom prst="roundRect">
            <a:avLst>
              <a:gd name="adj" fmla="val 50000"/>
            </a:avLst>
          </a:prstGeom>
          <a:solidFill>
            <a:srgbClr val="BFE6E0"/>
          </a:solidFill>
          <a:ln/>
        </p:spPr>
      </p:sp>
      <p:sp>
        <p:nvSpPr>
          <p:cNvPr id="5" name="b1:fade"/>
          <p:cNvSpPr txBox="1"/>
          <p:nvPr/>
        </p:nvSpPr>
        <p:spPr>
          <a:xfrm>
            <a:off x="609600" y="1381125"/>
            <a:ext cx="952500"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6" name="b1:fade"/>
          <p:cNvSpPr txBox="1"/>
          <p:nvPr/>
        </p:nvSpPr>
        <p:spPr>
          <a:xfrm>
            <a:off x="609600" y="1683990"/>
            <a:ext cx="4191000" cy="159990"/>
          </a:xfrm>
          <a:prstGeom prst="rect">
            <a:avLst/>
          </a:prstGeom>
          <a:noFill/>
          <a:ln/>
        </p:spPr>
        <p:txBody>
          <a:bodyPr wrap="none" lIns="0" tIns="0" rIns="0" bIns="0" rtlCol="0" anchor="ctr"/>
          <a:lstStyle/>
          <a:p>
            <a:pPr algn="l" indent="0" marL="0">
              <a:lnSpc>
                <a:spcPts val="1260"/>
              </a:lnSpc>
              <a:buNone/>
            </a:pPr>
            <a:r>
              <a:rPr lang="en-US" sz="1050" b="1" dirty="0">
                <a:solidFill>
                  <a:srgbClr val="4A5568"/>
                </a:solidFill>
                <a:latin typeface="Prompt" pitchFamily="34" charset="0"/>
                <a:ea typeface="Prompt" pitchFamily="34" charset="-122"/>
                <a:cs typeface="Prompt" pitchFamily="34" charset="-120"/>
              </a:rPr>
              <a:t>การเปลี่ยนแปลงของที่ปรึกษาที่ใช้ AI ใน</a:t>
            </a:r>
            <a:pPr algn="l" indent="0" marL="0">
              <a:lnSpc>
                <a:spcPts val="1260"/>
              </a:lnSpc>
              <a:buNone/>
            </a:pPr>
            <a:r>
              <a:rPr lang="en-US" sz="1050" b="1" dirty="0">
                <a:solidFill>
                  <a:srgbClr val="2E8B86"/>
                </a:solidFill>
                <a:latin typeface="Prompt" pitchFamily="34" charset="0"/>
                <a:ea typeface="Prompt" pitchFamily="34" charset="-122"/>
                <a:cs typeface="Prompt" pitchFamily="34" charset="-120"/>
              </a:rPr>
              <a:t>งานภายในพรมแดน</a:t>
            </a:r>
            <a:endParaRPr lang="en-US" sz="1050" dirty="0"/>
          </a:p>
        </p:txBody>
      </p:sp>
      <p:sp>
        <p:nvSpPr>
          <p:cNvPr id="7" name="b2:left"/>
          <p:cNvSpPr txBox="1"/>
          <p:nvPr/>
        </p:nvSpPr>
        <p:spPr>
          <a:xfrm>
            <a:off x="609600" y="19202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งานที่ทำเสร็จ</a:t>
            </a:r>
            <a:endParaRPr lang="en-US" sz="900" dirty="0"/>
          </a:p>
        </p:txBody>
      </p:sp>
      <p:sp>
        <p:nvSpPr>
          <p:cNvPr id="8" name="b2:left"/>
          <p:cNvSpPr/>
          <p:nvPr/>
        </p:nvSpPr>
        <p:spPr>
          <a:xfrm>
            <a:off x="1685925" y="1905000"/>
            <a:ext cx="695325" cy="190500"/>
          </a:xfrm>
          <a:prstGeom prst="roundRect">
            <a:avLst>
              <a:gd name="adj" fmla="val 15000"/>
            </a:avLst>
          </a:prstGeom>
          <a:solidFill>
            <a:srgbClr val="2E8B86"/>
          </a:solidFill>
          <a:ln/>
        </p:spPr>
      </p:sp>
      <p:sp>
        <p:nvSpPr>
          <p:cNvPr id="9" name="b2:left"/>
          <p:cNvSpPr txBox="1"/>
          <p:nvPr/>
        </p:nvSpPr>
        <p:spPr>
          <a:xfrm>
            <a:off x="2457450" y="1920255"/>
            <a:ext cx="346025"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+12.2%</a:t>
            </a:r>
            <a:endParaRPr lang="en-US" sz="900" dirty="0"/>
          </a:p>
        </p:txBody>
      </p:sp>
      <p:sp>
        <p:nvSpPr>
          <p:cNvPr id="10" name="b3:left"/>
          <p:cNvSpPr txBox="1"/>
          <p:nvPr/>
        </p:nvSpPr>
        <p:spPr>
          <a:xfrm>
            <a:off x="609600" y="219648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ความเร็ว</a:t>
            </a:r>
            <a:endParaRPr lang="en-US" sz="900" dirty="0"/>
          </a:p>
        </p:txBody>
      </p:sp>
      <p:sp>
        <p:nvSpPr>
          <p:cNvPr id="11" name="b3:left"/>
          <p:cNvSpPr/>
          <p:nvPr/>
        </p:nvSpPr>
        <p:spPr>
          <a:xfrm>
            <a:off x="1685925" y="2181225"/>
            <a:ext cx="1433513" cy="190500"/>
          </a:xfrm>
          <a:prstGeom prst="roundRect">
            <a:avLst>
              <a:gd name="adj" fmla="val 15000"/>
            </a:avLst>
          </a:prstGeom>
          <a:solidFill>
            <a:srgbClr val="2E8B86"/>
          </a:solidFill>
          <a:ln/>
        </p:spPr>
      </p:sp>
      <p:sp>
        <p:nvSpPr>
          <p:cNvPr id="12" name="b3:left"/>
          <p:cNvSpPr txBox="1"/>
          <p:nvPr/>
        </p:nvSpPr>
        <p:spPr>
          <a:xfrm>
            <a:off x="3195638" y="2196480"/>
            <a:ext cx="345356"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+25.1%</a:t>
            </a:r>
            <a:endParaRPr lang="en-US" sz="900" dirty="0"/>
          </a:p>
        </p:txBody>
      </p:sp>
      <p:sp>
        <p:nvSpPr>
          <p:cNvPr id="13" name="b4:left"/>
          <p:cNvSpPr txBox="1"/>
          <p:nvPr/>
        </p:nvSpPr>
        <p:spPr>
          <a:xfrm>
            <a:off x="609600" y="247270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คุณภาพ</a:t>
            </a:r>
            <a:endParaRPr lang="en-US" sz="900" dirty="0"/>
          </a:p>
        </p:txBody>
      </p:sp>
      <p:sp>
        <p:nvSpPr>
          <p:cNvPr id="14" name="b4:left"/>
          <p:cNvSpPr/>
          <p:nvPr/>
        </p:nvSpPr>
        <p:spPr>
          <a:xfrm>
            <a:off x="1685925" y="2457450"/>
            <a:ext cx="2286000" cy="190500"/>
          </a:xfrm>
          <a:prstGeom prst="roundRect">
            <a:avLst>
              <a:gd name="adj" fmla="val 15000"/>
            </a:avLst>
          </a:prstGeom>
          <a:solidFill>
            <a:srgbClr val="2E8B86"/>
          </a:solidFill>
          <a:ln/>
        </p:spPr>
      </p:sp>
      <p:sp>
        <p:nvSpPr>
          <p:cNvPr id="15" name="b4:left"/>
          <p:cNvSpPr txBox="1"/>
          <p:nvPr/>
        </p:nvSpPr>
        <p:spPr>
          <a:xfrm>
            <a:off x="4048125" y="2472705"/>
            <a:ext cx="718989"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มากกว่า +40%</a:t>
            </a:r>
            <a:endParaRPr lang="en-US" sz="900" dirty="0"/>
          </a:p>
        </p:txBody>
      </p:sp>
      <p:sp>
        <p:nvSpPr>
          <p:cNvPr id="16" name="b5:left"/>
          <p:cNvSpPr txBox="1"/>
          <p:nvPr/>
        </p:nvSpPr>
        <p:spPr>
          <a:xfrm>
            <a:off x="609600" y="274893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กลุ่มต่ำกว่าค่าเฉลี่ย</a:t>
            </a:r>
            <a:endParaRPr lang="en-US" sz="900" dirty="0"/>
          </a:p>
        </p:txBody>
      </p:sp>
      <p:sp>
        <p:nvSpPr>
          <p:cNvPr id="17" name="b5:left"/>
          <p:cNvSpPr/>
          <p:nvPr/>
        </p:nvSpPr>
        <p:spPr>
          <a:xfrm>
            <a:off x="1685925" y="2733675"/>
            <a:ext cx="2457450" cy="190500"/>
          </a:xfrm>
          <a:prstGeom prst="roundRect">
            <a:avLst>
              <a:gd name="adj" fmla="val 15000"/>
            </a:avLst>
          </a:prstGeom>
          <a:solidFill>
            <a:srgbClr val="1B2A4A"/>
          </a:solidFill>
          <a:ln/>
        </p:spPr>
      </p:sp>
      <p:sp>
        <p:nvSpPr>
          <p:cNvPr id="18" name="b5:left"/>
          <p:cNvSpPr txBox="1"/>
          <p:nvPr/>
        </p:nvSpPr>
        <p:spPr>
          <a:xfrm>
            <a:off x="4219575" y="2748930"/>
            <a:ext cx="284634"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+43%</a:t>
            </a:r>
            <a:endParaRPr lang="en-US" sz="900" dirty="0"/>
          </a:p>
        </p:txBody>
      </p:sp>
      <p:sp>
        <p:nvSpPr>
          <p:cNvPr id="19" name="b6:left"/>
          <p:cNvSpPr txBox="1"/>
          <p:nvPr/>
        </p:nvSpPr>
        <p:spPr>
          <a:xfrm>
            <a:off x="609600" y="30251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กลุ่มสูงกว่าค่าเฉลี่ย</a:t>
            </a:r>
            <a:endParaRPr lang="en-US" sz="900" dirty="0"/>
          </a:p>
        </p:txBody>
      </p:sp>
      <p:sp>
        <p:nvSpPr>
          <p:cNvPr id="20" name="b6:left"/>
          <p:cNvSpPr/>
          <p:nvPr/>
        </p:nvSpPr>
        <p:spPr>
          <a:xfrm>
            <a:off x="1685925" y="3009900"/>
            <a:ext cx="971550" cy="190500"/>
          </a:xfrm>
          <a:prstGeom prst="roundRect">
            <a:avLst>
              <a:gd name="adj" fmla="val 15000"/>
            </a:avLst>
          </a:prstGeom>
          <a:solidFill>
            <a:srgbClr val="1B2A4A"/>
          </a:solidFill>
          <a:ln/>
        </p:spPr>
      </p:sp>
      <p:sp>
        <p:nvSpPr>
          <p:cNvPr id="21" name="b6:left"/>
          <p:cNvSpPr txBox="1"/>
          <p:nvPr/>
        </p:nvSpPr>
        <p:spPr>
          <a:xfrm>
            <a:off x="2733675" y="3025155"/>
            <a:ext cx="253901"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+17%</a:t>
            </a:r>
            <a:endParaRPr lang="en-US" sz="900" dirty="0"/>
          </a:p>
        </p:txBody>
      </p:sp>
      <p:sp>
        <p:nvSpPr>
          <p:cNvPr id="22" name="b6:fade"/>
          <p:cNvSpPr txBox="1"/>
          <p:nvPr/>
        </p:nvSpPr>
        <p:spPr>
          <a:xfrm>
            <a:off x="609600" y="3333750"/>
            <a:ext cx="4259580" cy="331440"/>
          </a:xfrm>
          <a:prstGeom prst="rect">
            <a:avLst/>
          </a:prstGeom>
          <a:noFill/>
          <a:ln/>
        </p:spPr>
        <p:txBody>
          <a:bodyPr wrap="square" lIns="0" tIns="0" rIns="0" bIns="0" rtlCol="0" anchor="t"/>
          <a:lstStyle/>
          <a:p>
            <a:pPr algn="l" indent="0" marL="0">
              <a:lnSpc>
                <a:spcPts val="1305"/>
              </a:lnSpc>
              <a:buNone/>
            </a:pPr>
            <a:r>
              <a:rPr lang="en-US" sz="900" dirty="0">
                <a:solidFill>
                  <a:srgbClr val="9AA5B4"/>
                </a:solidFill>
                <a:latin typeface="Prompt" pitchFamily="34" charset="0"/>
                <a:ea typeface="Prompt" pitchFamily="34" charset="-122"/>
                <a:cs typeface="Prompt" pitchFamily="34" charset="-120"/>
              </a:rPr>
              <a:t>คุณภาพรายงานว่า "มากกว่า 40%" เทียบกลุ่มควบคุม ส่วนกลุ่มต่ำ/สูงกว่าค่าเฉลี่ยคือการพัฒนาเทียบคะแนนเดิมของกลุ่มนั้นเอง</a:t>
            </a:r>
            <a:endParaRPr lang="en-US" sz="900" dirty="0"/>
          </a:p>
        </p:txBody>
      </p:sp>
      <p:sp>
        <p:nvSpPr>
          <p:cNvPr id="23" name="b7:pop"/>
          <p:cNvSpPr/>
          <p:nvPr/>
        </p:nvSpPr>
        <p:spPr>
          <a:xfrm>
            <a:off x="5200650" y="1381125"/>
            <a:ext cx="3333750" cy="1723951"/>
          </a:xfrm>
          <a:prstGeom prst="roundRect">
            <a:avLst>
              <a:gd name="adj" fmla="val 6630"/>
            </a:avLst>
          </a:prstGeom>
          <a:solidFill>
            <a:srgbClr val="1B2A4A"/>
          </a:solidFill>
          <a:ln/>
        </p:spPr>
      </p:sp>
      <p:sp>
        <p:nvSpPr>
          <p:cNvPr id="24" name="b7:pop"/>
          <p:cNvSpPr txBox="1"/>
          <p:nvPr/>
        </p:nvSpPr>
        <p:spPr>
          <a:xfrm>
            <a:off x="5410200" y="1571625"/>
            <a:ext cx="291465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งานภายนอกพรมแดน</a:t>
            </a:r>
            <a:endParaRPr lang="en-US" sz="900" dirty="0"/>
          </a:p>
        </p:txBody>
      </p:sp>
      <p:sp>
        <p:nvSpPr>
          <p:cNvPr id="25" name="b7:pop"/>
          <p:cNvSpPr txBox="1"/>
          <p:nvPr/>
        </p:nvSpPr>
        <p:spPr>
          <a:xfrm>
            <a:off x="5410200" y="1760190"/>
            <a:ext cx="2914650" cy="523875"/>
          </a:xfrm>
          <a:prstGeom prst="rect">
            <a:avLst/>
          </a:prstGeom>
          <a:noFill/>
          <a:ln/>
        </p:spPr>
        <p:txBody>
          <a:bodyPr wrap="none" lIns="0" tIns="0" rIns="0" bIns="0" rtlCol="0" anchor="ctr"/>
          <a:lstStyle/>
          <a:p>
            <a:pPr algn="l" indent="0" marL="0">
              <a:lnSpc>
                <a:spcPts val="4125"/>
              </a:lnSpc>
              <a:buNone/>
            </a:pPr>
            <a:r>
              <a:rPr lang="en-US" sz="4125" b="1" dirty="0">
                <a:solidFill>
                  <a:srgbClr val="F7F9FB"/>
                </a:solidFill>
                <a:latin typeface="Poppins" pitchFamily="34" charset="0"/>
                <a:ea typeface="Poppins" pitchFamily="34" charset="-122"/>
                <a:cs typeface="Poppins" pitchFamily="34" charset="-120"/>
              </a:rPr>
              <a:t>−19</a:t>
            </a:r>
            <a:endParaRPr lang="en-US" sz="4125" dirty="0"/>
          </a:p>
        </p:txBody>
      </p:sp>
      <p:sp>
        <p:nvSpPr>
          <p:cNvPr id="26" name="b7:pop"/>
          <p:cNvSpPr txBox="1"/>
          <p:nvPr/>
        </p:nvSpPr>
        <p:spPr>
          <a:xfrm>
            <a:off x="5410200" y="2312640"/>
            <a:ext cx="2914650" cy="173310"/>
          </a:xfrm>
          <a:prstGeom prst="rect">
            <a:avLst/>
          </a:prstGeom>
          <a:noFill/>
          <a:ln/>
        </p:spPr>
        <p:txBody>
          <a:bodyPr wrap="none" lIns="0" tIns="0" rIns="0" bIns="0" rtlCol="0" anchor="ctr"/>
          <a:lstStyle/>
          <a:p>
            <a:pPr algn="l" indent="0" marL="0">
              <a:lnSpc>
                <a:spcPts val="1365"/>
              </a:lnSpc>
              <a:buNone/>
            </a:pPr>
            <a:r>
              <a:rPr lang="en-US" sz="975" dirty="0">
                <a:solidFill>
                  <a:srgbClr val="BFE6E0"/>
                </a:solidFill>
                <a:latin typeface="Prompt" pitchFamily="34" charset="0"/>
                <a:ea typeface="Prompt" pitchFamily="34" charset="-122"/>
                <a:cs typeface="Prompt" pitchFamily="34" charset="-120"/>
              </a:rPr>
              <a:t>จุดร้อยละ (percentage points)</a:t>
            </a:r>
            <a:endParaRPr lang="en-US" sz="975" dirty="0"/>
          </a:p>
        </p:txBody>
      </p:sp>
      <p:sp>
        <p:nvSpPr>
          <p:cNvPr id="27" name="b7:pop"/>
          <p:cNvSpPr txBox="1"/>
          <p:nvPr/>
        </p:nvSpPr>
        <p:spPr>
          <a:xfrm>
            <a:off x="5410200" y="2514526"/>
            <a:ext cx="2971800" cy="400050"/>
          </a:xfrm>
          <a:prstGeom prst="rect">
            <a:avLst/>
          </a:prstGeom>
          <a:noFill/>
          <a:ln/>
        </p:spPr>
        <p:txBody>
          <a:bodyPr wrap="square" lIns="0" tIns="57150" rIns="0" bIns="0" rtlCol="0" anchor="t"/>
          <a:lstStyle/>
          <a:p>
            <a:pPr algn="l" indent="0" marL="0">
              <a:lnSpc>
                <a:spcPts val="1350"/>
              </a:lnSpc>
              <a:buNone/>
            </a:pPr>
            <a:r>
              <a:rPr lang="en-US" sz="900" dirty="0">
                <a:solidFill>
                  <a:srgbClr val="F7F9FB"/>
                </a:solidFill>
                <a:latin typeface="Prompt" pitchFamily="34" charset="0"/>
                <a:ea typeface="Prompt" pitchFamily="34" charset="-122"/>
                <a:cs typeface="Prompt" pitchFamily="34" charset="-120"/>
              </a:rPr>
              <a:t>ผู้ใช้ AI มีโอกาสได้คำตอบที่ถูกต้องน้อยกว่าผู้ไม่ใช้ AI อยู่ </a:t>
            </a:r>
            <a:pPr algn="l" indent="0" marL="0">
              <a:lnSpc>
                <a:spcPts val="1350"/>
              </a:lnSpc>
              <a:buNone/>
            </a:pPr>
            <a:r>
              <a:rPr lang="en-US" sz="900" b="1" dirty="0">
                <a:solidFill>
                  <a:srgbClr val="BFE6E0"/>
                </a:solidFill>
                <a:latin typeface="Prompt" pitchFamily="34" charset="0"/>
                <a:ea typeface="Prompt" pitchFamily="34" charset="-122"/>
                <a:cs typeface="Prompt" pitchFamily="34" charset="-120"/>
              </a:rPr>
              <a:t>19 จุดร้อยละ</a:t>
            </a:r>
            <a:endParaRPr lang="en-US" sz="900" dirty="0"/>
          </a:p>
        </p:txBody>
      </p:sp>
      <p:pic>
        <p:nvPicPr>
          <p:cNvPr id="28" name="b7:pop (มาสคอตหุ่นยนต์ทำหน้างง)" descr="/home/user/slide-present-en/presentation/webdeck/art/robot-confused-dark.png">    </p:cNvPr>
          <p:cNvPicPr>
            <a:picLocks noChangeAspect="1"/>
          </p:cNvPicPr>
          <p:nvPr/>
        </p:nvPicPr>
        <p:blipFill>
          <a:blip r:embed="rId1"/>
          <a:stretch>
            <a:fillRect/>
          </a:stretch>
        </p:blipFill>
        <p:spPr>
          <a:xfrm>
            <a:off x="7448550" y="1495425"/>
            <a:ext cx="952500" cy="819150"/>
          </a:xfrm>
          <a:prstGeom prst="rect">
            <a:avLst/>
          </a:prstGeom>
        </p:spPr>
      </p:pic>
      <p:sp>
        <p:nvSpPr>
          <p:cNvPr id="29" name="b8:fade"/>
          <p:cNvSpPr txBox="1"/>
          <p:nvPr/>
        </p:nvSpPr>
        <p:spPr>
          <a:xfrm>
            <a:off x="5200650" y="3333750"/>
            <a:ext cx="3467100" cy="331440"/>
          </a:xfrm>
          <a:prstGeom prst="rect">
            <a:avLst/>
          </a:prstGeom>
          <a:noFill/>
          <a:ln/>
        </p:spPr>
        <p:txBody>
          <a:bodyPr wrap="square" lIns="0" tIns="0" rIns="0" bIns="0" rtlCol="0" anchor="t"/>
          <a:lstStyle/>
          <a:p>
            <a:pPr algn="l" indent="0" marL="0">
              <a:lnSpc>
                <a:spcPts val="1305"/>
              </a:lnSpc>
              <a:buNone/>
            </a:pPr>
            <a:r>
              <a:rPr lang="en-US" sz="900" dirty="0">
                <a:solidFill>
                  <a:srgbClr val="6B7280"/>
                </a:solidFill>
                <a:latin typeface="Prompt" pitchFamily="34" charset="0"/>
                <a:ea typeface="Prompt" pitchFamily="34" charset="-122"/>
                <a:cs typeface="Prompt" pitchFamily="34" charset="-120"/>
              </a:rPr>
              <a:t>คือส่วนต่างของอัตราความถูกต้องสองกลุ่ม ไม่ใช่ร้อยละการเปลี่ยนแปลง</a:t>
            </a:r>
            <a:endParaRPr lang="en-US" sz="900" dirty="0"/>
          </a:p>
        </p:txBody>
      </p:sp>
      <p:sp>
        <p:nvSpPr>
          <p:cNvPr id="30" name="b9:rise"/>
          <p:cNvSpPr/>
          <p:nvPr/>
        </p:nvSpPr>
        <p:spPr>
          <a:xfrm>
            <a:off x="5200650" y="3657600"/>
            <a:ext cx="4763" cy="0"/>
          </a:xfrm>
          <a:prstGeom prst="line">
            <a:avLst/>
          </a:prstGeom>
          <a:noFill/>
          <a:ln w="6350">
            <a:solidFill>
              <a:srgbClr val="E3E8EE"/>
            </a:solidFill>
            <a:prstDash val="solid"/>
          </a:ln>
        </p:spPr>
      </p:sp>
      <p:sp>
        <p:nvSpPr>
          <p:cNvPr id="31" name="b9:rise"/>
          <p:cNvSpPr txBox="1"/>
          <p:nvPr/>
        </p:nvSpPr>
        <p:spPr>
          <a:xfrm>
            <a:off x="5200650" y="3657600"/>
            <a:ext cx="3333750" cy="212378"/>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รูปแบบการใช้ AI ที่ประสบความสำเร็จสองแบบ</a:t>
            </a:r>
            <a:endParaRPr lang="en-US" sz="1050" dirty="0"/>
          </a:p>
        </p:txBody>
      </p:sp>
      <p:pic>
        <p:nvPicPr>
          <p:cNvPr id="32" name="b9:rise (คนกับหุ่นยนต์อยู่เคียงกัน)" descr="/home/user/slide-present-en/presentation/webdeck/art/centaur.png">    </p:cNvPr>
          <p:cNvPicPr>
            <a:picLocks noChangeAspect="1"/>
          </p:cNvPicPr>
          <p:nvPr/>
        </p:nvPicPr>
        <p:blipFill>
          <a:blip r:embed="rId2"/>
          <a:stretch>
            <a:fillRect/>
          </a:stretch>
        </p:blipFill>
        <p:spPr>
          <a:xfrm>
            <a:off x="5200650" y="3917603"/>
            <a:ext cx="342900" cy="228600"/>
          </a:xfrm>
          <a:prstGeom prst="rect">
            <a:avLst/>
          </a:prstGeom>
        </p:spPr>
      </p:pic>
      <p:sp>
        <p:nvSpPr>
          <p:cNvPr id="33" name="b9:rise"/>
          <p:cNvSpPr txBox="1"/>
          <p:nvPr/>
        </p:nvSpPr>
        <p:spPr>
          <a:xfrm>
            <a:off x="5619750" y="3945210"/>
            <a:ext cx="2434977"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Centaurs (เซนทอร์)</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แบ่งงานระหว่างคนกับ AI</a:t>
            </a:r>
            <a:endParaRPr lang="en-US" sz="975" dirty="0"/>
          </a:p>
        </p:txBody>
      </p:sp>
      <p:pic>
        <p:nvPicPr>
          <p:cNvPr id="34" name="b9:rise (ใบหน้าครึ่งคนครึ่งหุ่นยนต์)" descr="/home/user/slide-present-en/presentation/webdeck/art/cyborg.png">    </p:cNvPr>
          <p:cNvPicPr>
            <a:picLocks noChangeAspect="1"/>
          </p:cNvPicPr>
          <p:nvPr/>
        </p:nvPicPr>
        <p:blipFill>
          <a:blip r:embed="rId3"/>
          <a:stretch>
            <a:fillRect/>
          </a:stretch>
        </p:blipFill>
        <p:spPr>
          <a:xfrm>
            <a:off x="5200650" y="4193828"/>
            <a:ext cx="342900" cy="228600"/>
          </a:xfrm>
          <a:prstGeom prst="rect">
            <a:avLst/>
          </a:prstGeom>
        </p:spPr>
      </p:pic>
      <p:sp>
        <p:nvSpPr>
          <p:cNvPr id="35" name="b9:rise"/>
          <p:cNvSpPr txBox="1"/>
          <p:nvPr/>
        </p:nvSpPr>
        <p:spPr>
          <a:xfrm>
            <a:off x="5619750" y="4221435"/>
            <a:ext cx="2554932"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Cyborgs (ไซบอร์ก)</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ผสาน AI เข้าไปในทุกขั้นตอน</a:t>
            </a:r>
            <a:endParaRPr lang="en-US" sz="975" dirty="0"/>
          </a:p>
        </p:txBody>
      </p:sp>
      <p:sp>
        <p:nvSpPr>
          <p:cNvPr id="36"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Harvard Business School Working Paper 24-013.</a:t>
            </a:r>
            <a:endParaRPr lang="en-US" sz="900" dirty="0"/>
          </a:p>
        </p:txBody>
      </p:sp>
      <p:sp>
        <p:nvSpPr>
          <p:cNvPr id="37" name="b10:fade"/>
          <p:cNvSpPr txBox="1"/>
          <p:nvPr/>
        </p:nvSpPr>
        <p:spPr>
          <a:xfrm>
            <a:off x="4032721"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ผลแบบนี้จะเป็นจริงกับ</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ธุรกิจขนาดเล็กจริง</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หรือไม่? →</a:t>
            </a:r>
            <a:endParaRPr lang="en-US" sz="900" dirty="0"/>
          </a:p>
        </p:txBody>
      </p:sp>
      <p:sp>
        <p:nvSpPr>
          <p:cNvPr id="38" name="!!key2-th-1"/>
          <p:cNvSpPr/>
          <p:nvPr/>
        </p:nvSpPr>
        <p:spPr>
          <a:xfrm>
            <a:off x="7048500" y="342900"/>
            <a:ext cx="1485900" cy="255240"/>
          </a:xfrm>
          <a:prstGeom prst="roundRect">
            <a:avLst>
              <a:gd name="adj" fmla="val 50000"/>
            </a:avLst>
          </a:prstGeom>
          <a:solidFill>
            <a:srgbClr val="2E8B86"/>
          </a:solidFill>
          <a:ln/>
        </p:spPr>
      </p:sp>
      <p:sp>
        <p:nvSpPr>
          <p:cNvPr id="39" name="!!key2-th-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พรมแดนที่ไม่สม่ำเสมอ</a:t>
            </a:r>
            <a:endParaRPr lang="en-US" sz="900" dirty="0"/>
          </a:p>
        </p:txBody>
      </p:sp>
      <p:sp>
        <p:nvSpPr>
          <p:cNvPr id="40" name="!!key3-th-1"/>
          <p:cNvSpPr/>
          <p:nvPr/>
        </p:nvSpPr>
        <p:spPr>
          <a:xfrm>
            <a:off x="7048500" y="4572000"/>
            <a:ext cx="1485900" cy="255240"/>
          </a:xfrm>
          <a:prstGeom prst="roundRect">
            <a:avLst>
              <a:gd name="adj" fmla="val 50000"/>
            </a:avLst>
          </a:prstGeom>
          <a:solidFill>
            <a:srgbClr val="2E8B86"/>
          </a:solidFill>
          <a:ln/>
        </p:spPr>
      </p:sp>
      <p:sp>
        <p:nvSpPr>
          <p:cNvPr id="41" name="!!key3-th-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ธุรกิจขนาดเล็กจริง</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0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childTnLst>
                          </p:cTn>
                        </p:par>
                      </p:childTnLst>
                    </p:cTn>
                  </p:par>
                  <p:par>
                    <p:cTn id="45" fill="hold">
                      <p:stCondLst>
                        <p:cond delay="indefinite"/>
                      </p:stCondLst>
                      <p:childTnLst>
                        <p:par>
                          <p:cTn id="46"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500"/>
                                        <p:tgtEl>
                                          <p:spTgt spid="13"/>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500"/>
                                        <p:tgtEl>
                                          <p:spTgt spid="14"/>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childTnLst>
                          </p:cTn>
                        </p:par>
                      </p:childTnLst>
                    </p:cTn>
                  </p:par>
                  <p:par>
                    <p:cTn id="56" fill="hold">
                      <p:stCondLst>
                        <p:cond delay="indefinite"/>
                      </p:stCondLst>
                      <p:childTnLst>
                        <p:par>
                          <p:cTn id="57"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wipe(left)">
                                      <p:cBhvr>
                                        <p:cTn id="49" dur="500"/>
                                        <p:tgtEl>
                                          <p:spTgt spid="16"/>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50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500"/>
                                        <p:tgtEl>
                                          <p:spTgt spid="19"/>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500"/>
                                        <p:tgtEl>
                                          <p:spTgt spid="20"/>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left)">
                                      <p:cBhvr>
                                        <p:cTn id="66" dur="500"/>
                                        <p:tgtEl>
                                          <p:spTgt spid="21"/>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500"/>
                                        <p:tgtEl>
                                          <p:spTgt spid="22"/>
                                        </p:tgtEl>
                                      </p:cBhvr>
                                    </p:animEffect>
                                  </p:childTnLst>
                                </p:cTn>
                              </p:par>
                            </p:childTnLst>
                          </p:cTn>
                        </p:par>
                      </p:childTnLst>
                    </p:cTn>
                  </p:par>
                  <p:par>
                    <p:cTn id="96" fill="hold">
                      <p:stCondLst>
                        <p:cond delay="indefinite"/>
                      </p:stCondLst>
                      <p:childTnLst>
                        <p:par>
                          <p:cTn id="97" fill="hold">
                            <p:stCondLst>
                              <p:cond delay="0"/>
                            </p:stCondLst>
                            <p:childTnLst>
                              <p:par>
                                <p:cTn id="72" presetID="23" presetClass="entr" presetSubtype="16"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par>
                                <p:cTn id="76" presetID="2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Scale>
                                      <p:cBhvr>
                                        <p:cTn id="78" dur="500" fill="hold"/>
                                        <p:tgtEl>
                                          <p:spTgt spid="24"/>
                                        </p:tgtEl>
                                      </p:cBhvr>
                                      <p:from x="0" y="0"/>
                                      <p:to x="100000" y="100000"/>
                                    </p:animScale>
                                    <p:animEffect transition="in" filter="fade">
                                      <p:cBhvr>
                                        <p:cTn id="79" dur="500"/>
                                        <p:tgtEl>
                                          <p:spTgt spid="24"/>
                                        </p:tgtEl>
                                      </p:cBhvr>
                                    </p:animEffect>
                                  </p:childTnLst>
                                </p:cTn>
                              </p:par>
                              <p:par>
                                <p:cTn id="80" presetID="23" presetClass="entr" presetSubtype="16"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Scale>
                                      <p:cBhvr>
                                        <p:cTn id="82" dur="500" fill="hold"/>
                                        <p:tgtEl>
                                          <p:spTgt spid="25"/>
                                        </p:tgtEl>
                                      </p:cBhvr>
                                      <p:from x="0" y="0"/>
                                      <p:to x="100000" y="100000"/>
                                    </p:animScale>
                                    <p:animEffect transition="in" filter="fade">
                                      <p:cBhvr>
                                        <p:cTn id="83" dur="500"/>
                                        <p:tgtEl>
                                          <p:spTgt spid="25"/>
                                        </p:tgtEl>
                                      </p:cBhvr>
                                    </p:animEffect>
                                  </p:childTnLst>
                                </p:cTn>
                              </p:par>
                              <p:par>
                                <p:cTn id="84" presetID="23" presetClass="entr" presetSubtype="16"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Scale>
                                      <p:cBhvr>
                                        <p:cTn id="86" dur="500" fill="hold"/>
                                        <p:tgtEl>
                                          <p:spTgt spid="26"/>
                                        </p:tgtEl>
                                      </p:cBhvr>
                                      <p:from x="0" y="0"/>
                                      <p:to x="100000" y="100000"/>
                                    </p:animScale>
                                    <p:animEffect transition="in" filter="fade">
                                      <p:cBhvr>
                                        <p:cTn id="87" dur="500"/>
                                        <p:tgtEl>
                                          <p:spTgt spid="26"/>
                                        </p:tgtEl>
                                      </p:cBhvr>
                                    </p:animEffect>
                                  </p:childTnLst>
                                </p:cTn>
                              </p:par>
                              <p:par>
                                <p:cTn id="88" presetID="23" presetClass="entr" presetSubtype="16" fill="hold" grpId="0" nodeType="withEffect">
                                  <p:stCondLst>
                                    <p:cond delay="0"/>
                                  </p:stCondLst>
                                  <p:childTnLst>
                                    <p:set>
                                      <p:cBhvr>
                                        <p:cTn id="89" dur="1" fill="hold">
                                          <p:stCondLst>
                                            <p:cond delay="0"/>
                                          </p:stCondLst>
                                        </p:cTn>
                                        <p:tgtEl>
                                          <p:spTgt spid="27"/>
                                        </p:tgtEl>
                                        <p:attrNameLst>
                                          <p:attrName>style.visibility</p:attrName>
                                        </p:attrNameLst>
                                      </p:cBhvr>
                                      <p:to>
                                        <p:strVal val="visible"/>
                                      </p:to>
                                    </p:set>
                                    <p:animScale>
                                      <p:cBhvr>
                                        <p:cTn id="90" dur="500" fill="hold"/>
                                        <p:tgtEl>
                                          <p:spTgt spid="27"/>
                                        </p:tgtEl>
                                      </p:cBhvr>
                                      <p:from x="0" y="0"/>
                                      <p:to x="100000" y="100000"/>
                                    </p:animScale>
                                    <p:animEffect transition="in" filter="fade">
                                      <p:cBhvr>
                                        <p:cTn id="91" dur="500"/>
                                        <p:tgtEl>
                                          <p:spTgt spid="27"/>
                                        </p:tgtEl>
                                      </p:cBhvr>
                                    </p:animEffect>
                                  </p:childTnLst>
                                </p:cTn>
                              </p:par>
                              <p:par>
                                <p:cTn id="92" presetID="23" presetClass="entr" presetSubtype="16" fill="hold" grpId="0" nodeType="withEffect">
                                  <p:stCondLst>
                                    <p:cond delay="0"/>
                                  </p:stCondLst>
                                  <p:childTnLst>
                                    <p:set>
                                      <p:cBhvr>
                                        <p:cTn id="93" dur="1" fill="hold">
                                          <p:stCondLst>
                                            <p:cond delay="0"/>
                                          </p:stCondLst>
                                        </p:cTn>
                                        <p:tgtEl>
                                          <p:spTgt spid="28"/>
                                        </p:tgtEl>
                                        <p:attrNameLst>
                                          <p:attrName>style.visibility</p:attrName>
                                        </p:attrNameLst>
                                      </p:cBhvr>
                                      <p:to>
                                        <p:strVal val="visible"/>
                                      </p:to>
                                    </p:set>
                                    <p:animScale>
                                      <p:cBhvr>
                                        <p:cTn id="94" dur="500" fill="hold"/>
                                        <p:tgtEl>
                                          <p:spTgt spid="28"/>
                                        </p:tgtEl>
                                      </p:cBhvr>
                                      <p:from x="0" y="0"/>
                                      <p:to x="100000" y="100000"/>
                                    </p:animScale>
                                    <p:animEffect transition="in" filter="fade">
                                      <p:cBhvr>
                                        <p:cTn id="95" dur="500"/>
                                        <p:tgtEl>
                                          <p:spTgt spid="28"/>
                                        </p:tgtEl>
                                      </p:cBhvr>
                                    </p:animEffect>
                                  </p:childTnLst>
                                </p:cTn>
                              </p:par>
                            </p:childTnLst>
                          </p:cTn>
                        </p:par>
                      </p:childTnLst>
                    </p:cTn>
                  </p:par>
                  <p:par>
                    <p:cTn id="101" fill="hold">
                      <p:stCondLst>
                        <p:cond delay="indefinite"/>
                      </p:stCondLst>
                      <p:childTnLst>
                        <p:par>
                          <p:cTn id="102"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par>
                    <p:cTn id="127" fill="hold">
                      <p:stCondLst>
                        <p:cond delay="indefinite"/>
                      </p:stCondLst>
                      <p:childTnLst>
                        <p:par>
                          <p:cTn id="128"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700"/>
                                        <p:tgtEl>
                                          <p:spTgt spid="30"/>
                                        </p:tgtEl>
                                      </p:cBhvr>
                                    </p:animEffect>
                                    <p:anim calcmode="lin" valueType="num">
                                      <p:cBhvr additive="base">
                                        <p:cTn id="106" dur="700" fill="hold"/>
                                        <p:tgtEl>
                                          <p:spTgt spid="30"/>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1"/>
                                        </p:tgtEl>
                                        <p:attrNameLst>
                                          <p:attrName>style.visibility</p:attrName>
                                        </p:attrNameLst>
                                      </p:cBhvr>
                                      <p:to>
                                        <p:strVal val="visible"/>
                                      </p:to>
                                    </p:set>
                                    <p:animEffect transition="in" filter="fade">
                                      <p:cBhvr>
                                        <p:cTn id="109" dur="700"/>
                                        <p:tgtEl>
                                          <p:spTgt spid="31"/>
                                        </p:tgtEl>
                                      </p:cBhvr>
                                    </p:animEffect>
                                    <p:anim calcmode="lin" valueType="num">
                                      <p:cBhvr additive="base">
                                        <p:cTn id="110" dur="700" fill="hold"/>
                                        <p:tgtEl>
                                          <p:spTgt spid="31"/>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2"/>
                                        </p:tgtEl>
                                        <p:attrNameLst>
                                          <p:attrName>style.visibility</p:attrName>
                                        </p:attrNameLst>
                                      </p:cBhvr>
                                      <p:to>
                                        <p:strVal val="visible"/>
                                      </p:to>
                                    </p:set>
                                    <p:animEffect transition="in" filter="fade">
                                      <p:cBhvr>
                                        <p:cTn id="113" dur="700"/>
                                        <p:tgtEl>
                                          <p:spTgt spid="32"/>
                                        </p:tgtEl>
                                      </p:cBhvr>
                                    </p:animEffect>
                                    <p:anim calcmode="lin" valueType="num">
                                      <p:cBhvr additive="base">
                                        <p:cTn id="114" dur="700" fill="hold"/>
                                        <p:tgtEl>
                                          <p:spTgt spid="32"/>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3"/>
                                        </p:tgtEl>
                                        <p:attrNameLst>
                                          <p:attrName>style.visibility</p:attrName>
                                        </p:attrNameLst>
                                      </p:cBhvr>
                                      <p:to>
                                        <p:strVal val="visible"/>
                                      </p:to>
                                    </p:set>
                                    <p:animEffect transition="in" filter="fade">
                                      <p:cBhvr>
                                        <p:cTn id="117" dur="700"/>
                                        <p:tgtEl>
                                          <p:spTgt spid="33"/>
                                        </p:tgtEl>
                                      </p:cBhvr>
                                    </p:animEffect>
                                    <p:anim calcmode="lin" valueType="num">
                                      <p:cBhvr additive="base">
                                        <p:cTn id="118" dur="700" fill="hold"/>
                                        <p:tgtEl>
                                          <p:spTgt spid="33"/>
                                        </p:tgtEl>
                                        <p:attrNameLst>
                                          <p:attrName>ppt_y</p:attrName>
                                        </p:attrNameLst>
                                      </p:cBhvr>
                                      <p:tavLst>
                                        <p:tav tm="0">
                                          <p:val>
                                            <p:strVal val="#ppt_y+.08"/>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700"/>
                                        <p:tgtEl>
                                          <p:spTgt spid="34"/>
                                        </p:tgtEl>
                                      </p:cBhvr>
                                    </p:animEffect>
                                    <p:anim calcmode="lin" valueType="num">
                                      <p:cBhvr additive="base">
                                        <p:cTn id="122" dur="700" fill="hold"/>
                                        <p:tgtEl>
                                          <p:spTgt spid="34"/>
                                        </p:tgtEl>
                                        <p:attrNameLst>
                                          <p:attrName>ppt_y</p:attrName>
                                        </p:attrNameLst>
                                      </p:cBhvr>
                                      <p:tavLst>
                                        <p:tav tm="0">
                                          <p:val>
                                            <p:strVal val="#ppt_y+.08"/>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700"/>
                                        <p:tgtEl>
                                          <p:spTgt spid="35"/>
                                        </p:tgtEl>
                                      </p:cBhvr>
                                    </p:animEffect>
                                    <p:anim calcmode="lin" valueType="num">
                                      <p:cBhvr additive="base">
                                        <p:cTn id="126"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2" fill="hold">
                      <p:stCondLst>
                        <p:cond delay="indefinite"/>
                      </p:stCondLst>
                      <p:childTnLst>
                        <p:par>
                          <p:cTn id="133" fill="hold">
                            <p:stCondLst>
                              <p:cond delay="0"/>
                            </p:stCondLst>
                            <p:childTnLst>
                              <p:par>
                                <p:cTn id="129" presetID="10" presetClass="entr" presetSubtype="0" fill="hold" grpId="0" nodeType="click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500"/>
                                        <p:tgtEl>
                                          <p:spTgt spid="37"/>
                                        </p:tgtEl>
                                      </p:cBhvr>
                                    </p:animEffect>
                                  </p:childTnLst>
                                </p:cTn>
                              </p:par>
                            </p:childTnLst>
                          </p:cTn>
                        </p:par>
                      </p:childTnLst>
                    </p:cTn>
                  </p:par>
                  <p:par>
                    <p:cTn id="142" fill="hold">
                      <p:stCondLst>
                        <p:cond delay="indefinite"/>
                      </p:stCondLst>
                      <p:childTnLst>
                        <p:par>
                          <p:cTn id="143" fill="hold">
                            <p:stCondLst>
                              <p:cond delay="0"/>
                            </p:stCondLst>
                            <p:childTnLst>
                              <p:par>
                                <p:cTn id="134" presetID="23" presetClass="entr" presetSubtype="16"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Scale>
                                      <p:cBhvr>
                                        <p:cTn id="136" dur="500" fill="hold"/>
                                        <p:tgtEl>
                                          <p:spTgt spid="40"/>
                                        </p:tgtEl>
                                      </p:cBhvr>
                                      <p:from x="0" y="0"/>
                                      <p:to x="100000" y="100000"/>
                                    </p:animScale>
                                    <p:animEffect transition="in" filter="fade">
                                      <p:cBhvr>
                                        <p:cTn id="137" dur="500"/>
                                        <p:tgtEl>
                                          <p:spTgt spid="40"/>
                                        </p:tgtEl>
                                      </p:cBhvr>
                                    </p:animEffect>
                                  </p:childTnLst>
                                </p:cTn>
                              </p:par>
                              <p:par>
                                <p:cTn id="138" presetID="23" presetClass="entr" presetSubtype="16" fill="hold" grpId="0" nodeType="withEffect">
                                  <p:stCondLst>
                                    <p:cond delay="0"/>
                                  </p:stCondLst>
                                  <p:childTnLst>
                                    <p:set>
                                      <p:cBhvr>
                                        <p:cTn id="139" dur="1" fill="hold">
                                          <p:stCondLst>
                                            <p:cond delay="0"/>
                                          </p:stCondLst>
                                        </p:cTn>
                                        <p:tgtEl>
                                          <p:spTgt spid="41"/>
                                        </p:tgtEl>
                                        <p:attrNameLst>
                                          <p:attrName>style.visibility</p:attrName>
                                        </p:attrNameLst>
                                      </p:cBhvr>
                                      <p:to>
                                        <p:strVal val="visible"/>
                                      </p:to>
                                    </p:set>
                                    <p:animScale>
                                      <p:cBhvr>
                                        <p:cTn id="140" dur="500" fill="hold"/>
                                        <p:tgtEl>
                                          <p:spTgt spid="41"/>
                                        </p:tgtEl>
                                      </p:cBhvr>
                                      <p:from x="0" y="0"/>
                                      <p:to x="100000" y="100000"/>
                                    </p:animScale>
                                    <p:animEffect transition="in" filter="fade">
                                      <p:cBhvr>
                                        <p:cTn id="141"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5 · วัตถุประสงค์และผลการศึกษา</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ผลกระทบของ AI ต่อผู้ประกอบการที่แตกต่างกัน</a:t>
            </a:r>
            <a:endParaRPr lang="en-US" sz="2400" dirty="0"/>
          </a:p>
        </p:txBody>
      </p:sp>
      <p:sp>
        <p:nvSpPr>
          <p:cNvPr id="4" name="b1:rise"/>
          <p:cNvSpPr/>
          <p:nvPr/>
        </p:nvSpPr>
        <p:spPr>
          <a:xfrm>
            <a:off x="609600" y="1476375"/>
            <a:ext cx="342900" cy="342900"/>
          </a:xfrm>
          <a:prstGeom prst="roundRect">
            <a:avLst>
              <a:gd name="adj" fmla="val 50000"/>
            </a:avLst>
          </a:prstGeom>
          <a:solidFill>
            <a:srgbClr val="E6F3F1"/>
          </a:solidFill>
          <a:ln/>
        </p:spPr>
      </p:sp>
      <p:pic>
        <p:nvPicPr>
          <p:cNvPr id="5" name="b1:rise icon Globe" descr="preencoded.png">    </p:cNvPr>
          <p:cNvPicPr>
            <a:picLocks noChangeAspect="1"/>
          </p:cNvPicPr>
          <p:nvPr/>
        </p:nvPicPr>
        <p:blipFill>
          <a:blip r:embed="rId1"/>
          <a:stretch>
            <a:fillRect/>
          </a:stretch>
        </p:blipFill>
        <p:spPr>
          <a:xfrm>
            <a:off x="695325" y="1562100"/>
            <a:ext cx="171450" cy="171450"/>
          </a:xfrm>
          <a:prstGeom prst="rect">
            <a:avLst/>
          </a:prstGeom>
        </p:spPr>
      </p:pic>
      <p:sp>
        <p:nvSpPr>
          <p:cNvPr id="6" name="b1:rise"/>
          <p:cNvSpPr txBox="1"/>
          <p:nvPr/>
        </p:nvSpPr>
        <p:spPr>
          <a:xfrm>
            <a:off x="1066800" y="147972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บริบท</a:t>
            </a:r>
            <a:endParaRPr lang="en-US" sz="1050" dirty="0"/>
          </a:p>
        </p:txBody>
      </p:sp>
      <p:sp>
        <p:nvSpPr>
          <p:cNvPr id="7" name="b1:rise"/>
          <p:cNvSpPr txBox="1"/>
          <p:nvPr/>
        </p:nvSpPr>
        <p:spPr>
          <a:xfrm>
            <a:off x="1066800" y="164923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ผู้ประกอบการธุรกิจขนาดเล็กในประเทศเคนยา</a:t>
            </a:r>
            <a:endParaRPr lang="en-US" sz="938" dirty="0"/>
          </a:p>
        </p:txBody>
      </p:sp>
      <p:sp>
        <p:nvSpPr>
          <p:cNvPr id="8" name="b1:rise"/>
          <p:cNvSpPr/>
          <p:nvPr/>
        </p:nvSpPr>
        <p:spPr>
          <a:xfrm>
            <a:off x="609600" y="1924050"/>
            <a:ext cx="342900" cy="342900"/>
          </a:xfrm>
          <a:prstGeom prst="roundRect">
            <a:avLst>
              <a:gd name="adj" fmla="val 50000"/>
            </a:avLst>
          </a:prstGeom>
          <a:solidFill>
            <a:srgbClr val="E6F3F1"/>
          </a:solidFill>
          <a:ln/>
        </p:spPr>
      </p:sp>
      <p:pic>
        <p:nvPicPr>
          <p:cNvPr id="9" name="b1:rise icon Chat" descr="preencoded.png">    </p:cNvPr>
          <p:cNvPicPr>
            <a:picLocks noChangeAspect="1"/>
          </p:cNvPicPr>
          <p:nvPr/>
        </p:nvPicPr>
        <p:blipFill>
          <a:blip r:embed="rId2"/>
          <a:stretch>
            <a:fillRect/>
          </a:stretch>
        </p:blipFill>
        <p:spPr>
          <a:xfrm>
            <a:off x="695325" y="2009775"/>
            <a:ext cx="171450" cy="171450"/>
          </a:xfrm>
          <a:prstGeom prst="rect">
            <a:avLst/>
          </a:prstGeom>
        </p:spPr>
      </p:pic>
      <p:sp>
        <p:nvSpPr>
          <p:cNvPr id="10" name="b1:rise"/>
          <p:cNvSpPr txBox="1"/>
          <p:nvPr/>
        </p:nvSpPr>
        <p:spPr>
          <a:xfrm>
            <a:off x="1066800" y="1927399"/>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สิ่งที่ทดลอง</a:t>
            </a:r>
            <a:endParaRPr lang="en-US" sz="1050" dirty="0"/>
          </a:p>
        </p:txBody>
      </p:sp>
      <p:sp>
        <p:nvSpPr>
          <p:cNvPr id="11" name="b1:rise"/>
          <p:cNvSpPr txBox="1"/>
          <p:nvPr/>
        </p:nvSpPr>
        <p:spPr>
          <a:xfrm>
            <a:off x="1066800" y="2096914"/>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ผู้ช่วยธุรกิจ AI ที่ขับเคลื่อนด้วย GPT-4 ให้คำแนะนำทางธุรกิจ</a:t>
            </a:r>
            <a:endParaRPr lang="en-US" sz="938" dirty="0"/>
          </a:p>
        </p:txBody>
      </p:sp>
      <p:sp>
        <p:nvSpPr>
          <p:cNvPr id="12" name="b1:rise"/>
          <p:cNvSpPr/>
          <p:nvPr/>
        </p:nvSpPr>
        <p:spPr>
          <a:xfrm>
            <a:off x="609600" y="2371725"/>
            <a:ext cx="342900" cy="342900"/>
          </a:xfrm>
          <a:prstGeom prst="roundRect">
            <a:avLst>
              <a:gd name="adj" fmla="val 50000"/>
            </a:avLst>
          </a:prstGeom>
          <a:solidFill>
            <a:srgbClr val="E6F3F1"/>
          </a:solidFill>
          <a:ln/>
        </p:spPr>
      </p:sp>
      <p:pic>
        <p:nvPicPr>
          <p:cNvPr id="13" name="b1:rise icon Chart" descr="preencoded.png">    </p:cNvPr>
          <p:cNvPicPr>
            <a:picLocks noChangeAspect="1"/>
          </p:cNvPicPr>
          <p:nvPr/>
        </p:nvPicPr>
        <p:blipFill>
          <a:blip r:embed="rId3"/>
          <a:stretch>
            <a:fillRect/>
          </a:stretch>
        </p:blipFill>
        <p:spPr>
          <a:xfrm>
            <a:off x="695325" y="2457450"/>
            <a:ext cx="171450" cy="171450"/>
          </a:xfrm>
          <a:prstGeom prst="rect">
            <a:avLst/>
          </a:prstGeom>
        </p:spPr>
      </p:pic>
      <p:sp>
        <p:nvSpPr>
          <p:cNvPr id="14" name="b1:rise"/>
          <p:cNvSpPr txBox="1"/>
          <p:nvPr/>
        </p:nvSpPr>
        <p:spPr>
          <a:xfrm>
            <a:off x="1066800" y="237507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ตัวแปรผลลัพธ์</a:t>
            </a:r>
            <a:endParaRPr lang="en-US" sz="1050" dirty="0"/>
          </a:p>
        </p:txBody>
      </p:sp>
      <p:sp>
        <p:nvSpPr>
          <p:cNvPr id="15" name="b1:rise"/>
          <p:cNvSpPr txBox="1"/>
          <p:nvPr/>
        </p:nvSpPr>
        <p:spPr>
          <a:xfrm>
            <a:off x="1066800" y="254458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รายได้และกำไร</a:t>
            </a:r>
            <a:endParaRPr lang="en-US" sz="938" dirty="0"/>
          </a:p>
        </p:txBody>
      </p:sp>
      <p:sp>
        <p:nvSpPr>
          <p:cNvPr id="16" name="b2:pop"/>
          <p:cNvSpPr/>
          <p:nvPr/>
        </p:nvSpPr>
        <p:spPr>
          <a:xfrm>
            <a:off x="609600" y="3048000"/>
            <a:ext cx="3619500" cy="1351062"/>
          </a:xfrm>
          <a:prstGeom prst="roundRect">
            <a:avLst>
              <a:gd name="adj" fmla="val 8460"/>
            </a:avLst>
          </a:prstGeom>
          <a:solidFill>
            <a:srgbClr val="1B2A4A"/>
          </a:solidFill>
          <a:ln/>
        </p:spPr>
      </p:sp>
      <p:sp>
        <p:nvSpPr>
          <p:cNvPr id="17" name="b2:pop"/>
          <p:cNvSpPr/>
          <p:nvPr/>
        </p:nvSpPr>
        <p:spPr>
          <a:xfrm>
            <a:off x="800100" y="3219450"/>
            <a:ext cx="952500" cy="217140"/>
          </a:xfrm>
          <a:prstGeom prst="roundRect">
            <a:avLst>
              <a:gd name="adj" fmla="val 50000"/>
            </a:avLst>
          </a:prstGeom>
          <a:solidFill>
            <a:srgbClr val="BFE6E0"/>
          </a:solidFill>
          <a:ln/>
        </p:spPr>
      </p:sp>
      <p:sp>
        <p:nvSpPr>
          <p:cNvPr id="18" name="b2:pop"/>
          <p:cNvSpPr txBox="1"/>
          <p:nvPr/>
        </p:nvSpPr>
        <p:spPr>
          <a:xfrm>
            <a:off x="800100" y="3219450"/>
            <a:ext cx="952500"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19" name="b2:pop"/>
          <p:cNvSpPr txBox="1"/>
          <p:nvPr/>
        </p:nvSpPr>
        <p:spPr>
          <a:xfrm>
            <a:off x="800100" y="3484215"/>
            <a:ext cx="3238500" cy="159990"/>
          </a:xfrm>
          <a:prstGeom prst="rect">
            <a:avLst/>
          </a:prstGeom>
          <a:noFill/>
          <a:ln/>
        </p:spPr>
        <p:txBody>
          <a:bodyPr wrap="none" lIns="0" tIns="0" rIns="0" bIns="0" rtlCol="0" anchor="ctr"/>
          <a:lstStyle/>
          <a:p>
            <a:pPr algn="l" indent="0" marL="0">
              <a:lnSpc>
                <a:spcPts val="1260"/>
              </a:lnSpc>
              <a:buNone/>
            </a:pPr>
            <a:r>
              <a:rPr lang="en-US" sz="1050" b="1" dirty="0">
                <a:solidFill>
                  <a:srgbClr val="BFE6E0"/>
                </a:solidFill>
                <a:latin typeface="Prompt" pitchFamily="34" charset="0"/>
                <a:ea typeface="Prompt" pitchFamily="34" charset="-122"/>
                <a:cs typeface="Prompt" pitchFamily="34" charset="-120"/>
              </a:rPr>
              <a:t>ผลโดยเฉลี่ย</a:t>
            </a:r>
            <a:endParaRPr lang="en-US" sz="1050" dirty="0"/>
          </a:p>
        </p:txBody>
      </p:sp>
      <p:sp>
        <p:nvSpPr>
          <p:cNvPr id="20" name="b2:pop"/>
          <p:cNvSpPr txBox="1"/>
          <p:nvPr/>
        </p:nvSpPr>
        <p:spPr>
          <a:xfrm>
            <a:off x="800100" y="3691830"/>
            <a:ext cx="2278380" cy="535781"/>
          </a:xfrm>
          <a:prstGeom prst="rect">
            <a:avLst/>
          </a:prstGeom>
          <a:noFill/>
          <a:ln/>
        </p:spPr>
        <p:txBody>
          <a:bodyPr wrap="square" lIns="0" tIns="0" rIns="0" bIns="0" rtlCol="0" anchor="t"/>
          <a:lstStyle/>
          <a:p>
            <a:pPr algn="l" indent="0" marL="0">
              <a:lnSpc>
                <a:spcPts val="1406"/>
              </a:lnSpc>
              <a:buNone/>
            </a:pPr>
            <a:r>
              <a:rPr lang="en-US" sz="938" dirty="0">
                <a:solidFill>
                  <a:srgbClr val="F7F9FB"/>
                </a:solidFill>
                <a:latin typeface="Prompt" pitchFamily="34" charset="0"/>
                <a:ea typeface="Prompt" pitchFamily="34" charset="-122"/>
                <a:cs typeface="Prompt" pitchFamily="34" charset="-120"/>
              </a:rPr>
              <a:t>ไม่สามารถปฏิเสธสมมติฐานว่าง (null hypothesis) ที่ว่าไม่มีผลเฉลี่ยต่อรายได้และกำไร</a:t>
            </a:r>
            <a:endParaRPr lang="en-US" sz="938" dirty="0"/>
          </a:p>
        </p:txBody>
      </p:sp>
      <p:pic>
        <p:nvPicPr>
          <p:cNvPr id="21" name="b2:pop (มาสคอตหุ่นยนต์ถือโทรศัพท์)" descr="/home/user/slide-present-en/presentation/webdeck/art/robot-shop-dark.png">    </p:cNvPr>
          <p:cNvPicPr>
            <a:picLocks noChangeAspect="1"/>
          </p:cNvPicPr>
          <p:nvPr/>
        </p:nvPicPr>
        <p:blipFill>
          <a:blip r:embed="rId4"/>
          <a:stretch>
            <a:fillRect/>
          </a:stretch>
        </p:blipFill>
        <p:spPr>
          <a:xfrm>
            <a:off x="3209925" y="3162300"/>
            <a:ext cx="904875" cy="781050"/>
          </a:xfrm>
          <a:prstGeom prst="rect">
            <a:avLst/>
          </a:prstGeom>
        </p:spPr>
      </p:pic>
      <p:sp>
        <p:nvSpPr>
          <p:cNvPr id="22" name="b3:fade"/>
          <p:cNvSpPr/>
          <p:nvPr/>
        </p:nvSpPr>
        <p:spPr>
          <a:xfrm>
            <a:off x="4838700" y="1476375"/>
            <a:ext cx="952500" cy="236190"/>
          </a:xfrm>
          <a:prstGeom prst="roundRect">
            <a:avLst>
              <a:gd name="adj" fmla="val 50000"/>
            </a:avLst>
          </a:prstGeom>
          <a:solidFill>
            <a:srgbClr val="BFE6E0"/>
          </a:solidFill>
          <a:ln/>
        </p:spPr>
      </p:sp>
      <p:sp>
        <p:nvSpPr>
          <p:cNvPr id="23" name="b3:fade"/>
          <p:cNvSpPr txBox="1"/>
          <p:nvPr/>
        </p:nvSpPr>
        <p:spPr>
          <a:xfrm>
            <a:off x="4838700" y="1476375"/>
            <a:ext cx="952500"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24" name="b3:fade"/>
          <p:cNvSpPr txBox="1"/>
          <p:nvPr/>
        </p:nvSpPr>
        <p:spPr>
          <a:xfrm>
            <a:off x="4838700" y="1788765"/>
            <a:ext cx="2667000" cy="194295"/>
          </a:xfrm>
          <a:prstGeom prst="rect">
            <a:avLst/>
          </a:prstGeom>
          <a:noFill/>
          <a:ln/>
        </p:spPr>
        <p:txBody>
          <a:bodyPr wrap="none" lIns="0" tIns="0" rIns="0" bIns="0" rtlCol="0" anchor="ctr"/>
          <a:lstStyle/>
          <a:p>
            <a:pPr algn="l" indent="0" marL="0">
              <a:lnSpc>
                <a:spcPts val="1530"/>
              </a:lnSpc>
              <a:buNone/>
            </a:pPr>
            <a:r>
              <a:rPr lang="en-US" sz="1275" b="1" dirty="0">
                <a:solidFill>
                  <a:srgbClr val="1B2A4A"/>
                </a:solidFill>
                <a:latin typeface="Prompt" pitchFamily="34" charset="0"/>
                <a:ea typeface="Prompt" pitchFamily="34" charset="-122"/>
                <a:cs typeface="Prompt" pitchFamily="34" charset="-120"/>
              </a:rPr>
              <a:t>แยกตามผลงานตั้งต้น</a:t>
            </a:r>
            <a:endParaRPr lang="en-US" sz="1275" dirty="0"/>
          </a:p>
        </p:txBody>
      </p:sp>
      <p:pic>
        <p:nvPicPr>
          <p:cNvPr id="25" name="b3:pop (ผู้ประกอบการถือโทรศัพท์)" descr="/home/user/slide-present-en/presentation/webdeck/art/human-phone.png">    </p:cNvPr>
          <p:cNvPicPr>
            <a:picLocks noChangeAspect="1"/>
          </p:cNvPicPr>
          <p:nvPr/>
        </p:nvPicPr>
        <p:blipFill>
          <a:blip r:embed="rId5"/>
          <a:stretch>
            <a:fillRect/>
          </a:stretch>
        </p:blipFill>
        <p:spPr>
          <a:xfrm>
            <a:off x="7581900" y="1428750"/>
            <a:ext cx="952500" cy="1000125"/>
          </a:xfrm>
          <a:prstGeom prst="rect">
            <a:avLst/>
          </a:prstGeom>
        </p:spPr>
      </p:pic>
      <p:sp>
        <p:nvSpPr>
          <p:cNvPr id="26" name="b4:left"/>
          <p:cNvSpPr txBox="1"/>
          <p:nvPr/>
        </p:nvSpPr>
        <p:spPr>
          <a:xfrm>
            <a:off x="4838700" y="2095500"/>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กลุ่มผลงานต่ำ</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a:t>
            </a:r>
            <a:pPr algn="l" indent="0" marL="0">
              <a:lnSpc>
                <a:spcPts val="1365"/>
              </a:lnSpc>
              <a:buNone/>
            </a:pPr>
            <a:r>
              <a:rPr lang="en-US" sz="975" b="1" dirty="0">
                <a:solidFill>
                  <a:srgbClr val="6B7280"/>
                </a:solidFill>
                <a:latin typeface="Prompt" pitchFamily="34" charset="0"/>
                <a:ea typeface="Prompt" pitchFamily="34" charset="-122"/>
                <a:cs typeface="Prompt" pitchFamily="34" charset="-120"/>
              </a:rPr>
              <a:t>แย่ลงเกือบ 10%</a:t>
            </a:r>
            <a:endParaRPr lang="en-US" sz="975" dirty="0"/>
          </a:p>
        </p:txBody>
      </p:sp>
      <p:sp>
        <p:nvSpPr>
          <p:cNvPr id="27" name="b4:left"/>
          <p:cNvSpPr/>
          <p:nvPr/>
        </p:nvSpPr>
        <p:spPr>
          <a:xfrm>
            <a:off x="4838700" y="2316435"/>
            <a:ext cx="857250" cy="190500"/>
          </a:xfrm>
          <a:prstGeom prst="roundRect">
            <a:avLst>
              <a:gd name="adj" fmla="val 15000"/>
            </a:avLst>
          </a:prstGeom>
          <a:solidFill>
            <a:srgbClr val="A3ADBB"/>
          </a:solidFill>
          <a:ln/>
        </p:spPr>
      </p:sp>
      <p:sp>
        <p:nvSpPr>
          <p:cNvPr id="28" name="b5:left"/>
          <p:cNvSpPr txBox="1"/>
          <p:nvPr/>
        </p:nvSpPr>
        <p:spPr>
          <a:xfrm>
            <a:off x="4838700" y="2600325"/>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กลุ่มผลงานสูง</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a:t>
            </a:r>
            <a:pPr algn="l" indent="0" marL="0">
              <a:lnSpc>
                <a:spcPts val="1365"/>
              </a:lnSpc>
              <a:buNone/>
            </a:pPr>
            <a:r>
              <a:rPr lang="en-US" sz="975" b="1" dirty="0">
                <a:solidFill>
                  <a:srgbClr val="2E8B86"/>
                </a:solidFill>
                <a:latin typeface="Prompt" pitchFamily="34" charset="0"/>
                <a:ea typeface="Prompt" pitchFamily="34" charset="-122"/>
                <a:cs typeface="Prompt" pitchFamily="34" charset="-120"/>
              </a:rPr>
              <a:t>อาจได้ประโยชน์มากกว่า 15%</a:t>
            </a:r>
            <a:endParaRPr lang="en-US" sz="975" dirty="0"/>
          </a:p>
        </p:txBody>
      </p:sp>
      <p:sp>
        <p:nvSpPr>
          <p:cNvPr id="29" name="b5:left"/>
          <p:cNvSpPr/>
          <p:nvPr/>
        </p:nvSpPr>
        <p:spPr>
          <a:xfrm>
            <a:off x="4838700" y="2821260"/>
            <a:ext cx="1285875" cy="190500"/>
          </a:xfrm>
          <a:prstGeom prst="roundRect">
            <a:avLst>
              <a:gd name="adj" fmla="val 15000"/>
            </a:avLst>
          </a:prstGeom>
          <a:solidFill>
            <a:srgbClr val="2E8B86"/>
          </a:solidFill>
          <a:ln/>
        </p:spPr>
      </p:sp>
      <p:sp>
        <p:nvSpPr>
          <p:cNvPr id="30" name="b5:left"/>
          <p:cNvSpPr txBox="1"/>
          <p:nvPr/>
        </p:nvSpPr>
        <p:spPr>
          <a:xfrm>
            <a:off x="4838700" y="3059385"/>
            <a:ext cx="36957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ความยาวแท่งเป็นเพียงภาพประกอบ</a:t>
            </a:r>
            <a:endParaRPr lang="en-US" sz="900" dirty="0"/>
          </a:p>
        </p:txBody>
      </p:sp>
      <p:sp>
        <p:nvSpPr>
          <p:cNvPr id="31" name="b6:rise"/>
          <p:cNvSpPr/>
          <p:nvPr/>
        </p:nvSpPr>
        <p:spPr>
          <a:xfrm>
            <a:off x="4838700" y="3333750"/>
            <a:ext cx="4763" cy="0"/>
          </a:xfrm>
          <a:prstGeom prst="line">
            <a:avLst/>
          </a:prstGeom>
          <a:noFill/>
          <a:ln w="6350">
            <a:solidFill>
              <a:srgbClr val="E3E8EE"/>
            </a:solidFill>
            <a:prstDash val="solid"/>
          </a:ln>
        </p:spPr>
      </p:sp>
      <p:pic>
        <p:nvPicPr>
          <p:cNvPr id="32" name="b6:rise icon Chat" descr="preencoded.png">    </p:cNvPr>
          <p:cNvPicPr>
            <a:picLocks noChangeAspect="1"/>
          </p:cNvPicPr>
          <p:nvPr/>
        </p:nvPicPr>
        <p:blipFill>
          <a:blip r:embed="rId6"/>
          <a:stretch>
            <a:fillRect/>
          </a:stretch>
        </p:blipFill>
        <p:spPr>
          <a:xfrm>
            <a:off x="4838700" y="3511153"/>
            <a:ext cx="152400" cy="152400"/>
          </a:xfrm>
          <a:prstGeom prst="rect">
            <a:avLst/>
          </a:prstGeom>
        </p:spPr>
      </p:pic>
      <p:sp>
        <p:nvSpPr>
          <p:cNvPr id="33" name="b6:rise"/>
          <p:cNvSpPr txBox="1"/>
          <p:nvPr/>
        </p:nvSpPr>
        <p:spPr>
          <a:xfrm>
            <a:off x="5067300" y="3414713"/>
            <a:ext cx="3605784" cy="345281"/>
          </a:xfrm>
          <a:prstGeom prst="rect">
            <a:avLst/>
          </a:prstGeom>
          <a:noFill/>
          <a:ln/>
        </p:spPr>
        <p:txBody>
          <a:bodyPr wrap="square" lIns="0" tIns="0" rIns="0" bIns="0" rtlCol="0" anchor="t"/>
          <a:lstStyle/>
          <a:p>
            <a:pPr algn="l" indent="0" marL="0">
              <a:lnSpc>
                <a:spcPts val="1359"/>
              </a:lnSpc>
              <a:buNone/>
            </a:pPr>
            <a:r>
              <a:rPr lang="en-US" sz="938" dirty="0">
                <a:solidFill>
                  <a:srgbClr val="1B2A4A"/>
                </a:solidFill>
                <a:latin typeface="Prompt" pitchFamily="34" charset="0"/>
                <a:ea typeface="Prompt" pitchFamily="34" charset="-122"/>
                <a:cs typeface="Prompt" pitchFamily="34" charset="-120"/>
              </a:rPr>
              <a:t>คำถามและคำแนะนำใกล้เคียงกัน ความต่างอยู่ที่</a:t>
            </a:r>
            <a:pPr algn="l" indent="0" marL="0">
              <a:lnSpc>
                <a:spcPts val="1359"/>
              </a:lnSpc>
              <a:buNone/>
            </a:pPr>
            <a:r>
              <a:rPr lang="en-US" sz="938" b="1" dirty="0">
                <a:solidFill>
                  <a:srgbClr val="2E8B86"/>
                </a:solidFill>
                <a:latin typeface="Prompt" pitchFamily="34" charset="0"/>
                <a:ea typeface="Prompt" pitchFamily="34" charset="-122"/>
                <a:cs typeface="Prompt" pitchFamily="34" charset="-120"/>
              </a:rPr>
              <a:t>คำแนะนำที่ผู้ประกอบการเลือกนำไปปฏิบัติ</a:t>
            </a:r>
            <a:endParaRPr lang="en-US" sz="938" dirty="0"/>
          </a:p>
        </p:txBody>
      </p:sp>
      <p:pic>
        <p:nvPicPr>
          <p:cNvPr id="34" name="b6:rise icon Warning" descr="preencoded.png">    </p:cNvPr>
          <p:cNvPicPr>
            <a:picLocks noChangeAspect="1"/>
          </p:cNvPicPr>
          <p:nvPr/>
        </p:nvPicPr>
        <p:blipFill>
          <a:blip r:embed="rId7"/>
          <a:stretch>
            <a:fillRect/>
          </a:stretch>
        </p:blipFill>
        <p:spPr>
          <a:xfrm>
            <a:off x="4838700" y="3942159"/>
            <a:ext cx="152400" cy="152400"/>
          </a:xfrm>
          <a:prstGeom prst="rect">
            <a:avLst/>
          </a:prstGeom>
        </p:spPr>
      </p:pic>
      <p:sp>
        <p:nvSpPr>
          <p:cNvPr id="35" name="b6:rise"/>
          <p:cNvSpPr txBox="1"/>
          <p:nvPr/>
        </p:nvSpPr>
        <p:spPr>
          <a:xfrm>
            <a:off x="5067300" y="3845719"/>
            <a:ext cx="3605784" cy="345281"/>
          </a:xfrm>
          <a:prstGeom prst="rect">
            <a:avLst/>
          </a:prstGeom>
          <a:noFill/>
          <a:ln/>
        </p:spPr>
        <p:txBody>
          <a:bodyPr wrap="square" lIns="0" tIns="0" rIns="0" bIns="0" rtlCol="0" anchor="t"/>
          <a:lstStyle/>
          <a:p>
            <a:pPr algn="l" indent="0" marL="0">
              <a:lnSpc>
                <a:spcPts val="1359"/>
              </a:lnSpc>
              <a:buNone/>
            </a:pPr>
            <a:r>
              <a:rPr lang="en-US" sz="938" dirty="0">
                <a:solidFill>
                  <a:srgbClr val="4A5568"/>
                </a:solidFill>
                <a:latin typeface="Prompt" pitchFamily="34" charset="0"/>
                <a:ea typeface="Prompt" pitchFamily="34" charset="-122"/>
                <a:cs typeface="Prompt" pitchFamily="34" charset="-120"/>
              </a:rPr>
              <a:t>เป็นค่าเฉลี่ยของกลุ่มย่อย ไม่ใช่ว่าคนเก่งทุกคนจะได้ประโยชน์ หรือคนอ่อนทุกคนจะเสียประโยชน์</a:t>
            </a:r>
            <a:endParaRPr lang="en-US" sz="938" dirty="0"/>
          </a:p>
        </p:txBody>
      </p:sp>
      <p:sp>
        <p:nvSpPr>
          <p:cNvPr id="36" name="static"/>
          <p:cNvSpPr txBox="1"/>
          <p:nvPr/>
        </p:nvSpPr>
        <p:spPr>
          <a:xfrm>
            <a:off x="609600" y="4827315"/>
            <a:ext cx="47625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Otis et al. (2026). Management Science, 72(7). doi.org/10.1287/mnsc.2024.06909</a:t>
            </a:r>
            <a:endParaRPr lang="en-US" sz="900" dirty="0"/>
          </a:p>
        </p:txBody>
      </p:sp>
      <p:sp>
        <p:nvSpPr>
          <p:cNvPr id="37" name="b7:fade"/>
          <p:cNvSpPr txBox="1"/>
          <p:nvPr/>
        </p:nvSpPr>
        <p:spPr>
          <a:xfrm>
            <a:off x="4043288"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สองงานวิจัย </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บทเรียนเดียว</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a:t>
            </a:r>
            <a:endParaRPr lang="en-US" sz="900" dirty="0"/>
          </a:p>
        </p:txBody>
      </p:sp>
      <p:sp>
        <p:nvSpPr>
          <p:cNvPr id="38" name="!!key3-th-1"/>
          <p:cNvSpPr/>
          <p:nvPr/>
        </p:nvSpPr>
        <p:spPr>
          <a:xfrm>
            <a:off x="7048500" y="342900"/>
            <a:ext cx="1485900" cy="255240"/>
          </a:xfrm>
          <a:prstGeom prst="roundRect">
            <a:avLst>
              <a:gd name="adj" fmla="val 50000"/>
            </a:avLst>
          </a:prstGeom>
          <a:solidFill>
            <a:srgbClr val="2E8B86"/>
          </a:solidFill>
          <a:ln/>
        </p:spPr>
      </p:sp>
      <p:sp>
        <p:nvSpPr>
          <p:cNvPr id="39" name="!!key3-th-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ธุรกิจขนาดเล็กจริง</a:t>
            </a:r>
            <a:endParaRPr lang="en-US" sz="900" dirty="0"/>
          </a:p>
        </p:txBody>
      </p:sp>
      <p:sp>
        <p:nvSpPr>
          <p:cNvPr id="40" name="!!key4-th-1"/>
          <p:cNvSpPr/>
          <p:nvPr/>
        </p:nvSpPr>
        <p:spPr>
          <a:xfrm>
            <a:off x="7048500" y="4572000"/>
            <a:ext cx="1485900" cy="255240"/>
          </a:xfrm>
          <a:prstGeom prst="roundRect">
            <a:avLst>
              <a:gd name="adj" fmla="val 50000"/>
            </a:avLst>
          </a:prstGeom>
          <a:solidFill>
            <a:srgbClr val="2E8B86"/>
          </a:solidFill>
          <a:ln/>
        </p:spPr>
      </p:sp>
      <p:sp>
        <p:nvSpPr>
          <p:cNvPr id="41" name="!!key4-th-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วิจารณญาณของมนุษย์</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53" presetID="23" presetClass="entr" presetSubtype="16"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Scale>
                                      <p:cBhvr>
                                        <p:cTn id="55" dur="500" fill="hold"/>
                                        <p:tgtEl>
                                          <p:spTgt spid="16"/>
                                        </p:tgtEl>
                                      </p:cBhvr>
                                      <p:from x="0" y="0"/>
                                      <p:to x="100000" y="100000"/>
                                    </p:animScale>
                                    <p:animEffect transition="in" filter="fade">
                                      <p:cBhvr>
                                        <p:cTn id="56" dur="500"/>
                                        <p:tgtEl>
                                          <p:spTgt spid="16"/>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Scale>
                                      <p:cBhvr>
                                        <p:cTn id="59" dur="500" fill="hold"/>
                                        <p:tgtEl>
                                          <p:spTgt spid="17"/>
                                        </p:tgtEl>
                                      </p:cBhvr>
                                      <p:from x="0" y="0"/>
                                      <p:to x="100000" y="100000"/>
                                    </p:animScale>
                                    <p:animEffect transition="in" filter="fade">
                                      <p:cBhvr>
                                        <p:cTn id="60" dur="500"/>
                                        <p:tgtEl>
                                          <p:spTgt spid="17"/>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Scale>
                                      <p:cBhvr>
                                        <p:cTn id="63" dur="500" fill="hold"/>
                                        <p:tgtEl>
                                          <p:spTgt spid="18"/>
                                        </p:tgtEl>
                                      </p:cBhvr>
                                      <p:from x="0" y="0"/>
                                      <p:to x="100000" y="100000"/>
                                    </p:animScale>
                                    <p:animEffect transition="in" filter="fade">
                                      <p:cBhvr>
                                        <p:cTn id="64" dur="500"/>
                                        <p:tgtEl>
                                          <p:spTgt spid="18"/>
                                        </p:tgtEl>
                                      </p:cBhvr>
                                    </p:animEffect>
                                  </p:childTnLst>
                                </p:cTn>
                              </p:par>
                              <p:par>
                                <p:cTn id="65" presetID="23" presetClass="entr" presetSubtype="16"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Scale>
                                      <p:cBhvr>
                                        <p:cTn id="67" dur="500" fill="hold"/>
                                        <p:tgtEl>
                                          <p:spTgt spid="19"/>
                                        </p:tgtEl>
                                      </p:cBhvr>
                                      <p:from x="0" y="0"/>
                                      <p:to x="100000" y="100000"/>
                                    </p:animScale>
                                    <p:animEffect transition="in" filter="fade">
                                      <p:cBhvr>
                                        <p:cTn id="68" dur="500"/>
                                        <p:tgtEl>
                                          <p:spTgt spid="19"/>
                                        </p:tgtEl>
                                      </p:cBhvr>
                                    </p:animEffect>
                                  </p:childTnLst>
                                </p:cTn>
                              </p:par>
                              <p:par>
                                <p:cTn id="69" presetID="23" presetClass="entr" presetSubtype="16"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Scale>
                                      <p:cBhvr>
                                        <p:cTn id="71" dur="500" fill="hold"/>
                                        <p:tgtEl>
                                          <p:spTgt spid="20"/>
                                        </p:tgtEl>
                                      </p:cBhvr>
                                      <p:from x="0" y="0"/>
                                      <p:to x="100000" y="100000"/>
                                    </p:animScale>
                                    <p:animEffect transition="in" filter="fade">
                                      <p:cBhvr>
                                        <p:cTn id="72" dur="500"/>
                                        <p:tgtEl>
                                          <p:spTgt spid="20"/>
                                        </p:tgtEl>
                                      </p:cBhvr>
                                    </p:animEffect>
                                  </p:childTnLst>
                                </p:cTn>
                              </p:par>
                              <p:par>
                                <p:cTn id="73" presetID="23" presetClass="entr" presetSubtype="16"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Scale>
                                      <p:cBhvr>
                                        <p:cTn id="75" dur="500" fill="hold"/>
                                        <p:tgtEl>
                                          <p:spTgt spid="21"/>
                                        </p:tgtEl>
                                      </p:cBhvr>
                                      <p:from x="0" y="0"/>
                                      <p:to x="100000" y="100000"/>
                                    </p:animScale>
                                    <p:animEffect transition="in" filter="fade">
                                      <p:cBhvr>
                                        <p:cTn id="76" dur="500"/>
                                        <p:tgtEl>
                                          <p:spTgt spid="21"/>
                                        </p:tgtEl>
                                      </p:cBhvr>
                                    </p:animEffect>
                                  </p:childTnLst>
                                </p:cTn>
                              </p:par>
                            </p:childTnLst>
                          </p:cTn>
                        </p:par>
                      </p:childTnLst>
                    </p:cTn>
                  </p:par>
                  <p:par>
                    <p:cTn id="91" fill="hold">
                      <p:stCondLst>
                        <p:cond delay="indefinite"/>
                      </p:stCondLst>
                      <p:childTnLst>
                        <p:par>
                          <p:cTn id="92"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childTnLst>
                          </p:cTn>
                        </p:par>
                      </p:childTnLst>
                    </p:cTn>
                  </p:par>
                  <p:par>
                    <p:cTn id="99" fill="hold">
                      <p:stCondLst>
                        <p:cond delay="indefinite"/>
                      </p:stCondLst>
                      <p:childTnLst>
                        <p:par>
                          <p:cTn id="100" fill="hold">
                            <p:stCondLst>
                              <p:cond delay="0"/>
                            </p:stCondLst>
                            <p:childTnLst>
                              <p:par>
                                <p:cTn id="93" presetID="22" presetClass="entr" presetSubtype="8" fill="hold" grpId="0" nodeType="click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500"/>
                                        <p:tgtEl>
                                          <p:spTgt spid="26"/>
                                        </p:tgtEl>
                                      </p:cBhvr>
                                    </p:animEffect>
                                  </p:childTnLst>
                                </p:cTn>
                              </p:par>
                              <p:par>
                                <p:cTn id="96" presetID="22" presetClass="entr" presetSubtype="8" fill="hold" grpId="0" nodeType="with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wipe(left)">
                                      <p:cBhvr>
                                        <p:cTn id="103" dur="500"/>
                                        <p:tgtEl>
                                          <p:spTgt spid="28"/>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wipe(left)">
                                      <p:cBhvr>
                                        <p:cTn id="106" dur="500"/>
                                        <p:tgtEl>
                                          <p:spTgt spid="29"/>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30"/>
                                        </p:tgtEl>
                                        <p:attrNameLst>
                                          <p:attrName>style.visibility</p:attrName>
                                        </p:attrNameLst>
                                      </p:cBhvr>
                                      <p:to>
                                        <p:strVal val="visible"/>
                                      </p:to>
                                    </p:set>
                                    <p:animEffect transition="in" filter="wipe(left)">
                                      <p:cBhvr>
                                        <p:cTn id="109" dur="500"/>
                                        <p:tgtEl>
                                          <p:spTgt spid="30"/>
                                        </p:tgtEl>
                                      </p:cBhvr>
                                    </p:animEffect>
                                  </p:childTnLst>
                                </p:cTn>
                              </p:par>
                            </p:childTnLst>
                          </p:cTn>
                        </p:par>
                      </p:childTnLst>
                    </p:cTn>
                  </p:par>
                  <p:par>
                    <p:cTn id="132" fill="hold">
                      <p:stCondLst>
                        <p:cond delay="indefinite"/>
                      </p:stCondLst>
                      <p:childTnLst>
                        <p:par>
                          <p:cTn id="133" fill="hold">
                            <p:stCondLst>
                              <p:cond delay="0"/>
                            </p:stCondLst>
                            <p:childTnLst>
                              <p:par>
                                <p:cTn id="112" presetID="42" presetClass="entr" presetSubtype="0" fill="hold" grpId="0" nodeType="click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8"/>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8"/>
                                          </p:val>
                                        </p:tav>
                                        <p:tav tm="100000">
                                          <p:val>
                                            <p:strVal val="#ppt_y"/>
                                          </p:val>
                                        </p:tav>
                                      </p:tavLst>
                                    </p:anim>
                                  </p:childTnLst>
                                </p:cTn>
                              </p:par>
                              <p:par>
                                <p:cTn id="128" presetID="42" presetClass="entr" presetSubtype="0" fill="hold" grpId="0" nodeType="withEffect">
                                  <p:stCondLst>
                                    <p:cond delay="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7" fill="hold">
                      <p:stCondLst>
                        <p:cond delay="indefinite"/>
                      </p:stCondLst>
                      <p:childTnLst>
                        <p:par>
                          <p:cTn id="138" fill="hold">
                            <p:stCondLst>
                              <p:cond delay="0"/>
                            </p:stCondLst>
                            <p:childTnLst>
                              <p:par>
                                <p:cTn id="134" presetID="10" presetClass="entr" presetSubtype="0" fill="hold" grpId="0" nodeType="clickEffect">
                                  <p:stCondLst>
                                    <p:cond delay="0"/>
                                  </p:stCondLst>
                                  <p:childTnLst>
                                    <p:set>
                                      <p:cBhvr>
                                        <p:cTn id="135" dur="1" fill="hold">
                                          <p:stCondLst>
                                            <p:cond delay="0"/>
                                          </p:stCondLst>
                                        </p:cTn>
                                        <p:tgtEl>
                                          <p:spTgt spid="37"/>
                                        </p:tgtEl>
                                        <p:attrNameLst>
                                          <p:attrName>style.visibility</p:attrName>
                                        </p:attrNameLst>
                                      </p:cBhvr>
                                      <p:to>
                                        <p:strVal val="visible"/>
                                      </p:to>
                                    </p:set>
                                    <p:animEffect transition="in" filter="fade">
                                      <p:cBhvr>
                                        <p:cTn id="136" dur="500"/>
                                        <p:tgtEl>
                                          <p:spTgt spid="37"/>
                                        </p:tgtEl>
                                      </p:cBhvr>
                                    </p:animEffect>
                                  </p:childTnLst>
                                </p:cTn>
                              </p:par>
                            </p:childTnLst>
                          </p:cTn>
                        </p:par>
                      </p:childTnLst>
                    </p:cTn>
                  </p:par>
                  <p:par>
                    <p:cTn id="147" fill="hold">
                      <p:stCondLst>
                        <p:cond delay="indefinite"/>
                      </p:stCondLst>
                      <p:childTnLst>
                        <p:par>
                          <p:cTn id="148" fill="hold">
                            <p:stCondLst>
                              <p:cond delay="0"/>
                            </p:stCondLst>
                            <p:childTnLst>
                              <p:par>
                                <p:cTn id="139" presetID="23" presetClass="entr" presetSubtype="16" fill="hold" grpId="0" nodeType="clickEffect">
                                  <p:stCondLst>
                                    <p:cond delay="0"/>
                                  </p:stCondLst>
                                  <p:childTnLst>
                                    <p:set>
                                      <p:cBhvr>
                                        <p:cTn id="140" dur="1" fill="hold">
                                          <p:stCondLst>
                                            <p:cond delay="0"/>
                                          </p:stCondLst>
                                        </p:cTn>
                                        <p:tgtEl>
                                          <p:spTgt spid="40"/>
                                        </p:tgtEl>
                                        <p:attrNameLst>
                                          <p:attrName>style.visibility</p:attrName>
                                        </p:attrNameLst>
                                      </p:cBhvr>
                                      <p:to>
                                        <p:strVal val="visible"/>
                                      </p:to>
                                    </p:set>
                                    <p:animScale>
                                      <p:cBhvr>
                                        <p:cTn id="141" dur="500" fill="hold"/>
                                        <p:tgtEl>
                                          <p:spTgt spid="40"/>
                                        </p:tgtEl>
                                      </p:cBhvr>
                                      <p:from x="0" y="0"/>
                                      <p:to x="100000" y="100000"/>
                                    </p:animScale>
                                    <p:animEffect transition="in" filter="fade">
                                      <p:cBhvr>
                                        <p:cTn id="142" dur="500"/>
                                        <p:tgtEl>
                                          <p:spTgt spid="40"/>
                                        </p:tgtEl>
                                      </p:cBhvr>
                                    </p:animEffect>
                                  </p:childTnLst>
                                </p:cTn>
                              </p:par>
                              <p:par>
                                <p:cTn id="143" presetID="23" presetClass="entr" presetSubtype="16"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Scale>
                                      <p:cBhvr>
                                        <p:cTn id="145" dur="500" fill="hold"/>
                                        <p:tgtEl>
                                          <p:spTgt spid="41"/>
                                        </p:tgtEl>
                                      </p:cBhvr>
                                      <p:from x="0" y="0"/>
                                      <p:to x="100000" y="100000"/>
                                    </p:animScale>
                                    <p:animEffect transition="in" filter="fade">
                                      <p:cBhvr>
                                        <p:cTn id="146"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อภิปรายผลและเปรียบเทียบ</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AI เป็นเครื่องมือ ไม่ใช่หลักประกันความสำเร็จ</a:t>
            </a:r>
            <a:endParaRPr lang="en-US" sz="2400" dirty="0"/>
          </a:p>
        </p:txBody>
      </p:sp>
      <p:sp>
        <p:nvSpPr>
          <p:cNvPr id="4" name="b1:rise"/>
          <p:cNvSpPr/>
          <p:nvPr/>
        </p:nvSpPr>
        <p:spPr>
          <a:xfrm>
            <a:off x="609600" y="1381125"/>
            <a:ext cx="952500" cy="236190"/>
          </a:xfrm>
          <a:prstGeom prst="roundRect">
            <a:avLst>
              <a:gd name="adj" fmla="val 50000"/>
            </a:avLst>
          </a:prstGeom>
          <a:solidFill>
            <a:srgbClr val="BFE6E0"/>
          </a:solidFill>
          <a:ln/>
        </p:spPr>
      </p:sp>
      <p:sp>
        <p:nvSpPr>
          <p:cNvPr id="5" name="b1:rise"/>
          <p:cNvSpPr txBox="1"/>
          <p:nvPr/>
        </p:nvSpPr>
        <p:spPr>
          <a:xfrm>
            <a:off x="609600" y="1381125"/>
            <a:ext cx="952500"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6" name="b1:rise"/>
          <p:cNvSpPr/>
          <p:nvPr/>
        </p:nvSpPr>
        <p:spPr>
          <a:xfrm>
            <a:off x="609600" y="1981646"/>
            <a:ext cx="4763" cy="0"/>
          </a:xfrm>
          <a:prstGeom prst="line">
            <a:avLst/>
          </a:prstGeom>
          <a:noFill/>
          <a:ln w="6350">
            <a:solidFill>
              <a:srgbClr val="D8DEE6"/>
            </a:solidFill>
            <a:prstDash val="solid"/>
          </a:ln>
        </p:spPr>
      </p:sp>
      <p:sp>
        <p:nvSpPr>
          <p:cNvPr id="7" name="b1:rise"/>
          <p:cNvSpPr/>
          <p:nvPr/>
        </p:nvSpPr>
        <p:spPr>
          <a:xfrm>
            <a:off x="2036043" y="1981646"/>
            <a:ext cx="4763" cy="0"/>
          </a:xfrm>
          <a:prstGeom prst="line">
            <a:avLst/>
          </a:prstGeom>
          <a:noFill/>
          <a:ln w="6350">
            <a:solidFill>
              <a:srgbClr val="D8DEE6"/>
            </a:solidFill>
            <a:prstDash val="solid"/>
          </a:ln>
        </p:spPr>
      </p:sp>
      <p:sp>
        <p:nvSpPr>
          <p:cNvPr id="8" name="b1:rise"/>
          <p:cNvSpPr txBox="1"/>
          <p:nvPr/>
        </p:nvSpPr>
        <p:spPr>
          <a:xfrm>
            <a:off x="2036043" y="1674465"/>
            <a:ext cx="3249141" cy="307181"/>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rompt" pitchFamily="34" charset="0"/>
                <a:ea typeface="Prompt" pitchFamily="34" charset="-122"/>
                <a:cs typeface="Prompt" pitchFamily="34" charset="-120"/>
              </a:rPr>
              <a:t>บทความที่ 2 · ที่ปรึกษา</a:t>
            </a:r>
            <a:endParaRPr lang="en-US" sz="900" dirty="0"/>
          </a:p>
        </p:txBody>
      </p:sp>
      <p:sp>
        <p:nvSpPr>
          <p:cNvPr id="9" name="b1:rise"/>
          <p:cNvSpPr/>
          <p:nvPr/>
        </p:nvSpPr>
        <p:spPr>
          <a:xfrm>
            <a:off x="5285184" y="1981646"/>
            <a:ext cx="4763" cy="0"/>
          </a:xfrm>
          <a:prstGeom prst="line">
            <a:avLst/>
          </a:prstGeom>
          <a:noFill/>
          <a:ln w="6350">
            <a:solidFill>
              <a:srgbClr val="D8DEE6"/>
            </a:solidFill>
            <a:prstDash val="solid"/>
          </a:ln>
        </p:spPr>
      </p:sp>
      <p:sp>
        <p:nvSpPr>
          <p:cNvPr id="10" name="b1:rise"/>
          <p:cNvSpPr txBox="1"/>
          <p:nvPr/>
        </p:nvSpPr>
        <p:spPr>
          <a:xfrm>
            <a:off x="5285184" y="1674465"/>
            <a:ext cx="3249216" cy="307181"/>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rompt" pitchFamily="34" charset="0"/>
                <a:ea typeface="Prompt" pitchFamily="34" charset="-122"/>
                <a:cs typeface="Prompt" pitchFamily="34" charset="-120"/>
              </a:rPr>
              <a:t>บทความที่ 5 · ผู้ประกอบการ</a:t>
            </a:r>
            <a:endParaRPr lang="en-US" sz="900" dirty="0"/>
          </a:p>
        </p:txBody>
      </p:sp>
      <p:sp>
        <p:nvSpPr>
          <p:cNvPr id="11" name="b1:rise"/>
          <p:cNvSpPr/>
          <p:nvPr/>
        </p:nvSpPr>
        <p:spPr>
          <a:xfrm>
            <a:off x="609600" y="2291209"/>
            <a:ext cx="4763" cy="0"/>
          </a:xfrm>
          <a:prstGeom prst="line">
            <a:avLst/>
          </a:prstGeom>
          <a:noFill/>
          <a:ln w="6350">
            <a:solidFill>
              <a:srgbClr val="D8DEE6"/>
            </a:solidFill>
            <a:prstDash val="solid"/>
          </a:ln>
        </p:spPr>
      </p:sp>
      <p:sp>
        <p:nvSpPr>
          <p:cNvPr id="12" name="b1:rise"/>
          <p:cNvSpPr txBox="1"/>
          <p:nvPr/>
        </p:nvSpPr>
        <p:spPr>
          <a:xfrm>
            <a:off x="609600" y="1981646"/>
            <a:ext cx="1426443" cy="309562"/>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กลุ่มที่ศึกษา</a:t>
            </a:r>
            <a:endParaRPr lang="en-US" sz="900" dirty="0"/>
          </a:p>
        </p:txBody>
      </p:sp>
      <p:sp>
        <p:nvSpPr>
          <p:cNvPr id="13" name="b1:rise"/>
          <p:cNvSpPr/>
          <p:nvPr/>
        </p:nvSpPr>
        <p:spPr>
          <a:xfrm>
            <a:off x="2036043" y="2291209"/>
            <a:ext cx="4763" cy="0"/>
          </a:xfrm>
          <a:prstGeom prst="line">
            <a:avLst/>
          </a:prstGeom>
          <a:noFill/>
          <a:ln w="6350">
            <a:solidFill>
              <a:srgbClr val="D8DEE6"/>
            </a:solidFill>
            <a:prstDash val="solid"/>
          </a:ln>
        </p:spPr>
      </p:sp>
      <p:sp>
        <p:nvSpPr>
          <p:cNvPr id="14" name="b1:rise"/>
          <p:cNvSpPr txBox="1"/>
          <p:nvPr/>
        </p:nvSpPr>
        <p:spPr>
          <a:xfrm>
            <a:off x="2036043" y="1981646"/>
            <a:ext cx="3249141"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พนักงานความรู้ที่ BCG</a:t>
            </a:r>
            <a:endParaRPr lang="en-US" sz="900" dirty="0"/>
          </a:p>
        </p:txBody>
      </p:sp>
      <p:sp>
        <p:nvSpPr>
          <p:cNvPr id="15" name="b1:rise"/>
          <p:cNvSpPr/>
          <p:nvPr/>
        </p:nvSpPr>
        <p:spPr>
          <a:xfrm>
            <a:off x="5285184" y="2291209"/>
            <a:ext cx="4763" cy="0"/>
          </a:xfrm>
          <a:prstGeom prst="line">
            <a:avLst/>
          </a:prstGeom>
          <a:noFill/>
          <a:ln w="6350">
            <a:solidFill>
              <a:srgbClr val="D8DEE6"/>
            </a:solidFill>
            <a:prstDash val="solid"/>
          </a:ln>
        </p:spPr>
      </p:sp>
      <p:sp>
        <p:nvSpPr>
          <p:cNvPr id="16" name="b1:rise"/>
          <p:cNvSpPr txBox="1"/>
          <p:nvPr/>
        </p:nvSpPr>
        <p:spPr>
          <a:xfrm>
            <a:off x="5285184" y="1981646"/>
            <a:ext cx="3249216"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ธุรกิจขนาดเล็กในเคนยา</a:t>
            </a:r>
            <a:endParaRPr lang="en-US" sz="900" dirty="0"/>
          </a:p>
        </p:txBody>
      </p:sp>
      <p:sp>
        <p:nvSpPr>
          <p:cNvPr id="17" name="b1:rise"/>
          <p:cNvSpPr/>
          <p:nvPr/>
        </p:nvSpPr>
        <p:spPr>
          <a:xfrm>
            <a:off x="609600" y="2291209"/>
            <a:ext cx="7924800" cy="309562"/>
          </a:xfrm>
          <a:prstGeom prst="rect">
            <a:avLst/>
          </a:prstGeom>
          <a:solidFill>
            <a:srgbClr val="EEF1F5"/>
          </a:solidFill>
          <a:ln/>
        </p:spPr>
      </p:sp>
      <p:sp>
        <p:nvSpPr>
          <p:cNvPr id="18" name="b1:rise"/>
          <p:cNvSpPr/>
          <p:nvPr/>
        </p:nvSpPr>
        <p:spPr>
          <a:xfrm>
            <a:off x="609600" y="2600771"/>
            <a:ext cx="4763" cy="0"/>
          </a:xfrm>
          <a:prstGeom prst="line">
            <a:avLst/>
          </a:prstGeom>
          <a:noFill/>
          <a:ln w="6350">
            <a:solidFill>
              <a:srgbClr val="D8DEE6"/>
            </a:solidFill>
            <a:prstDash val="solid"/>
          </a:ln>
        </p:spPr>
      </p:sp>
      <p:sp>
        <p:nvSpPr>
          <p:cNvPr id="19" name="b1:rise"/>
          <p:cNvSpPr txBox="1"/>
          <p:nvPr/>
        </p:nvSpPr>
        <p:spPr>
          <a:xfrm>
            <a:off x="609600" y="2291209"/>
            <a:ext cx="1426443" cy="309562"/>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ผลหลัก</a:t>
            </a:r>
            <a:endParaRPr lang="en-US" sz="900" dirty="0"/>
          </a:p>
        </p:txBody>
      </p:sp>
      <p:sp>
        <p:nvSpPr>
          <p:cNvPr id="20" name="b1:rise"/>
          <p:cNvSpPr/>
          <p:nvPr/>
        </p:nvSpPr>
        <p:spPr>
          <a:xfrm>
            <a:off x="2036043" y="2600771"/>
            <a:ext cx="4763" cy="0"/>
          </a:xfrm>
          <a:prstGeom prst="line">
            <a:avLst/>
          </a:prstGeom>
          <a:noFill/>
          <a:ln w="6350">
            <a:solidFill>
              <a:srgbClr val="D8DEE6"/>
            </a:solidFill>
            <a:prstDash val="solid"/>
          </a:ln>
        </p:spPr>
      </p:sp>
      <p:sp>
        <p:nvSpPr>
          <p:cNvPr id="21" name="b1:rise"/>
          <p:cNvSpPr txBox="1"/>
          <p:nvPr/>
        </p:nvSpPr>
        <p:spPr>
          <a:xfrm>
            <a:off x="2036043" y="2291209"/>
            <a:ext cx="3249141"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ผลิตภาพและคุณภาพสูงขึ้นภายในพรมแดนความสามารถของ AI</a:t>
            </a:r>
            <a:endParaRPr lang="en-US" sz="900" dirty="0"/>
          </a:p>
        </p:txBody>
      </p:sp>
      <p:sp>
        <p:nvSpPr>
          <p:cNvPr id="22" name="b1:rise"/>
          <p:cNvSpPr/>
          <p:nvPr/>
        </p:nvSpPr>
        <p:spPr>
          <a:xfrm>
            <a:off x="5285184" y="2600771"/>
            <a:ext cx="4763" cy="0"/>
          </a:xfrm>
          <a:prstGeom prst="line">
            <a:avLst/>
          </a:prstGeom>
          <a:noFill/>
          <a:ln w="6350">
            <a:solidFill>
              <a:srgbClr val="D8DEE6"/>
            </a:solidFill>
            <a:prstDash val="solid"/>
          </a:ln>
        </p:spPr>
      </p:sp>
      <p:sp>
        <p:nvSpPr>
          <p:cNvPr id="23" name="b1:rise"/>
          <p:cNvSpPr txBox="1"/>
          <p:nvPr/>
        </p:nvSpPr>
        <p:spPr>
          <a:xfrm>
            <a:off x="5285184" y="2291209"/>
            <a:ext cx="3249216"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ไม่พบผลเฉลี่ยต่อรายได้และกำไรอย่างชัดเจน</a:t>
            </a:r>
            <a:endParaRPr lang="en-US" sz="900" dirty="0"/>
          </a:p>
        </p:txBody>
      </p:sp>
      <p:sp>
        <p:nvSpPr>
          <p:cNvPr id="24" name="b1:rise"/>
          <p:cNvSpPr/>
          <p:nvPr/>
        </p:nvSpPr>
        <p:spPr>
          <a:xfrm>
            <a:off x="609600" y="2910334"/>
            <a:ext cx="4763" cy="0"/>
          </a:xfrm>
          <a:prstGeom prst="line">
            <a:avLst/>
          </a:prstGeom>
          <a:noFill/>
          <a:ln w="6350">
            <a:solidFill>
              <a:srgbClr val="D8DEE6"/>
            </a:solidFill>
            <a:prstDash val="solid"/>
          </a:ln>
        </p:spPr>
      </p:sp>
      <p:sp>
        <p:nvSpPr>
          <p:cNvPr id="25" name="b1:rise"/>
          <p:cNvSpPr txBox="1"/>
          <p:nvPr/>
        </p:nvSpPr>
        <p:spPr>
          <a:xfrm>
            <a:off x="609600" y="2600771"/>
            <a:ext cx="1426443" cy="309562"/>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ข้อค้นพบสำคัญ</a:t>
            </a:r>
            <a:endParaRPr lang="en-US" sz="900" dirty="0"/>
          </a:p>
        </p:txBody>
      </p:sp>
      <p:sp>
        <p:nvSpPr>
          <p:cNvPr id="26" name="b1:rise"/>
          <p:cNvSpPr/>
          <p:nvPr/>
        </p:nvSpPr>
        <p:spPr>
          <a:xfrm>
            <a:off x="2036043" y="2910334"/>
            <a:ext cx="4763" cy="0"/>
          </a:xfrm>
          <a:prstGeom prst="line">
            <a:avLst/>
          </a:prstGeom>
          <a:noFill/>
          <a:ln w="6350">
            <a:solidFill>
              <a:srgbClr val="D8DEE6"/>
            </a:solidFill>
            <a:prstDash val="solid"/>
          </a:ln>
        </p:spPr>
      </p:sp>
      <p:sp>
        <p:nvSpPr>
          <p:cNvPr id="27" name="b1:rise"/>
          <p:cNvSpPr txBox="1"/>
          <p:nvPr/>
        </p:nvSpPr>
        <p:spPr>
          <a:xfrm>
            <a:off x="2036043" y="2600771"/>
            <a:ext cx="3249141"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ความถูกต้องลดลงในงานนอกพรมแดน</a:t>
            </a:r>
            <a:endParaRPr lang="en-US" sz="900" dirty="0"/>
          </a:p>
        </p:txBody>
      </p:sp>
      <p:sp>
        <p:nvSpPr>
          <p:cNvPr id="28" name="b1:rise"/>
          <p:cNvSpPr/>
          <p:nvPr/>
        </p:nvSpPr>
        <p:spPr>
          <a:xfrm>
            <a:off x="5285184" y="2910334"/>
            <a:ext cx="4763" cy="0"/>
          </a:xfrm>
          <a:prstGeom prst="line">
            <a:avLst/>
          </a:prstGeom>
          <a:noFill/>
          <a:ln w="6350">
            <a:solidFill>
              <a:srgbClr val="D8DEE6"/>
            </a:solidFill>
            <a:prstDash val="solid"/>
          </a:ln>
        </p:spPr>
      </p:sp>
      <p:sp>
        <p:nvSpPr>
          <p:cNvPr id="29" name="b1:rise"/>
          <p:cNvSpPr txBox="1"/>
          <p:nvPr/>
        </p:nvSpPr>
        <p:spPr>
          <a:xfrm>
            <a:off x="5285184" y="2600771"/>
            <a:ext cx="3249216"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ผลขึ้นกับผลงานตั้งต้นและคำแนะนำที่เลือกนำไปใช้</a:t>
            </a:r>
            <a:endParaRPr lang="en-US" sz="900" dirty="0"/>
          </a:p>
        </p:txBody>
      </p:sp>
      <p:sp>
        <p:nvSpPr>
          <p:cNvPr id="30" name="b2:pop"/>
          <p:cNvSpPr/>
          <p:nvPr/>
        </p:nvSpPr>
        <p:spPr>
          <a:xfrm>
            <a:off x="609600" y="3143250"/>
            <a:ext cx="7924800" cy="1090687"/>
          </a:xfrm>
          <a:prstGeom prst="roundRect">
            <a:avLst>
              <a:gd name="adj" fmla="val 10480"/>
            </a:avLst>
          </a:prstGeom>
          <a:solidFill>
            <a:srgbClr val="2E8B86"/>
          </a:solidFill>
          <a:ln/>
        </p:spPr>
      </p:sp>
      <p:sp>
        <p:nvSpPr>
          <p:cNvPr id="31" name="b2:pop"/>
          <p:cNvSpPr/>
          <p:nvPr/>
        </p:nvSpPr>
        <p:spPr>
          <a:xfrm>
            <a:off x="819150" y="3276600"/>
            <a:ext cx="857250" cy="217140"/>
          </a:xfrm>
          <a:prstGeom prst="roundRect">
            <a:avLst>
              <a:gd name="adj" fmla="val 50000"/>
            </a:avLst>
          </a:prstGeom>
          <a:solidFill>
            <a:srgbClr val="F7F9FB"/>
          </a:solidFill>
          <a:ln/>
        </p:spPr>
      </p:sp>
      <p:sp>
        <p:nvSpPr>
          <p:cNvPr id="32" name="b2:pop"/>
          <p:cNvSpPr txBox="1"/>
          <p:nvPr/>
        </p:nvSpPr>
        <p:spPr>
          <a:xfrm>
            <a:off x="819150" y="3276600"/>
            <a:ext cx="857250"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การตีความ</a:t>
            </a:r>
            <a:endParaRPr lang="en-US" sz="900" dirty="0"/>
          </a:p>
        </p:txBody>
      </p:sp>
      <p:sp>
        <p:nvSpPr>
          <p:cNvPr id="33" name="b2:pop"/>
          <p:cNvSpPr txBox="1"/>
          <p:nvPr/>
        </p:nvSpPr>
        <p:spPr>
          <a:xfrm>
            <a:off x="819150" y="3541365"/>
            <a:ext cx="3467100" cy="559222"/>
          </a:xfrm>
          <a:prstGeom prst="rect">
            <a:avLst/>
          </a:prstGeom>
          <a:noFill/>
          <a:ln/>
        </p:spPr>
        <p:txBody>
          <a:bodyPr wrap="square" lIns="0" tIns="0" rIns="0" bIns="0" rtlCol="0" anchor="t"/>
          <a:lstStyle/>
          <a:p>
            <a:pPr algn="l" indent="0" marL="0">
              <a:lnSpc>
                <a:spcPts val="1468"/>
              </a:lnSpc>
              <a:buNone/>
            </a:pPr>
            <a:r>
              <a:rPr lang="en-US" sz="1013" b="1" dirty="0">
                <a:solidFill>
                  <a:srgbClr val="F7F9FB"/>
                </a:solidFill>
                <a:latin typeface="Prompt" pitchFamily="34" charset="0"/>
                <a:ea typeface="Prompt" pitchFamily="34" charset="-122"/>
                <a:cs typeface="Prompt" pitchFamily="34" charset="-120"/>
              </a:rPr>
              <a:t>AI ส่งผลต่อผลการทำงานจริงได้ แต่ผลกระทบขึ้นอยู่กับความเหมาะสมของงาน พฤติกรรมของผู้ใช้ และ</a:t>
            </a:r>
            <a:pPr algn="l" indent="0" marL="0">
              <a:lnSpc>
                <a:spcPts val="1468"/>
              </a:lnSpc>
              <a:buNone/>
            </a:pPr>
            <a:r>
              <a:rPr lang="en-US" sz="1013" b="1" u="sng" dirty="0">
                <a:solidFill>
                  <a:srgbClr val="F7F9FB"/>
                </a:solidFill>
                <a:latin typeface="Prompt" pitchFamily="34" charset="0"/>
                <a:ea typeface="Prompt" pitchFamily="34" charset="-122"/>
                <a:cs typeface="Prompt" pitchFamily="34" charset="-120"/>
              </a:rPr>
              <a:t>วิจารณญาณของมนุษย์</a:t>
            </a:r>
            <a:endParaRPr lang="en-US" sz="1013" dirty="0"/>
          </a:p>
        </p:txBody>
      </p:sp>
      <p:pic>
        <p:nvPicPr>
          <p:cNvPr id="34" name="b2:pop icon Check" descr="preencoded.png">    </p:cNvPr>
          <p:cNvPicPr>
            <a:picLocks noChangeAspect="1"/>
          </p:cNvPicPr>
          <p:nvPr/>
        </p:nvPicPr>
        <p:blipFill>
          <a:blip r:embed="rId1"/>
          <a:stretch>
            <a:fillRect/>
          </a:stretch>
        </p:blipFill>
        <p:spPr>
          <a:xfrm>
            <a:off x="4343400" y="3409504"/>
            <a:ext cx="142875" cy="142875"/>
          </a:xfrm>
          <a:prstGeom prst="rect">
            <a:avLst/>
          </a:prstGeom>
        </p:spPr>
      </p:pic>
      <p:sp>
        <p:nvSpPr>
          <p:cNvPr id="35" name="b2:pop"/>
          <p:cNvSpPr txBox="1"/>
          <p:nvPr/>
        </p:nvSpPr>
        <p:spPr>
          <a:xfrm>
            <a:off x="4552950" y="3400946"/>
            <a:ext cx="1599977"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เลือกงานให้ตรงกับจุดแข็งของ AI</a:t>
            </a:r>
            <a:endParaRPr lang="en-US" sz="900" dirty="0"/>
          </a:p>
        </p:txBody>
      </p:sp>
      <p:pic>
        <p:nvPicPr>
          <p:cNvPr id="36" name="b2:pop icon Check" descr="preencoded.png">    </p:cNvPr>
          <p:cNvPicPr>
            <a:picLocks noChangeAspect="1"/>
          </p:cNvPicPr>
          <p:nvPr/>
        </p:nvPicPr>
        <p:blipFill>
          <a:blip r:embed="rId2"/>
          <a:stretch>
            <a:fillRect/>
          </a:stretch>
        </p:blipFill>
        <p:spPr>
          <a:xfrm>
            <a:off x="4343400" y="3617119"/>
            <a:ext cx="142875" cy="142875"/>
          </a:xfrm>
          <a:prstGeom prst="rect">
            <a:avLst/>
          </a:prstGeom>
        </p:spPr>
      </p:pic>
      <p:sp>
        <p:nvSpPr>
          <p:cNvPr id="37" name="b2:pop"/>
          <p:cNvSpPr txBox="1"/>
          <p:nvPr/>
        </p:nvSpPr>
        <p:spPr>
          <a:xfrm>
            <a:off x="4552950" y="3608561"/>
            <a:ext cx="2126679"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ประเมินคำแนะนำของ AI อย่างมีวิจารณญาณ</a:t>
            </a:r>
            <a:endParaRPr lang="en-US" sz="900" dirty="0"/>
          </a:p>
        </p:txBody>
      </p:sp>
      <p:pic>
        <p:nvPicPr>
          <p:cNvPr id="38" name="b2:pop icon Check" descr="preencoded.png">    </p:cNvPr>
          <p:cNvPicPr>
            <a:picLocks noChangeAspect="1"/>
          </p:cNvPicPr>
          <p:nvPr/>
        </p:nvPicPr>
        <p:blipFill>
          <a:blip r:embed="rId3"/>
          <a:stretch>
            <a:fillRect/>
          </a:stretch>
        </p:blipFill>
        <p:spPr>
          <a:xfrm>
            <a:off x="4343400" y="3824734"/>
            <a:ext cx="142875" cy="142875"/>
          </a:xfrm>
          <a:prstGeom prst="rect">
            <a:avLst/>
          </a:prstGeom>
        </p:spPr>
      </p:pic>
      <p:sp>
        <p:nvSpPr>
          <p:cNvPr id="39" name="b2:pop"/>
          <p:cNvSpPr txBox="1"/>
          <p:nvPr/>
        </p:nvSpPr>
        <p:spPr>
          <a:xfrm>
            <a:off x="4552950" y="3816176"/>
            <a:ext cx="1272332"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ให้มนุษย์ตัดสินใจขั้นสุดท้าย</a:t>
            </a:r>
            <a:endParaRPr lang="en-US" sz="900" dirty="0"/>
          </a:p>
        </p:txBody>
      </p:sp>
      <p:pic>
        <p:nvPicPr>
          <p:cNvPr id="40" name="b2:pop (คนยื่นมือจับมือ)" descr="/home/user/slide-present-en/presentation/webdeck/art/human-shake-teal.png">    </p:cNvPr>
          <p:cNvPicPr>
            <a:picLocks noChangeAspect="1"/>
          </p:cNvPicPr>
          <p:nvPr/>
        </p:nvPicPr>
        <p:blipFill>
          <a:blip r:embed="rId4"/>
          <a:stretch>
            <a:fillRect/>
          </a:stretch>
        </p:blipFill>
        <p:spPr>
          <a:xfrm>
            <a:off x="7134225" y="3364706"/>
            <a:ext cx="571500" cy="647700"/>
          </a:xfrm>
          <a:prstGeom prst="rect">
            <a:avLst/>
          </a:prstGeom>
        </p:spPr>
      </p:pic>
      <p:pic>
        <p:nvPicPr>
          <p:cNvPr id="41" name="b2:pop (มาสคอตหุ่นยนต์ยื่นมือจับมือ)" descr="/home/user/slide-present-en/presentation/webdeck/art/robot-shake-teal.png">    </p:cNvPr>
          <p:cNvPicPr>
            <a:picLocks noChangeAspect="1"/>
          </p:cNvPicPr>
          <p:nvPr/>
        </p:nvPicPr>
        <p:blipFill>
          <a:blip r:embed="rId5"/>
          <a:stretch>
            <a:fillRect/>
          </a:stretch>
        </p:blipFill>
        <p:spPr>
          <a:xfrm>
            <a:off x="7705725" y="3364706"/>
            <a:ext cx="619125" cy="647700"/>
          </a:xfrm>
          <a:prstGeom prst="rect">
            <a:avLst/>
          </a:prstGeom>
        </p:spPr>
      </p:pic>
      <p:sp>
        <p:nvSpPr>
          <p:cNvPr id="42" name="static"/>
          <p:cNvSpPr txBox="1"/>
          <p:nvPr/>
        </p:nvSpPr>
        <p:spPr>
          <a:xfrm>
            <a:off x="609600" y="4678710"/>
            <a:ext cx="5448300" cy="319980"/>
          </a:xfrm>
          <a:prstGeom prst="rect">
            <a:avLst/>
          </a:prstGeom>
          <a:noFill/>
          <a:ln/>
        </p:spPr>
        <p:txBody>
          <a:bodyPr wrap="square" lIns="0" tIns="0" rIns="0" bIns="0" rtlCol="0" anchor="t"/>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HBS Working Paper 24-013 · Otis et al. (2026), Management Science 72(7), doi.org/10.1287/mnsc.2024.06909</a:t>
            </a:r>
            <a:endParaRPr lang="en-US" sz="900" dirty="0"/>
          </a:p>
        </p:txBody>
      </p:sp>
      <p:sp>
        <p:nvSpPr>
          <p:cNvPr id="43" name="b3:fade"/>
          <p:cNvSpPr txBox="1"/>
          <p:nvPr/>
        </p:nvSpPr>
        <p:spPr>
          <a:xfrm>
            <a:off x="6153150" y="4678710"/>
            <a:ext cx="23812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ขอบคุณครับ</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ยินดีรับคำถาม</a:t>
            </a:r>
            <a:endParaRPr lang="en-US" sz="900" dirty="0"/>
          </a:p>
        </p:txBody>
      </p:sp>
      <p:sp>
        <p:nvSpPr>
          <p:cNvPr id="44" name="!!key4-th-1"/>
          <p:cNvSpPr/>
          <p:nvPr/>
        </p:nvSpPr>
        <p:spPr>
          <a:xfrm>
            <a:off x="7048500" y="342900"/>
            <a:ext cx="1485900" cy="255240"/>
          </a:xfrm>
          <a:prstGeom prst="roundRect">
            <a:avLst>
              <a:gd name="adj" fmla="val 50000"/>
            </a:avLst>
          </a:prstGeom>
          <a:solidFill>
            <a:srgbClr val="2E8B86"/>
          </a:solidFill>
          <a:ln/>
        </p:spPr>
      </p:sp>
      <p:sp>
        <p:nvSpPr>
          <p:cNvPr id="45" name="!!key4-th-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วิจารณญาณของมนุษย์</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07" fill="hold">
                      <p:stCondLst>
                        <p:cond delay="indefinite"/>
                      </p:stCondLst>
                      <p:childTnLst>
                        <p:par>
                          <p:cTn id="10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8"/>
                                          </p:val>
                                        </p:tav>
                                        <p:tav tm="100000">
                                          <p:val>
                                            <p:strVal val="#ppt_y"/>
                                          </p:val>
                                        </p:tav>
                                      </p:tavLst>
                                    </p:anim>
                                  </p:childTnLst>
                                </p:cTn>
                              </p:par>
                            </p:childTnLst>
                          </p:cTn>
                        </p:par>
                      </p:childTnLst>
                    </p:cTn>
                  </p:par>
                  <p:par>
                    <p:cTn id="157" fill="hold">
                      <p:stCondLst>
                        <p:cond delay="indefinite"/>
                      </p:stCondLst>
                      <p:childTnLst>
                        <p:par>
                          <p:cTn id="158" fill="hold">
                            <p:stCondLst>
                              <p:cond delay="0"/>
                            </p:stCondLst>
                            <p:childTnLst>
                              <p:par>
                                <p:cTn id="109" presetID="23" presetClass="entr" presetSubtype="16" fill="hold" grpId="0" nodeType="clickEffect">
                                  <p:stCondLst>
                                    <p:cond delay="0"/>
                                  </p:stCondLst>
                                  <p:childTnLst>
                                    <p:set>
                                      <p:cBhvr>
                                        <p:cTn id="110" dur="1" fill="hold">
                                          <p:stCondLst>
                                            <p:cond delay="0"/>
                                          </p:stCondLst>
                                        </p:cTn>
                                        <p:tgtEl>
                                          <p:spTgt spid="30"/>
                                        </p:tgtEl>
                                        <p:attrNameLst>
                                          <p:attrName>style.visibility</p:attrName>
                                        </p:attrNameLst>
                                      </p:cBhvr>
                                      <p:to>
                                        <p:strVal val="visible"/>
                                      </p:to>
                                    </p:set>
                                    <p:animScale>
                                      <p:cBhvr>
                                        <p:cTn id="111" dur="500" fill="hold"/>
                                        <p:tgtEl>
                                          <p:spTgt spid="30"/>
                                        </p:tgtEl>
                                      </p:cBhvr>
                                      <p:from x="0" y="0"/>
                                      <p:to x="100000" y="100000"/>
                                    </p:animScale>
                                    <p:animEffect transition="in" filter="fade">
                                      <p:cBhvr>
                                        <p:cTn id="112" dur="500"/>
                                        <p:tgtEl>
                                          <p:spTgt spid="30"/>
                                        </p:tgtEl>
                                      </p:cBhvr>
                                    </p:animEffect>
                                  </p:childTnLst>
                                </p:cTn>
                              </p:par>
                              <p:par>
                                <p:cTn id="113" presetID="23" presetClass="entr" presetSubtype="16" fill="hold" grpId="0" nodeType="withEffect">
                                  <p:stCondLst>
                                    <p:cond delay="0"/>
                                  </p:stCondLst>
                                  <p:childTnLst>
                                    <p:set>
                                      <p:cBhvr>
                                        <p:cTn id="114" dur="1" fill="hold">
                                          <p:stCondLst>
                                            <p:cond delay="0"/>
                                          </p:stCondLst>
                                        </p:cTn>
                                        <p:tgtEl>
                                          <p:spTgt spid="31"/>
                                        </p:tgtEl>
                                        <p:attrNameLst>
                                          <p:attrName>style.visibility</p:attrName>
                                        </p:attrNameLst>
                                      </p:cBhvr>
                                      <p:to>
                                        <p:strVal val="visible"/>
                                      </p:to>
                                    </p:set>
                                    <p:animScale>
                                      <p:cBhvr>
                                        <p:cTn id="115" dur="500" fill="hold"/>
                                        <p:tgtEl>
                                          <p:spTgt spid="31"/>
                                        </p:tgtEl>
                                      </p:cBhvr>
                                      <p:from x="0" y="0"/>
                                      <p:to x="100000" y="100000"/>
                                    </p:animScale>
                                    <p:animEffect transition="in" filter="fade">
                                      <p:cBhvr>
                                        <p:cTn id="116" dur="500"/>
                                        <p:tgtEl>
                                          <p:spTgt spid="31"/>
                                        </p:tgtEl>
                                      </p:cBhvr>
                                    </p:animEffect>
                                  </p:childTnLst>
                                </p:cTn>
                              </p:par>
                              <p:par>
                                <p:cTn id="117" presetID="23" presetClass="entr" presetSubtype="16" fill="hold" grpId="0" nodeType="withEffect">
                                  <p:stCondLst>
                                    <p:cond delay="0"/>
                                  </p:stCondLst>
                                  <p:childTnLst>
                                    <p:set>
                                      <p:cBhvr>
                                        <p:cTn id="118" dur="1" fill="hold">
                                          <p:stCondLst>
                                            <p:cond delay="0"/>
                                          </p:stCondLst>
                                        </p:cTn>
                                        <p:tgtEl>
                                          <p:spTgt spid="32"/>
                                        </p:tgtEl>
                                        <p:attrNameLst>
                                          <p:attrName>style.visibility</p:attrName>
                                        </p:attrNameLst>
                                      </p:cBhvr>
                                      <p:to>
                                        <p:strVal val="visible"/>
                                      </p:to>
                                    </p:set>
                                    <p:animScale>
                                      <p:cBhvr>
                                        <p:cTn id="119" dur="500" fill="hold"/>
                                        <p:tgtEl>
                                          <p:spTgt spid="32"/>
                                        </p:tgtEl>
                                      </p:cBhvr>
                                      <p:from x="0" y="0"/>
                                      <p:to x="100000" y="100000"/>
                                    </p:animScale>
                                    <p:animEffect transition="in" filter="fade">
                                      <p:cBhvr>
                                        <p:cTn id="120" dur="500"/>
                                        <p:tgtEl>
                                          <p:spTgt spid="32"/>
                                        </p:tgtEl>
                                      </p:cBhvr>
                                    </p:animEffect>
                                  </p:childTnLst>
                                </p:cTn>
                              </p:par>
                              <p:par>
                                <p:cTn id="121" presetID="23" presetClass="entr" presetSubtype="16" fill="hold" grpId="0" nodeType="withEffect">
                                  <p:stCondLst>
                                    <p:cond delay="0"/>
                                  </p:stCondLst>
                                  <p:childTnLst>
                                    <p:set>
                                      <p:cBhvr>
                                        <p:cTn id="122" dur="1" fill="hold">
                                          <p:stCondLst>
                                            <p:cond delay="0"/>
                                          </p:stCondLst>
                                        </p:cTn>
                                        <p:tgtEl>
                                          <p:spTgt spid="33"/>
                                        </p:tgtEl>
                                        <p:attrNameLst>
                                          <p:attrName>style.visibility</p:attrName>
                                        </p:attrNameLst>
                                      </p:cBhvr>
                                      <p:to>
                                        <p:strVal val="visible"/>
                                      </p:to>
                                    </p:set>
                                    <p:animScale>
                                      <p:cBhvr>
                                        <p:cTn id="123" dur="500" fill="hold"/>
                                        <p:tgtEl>
                                          <p:spTgt spid="33"/>
                                        </p:tgtEl>
                                      </p:cBhvr>
                                      <p:from x="0" y="0"/>
                                      <p:to x="100000" y="100000"/>
                                    </p:animScale>
                                    <p:animEffect transition="in" filter="fade">
                                      <p:cBhvr>
                                        <p:cTn id="124" dur="500"/>
                                        <p:tgtEl>
                                          <p:spTgt spid="33"/>
                                        </p:tgtEl>
                                      </p:cBhvr>
                                    </p:animEffect>
                                  </p:childTnLst>
                                </p:cTn>
                              </p:par>
                              <p:par>
                                <p:cTn id="125" presetID="23" presetClass="entr" presetSubtype="16" fill="hold" grpId="0" nodeType="withEffect">
                                  <p:stCondLst>
                                    <p:cond delay="0"/>
                                  </p:stCondLst>
                                  <p:childTnLst>
                                    <p:set>
                                      <p:cBhvr>
                                        <p:cTn id="126" dur="1" fill="hold">
                                          <p:stCondLst>
                                            <p:cond delay="0"/>
                                          </p:stCondLst>
                                        </p:cTn>
                                        <p:tgtEl>
                                          <p:spTgt spid="34"/>
                                        </p:tgtEl>
                                        <p:attrNameLst>
                                          <p:attrName>style.visibility</p:attrName>
                                        </p:attrNameLst>
                                      </p:cBhvr>
                                      <p:to>
                                        <p:strVal val="visible"/>
                                      </p:to>
                                    </p:set>
                                    <p:animScale>
                                      <p:cBhvr>
                                        <p:cTn id="127" dur="500" fill="hold"/>
                                        <p:tgtEl>
                                          <p:spTgt spid="34"/>
                                        </p:tgtEl>
                                      </p:cBhvr>
                                      <p:from x="0" y="0"/>
                                      <p:to x="100000" y="100000"/>
                                    </p:animScale>
                                    <p:animEffect transition="in" filter="fade">
                                      <p:cBhvr>
                                        <p:cTn id="128" dur="500"/>
                                        <p:tgtEl>
                                          <p:spTgt spid="34"/>
                                        </p:tgtEl>
                                      </p:cBhvr>
                                    </p:animEffect>
                                  </p:childTnLst>
                                </p:cTn>
                              </p:par>
                              <p:par>
                                <p:cTn id="129" presetID="23" presetClass="entr" presetSubtype="16" fill="hold" grpId="0" nodeType="withEffect">
                                  <p:stCondLst>
                                    <p:cond delay="0"/>
                                  </p:stCondLst>
                                  <p:childTnLst>
                                    <p:set>
                                      <p:cBhvr>
                                        <p:cTn id="130" dur="1" fill="hold">
                                          <p:stCondLst>
                                            <p:cond delay="0"/>
                                          </p:stCondLst>
                                        </p:cTn>
                                        <p:tgtEl>
                                          <p:spTgt spid="35"/>
                                        </p:tgtEl>
                                        <p:attrNameLst>
                                          <p:attrName>style.visibility</p:attrName>
                                        </p:attrNameLst>
                                      </p:cBhvr>
                                      <p:to>
                                        <p:strVal val="visible"/>
                                      </p:to>
                                    </p:set>
                                    <p:animScale>
                                      <p:cBhvr>
                                        <p:cTn id="131" dur="500" fill="hold"/>
                                        <p:tgtEl>
                                          <p:spTgt spid="35"/>
                                        </p:tgtEl>
                                      </p:cBhvr>
                                      <p:from x="0" y="0"/>
                                      <p:to x="100000" y="100000"/>
                                    </p:animScale>
                                    <p:animEffect transition="in" filter="fade">
                                      <p:cBhvr>
                                        <p:cTn id="132" dur="500"/>
                                        <p:tgtEl>
                                          <p:spTgt spid="35"/>
                                        </p:tgtEl>
                                      </p:cBhvr>
                                    </p:animEffect>
                                  </p:childTnLst>
                                </p:cTn>
                              </p:par>
                              <p:par>
                                <p:cTn id="133" presetID="23" presetClass="entr" presetSubtype="16" fill="hold" grpId="0" nodeType="withEffect">
                                  <p:stCondLst>
                                    <p:cond delay="0"/>
                                  </p:stCondLst>
                                  <p:childTnLst>
                                    <p:set>
                                      <p:cBhvr>
                                        <p:cTn id="134" dur="1" fill="hold">
                                          <p:stCondLst>
                                            <p:cond delay="0"/>
                                          </p:stCondLst>
                                        </p:cTn>
                                        <p:tgtEl>
                                          <p:spTgt spid="36"/>
                                        </p:tgtEl>
                                        <p:attrNameLst>
                                          <p:attrName>style.visibility</p:attrName>
                                        </p:attrNameLst>
                                      </p:cBhvr>
                                      <p:to>
                                        <p:strVal val="visible"/>
                                      </p:to>
                                    </p:set>
                                    <p:animScale>
                                      <p:cBhvr>
                                        <p:cTn id="135" dur="500" fill="hold"/>
                                        <p:tgtEl>
                                          <p:spTgt spid="36"/>
                                        </p:tgtEl>
                                      </p:cBhvr>
                                      <p:from x="0" y="0"/>
                                      <p:to x="100000" y="100000"/>
                                    </p:animScale>
                                    <p:animEffect transition="in" filter="fade">
                                      <p:cBhvr>
                                        <p:cTn id="136" dur="500"/>
                                        <p:tgtEl>
                                          <p:spTgt spid="36"/>
                                        </p:tgtEl>
                                      </p:cBhvr>
                                    </p:animEffect>
                                  </p:childTnLst>
                                </p:cTn>
                              </p:par>
                              <p:par>
                                <p:cTn id="137" presetID="23" presetClass="entr" presetSubtype="16" fill="hold" grpId="0" nodeType="withEffect">
                                  <p:stCondLst>
                                    <p:cond delay="0"/>
                                  </p:stCondLst>
                                  <p:childTnLst>
                                    <p:set>
                                      <p:cBhvr>
                                        <p:cTn id="138" dur="1" fill="hold">
                                          <p:stCondLst>
                                            <p:cond delay="0"/>
                                          </p:stCondLst>
                                        </p:cTn>
                                        <p:tgtEl>
                                          <p:spTgt spid="37"/>
                                        </p:tgtEl>
                                        <p:attrNameLst>
                                          <p:attrName>style.visibility</p:attrName>
                                        </p:attrNameLst>
                                      </p:cBhvr>
                                      <p:to>
                                        <p:strVal val="visible"/>
                                      </p:to>
                                    </p:set>
                                    <p:animScale>
                                      <p:cBhvr>
                                        <p:cTn id="139" dur="500" fill="hold"/>
                                        <p:tgtEl>
                                          <p:spTgt spid="37"/>
                                        </p:tgtEl>
                                      </p:cBhvr>
                                      <p:from x="0" y="0"/>
                                      <p:to x="100000" y="100000"/>
                                    </p:animScale>
                                    <p:animEffect transition="in" filter="fade">
                                      <p:cBhvr>
                                        <p:cTn id="140" dur="500"/>
                                        <p:tgtEl>
                                          <p:spTgt spid="37"/>
                                        </p:tgtEl>
                                      </p:cBhvr>
                                    </p:animEffect>
                                  </p:childTnLst>
                                </p:cTn>
                              </p:par>
                              <p:par>
                                <p:cTn id="141" presetID="23" presetClass="entr" presetSubtype="16" fill="hold" grpId="0" nodeType="withEffect">
                                  <p:stCondLst>
                                    <p:cond delay="0"/>
                                  </p:stCondLst>
                                  <p:childTnLst>
                                    <p:set>
                                      <p:cBhvr>
                                        <p:cTn id="142" dur="1" fill="hold">
                                          <p:stCondLst>
                                            <p:cond delay="0"/>
                                          </p:stCondLst>
                                        </p:cTn>
                                        <p:tgtEl>
                                          <p:spTgt spid="38"/>
                                        </p:tgtEl>
                                        <p:attrNameLst>
                                          <p:attrName>style.visibility</p:attrName>
                                        </p:attrNameLst>
                                      </p:cBhvr>
                                      <p:to>
                                        <p:strVal val="visible"/>
                                      </p:to>
                                    </p:set>
                                    <p:animScale>
                                      <p:cBhvr>
                                        <p:cTn id="143" dur="500" fill="hold"/>
                                        <p:tgtEl>
                                          <p:spTgt spid="38"/>
                                        </p:tgtEl>
                                      </p:cBhvr>
                                      <p:from x="0" y="0"/>
                                      <p:to x="100000" y="100000"/>
                                    </p:animScale>
                                    <p:animEffect transition="in" filter="fade">
                                      <p:cBhvr>
                                        <p:cTn id="144" dur="500"/>
                                        <p:tgtEl>
                                          <p:spTgt spid="38"/>
                                        </p:tgtEl>
                                      </p:cBhvr>
                                    </p:animEffect>
                                  </p:childTnLst>
                                </p:cTn>
                              </p:par>
                              <p:par>
                                <p:cTn id="145" presetID="23" presetClass="entr" presetSubtype="16" fill="hold" grpId="0" nodeType="withEffect">
                                  <p:stCondLst>
                                    <p:cond delay="0"/>
                                  </p:stCondLst>
                                  <p:childTnLst>
                                    <p:set>
                                      <p:cBhvr>
                                        <p:cTn id="146" dur="1" fill="hold">
                                          <p:stCondLst>
                                            <p:cond delay="0"/>
                                          </p:stCondLst>
                                        </p:cTn>
                                        <p:tgtEl>
                                          <p:spTgt spid="39"/>
                                        </p:tgtEl>
                                        <p:attrNameLst>
                                          <p:attrName>style.visibility</p:attrName>
                                        </p:attrNameLst>
                                      </p:cBhvr>
                                      <p:to>
                                        <p:strVal val="visible"/>
                                      </p:to>
                                    </p:set>
                                    <p:animScale>
                                      <p:cBhvr>
                                        <p:cTn id="147" dur="500" fill="hold"/>
                                        <p:tgtEl>
                                          <p:spTgt spid="39"/>
                                        </p:tgtEl>
                                      </p:cBhvr>
                                      <p:from x="0" y="0"/>
                                      <p:to x="100000" y="100000"/>
                                    </p:animScale>
                                    <p:animEffect transition="in" filter="fade">
                                      <p:cBhvr>
                                        <p:cTn id="148" dur="500"/>
                                        <p:tgtEl>
                                          <p:spTgt spid="39"/>
                                        </p:tgtEl>
                                      </p:cBhvr>
                                    </p:animEffect>
                                  </p:childTnLst>
                                </p:cTn>
                              </p:par>
                              <p:par>
                                <p:cTn id="149" presetID="23" presetClass="entr" presetSubtype="16" fill="hold" grpId="0" nodeType="withEffect">
                                  <p:stCondLst>
                                    <p:cond delay="0"/>
                                  </p:stCondLst>
                                  <p:childTnLst>
                                    <p:set>
                                      <p:cBhvr>
                                        <p:cTn id="150" dur="1" fill="hold">
                                          <p:stCondLst>
                                            <p:cond delay="0"/>
                                          </p:stCondLst>
                                        </p:cTn>
                                        <p:tgtEl>
                                          <p:spTgt spid="40"/>
                                        </p:tgtEl>
                                        <p:attrNameLst>
                                          <p:attrName>style.visibility</p:attrName>
                                        </p:attrNameLst>
                                      </p:cBhvr>
                                      <p:to>
                                        <p:strVal val="visible"/>
                                      </p:to>
                                    </p:set>
                                    <p:animScale>
                                      <p:cBhvr>
                                        <p:cTn id="151" dur="500" fill="hold"/>
                                        <p:tgtEl>
                                          <p:spTgt spid="40"/>
                                        </p:tgtEl>
                                      </p:cBhvr>
                                      <p:from x="0" y="0"/>
                                      <p:to x="100000" y="100000"/>
                                    </p:animScale>
                                    <p:animEffect transition="in" filter="fade">
                                      <p:cBhvr>
                                        <p:cTn id="152" dur="500"/>
                                        <p:tgtEl>
                                          <p:spTgt spid="40"/>
                                        </p:tgtEl>
                                      </p:cBhvr>
                                    </p:animEffect>
                                  </p:childTnLst>
                                </p:cTn>
                              </p:par>
                              <p:par>
                                <p:cTn id="153" presetID="23" presetClass="entr" presetSubtype="16" fill="hold" grpId="0" nodeType="withEffect">
                                  <p:stCondLst>
                                    <p:cond delay="0"/>
                                  </p:stCondLst>
                                  <p:childTnLst>
                                    <p:set>
                                      <p:cBhvr>
                                        <p:cTn id="154" dur="1" fill="hold">
                                          <p:stCondLst>
                                            <p:cond delay="0"/>
                                          </p:stCondLst>
                                        </p:cTn>
                                        <p:tgtEl>
                                          <p:spTgt spid="41"/>
                                        </p:tgtEl>
                                        <p:attrNameLst>
                                          <p:attrName>style.visibility</p:attrName>
                                        </p:attrNameLst>
                                      </p:cBhvr>
                                      <p:to>
                                        <p:strVal val="visible"/>
                                      </p:to>
                                    </p:set>
                                    <p:animScale>
                                      <p:cBhvr>
                                        <p:cTn id="155" dur="500" fill="hold"/>
                                        <p:tgtEl>
                                          <p:spTgt spid="41"/>
                                        </p:tgtEl>
                                      </p:cBhvr>
                                      <p:from x="0" y="0"/>
                                      <p:to x="100000" y="100000"/>
                                    </p:animScale>
                                    <p:animEffect transition="in" filter="fade">
                                      <p:cBhvr>
                                        <p:cTn id="156" dur="500"/>
                                        <p:tgtEl>
                                          <p:spTgt spid="41"/>
                                        </p:tgtEl>
                                      </p:cBhvr>
                                    </p:animEffect>
                                  </p:childTnLst>
                                </p:cTn>
                              </p:par>
                            </p:childTnLst>
                          </p:cTn>
                        </p:par>
                      </p:childTnLst>
                    </p:cTn>
                  </p:par>
                  <p:par>
                    <p:cTn id="162" fill="hold">
                      <p:stCondLst>
                        <p:cond delay="indefinite"/>
                      </p:stCondLst>
                      <p:childTnLst>
                        <p:par>
                          <p:cTn id="163" fill="hold">
                            <p:stCondLst>
                              <p:cond delay="0"/>
                            </p:stCondLst>
                            <p:childTnLst>
                              <p:par>
                                <p:cTn id="159" presetID="10" presetClass="entr" presetSubtype="0" fill="hold" grpId="0" nodeType="clickEffect">
                                  <p:stCondLst>
                                    <p:cond delay="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7" grpId="0" animBg="1"/>
      <p:bldP spid="39" grpId="0" animBg="1"/>
      <p:bldP spid="4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and Work Performance</dc:title>
  <dc:subject>PptxGenJS Presentation</dc:subject>
  <dc:creator>Chayanun Sungsa-ard</dc:creator>
  <cp:lastModifiedBy>Chayanun Sungsa-ard</cp:lastModifiedBy>
  <cp:revision>1</cp:revision>
  <dcterms:created xsi:type="dcterms:W3CDTF">2026-10-09T17:03:53Z</dcterms:created>
  <dcterms:modified xsi:type="dcterms:W3CDTF">2026-10-09T17:03:53Z</dcterms:modified>
</cp:coreProperties>
</file>