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glish version: two field experiments on AI, productivity and business performance." id="{af6cf5be-a0b5-6d41-56cd-672e3d0910ee}">
          <p14:sldIdLst>
            <p14:sldId id="256"/>
            <p14:sldId id="257"/>
            <p14:sldId id="258"/>
            <p14:sldId id="259"/>
            <p14:sldId id="260"/>
            <p14:sldId id="261"/>
            <p14:sldId id="262"/>
            <p14:sldId id="263"/>
            <p14:sldId id="264"/>
            <p14:sldId id="265"/>
          </p14:sldIdLst>
        </p14:section>
        <p14:section name="ฉบับภาษาไทย: การทดลองภาคสนามสองชิ้นเรื่อง AI ผลิตภาพ และผลการดำเนินธุรกิจ" id="{10922c1d-c01d-182c-4717-5834c61fa97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look at one question: how does AI affect productivity, work quality and business performance? I will use two recent field experiments. Article 2 studies consultants at BCG working with GPT-4. Article 5 studies small-business entrepreneurs in Kenya who received a GPT-4 business assistant. First the office, then the marketplace, and finally what the two studies tell us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is a field experiment run with Boston Consulting Group. 758 consultants were randomly assigned to one of three conditions: no AI, GPT-4, or GPT-4 plus a short prompt-engineering overview. The authors study productivity, quality, and where AI's abilities end. They call that boundary the jagged technological frontier: AI handles some tasks well but struggles with others that look equally hard. Keep that picture in mind, because the results split exactly along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frontier the gains were large: 12.2% more tasks completed, 25.1% faster, and more than 40% higher quality than the control group. Below-average performers improved by 43% and above-average performers by 17%, each against their own baseline. But for a task chosen to sit outside the frontier, AI users were 19 percentage points less likely to produce a correct solution. Note the unit: that is a gap between two success rates, not a percentage change. The consultants who did well used AI in two ways: Centaurs divided tasks between themselves and the AI, and Cyborgs wove AI into every step. The office result is clear. The next study asks whether it survives contact with a real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5 moves from consultants to entrepreneurs in Kenya. Half of the small-business owners received a GPT-4-powered business assistant that gave advice; the outcomes were revenue and profit. On average, the researchers could not reject the null hypothesis of no treatment effect. But the average hides two stories. Entrepreneurs who were low performers at baseline did nearly 10% worse with the assistant, while high performers may have benefited by more than 15%. The questions and the AI advice were similar; the difference lay in which advice the entrepreneurs chose to implement. I want to be careful here: these are subgroup averages, not a rule for every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studies side by side. Article 2 shows higher productivity and quality for knowledge work inside AI's frontier, and lower correctness outside it. Article 5 shows no established average effect on revenue and profit, with outcomes that depended on baseline performance and on which recommendations were implemented. The common thread is the human in the loop. AI can influence real performance, but the impact depends on task suitability, user behavior and human judgment. That is why I framed the title as AI being a tool, not a guarantee of success. Thank you,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วันนี้ผมจะตอบคำถามเดียวคือ AI ส่งผลต่อผลิตภาพ คุณภาพงาน และผลการดำเนินธุรกิจอย่างไร โดยใช้การทดลองภาคสนามสองชิ้น บทความที่ 2 ศึกษาที่ปรึกษาของ BCG ที่ใช้ GPT-4 ส่วนบทความที่ 5 ศึกษาผู้ประกอบการรายย่อยในเคนยาที่ได้รับผู้ช่วยธุรกิจ GPT-4 เราจะเริ่มจากในสำนักงาน ไปสู่ตลาดจริง แล้วสรุปสิ่งที่สองงานบอกเราร่วมกัน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2 เป็นการทดลองภาคสนามร่วมกับ Boston Consulting Group ที่ปรึกษา 758 คนถูกสุ่มเข้าสามกลุ่ม คือไม่ใช้ AI ใช้ GPT-4 และใช้ GPT-4 พร้อมคำแนะนำการเขียน prompt ผู้วิจัยศึกษาผลิตภาพ คุณภาพ และจุดที่ความสามารถของ AI สิ้นสุด ซึ่งเรียกว่า jagged technological frontier คือ AI ทำงานบางอย่างได้ดี แต่ทำงานอื่นที่ดูยากพอกันได้ไม่ดี ขอให้จำภาพนี้ไว้ เพราะผลการศึกษาแยกตามเส้นนี้พอดี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ภายในพรมแดน ผลดีมีขนาดใหญ่ คือทำงานเสร็จเพิ่มขึ้น 12.2% เร็วขึ้น 25.1% และคุณภาพสูงกว่ากลุ่มควบคุมมากกว่า 40% กลุ่มผลงานต่ำกว่าค่าเฉลี่ยดีขึ้น 43% กลุ่มสูงกว่าค่าเฉลี่ยดีขึ้น 17% เทียบกับคะแนนเดิมของตนเอง แต่สำหรับงานที่เลือกให้อยู่นอกพรมแดน ผู้ใช้ AI มีโอกาสได้คำตอบถูกน้อยกว่า 19 จุดร้อยละ สังเกตหน่วยด้วยครับ นี่คือส่วนต่างของอัตราความถูกต้อง ไม่ใช่ร้อยละการเปลี่ยนแปลง ที่ปรึกษาที่ทำได้ดีใช้ AI สองแบบ คือ Centaurs ที่แบ่งงานระหว่างตัวเองกับ AI และ Cyborgs ที่ผสาน AI เข้าไปทุกขั้นตอน ผลในสำนักงานชัดเจน งานถัดไปถามว่าผลนี้จะอยู่รอดเมื่อเจอธุรกิจจริงหรือไม่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5 ย้ายจากที่ปรึกษาไปสู่ผู้ประกอบการในเคนยา เจ้าของธุรกิจขนาดเล็กครึ่งหนึ่งได้รับผู้ช่วยธุรกิจที่ขับเคลื่อนด้วย GPT-4 ซึ่งให้คำแนะนำ ตัวแปรผลลัพธ์คือรายได้และกำไร โดยเฉลี่ยผู้วิจัยไม่สามารถปฏิเสธสมมติฐานว่างที่ว่าไม่มีผลของการทดลอง แต่ค่าเฉลี่ยซ่อนสองเรื่องไว้ ผู้ประกอบการที่ผลงานต่ำตั้งแต่ต้นแย่ลงเกือบ 10% ขณะที่กลุ่มผลงานสูงอาจได้ประโยชน์มากกว่า 15% คำถามและคำแนะนำของ AI ใกล้เคียงกัน ความต่างอยู่ที่คำแนะนำที่ผู้ประกอบการเลือกนำไปปฏิบัติ ขอย้ำว่านี่คือค่าเฉลี่ยของกลุ่มย่อย ไม่ใช่กฎสำหรับทุกคน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เมื่อวางสองงานเคียงกัน บทความที่ 2 แสดงว่าผลิตภาพและคุณภาพของงานความรู้สูงขึ้นภายในพรมแดนของ AI แต่ความถูกต้องลดลงนอกพรมแดน บทความที่ 5 ไม่พบผลเฉลี่ยต่อรายได้และกำไรอย่างชัดเจน และผลลัพธ์ขึ้นกับผลงานตั้งต้นและคำแนะนำที่เลือกนำไปใช้ จุดร่วมคือมนุษย์ที่อยู่ในกระบวนการ AI ส่งผลต่อผลการทำงานจริงได้ แต่ขึ้นอยู่กับความเหมาะสมของงาน พฤติกรรมของผู้ใช้ และวิจารณญาณของมนุษย์ นี่คือเหตุผลที่ผมตั้งชื่อว่า AI เป็นเครื่องมือ ไม่ใช่หลักประกันความสำเร็จ ขอบคุณครับ ยินดีรับคำถาม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pic>
        <p:nvPicPr>
          <p:cNvPr id="2" name="static" descr="/home/user/slide-present-en/presentation/webdeck/art/bg-dark.jpg">    </p:cNvPr>
          <p:cNvPicPr>
            <a:picLocks noChangeAspect="1"/>
          </p:cNvPicPr>
          <p:nvPr/>
        </p:nvPicPr>
        <p:blipFill>
          <a:blip r:embed="rId1"/>
          <a:stretch>
            <a:fillRect/>
          </a:stretch>
        </p:blipFill>
        <p:spPr>
          <a:xfrm>
            <a:off x="0" y="0"/>
            <a:ext cx="9144000" cy="5143500"/>
          </a:xfrm>
          <a:prstGeom prst="rect">
            <a:avLst/>
          </a:prstGeom>
        </p:spPr>
      </p:pic>
      <p:sp>
        <p:nvSpPr>
          <p:cNvPr id="3" name="static"/>
          <p:cNvSpPr txBox="1"/>
          <p:nvPr/>
        </p:nvSpPr>
        <p:spPr>
          <a:xfrm>
            <a:off x="609600" y="533400"/>
            <a:ext cx="7924800" cy="159990"/>
          </a:xfrm>
          <a:prstGeom prst="rect">
            <a:avLst/>
          </a:prstGeom>
          <a:noFill/>
          <a:ln/>
        </p:spPr>
        <p:txBody>
          <a:bodyPr wrap="square" lIns="0" tIns="0" rIns="0" bIns="0" rtlCol="0" anchor="ctr"/>
          <a:lstStyle/>
          <a:p>
            <a:pPr algn="l" indent="0" marL="0">
              <a:lnSpc>
                <a:spcPts val="1260"/>
              </a:lnSpc>
              <a:buNone/>
            </a:pPr>
            <a:r>
              <a:rPr lang="en-US" sz="900" b="1" spc="113" kern="0" dirty="0">
                <a:solidFill>
                  <a:srgbClr val="BFE6E0"/>
                </a:solidFill>
                <a:latin typeface="Poppins" pitchFamily="34" charset="0"/>
                <a:ea typeface="Poppins" pitchFamily="34" charset="-122"/>
                <a:cs typeface="Poppins" pitchFamily="34" charset="-120"/>
              </a:rPr>
              <a:t>ENG 501 · ENGLISH FOR MASTER'S DEGREE</a:t>
            </a:r>
            <a:endParaRPr lang="en-US" sz="900" dirty="0"/>
          </a:p>
        </p:txBody>
      </p:sp>
      <p:sp>
        <p:nvSpPr>
          <p:cNvPr id="4" name="static"/>
          <p:cNvSpPr txBox="1"/>
          <p:nvPr/>
        </p:nvSpPr>
        <p:spPr>
          <a:xfrm>
            <a:off x="609600" y="693390"/>
            <a:ext cx="5829300" cy="1015305"/>
          </a:xfrm>
          <a:prstGeom prst="rect">
            <a:avLst/>
          </a:prstGeom>
          <a:noFill/>
          <a:ln/>
        </p:spPr>
        <p:txBody>
          <a:bodyPr wrap="square" lIns="0" tIns="95250" rIns="0" bIns="0" rtlCol="0" anchor="t"/>
          <a:lstStyle/>
          <a:p>
            <a:pPr algn="l" indent="0" marL="0">
              <a:lnSpc>
                <a:spcPts val="3622"/>
              </a:lnSpc>
              <a:buNone/>
            </a:pPr>
            <a:r>
              <a:rPr lang="en-US" sz="3450" b="1" dirty="0">
                <a:solidFill>
                  <a:srgbClr val="F7F9FB"/>
                </a:solidFill>
                <a:latin typeface="Poppins" pitchFamily="34" charset="0"/>
                <a:ea typeface="Poppins" pitchFamily="34" charset="-122"/>
                <a:cs typeface="Poppins" pitchFamily="34" charset="-120"/>
              </a:rPr>
              <a:t>Artificial Intelligence and Work Performance</a:t>
            </a:r>
            <a:endParaRPr lang="en-US" sz="3450" dirty="0"/>
          </a:p>
        </p:txBody>
      </p:sp>
      <p:sp>
        <p:nvSpPr>
          <p:cNvPr id="5" name="static"/>
          <p:cNvSpPr txBox="1"/>
          <p:nvPr/>
        </p:nvSpPr>
        <p:spPr>
          <a:xfrm>
            <a:off x="609600" y="1708696"/>
            <a:ext cx="5715000" cy="276225"/>
          </a:xfrm>
          <a:prstGeom prst="rect">
            <a:avLst/>
          </a:prstGeom>
          <a:noFill/>
          <a:ln/>
        </p:spPr>
        <p:txBody>
          <a:bodyPr wrap="square" lIns="0" tIns="0" rIns="0" bIns="0" rtlCol="0" anchor="ctr"/>
          <a:lstStyle/>
          <a:p>
            <a:pPr algn="l" indent="0" marL="0">
              <a:lnSpc>
                <a:spcPts val="1575"/>
              </a:lnSpc>
              <a:buNone/>
            </a:pPr>
            <a:r>
              <a:rPr lang="en-US" sz="1125" dirty="0">
                <a:solidFill>
                  <a:srgbClr val="BFE6E0"/>
                </a:solidFill>
                <a:latin typeface="Poppins" pitchFamily="34" charset="0"/>
                <a:ea typeface="Poppins" pitchFamily="34" charset="-122"/>
                <a:cs typeface="Poppins" pitchFamily="34" charset="-120"/>
              </a:rPr>
              <a:t>Evidence from two recent field experiments</a:t>
            </a:r>
            <a:endParaRPr lang="en-US" sz="1125" dirty="0"/>
          </a:p>
        </p:txBody>
      </p:sp>
      <p:pic>
        <p:nvPicPr>
          <p:cNvPr id="6" name="b1:pop (Friendly robot mascot waving)" descr="/home/user/slide-present-en/presentation/webdeck/art/robot-wave-dark.png">    </p:cNvPr>
          <p:cNvPicPr>
            <a:picLocks noChangeAspect="1"/>
          </p:cNvPicPr>
          <p:nvPr/>
        </p:nvPicPr>
        <p:blipFill>
          <a:blip r:embed="rId2"/>
          <a:stretch>
            <a:fillRect/>
          </a:stretch>
        </p:blipFill>
        <p:spPr>
          <a:xfrm>
            <a:off x="6667500" y="342900"/>
            <a:ext cx="1809750" cy="1571625"/>
          </a:xfrm>
          <a:prstGeom prst="rect">
            <a:avLst/>
          </a:prstGeom>
        </p:spPr>
      </p:pic>
      <p:sp>
        <p:nvSpPr>
          <p:cNvPr id="7" name="b2:fade"/>
          <p:cNvSpPr txBox="1"/>
          <p:nvPr/>
        </p:nvSpPr>
        <p:spPr>
          <a:xfrm>
            <a:off x="609600" y="2238375"/>
            <a:ext cx="7143750" cy="213345"/>
          </a:xfrm>
          <a:prstGeom prst="rect">
            <a:avLst/>
          </a:prstGeom>
          <a:noFill/>
          <a:ln/>
        </p:spPr>
        <p:txBody>
          <a:bodyPr wrap="square" lIns="0" tIns="0" rIns="0" bIns="0" rtlCol="0" anchor="ctr"/>
          <a:lstStyle/>
          <a:p>
            <a:pPr algn="l" indent="0" marL="0">
              <a:lnSpc>
                <a:spcPts val="1680"/>
              </a:lnSpc>
              <a:buNone/>
            </a:pPr>
            <a:r>
              <a:rPr lang="en-US" sz="1200" b="1" dirty="0">
                <a:solidFill>
                  <a:srgbClr val="F7F9FB"/>
                </a:solidFill>
                <a:latin typeface="Poppins" pitchFamily="34" charset="0"/>
                <a:ea typeface="Poppins" pitchFamily="34" charset="-122"/>
                <a:cs typeface="Poppins" pitchFamily="34" charset="-120"/>
              </a:rPr>
              <a:t>How does AI affect productivity, work quality, and business performance?</a:t>
            </a:r>
            <a:endParaRPr lang="en-US" sz="1200" dirty="0"/>
          </a:p>
        </p:txBody>
      </p:sp>
      <p:sp>
        <p:nvSpPr>
          <p:cNvPr id="8" name="b3:rise"/>
          <p:cNvSpPr/>
          <p:nvPr/>
        </p:nvSpPr>
        <p:spPr>
          <a:xfrm>
            <a:off x="609600" y="2667000"/>
            <a:ext cx="3886200" cy="1420044"/>
          </a:xfrm>
          <a:prstGeom prst="roundRect">
            <a:avLst>
              <a:gd name="adj" fmla="val 6708"/>
            </a:avLst>
          </a:prstGeom>
          <a:solidFill>
            <a:srgbClr val="2A3D63"/>
          </a:solidFill>
          <a:ln/>
        </p:spPr>
      </p:sp>
      <p:sp>
        <p:nvSpPr>
          <p:cNvPr id="9" name="b3:rise"/>
          <p:cNvSpPr txBox="1"/>
          <p:nvPr/>
        </p:nvSpPr>
        <p:spPr>
          <a:xfrm>
            <a:off x="800100" y="2838450"/>
            <a:ext cx="350520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ARTICLE 2</a:t>
            </a:r>
            <a:endParaRPr lang="en-US" sz="900" dirty="0"/>
          </a:p>
        </p:txBody>
      </p:sp>
      <p:sp>
        <p:nvSpPr>
          <p:cNvPr id="10" name="b3:rise"/>
          <p:cNvSpPr txBox="1"/>
          <p:nvPr/>
        </p:nvSpPr>
        <p:spPr>
          <a:xfrm>
            <a:off x="800100" y="3055590"/>
            <a:ext cx="3575304"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75" dirty="0"/>
          </a:p>
        </p:txBody>
      </p:sp>
      <p:sp>
        <p:nvSpPr>
          <p:cNvPr id="11" name="b3:rise"/>
          <p:cNvSpPr txBox="1"/>
          <p:nvPr/>
        </p:nvSpPr>
        <p:spPr>
          <a:xfrm>
            <a:off x="800100" y="3595613"/>
            <a:ext cx="3575304"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Fabrizio Dell'Acqua et al. · Harvard Business School Working Paper 24-013, 2023</a:t>
            </a:r>
            <a:endParaRPr lang="en-US" sz="900" dirty="0"/>
          </a:p>
        </p:txBody>
      </p:sp>
      <p:sp>
        <p:nvSpPr>
          <p:cNvPr id="12" name="b3:rise"/>
          <p:cNvSpPr/>
          <p:nvPr/>
        </p:nvSpPr>
        <p:spPr>
          <a:xfrm>
            <a:off x="4648200" y="2667000"/>
            <a:ext cx="3886200" cy="1420044"/>
          </a:xfrm>
          <a:prstGeom prst="roundRect">
            <a:avLst>
              <a:gd name="adj" fmla="val 6708"/>
            </a:avLst>
          </a:prstGeom>
          <a:solidFill>
            <a:srgbClr val="2A3D63"/>
          </a:solidFill>
          <a:ln/>
        </p:spPr>
      </p:sp>
      <p:sp>
        <p:nvSpPr>
          <p:cNvPr id="13" name="b3:rise"/>
          <p:cNvSpPr txBox="1"/>
          <p:nvPr/>
        </p:nvSpPr>
        <p:spPr>
          <a:xfrm>
            <a:off x="4838700" y="2838450"/>
            <a:ext cx="350520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ARTICLE 5</a:t>
            </a:r>
            <a:endParaRPr lang="en-US" sz="900" dirty="0"/>
          </a:p>
        </p:txBody>
      </p:sp>
      <p:sp>
        <p:nvSpPr>
          <p:cNvPr id="14" name="b3:rise"/>
          <p:cNvSpPr txBox="1"/>
          <p:nvPr/>
        </p:nvSpPr>
        <p:spPr>
          <a:xfrm>
            <a:off x="4838700" y="3055590"/>
            <a:ext cx="3575304"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75" dirty="0"/>
          </a:p>
        </p:txBody>
      </p:sp>
      <p:sp>
        <p:nvSpPr>
          <p:cNvPr id="15" name="b3:rise"/>
          <p:cNvSpPr txBox="1"/>
          <p:nvPr/>
        </p:nvSpPr>
        <p:spPr>
          <a:xfrm>
            <a:off x="4838700" y="3595613"/>
            <a:ext cx="3575304"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Nicholas G. Otis et al. · Management Science, Vol. 72, No. 7, 2026 · DOI 10.1287/mnsc.2024.06909</a:t>
            </a:r>
            <a:endParaRPr lang="en-US" sz="900" dirty="0"/>
          </a:p>
        </p:txBody>
      </p:sp>
      <p:sp>
        <p:nvSpPr>
          <p:cNvPr id="16" name="static"/>
          <p:cNvSpPr txBox="1"/>
          <p:nvPr/>
        </p:nvSpPr>
        <p:spPr>
          <a:xfrm>
            <a:off x="609600" y="4678710"/>
            <a:ext cx="6191250" cy="159990"/>
          </a:xfrm>
          <a:prstGeom prst="rect">
            <a:avLst/>
          </a:prstGeom>
          <a:noFill/>
          <a:ln/>
        </p:spPr>
        <p:txBody>
          <a:bodyPr wrap="square" lIns="0" tIns="0" rIns="0" bIns="0" rtlCol="0" anchor="ctr"/>
          <a:lstStyle/>
          <a:p>
            <a:pPr algn="l" indent="0" marL="0">
              <a:lnSpc>
                <a:spcPts val="1260"/>
              </a:lnSpc>
              <a:buNone/>
            </a:pPr>
            <a:r>
              <a:rPr lang="en-US" sz="900" b="1" dirty="0">
                <a:solidFill>
                  <a:srgbClr val="BFE6E0"/>
                </a:solidFill>
                <a:latin typeface="Poppins" pitchFamily="34" charset="0"/>
                <a:ea typeface="Poppins" pitchFamily="34" charset="-122"/>
                <a:cs typeface="Poppins" pitchFamily="34" charset="-120"/>
              </a:rPr>
              <a:t>Chayanun Sungsa-ard</a:t>
            </a:r>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 · Student ID 691401708 · MBA · ENG 501 English for Master's Degree</a:t>
            </a:r>
            <a:endParaRPr lang="en-US" sz="900" dirty="0"/>
          </a:p>
        </p:txBody>
      </p:sp>
      <p:sp>
        <p:nvSpPr>
          <p:cNvPr id="17" name="!!key1-en-16 b4:pop"/>
          <p:cNvSpPr/>
          <p:nvPr/>
        </p:nvSpPr>
        <p:spPr>
          <a:xfrm>
            <a:off x="7048500" y="4572000"/>
            <a:ext cx="1485900" cy="255240"/>
          </a:xfrm>
          <a:prstGeom prst="roundRect">
            <a:avLst>
              <a:gd name="adj" fmla="val 50000"/>
            </a:avLst>
          </a:prstGeom>
          <a:solidFill>
            <a:srgbClr val="2E8B86"/>
          </a:solidFill>
          <a:ln/>
        </p:spPr>
      </p:sp>
      <p:sp>
        <p:nvSpPr>
          <p:cNvPr id="18" name="!!key1-en-17 b4: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Field experiment 1: BCG</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Scale>
                                      <p:cBhvr>
                                        <p:cTn id="5" dur="500" fill="hold"/>
                                        <p:tgtEl>
                                          <p:spTgt spid="6"/>
                                        </p:tgtEl>
                                      </p:cBhvr>
                                      <p:from x="0" y="0"/>
                                      <p:to x="100000" y="100000"/>
                                    </p:animScale>
                                    <p:animEffect transition="in" filter="fade">
                                      <p:cBhvr>
                                        <p:cTn id="6"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700"/>
                                        <p:tgtEl>
                                          <p:spTgt spid="8"/>
                                        </p:tgtEl>
                                      </p:cBhvr>
                                    </p:animEffect>
                                    <p:anim calcmode="lin" valueType="num">
                                      <p:cBhvr additive="base">
                                        <p:cTn id="17" dur="700" fill="hold"/>
                                        <p:tgtEl>
                                          <p:spTgt spid="8"/>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00"/>
                                        <p:tgtEl>
                                          <p:spTgt spid="9"/>
                                        </p:tgtEl>
                                      </p:cBhvr>
                                    </p:animEffect>
                                    <p:anim calcmode="lin" valueType="num">
                                      <p:cBhvr additive="base">
                                        <p:cTn id="21" dur="700" fill="hold"/>
                                        <p:tgtEl>
                                          <p:spTgt spid="9"/>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8" presetID="23" presetClass="entr" presetSubtype="16"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Scale>
                                      <p:cBhvr>
                                        <p:cTn id="50" dur="500" fill="hold"/>
                                        <p:tgtEl>
                                          <p:spTgt spid="17"/>
                                        </p:tgtEl>
                                      </p:cBhvr>
                                      <p:from x="0" y="0"/>
                                      <p:to x="100000" y="100000"/>
                                    </p:animScale>
                                    <p:animEffect transition="in" filter="fade">
                                      <p:cBhvr>
                                        <p:cTn id="51" dur="500"/>
                                        <p:tgtEl>
                                          <p:spTgt spid="17"/>
                                        </p:tgtEl>
                                      </p:cBhvr>
                                    </p:animEffect>
                                  </p:childTnLst>
                                </p:cTn>
                              </p:par>
                              <p:par>
                                <p:cTn id="52" presetID="2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Scale>
                                      <p:cBhvr>
                                        <p:cTn id="54" dur="500" fill="hold"/>
                                        <p:tgtEl>
                                          <p:spTgt spid="18"/>
                                        </p:tgtEl>
                                      </p:cBhvr>
                                      <p:from x="0" y="0"/>
                                      <p:to x="100000" y="100000"/>
                                    </p:animScale>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squar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2 · RESEARCH PURPOSE AND METHOD</a:t>
            </a:r>
            <a:endParaRPr lang="en-US" sz="900" dirty="0"/>
          </a:p>
        </p:txBody>
      </p:sp>
      <p:sp>
        <p:nvSpPr>
          <p:cNvPr id="3" name="static"/>
          <p:cNvSpPr txBox="1"/>
          <p:nvPr/>
        </p:nvSpPr>
        <p:spPr>
          <a:xfrm>
            <a:off x="609600" y="617190"/>
            <a:ext cx="7924800" cy="392385"/>
          </a:xfrm>
          <a:prstGeom prst="rect">
            <a:avLst/>
          </a:prstGeom>
          <a:noFill/>
          <a:ln/>
        </p:spPr>
        <p:txBody>
          <a:bodyPr wrap="squar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Navigating the Jagged Technological Frontier</a:t>
            </a:r>
            <a:endParaRPr lang="en-US" sz="2400" dirty="0"/>
          </a:p>
        </p:txBody>
      </p:sp>
      <p:sp>
        <p:nvSpPr>
          <p:cNvPr id="4" name="b1:rise"/>
          <p:cNvSpPr/>
          <p:nvPr/>
        </p:nvSpPr>
        <p:spPr>
          <a:xfrm>
            <a:off x="609600" y="1521098"/>
            <a:ext cx="342900" cy="342900"/>
          </a:xfrm>
          <a:prstGeom prst="roundRect">
            <a:avLst>
              <a:gd name="adj" fmla="val 50000"/>
            </a:avLst>
          </a:prstGeom>
          <a:solidFill>
            <a:srgbClr val="E6F3F1"/>
          </a:solidFill>
          <a:ln/>
        </p:spPr>
      </p:sp>
      <p:pic>
        <p:nvPicPr>
          <p:cNvPr id="5" name="b1:rise icon Users" descr="preencoded.png">    </p:cNvPr>
          <p:cNvPicPr>
            <a:picLocks noChangeAspect="1"/>
          </p:cNvPicPr>
          <p:nvPr/>
        </p:nvPicPr>
        <p:blipFill>
          <a:blip r:embed="rId1"/>
          <a:stretch>
            <a:fillRect/>
          </a:stretch>
        </p:blipFill>
        <p:spPr>
          <a:xfrm>
            <a:off x="695325" y="1606823"/>
            <a:ext cx="171450" cy="171450"/>
          </a:xfrm>
          <a:prstGeom prst="rect">
            <a:avLst/>
          </a:prstGeom>
        </p:spPr>
      </p:pic>
      <p:sp>
        <p:nvSpPr>
          <p:cNvPr id="6" name="b1:rise"/>
          <p:cNvSpPr txBox="1"/>
          <p:nvPr/>
        </p:nvSpPr>
        <p:spPr>
          <a:xfrm>
            <a:off x="1066800" y="1428750"/>
            <a:ext cx="3162300" cy="171450"/>
          </a:xfrm>
          <a:prstGeom prst="rect">
            <a:avLst/>
          </a:prstGeom>
          <a:noFill/>
          <a:ln/>
        </p:spPr>
        <p:txBody>
          <a:bodyPr wrap="squar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Partner and participants</a:t>
            </a:r>
            <a:endParaRPr lang="en-US" sz="1125" dirty="0"/>
          </a:p>
        </p:txBody>
      </p:sp>
      <p:sp>
        <p:nvSpPr>
          <p:cNvPr id="7" name="b1:rise"/>
          <p:cNvSpPr txBox="1"/>
          <p:nvPr/>
        </p:nvSpPr>
        <p:spPr>
          <a:xfrm>
            <a:off x="1066800" y="1609725"/>
            <a:ext cx="3225546" cy="34662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Field experiment with Boston Consulting Group (BCG),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758 consultants</a:t>
            </a:r>
            <a:endParaRPr lang="en-US" sz="975" dirty="0"/>
          </a:p>
        </p:txBody>
      </p:sp>
      <p:sp>
        <p:nvSpPr>
          <p:cNvPr id="8" name="b1:rise"/>
          <p:cNvSpPr/>
          <p:nvPr/>
        </p:nvSpPr>
        <p:spPr>
          <a:xfrm>
            <a:off x="609600" y="2095351"/>
            <a:ext cx="342900" cy="342900"/>
          </a:xfrm>
          <a:prstGeom prst="roundRect">
            <a:avLst>
              <a:gd name="adj" fmla="val 50000"/>
            </a:avLst>
          </a:prstGeom>
          <a:solidFill>
            <a:srgbClr val="E6F3F1"/>
          </a:solidFill>
          <a:ln/>
        </p:spPr>
      </p:sp>
      <p:pic>
        <p:nvPicPr>
          <p:cNvPr id="9" name="b1:rise icon Activity" descr="preencoded.png">    </p:cNvPr>
          <p:cNvPicPr>
            <a:picLocks noChangeAspect="1"/>
          </p:cNvPicPr>
          <p:nvPr/>
        </p:nvPicPr>
        <p:blipFill>
          <a:blip r:embed="rId2"/>
          <a:stretch>
            <a:fillRect/>
          </a:stretch>
        </p:blipFill>
        <p:spPr>
          <a:xfrm>
            <a:off x="695325" y="2181076"/>
            <a:ext cx="171450" cy="171450"/>
          </a:xfrm>
          <a:prstGeom prst="rect">
            <a:avLst/>
          </a:prstGeom>
        </p:spPr>
      </p:pic>
      <p:sp>
        <p:nvSpPr>
          <p:cNvPr id="10" name="b1:rise"/>
          <p:cNvSpPr txBox="1"/>
          <p:nvPr/>
        </p:nvSpPr>
        <p:spPr>
          <a:xfrm>
            <a:off x="1066800" y="2089696"/>
            <a:ext cx="3162300" cy="171450"/>
          </a:xfrm>
          <a:prstGeom prst="rect">
            <a:avLst/>
          </a:prstGeom>
          <a:noFill/>
          <a:ln/>
        </p:spPr>
        <p:txBody>
          <a:bodyPr wrap="squar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Focus</a:t>
            </a:r>
            <a:endParaRPr lang="en-US" sz="1125" dirty="0"/>
          </a:p>
        </p:txBody>
      </p:sp>
      <p:sp>
        <p:nvSpPr>
          <p:cNvPr id="11" name="b1:rise"/>
          <p:cNvSpPr txBox="1"/>
          <p:nvPr/>
        </p:nvSpPr>
        <p:spPr>
          <a:xfrm>
            <a:off x="1066800" y="2270671"/>
            <a:ext cx="3162300" cy="173310"/>
          </a:xfrm>
          <a:prstGeom prst="rect">
            <a:avLst/>
          </a:prstGeom>
          <a:noFill/>
          <a:ln/>
        </p:spPr>
        <p:txBody>
          <a:bodyPr wrap="square" lIns="0" tIns="0" rIns="0" bIns="0" rtlCol="0" anchor="ctr"/>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Productivity, work quality, and the limits of AI</a:t>
            </a:r>
            <a:endParaRPr lang="en-US" sz="975" dirty="0"/>
          </a:p>
        </p:txBody>
      </p:sp>
      <p:sp>
        <p:nvSpPr>
          <p:cNvPr id="12" name="b2:rise"/>
          <p:cNvSpPr txBox="1"/>
          <p:nvPr/>
        </p:nvSpPr>
        <p:spPr>
          <a:xfrm>
            <a:off x="609600" y="2667000"/>
            <a:ext cx="3619500" cy="171450"/>
          </a:xfrm>
          <a:prstGeom prst="rect">
            <a:avLst/>
          </a:prstGeom>
          <a:noFill/>
          <a:ln/>
        </p:spPr>
        <p:txBody>
          <a:bodyPr wrap="squar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Three experimental conditions</a:t>
            </a:r>
            <a:endParaRPr lang="en-US" sz="1125" dirty="0"/>
          </a:p>
        </p:txBody>
      </p:sp>
      <p:sp>
        <p:nvSpPr>
          <p:cNvPr id="13" name="b2:rise"/>
          <p:cNvSpPr/>
          <p:nvPr/>
        </p:nvSpPr>
        <p:spPr>
          <a:xfrm>
            <a:off x="609600" y="2933700"/>
            <a:ext cx="1143000" cy="1148581"/>
          </a:xfrm>
          <a:prstGeom prst="roundRect">
            <a:avLst>
              <a:gd name="adj" fmla="val 7500"/>
            </a:avLst>
          </a:prstGeom>
          <a:solidFill>
            <a:srgbClr val="EEF1F5"/>
          </a:solidFill>
          <a:ln/>
        </p:spPr>
      </p:sp>
      <p:sp>
        <p:nvSpPr>
          <p:cNvPr id="14" name="b2:rise"/>
          <p:cNvSpPr txBox="1"/>
          <p:nvPr/>
        </p:nvSpPr>
        <p:spPr>
          <a:xfrm>
            <a:off x="742950" y="3067050"/>
            <a:ext cx="876300" cy="213345"/>
          </a:xfrm>
          <a:prstGeom prst="rect">
            <a:avLst/>
          </a:prstGeom>
          <a:noFill/>
          <a:ln/>
        </p:spPr>
        <p:txBody>
          <a:bodyPr wrap="square" lIns="0" tIns="0" rIns="0" bIns="0" rtlCol="0" anchor="ctr"/>
          <a:lstStyle/>
          <a:p>
            <a:pPr algn="l" indent="0" marL="0">
              <a:lnSpc>
                <a:spcPts val="1680"/>
              </a:lnSpc>
              <a:buNone/>
            </a:pPr>
            <a:r>
              <a:rPr lang="en-US" sz="1200" b="1" dirty="0">
                <a:solidFill>
                  <a:srgbClr val="2E8B86"/>
                </a:solidFill>
                <a:latin typeface="Poppins" pitchFamily="34" charset="0"/>
                <a:ea typeface="Poppins" pitchFamily="34" charset="-122"/>
                <a:cs typeface="Poppins" pitchFamily="34" charset="-120"/>
              </a:rPr>
              <a:t>1</a:t>
            </a:r>
            <a:endParaRPr lang="en-US" sz="1200" dirty="0"/>
          </a:p>
        </p:txBody>
      </p:sp>
      <p:sp>
        <p:nvSpPr>
          <p:cNvPr id="15" name="b2:rise"/>
          <p:cNvSpPr txBox="1"/>
          <p:nvPr/>
        </p:nvSpPr>
        <p:spPr>
          <a:xfrm>
            <a:off x="742950" y="3308970"/>
            <a:ext cx="876300" cy="159990"/>
          </a:xfrm>
          <a:prstGeom prst="rect">
            <a:avLst/>
          </a:prstGeom>
          <a:noFill/>
          <a:ln/>
        </p:spPr>
        <p:txBody>
          <a:bodyPr wrap="square" lIns="0" tIns="0" rIns="0" bIns="0" rtlCol="0" anchor="ctr"/>
          <a:lstStyle/>
          <a:p>
            <a:pPr algn="l" indent="0" marL="0">
              <a:lnSpc>
                <a:spcPts val="1260"/>
              </a:lnSpc>
              <a:buNone/>
            </a:pPr>
            <a:r>
              <a:rPr lang="en-US" sz="900" dirty="0">
                <a:solidFill>
                  <a:srgbClr val="1B2A4A"/>
                </a:solidFill>
                <a:latin typeface="Poppins" pitchFamily="34" charset="0"/>
                <a:ea typeface="Poppins" pitchFamily="34" charset="-122"/>
                <a:cs typeface="Poppins" pitchFamily="34" charset="-120"/>
              </a:rPr>
              <a:t>No AI access</a:t>
            </a:r>
            <a:endParaRPr lang="en-US" sz="900" dirty="0"/>
          </a:p>
        </p:txBody>
      </p:sp>
      <p:sp>
        <p:nvSpPr>
          <p:cNvPr id="16" name="b2:rise"/>
          <p:cNvSpPr/>
          <p:nvPr/>
        </p:nvSpPr>
        <p:spPr>
          <a:xfrm>
            <a:off x="1847850" y="2933700"/>
            <a:ext cx="1143000" cy="1148581"/>
          </a:xfrm>
          <a:prstGeom prst="roundRect">
            <a:avLst>
              <a:gd name="adj" fmla="val 7500"/>
            </a:avLst>
          </a:prstGeom>
          <a:solidFill>
            <a:srgbClr val="EEF1F5"/>
          </a:solidFill>
          <a:ln/>
        </p:spPr>
      </p:sp>
      <p:sp>
        <p:nvSpPr>
          <p:cNvPr id="17" name="b2:rise"/>
          <p:cNvSpPr txBox="1"/>
          <p:nvPr/>
        </p:nvSpPr>
        <p:spPr>
          <a:xfrm>
            <a:off x="1981200" y="3067050"/>
            <a:ext cx="876300" cy="213345"/>
          </a:xfrm>
          <a:prstGeom prst="rect">
            <a:avLst/>
          </a:prstGeom>
          <a:noFill/>
          <a:ln/>
        </p:spPr>
        <p:txBody>
          <a:bodyPr wrap="square" lIns="0" tIns="0" rIns="0" bIns="0" rtlCol="0" anchor="ctr"/>
          <a:lstStyle/>
          <a:p>
            <a:pPr algn="l" indent="0" marL="0">
              <a:lnSpc>
                <a:spcPts val="1680"/>
              </a:lnSpc>
              <a:buNone/>
            </a:pPr>
            <a:r>
              <a:rPr lang="en-US" sz="1200" b="1" dirty="0">
                <a:solidFill>
                  <a:srgbClr val="2E8B86"/>
                </a:solidFill>
                <a:latin typeface="Poppins" pitchFamily="34" charset="0"/>
                <a:ea typeface="Poppins" pitchFamily="34" charset="-122"/>
                <a:cs typeface="Poppins" pitchFamily="34" charset="-120"/>
              </a:rPr>
              <a:t>2</a:t>
            </a:r>
            <a:endParaRPr lang="en-US" sz="1200" dirty="0"/>
          </a:p>
        </p:txBody>
      </p:sp>
      <p:sp>
        <p:nvSpPr>
          <p:cNvPr id="18" name="b2:rise"/>
          <p:cNvSpPr txBox="1"/>
          <p:nvPr/>
        </p:nvSpPr>
        <p:spPr>
          <a:xfrm>
            <a:off x="1981200" y="3308970"/>
            <a:ext cx="876300" cy="159990"/>
          </a:xfrm>
          <a:prstGeom prst="rect">
            <a:avLst/>
          </a:prstGeom>
          <a:noFill/>
          <a:ln/>
        </p:spPr>
        <p:txBody>
          <a:bodyPr wrap="square" lIns="0" tIns="0" rIns="0" bIns="0" rtlCol="0" anchor="ctr"/>
          <a:lstStyle/>
          <a:p>
            <a:pPr algn="l" indent="0" marL="0">
              <a:lnSpc>
                <a:spcPts val="1260"/>
              </a:lnSpc>
              <a:buNone/>
            </a:pPr>
            <a:r>
              <a:rPr lang="en-US" sz="900" dirty="0">
                <a:solidFill>
                  <a:srgbClr val="1B2A4A"/>
                </a:solidFill>
                <a:latin typeface="Poppins" pitchFamily="34" charset="0"/>
                <a:ea typeface="Poppins" pitchFamily="34" charset="-122"/>
                <a:cs typeface="Poppins" pitchFamily="34" charset="-120"/>
              </a:rPr>
              <a:t>GPT-4 access</a:t>
            </a:r>
            <a:endParaRPr lang="en-US" sz="900" dirty="0"/>
          </a:p>
        </p:txBody>
      </p:sp>
      <p:sp>
        <p:nvSpPr>
          <p:cNvPr id="19" name="b2:rise"/>
          <p:cNvSpPr/>
          <p:nvPr/>
        </p:nvSpPr>
        <p:spPr>
          <a:xfrm>
            <a:off x="3086100" y="2933700"/>
            <a:ext cx="1143000" cy="1148581"/>
          </a:xfrm>
          <a:prstGeom prst="roundRect">
            <a:avLst>
              <a:gd name="adj" fmla="val 7500"/>
            </a:avLst>
          </a:prstGeom>
          <a:solidFill>
            <a:srgbClr val="1B2A4A"/>
          </a:solidFill>
          <a:ln/>
        </p:spPr>
      </p:sp>
      <p:sp>
        <p:nvSpPr>
          <p:cNvPr id="20" name="b2:rise"/>
          <p:cNvSpPr txBox="1"/>
          <p:nvPr/>
        </p:nvSpPr>
        <p:spPr>
          <a:xfrm>
            <a:off x="3219450" y="3067050"/>
            <a:ext cx="876300" cy="213345"/>
          </a:xfrm>
          <a:prstGeom prst="rect">
            <a:avLst/>
          </a:prstGeom>
          <a:noFill/>
          <a:ln/>
        </p:spPr>
        <p:txBody>
          <a:bodyPr wrap="square" lIns="0" tIns="0" rIns="0" bIns="0" rtlCol="0" anchor="ctr"/>
          <a:lstStyle/>
          <a:p>
            <a:pPr algn="l" indent="0" marL="0">
              <a:lnSpc>
                <a:spcPts val="1680"/>
              </a:lnSpc>
              <a:buNone/>
            </a:pPr>
            <a:r>
              <a:rPr lang="en-US" sz="1200" b="1" dirty="0">
                <a:solidFill>
                  <a:srgbClr val="BFE6E0"/>
                </a:solidFill>
                <a:latin typeface="Poppins" pitchFamily="34" charset="0"/>
                <a:ea typeface="Poppins" pitchFamily="34" charset="-122"/>
                <a:cs typeface="Poppins" pitchFamily="34" charset="-120"/>
              </a:rPr>
              <a:t>3</a:t>
            </a:r>
            <a:endParaRPr lang="en-US" sz="1200" dirty="0"/>
          </a:p>
        </p:txBody>
      </p:sp>
      <p:sp>
        <p:nvSpPr>
          <p:cNvPr id="21" name="b2:rise"/>
          <p:cNvSpPr txBox="1"/>
          <p:nvPr/>
        </p:nvSpPr>
        <p:spPr>
          <a:xfrm>
            <a:off x="3219450" y="3308970"/>
            <a:ext cx="893826" cy="639961"/>
          </a:xfrm>
          <a:prstGeom prst="rect">
            <a:avLst/>
          </a:prstGeom>
          <a:noFill/>
          <a:ln/>
        </p:spPr>
        <p:txBody>
          <a:bodyPr wrap="square" lIns="0" tIns="0" rIns="0" bIns="0" rtlCol="0" anchor="t"/>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GPT-4 + prompt engineering guidance</a:t>
            </a:r>
            <a:endParaRPr lang="en-US" sz="900" dirty="0"/>
          </a:p>
        </p:txBody>
      </p:sp>
      <p:sp>
        <p:nvSpPr>
          <p:cNvPr id="22" name="b3:fade"/>
          <p:cNvSpPr/>
          <p:nvPr/>
        </p:nvSpPr>
        <p:spPr>
          <a:xfrm>
            <a:off x="4724400" y="1428750"/>
            <a:ext cx="809625" cy="236190"/>
          </a:xfrm>
          <a:prstGeom prst="roundRect">
            <a:avLst>
              <a:gd name="adj" fmla="val 50000"/>
            </a:avLst>
          </a:prstGeom>
          <a:solidFill>
            <a:srgbClr val="EEF1F5"/>
          </a:solidFill>
          <a:ln/>
        </p:spPr>
      </p:sp>
      <p:sp>
        <p:nvSpPr>
          <p:cNvPr id="23" name="b3:fade"/>
          <p:cNvSpPr txBox="1"/>
          <p:nvPr/>
        </p:nvSpPr>
        <p:spPr>
          <a:xfrm>
            <a:off x="4724400" y="1428750"/>
            <a:ext cx="809625" cy="236190"/>
          </a:xfrm>
          <a:prstGeom prst="rect">
            <a:avLst/>
          </a:prstGeom>
          <a:noFill/>
          <a:ln/>
        </p:spPr>
        <p:txBody>
          <a:bodyPr wrap="square" lIns="95250" tIns="0" rIns="95250" bIns="0" rtlCol="0" anchor="ctr"/>
          <a:lstStyle/>
          <a:p>
            <a:pPr algn="ctr" indent="0" marL="0">
              <a:lnSpc>
                <a:spcPts val="1260"/>
              </a:lnSpc>
              <a:buNone/>
            </a:pPr>
            <a:r>
              <a:rPr lang="en-US" sz="900" b="1" spc="75" kern="0" dirty="0">
                <a:solidFill>
                  <a:srgbClr val="6B7280"/>
                </a:solidFill>
                <a:latin typeface="Poppins" pitchFamily="34" charset="0"/>
                <a:ea typeface="Poppins" pitchFamily="34" charset="-122"/>
                <a:cs typeface="Poppins" pitchFamily="34" charset="-120"/>
              </a:rPr>
              <a:t>CONCEPT</a:t>
            </a:r>
            <a:endParaRPr lang="en-US" sz="900" dirty="0"/>
          </a:p>
        </p:txBody>
      </p:sp>
      <p:sp>
        <p:nvSpPr>
          <p:cNvPr id="24" name="b3:fade"/>
          <p:cNvSpPr txBox="1"/>
          <p:nvPr/>
        </p:nvSpPr>
        <p:spPr>
          <a:xfrm>
            <a:off x="4724400" y="1741140"/>
            <a:ext cx="2720340" cy="388590"/>
          </a:xfrm>
          <a:prstGeom prst="rect">
            <a:avLst/>
          </a:prstGeom>
          <a:noFill/>
          <a:ln/>
        </p:spPr>
        <p:txBody>
          <a:bodyPr wrap="square" lIns="0" tIns="0" rIns="0" bIns="0" rtlCol="0" anchor="t"/>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The Jagged Technological Frontier</a:t>
            </a:r>
            <a:endParaRPr lang="en-US" sz="1275" dirty="0"/>
          </a:p>
        </p:txBody>
      </p:sp>
      <p:sp>
        <p:nvSpPr>
          <p:cNvPr id="25" name="b3:fade"/>
          <p:cNvSpPr txBox="1"/>
          <p:nvPr/>
        </p:nvSpPr>
        <p:spPr>
          <a:xfrm>
            <a:off x="4724400" y="2205930"/>
            <a:ext cx="2720340" cy="51993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AI performs some tasks well yet struggles with others that look equally difficult. The boundary is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uneven and hard to see</a:t>
            </a:r>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a:t>
            </a:r>
            <a:endParaRPr lang="en-US" sz="975" dirty="0"/>
          </a:p>
        </p:txBody>
      </p:sp>
      <p:pic>
        <p:nvPicPr>
          <p:cNvPr id="26" name="b3:pop (Robot mascot holding a magnifying glass)" descr="/home/user/slide-present-en/presentation/webdeck/art/robot-search.png">    </p:cNvPr>
          <p:cNvPicPr>
            <a:picLocks noChangeAspect="1"/>
          </p:cNvPicPr>
          <p:nvPr/>
        </p:nvPicPr>
        <p:blipFill>
          <a:blip r:embed="rId3"/>
          <a:stretch>
            <a:fillRect/>
          </a:stretch>
        </p:blipFill>
        <p:spPr>
          <a:xfrm>
            <a:off x="7486650" y="1428750"/>
            <a:ext cx="1047750" cy="904875"/>
          </a:xfrm>
          <a:prstGeom prst="rect">
            <a:avLst/>
          </a:prstGeom>
        </p:spPr>
      </p:pic>
      <p:sp>
        <p:nvSpPr>
          <p:cNvPr id="27" name="b4:rise"/>
          <p:cNvSpPr txBox="1"/>
          <p:nvPr/>
        </p:nvSpPr>
        <p:spPr>
          <a:xfrm>
            <a:off x="4724400" y="2743200"/>
            <a:ext cx="3810000" cy="159990"/>
          </a:xfrm>
          <a:prstGeom prst="rect">
            <a:avLst/>
          </a:prstGeom>
          <a:noFill/>
          <a:ln/>
        </p:spPr>
        <p:txBody>
          <a:bodyPr wrap="square" lIns="0" tIns="0" rIns="0" bIns="0" rtlCol="0" anchor="ctr"/>
          <a:lstStyle/>
          <a:p>
            <a:pPr algn="r" indent="0" marL="0">
              <a:lnSpc>
                <a:spcPts val="1260"/>
              </a:lnSpc>
              <a:buNone/>
            </a:pPr>
            <a:r>
              <a:rPr lang="en-US" sz="900" b="1" dirty="0">
                <a:solidFill>
                  <a:srgbClr val="6B7280"/>
                </a:solidFill>
                <a:latin typeface="Poppins" pitchFamily="34" charset="0"/>
                <a:ea typeface="Poppins" pitchFamily="34" charset="-122"/>
                <a:cs typeface="Poppins" pitchFamily="34" charset="-120"/>
              </a:rPr>
              <a:t>Outside the frontier: AI struggles</a:t>
            </a:r>
            <a:endParaRPr lang="en-US" sz="900" dirty="0"/>
          </a:p>
        </p:txBody>
      </p:sp>
      <p:sp>
        <p:nvSpPr>
          <p:cNvPr id="28" name="b4:rise"/>
          <p:cNvSpPr/>
          <p:nvPr/>
        </p:nvSpPr>
        <p:spPr>
          <a:xfrm>
            <a:off x="4724400" y="2941290"/>
            <a:ext cx="3810000" cy="933450"/>
          </a:xfrm>
          <a:prstGeom prst="roundRect">
            <a:avLst>
              <a:gd name="adj" fmla="val 9184"/>
            </a:avLst>
          </a:prstGeom>
          <a:ln w="6350">
            <a:solidFill>
              <a:srgbClr val="E3E8EE"/>
            </a:solidFill>
            <a:prstDash val="solid"/>
          </a:ln>
        </p:spPr>
      </p:sp>
      <p:pic>
        <p:nvPicPr>
          <p:cNvPr id="29" name="b4:rise (Jagged line dividing tasks AI does well from tasks it does not)" descr="/home/user/slide-present-en/presentation/webdeck/art/frontier.png">    </p:cNvPr>
          <p:cNvPicPr>
            <a:picLocks noChangeAspect="1"/>
          </p:cNvPicPr>
          <p:nvPr/>
        </p:nvPicPr>
        <p:blipFill>
          <a:blip r:embed="rId4"/>
          <a:stretch>
            <a:fillRect/>
          </a:stretch>
        </p:blipFill>
        <p:spPr>
          <a:xfrm>
            <a:off x="4724400" y="2941290"/>
            <a:ext cx="3810000" cy="933450"/>
          </a:xfrm>
          <a:prstGeom prst="rect">
            <a:avLst/>
          </a:prstGeom>
        </p:spPr>
      </p:pic>
      <p:sp>
        <p:nvSpPr>
          <p:cNvPr id="30" name="b4:rise"/>
          <p:cNvSpPr/>
          <p:nvPr/>
        </p:nvSpPr>
        <p:spPr>
          <a:xfrm>
            <a:off x="4724400" y="2941290"/>
            <a:ext cx="3810000" cy="933450"/>
          </a:xfrm>
          <a:prstGeom prst="roundRect">
            <a:avLst>
              <a:gd name="adj" fmla="val 9184"/>
            </a:avLst>
          </a:prstGeom>
          <a:ln w="6350">
            <a:solidFill>
              <a:srgbClr val="E3E8EE"/>
            </a:solidFill>
            <a:prstDash val="solid"/>
          </a:ln>
        </p:spPr>
      </p:sp>
      <p:sp>
        <p:nvSpPr>
          <p:cNvPr id="31" name="b4:rise"/>
          <p:cNvSpPr txBox="1"/>
          <p:nvPr/>
        </p:nvSpPr>
        <p:spPr>
          <a:xfrm>
            <a:off x="4724400" y="3912840"/>
            <a:ext cx="3810000" cy="159990"/>
          </a:xfrm>
          <a:prstGeom prst="rect">
            <a:avLst/>
          </a:prstGeom>
          <a:noFill/>
          <a:ln/>
        </p:spPr>
        <p:txBody>
          <a:bodyPr wrap="square" lIns="0" tIns="0" rIns="0" bIns="0" rtlCol="0" anchor="ctr"/>
          <a:lstStyle/>
          <a:p>
            <a:pPr algn="l" indent="0" marL="0">
              <a:lnSpc>
                <a:spcPts val="1260"/>
              </a:lnSpc>
              <a:buNone/>
            </a:pPr>
            <a:r>
              <a:rPr lang="en-US" sz="900" b="1" dirty="0">
                <a:solidFill>
                  <a:srgbClr val="2E8B86"/>
                </a:solidFill>
                <a:latin typeface="Poppins" pitchFamily="34" charset="0"/>
                <a:ea typeface="Poppins" pitchFamily="34" charset="-122"/>
                <a:cs typeface="Poppins" pitchFamily="34" charset="-120"/>
              </a:rPr>
              <a:t>Inside the frontier: AI performs well</a:t>
            </a:r>
            <a:endParaRPr lang="en-US" sz="900" dirty="0"/>
          </a:p>
        </p:txBody>
      </p:sp>
      <p:sp>
        <p:nvSpPr>
          <p:cNvPr id="32" name="b4:rise"/>
          <p:cNvSpPr txBox="1"/>
          <p:nvPr/>
        </p:nvSpPr>
        <p:spPr>
          <a:xfrm>
            <a:off x="4724400" y="4110930"/>
            <a:ext cx="3886200" cy="308521"/>
          </a:xfrm>
          <a:prstGeom prst="rect">
            <a:avLst/>
          </a:prstGeom>
          <a:noFill/>
          <a:ln/>
        </p:spPr>
        <p:txBody>
          <a:bodyPr wrap="square" lIns="0" tIns="0" rIns="0" bIns="0" rtlCol="0" anchor="t"/>
          <a:lstStyle/>
          <a:p>
            <a:pPr algn="l" indent="0" marL="0">
              <a:lnSpc>
                <a:spcPts val="1215"/>
              </a:lnSpc>
              <a:buNone/>
            </a:pPr>
            <a:r>
              <a:rPr lang="en-US" sz="900" dirty="0">
                <a:solidFill>
                  <a:srgbClr val="6B7280"/>
                </a:solidFill>
                <a:latin typeface="Poppins" pitchFamily="34" charset="0"/>
                <a:ea typeface="Poppins" pitchFamily="34" charset="-122"/>
                <a:cs typeface="Poppins" pitchFamily="34" charset="-120"/>
              </a:rPr>
              <a:t>How to read it: each dot is a task of similar apparent difficulty. Below the line (shaded) AI performs well; above it AI struggles.</a:t>
            </a:r>
            <a:endParaRPr lang="en-US" sz="900" dirty="0"/>
          </a:p>
        </p:txBody>
      </p:sp>
      <p:sp>
        <p:nvSpPr>
          <p:cNvPr id="33" name="static"/>
          <p:cNvSpPr txBox="1"/>
          <p:nvPr/>
        </p:nvSpPr>
        <p:spPr>
          <a:xfrm>
            <a:off x="609600" y="4827315"/>
            <a:ext cx="4286250" cy="159990"/>
          </a:xfrm>
          <a:prstGeom prst="rect">
            <a:avLst/>
          </a:prstGeom>
          <a:noFill/>
          <a:ln/>
        </p:spPr>
        <p:txBody>
          <a:bodyPr wrap="squar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Harvard Business School Working Paper 24-013.</a:t>
            </a:r>
            <a:endParaRPr lang="en-US" sz="900" dirty="0"/>
          </a:p>
        </p:txBody>
      </p:sp>
      <p:sp>
        <p:nvSpPr>
          <p:cNvPr id="34" name="b5:fade"/>
          <p:cNvSpPr txBox="1"/>
          <p:nvPr/>
        </p:nvSpPr>
        <p:spPr>
          <a:xfrm>
            <a:off x="3360167" y="4613597"/>
            <a:ext cx="3620095" cy="171971"/>
          </a:xfrm>
          <a:prstGeom prst="rect">
            <a:avLst/>
          </a:prstGeom>
          <a:noFill/>
          <a:ln/>
        </p:spPr>
        <p:txBody>
          <a:bodyPr wrap="squar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What happened when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758 consultants</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used GPT-4? →</a:t>
            </a:r>
            <a:endParaRPr lang="en-US" sz="900" dirty="0"/>
          </a:p>
        </p:txBody>
      </p:sp>
      <p:sp>
        <p:nvSpPr>
          <p:cNvPr id="35" name="!!key1-en-34 static"/>
          <p:cNvSpPr/>
          <p:nvPr/>
        </p:nvSpPr>
        <p:spPr>
          <a:xfrm>
            <a:off x="7048500" y="342900"/>
            <a:ext cx="1485900" cy="255240"/>
          </a:xfrm>
          <a:prstGeom prst="roundRect">
            <a:avLst>
              <a:gd name="adj" fmla="val 50000"/>
            </a:avLst>
          </a:prstGeom>
          <a:solidFill>
            <a:srgbClr val="2E8B86"/>
          </a:solidFill>
          <a:ln/>
        </p:spPr>
      </p:sp>
      <p:sp>
        <p:nvSpPr>
          <p:cNvPr id="36" name="!!key1-en-35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Field experiment 1: BCG</a:t>
            </a:r>
            <a:endParaRPr lang="en-US" sz="900" dirty="0"/>
          </a:p>
        </p:txBody>
      </p:sp>
      <p:sp>
        <p:nvSpPr>
          <p:cNvPr id="37" name="!!key2-en-36 b6:pop"/>
          <p:cNvSpPr/>
          <p:nvPr/>
        </p:nvSpPr>
        <p:spPr>
          <a:xfrm>
            <a:off x="7048500" y="4572000"/>
            <a:ext cx="1485900" cy="255240"/>
          </a:xfrm>
          <a:prstGeom prst="roundRect">
            <a:avLst>
              <a:gd name="adj" fmla="val 50000"/>
            </a:avLst>
          </a:prstGeom>
          <a:solidFill>
            <a:srgbClr val="2E8B86"/>
          </a:solidFill>
          <a:ln/>
        </p:spPr>
      </p:sp>
      <p:sp>
        <p:nvSpPr>
          <p:cNvPr id="38" name="!!key2-en-37 b6: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The jagged frontier</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5" fill="hold">
                      <p:stCondLst>
                        <p:cond delay="indefinite"/>
                      </p:stCondLst>
                      <p:childTnLst>
                        <p:par>
                          <p:cTn id="3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700"/>
                                        <p:tgtEl>
                                          <p:spTgt spid="12"/>
                                        </p:tgtEl>
                                      </p:cBhvr>
                                    </p:animEffect>
                                    <p:anim calcmode="lin" valueType="num">
                                      <p:cBhvr additive="base">
                                        <p:cTn id="40" dur="700" fill="hold"/>
                                        <p:tgtEl>
                                          <p:spTgt spid="12"/>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700"/>
                                        <p:tgtEl>
                                          <p:spTgt spid="13"/>
                                        </p:tgtEl>
                                      </p:cBhvr>
                                    </p:animEffect>
                                    <p:anim calcmode="lin" valueType="num">
                                      <p:cBhvr additive="base">
                                        <p:cTn id="44" dur="700" fill="hold"/>
                                        <p:tgtEl>
                                          <p:spTgt spid="13"/>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700"/>
                                        <p:tgtEl>
                                          <p:spTgt spid="14"/>
                                        </p:tgtEl>
                                      </p:cBhvr>
                                    </p:animEffect>
                                    <p:anim calcmode="lin" valueType="num">
                                      <p:cBhvr additive="base">
                                        <p:cTn id="48" dur="700" fill="hold"/>
                                        <p:tgtEl>
                                          <p:spTgt spid="14"/>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700"/>
                                        <p:tgtEl>
                                          <p:spTgt spid="19"/>
                                        </p:tgtEl>
                                      </p:cBhvr>
                                    </p:animEffect>
                                    <p:anim calcmode="lin" valueType="num">
                                      <p:cBhvr additive="base">
                                        <p:cTn id="68" dur="700" fill="hold"/>
                                        <p:tgtEl>
                                          <p:spTgt spid="19"/>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700"/>
                                        <p:tgtEl>
                                          <p:spTgt spid="20"/>
                                        </p:tgtEl>
                                      </p:cBhvr>
                                    </p:animEffect>
                                    <p:anim calcmode="lin" valueType="num">
                                      <p:cBhvr additive="base">
                                        <p:cTn id="72" dur="700" fill="hold"/>
                                        <p:tgtEl>
                                          <p:spTgt spid="20"/>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additive="base">
                                        <p:cTn id="7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500"/>
                                        <p:tgtEl>
                                          <p:spTgt spid="26"/>
                                        </p:tgtEl>
                                      </p:cBhvr>
                                    </p:animEffect>
                                  </p:childTnLst>
                                </p:cTn>
                              </p:par>
                            </p:childTnLst>
                          </p:cTn>
                        </p:par>
                      </p:childTnLst>
                    </p:cTn>
                  </p:par>
                  <p:par>
                    <p:cTn id="120" fill="hold">
                      <p:stCondLst>
                        <p:cond delay="indefinite"/>
                      </p:stCondLst>
                      <p:childTnLst>
                        <p:par>
                          <p:cTn id="121"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8"/>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8"/>
                                          </p:val>
                                        </p:tav>
                                        <p:tav tm="100000">
                                          <p:val>
                                            <p:strVal val="#ppt_y"/>
                                          </p:val>
                                        </p:tav>
                                      </p:tavLst>
                                    </p:anim>
                                  </p:childTnLst>
                                </p:cTn>
                              </p:par>
                              <p:par>
                                <p:cTn id="108" presetID="42" presetClass="entr" presetSubtype="0" fill="hold" grpId="0" nodeType="withEffect">
                                  <p:stCondLst>
                                    <p:cond delay="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childTnLst>
                          </p:cTn>
                        </p:par>
                      </p:childTnLst>
                    </p:cTn>
                  </p:par>
                  <p:par>
                    <p:cTn id="135" fill="hold">
                      <p:stCondLst>
                        <p:cond delay="indefinite"/>
                      </p:stCondLst>
                      <p:childTnLst>
                        <p:par>
                          <p:cTn id="136" fill="hold">
                            <p:stCondLst>
                              <p:cond delay="0"/>
                            </p:stCondLst>
                            <p:childTnLst>
                              <p:par>
                                <p:cTn id="127" presetID="23" presetClass="entr" presetSubtype="16" fill="hold" grpId="0" nodeType="clickEffect">
                                  <p:stCondLst>
                                    <p:cond delay="0"/>
                                  </p:stCondLst>
                                  <p:childTnLst>
                                    <p:set>
                                      <p:cBhvr>
                                        <p:cTn id="128" dur="1" fill="hold">
                                          <p:stCondLst>
                                            <p:cond delay="0"/>
                                          </p:stCondLst>
                                        </p:cTn>
                                        <p:tgtEl>
                                          <p:spTgt spid="37"/>
                                        </p:tgtEl>
                                        <p:attrNameLst>
                                          <p:attrName>style.visibility</p:attrName>
                                        </p:attrNameLst>
                                      </p:cBhvr>
                                      <p:to>
                                        <p:strVal val="visible"/>
                                      </p:to>
                                    </p:set>
                                    <p:animScale>
                                      <p:cBhvr>
                                        <p:cTn id="129" dur="500" fill="hold"/>
                                        <p:tgtEl>
                                          <p:spTgt spid="37"/>
                                        </p:tgtEl>
                                      </p:cBhvr>
                                      <p:from x="0" y="0"/>
                                      <p:to x="100000" y="100000"/>
                                    </p:animScale>
                                    <p:animEffect transition="in" filter="fade">
                                      <p:cBhvr>
                                        <p:cTn id="130" dur="500"/>
                                        <p:tgtEl>
                                          <p:spTgt spid="37"/>
                                        </p:tgtEl>
                                      </p:cBhvr>
                                    </p:animEffect>
                                  </p:childTnLst>
                                </p:cTn>
                              </p:par>
                              <p:par>
                                <p:cTn id="131" presetID="23" presetClass="entr" presetSubtype="16" fill="hold" grpId="0" nodeType="withEffect">
                                  <p:stCondLst>
                                    <p:cond delay="0"/>
                                  </p:stCondLst>
                                  <p:childTnLst>
                                    <p:set>
                                      <p:cBhvr>
                                        <p:cTn id="132" dur="1" fill="hold">
                                          <p:stCondLst>
                                            <p:cond delay="0"/>
                                          </p:stCondLst>
                                        </p:cTn>
                                        <p:tgtEl>
                                          <p:spTgt spid="38"/>
                                        </p:tgtEl>
                                        <p:attrNameLst>
                                          <p:attrName>style.visibility</p:attrName>
                                        </p:attrNameLst>
                                      </p:cBhvr>
                                      <p:to>
                                        <p:strVal val="visible"/>
                                      </p:to>
                                    </p:set>
                                    <p:animScale>
                                      <p:cBhvr>
                                        <p:cTn id="133" dur="500" fill="hold"/>
                                        <p:tgtEl>
                                          <p:spTgt spid="38"/>
                                        </p:tgtEl>
                                      </p:cBhvr>
                                      <p:from x="0" y="0"/>
                                      <p:to x="100000" y="100000"/>
                                    </p:animScale>
                                    <p:animEffect transition="in" filter="fade">
                                      <p:cBhvr>
                                        <p:cTn id="134"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30" grpId="0" animBg="1"/>
      <p:bldP spid="31" grpId="0" animBg="1"/>
      <p:bldP spid="32" grpId="0" animBg="1"/>
      <p:bldP spid="34" grpId="0" animBg="1"/>
      <p:bldP spid="37" grpId="0" animBg="1"/>
      <p:bldP spid="3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squar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2 · KEY FINDINGS</a:t>
            </a:r>
            <a:endParaRPr lang="en-US" sz="900" dirty="0"/>
          </a:p>
        </p:txBody>
      </p:sp>
      <p:sp>
        <p:nvSpPr>
          <p:cNvPr id="3" name="static"/>
          <p:cNvSpPr txBox="1"/>
          <p:nvPr/>
        </p:nvSpPr>
        <p:spPr>
          <a:xfrm>
            <a:off x="609600" y="617190"/>
            <a:ext cx="7924800" cy="392385"/>
          </a:xfrm>
          <a:prstGeom prst="rect">
            <a:avLst/>
          </a:prstGeom>
          <a:noFill/>
          <a:ln/>
        </p:spPr>
        <p:txBody>
          <a:bodyPr wrap="squar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AI Can Improve Productivity, but Has Limits</a:t>
            </a:r>
            <a:endParaRPr lang="en-US" sz="2400" dirty="0"/>
          </a:p>
        </p:txBody>
      </p:sp>
      <p:sp>
        <p:nvSpPr>
          <p:cNvPr id="4" name="b1:fade"/>
          <p:cNvSpPr/>
          <p:nvPr/>
        </p:nvSpPr>
        <p:spPr>
          <a:xfrm>
            <a:off x="609600" y="1381125"/>
            <a:ext cx="809625" cy="236190"/>
          </a:xfrm>
          <a:prstGeom prst="roundRect">
            <a:avLst>
              <a:gd name="adj" fmla="val 50000"/>
            </a:avLst>
          </a:prstGeom>
          <a:solidFill>
            <a:srgbClr val="BFE6E0"/>
          </a:solidFill>
          <a:ln/>
        </p:spPr>
      </p:sp>
      <p:sp>
        <p:nvSpPr>
          <p:cNvPr id="5" name="b1:fade"/>
          <p:cNvSpPr txBox="1"/>
          <p:nvPr/>
        </p:nvSpPr>
        <p:spPr>
          <a:xfrm>
            <a:off x="609600" y="1381125"/>
            <a:ext cx="809625" cy="236190"/>
          </a:xfrm>
          <a:prstGeom prst="rect">
            <a:avLst/>
          </a:prstGeom>
          <a:noFill/>
          <a:ln/>
        </p:spPr>
        <p:txBody>
          <a:bodyPr wrap="squar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6" name="b1:fade"/>
          <p:cNvSpPr txBox="1"/>
          <p:nvPr/>
        </p:nvSpPr>
        <p:spPr>
          <a:xfrm>
            <a:off x="609600" y="1683990"/>
            <a:ext cx="4191000" cy="159990"/>
          </a:xfrm>
          <a:prstGeom prst="rect">
            <a:avLst/>
          </a:prstGeom>
          <a:noFill/>
          <a:ln/>
        </p:spPr>
        <p:txBody>
          <a:bodyPr wrap="square" lIns="0" tIns="0" rIns="0" bIns="0" rtlCol="0" anchor="ctr"/>
          <a:lstStyle/>
          <a:p>
            <a:pPr algn="l" indent="0" marL="0">
              <a:lnSpc>
                <a:spcPts val="1260"/>
              </a:lnSpc>
              <a:buNone/>
            </a:pPr>
            <a:r>
              <a:rPr lang="en-US" sz="1050" b="1" dirty="0">
                <a:solidFill>
                  <a:srgbClr val="4A5568"/>
                </a:solidFill>
                <a:latin typeface="Poppins" pitchFamily="34" charset="0"/>
                <a:ea typeface="Poppins" pitchFamily="34" charset="-122"/>
                <a:cs typeface="Poppins" pitchFamily="34" charset="-120"/>
              </a:rPr>
              <a:t>Change for consultants using AI, tasks </a:t>
            </a:r>
            <a:pPr algn="l" indent="0" marL="0">
              <a:lnSpc>
                <a:spcPts val="1260"/>
              </a:lnSpc>
              <a:buNone/>
            </a:pPr>
            <a:r>
              <a:rPr lang="en-US" sz="1050" b="1" dirty="0">
                <a:solidFill>
                  <a:srgbClr val="2E8B86"/>
                </a:solidFill>
                <a:latin typeface="Poppins" pitchFamily="34" charset="0"/>
                <a:ea typeface="Poppins" pitchFamily="34" charset="-122"/>
                <a:cs typeface="Poppins" pitchFamily="34" charset="-120"/>
              </a:rPr>
              <a:t>inside the frontier</a:t>
            </a:r>
            <a:endParaRPr lang="en-US" sz="1050" dirty="0"/>
          </a:p>
        </p:txBody>
      </p:sp>
      <p:sp>
        <p:nvSpPr>
          <p:cNvPr id="7" name="b2:left"/>
          <p:cNvSpPr txBox="1"/>
          <p:nvPr/>
        </p:nvSpPr>
        <p:spPr>
          <a:xfrm>
            <a:off x="609600" y="1920255"/>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Tasks completed</a:t>
            </a:r>
            <a:endParaRPr lang="en-US" sz="900" dirty="0"/>
          </a:p>
        </p:txBody>
      </p:sp>
      <p:sp>
        <p:nvSpPr>
          <p:cNvPr id="8" name="b2:left"/>
          <p:cNvSpPr/>
          <p:nvPr/>
        </p:nvSpPr>
        <p:spPr>
          <a:xfrm>
            <a:off x="1685925" y="1905000"/>
            <a:ext cx="695325" cy="190500"/>
          </a:xfrm>
          <a:prstGeom prst="roundRect">
            <a:avLst>
              <a:gd name="adj" fmla="val 15000"/>
            </a:avLst>
          </a:prstGeom>
          <a:solidFill>
            <a:srgbClr val="2E8B86"/>
          </a:solidFill>
          <a:ln/>
        </p:spPr>
      </p:sp>
      <p:sp>
        <p:nvSpPr>
          <p:cNvPr id="9" name="b2:left"/>
          <p:cNvSpPr txBox="1"/>
          <p:nvPr/>
        </p:nvSpPr>
        <p:spPr>
          <a:xfrm>
            <a:off x="2457450" y="1920255"/>
            <a:ext cx="374154"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+12.2%</a:t>
            </a:r>
            <a:endParaRPr lang="en-US" sz="900" dirty="0"/>
          </a:p>
        </p:txBody>
      </p:sp>
      <p:sp>
        <p:nvSpPr>
          <p:cNvPr id="10" name="b3:left"/>
          <p:cNvSpPr txBox="1"/>
          <p:nvPr/>
        </p:nvSpPr>
        <p:spPr>
          <a:xfrm>
            <a:off x="609600" y="2196480"/>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Task speed</a:t>
            </a:r>
            <a:endParaRPr lang="en-US" sz="900" dirty="0"/>
          </a:p>
        </p:txBody>
      </p:sp>
      <p:sp>
        <p:nvSpPr>
          <p:cNvPr id="11" name="b3:left"/>
          <p:cNvSpPr/>
          <p:nvPr/>
        </p:nvSpPr>
        <p:spPr>
          <a:xfrm>
            <a:off x="1685925" y="2181225"/>
            <a:ext cx="1433513" cy="190500"/>
          </a:xfrm>
          <a:prstGeom prst="roundRect">
            <a:avLst>
              <a:gd name="adj" fmla="val 15000"/>
            </a:avLst>
          </a:prstGeom>
          <a:solidFill>
            <a:srgbClr val="2E8B86"/>
          </a:solidFill>
          <a:ln/>
        </p:spPr>
      </p:sp>
      <p:sp>
        <p:nvSpPr>
          <p:cNvPr id="12" name="b3:left"/>
          <p:cNvSpPr txBox="1"/>
          <p:nvPr/>
        </p:nvSpPr>
        <p:spPr>
          <a:xfrm>
            <a:off x="3195638" y="2196480"/>
            <a:ext cx="382116"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+25.1%</a:t>
            </a:r>
            <a:endParaRPr lang="en-US" sz="900" dirty="0"/>
          </a:p>
        </p:txBody>
      </p:sp>
      <p:sp>
        <p:nvSpPr>
          <p:cNvPr id="13" name="b4:left"/>
          <p:cNvSpPr txBox="1"/>
          <p:nvPr/>
        </p:nvSpPr>
        <p:spPr>
          <a:xfrm>
            <a:off x="609600" y="2472705"/>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Quality</a:t>
            </a:r>
            <a:endParaRPr lang="en-US" sz="900" dirty="0"/>
          </a:p>
        </p:txBody>
      </p:sp>
      <p:sp>
        <p:nvSpPr>
          <p:cNvPr id="14" name="b4:left"/>
          <p:cNvSpPr/>
          <p:nvPr/>
        </p:nvSpPr>
        <p:spPr>
          <a:xfrm>
            <a:off x="1685925" y="2457450"/>
            <a:ext cx="2286000" cy="190500"/>
          </a:xfrm>
          <a:prstGeom prst="roundRect">
            <a:avLst>
              <a:gd name="adj" fmla="val 15000"/>
            </a:avLst>
          </a:prstGeom>
          <a:solidFill>
            <a:srgbClr val="2E8B86"/>
          </a:solidFill>
          <a:ln/>
        </p:spPr>
      </p:sp>
      <p:sp>
        <p:nvSpPr>
          <p:cNvPr id="15" name="b4:left"/>
          <p:cNvSpPr txBox="1"/>
          <p:nvPr/>
        </p:nvSpPr>
        <p:spPr>
          <a:xfrm>
            <a:off x="4048125" y="2472705"/>
            <a:ext cx="958007"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more than +40%</a:t>
            </a:r>
            <a:endParaRPr lang="en-US" sz="900" dirty="0"/>
          </a:p>
        </p:txBody>
      </p:sp>
      <p:sp>
        <p:nvSpPr>
          <p:cNvPr id="16" name="b5:left"/>
          <p:cNvSpPr txBox="1"/>
          <p:nvPr/>
        </p:nvSpPr>
        <p:spPr>
          <a:xfrm>
            <a:off x="609600" y="2748930"/>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Below-average</a:t>
            </a:r>
            <a:endParaRPr lang="en-US" sz="900" dirty="0"/>
          </a:p>
        </p:txBody>
      </p:sp>
      <p:sp>
        <p:nvSpPr>
          <p:cNvPr id="17" name="b5:left"/>
          <p:cNvSpPr/>
          <p:nvPr/>
        </p:nvSpPr>
        <p:spPr>
          <a:xfrm>
            <a:off x="1685925" y="2733675"/>
            <a:ext cx="2457450" cy="190500"/>
          </a:xfrm>
          <a:prstGeom prst="roundRect">
            <a:avLst>
              <a:gd name="adj" fmla="val 15000"/>
            </a:avLst>
          </a:prstGeom>
          <a:solidFill>
            <a:srgbClr val="1B2A4A"/>
          </a:solidFill>
          <a:ln/>
        </p:spPr>
      </p:sp>
      <p:sp>
        <p:nvSpPr>
          <p:cNvPr id="18" name="b5:left"/>
          <p:cNvSpPr txBox="1"/>
          <p:nvPr/>
        </p:nvSpPr>
        <p:spPr>
          <a:xfrm>
            <a:off x="4219575" y="2748930"/>
            <a:ext cx="315813"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+43%</a:t>
            </a:r>
            <a:endParaRPr lang="en-US" sz="900" dirty="0"/>
          </a:p>
        </p:txBody>
      </p:sp>
      <p:sp>
        <p:nvSpPr>
          <p:cNvPr id="19" name="b6:left"/>
          <p:cNvSpPr txBox="1"/>
          <p:nvPr/>
        </p:nvSpPr>
        <p:spPr>
          <a:xfrm>
            <a:off x="609600" y="3025155"/>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Above-average</a:t>
            </a:r>
            <a:endParaRPr lang="en-US" sz="900" dirty="0"/>
          </a:p>
        </p:txBody>
      </p:sp>
      <p:sp>
        <p:nvSpPr>
          <p:cNvPr id="20" name="b6:left"/>
          <p:cNvSpPr/>
          <p:nvPr/>
        </p:nvSpPr>
        <p:spPr>
          <a:xfrm>
            <a:off x="1685925" y="3009900"/>
            <a:ext cx="971550" cy="190500"/>
          </a:xfrm>
          <a:prstGeom prst="roundRect">
            <a:avLst>
              <a:gd name="adj" fmla="val 15000"/>
            </a:avLst>
          </a:prstGeom>
          <a:solidFill>
            <a:srgbClr val="1B2A4A"/>
          </a:solidFill>
          <a:ln/>
        </p:spPr>
      </p:sp>
      <p:sp>
        <p:nvSpPr>
          <p:cNvPr id="21" name="b6:left"/>
          <p:cNvSpPr txBox="1"/>
          <p:nvPr/>
        </p:nvSpPr>
        <p:spPr>
          <a:xfrm>
            <a:off x="2733675" y="3025155"/>
            <a:ext cx="275853"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+17%</a:t>
            </a:r>
            <a:endParaRPr lang="en-US" sz="900" dirty="0"/>
          </a:p>
        </p:txBody>
      </p:sp>
      <p:sp>
        <p:nvSpPr>
          <p:cNvPr id="22" name="b6:fade"/>
          <p:cNvSpPr txBox="1"/>
          <p:nvPr/>
        </p:nvSpPr>
        <p:spPr>
          <a:xfrm>
            <a:off x="609600" y="3333750"/>
            <a:ext cx="4177665" cy="462781"/>
          </a:xfrm>
          <a:prstGeom prst="rect">
            <a:avLst/>
          </a:prstGeom>
          <a:noFill/>
          <a:ln/>
        </p:spPr>
        <p:txBody>
          <a:bodyPr wrap="square" lIns="0" tIns="0" rIns="0" bIns="0" rtlCol="0" anchor="t"/>
          <a:lstStyle/>
          <a:p>
            <a:pPr algn="l" indent="0" marL="0">
              <a:lnSpc>
                <a:spcPts val="1215"/>
              </a:lnSpc>
              <a:buNone/>
            </a:pPr>
            <a:r>
              <a:rPr lang="en-US" sz="900" dirty="0">
                <a:solidFill>
                  <a:srgbClr val="9AA5B4"/>
                </a:solidFill>
                <a:latin typeface="Poppins" pitchFamily="34" charset="0"/>
                <a:ea typeface="Poppins" pitchFamily="34" charset="-122"/>
                <a:cs typeface="Poppins" pitchFamily="34" charset="-120"/>
              </a:rPr>
              <a:t>Quality is reported as "more than 40%" vs. the control group. Below-/above-average are performer groups, each improving against its own baseline score.</a:t>
            </a:r>
            <a:endParaRPr lang="en-US" sz="900" dirty="0"/>
          </a:p>
        </p:txBody>
      </p:sp>
      <p:sp>
        <p:nvSpPr>
          <p:cNvPr id="23" name="b7:pop"/>
          <p:cNvSpPr/>
          <p:nvPr/>
        </p:nvSpPr>
        <p:spPr>
          <a:xfrm>
            <a:off x="5200650" y="1381125"/>
            <a:ext cx="3333750" cy="1861021"/>
          </a:xfrm>
          <a:prstGeom prst="roundRect">
            <a:avLst>
              <a:gd name="adj" fmla="val 6142"/>
            </a:avLst>
          </a:prstGeom>
          <a:solidFill>
            <a:srgbClr val="1B2A4A"/>
          </a:solidFill>
          <a:ln/>
        </p:spPr>
      </p:sp>
      <p:sp>
        <p:nvSpPr>
          <p:cNvPr id="24" name="b7:pop"/>
          <p:cNvSpPr txBox="1"/>
          <p:nvPr/>
        </p:nvSpPr>
        <p:spPr>
          <a:xfrm>
            <a:off x="5410200" y="1571625"/>
            <a:ext cx="291465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OUTSIDE THE FRONTIER</a:t>
            </a:r>
            <a:endParaRPr lang="en-US" sz="900" dirty="0"/>
          </a:p>
        </p:txBody>
      </p:sp>
      <p:sp>
        <p:nvSpPr>
          <p:cNvPr id="25" name="b7:pop"/>
          <p:cNvSpPr txBox="1"/>
          <p:nvPr/>
        </p:nvSpPr>
        <p:spPr>
          <a:xfrm>
            <a:off x="5410200" y="1760190"/>
            <a:ext cx="2914650" cy="523875"/>
          </a:xfrm>
          <a:prstGeom prst="rect">
            <a:avLst/>
          </a:prstGeom>
          <a:noFill/>
          <a:ln/>
        </p:spPr>
        <p:txBody>
          <a:bodyPr wrap="square" lIns="0" tIns="0" rIns="0" bIns="0" rtlCol="0" anchor="ctr"/>
          <a:lstStyle/>
          <a:p>
            <a:pPr algn="l" indent="0" marL="0">
              <a:lnSpc>
                <a:spcPts val="4125"/>
              </a:lnSpc>
              <a:buNone/>
            </a:pPr>
            <a:r>
              <a:rPr lang="en-US" sz="4125" b="1" dirty="0">
                <a:solidFill>
                  <a:srgbClr val="F7F9FB"/>
                </a:solidFill>
                <a:latin typeface="Poppins" pitchFamily="34" charset="0"/>
                <a:ea typeface="Poppins" pitchFamily="34" charset="-122"/>
                <a:cs typeface="Poppins" pitchFamily="34" charset="-120"/>
              </a:rPr>
              <a:t>−19</a:t>
            </a:r>
            <a:endParaRPr lang="en-US" sz="4125" dirty="0"/>
          </a:p>
        </p:txBody>
      </p:sp>
      <p:sp>
        <p:nvSpPr>
          <p:cNvPr id="26" name="b7:pop"/>
          <p:cNvSpPr txBox="1"/>
          <p:nvPr/>
        </p:nvSpPr>
        <p:spPr>
          <a:xfrm>
            <a:off x="5410200" y="2312640"/>
            <a:ext cx="2914650" cy="173310"/>
          </a:xfrm>
          <a:prstGeom prst="rect">
            <a:avLst/>
          </a:prstGeom>
          <a:noFill/>
          <a:ln/>
        </p:spPr>
        <p:txBody>
          <a:bodyPr wrap="square" lIns="0" tIns="0" rIns="0" bIns="0" rtlCol="0" anchor="ctr"/>
          <a:lstStyle/>
          <a:p>
            <a:pPr algn="l" indent="0" marL="0">
              <a:lnSpc>
                <a:spcPts val="1365"/>
              </a:lnSpc>
              <a:buNone/>
            </a:pPr>
            <a:r>
              <a:rPr lang="en-US" sz="975" dirty="0">
                <a:solidFill>
                  <a:srgbClr val="BFE6E0"/>
                </a:solidFill>
                <a:latin typeface="Poppins" pitchFamily="34" charset="0"/>
                <a:ea typeface="Poppins" pitchFamily="34" charset="-122"/>
                <a:cs typeface="Poppins" pitchFamily="34" charset="-120"/>
              </a:rPr>
              <a:t>percentage points</a:t>
            </a:r>
            <a:endParaRPr lang="en-US" sz="975" dirty="0"/>
          </a:p>
        </p:txBody>
      </p:sp>
      <p:sp>
        <p:nvSpPr>
          <p:cNvPr id="27" name="b7:pop"/>
          <p:cNvSpPr txBox="1"/>
          <p:nvPr/>
        </p:nvSpPr>
        <p:spPr>
          <a:xfrm>
            <a:off x="5410200" y="2514526"/>
            <a:ext cx="2914650" cy="537121"/>
          </a:xfrm>
          <a:prstGeom prst="rect">
            <a:avLst/>
          </a:prstGeom>
          <a:noFill/>
          <a:ln/>
        </p:spPr>
        <p:txBody>
          <a:bodyPr wrap="square" lIns="0" tIns="57150" rIns="0" bIns="0" rtlCol="0" anchor="t"/>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AI users were </a:t>
            </a:r>
            <a:pPr algn="l" indent="0" marL="0">
              <a:lnSpc>
                <a:spcPts val="1260"/>
              </a:lnSpc>
              <a:buNone/>
            </a:pPr>
            <a:r>
              <a:rPr lang="en-US" sz="900" b="1" dirty="0">
                <a:solidFill>
                  <a:srgbClr val="BFE6E0"/>
                </a:solidFill>
                <a:latin typeface="Poppins" pitchFamily="34" charset="0"/>
                <a:ea typeface="Poppins" pitchFamily="34" charset="-122"/>
                <a:cs typeface="Poppins" pitchFamily="34" charset="-120"/>
              </a:rPr>
              <a:t>19 percentage points</a:t>
            </a:r>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 less likely to produce correct solutions than consultants without AI.</a:t>
            </a:r>
            <a:endParaRPr lang="en-US" sz="900" dirty="0"/>
          </a:p>
        </p:txBody>
      </p:sp>
      <p:pic>
        <p:nvPicPr>
          <p:cNvPr id="28" name="b7:pop (Confused robot mascot)" descr="/home/user/slide-present-en/presentation/webdeck/art/robot-confused-dark.png">    </p:cNvPr>
          <p:cNvPicPr>
            <a:picLocks noChangeAspect="1"/>
          </p:cNvPicPr>
          <p:nvPr/>
        </p:nvPicPr>
        <p:blipFill>
          <a:blip r:embed="rId1"/>
          <a:stretch>
            <a:fillRect/>
          </a:stretch>
        </p:blipFill>
        <p:spPr>
          <a:xfrm>
            <a:off x="7448550" y="1495425"/>
            <a:ext cx="952500" cy="819150"/>
          </a:xfrm>
          <a:prstGeom prst="rect">
            <a:avLst/>
          </a:prstGeom>
        </p:spPr>
      </p:pic>
      <p:sp>
        <p:nvSpPr>
          <p:cNvPr id="29" name="b8:fade"/>
          <p:cNvSpPr txBox="1"/>
          <p:nvPr/>
        </p:nvSpPr>
        <p:spPr>
          <a:xfrm>
            <a:off x="5200650" y="3333750"/>
            <a:ext cx="3400425" cy="308521"/>
          </a:xfrm>
          <a:prstGeom prst="rect">
            <a:avLst/>
          </a:prstGeom>
          <a:noFill/>
          <a:ln/>
        </p:spPr>
        <p:txBody>
          <a:bodyPr wrap="square" lIns="0" tIns="0" rIns="0" bIns="0" rtlCol="0" anchor="t"/>
          <a:lstStyle/>
          <a:p>
            <a:pPr algn="l" indent="0" marL="0">
              <a:lnSpc>
                <a:spcPts val="1215"/>
              </a:lnSpc>
              <a:buNone/>
            </a:pPr>
            <a:r>
              <a:rPr lang="en-US" sz="900" dirty="0">
                <a:solidFill>
                  <a:srgbClr val="6B7280"/>
                </a:solidFill>
                <a:latin typeface="Poppins" pitchFamily="34" charset="0"/>
                <a:ea typeface="Poppins" pitchFamily="34" charset="-122"/>
                <a:cs typeface="Poppins" pitchFamily="34" charset="-120"/>
              </a:rPr>
              <a:t>A gap between two success rates, not a percentage change.</a:t>
            </a:r>
            <a:endParaRPr lang="en-US" sz="900" dirty="0"/>
          </a:p>
        </p:txBody>
      </p:sp>
      <p:sp>
        <p:nvSpPr>
          <p:cNvPr id="30" name="b9:rise"/>
          <p:cNvSpPr/>
          <p:nvPr/>
        </p:nvSpPr>
        <p:spPr>
          <a:xfrm>
            <a:off x="5200650" y="3657600"/>
            <a:ext cx="4763" cy="0"/>
          </a:xfrm>
          <a:prstGeom prst="line">
            <a:avLst/>
          </a:prstGeom>
          <a:noFill/>
          <a:ln w="6350">
            <a:solidFill>
              <a:srgbClr val="E3E8EE"/>
            </a:solidFill>
            <a:prstDash val="solid"/>
          </a:ln>
        </p:spPr>
      </p:sp>
      <p:sp>
        <p:nvSpPr>
          <p:cNvPr id="31" name="b9:rise"/>
          <p:cNvSpPr txBox="1"/>
          <p:nvPr/>
        </p:nvSpPr>
        <p:spPr>
          <a:xfrm>
            <a:off x="5200650" y="3657600"/>
            <a:ext cx="3333750" cy="212378"/>
          </a:xfrm>
          <a:prstGeom prst="rect">
            <a:avLst/>
          </a:prstGeom>
          <a:noFill/>
          <a:ln/>
        </p:spPr>
        <p:txBody>
          <a:bodyPr wrap="squar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Two successful patterns of AI use</a:t>
            </a:r>
            <a:endParaRPr lang="en-US" sz="1050" dirty="0"/>
          </a:p>
        </p:txBody>
      </p:sp>
      <p:pic>
        <p:nvPicPr>
          <p:cNvPr id="32" name="b9:rise (Human and robot side by side)" descr="/home/user/slide-present-en/presentation/webdeck/art/centaur.png">    </p:cNvPr>
          <p:cNvPicPr>
            <a:picLocks noChangeAspect="1"/>
          </p:cNvPicPr>
          <p:nvPr/>
        </p:nvPicPr>
        <p:blipFill>
          <a:blip r:embed="rId2"/>
          <a:stretch>
            <a:fillRect/>
          </a:stretch>
        </p:blipFill>
        <p:spPr>
          <a:xfrm>
            <a:off x="5200650" y="3917603"/>
            <a:ext cx="342900" cy="228600"/>
          </a:xfrm>
          <a:prstGeom prst="rect">
            <a:avLst/>
          </a:prstGeom>
        </p:spPr>
      </p:pic>
      <p:sp>
        <p:nvSpPr>
          <p:cNvPr id="33" name="b9:rise"/>
          <p:cNvSpPr txBox="1"/>
          <p:nvPr/>
        </p:nvSpPr>
        <p:spPr>
          <a:xfrm>
            <a:off x="5619750" y="3945210"/>
            <a:ext cx="2838301" cy="173310"/>
          </a:xfrm>
          <a:prstGeom prst="rect">
            <a:avLst/>
          </a:prstGeom>
          <a:noFill/>
          <a:ln/>
        </p:spPr>
        <p:txBody>
          <a:bodyPr wrap="squar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Centaurs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divide tasks between human and AI</a:t>
            </a:r>
            <a:endParaRPr lang="en-US" sz="975" dirty="0"/>
          </a:p>
        </p:txBody>
      </p:sp>
      <p:pic>
        <p:nvPicPr>
          <p:cNvPr id="34" name="b9:rise (Half human, half robot face)" descr="/home/user/slide-present-en/presentation/webdeck/art/cyborg.png">    </p:cNvPr>
          <p:cNvPicPr>
            <a:picLocks noChangeAspect="1"/>
          </p:cNvPicPr>
          <p:nvPr/>
        </p:nvPicPr>
        <p:blipFill>
          <a:blip r:embed="rId3"/>
          <a:stretch>
            <a:fillRect/>
          </a:stretch>
        </p:blipFill>
        <p:spPr>
          <a:xfrm>
            <a:off x="5200650" y="4193828"/>
            <a:ext cx="342900" cy="228600"/>
          </a:xfrm>
          <a:prstGeom prst="rect">
            <a:avLst/>
          </a:prstGeom>
        </p:spPr>
      </p:pic>
      <p:sp>
        <p:nvSpPr>
          <p:cNvPr id="35" name="b9:rise"/>
          <p:cNvSpPr txBox="1"/>
          <p:nvPr/>
        </p:nvSpPr>
        <p:spPr>
          <a:xfrm>
            <a:off x="5619750" y="4221435"/>
            <a:ext cx="2231157" cy="173310"/>
          </a:xfrm>
          <a:prstGeom prst="rect">
            <a:avLst/>
          </a:prstGeom>
          <a:noFill/>
          <a:ln/>
        </p:spPr>
        <p:txBody>
          <a:bodyPr wrap="squar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Cyborgs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integrate AI into every step</a:t>
            </a:r>
            <a:endParaRPr lang="en-US" sz="975" dirty="0"/>
          </a:p>
        </p:txBody>
      </p:sp>
      <p:sp>
        <p:nvSpPr>
          <p:cNvPr id="36" name="static"/>
          <p:cNvSpPr txBox="1"/>
          <p:nvPr/>
        </p:nvSpPr>
        <p:spPr>
          <a:xfrm>
            <a:off x="609600" y="4827315"/>
            <a:ext cx="4286250" cy="159990"/>
          </a:xfrm>
          <a:prstGeom prst="rect">
            <a:avLst/>
          </a:prstGeom>
          <a:noFill/>
          <a:ln/>
        </p:spPr>
        <p:txBody>
          <a:bodyPr wrap="squar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Harvard Business School Working Paper 24-013.</a:t>
            </a:r>
            <a:endParaRPr lang="en-US" sz="900" dirty="0"/>
          </a:p>
        </p:txBody>
      </p:sp>
      <p:sp>
        <p:nvSpPr>
          <p:cNvPr id="37" name="b10:fade"/>
          <p:cNvSpPr txBox="1"/>
          <p:nvPr/>
        </p:nvSpPr>
        <p:spPr>
          <a:xfrm>
            <a:off x="4032721" y="4619625"/>
            <a:ext cx="2952750" cy="159990"/>
          </a:xfrm>
          <a:prstGeom prst="rect">
            <a:avLst/>
          </a:prstGeom>
          <a:noFill/>
          <a:ln/>
        </p:spPr>
        <p:txBody>
          <a:bodyPr wrap="squar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Does this hold for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real small businesses</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a:t>
            </a:r>
            <a:endParaRPr lang="en-US" sz="900" dirty="0"/>
          </a:p>
        </p:txBody>
      </p:sp>
      <p:sp>
        <p:nvSpPr>
          <p:cNvPr id="38" name="!!key2-en-37 static"/>
          <p:cNvSpPr/>
          <p:nvPr/>
        </p:nvSpPr>
        <p:spPr>
          <a:xfrm>
            <a:off x="7048500" y="342900"/>
            <a:ext cx="1485900" cy="255240"/>
          </a:xfrm>
          <a:prstGeom prst="roundRect">
            <a:avLst>
              <a:gd name="adj" fmla="val 50000"/>
            </a:avLst>
          </a:prstGeom>
          <a:solidFill>
            <a:srgbClr val="2E8B86"/>
          </a:solidFill>
          <a:ln/>
        </p:spPr>
      </p:sp>
      <p:sp>
        <p:nvSpPr>
          <p:cNvPr id="39" name="!!key2-en-38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The jagged frontier</a:t>
            </a:r>
            <a:endParaRPr lang="en-US" sz="900" dirty="0"/>
          </a:p>
        </p:txBody>
      </p:sp>
      <p:sp>
        <p:nvSpPr>
          <p:cNvPr id="40" name="!!key3-en-39 b11:pop"/>
          <p:cNvSpPr/>
          <p:nvPr/>
        </p:nvSpPr>
        <p:spPr>
          <a:xfrm>
            <a:off x="7048500" y="4572000"/>
            <a:ext cx="1485900" cy="255240"/>
          </a:xfrm>
          <a:prstGeom prst="roundRect">
            <a:avLst>
              <a:gd name="adj" fmla="val 50000"/>
            </a:avLst>
          </a:prstGeom>
          <a:solidFill>
            <a:srgbClr val="2E8B86"/>
          </a:solidFill>
          <a:ln/>
        </p:spPr>
      </p:sp>
      <p:sp>
        <p:nvSpPr>
          <p:cNvPr id="41" name="!!key3-en-40 b11: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Real small businesses</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childTnLst>
                          </p:cTn>
                        </p:par>
                      </p:childTnLst>
                    </p:cTn>
                  </p:par>
                  <p:par>
                    <p:cTn id="45" fill="hold">
                      <p:stCondLst>
                        <p:cond delay="indefinite"/>
                      </p:stCondLst>
                      <p:childTnLst>
                        <p:par>
                          <p:cTn id="46"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500"/>
                                        <p:tgtEl>
                                          <p:spTgt spid="13"/>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500"/>
                                        <p:tgtEl>
                                          <p:spTgt spid="14"/>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56" fill="hold">
                      <p:stCondLst>
                        <p:cond delay="indefinite"/>
                      </p:stCondLst>
                      <p:childTnLst>
                        <p:par>
                          <p:cTn id="57"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wipe(left)">
                                      <p:cBhvr>
                                        <p:cTn id="49" dur="500"/>
                                        <p:tgtEl>
                                          <p:spTgt spid="16"/>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500"/>
                                        <p:tgtEl>
                                          <p:spTgt spid="19"/>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500"/>
                                        <p:tgtEl>
                                          <p:spTgt spid="20"/>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500"/>
                                        <p:tgtEl>
                                          <p:spTgt spid="21"/>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500"/>
                                        <p:tgtEl>
                                          <p:spTgt spid="22"/>
                                        </p:tgtEl>
                                      </p:cBhvr>
                                    </p:animEffect>
                                  </p:childTnLst>
                                </p:cTn>
                              </p:par>
                            </p:childTnLst>
                          </p:cTn>
                        </p:par>
                      </p:childTnLst>
                    </p:cTn>
                  </p:par>
                  <p:par>
                    <p:cTn id="96" fill="hold">
                      <p:stCondLst>
                        <p:cond delay="indefinite"/>
                      </p:stCondLst>
                      <p:childTnLst>
                        <p:par>
                          <p:cTn id="97" fill="hold">
                            <p:stCondLst>
                              <p:cond delay="0"/>
                            </p:stCondLst>
                            <p:childTnLst>
                              <p:par>
                                <p:cTn id="72" presetID="23" presetClass="entr" presetSubtype="16"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par>
                                <p:cTn id="76" presetID="2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Scale>
                                      <p:cBhvr>
                                        <p:cTn id="78" dur="500" fill="hold"/>
                                        <p:tgtEl>
                                          <p:spTgt spid="24"/>
                                        </p:tgtEl>
                                      </p:cBhvr>
                                      <p:from x="0" y="0"/>
                                      <p:to x="100000" y="100000"/>
                                    </p:animScale>
                                    <p:animEffect transition="in" filter="fade">
                                      <p:cBhvr>
                                        <p:cTn id="79" dur="500"/>
                                        <p:tgtEl>
                                          <p:spTgt spid="24"/>
                                        </p:tgtEl>
                                      </p:cBhvr>
                                    </p:animEffect>
                                  </p:childTnLst>
                                </p:cTn>
                              </p:par>
                              <p:par>
                                <p:cTn id="80" presetID="23" presetClass="entr" presetSubtype="16"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Scale>
                                      <p:cBhvr>
                                        <p:cTn id="82" dur="500" fill="hold"/>
                                        <p:tgtEl>
                                          <p:spTgt spid="25"/>
                                        </p:tgtEl>
                                      </p:cBhvr>
                                      <p:from x="0" y="0"/>
                                      <p:to x="100000" y="100000"/>
                                    </p:animScale>
                                    <p:animEffect transition="in" filter="fade">
                                      <p:cBhvr>
                                        <p:cTn id="83" dur="500"/>
                                        <p:tgtEl>
                                          <p:spTgt spid="25"/>
                                        </p:tgtEl>
                                      </p:cBhvr>
                                    </p:animEffect>
                                  </p:childTnLst>
                                </p:cTn>
                              </p:par>
                              <p:par>
                                <p:cTn id="84" presetID="23" presetClass="entr" presetSubtype="16"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Scale>
                                      <p:cBhvr>
                                        <p:cTn id="86" dur="500" fill="hold"/>
                                        <p:tgtEl>
                                          <p:spTgt spid="26"/>
                                        </p:tgtEl>
                                      </p:cBhvr>
                                      <p:from x="0" y="0"/>
                                      <p:to x="100000" y="100000"/>
                                    </p:animScale>
                                    <p:animEffect transition="in" filter="fade">
                                      <p:cBhvr>
                                        <p:cTn id="87" dur="500"/>
                                        <p:tgtEl>
                                          <p:spTgt spid="26"/>
                                        </p:tgtEl>
                                      </p:cBhvr>
                                    </p:animEffect>
                                  </p:childTnLst>
                                </p:cTn>
                              </p:par>
                              <p:par>
                                <p:cTn id="88" presetID="23" presetClass="entr" presetSubtype="16" fill="hold" grpId="0" nodeType="withEffect">
                                  <p:stCondLst>
                                    <p:cond delay="0"/>
                                  </p:stCondLst>
                                  <p:childTnLst>
                                    <p:set>
                                      <p:cBhvr>
                                        <p:cTn id="89" dur="1" fill="hold">
                                          <p:stCondLst>
                                            <p:cond delay="0"/>
                                          </p:stCondLst>
                                        </p:cTn>
                                        <p:tgtEl>
                                          <p:spTgt spid="27"/>
                                        </p:tgtEl>
                                        <p:attrNameLst>
                                          <p:attrName>style.visibility</p:attrName>
                                        </p:attrNameLst>
                                      </p:cBhvr>
                                      <p:to>
                                        <p:strVal val="visible"/>
                                      </p:to>
                                    </p:set>
                                    <p:animScale>
                                      <p:cBhvr>
                                        <p:cTn id="90" dur="500" fill="hold"/>
                                        <p:tgtEl>
                                          <p:spTgt spid="27"/>
                                        </p:tgtEl>
                                      </p:cBhvr>
                                      <p:from x="0" y="0"/>
                                      <p:to x="100000" y="100000"/>
                                    </p:animScale>
                                    <p:animEffect transition="in" filter="fade">
                                      <p:cBhvr>
                                        <p:cTn id="91" dur="500"/>
                                        <p:tgtEl>
                                          <p:spTgt spid="27"/>
                                        </p:tgtEl>
                                      </p:cBhvr>
                                    </p:animEffect>
                                  </p:childTnLst>
                                </p:cTn>
                              </p:par>
                              <p:par>
                                <p:cTn id="92" presetID="23" presetClass="entr" presetSubtype="16"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Scale>
                                      <p:cBhvr>
                                        <p:cTn id="94" dur="500" fill="hold"/>
                                        <p:tgtEl>
                                          <p:spTgt spid="28"/>
                                        </p:tgtEl>
                                      </p:cBhvr>
                                      <p:from x="0" y="0"/>
                                      <p:to x="100000" y="100000"/>
                                    </p:animScale>
                                    <p:animEffect transition="in" filter="fade">
                                      <p:cBhvr>
                                        <p:cTn id="95" dur="500"/>
                                        <p:tgtEl>
                                          <p:spTgt spid="28"/>
                                        </p:tgtEl>
                                      </p:cBhvr>
                                    </p:animEffect>
                                  </p:childTnLst>
                                </p:cTn>
                              </p:par>
                            </p:childTnLst>
                          </p:cTn>
                        </p:par>
                      </p:childTnLst>
                    </p:cTn>
                  </p:par>
                  <p:par>
                    <p:cTn id="101" fill="hold">
                      <p:stCondLst>
                        <p:cond delay="indefinite"/>
                      </p:stCondLst>
                      <p:childTnLst>
                        <p:par>
                          <p:cTn id="102"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par>
                    <p:cTn id="127" fill="hold">
                      <p:stCondLst>
                        <p:cond delay="indefinite"/>
                      </p:stCondLst>
                      <p:childTnLst>
                        <p:par>
                          <p:cTn id="128"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700"/>
                                        <p:tgtEl>
                                          <p:spTgt spid="30"/>
                                        </p:tgtEl>
                                      </p:cBhvr>
                                    </p:animEffect>
                                    <p:anim calcmode="lin" valueType="num">
                                      <p:cBhvr additive="base">
                                        <p:cTn id="106" dur="700" fill="hold"/>
                                        <p:tgtEl>
                                          <p:spTgt spid="30"/>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700"/>
                                        <p:tgtEl>
                                          <p:spTgt spid="31"/>
                                        </p:tgtEl>
                                      </p:cBhvr>
                                    </p:animEffect>
                                    <p:anim calcmode="lin" valueType="num">
                                      <p:cBhvr additive="base">
                                        <p:cTn id="110" dur="700" fill="hold"/>
                                        <p:tgtEl>
                                          <p:spTgt spid="31"/>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2"/>
                                        </p:tgtEl>
                                        <p:attrNameLst>
                                          <p:attrName>style.visibility</p:attrName>
                                        </p:attrNameLst>
                                      </p:cBhvr>
                                      <p:to>
                                        <p:strVal val="visible"/>
                                      </p:to>
                                    </p:set>
                                    <p:animEffect transition="in" filter="fade">
                                      <p:cBhvr>
                                        <p:cTn id="113" dur="700"/>
                                        <p:tgtEl>
                                          <p:spTgt spid="32"/>
                                        </p:tgtEl>
                                      </p:cBhvr>
                                    </p:animEffect>
                                    <p:anim calcmode="lin" valueType="num">
                                      <p:cBhvr additive="base">
                                        <p:cTn id="114" dur="700" fill="hold"/>
                                        <p:tgtEl>
                                          <p:spTgt spid="32"/>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3"/>
                                        </p:tgtEl>
                                        <p:attrNameLst>
                                          <p:attrName>style.visibility</p:attrName>
                                        </p:attrNameLst>
                                      </p:cBhvr>
                                      <p:to>
                                        <p:strVal val="visible"/>
                                      </p:to>
                                    </p:set>
                                    <p:animEffect transition="in" filter="fade">
                                      <p:cBhvr>
                                        <p:cTn id="117" dur="700"/>
                                        <p:tgtEl>
                                          <p:spTgt spid="33"/>
                                        </p:tgtEl>
                                      </p:cBhvr>
                                    </p:animEffect>
                                    <p:anim calcmode="lin" valueType="num">
                                      <p:cBhvr additive="base">
                                        <p:cTn id="118" dur="700" fill="hold"/>
                                        <p:tgtEl>
                                          <p:spTgt spid="33"/>
                                        </p:tgtEl>
                                        <p:attrNameLst>
                                          <p:attrName>ppt_y</p:attrName>
                                        </p:attrNameLst>
                                      </p:cBhvr>
                                      <p:tavLst>
                                        <p:tav tm="0">
                                          <p:val>
                                            <p:strVal val="#ppt_y+.0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700"/>
                                        <p:tgtEl>
                                          <p:spTgt spid="34"/>
                                        </p:tgtEl>
                                      </p:cBhvr>
                                    </p:animEffect>
                                    <p:anim calcmode="lin" valueType="num">
                                      <p:cBhvr additive="base">
                                        <p:cTn id="122" dur="700" fill="hold"/>
                                        <p:tgtEl>
                                          <p:spTgt spid="34"/>
                                        </p:tgtEl>
                                        <p:attrNameLst>
                                          <p:attrName>ppt_y</p:attrName>
                                        </p:attrNameLst>
                                      </p:cBhvr>
                                      <p:tavLst>
                                        <p:tav tm="0">
                                          <p:val>
                                            <p:strVal val="#ppt_y+.08"/>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700"/>
                                        <p:tgtEl>
                                          <p:spTgt spid="35"/>
                                        </p:tgtEl>
                                      </p:cBhvr>
                                    </p:animEffect>
                                    <p:anim calcmode="lin" valueType="num">
                                      <p:cBhvr additive="base">
                                        <p:cTn id="126"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2" fill="hold">
                      <p:stCondLst>
                        <p:cond delay="indefinite"/>
                      </p:stCondLst>
                      <p:childTnLst>
                        <p:par>
                          <p:cTn id="133"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500"/>
                                        <p:tgtEl>
                                          <p:spTgt spid="37"/>
                                        </p:tgtEl>
                                      </p:cBhvr>
                                    </p:animEffect>
                                  </p:childTnLst>
                                </p:cTn>
                              </p:par>
                            </p:childTnLst>
                          </p:cTn>
                        </p:par>
                      </p:childTnLst>
                    </p:cTn>
                  </p:par>
                  <p:par>
                    <p:cTn id="142" fill="hold">
                      <p:stCondLst>
                        <p:cond delay="indefinite"/>
                      </p:stCondLst>
                      <p:childTnLst>
                        <p:par>
                          <p:cTn id="143" fill="hold">
                            <p:stCondLst>
                              <p:cond delay="0"/>
                            </p:stCondLst>
                            <p:childTnLst>
                              <p:par>
                                <p:cTn id="134" presetID="23" presetClass="entr" presetSubtype="16"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Scale>
                                      <p:cBhvr>
                                        <p:cTn id="136" dur="500" fill="hold"/>
                                        <p:tgtEl>
                                          <p:spTgt spid="40"/>
                                        </p:tgtEl>
                                      </p:cBhvr>
                                      <p:from x="0" y="0"/>
                                      <p:to x="100000" y="100000"/>
                                    </p:animScale>
                                    <p:animEffect transition="in" filter="fade">
                                      <p:cBhvr>
                                        <p:cTn id="137" dur="500"/>
                                        <p:tgtEl>
                                          <p:spTgt spid="40"/>
                                        </p:tgtEl>
                                      </p:cBhvr>
                                    </p:animEffect>
                                  </p:childTnLst>
                                </p:cTn>
                              </p:par>
                              <p:par>
                                <p:cTn id="138" presetID="23" presetClass="entr" presetSubtype="16" fill="hold" grpId="0" nodeType="withEffect">
                                  <p:stCondLst>
                                    <p:cond delay="0"/>
                                  </p:stCondLst>
                                  <p:childTnLst>
                                    <p:set>
                                      <p:cBhvr>
                                        <p:cTn id="139" dur="1" fill="hold">
                                          <p:stCondLst>
                                            <p:cond delay="0"/>
                                          </p:stCondLst>
                                        </p:cTn>
                                        <p:tgtEl>
                                          <p:spTgt spid="41"/>
                                        </p:tgtEl>
                                        <p:attrNameLst>
                                          <p:attrName>style.visibility</p:attrName>
                                        </p:attrNameLst>
                                      </p:cBhvr>
                                      <p:to>
                                        <p:strVal val="visible"/>
                                      </p:to>
                                    </p:set>
                                    <p:animScale>
                                      <p:cBhvr>
                                        <p:cTn id="140" dur="500" fill="hold"/>
                                        <p:tgtEl>
                                          <p:spTgt spid="41"/>
                                        </p:tgtEl>
                                      </p:cBhvr>
                                      <p:from x="0" y="0"/>
                                      <p:to x="100000" y="100000"/>
                                    </p:animScale>
                                    <p:animEffect transition="in" filter="fade">
                                      <p:cBhvr>
                                        <p:cTn id="141"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squar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5 · RESEARCH PURPOSE AND FINDINGS</a:t>
            </a:r>
            <a:endParaRPr lang="en-US" sz="900" dirty="0"/>
          </a:p>
        </p:txBody>
      </p:sp>
      <p:sp>
        <p:nvSpPr>
          <p:cNvPr id="3" name="static"/>
          <p:cNvSpPr txBox="1"/>
          <p:nvPr/>
        </p:nvSpPr>
        <p:spPr>
          <a:xfrm>
            <a:off x="609600" y="617190"/>
            <a:ext cx="7286625" cy="685800"/>
          </a:xfrm>
          <a:prstGeom prst="rect">
            <a:avLst/>
          </a:prstGeom>
          <a:noFill/>
          <a:ln/>
        </p:spPr>
        <p:txBody>
          <a:bodyPr wrap="square" lIns="0" tIns="57150" rIns="0" bIns="0" rtlCol="0" anchor="t"/>
          <a:lstStyle/>
          <a:p>
            <a:pPr algn="l" indent="0" marL="0">
              <a:lnSpc>
                <a:spcPts val="2475"/>
              </a:lnSpc>
              <a:buNone/>
            </a:pPr>
            <a:r>
              <a:rPr lang="en-US" sz="2250" b="1" dirty="0">
                <a:solidFill>
                  <a:srgbClr val="1B2A4A"/>
                </a:solidFill>
                <a:latin typeface="Poppins" pitchFamily="34" charset="0"/>
                <a:ea typeface="Poppins" pitchFamily="34" charset="-122"/>
                <a:cs typeface="Poppins" pitchFamily="34" charset="-120"/>
              </a:rPr>
              <a:t>The Uneven Impact of Generative AI on Entrepreneurial Performance</a:t>
            </a:r>
            <a:endParaRPr lang="en-US" sz="2250" dirty="0"/>
          </a:p>
        </p:txBody>
      </p:sp>
      <p:sp>
        <p:nvSpPr>
          <p:cNvPr id="4" name="b1:rise"/>
          <p:cNvSpPr/>
          <p:nvPr/>
        </p:nvSpPr>
        <p:spPr>
          <a:xfrm>
            <a:off x="609600" y="1476375"/>
            <a:ext cx="342900" cy="342900"/>
          </a:xfrm>
          <a:prstGeom prst="roundRect">
            <a:avLst>
              <a:gd name="adj" fmla="val 50000"/>
            </a:avLst>
          </a:prstGeom>
          <a:solidFill>
            <a:srgbClr val="E6F3F1"/>
          </a:solidFill>
          <a:ln/>
        </p:spPr>
      </p:sp>
      <p:pic>
        <p:nvPicPr>
          <p:cNvPr id="5" name="b1:rise icon Globe" descr="preencoded.png">    </p:cNvPr>
          <p:cNvPicPr>
            <a:picLocks noChangeAspect="1"/>
          </p:cNvPicPr>
          <p:nvPr/>
        </p:nvPicPr>
        <p:blipFill>
          <a:blip r:embed="rId1"/>
          <a:stretch>
            <a:fillRect/>
          </a:stretch>
        </p:blipFill>
        <p:spPr>
          <a:xfrm>
            <a:off x="695325" y="1562100"/>
            <a:ext cx="171450" cy="171450"/>
          </a:xfrm>
          <a:prstGeom prst="rect">
            <a:avLst/>
          </a:prstGeom>
        </p:spPr>
      </p:pic>
      <p:sp>
        <p:nvSpPr>
          <p:cNvPr id="6" name="b1:rise"/>
          <p:cNvSpPr txBox="1"/>
          <p:nvPr/>
        </p:nvSpPr>
        <p:spPr>
          <a:xfrm>
            <a:off x="1066800" y="1479724"/>
            <a:ext cx="3162300" cy="159990"/>
          </a:xfrm>
          <a:prstGeom prst="rect">
            <a:avLst/>
          </a:prstGeom>
          <a:noFill/>
          <a:ln/>
        </p:spPr>
        <p:txBody>
          <a:bodyPr wrap="squar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Setting</a:t>
            </a:r>
            <a:endParaRPr lang="en-US" sz="1050" dirty="0"/>
          </a:p>
        </p:txBody>
      </p:sp>
      <p:sp>
        <p:nvSpPr>
          <p:cNvPr id="7" name="b1:rise"/>
          <p:cNvSpPr txBox="1"/>
          <p:nvPr/>
        </p:nvSpPr>
        <p:spPr>
          <a:xfrm>
            <a:off x="1066800" y="1649239"/>
            <a:ext cx="3162300" cy="166688"/>
          </a:xfrm>
          <a:prstGeom prst="rect">
            <a:avLst/>
          </a:prstGeom>
          <a:noFill/>
          <a:ln/>
        </p:spPr>
        <p:txBody>
          <a:bodyPr wrap="square" lIns="0" tIns="0" rIns="0" bIns="0" rtlCol="0" anchor="ctr"/>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Small-business entrepreneurs in Kenya</a:t>
            </a:r>
            <a:endParaRPr lang="en-US" sz="938" dirty="0"/>
          </a:p>
        </p:txBody>
      </p:sp>
      <p:sp>
        <p:nvSpPr>
          <p:cNvPr id="8" name="b1:rise"/>
          <p:cNvSpPr/>
          <p:nvPr/>
        </p:nvSpPr>
        <p:spPr>
          <a:xfrm>
            <a:off x="609600" y="2004045"/>
            <a:ext cx="342900" cy="342900"/>
          </a:xfrm>
          <a:prstGeom prst="roundRect">
            <a:avLst>
              <a:gd name="adj" fmla="val 50000"/>
            </a:avLst>
          </a:prstGeom>
          <a:solidFill>
            <a:srgbClr val="E6F3F1"/>
          </a:solidFill>
          <a:ln/>
        </p:spPr>
      </p:sp>
      <p:pic>
        <p:nvPicPr>
          <p:cNvPr id="9" name="b1:rise icon Chat" descr="preencoded.png">    </p:cNvPr>
          <p:cNvPicPr>
            <a:picLocks noChangeAspect="1"/>
          </p:cNvPicPr>
          <p:nvPr/>
        </p:nvPicPr>
        <p:blipFill>
          <a:blip r:embed="rId2"/>
          <a:stretch>
            <a:fillRect/>
          </a:stretch>
        </p:blipFill>
        <p:spPr>
          <a:xfrm>
            <a:off x="695325" y="2089770"/>
            <a:ext cx="171450" cy="171450"/>
          </a:xfrm>
          <a:prstGeom prst="rect">
            <a:avLst/>
          </a:prstGeom>
        </p:spPr>
      </p:pic>
      <p:sp>
        <p:nvSpPr>
          <p:cNvPr id="10" name="b1:rise"/>
          <p:cNvSpPr txBox="1"/>
          <p:nvPr/>
        </p:nvSpPr>
        <p:spPr>
          <a:xfrm>
            <a:off x="1066800" y="1924050"/>
            <a:ext cx="3162300" cy="159990"/>
          </a:xfrm>
          <a:prstGeom prst="rect">
            <a:avLst/>
          </a:prstGeom>
          <a:noFill/>
          <a:ln/>
        </p:spPr>
        <p:txBody>
          <a:bodyPr wrap="squar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Intervention</a:t>
            </a:r>
            <a:endParaRPr lang="en-US" sz="1050" dirty="0"/>
          </a:p>
        </p:txBody>
      </p:sp>
      <p:sp>
        <p:nvSpPr>
          <p:cNvPr id="11" name="b1:rise"/>
          <p:cNvSpPr txBox="1"/>
          <p:nvPr/>
        </p:nvSpPr>
        <p:spPr>
          <a:xfrm>
            <a:off x="1066800" y="2093565"/>
            <a:ext cx="3225546" cy="333375"/>
          </a:xfrm>
          <a:prstGeom prst="rect">
            <a:avLst/>
          </a:prstGeom>
          <a:noFill/>
          <a:ln/>
        </p:spPr>
        <p:txBody>
          <a:bodyPr wrap="square" lIns="0" tIns="0" rIns="0" bIns="0" rtlCol="0" anchor="t"/>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GPT-4-powered AI business assistant giving business advice</a:t>
            </a:r>
            <a:endParaRPr lang="en-US" sz="938" dirty="0"/>
          </a:p>
        </p:txBody>
      </p:sp>
      <p:sp>
        <p:nvSpPr>
          <p:cNvPr id="12" name="b1:rise"/>
          <p:cNvSpPr/>
          <p:nvPr/>
        </p:nvSpPr>
        <p:spPr>
          <a:xfrm>
            <a:off x="609600" y="2531715"/>
            <a:ext cx="342900" cy="342900"/>
          </a:xfrm>
          <a:prstGeom prst="roundRect">
            <a:avLst>
              <a:gd name="adj" fmla="val 50000"/>
            </a:avLst>
          </a:prstGeom>
          <a:solidFill>
            <a:srgbClr val="E6F3F1"/>
          </a:solidFill>
          <a:ln/>
        </p:spPr>
      </p:sp>
      <p:pic>
        <p:nvPicPr>
          <p:cNvPr id="13" name="b1:rise icon Chart" descr="preencoded.png">    </p:cNvPr>
          <p:cNvPicPr>
            <a:picLocks noChangeAspect="1"/>
          </p:cNvPicPr>
          <p:nvPr/>
        </p:nvPicPr>
        <p:blipFill>
          <a:blip r:embed="rId3"/>
          <a:stretch>
            <a:fillRect/>
          </a:stretch>
        </p:blipFill>
        <p:spPr>
          <a:xfrm>
            <a:off x="695325" y="2617440"/>
            <a:ext cx="171450" cy="171450"/>
          </a:xfrm>
          <a:prstGeom prst="rect">
            <a:avLst/>
          </a:prstGeom>
        </p:spPr>
      </p:pic>
      <p:sp>
        <p:nvSpPr>
          <p:cNvPr id="14" name="b1:rise"/>
          <p:cNvSpPr txBox="1"/>
          <p:nvPr/>
        </p:nvSpPr>
        <p:spPr>
          <a:xfrm>
            <a:off x="1066800" y="2535064"/>
            <a:ext cx="3162300" cy="159990"/>
          </a:xfrm>
          <a:prstGeom prst="rect">
            <a:avLst/>
          </a:prstGeom>
          <a:noFill/>
          <a:ln/>
        </p:spPr>
        <p:txBody>
          <a:bodyPr wrap="squar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Outcomes</a:t>
            </a:r>
            <a:endParaRPr lang="en-US" sz="1050" dirty="0"/>
          </a:p>
        </p:txBody>
      </p:sp>
      <p:sp>
        <p:nvSpPr>
          <p:cNvPr id="15" name="b1:rise"/>
          <p:cNvSpPr txBox="1"/>
          <p:nvPr/>
        </p:nvSpPr>
        <p:spPr>
          <a:xfrm>
            <a:off x="1066800" y="2704579"/>
            <a:ext cx="3162300" cy="166688"/>
          </a:xfrm>
          <a:prstGeom prst="rect">
            <a:avLst/>
          </a:prstGeom>
          <a:noFill/>
          <a:ln/>
        </p:spPr>
        <p:txBody>
          <a:bodyPr wrap="square" lIns="0" tIns="0" rIns="0" bIns="0" rtlCol="0" anchor="ctr"/>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Revenue and profit</a:t>
            </a:r>
            <a:endParaRPr lang="en-US" sz="938" dirty="0"/>
          </a:p>
        </p:txBody>
      </p:sp>
      <p:sp>
        <p:nvSpPr>
          <p:cNvPr id="16" name="b2:pop"/>
          <p:cNvSpPr/>
          <p:nvPr/>
        </p:nvSpPr>
        <p:spPr>
          <a:xfrm>
            <a:off x="609600" y="3048000"/>
            <a:ext cx="3619500" cy="1315343"/>
          </a:xfrm>
          <a:prstGeom prst="roundRect">
            <a:avLst>
              <a:gd name="adj" fmla="val 8690"/>
            </a:avLst>
          </a:prstGeom>
          <a:solidFill>
            <a:srgbClr val="1B2A4A"/>
          </a:solidFill>
          <a:ln/>
        </p:spPr>
      </p:sp>
      <p:sp>
        <p:nvSpPr>
          <p:cNvPr id="17" name="b2:pop"/>
          <p:cNvSpPr/>
          <p:nvPr/>
        </p:nvSpPr>
        <p:spPr>
          <a:xfrm>
            <a:off x="800100" y="3219450"/>
            <a:ext cx="714375" cy="217140"/>
          </a:xfrm>
          <a:prstGeom prst="roundRect">
            <a:avLst>
              <a:gd name="adj" fmla="val 50000"/>
            </a:avLst>
          </a:prstGeom>
          <a:solidFill>
            <a:srgbClr val="BFE6E0"/>
          </a:solidFill>
          <a:ln/>
        </p:spPr>
      </p:sp>
      <p:sp>
        <p:nvSpPr>
          <p:cNvPr id="18" name="b2:pop"/>
          <p:cNvSpPr txBox="1"/>
          <p:nvPr/>
        </p:nvSpPr>
        <p:spPr>
          <a:xfrm>
            <a:off x="800100" y="3219450"/>
            <a:ext cx="714375" cy="217140"/>
          </a:xfrm>
          <a:prstGeom prst="rect">
            <a:avLst/>
          </a:prstGeom>
          <a:noFill/>
          <a:ln/>
        </p:spPr>
        <p:txBody>
          <a:bodyPr wrap="square" lIns="85725" tIns="0" rIns="85725"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19" name="b2:pop"/>
          <p:cNvSpPr txBox="1"/>
          <p:nvPr/>
        </p:nvSpPr>
        <p:spPr>
          <a:xfrm>
            <a:off x="800100" y="3484215"/>
            <a:ext cx="3238500" cy="159990"/>
          </a:xfrm>
          <a:prstGeom prst="rect">
            <a:avLst/>
          </a:prstGeom>
          <a:noFill/>
          <a:ln/>
        </p:spPr>
        <p:txBody>
          <a:bodyPr wrap="square" lIns="0" tIns="0" rIns="0" bIns="0" rtlCol="0" anchor="ctr"/>
          <a:lstStyle/>
          <a:p>
            <a:pPr algn="l" indent="0" marL="0">
              <a:lnSpc>
                <a:spcPts val="1260"/>
              </a:lnSpc>
              <a:buNone/>
            </a:pPr>
            <a:r>
              <a:rPr lang="en-US" sz="1050" b="1" dirty="0">
                <a:solidFill>
                  <a:srgbClr val="BFE6E0"/>
                </a:solidFill>
                <a:latin typeface="Poppins" pitchFamily="34" charset="0"/>
                <a:ea typeface="Poppins" pitchFamily="34" charset="-122"/>
                <a:cs typeface="Poppins" pitchFamily="34" charset="-120"/>
              </a:rPr>
              <a:t>Average effect</a:t>
            </a:r>
            <a:endParaRPr lang="en-US" sz="1050" dirty="0"/>
          </a:p>
        </p:txBody>
      </p:sp>
      <p:sp>
        <p:nvSpPr>
          <p:cNvPr id="20" name="b2:pop"/>
          <p:cNvSpPr txBox="1"/>
          <p:nvPr/>
        </p:nvSpPr>
        <p:spPr>
          <a:xfrm>
            <a:off x="800100" y="3691830"/>
            <a:ext cx="2234565" cy="500063"/>
          </a:xfrm>
          <a:prstGeom prst="rect">
            <a:avLst/>
          </a:prstGeom>
          <a:noFill/>
          <a:ln/>
        </p:spPr>
        <p:txBody>
          <a:bodyPr wrap="square" lIns="0" tIns="0" rIns="0" bIns="0" rtlCol="0" anchor="t"/>
          <a:lstStyle/>
          <a:p>
            <a:pPr algn="l" indent="0" marL="0">
              <a:lnSpc>
                <a:spcPts val="1313"/>
              </a:lnSpc>
              <a:buNone/>
            </a:pPr>
            <a:r>
              <a:rPr lang="en-US" sz="938" dirty="0">
                <a:solidFill>
                  <a:srgbClr val="F7F9FB"/>
                </a:solidFill>
                <a:latin typeface="Poppins" pitchFamily="34" charset="0"/>
                <a:ea typeface="Poppins" pitchFamily="34" charset="-122"/>
                <a:cs typeface="Poppins" pitchFamily="34" charset="-120"/>
              </a:rPr>
              <a:t>The null hypothesis of no average treatment effect on revenue and profits could not be rejected.</a:t>
            </a:r>
            <a:endParaRPr lang="en-US" sz="938" dirty="0"/>
          </a:p>
        </p:txBody>
      </p:sp>
      <p:pic>
        <p:nvPicPr>
          <p:cNvPr id="21" name="b2:pop (Robot mascot holding a phone)" descr="/home/user/slide-present-en/presentation/webdeck/art/robot-shop-dark.png">    </p:cNvPr>
          <p:cNvPicPr>
            <a:picLocks noChangeAspect="1"/>
          </p:cNvPicPr>
          <p:nvPr/>
        </p:nvPicPr>
        <p:blipFill>
          <a:blip r:embed="rId4"/>
          <a:stretch>
            <a:fillRect/>
          </a:stretch>
        </p:blipFill>
        <p:spPr>
          <a:xfrm>
            <a:off x="3209925" y="3162300"/>
            <a:ext cx="904875" cy="781050"/>
          </a:xfrm>
          <a:prstGeom prst="rect">
            <a:avLst/>
          </a:prstGeom>
        </p:spPr>
      </p:pic>
      <p:sp>
        <p:nvSpPr>
          <p:cNvPr id="22" name="b3:fade"/>
          <p:cNvSpPr/>
          <p:nvPr/>
        </p:nvSpPr>
        <p:spPr>
          <a:xfrm>
            <a:off x="4838700" y="1476375"/>
            <a:ext cx="809625" cy="236190"/>
          </a:xfrm>
          <a:prstGeom prst="roundRect">
            <a:avLst>
              <a:gd name="adj" fmla="val 50000"/>
            </a:avLst>
          </a:prstGeom>
          <a:solidFill>
            <a:srgbClr val="BFE6E0"/>
          </a:solidFill>
          <a:ln/>
        </p:spPr>
      </p:sp>
      <p:sp>
        <p:nvSpPr>
          <p:cNvPr id="23" name="b3:fade"/>
          <p:cNvSpPr txBox="1"/>
          <p:nvPr/>
        </p:nvSpPr>
        <p:spPr>
          <a:xfrm>
            <a:off x="4838700" y="1476375"/>
            <a:ext cx="809625" cy="236190"/>
          </a:xfrm>
          <a:prstGeom prst="rect">
            <a:avLst/>
          </a:prstGeom>
          <a:noFill/>
          <a:ln/>
        </p:spPr>
        <p:txBody>
          <a:bodyPr wrap="squar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24" name="b3:fade"/>
          <p:cNvSpPr txBox="1"/>
          <p:nvPr/>
        </p:nvSpPr>
        <p:spPr>
          <a:xfrm>
            <a:off x="4838700" y="1788765"/>
            <a:ext cx="2667000" cy="194295"/>
          </a:xfrm>
          <a:prstGeom prst="rect">
            <a:avLst/>
          </a:prstGeom>
          <a:noFill/>
          <a:ln/>
        </p:spPr>
        <p:txBody>
          <a:bodyPr wrap="square" lIns="0" tIns="0" rIns="0" bIns="0" rtlCol="0" anchor="ctr"/>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By baseline performance</a:t>
            </a:r>
            <a:endParaRPr lang="en-US" sz="1275" dirty="0"/>
          </a:p>
        </p:txBody>
      </p:sp>
      <p:pic>
        <p:nvPicPr>
          <p:cNvPr id="25" name="b3:pop (Entrepreneur holding a phone)" descr="/home/user/slide-present-en/presentation/webdeck/art/human-phone.png">    </p:cNvPr>
          <p:cNvPicPr>
            <a:picLocks noChangeAspect="1"/>
          </p:cNvPicPr>
          <p:nvPr/>
        </p:nvPicPr>
        <p:blipFill>
          <a:blip r:embed="rId5"/>
          <a:stretch>
            <a:fillRect/>
          </a:stretch>
        </p:blipFill>
        <p:spPr>
          <a:xfrm>
            <a:off x="7581900" y="1428750"/>
            <a:ext cx="952500" cy="1000125"/>
          </a:xfrm>
          <a:prstGeom prst="rect">
            <a:avLst/>
          </a:prstGeom>
        </p:spPr>
      </p:pic>
      <p:sp>
        <p:nvSpPr>
          <p:cNvPr id="26" name="b4:left"/>
          <p:cNvSpPr txBox="1"/>
          <p:nvPr/>
        </p:nvSpPr>
        <p:spPr>
          <a:xfrm>
            <a:off x="4838700" y="2095500"/>
            <a:ext cx="3695700" cy="173310"/>
          </a:xfrm>
          <a:prstGeom prst="rect">
            <a:avLst/>
          </a:prstGeom>
          <a:noFill/>
          <a:ln/>
        </p:spPr>
        <p:txBody>
          <a:bodyPr wrap="squar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Low performers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a:t>
            </a:r>
            <a:pPr algn="l" indent="0" marL="0">
              <a:lnSpc>
                <a:spcPts val="1365"/>
              </a:lnSpc>
              <a:buNone/>
            </a:pPr>
            <a:r>
              <a:rPr lang="en-US" sz="975" b="1" dirty="0">
                <a:solidFill>
                  <a:srgbClr val="6B7280"/>
                </a:solidFill>
                <a:latin typeface="Poppins" pitchFamily="34" charset="0"/>
                <a:ea typeface="Poppins" pitchFamily="34" charset="-122"/>
                <a:cs typeface="Poppins" pitchFamily="34" charset="-120"/>
              </a:rPr>
              <a:t>nearly 10% worse</a:t>
            </a:r>
            <a:endParaRPr lang="en-US" sz="975" dirty="0"/>
          </a:p>
        </p:txBody>
      </p:sp>
      <p:sp>
        <p:nvSpPr>
          <p:cNvPr id="27" name="b4:left"/>
          <p:cNvSpPr/>
          <p:nvPr/>
        </p:nvSpPr>
        <p:spPr>
          <a:xfrm>
            <a:off x="4838700" y="2316435"/>
            <a:ext cx="857250" cy="190500"/>
          </a:xfrm>
          <a:prstGeom prst="roundRect">
            <a:avLst>
              <a:gd name="adj" fmla="val 15000"/>
            </a:avLst>
          </a:prstGeom>
          <a:solidFill>
            <a:srgbClr val="A3ADBB"/>
          </a:solidFill>
          <a:ln/>
        </p:spPr>
      </p:sp>
      <p:sp>
        <p:nvSpPr>
          <p:cNvPr id="28" name="b5:left"/>
          <p:cNvSpPr txBox="1"/>
          <p:nvPr/>
        </p:nvSpPr>
        <p:spPr>
          <a:xfrm>
            <a:off x="4838700" y="2600325"/>
            <a:ext cx="3695700" cy="173310"/>
          </a:xfrm>
          <a:prstGeom prst="rect">
            <a:avLst/>
          </a:prstGeom>
          <a:noFill/>
          <a:ln/>
        </p:spPr>
        <p:txBody>
          <a:bodyPr wrap="squar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High performers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may have benefited by more than 15%</a:t>
            </a:r>
            <a:endParaRPr lang="en-US" sz="975" dirty="0"/>
          </a:p>
        </p:txBody>
      </p:sp>
      <p:sp>
        <p:nvSpPr>
          <p:cNvPr id="29" name="b5:left"/>
          <p:cNvSpPr/>
          <p:nvPr/>
        </p:nvSpPr>
        <p:spPr>
          <a:xfrm>
            <a:off x="4838700" y="2821260"/>
            <a:ext cx="1285875" cy="190500"/>
          </a:xfrm>
          <a:prstGeom prst="roundRect">
            <a:avLst>
              <a:gd name="adj" fmla="val 15000"/>
            </a:avLst>
          </a:prstGeom>
          <a:solidFill>
            <a:srgbClr val="2E8B86"/>
          </a:solidFill>
          <a:ln/>
        </p:spPr>
      </p:sp>
      <p:sp>
        <p:nvSpPr>
          <p:cNvPr id="30" name="b5:left"/>
          <p:cNvSpPr txBox="1"/>
          <p:nvPr/>
        </p:nvSpPr>
        <p:spPr>
          <a:xfrm>
            <a:off x="4838700" y="3059385"/>
            <a:ext cx="3695700" cy="159990"/>
          </a:xfrm>
          <a:prstGeom prst="rect">
            <a:avLst/>
          </a:prstGeom>
          <a:noFill/>
          <a:ln/>
        </p:spPr>
        <p:txBody>
          <a:bodyPr wrap="squar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Bar lengths are illustrative</a:t>
            </a:r>
            <a:endParaRPr lang="en-US" sz="900" dirty="0"/>
          </a:p>
        </p:txBody>
      </p:sp>
      <p:sp>
        <p:nvSpPr>
          <p:cNvPr id="31" name="b6:rise"/>
          <p:cNvSpPr/>
          <p:nvPr/>
        </p:nvSpPr>
        <p:spPr>
          <a:xfrm>
            <a:off x="4838700" y="3333750"/>
            <a:ext cx="4763" cy="0"/>
          </a:xfrm>
          <a:prstGeom prst="line">
            <a:avLst/>
          </a:prstGeom>
          <a:noFill/>
          <a:ln w="6350">
            <a:solidFill>
              <a:srgbClr val="E3E8EE"/>
            </a:solidFill>
            <a:prstDash val="solid"/>
          </a:ln>
        </p:spPr>
      </p:sp>
      <p:pic>
        <p:nvPicPr>
          <p:cNvPr id="32" name="b6:rise icon Chat" descr="preencoded.png">    </p:cNvPr>
          <p:cNvPicPr>
            <a:picLocks noChangeAspect="1"/>
          </p:cNvPicPr>
          <p:nvPr/>
        </p:nvPicPr>
        <p:blipFill>
          <a:blip r:embed="rId6"/>
          <a:stretch>
            <a:fillRect/>
          </a:stretch>
        </p:blipFill>
        <p:spPr>
          <a:xfrm>
            <a:off x="4838700" y="3499247"/>
            <a:ext cx="152400" cy="152400"/>
          </a:xfrm>
          <a:prstGeom prst="rect">
            <a:avLst/>
          </a:prstGeom>
        </p:spPr>
      </p:pic>
      <p:sp>
        <p:nvSpPr>
          <p:cNvPr id="33" name="b6:rise"/>
          <p:cNvSpPr txBox="1"/>
          <p:nvPr/>
        </p:nvSpPr>
        <p:spPr>
          <a:xfrm>
            <a:off x="5067300" y="3414713"/>
            <a:ext cx="3536442" cy="321469"/>
          </a:xfrm>
          <a:prstGeom prst="rect">
            <a:avLst/>
          </a:prstGeom>
          <a:noFill/>
          <a:ln/>
        </p:spPr>
        <p:txBody>
          <a:bodyPr wrap="square" lIns="0" tIns="0" rIns="0" bIns="0" rtlCol="0" anchor="t"/>
          <a:lstStyle/>
          <a:p>
            <a:pPr algn="l" indent="0" marL="0">
              <a:lnSpc>
                <a:spcPts val="1266"/>
              </a:lnSpc>
              <a:buNone/>
            </a:pPr>
            <a:r>
              <a:rPr lang="en-US" sz="938" dirty="0">
                <a:solidFill>
                  <a:srgbClr val="1B2A4A"/>
                </a:solidFill>
                <a:latin typeface="Poppins" pitchFamily="34" charset="0"/>
                <a:ea typeface="Poppins" pitchFamily="34" charset="-122"/>
                <a:cs typeface="Poppins" pitchFamily="34" charset="-120"/>
              </a:rPr>
              <a:t>Similar questions, similar advice. The difference lay in </a:t>
            </a:r>
            <a:pPr algn="l" indent="0" marL="0">
              <a:lnSpc>
                <a:spcPts val="1266"/>
              </a:lnSpc>
              <a:buNone/>
            </a:pPr>
            <a:r>
              <a:rPr lang="en-US" sz="938" b="1" dirty="0">
                <a:solidFill>
                  <a:srgbClr val="2E8B86"/>
                </a:solidFill>
                <a:latin typeface="Poppins" pitchFamily="34" charset="0"/>
                <a:ea typeface="Poppins" pitchFamily="34" charset="-122"/>
                <a:cs typeface="Poppins" pitchFamily="34" charset="-120"/>
              </a:rPr>
              <a:t>which advice entrepreneurs chose to implement</a:t>
            </a:r>
            <a:pPr algn="l" indent="0" marL="0">
              <a:lnSpc>
                <a:spcPts val="1266"/>
              </a:lnSpc>
              <a:buNone/>
            </a:pPr>
            <a:r>
              <a:rPr lang="en-US" sz="938" dirty="0">
                <a:solidFill>
                  <a:srgbClr val="1B2A4A"/>
                </a:solidFill>
                <a:latin typeface="Poppins" pitchFamily="34" charset="0"/>
                <a:ea typeface="Poppins" pitchFamily="34" charset="-122"/>
                <a:cs typeface="Poppins" pitchFamily="34" charset="-120"/>
              </a:rPr>
              <a:t>.</a:t>
            </a:r>
            <a:endParaRPr lang="en-US" sz="938" dirty="0"/>
          </a:p>
        </p:txBody>
      </p:sp>
      <p:pic>
        <p:nvPicPr>
          <p:cNvPr id="34" name="b6:rise icon Warning" descr="preencoded.png">    </p:cNvPr>
          <p:cNvPicPr>
            <a:picLocks noChangeAspect="1"/>
          </p:cNvPicPr>
          <p:nvPr/>
        </p:nvPicPr>
        <p:blipFill>
          <a:blip r:embed="rId7"/>
          <a:stretch>
            <a:fillRect/>
          </a:stretch>
        </p:blipFill>
        <p:spPr>
          <a:xfrm>
            <a:off x="4838700" y="3906441"/>
            <a:ext cx="152400" cy="152400"/>
          </a:xfrm>
          <a:prstGeom prst="rect">
            <a:avLst/>
          </a:prstGeom>
        </p:spPr>
      </p:pic>
      <p:sp>
        <p:nvSpPr>
          <p:cNvPr id="35" name="b6:rise"/>
          <p:cNvSpPr txBox="1"/>
          <p:nvPr/>
        </p:nvSpPr>
        <p:spPr>
          <a:xfrm>
            <a:off x="5067300" y="3821906"/>
            <a:ext cx="3536442" cy="321469"/>
          </a:xfrm>
          <a:prstGeom prst="rect">
            <a:avLst/>
          </a:prstGeom>
          <a:noFill/>
          <a:ln/>
        </p:spPr>
        <p:txBody>
          <a:bodyPr wrap="square" lIns="0" tIns="0" rIns="0" bIns="0" rtlCol="0" anchor="t"/>
          <a:lstStyle/>
          <a:p>
            <a:pPr algn="l" indent="0" marL="0">
              <a:lnSpc>
                <a:spcPts val="1266"/>
              </a:lnSpc>
              <a:buNone/>
            </a:pPr>
            <a:r>
              <a:rPr lang="en-US" sz="938" dirty="0">
                <a:solidFill>
                  <a:srgbClr val="4A5568"/>
                </a:solidFill>
                <a:latin typeface="Poppins" pitchFamily="34" charset="0"/>
                <a:ea typeface="Poppins" pitchFamily="34" charset="-122"/>
                <a:cs typeface="Poppins" pitchFamily="34" charset="-120"/>
              </a:rPr>
              <a:t>Subgroup averages only: not every high performer gains, and not every low performer loses.</a:t>
            </a:r>
            <a:endParaRPr lang="en-US" sz="938" dirty="0"/>
          </a:p>
        </p:txBody>
      </p:sp>
      <p:sp>
        <p:nvSpPr>
          <p:cNvPr id="36" name="static"/>
          <p:cNvSpPr txBox="1"/>
          <p:nvPr/>
        </p:nvSpPr>
        <p:spPr>
          <a:xfrm>
            <a:off x="609600" y="4827315"/>
            <a:ext cx="4762500" cy="159990"/>
          </a:xfrm>
          <a:prstGeom prst="rect">
            <a:avLst/>
          </a:prstGeom>
          <a:noFill/>
          <a:ln/>
        </p:spPr>
        <p:txBody>
          <a:bodyPr wrap="squar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Otis et al. (2026). Management Science, 72(7). doi.org/10.1287/mnsc.2024.06909</a:t>
            </a:r>
            <a:endParaRPr lang="en-US" sz="900" dirty="0"/>
          </a:p>
        </p:txBody>
      </p:sp>
      <p:sp>
        <p:nvSpPr>
          <p:cNvPr id="37" name="b7:fade"/>
          <p:cNvSpPr txBox="1"/>
          <p:nvPr/>
        </p:nvSpPr>
        <p:spPr>
          <a:xfrm>
            <a:off x="4022229" y="4619625"/>
            <a:ext cx="2952750" cy="159990"/>
          </a:xfrm>
          <a:prstGeom prst="rect">
            <a:avLst/>
          </a:prstGeom>
          <a:noFill/>
          <a:ln/>
        </p:spPr>
        <p:txBody>
          <a:bodyPr wrap="squar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Two studies,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one lesson</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a:t>
            </a:r>
            <a:endParaRPr lang="en-US" sz="900" dirty="0"/>
          </a:p>
        </p:txBody>
      </p:sp>
      <p:sp>
        <p:nvSpPr>
          <p:cNvPr id="38" name="!!key3-en-37 static"/>
          <p:cNvSpPr/>
          <p:nvPr/>
        </p:nvSpPr>
        <p:spPr>
          <a:xfrm>
            <a:off x="7048500" y="342900"/>
            <a:ext cx="1485900" cy="255240"/>
          </a:xfrm>
          <a:prstGeom prst="roundRect">
            <a:avLst>
              <a:gd name="adj" fmla="val 50000"/>
            </a:avLst>
          </a:prstGeom>
          <a:solidFill>
            <a:srgbClr val="2E8B86"/>
          </a:solidFill>
          <a:ln/>
        </p:spPr>
      </p:sp>
      <p:sp>
        <p:nvSpPr>
          <p:cNvPr id="39" name="!!key3-en-38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Real small businesses</a:t>
            </a:r>
            <a:endParaRPr lang="en-US" sz="900" dirty="0"/>
          </a:p>
        </p:txBody>
      </p:sp>
      <p:sp>
        <p:nvSpPr>
          <p:cNvPr id="40" name="!!key4-en-39 b8:pop"/>
          <p:cNvSpPr/>
          <p:nvPr/>
        </p:nvSpPr>
        <p:spPr>
          <a:xfrm>
            <a:off x="7048500" y="4572000"/>
            <a:ext cx="1485900" cy="255240"/>
          </a:xfrm>
          <a:prstGeom prst="roundRect">
            <a:avLst>
              <a:gd name="adj" fmla="val 50000"/>
            </a:avLst>
          </a:prstGeom>
          <a:solidFill>
            <a:srgbClr val="2E8B86"/>
          </a:solidFill>
          <a:ln/>
        </p:spPr>
      </p:sp>
      <p:sp>
        <p:nvSpPr>
          <p:cNvPr id="41" name="!!key4-en-40 b8: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Human judgment</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53" presetID="23" presetClass="entr" presetSubtype="16"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Scale>
                                      <p:cBhvr>
                                        <p:cTn id="55" dur="500" fill="hold"/>
                                        <p:tgtEl>
                                          <p:spTgt spid="16"/>
                                        </p:tgtEl>
                                      </p:cBhvr>
                                      <p:from x="0" y="0"/>
                                      <p:to x="100000" y="100000"/>
                                    </p:animScale>
                                    <p:animEffect transition="in" filter="fade">
                                      <p:cBhvr>
                                        <p:cTn id="56" dur="500"/>
                                        <p:tgtEl>
                                          <p:spTgt spid="16"/>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Scale>
                                      <p:cBhvr>
                                        <p:cTn id="59" dur="500" fill="hold"/>
                                        <p:tgtEl>
                                          <p:spTgt spid="17"/>
                                        </p:tgtEl>
                                      </p:cBhvr>
                                      <p:from x="0" y="0"/>
                                      <p:to x="100000" y="100000"/>
                                    </p:animScale>
                                    <p:animEffect transition="in" filter="fade">
                                      <p:cBhvr>
                                        <p:cTn id="60" dur="500"/>
                                        <p:tgtEl>
                                          <p:spTgt spid="17"/>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Scale>
                                      <p:cBhvr>
                                        <p:cTn id="63" dur="500" fill="hold"/>
                                        <p:tgtEl>
                                          <p:spTgt spid="18"/>
                                        </p:tgtEl>
                                      </p:cBhvr>
                                      <p:from x="0" y="0"/>
                                      <p:to x="100000" y="100000"/>
                                    </p:animScale>
                                    <p:animEffect transition="in" filter="fade">
                                      <p:cBhvr>
                                        <p:cTn id="64" dur="500"/>
                                        <p:tgtEl>
                                          <p:spTgt spid="18"/>
                                        </p:tgtEl>
                                      </p:cBhvr>
                                    </p:animEffect>
                                  </p:childTnLst>
                                </p:cTn>
                              </p:par>
                              <p:par>
                                <p:cTn id="65" presetID="23" presetClass="entr" presetSubtype="16"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Scale>
                                      <p:cBhvr>
                                        <p:cTn id="67" dur="500" fill="hold"/>
                                        <p:tgtEl>
                                          <p:spTgt spid="19"/>
                                        </p:tgtEl>
                                      </p:cBhvr>
                                      <p:from x="0" y="0"/>
                                      <p:to x="100000" y="100000"/>
                                    </p:animScale>
                                    <p:animEffect transition="in" filter="fade">
                                      <p:cBhvr>
                                        <p:cTn id="68" dur="500"/>
                                        <p:tgtEl>
                                          <p:spTgt spid="19"/>
                                        </p:tgtEl>
                                      </p:cBhvr>
                                    </p:animEffect>
                                  </p:childTnLst>
                                </p:cTn>
                              </p:par>
                              <p:par>
                                <p:cTn id="69" presetID="23" presetClass="entr" presetSubtype="16"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Scale>
                                      <p:cBhvr>
                                        <p:cTn id="71" dur="500" fill="hold"/>
                                        <p:tgtEl>
                                          <p:spTgt spid="20"/>
                                        </p:tgtEl>
                                      </p:cBhvr>
                                      <p:from x="0" y="0"/>
                                      <p:to x="100000" y="100000"/>
                                    </p:animScale>
                                    <p:animEffect transition="in" filter="fade">
                                      <p:cBhvr>
                                        <p:cTn id="72" dur="500"/>
                                        <p:tgtEl>
                                          <p:spTgt spid="20"/>
                                        </p:tgtEl>
                                      </p:cBhvr>
                                    </p:animEffect>
                                  </p:childTnLst>
                                </p:cTn>
                              </p:par>
                              <p:par>
                                <p:cTn id="73" presetID="2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Scale>
                                      <p:cBhvr>
                                        <p:cTn id="75" dur="500" fill="hold"/>
                                        <p:tgtEl>
                                          <p:spTgt spid="21"/>
                                        </p:tgtEl>
                                      </p:cBhvr>
                                      <p:from x="0" y="0"/>
                                      <p:to x="100000" y="100000"/>
                                    </p:animScale>
                                    <p:animEffect transition="in" filter="fade">
                                      <p:cBhvr>
                                        <p:cTn id="76" dur="500"/>
                                        <p:tgtEl>
                                          <p:spTgt spid="21"/>
                                        </p:tgtEl>
                                      </p:cBhvr>
                                    </p:animEffect>
                                  </p:childTnLst>
                                </p:cTn>
                              </p:par>
                            </p:childTnLst>
                          </p:cTn>
                        </p:par>
                      </p:childTnLst>
                    </p:cTn>
                  </p:par>
                  <p:par>
                    <p:cTn id="91" fill="hold">
                      <p:stCondLst>
                        <p:cond delay="indefinite"/>
                      </p:stCondLst>
                      <p:childTnLst>
                        <p:par>
                          <p:cTn id="92"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childTnLst>
                          </p:cTn>
                        </p:par>
                      </p:childTnLst>
                    </p:cTn>
                  </p:par>
                  <p:par>
                    <p:cTn id="99" fill="hold">
                      <p:stCondLst>
                        <p:cond delay="indefinite"/>
                      </p:stCondLst>
                      <p:childTnLst>
                        <p:par>
                          <p:cTn id="100"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500"/>
                                        <p:tgtEl>
                                          <p:spTgt spid="26"/>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wipe(left)">
                                      <p:cBhvr>
                                        <p:cTn id="103" dur="500"/>
                                        <p:tgtEl>
                                          <p:spTgt spid="28"/>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left)">
                                      <p:cBhvr>
                                        <p:cTn id="106" dur="500"/>
                                        <p:tgtEl>
                                          <p:spTgt spid="29"/>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Effect transition="in" filter="wipe(left)">
                                      <p:cBhvr>
                                        <p:cTn id="109" dur="500"/>
                                        <p:tgtEl>
                                          <p:spTgt spid="30"/>
                                        </p:tgtEl>
                                      </p:cBhvr>
                                    </p:animEffect>
                                  </p:childTnLst>
                                </p:cTn>
                              </p:par>
                            </p:childTnLst>
                          </p:cTn>
                        </p:par>
                      </p:childTnLst>
                    </p:cTn>
                  </p:par>
                  <p:par>
                    <p:cTn id="132" fill="hold">
                      <p:stCondLst>
                        <p:cond delay="indefinite"/>
                      </p:stCondLst>
                      <p:childTnLst>
                        <p:par>
                          <p:cTn id="133" fill="hold">
                            <p:stCondLst>
                              <p:cond delay="0"/>
                            </p:stCondLst>
                            <p:childTnLst>
                              <p:par>
                                <p:cTn id="112" presetID="42" presetClass="entr" presetSubtype="0" fill="hold" grpId="0" nodeType="click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8"/>
                                          </p:val>
                                        </p:tav>
                                        <p:tav tm="100000">
                                          <p:val>
                                            <p:strVal val="#ppt_y"/>
                                          </p:val>
                                        </p:tav>
                                      </p:tavLst>
                                    </p:anim>
                                  </p:childTnLst>
                                </p:cTn>
                              </p:par>
                              <p:par>
                                <p:cTn id="128" presetID="42" presetClass="entr" presetSubtype="0" fill="hold" grpId="0" nodeType="withEffect">
                                  <p:stCondLst>
                                    <p:cond delay="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7" fill="hold">
                      <p:stCondLst>
                        <p:cond delay="indefinite"/>
                      </p:stCondLst>
                      <p:childTnLst>
                        <p:par>
                          <p:cTn id="138" fill="hold">
                            <p:stCondLst>
                              <p:cond delay="0"/>
                            </p:stCondLst>
                            <p:childTnLst>
                              <p:par>
                                <p:cTn id="134" presetID="10" presetClass="entr" presetSubtype="0" fill="hold" grpId="0" nodeType="clickEffect">
                                  <p:stCondLst>
                                    <p:cond delay="0"/>
                                  </p:stCondLst>
                                  <p:childTnLst>
                                    <p:set>
                                      <p:cBhvr>
                                        <p:cTn id="135" dur="1" fill="hold">
                                          <p:stCondLst>
                                            <p:cond delay="0"/>
                                          </p:stCondLst>
                                        </p:cTn>
                                        <p:tgtEl>
                                          <p:spTgt spid="37"/>
                                        </p:tgtEl>
                                        <p:attrNameLst>
                                          <p:attrName>style.visibility</p:attrName>
                                        </p:attrNameLst>
                                      </p:cBhvr>
                                      <p:to>
                                        <p:strVal val="visible"/>
                                      </p:to>
                                    </p:set>
                                    <p:animEffect transition="in" filter="fade">
                                      <p:cBhvr>
                                        <p:cTn id="136" dur="500"/>
                                        <p:tgtEl>
                                          <p:spTgt spid="37"/>
                                        </p:tgtEl>
                                      </p:cBhvr>
                                    </p:animEffect>
                                  </p:childTnLst>
                                </p:cTn>
                              </p:par>
                            </p:childTnLst>
                          </p:cTn>
                        </p:par>
                      </p:childTnLst>
                    </p:cTn>
                  </p:par>
                  <p:par>
                    <p:cTn id="147" fill="hold">
                      <p:stCondLst>
                        <p:cond delay="indefinite"/>
                      </p:stCondLst>
                      <p:childTnLst>
                        <p:par>
                          <p:cTn id="148" fill="hold">
                            <p:stCondLst>
                              <p:cond delay="0"/>
                            </p:stCondLst>
                            <p:childTnLst>
                              <p:par>
                                <p:cTn id="139" presetID="23" presetClass="entr" presetSubtype="16" fill="hold" grpId="0" nodeType="clickEffect">
                                  <p:stCondLst>
                                    <p:cond delay="0"/>
                                  </p:stCondLst>
                                  <p:childTnLst>
                                    <p:set>
                                      <p:cBhvr>
                                        <p:cTn id="140" dur="1" fill="hold">
                                          <p:stCondLst>
                                            <p:cond delay="0"/>
                                          </p:stCondLst>
                                        </p:cTn>
                                        <p:tgtEl>
                                          <p:spTgt spid="40"/>
                                        </p:tgtEl>
                                        <p:attrNameLst>
                                          <p:attrName>style.visibility</p:attrName>
                                        </p:attrNameLst>
                                      </p:cBhvr>
                                      <p:to>
                                        <p:strVal val="visible"/>
                                      </p:to>
                                    </p:set>
                                    <p:animScale>
                                      <p:cBhvr>
                                        <p:cTn id="141" dur="500" fill="hold"/>
                                        <p:tgtEl>
                                          <p:spTgt spid="40"/>
                                        </p:tgtEl>
                                      </p:cBhvr>
                                      <p:from x="0" y="0"/>
                                      <p:to x="100000" y="100000"/>
                                    </p:animScale>
                                    <p:animEffect transition="in" filter="fade">
                                      <p:cBhvr>
                                        <p:cTn id="142" dur="500"/>
                                        <p:tgtEl>
                                          <p:spTgt spid="40"/>
                                        </p:tgtEl>
                                      </p:cBhvr>
                                    </p:animEffect>
                                  </p:childTnLst>
                                </p:cTn>
                              </p:par>
                              <p:par>
                                <p:cTn id="143" presetID="23" presetClass="entr" presetSubtype="16"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Scale>
                                      <p:cBhvr>
                                        <p:cTn id="145" dur="500" fill="hold"/>
                                        <p:tgtEl>
                                          <p:spTgt spid="41"/>
                                        </p:tgtEl>
                                      </p:cBhvr>
                                      <p:from x="0" y="0"/>
                                      <p:to x="100000" y="100000"/>
                                    </p:animScale>
                                    <p:animEffect transition="in" filter="fade">
                                      <p:cBhvr>
                                        <p:cTn id="146"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squar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DISCUSSION AND COMPARISON</a:t>
            </a:r>
            <a:endParaRPr lang="en-US" sz="900" dirty="0"/>
          </a:p>
        </p:txBody>
      </p:sp>
      <p:sp>
        <p:nvSpPr>
          <p:cNvPr id="3" name="static"/>
          <p:cNvSpPr txBox="1"/>
          <p:nvPr/>
        </p:nvSpPr>
        <p:spPr>
          <a:xfrm>
            <a:off x="609600" y="617190"/>
            <a:ext cx="7924800" cy="392385"/>
          </a:xfrm>
          <a:prstGeom prst="rect">
            <a:avLst/>
          </a:prstGeom>
          <a:noFill/>
          <a:ln/>
        </p:spPr>
        <p:txBody>
          <a:bodyPr wrap="squar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AI Is a Tool, Not a Guarantee of Success</a:t>
            </a:r>
            <a:endParaRPr lang="en-US" sz="2400" dirty="0"/>
          </a:p>
        </p:txBody>
      </p:sp>
      <p:sp>
        <p:nvSpPr>
          <p:cNvPr id="4" name="b1:rise"/>
          <p:cNvSpPr/>
          <p:nvPr/>
        </p:nvSpPr>
        <p:spPr>
          <a:xfrm>
            <a:off x="609600" y="1381125"/>
            <a:ext cx="809625" cy="236190"/>
          </a:xfrm>
          <a:prstGeom prst="roundRect">
            <a:avLst>
              <a:gd name="adj" fmla="val 50000"/>
            </a:avLst>
          </a:prstGeom>
          <a:solidFill>
            <a:srgbClr val="BFE6E0"/>
          </a:solidFill>
          <a:ln/>
        </p:spPr>
      </p:sp>
      <p:sp>
        <p:nvSpPr>
          <p:cNvPr id="5" name="b1:rise"/>
          <p:cNvSpPr txBox="1"/>
          <p:nvPr/>
        </p:nvSpPr>
        <p:spPr>
          <a:xfrm>
            <a:off x="609600" y="1381125"/>
            <a:ext cx="809625" cy="236190"/>
          </a:xfrm>
          <a:prstGeom prst="rect">
            <a:avLst/>
          </a:prstGeom>
          <a:noFill/>
          <a:ln/>
        </p:spPr>
        <p:txBody>
          <a:bodyPr wrap="squar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6" name="b1:rise"/>
          <p:cNvSpPr/>
          <p:nvPr/>
        </p:nvSpPr>
        <p:spPr>
          <a:xfrm>
            <a:off x="609600" y="1976884"/>
            <a:ext cx="4763" cy="0"/>
          </a:xfrm>
          <a:prstGeom prst="line">
            <a:avLst/>
          </a:prstGeom>
          <a:noFill/>
          <a:ln w="6350">
            <a:solidFill>
              <a:srgbClr val="D8DEE6"/>
            </a:solidFill>
            <a:prstDash val="solid"/>
          </a:ln>
        </p:spPr>
      </p:sp>
      <p:sp>
        <p:nvSpPr>
          <p:cNvPr id="7" name="b1:rise"/>
          <p:cNvSpPr/>
          <p:nvPr/>
        </p:nvSpPr>
        <p:spPr>
          <a:xfrm>
            <a:off x="2036043" y="1976884"/>
            <a:ext cx="4763" cy="0"/>
          </a:xfrm>
          <a:prstGeom prst="line">
            <a:avLst/>
          </a:prstGeom>
          <a:noFill/>
          <a:ln w="6350">
            <a:solidFill>
              <a:srgbClr val="D8DEE6"/>
            </a:solidFill>
            <a:prstDash val="solid"/>
          </a:ln>
        </p:spPr>
      </p:sp>
      <p:sp>
        <p:nvSpPr>
          <p:cNvPr id="8" name="b1:rise"/>
          <p:cNvSpPr txBox="1"/>
          <p:nvPr/>
        </p:nvSpPr>
        <p:spPr>
          <a:xfrm>
            <a:off x="2036043" y="1674465"/>
            <a:ext cx="3249141" cy="302419"/>
          </a:xfrm>
          <a:prstGeom prst="rect">
            <a:avLst/>
          </a:prstGeom>
          <a:noFill/>
          <a:ln/>
        </p:spPr>
        <p:txBody>
          <a:bodyPr wrap="square" lIns="95250" tIns="0" rIns="95250" bIns="0" rtlCol="0" anchor="ctr"/>
          <a:lstStyle/>
          <a:p>
            <a:pPr algn="l" indent="0" marL="0">
              <a:lnSpc>
                <a:spcPts val="1125"/>
              </a:lnSpc>
              <a:buNone/>
            </a:pPr>
            <a:r>
              <a:rPr lang="en-US" sz="900" b="1" dirty="0">
                <a:solidFill>
                  <a:srgbClr val="1B2A4A"/>
                </a:solidFill>
                <a:latin typeface="Poppins" pitchFamily="34" charset="0"/>
                <a:ea typeface="Poppins" pitchFamily="34" charset="-122"/>
                <a:cs typeface="Poppins" pitchFamily="34" charset="-120"/>
              </a:rPr>
              <a:t>Article 2 · Consultants</a:t>
            </a:r>
            <a:endParaRPr lang="en-US" sz="900" dirty="0"/>
          </a:p>
        </p:txBody>
      </p:sp>
      <p:sp>
        <p:nvSpPr>
          <p:cNvPr id="9" name="b1:rise"/>
          <p:cNvSpPr/>
          <p:nvPr/>
        </p:nvSpPr>
        <p:spPr>
          <a:xfrm>
            <a:off x="5285184" y="1976884"/>
            <a:ext cx="4763" cy="0"/>
          </a:xfrm>
          <a:prstGeom prst="line">
            <a:avLst/>
          </a:prstGeom>
          <a:noFill/>
          <a:ln w="6350">
            <a:solidFill>
              <a:srgbClr val="D8DEE6"/>
            </a:solidFill>
            <a:prstDash val="solid"/>
          </a:ln>
        </p:spPr>
      </p:sp>
      <p:sp>
        <p:nvSpPr>
          <p:cNvPr id="10" name="b1:rise"/>
          <p:cNvSpPr txBox="1"/>
          <p:nvPr/>
        </p:nvSpPr>
        <p:spPr>
          <a:xfrm>
            <a:off x="5285184" y="1674465"/>
            <a:ext cx="3249216" cy="302419"/>
          </a:xfrm>
          <a:prstGeom prst="rect">
            <a:avLst/>
          </a:prstGeom>
          <a:noFill/>
          <a:ln/>
        </p:spPr>
        <p:txBody>
          <a:bodyPr wrap="square" lIns="95250" tIns="0" rIns="95250" bIns="0" rtlCol="0" anchor="ctr"/>
          <a:lstStyle/>
          <a:p>
            <a:pPr algn="l" indent="0" marL="0">
              <a:lnSpc>
                <a:spcPts val="1125"/>
              </a:lnSpc>
              <a:buNone/>
            </a:pPr>
            <a:r>
              <a:rPr lang="en-US" sz="900" b="1" dirty="0">
                <a:solidFill>
                  <a:srgbClr val="1B2A4A"/>
                </a:solidFill>
                <a:latin typeface="Poppins" pitchFamily="34" charset="0"/>
                <a:ea typeface="Poppins" pitchFamily="34" charset="-122"/>
                <a:cs typeface="Poppins" pitchFamily="34" charset="-120"/>
              </a:rPr>
              <a:t>Article 5 · Entrepreneurs</a:t>
            </a:r>
            <a:endParaRPr lang="en-US" sz="900" dirty="0"/>
          </a:p>
        </p:txBody>
      </p:sp>
      <p:sp>
        <p:nvSpPr>
          <p:cNvPr id="11" name="b1:rise"/>
          <p:cNvSpPr/>
          <p:nvPr/>
        </p:nvSpPr>
        <p:spPr>
          <a:xfrm>
            <a:off x="609600" y="2281684"/>
            <a:ext cx="4763" cy="0"/>
          </a:xfrm>
          <a:prstGeom prst="line">
            <a:avLst/>
          </a:prstGeom>
          <a:noFill/>
          <a:ln w="6350">
            <a:solidFill>
              <a:srgbClr val="D8DEE6"/>
            </a:solidFill>
            <a:prstDash val="solid"/>
          </a:ln>
        </p:spPr>
      </p:sp>
      <p:sp>
        <p:nvSpPr>
          <p:cNvPr id="12" name="b1:rise"/>
          <p:cNvSpPr txBox="1"/>
          <p:nvPr/>
        </p:nvSpPr>
        <p:spPr>
          <a:xfrm>
            <a:off x="609600" y="1976884"/>
            <a:ext cx="1426443" cy="304800"/>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Focus</a:t>
            </a:r>
            <a:endParaRPr lang="en-US" sz="900" dirty="0"/>
          </a:p>
        </p:txBody>
      </p:sp>
      <p:sp>
        <p:nvSpPr>
          <p:cNvPr id="13" name="b1:rise"/>
          <p:cNvSpPr/>
          <p:nvPr/>
        </p:nvSpPr>
        <p:spPr>
          <a:xfrm>
            <a:off x="2036043" y="2281684"/>
            <a:ext cx="4763" cy="0"/>
          </a:xfrm>
          <a:prstGeom prst="line">
            <a:avLst/>
          </a:prstGeom>
          <a:noFill/>
          <a:ln w="6350">
            <a:solidFill>
              <a:srgbClr val="D8DEE6"/>
            </a:solidFill>
            <a:prstDash val="solid"/>
          </a:ln>
        </p:spPr>
      </p:sp>
      <p:sp>
        <p:nvSpPr>
          <p:cNvPr id="14" name="b1:rise"/>
          <p:cNvSpPr txBox="1"/>
          <p:nvPr/>
        </p:nvSpPr>
        <p:spPr>
          <a:xfrm>
            <a:off x="2036043" y="1976884"/>
            <a:ext cx="3249141" cy="304800"/>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Knowledge workers at BCG</a:t>
            </a:r>
            <a:endParaRPr lang="en-US" sz="900" dirty="0"/>
          </a:p>
        </p:txBody>
      </p:sp>
      <p:sp>
        <p:nvSpPr>
          <p:cNvPr id="15" name="b1:rise"/>
          <p:cNvSpPr/>
          <p:nvPr/>
        </p:nvSpPr>
        <p:spPr>
          <a:xfrm>
            <a:off x="5285184" y="2281684"/>
            <a:ext cx="4763" cy="0"/>
          </a:xfrm>
          <a:prstGeom prst="line">
            <a:avLst/>
          </a:prstGeom>
          <a:noFill/>
          <a:ln w="6350">
            <a:solidFill>
              <a:srgbClr val="D8DEE6"/>
            </a:solidFill>
            <a:prstDash val="solid"/>
          </a:ln>
        </p:spPr>
      </p:sp>
      <p:sp>
        <p:nvSpPr>
          <p:cNvPr id="16" name="b1:rise"/>
          <p:cNvSpPr txBox="1"/>
          <p:nvPr/>
        </p:nvSpPr>
        <p:spPr>
          <a:xfrm>
            <a:off x="5285184" y="1976884"/>
            <a:ext cx="3249216" cy="304800"/>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Small businesses in Kenya</a:t>
            </a:r>
            <a:endParaRPr lang="en-US" sz="900" dirty="0"/>
          </a:p>
        </p:txBody>
      </p:sp>
      <p:sp>
        <p:nvSpPr>
          <p:cNvPr id="17" name="b1:rise"/>
          <p:cNvSpPr/>
          <p:nvPr/>
        </p:nvSpPr>
        <p:spPr>
          <a:xfrm>
            <a:off x="609600" y="2281684"/>
            <a:ext cx="7924800" cy="471488"/>
          </a:xfrm>
          <a:prstGeom prst="rect">
            <a:avLst/>
          </a:prstGeom>
          <a:solidFill>
            <a:srgbClr val="EEF1F5"/>
          </a:solidFill>
          <a:ln/>
        </p:spPr>
      </p:sp>
      <p:sp>
        <p:nvSpPr>
          <p:cNvPr id="18" name="b1:rise"/>
          <p:cNvSpPr/>
          <p:nvPr/>
        </p:nvSpPr>
        <p:spPr>
          <a:xfrm>
            <a:off x="609600" y="2753171"/>
            <a:ext cx="4763" cy="0"/>
          </a:xfrm>
          <a:prstGeom prst="line">
            <a:avLst/>
          </a:prstGeom>
          <a:noFill/>
          <a:ln w="6350">
            <a:solidFill>
              <a:srgbClr val="D8DEE6"/>
            </a:solidFill>
            <a:prstDash val="solid"/>
          </a:ln>
        </p:spPr>
      </p:sp>
      <p:sp>
        <p:nvSpPr>
          <p:cNvPr id="19" name="b1:rise"/>
          <p:cNvSpPr txBox="1"/>
          <p:nvPr/>
        </p:nvSpPr>
        <p:spPr>
          <a:xfrm>
            <a:off x="609600" y="2281684"/>
            <a:ext cx="1454972"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Main result</a:t>
            </a:r>
            <a:endParaRPr lang="en-US" sz="900" dirty="0"/>
          </a:p>
        </p:txBody>
      </p:sp>
      <p:sp>
        <p:nvSpPr>
          <p:cNvPr id="20" name="b1:rise"/>
          <p:cNvSpPr/>
          <p:nvPr/>
        </p:nvSpPr>
        <p:spPr>
          <a:xfrm>
            <a:off x="2036043" y="2753171"/>
            <a:ext cx="4763" cy="0"/>
          </a:xfrm>
          <a:prstGeom prst="line">
            <a:avLst/>
          </a:prstGeom>
          <a:noFill/>
          <a:ln w="6350">
            <a:solidFill>
              <a:srgbClr val="D8DEE6"/>
            </a:solidFill>
            <a:prstDash val="solid"/>
          </a:ln>
        </p:spPr>
      </p:sp>
      <p:sp>
        <p:nvSpPr>
          <p:cNvPr id="21" name="b1:rise"/>
          <p:cNvSpPr txBox="1"/>
          <p:nvPr/>
        </p:nvSpPr>
        <p:spPr>
          <a:xfrm>
            <a:off x="2036043" y="2281684"/>
            <a:ext cx="3314124"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Higher productivity and quality inside AI's capability frontier</a:t>
            </a:r>
            <a:endParaRPr lang="en-US" sz="900" dirty="0"/>
          </a:p>
        </p:txBody>
      </p:sp>
      <p:sp>
        <p:nvSpPr>
          <p:cNvPr id="22" name="b1:rise"/>
          <p:cNvSpPr/>
          <p:nvPr/>
        </p:nvSpPr>
        <p:spPr>
          <a:xfrm>
            <a:off x="5285184" y="2753171"/>
            <a:ext cx="4763" cy="0"/>
          </a:xfrm>
          <a:prstGeom prst="line">
            <a:avLst/>
          </a:prstGeom>
          <a:noFill/>
          <a:ln w="6350">
            <a:solidFill>
              <a:srgbClr val="D8DEE6"/>
            </a:solidFill>
            <a:prstDash val="solid"/>
          </a:ln>
        </p:spPr>
      </p:sp>
      <p:sp>
        <p:nvSpPr>
          <p:cNvPr id="23" name="b1:rise"/>
          <p:cNvSpPr txBox="1"/>
          <p:nvPr/>
        </p:nvSpPr>
        <p:spPr>
          <a:xfrm>
            <a:off x="5285184" y="2281684"/>
            <a:ext cx="3314200"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No established average effect on revenue and profit</a:t>
            </a:r>
            <a:endParaRPr lang="en-US" sz="900" dirty="0"/>
          </a:p>
        </p:txBody>
      </p:sp>
      <p:sp>
        <p:nvSpPr>
          <p:cNvPr id="24" name="b1:rise"/>
          <p:cNvSpPr/>
          <p:nvPr/>
        </p:nvSpPr>
        <p:spPr>
          <a:xfrm>
            <a:off x="609600" y="3224659"/>
            <a:ext cx="4763" cy="0"/>
          </a:xfrm>
          <a:prstGeom prst="line">
            <a:avLst/>
          </a:prstGeom>
          <a:noFill/>
          <a:ln w="6350">
            <a:solidFill>
              <a:srgbClr val="D8DEE6"/>
            </a:solidFill>
            <a:prstDash val="solid"/>
          </a:ln>
        </p:spPr>
      </p:sp>
      <p:sp>
        <p:nvSpPr>
          <p:cNvPr id="25" name="b1:rise"/>
          <p:cNvSpPr txBox="1"/>
          <p:nvPr/>
        </p:nvSpPr>
        <p:spPr>
          <a:xfrm>
            <a:off x="609600" y="2753171"/>
            <a:ext cx="1454972"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Key insight</a:t>
            </a:r>
            <a:endParaRPr lang="en-US" sz="900" dirty="0"/>
          </a:p>
        </p:txBody>
      </p:sp>
      <p:sp>
        <p:nvSpPr>
          <p:cNvPr id="26" name="b1:rise"/>
          <p:cNvSpPr/>
          <p:nvPr/>
        </p:nvSpPr>
        <p:spPr>
          <a:xfrm>
            <a:off x="2036043" y="3224659"/>
            <a:ext cx="4763" cy="0"/>
          </a:xfrm>
          <a:prstGeom prst="line">
            <a:avLst/>
          </a:prstGeom>
          <a:noFill/>
          <a:ln w="6350">
            <a:solidFill>
              <a:srgbClr val="D8DEE6"/>
            </a:solidFill>
            <a:prstDash val="solid"/>
          </a:ln>
        </p:spPr>
      </p:sp>
      <p:sp>
        <p:nvSpPr>
          <p:cNvPr id="27" name="b1:rise"/>
          <p:cNvSpPr txBox="1"/>
          <p:nvPr/>
        </p:nvSpPr>
        <p:spPr>
          <a:xfrm>
            <a:off x="2036043" y="2753171"/>
            <a:ext cx="3314124"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Lower correctness on a task outside the frontier</a:t>
            </a:r>
            <a:endParaRPr lang="en-US" sz="900" dirty="0"/>
          </a:p>
        </p:txBody>
      </p:sp>
      <p:sp>
        <p:nvSpPr>
          <p:cNvPr id="28" name="b1:rise"/>
          <p:cNvSpPr/>
          <p:nvPr/>
        </p:nvSpPr>
        <p:spPr>
          <a:xfrm>
            <a:off x="5285184" y="3224659"/>
            <a:ext cx="4763" cy="0"/>
          </a:xfrm>
          <a:prstGeom prst="line">
            <a:avLst/>
          </a:prstGeom>
          <a:noFill/>
          <a:ln w="6350">
            <a:solidFill>
              <a:srgbClr val="D8DEE6"/>
            </a:solidFill>
            <a:prstDash val="solid"/>
          </a:ln>
        </p:spPr>
      </p:sp>
      <p:sp>
        <p:nvSpPr>
          <p:cNvPr id="29" name="b1:rise"/>
          <p:cNvSpPr txBox="1"/>
          <p:nvPr/>
        </p:nvSpPr>
        <p:spPr>
          <a:xfrm>
            <a:off x="5285184" y="2753171"/>
            <a:ext cx="3314200"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Outcomes depended on baseline performance and the advice implemented</a:t>
            </a:r>
            <a:endParaRPr lang="en-US" sz="900" dirty="0"/>
          </a:p>
        </p:txBody>
      </p:sp>
      <p:sp>
        <p:nvSpPr>
          <p:cNvPr id="30" name="b2:pop"/>
          <p:cNvSpPr/>
          <p:nvPr/>
        </p:nvSpPr>
        <p:spPr>
          <a:xfrm>
            <a:off x="609600" y="3143250"/>
            <a:ext cx="7924800" cy="1052066"/>
          </a:xfrm>
          <a:prstGeom prst="roundRect">
            <a:avLst>
              <a:gd name="adj" fmla="val 10864"/>
            </a:avLst>
          </a:prstGeom>
          <a:solidFill>
            <a:srgbClr val="2E8B86"/>
          </a:solidFill>
          <a:ln/>
        </p:spPr>
      </p:sp>
      <p:sp>
        <p:nvSpPr>
          <p:cNvPr id="31" name="b2:pop"/>
          <p:cNvSpPr/>
          <p:nvPr/>
        </p:nvSpPr>
        <p:spPr>
          <a:xfrm>
            <a:off x="819150" y="3276600"/>
            <a:ext cx="1362075" cy="217140"/>
          </a:xfrm>
          <a:prstGeom prst="roundRect">
            <a:avLst>
              <a:gd name="adj" fmla="val 50000"/>
            </a:avLst>
          </a:prstGeom>
          <a:solidFill>
            <a:srgbClr val="F7F9FB"/>
          </a:solidFill>
          <a:ln/>
        </p:spPr>
      </p:sp>
      <p:sp>
        <p:nvSpPr>
          <p:cNvPr id="32" name="b2:pop"/>
          <p:cNvSpPr txBox="1"/>
          <p:nvPr/>
        </p:nvSpPr>
        <p:spPr>
          <a:xfrm>
            <a:off x="819150" y="3276600"/>
            <a:ext cx="1362075" cy="217140"/>
          </a:xfrm>
          <a:prstGeom prst="rect">
            <a:avLst/>
          </a:prstGeom>
          <a:noFill/>
          <a:ln/>
        </p:spPr>
        <p:txBody>
          <a:bodyPr wrap="square" lIns="85725" tIns="0" rIns="85725"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INTERPRETATION</a:t>
            </a:r>
            <a:endParaRPr lang="en-US" sz="900" dirty="0"/>
          </a:p>
        </p:txBody>
      </p:sp>
      <p:sp>
        <p:nvSpPr>
          <p:cNvPr id="33" name="b2:pop"/>
          <p:cNvSpPr txBox="1"/>
          <p:nvPr/>
        </p:nvSpPr>
        <p:spPr>
          <a:xfrm>
            <a:off x="819150" y="3541365"/>
            <a:ext cx="3400425" cy="520601"/>
          </a:xfrm>
          <a:prstGeom prst="rect">
            <a:avLst/>
          </a:prstGeom>
          <a:noFill/>
          <a:ln/>
        </p:spPr>
        <p:txBody>
          <a:bodyPr wrap="square" lIns="0" tIns="0" rIns="0" bIns="0" rtlCol="0" anchor="t"/>
          <a:lstStyle/>
          <a:p>
            <a:pPr algn="l" indent="0" marL="0">
              <a:lnSpc>
                <a:spcPts val="1367"/>
              </a:lnSpc>
              <a:buNone/>
            </a:pPr>
            <a:r>
              <a:rPr lang="en-US" sz="1013" b="1" dirty="0">
                <a:solidFill>
                  <a:srgbClr val="F7F9FB"/>
                </a:solidFill>
                <a:latin typeface="Poppins" pitchFamily="34" charset="0"/>
                <a:ea typeface="Poppins" pitchFamily="34" charset="-122"/>
                <a:cs typeface="Poppins" pitchFamily="34" charset="-120"/>
              </a:rPr>
              <a:t>AI can influence real-world performance, but its impact depends on task suitability, user behavior, and </a:t>
            </a:r>
            <a:pPr algn="l" indent="0" marL="0">
              <a:lnSpc>
                <a:spcPts val="1367"/>
              </a:lnSpc>
              <a:buNone/>
            </a:pPr>
            <a:r>
              <a:rPr lang="en-US" sz="1013" b="1" u="sng" dirty="0">
                <a:solidFill>
                  <a:srgbClr val="F7F9FB"/>
                </a:solidFill>
                <a:latin typeface="Poppins" pitchFamily="34" charset="0"/>
                <a:ea typeface="Poppins" pitchFamily="34" charset="-122"/>
                <a:cs typeface="Poppins" pitchFamily="34" charset="-120"/>
              </a:rPr>
              <a:t>human judgment</a:t>
            </a:r>
            <a:pPr algn="l" indent="0" marL="0">
              <a:lnSpc>
                <a:spcPts val="1367"/>
              </a:lnSpc>
              <a:buNone/>
            </a:pPr>
            <a:r>
              <a:rPr lang="en-US" sz="1013" b="1" dirty="0">
                <a:solidFill>
                  <a:srgbClr val="F7F9FB"/>
                </a:solidFill>
                <a:latin typeface="Poppins" pitchFamily="34" charset="0"/>
                <a:ea typeface="Poppins" pitchFamily="34" charset="-122"/>
                <a:cs typeface="Poppins" pitchFamily="34" charset="-120"/>
              </a:rPr>
              <a:t>.</a:t>
            </a:r>
            <a:endParaRPr lang="en-US" sz="1013" dirty="0"/>
          </a:p>
        </p:txBody>
      </p:sp>
      <p:pic>
        <p:nvPicPr>
          <p:cNvPr id="34" name="b2:pop icon Check" descr="preencoded.png">    </p:cNvPr>
          <p:cNvPicPr>
            <a:picLocks noChangeAspect="1"/>
          </p:cNvPicPr>
          <p:nvPr/>
        </p:nvPicPr>
        <p:blipFill>
          <a:blip r:embed="rId1"/>
          <a:stretch>
            <a:fillRect/>
          </a:stretch>
        </p:blipFill>
        <p:spPr>
          <a:xfrm>
            <a:off x="4343400" y="3390230"/>
            <a:ext cx="142875" cy="142875"/>
          </a:xfrm>
          <a:prstGeom prst="rect">
            <a:avLst/>
          </a:prstGeom>
        </p:spPr>
      </p:pic>
      <p:sp>
        <p:nvSpPr>
          <p:cNvPr id="35" name="b2:pop"/>
          <p:cNvSpPr txBox="1"/>
          <p:nvPr/>
        </p:nvSpPr>
        <p:spPr>
          <a:xfrm>
            <a:off x="4552950" y="3381673"/>
            <a:ext cx="1772841" cy="159990"/>
          </a:xfrm>
          <a:prstGeom prst="rect">
            <a:avLst/>
          </a:prstGeom>
          <a:noFill/>
          <a:ln/>
        </p:spPr>
        <p:txBody>
          <a:bodyPr wrap="squar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Match the task to AI's strengths</a:t>
            </a:r>
            <a:endParaRPr lang="en-US" sz="900" dirty="0"/>
          </a:p>
        </p:txBody>
      </p:sp>
      <p:pic>
        <p:nvPicPr>
          <p:cNvPr id="36" name="b2:pop icon Check" descr="preencoded.png">    </p:cNvPr>
          <p:cNvPicPr>
            <a:picLocks noChangeAspect="1"/>
          </p:cNvPicPr>
          <p:nvPr/>
        </p:nvPicPr>
        <p:blipFill>
          <a:blip r:embed="rId2"/>
          <a:stretch>
            <a:fillRect/>
          </a:stretch>
        </p:blipFill>
        <p:spPr>
          <a:xfrm>
            <a:off x="4343400" y="3597846"/>
            <a:ext cx="142875" cy="142875"/>
          </a:xfrm>
          <a:prstGeom prst="rect">
            <a:avLst/>
          </a:prstGeom>
        </p:spPr>
      </p:pic>
      <p:sp>
        <p:nvSpPr>
          <p:cNvPr id="37" name="b2:pop"/>
          <p:cNvSpPr txBox="1"/>
          <p:nvPr/>
        </p:nvSpPr>
        <p:spPr>
          <a:xfrm>
            <a:off x="4552950" y="3589288"/>
            <a:ext cx="1551905" cy="159990"/>
          </a:xfrm>
          <a:prstGeom prst="rect">
            <a:avLst/>
          </a:prstGeom>
          <a:noFill/>
          <a:ln/>
        </p:spPr>
        <p:txBody>
          <a:bodyPr wrap="squar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Evaluate AI advice critically</a:t>
            </a:r>
            <a:endParaRPr lang="en-US" sz="900" dirty="0"/>
          </a:p>
        </p:txBody>
      </p:sp>
      <p:pic>
        <p:nvPicPr>
          <p:cNvPr id="38" name="b2:pop icon Check" descr="preencoded.png">    </p:cNvPr>
          <p:cNvPicPr>
            <a:picLocks noChangeAspect="1"/>
          </p:cNvPicPr>
          <p:nvPr/>
        </p:nvPicPr>
        <p:blipFill>
          <a:blip r:embed="rId3"/>
          <a:stretch>
            <a:fillRect/>
          </a:stretch>
        </p:blipFill>
        <p:spPr>
          <a:xfrm>
            <a:off x="4343400" y="3805461"/>
            <a:ext cx="142875" cy="142875"/>
          </a:xfrm>
          <a:prstGeom prst="rect">
            <a:avLst/>
          </a:prstGeom>
        </p:spPr>
      </p:pic>
      <p:sp>
        <p:nvSpPr>
          <p:cNvPr id="39" name="b2:pop"/>
          <p:cNvSpPr txBox="1"/>
          <p:nvPr/>
        </p:nvSpPr>
        <p:spPr>
          <a:xfrm>
            <a:off x="4552950" y="3796903"/>
            <a:ext cx="1952476" cy="159990"/>
          </a:xfrm>
          <a:prstGeom prst="rect">
            <a:avLst/>
          </a:prstGeom>
          <a:noFill/>
          <a:ln/>
        </p:spPr>
        <p:txBody>
          <a:bodyPr wrap="squar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Keep human judgment in the loop</a:t>
            </a:r>
            <a:endParaRPr lang="en-US" sz="900" dirty="0"/>
          </a:p>
        </p:txBody>
      </p:sp>
      <p:pic>
        <p:nvPicPr>
          <p:cNvPr id="40" name="b2:pop (Person reaching out to shake hands)" descr="/home/user/slide-present-en/presentation/webdeck/art/human-shake-teal.png">    </p:cNvPr>
          <p:cNvPicPr>
            <a:picLocks noChangeAspect="1"/>
          </p:cNvPicPr>
          <p:nvPr/>
        </p:nvPicPr>
        <p:blipFill>
          <a:blip r:embed="rId4"/>
          <a:stretch>
            <a:fillRect/>
          </a:stretch>
        </p:blipFill>
        <p:spPr>
          <a:xfrm>
            <a:off x="7134225" y="3345433"/>
            <a:ext cx="571500" cy="647700"/>
          </a:xfrm>
          <a:prstGeom prst="rect">
            <a:avLst/>
          </a:prstGeom>
        </p:spPr>
      </p:pic>
      <p:pic>
        <p:nvPicPr>
          <p:cNvPr id="41" name="b2:pop (Robot mascot reaching out to shake hands)" descr="/home/user/slide-present-en/presentation/webdeck/art/robot-shake-teal.png">    </p:cNvPr>
          <p:cNvPicPr>
            <a:picLocks noChangeAspect="1"/>
          </p:cNvPicPr>
          <p:nvPr/>
        </p:nvPicPr>
        <p:blipFill>
          <a:blip r:embed="rId5"/>
          <a:stretch>
            <a:fillRect/>
          </a:stretch>
        </p:blipFill>
        <p:spPr>
          <a:xfrm>
            <a:off x="7705725" y="3345433"/>
            <a:ext cx="619125" cy="647700"/>
          </a:xfrm>
          <a:prstGeom prst="rect">
            <a:avLst/>
          </a:prstGeom>
        </p:spPr>
      </p:pic>
      <p:sp>
        <p:nvSpPr>
          <p:cNvPr id="42" name="static"/>
          <p:cNvSpPr txBox="1"/>
          <p:nvPr/>
        </p:nvSpPr>
        <p:spPr>
          <a:xfrm>
            <a:off x="609600" y="4678710"/>
            <a:ext cx="5343525" cy="319980"/>
          </a:xfrm>
          <a:prstGeom prst="rect">
            <a:avLst/>
          </a:prstGeom>
          <a:noFill/>
          <a:ln/>
        </p:spPr>
        <p:txBody>
          <a:bodyPr wrap="square" lIns="0" tIns="0" rIns="0" bIns="0" rtlCol="0" anchor="t"/>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HBS Working Paper 24-013 · Otis et al. (2026), Management Science 72(7), doi.org/10.1287/mnsc.2024.06909</a:t>
            </a:r>
            <a:endParaRPr lang="en-US" sz="900" dirty="0"/>
          </a:p>
        </p:txBody>
      </p:sp>
      <p:sp>
        <p:nvSpPr>
          <p:cNvPr id="43" name="b3:fade"/>
          <p:cNvSpPr txBox="1"/>
          <p:nvPr/>
        </p:nvSpPr>
        <p:spPr>
          <a:xfrm>
            <a:off x="6153150" y="4678710"/>
            <a:ext cx="2381250" cy="159990"/>
          </a:xfrm>
          <a:prstGeom prst="rect">
            <a:avLst/>
          </a:prstGeom>
          <a:noFill/>
          <a:ln/>
        </p:spPr>
        <p:txBody>
          <a:bodyPr wrap="squar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Thank you.</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Questions are welcome.</a:t>
            </a:r>
            <a:endParaRPr lang="en-US" sz="900" dirty="0"/>
          </a:p>
        </p:txBody>
      </p:sp>
      <p:sp>
        <p:nvSpPr>
          <p:cNvPr id="44" name="!!key4-en-43 static"/>
          <p:cNvSpPr/>
          <p:nvPr/>
        </p:nvSpPr>
        <p:spPr>
          <a:xfrm>
            <a:off x="7048500" y="342900"/>
            <a:ext cx="1485900" cy="255240"/>
          </a:xfrm>
          <a:prstGeom prst="roundRect">
            <a:avLst>
              <a:gd name="adj" fmla="val 50000"/>
            </a:avLst>
          </a:prstGeom>
          <a:solidFill>
            <a:srgbClr val="2E8B86"/>
          </a:solidFill>
          <a:ln/>
        </p:spPr>
      </p:sp>
      <p:sp>
        <p:nvSpPr>
          <p:cNvPr id="45" name="!!key4-en-44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Human judgment</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7" fill="hold">
                      <p:stCondLst>
                        <p:cond delay="indefinite"/>
                      </p:stCondLst>
                      <p:childTnLst>
                        <p:par>
                          <p:cTn id="10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8"/>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09" presetID="23" presetClass="entr" presetSubtype="16" fill="hold" grpId="0" nodeType="clickEffect">
                                  <p:stCondLst>
                                    <p:cond delay="0"/>
                                  </p:stCondLst>
                                  <p:childTnLst>
                                    <p:set>
                                      <p:cBhvr>
                                        <p:cTn id="110" dur="1" fill="hold">
                                          <p:stCondLst>
                                            <p:cond delay="0"/>
                                          </p:stCondLst>
                                        </p:cTn>
                                        <p:tgtEl>
                                          <p:spTgt spid="30"/>
                                        </p:tgtEl>
                                        <p:attrNameLst>
                                          <p:attrName>style.visibility</p:attrName>
                                        </p:attrNameLst>
                                      </p:cBhvr>
                                      <p:to>
                                        <p:strVal val="visible"/>
                                      </p:to>
                                    </p:set>
                                    <p:animScale>
                                      <p:cBhvr>
                                        <p:cTn id="111" dur="500" fill="hold"/>
                                        <p:tgtEl>
                                          <p:spTgt spid="30"/>
                                        </p:tgtEl>
                                      </p:cBhvr>
                                      <p:from x="0" y="0"/>
                                      <p:to x="100000" y="100000"/>
                                    </p:animScale>
                                    <p:animEffect transition="in" filter="fade">
                                      <p:cBhvr>
                                        <p:cTn id="112" dur="500"/>
                                        <p:tgtEl>
                                          <p:spTgt spid="30"/>
                                        </p:tgtEl>
                                      </p:cBhvr>
                                    </p:animEffect>
                                  </p:childTnLst>
                                </p:cTn>
                              </p:par>
                              <p:par>
                                <p:cTn id="113" presetID="23" presetClass="entr" presetSubtype="16" fill="hold" grpId="0" nodeType="withEffect">
                                  <p:stCondLst>
                                    <p:cond delay="0"/>
                                  </p:stCondLst>
                                  <p:childTnLst>
                                    <p:set>
                                      <p:cBhvr>
                                        <p:cTn id="114" dur="1" fill="hold">
                                          <p:stCondLst>
                                            <p:cond delay="0"/>
                                          </p:stCondLst>
                                        </p:cTn>
                                        <p:tgtEl>
                                          <p:spTgt spid="31"/>
                                        </p:tgtEl>
                                        <p:attrNameLst>
                                          <p:attrName>style.visibility</p:attrName>
                                        </p:attrNameLst>
                                      </p:cBhvr>
                                      <p:to>
                                        <p:strVal val="visible"/>
                                      </p:to>
                                    </p:set>
                                    <p:animScale>
                                      <p:cBhvr>
                                        <p:cTn id="115" dur="500" fill="hold"/>
                                        <p:tgtEl>
                                          <p:spTgt spid="31"/>
                                        </p:tgtEl>
                                      </p:cBhvr>
                                      <p:from x="0" y="0"/>
                                      <p:to x="100000" y="100000"/>
                                    </p:animScale>
                                    <p:animEffect transition="in" filter="fade">
                                      <p:cBhvr>
                                        <p:cTn id="116" dur="500"/>
                                        <p:tgtEl>
                                          <p:spTgt spid="31"/>
                                        </p:tgtEl>
                                      </p:cBhvr>
                                    </p:animEffect>
                                  </p:childTnLst>
                                </p:cTn>
                              </p:par>
                              <p:par>
                                <p:cTn id="117" presetID="23" presetClass="entr" presetSubtype="16" fill="hold" grpId="0" nodeType="withEffect">
                                  <p:stCondLst>
                                    <p:cond delay="0"/>
                                  </p:stCondLst>
                                  <p:childTnLst>
                                    <p:set>
                                      <p:cBhvr>
                                        <p:cTn id="118" dur="1" fill="hold">
                                          <p:stCondLst>
                                            <p:cond delay="0"/>
                                          </p:stCondLst>
                                        </p:cTn>
                                        <p:tgtEl>
                                          <p:spTgt spid="32"/>
                                        </p:tgtEl>
                                        <p:attrNameLst>
                                          <p:attrName>style.visibility</p:attrName>
                                        </p:attrNameLst>
                                      </p:cBhvr>
                                      <p:to>
                                        <p:strVal val="visible"/>
                                      </p:to>
                                    </p:set>
                                    <p:animScale>
                                      <p:cBhvr>
                                        <p:cTn id="119" dur="500" fill="hold"/>
                                        <p:tgtEl>
                                          <p:spTgt spid="32"/>
                                        </p:tgtEl>
                                      </p:cBhvr>
                                      <p:from x="0" y="0"/>
                                      <p:to x="100000" y="100000"/>
                                    </p:animScale>
                                    <p:animEffect transition="in" filter="fade">
                                      <p:cBhvr>
                                        <p:cTn id="120" dur="500"/>
                                        <p:tgtEl>
                                          <p:spTgt spid="32"/>
                                        </p:tgtEl>
                                      </p:cBhvr>
                                    </p:animEffect>
                                  </p:childTnLst>
                                </p:cTn>
                              </p:par>
                              <p:par>
                                <p:cTn id="121" presetID="23" presetClass="entr" presetSubtype="16" fill="hold" grpId="0" nodeType="withEffect">
                                  <p:stCondLst>
                                    <p:cond delay="0"/>
                                  </p:stCondLst>
                                  <p:childTnLst>
                                    <p:set>
                                      <p:cBhvr>
                                        <p:cTn id="122" dur="1" fill="hold">
                                          <p:stCondLst>
                                            <p:cond delay="0"/>
                                          </p:stCondLst>
                                        </p:cTn>
                                        <p:tgtEl>
                                          <p:spTgt spid="33"/>
                                        </p:tgtEl>
                                        <p:attrNameLst>
                                          <p:attrName>style.visibility</p:attrName>
                                        </p:attrNameLst>
                                      </p:cBhvr>
                                      <p:to>
                                        <p:strVal val="visible"/>
                                      </p:to>
                                    </p:set>
                                    <p:animScale>
                                      <p:cBhvr>
                                        <p:cTn id="123" dur="500" fill="hold"/>
                                        <p:tgtEl>
                                          <p:spTgt spid="33"/>
                                        </p:tgtEl>
                                      </p:cBhvr>
                                      <p:from x="0" y="0"/>
                                      <p:to x="100000" y="100000"/>
                                    </p:animScale>
                                    <p:animEffect transition="in" filter="fade">
                                      <p:cBhvr>
                                        <p:cTn id="124" dur="500"/>
                                        <p:tgtEl>
                                          <p:spTgt spid="33"/>
                                        </p:tgtEl>
                                      </p:cBhvr>
                                    </p:animEffect>
                                  </p:childTnLst>
                                </p:cTn>
                              </p:par>
                              <p:par>
                                <p:cTn id="125" presetID="23" presetClass="entr" presetSubtype="16" fill="hold" grpId="0" nodeType="withEffect">
                                  <p:stCondLst>
                                    <p:cond delay="0"/>
                                  </p:stCondLst>
                                  <p:childTnLst>
                                    <p:set>
                                      <p:cBhvr>
                                        <p:cTn id="126" dur="1" fill="hold">
                                          <p:stCondLst>
                                            <p:cond delay="0"/>
                                          </p:stCondLst>
                                        </p:cTn>
                                        <p:tgtEl>
                                          <p:spTgt spid="34"/>
                                        </p:tgtEl>
                                        <p:attrNameLst>
                                          <p:attrName>style.visibility</p:attrName>
                                        </p:attrNameLst>
                                      </p:cBhvr>
                                      <p:to>
                                        <p:strVal val="visible"/>
                                      </p:to>
                                    </p:set>
                                    <p:animScale>
                                      <p:cBhvr>
                                        <p:cTn id="127" dur="500" fill="hold"/>
                                        <p:tgtEl>
                                          <p:spTgt spid="34"/>
                                        </p:tgtEl>
                                      </p:cBhvr>
                                      <p:from x="0" y="0"/>
                                      <p:to x="100000" y="100000"/>
                                    </p:animScale>
                                    <p:animEffect transition="in" filter="fade">
                                      <p:cBhvr>
                                        <p:cTn id="128" dur="500"/>
                                        <p:tgtEl>
                                          <p:spTgt spid="34"/>
                                        </p:tgtEl>
                                      </p:cBhvr>
                                    </p:animEffect>
                                  </p:childTnLst>
                                </p:cTn>
                              </p:par>
                              <p:par>
                                <p:cTn id="129" presetID="23" presetClass="entr" presetSubtype="16" fill="hold" grpId="0" nodeType="withEffect">
                                  <p:stCondLst>
                                    <p:cond delay="0"/>
                                  </p:stCondLst>
                                  <p:childTnLst>
                                    <p:set>
                                      <p:cBhvr>
                                        <p:cTn id="130" dur="1" fill="hold">
                                          <p:stCondLst>
                                            <p:cond delay="0"/>
                                          </p:stCondLst>
                                        </p:cTn>
                                        <p:tgtEl>
                                          <p:spTgt spid="35"/>
                                        </p:tgtEl>
                                        <p:attrNameLst>
                                          <p:attrName>style.visibility</p:attrName>
                                        </p:attrNameLst>
                                      </p:cBhvr>
                                      <p:to>
                                        <p:strVal val="visible"/>
                                      </p:to>
                                    </p:set>
                                    <p:animScale>
                                      <p:cBhvr>
                                        <p:cTn id="131" dur="500" fill="hold"/>
                                        <p:tgtEl>
                                          <p:spTgt spid="35"/>
                                        </p:tgtEl>
                                      </p:cBhvr>
                                      <p:from x="0" y="0"/>
                                      <p:to x="100000" y="100000"/>
                                    </p:animScale>
                                    <p:animEffect transition="in" filter="fade">
                                      <p:cBhvr>
                                        <p:cTn id="132" dur="500"/>
                                        <p:tgtEl>
                                          <p:spTgt spid="35"/>
                                        </p:tgtEl>
                                      </p:cBhvr>
                                    </p:animEffect>
                                  </p:childTnLst>
                                </p:cTn>
                              </p:par>
                              <p:par>
                                <p:cTn id="133" presetID="23" presetClass="entr" presetSubtype="16" fill="hold" grpId="0" nodeType="withEffect">
                                  <p:stCondLst>
                                    <p:cond delay="0"/>
                                  </p:stCondLst>
                                  <p:childTnLst>
                                    <p:set>
                                      <p:cBhvr>
                                        <p:cTn id="134" dur="1" fill="hold">
                                          <p:stCondLst>
                                            <p:cond delay="0"/>
                                          </p:stCondLst>
                                        </p:cTn>
                                        <p:tgtEl>
                                          <p:spTgt spid="36"/>
                                        </p:tgtEl>
                                        <p:attrNameLst>
                                          <p:attrName>style.visibility</p:attrName>
                                        </p:attrNameLst>
                                      </p:cBhvr>
                                      <p:to>
                                        <p:strVal val="visible"/>
                                      </p:to>
                                    </p:set>
                                    <p:animScale>
                                      <p:cBhvr>
                                        <p:cTn id="135" dur="500" fill="hold"/>
                                        <p:tgtEl>
                                          <p:spTgt spid="36"/>
                                        </p:tgtEl>
                                      </p:cBhvr>
                                      <p:from x="0" y="0"/>
                                      <p:to x="100000" y="100000"/>
                                    </p:animScale>
                                    <p:animEffect transition="in" filter="fade">
                                      <p:cBhvr>
                                        <p:cTn id="136" dur="500"/>
                                        <p:tgtEl>
                                          <p:spTgt spid="36"/>
                                        </p:tgtEl>
                                      </p:cBhvr>
                                    </p:animEffect>
                                  </p:childTnLst>
                                </p:cTn>
                              </p:par>
                              <p:par>
                                <p:cTn id="137" presetID="23" presetClass="entr" presetSubtype="16" fill="hold" grpId="0" nodeType="withEffect">
                                  <p:stCondLst>
                                    <p:cond delay="0"/>
                                  </p:stCondLst>
                                  <p:childTnLst>
                                    <p:set>
                                      <p:cBhvr>
                                        <p:cTn id="138" dur="1" fill="hold">
                                          <p:stCondLst>
                                            <p:cond delay="0"/>
                                          </p:stCondLst>
                                        </p:cTn>
                                        <p:tgtEl>
                                          <p:spTgt spid="37"/>
                                        </p:tgtEl>
                                        <p:attrNameLst>
                                          <p:attrName>style.visibility</p:attrName>
                                        </p:attrNameLst>
                                      </p:cBhvr>
                                      <p:to>
                                        <p:strVal val="visible"/>
                                      </p:to>
                                    </p:set>
                                    <p:animScale>
                                      <p:cBhvr>
                                        <p:cTn id="139" dur="500" fill="hold"/>
                                        <p:tgtEl>
                                          <p:spTgt spid="37"/>
                                        </p:tgtEl>
                                      </p:cBhvr>
                                      <p:from x="0" y="0"/>
                                      <p:to x="100000" y="100000"/>
                                    </p:animScale>
                                    <p:animEffect transition="in" filter="fade">
                                      <p:cBhvr>
                                        <p:cTn id="140" dur="500"/>
                                        <p:tgtEl>
                                          <p:spTgt spid="37"/>
                                        </p:tgtEl>
                                      </p:cBhvr>
                                    </p:animEffect>
                                  </p:childTnLst>
                                </p:cTn>
                              </p:par>
                              <p:par>
                                <p:cTn id="141" presetID="23" presetClass="entr" presetSubtype="16" fill="hold" grpId="0" nodeType="withEffect">
                                  <p:stCondLst>
                                    <p:cond delay="0"/>
                                  </p:stCondLst>
                                  <p:childTnLst>
                                    <p:set>
                                      <p:cBhvr>
                                        <p:cTn id="142" dur="1" fill="hold">
                                          <p:stCondLst>
                                            <p:cond delay="0"/>
                                          </p:stCondLst>
                                        </p:cTn>
                                        <p:tgtEl>
                                          <p:spTgt spid="38"/>
                                        </p:tgtEl>
                                        <p:attrNameLst>
                                          <p:attrName>style.visibility</p:attrName>
                                        </p:attrNameLst>
                                      </p:cBhvr>
                                      <p:to>
                                        <p:strVal val="visible"/>
                                      </p:to>
                                    </p:set>
                                    <p:animScale>
                                      <p:cBhvr>
                                        <p:cTn id="143" dur="500" fill="hold"/>
                                        <p:tgtEl>
                                          <p:spTgt spid="38"/>
                                        </p:tgtEl>
                                      </p:cBhvr>
                                      <p:from x="0" y="0"/>
                                      <p:to x="100000" y="100000"/>
                                    </p:animScale>
                                    <p:animEffect transition="in" filter="fade">
                                      <p:cBhvr>
                                        <p:cTn id="144" dur="500"/>
                                        <p:tgtEl>
                                          <p:spTgt spid="38"/>
                                        </p:tgtEl>
                                      </p:cBhvr>
                                    </p:animEffect>
                                  </p:childTnLst>
                                </p:cTn>
                              </p:par>
                              <p:par>
                                <p:cTn id="145" presetID="23" presetClass="entr" presetSubtype="16" fill="hold" grpId="0" nodeType="withEffect">
                                  <p:stCondLst>
                                    <p:cond delay="0"/>
                                  </p:stCondLst>
                                  <p:childTnLst>
                                    <p:set>
                                      <p:cBhvr>
                                        <p:cTn id="146" dur="1" fill="hold">
                                          <p:stCondLst>
                                            <p:cond delay="0"/>
                                          </p:stCondLst>
                                        </p:cTn>
                                        <p:tgtEl>
                                          <p:spTgt spid="39"/>
                                        </p:tgtEl>
                                        <p:attrNameLst>
                                          <p:attrName>style.visibility</p:attrName>
                                        </p:attrNameLst>
                                      </p:cBhvr>
                                      <p:to>
                                        <p:strVal val="visible"/>
                                      </p:to>
                                    </p:set>
                                    <p:animScale>
                                      <p:cBhvr>
                                        <p:cTn id="147" dur="500" fill="hold"/>
                                        <p:tgtEl>
                                          <p:spTgt spid="39"/>
                                        </p:tgtEl>
                                      </p:cBhvr>
                                      <p:from x="0" y="0"/>
                                      <p:to x="100000" y="100000"/>
                                    </p:animScale>
                                    <p:animEffect transition="in" filter="fade">
                                      <p:cBhvr>
                                        <p:cTn id="148" dur="500"/>
                                        <p:tgtEl>
                                          <p:spTgt spid="39"/>
                                        </p:tgtEl>
                                      </p:cBhvr>
                                    </p:animEffect>
                                  </p:childTnLst>
                                </p:cTn>
                              </p:par>
                              <p:par>
                                <p:cTn id="149" presetID="23" presetClass="entr" presetSubtype="16" fill="hold" grpId="0" nodeType="withEffect">
                                  <p:stCondLst>
                                    <p:cond delay="0"/>
                                  </p:stCondLst>
                                  <p:childTnLst>
                                    <p:set>
                                      <p:cBhvr>
                                        <p:cTn id="150" dur="1" fill="hold">
                                          <p:stCondLst>
                                            <p:cond delay="0"/>
                                          </p:stCondLst>
                                        </p:cTn>
                                        <p:tgtEl>
                                          <p:spTgt spid="40"/>
                                        </p:tgtEl>
                                        <p:attrNameLst>
                                          <p:attrName>style.visibility</p:attrName>
                                        </p:attrNameLst>
                                      </p:cBhvr>
                                      <p:to>
                                        <p:strVal val="visible"/>
                                      </p:to>
                                    </p:set>
                                    <p:animScale>
                                      <p:cBhvr>
                                        <p:cTn id="151" dur="500" fill="hold"/>
                                        <p:tgtEl>
                                          <p:spTgt spid="40"/>
                                        </p:tgtEl>
                                      </p:cBhvr>
                                      <p:from x="0" y="0"/>
                                      <p:to x="100000" y="100000"/>
                                    </p:animScale>
                                    <p:animEffect transition="in" filter="fade">
                                      <p:cBhvr>
                                        <p:cTn id="152" dur="500"/>
                                        <p:tgtEl>
                                          <p:spTgt spid="40"/>
                                        </p:tgtEl>
                                      </p:cBhvr>
                                    </p:animEffect>
                                  </p:childTnLst>
                                </p:cTn>
                              </p:par>
                              <p:par>
                                <p:cTn id="153" presetID="23" presetClass="entr" presetSubtype="16" fill="hold" grpId="0" nodeType="withEffect">
                                  <p:stCondLst>
                                    <p:cond delay="0"/>
                                  </p:stCondLst>
                                  <p:childTnLst>
                                    <p:set>
                                      <p:cBhvr>
                                        <p:cTn id="154" dur="1" fill="hold">
                                          <p:stCondLst>
                                            <p:cond delay="0"/>
                                          </p:stCondLst>
                                        </p:cTn>
                                        <p:tgtEl>
                                          <p:spTgt spid="41"/>
                                        </p:tgtEl>
                                        <p:attrNameLst>
                                          <p:attrName>style.visibility</p:attrName>
                                        </p:attrNameLst>
                                      </p:cBhvr>
                                      <p:to>
                                        <p:strVal val="visible"/>
                                      </p:to>
                                    </p:set>
                                    <p:animScale>
                                      <p:cBhvr>
                                        <p:cTn id="155" dur="500" fill="hold"/>
                                        <p:tgtEl>
                                          <p:spTgt spid="41"/>
                                        </p:tgtEl>
                                      </p:cBhvr>
                                      <p:from x="0" y="0"/>
                                      <p:to x="100000" y="100000"/>
                                    </p:animScale>
                                    <p:animEffect transition="in" filter="fade">
                                      <p:cBhvr>
                                        <p:cTn id="156" dur="500"/>
                                        <p:tgtEl>
                                          <p:spTgt spid="41"/>
                                        </p:tgtEl>
                                      </p:cBhvr>
                                    </p:animEffect>
                                  </p:childTnLst>
                                </p:cTn>
                              </p:par>
                            </p:childTnLst>
                          </p:cTn>
                        </p:par>
                      </p:childTnLst>
                    </p:cTn>
                  </p:par>
                  <p:par>
                    <p:cTn id="162" fill="hold">
                      <p:stCondLst>
                        <p:cond delay="indefinite"/>
                      </p:stCondLst>
                      <p:childTnLst>
                        <p:par>
                          <p:cTn id="163" fill="hold">
                            <p:stCondLst>
                              <p:cond delay="0"/>
                            </p:stCondLst>
                            <p:childTnLst>
                              <p:par>
                                <p:cTn id="159" presetID="10" presetClass="entr" presetSubtype="0" fill="hold" grpId="0" nodeType="clickEffect">
                                  <p:stCondLst>
                                    <p:cond delay="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7" grpId="0" animBg="1"/>
      <p:bldP spid="39" grpId="0" animBg="1"/>
      <p:bldP spid="4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4A"/>
        </a:solidFill>
      </p:bgPr>
    </p:bg>
    <p:spTree>
      <p:nvGrpSpPr>
        <p:cNvPr id="1" name=""/>
        <p:cNvGrpSpPr/>
        <p:nvPr/>
      </p:nvGrpSpPr>
      <p:grpSpPr>
        <a:xfrm>
          <a:off x="0" y="0"/>
          <a:ext cx="0" cy="0"/>
          <a:chOff x="0" y="0"/>
          <a:chExt cx="0" cy="0"/>
        </a:xfrm>
      </p:grpSpPr>
      <p:pic>
        <p:nvPicPr>
          <p:cNvPr id="2" name="static" descr="/home/user/slide-present-en/presentation/webdeck/art/bg-dark.jpg">    </p:cNvPr>
          <p:cNvPicPr>
            <a:picLocks noChangeAspect="1"/>
          </p:cNvPicPr>
          <p:nvPr/>
        </p:nvPicPr>
        <p:blipFill>
          <a:blip r:embed="rId1"/>
          <a:stretch>
            <a:fillRect/>
          </a:stretch>
        </p:blipFill>
        <p:spPr>
          <a:xfrm>
            <a:off x="0" y="0"/>
            <a:ext cx="9144000" cy="5143500"/>
          </a:xfrm>
          <a:prstGeom prst="rect">
            <a:avLst/>
          </a:prstGeom>
        </p:spPr>
      </p:pic>
      <p:sp>
        <p:nvSpPr>
          <p:cNvPr id="3" name="static"/>
          <p:cNvSpPr txBox="1"/>
          <p:nvPr/>
        </p:nvSpPr>
        <p:spPr>
          <a:xfrm>
            <a:off x="609600" y="533400"/>
            <a:ext cx="7924800" cy="159990"/>
          </a:xfrm>
          <a:prstGeom prst="rect">
            <a:avLst/>
          </a:prstGeom>
          <a:noFill/>
          <a:ln/>
        </p:spPr>
        <p:txBody>
          <a:bodyPr wrap="square" lIns="0" tIns="0" rIns="0" bIns="0" rtlCol="0" anchor="ctr"/>
          <a:lstStyle/>
          <a:p>
            <a:pPr algn="l" indent="0" marL="0">
              <a:lnSpc>
                <a:spcPts val="1260"/>
              </a:lnSpc>
              <a:buNone/>
            </a:pPr>
            <a:r>
              <a:rPr lang="en-US" sz="900" b="1" spc="113" kern="0" dirty="0">
                <a:solidFill>
                  <a:srgbClr val="BFE6E0"/>
                </a:solidFill>
                <a:latin typeface="Prompt" pitchFamily="34" charset="0"/>
                <a:ea typeface="Prompt" pitchFamily="34" charset="-122"/>
                <a:cs typeface="Prompt" pitchFamily="34" charset="-120"/>
              </a:rPr>
              <a:t>ENG 501 · ENGLISH FOR MASTER'S DEGREE</a:t>
            </a:r>
            <a:endParaRPr lang="en-US" sz="900" dirty="0"/>
          </a:p>
        </p:txBody>
      </p:sp>
      <p:sp>
        <p:nvSpPr>
          <p:cNvPr id="4" name="static"/>
          <p:cNvSpPr txBox="1"/>
          <p:nvPr/>
        </p:nvSpPr>
        <p:spPr>
          <a:xfrm>
            <a:off x="609600" y="693390"/>
            <a:ext cx="5829300" cy="1059061"/>
          </a:xfrm>
          <a:prstGeom prst="rect">
            <a:avLst/>
          </a:prstGeom>
          <a:noFill/>
          <a:ln/>
        </p:spPr>
        <p:txBody>
          <a:bodyPr wrap="square" lIns="0" tIns="95250" rIns="0" bIns="0" rtlCol="0" anchor="t"/>
          <a:lstStyle/>
          <a:p>
            <a:pPr algn="l" indent="0" marL="0">
              <a:lnSpc>
                <a:spcPts val="3795"/>
              </a:lnSpc>
              <a:buNone/>
            </a:pPr>
            <a:r>
              <a:rPr lang="en-US" sz="3300" b="1" dirty="0">
                <a:solidFill>
                  <a:srgbClr val="F7F9FB"/>
                </a:solidFill>
                <a:latin typeface="Prompt" pitchFamily="34" charset="0"/>
                <a:ea typeface="Prompt" pitchFamily="34" charset="-122"/>
                <a:cs typeface="Prompt" pitchFamily="34" charset="-120"/>
              </a:rPr>
              <a:t>ปัญญาประดิษฐ์กับประสิทธิภาพการทำงาน</a:t>
            </a:r>
            <a:endParaRPr lang="en-US" sz="3300" dirty="0"/>
          </a:p>
        </p:txBody>
      </p:sp>
      <p:sp>
        <p:nvSpPr>
          <p:cNvPr id="5" name="static"/>
          <p:cNvSpPr txBox="1"/>
          <p:nvPr/>
        </p:nvSpPr>
        <p:spPr>
          <a:xfrm>
            <a:off x="609600" y="1752451"/>
            <a:ext cx="5715000" cy="276225"/>
          </a:xfrm>
          <a:prstGeom prst="rect">
            <a:avLst/>
          </a:prstGeom>
          <a:noFill/>
          <a:ln/>
        </p:spPr>
        <p:txBody>
          <a:bodyPr wrap="square" lIns="0" tIns="0" rIns="0" bIns="0" rtlCol="0" anchor="ctr"/>
          <a:lstStyle/>
          <a:p>
            <a:pPr algn="l" indent="0" marL="0">
              <a:lnSpc>
                <a:spcPts val="1575"/>
              </a:lnSpc>
              <a:buNone/>
            </a:pPr>
            <a:r>
              <a:rPr lang="en-US" sz="1125" dirty="0">
                <a:solidFill>
                  <a:srgbClr val="BFE6E0"/>
                </a:solidFill>
                <a:latin typeface="Prompt" pitchFamily="34" charset="0"/>
                <a:ea typeface="Prompt" pitchFamily="34" charset="-122"/>
                <a:cs typeface="Prompt" pitchFamily="34" charset="-120"/>
              </a:rPr>
              <a:t>หลักฐานจากการทดลองภาคสนามสองชิ้นล่าสุด</a:t>
            </a:r>
            <a:endParaRPr lang="en-US" sz="1125" dirty="0"/>
          </a:p>
        </p:txBody>
      </p:sp>
      <p:pic>
        <p:nvPicPr>
          <p:cNvPr id="6" name="b1:pop (มาสคอตหุ่นยนต์โบกมือ)" descr="/home/user/slide-present-en/presentation/webdeck/art/robot-wave-dark.png">    </p:cNvPr>
          <p:cNvPicPr>
            <a:picLocks noChangeAspect="1"/>
          </p:cNvPicPr>
          <p:nvPr/>
        </p:nvPicPr>
        <p:blipFill>
          <a:blip r:embed="rId2"/>
          <a:stretch>
            <a:fillRect/>
          </a:stretch>
        </p:blipFill>
        <p:spPr>
          <a:xfrm>
            <a:off x="6667500" y="342900"/>
            <a:ext cx="1809750" cy="1571625"/>
          </a:xfrm>
          <a:prstGeom prst="rect">
            <a:avLst/>
          </a:prstGeom>
        </p:spPr>
      </p:pic>
      <p:sp>
        <p:nvSpPr>
          <p:cNvPr id="7" name="b2:fade"/>
          <p:cNvSpPr txBox="1"/>
          <p:nvPr/>
        </p:nvSpPr>
        <p:spPr>
          <a:xfrm>
            <a:off x="609600" y="2238375"/>
            <a:ext cx="7143750" cy="213345"/>
          </a:xfrm>
          <a:prstGeom prst="rect">
            <a:avLst/>
          </a:prstGeom>
          <a:noFill/>
          <a:ln/>
        </p:spPr>
        <p:txBody>
          <a:bodyPr wrap="square" lIns="0" tIns="0" rIns="0" bIns="0" rtlCol="0" anchor="ctr"/>
          <a:lstStyle/>
          <a:p>
            <a:pPr algn="l" indent="0" marL="0">
              <a:lnSpc>
                <a:spcPts val="1680"/>
              </a:lnSpc>
              <a:buNone/>
            </a:pPr>
            <a:r>
              <a:rPr lang="en-US" sz="1200" b="1" dirty="0">
                <a:solidFill>
                  <a:srgbClr val="F7F9FB"/>
                </a:solidFill>
                <a:latin typeface="Prompt" pitchFamily="34" charset="0"/>
                <a:ea typeface="Prompt" pitchFamily="34" charset="-122"/>
                <a:cs typeface="Prompt" pitchFamily="34" charset="-120"/>
              </a:rPr>
              <a:t>AI ส่งผลต่อผลิตภาพ คุณภาพงาน และผลการดำเนินธุรกิจอย่างไร?</a:t>
            </a:r>
            <a:endParaRPr lang="en-US" sz="1200" dirty="0"/>
          </a:p>
        </p:txBody>
      </p:sp>
      <p:sp>
        <p:nvSpPr>
          <p:cNvPr id="8" name="b3:rise"/>
          <p:cNvSpPr/>
          <p:nvPr/>
        </p:nvSpPr>
        <p:spPr>
          <a:xfrm>
            <a:off x="609600" y="2667000"/>
            <a:ext cx="3886200" cy="1420044"/>
          </a:xfrm>
          <a:prstGeom prst="roundRect">
            <a:avLst>
              <a:gd name="adj" fmla="val 6708"/>
            </a:avLst>
          </a:prstGeom>
          <a:solidFill>
            <a:srgbClr val="2A3D63"/>
          </a:solidFill>
          <a:ln/>
        </p:spPr>
      </p:sp>
      <p:sp>
        <p:nvSpPr>
          <p:cNvPr id="9" name="b3:rise"/>
          <p:cNvSpPr txBox="1"/>
          <p:nvPr/>
        </p:nvSpPr>
        <p:spPr>
          <a:xfrm>
            <a:off x="800100" y="2838450"/>
            <a:ext cx="350520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บทความที่ 2</a:t>
            </a:r>
            <a:endParaRPr lang="en-US" sz="900" dirty="0"/>
          </a:p>
        </p:txBody>
      </p:sp>
      <p:sp>
        <p:nvSpPr>
          <p:cNvPr id="10" name="b3:rise"/>
          <p:cNvSpPr txBox="1"/>
          <p:nvPr/>
        </p:nvSpPr>
        <p:spPr>
          <a:xfrm>
            <a:off x="800100" y="3055590"/>
            <a:ext cx="3575304"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75" dirty="0"/>
          </a:p>
        </p:txBody>
      </p:sp>
      <p:sp>
        <p:nvSpPr>
          <p:cNvPr id="11" name="b3:rise"/>
          <p:cNvSpPr txBox="1"/>
          <p:nvPr/>
        </p:nvSpPr>
        <p:spPr>
          <a:xfrm>
            <a:off x="800100" y="3595613"/>
            <a:ext cx="3575304"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Fabrizio Dell'Acqua et al. · Harvard Business School Working Paper 24-013, 2023</a:t>
            </a:r>
            <a:endParaRPr lang="en-US" sz="900" dirty="0"/>
          </a:p>
        </p:txBody>
      </p:sp>
      <p:sp>
        <p:nvSpPr>
          <p:cNvPr id="12" name="b3:rise"/>
          <p:cNvSpPr/>
          <p:nvPr/>
        </p:nvSpPr>
        <p:spPr>
          <a:xfrm>
            <a:off x="4648200" y="2667000"/>
            <a:ext cx="3886200" cy="1420044"/>
          </a:xfrm>
          <a:prstGeom prst="roundRect">
            <a:avLst>
              <a:gd name="adj" fmla="val 6708"/>
            </a:avLst>
          </a:prstGeom>
          <a:solidFill>
            <a:srgbClr val="2A3D63"/>
          </a:solidFill>
          <a:ln/>
        </p:spPr>
      </p:sp>
      <p:sp>
        <p:nvSpPr>
          <p:cNvPr id="13" name="b3:rise"/>
          <p:cNvSpPr txBox="1"/>
          <p:nvPr/>
        </p:nvSpPr>
        <p:spPr>
          <a:xfrm>
            <a:off x="4838700" y="2838450"/>
            <a:ext cx="350520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บทความที่ 5</a:t>
            </a:r>
            <a:endParaRPr lang="en-US" sz="900" dirty="0"/>
          </a:p>
        </p:txBody>
      </p:sp>
      <p:sp>
        <p:nvSpPr>
          <p:cNvPr id="14" name="b3:rise"/>
          <p:cNvSpPr txBox="1"/>
          <p:nvPr/>
        </p:nvSpPr>
        <p:spPr>
          <a:xfrm>
            <a:off x="4838700" y="3055590"/>
            <a:ext cx="3575304"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75" dirty="0"/>
          </a:p>
        </p:txBody>
      </p:sp>
      <p:sp>
        <p:nvSpPr>
          <p:cNvPr id="15" name="b3:rise"/>
          <p:cNvSpPr txBox="1"/>
          <p:nvPr/>
        </p:nvSpPr>
        <p:spPr>
          <a:xfrm>
            <a:off x="4838700" y="3595613"/>
            <a:ext cx="3575304"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Nicholas G. Otis et al. · Management Science, Vol. 72, No. 7, 2026 · DOI 10.1287/mnsc.2024.06909</a:t>
            </a:r>
            <a:endParaRPr lang="en-US" sz="900" dirty="0"/>
          </a:p>
        </p:txBody>
      </p:sp>
      <p:sp>
        <p:nvSpPr>
          <p:cNvPr id="16" name="static"/>
          <p:cNvSpPr txBox="1"/>
          <p:nvPr/>
        </p:nvSpPr>
        <p:spPr>
          <a:xfrm>
            <a:off x="609600" y="4678710"/>
            <a:ext cx="6191250" cy="159990"/>
          </a:xfrm>
          <a:prstGeom prst="rect">
            <a:avLst/>
          </a:prstGeom>
          <a:noFill/>
          <a:ln/>
        </p:spPr>
        <p:txBody>
          <a:bodyPr wrap="square" lIns="0" tIns="0" rIns="0" bIns="0" rtlCol="0" anchor="ctr"/>
          <a:lstStyle/>
          <a:p>
            <a:pPr algn="l" indent="0" marL="0">
              <a:lnSpc>
                <a:spcPts val="1260"/>
              </a:lnSpc>
              <a:buNone/>
            </a:pPr>
            <a:r>
              <a:rPr lang="en-US" sz="900" b="1" dirty="0">
                <a:solidFill>
                  <a:srgbClr val="BFE6E0"/>
                </a:solidFill>
                <a:latin typeface="Prompt" pitchFamily="34" charset="0"/>
                <a:ea typeface="Prompt" pitchFamily="34" charset="-122"/>
                <a:cs typeface="Prompt" pitchFamily="34" charset="-120"/>
              </a:rPr>
              <a:t>Chayanun Sungsa-ard</a:t>
            </a:r>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 · รหัสนักศึกษา 691401708 · MBA · ENG 501 English for Master's Degree</a:t>
            </a:r>
            <a:endParaRPr lang="en-US" sz="900" dirty="0"/>
          </a:p>
        </p:txBody>
      </p:sp>
      <p:sp>
        <p:nvSpPr>
          <p:cNvPr id="17" name="!!key1-th-16 b4:pop"/>
          <p:cNvSpPr/>
          <p:nvPr/>
        </p:nvSpPr>
        <p:spPr>
          <a:xfrm>
            <a:off x="7048500" y="4572000"/>
            <a:ext cx="1485900" cy="255240"/>
          </a:xfrm>
          <a:prstGeom prst="roundRect">
            <a:avLst>
              <a:gd name="adj" fmla="val 50000"/>
            </a:avLst>
          </a:prstGeom>
          <a:solidFill>
            <a:srgbClr val="2E8B86"/>
          </a:solidFill>
          <a:ln/>
        </p:spPr>
      </p:sp>
      <p:sp>
        <p:nvSpPr>
          <p:cNvPr id="18" name="!!key1-th-17 b4: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การทดลองที่ 1: BCG</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Scale>
                                      <p:cBhvr>
                                        <p:cTn id="5" dur="500" fill="hold"/>
                                        <p:tgtEl>
                                          <p:spTgt spid="6"/>
                                        </p:tgtEl>
                                      </p:cBhvr>
                                      <p:from x="0" y="0"/>
                                      <p:to x="100000" y="100000"/>
                                    </p:animScale>
                                    <p:animEffect transition="in" filter="fade">
                                      <p:cBhvr>
                                        <p:cTn id="6"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700"/>
                                        <p:tgtEl>
                                          <p:spTgt spid="8"/>
                                        </p:tgtEl>
                                      </p:cBhvr>
                                    </p:animEffect>
                                    <p:anim calcmode="lin" valueType="num">
                                      <p:cBhvr additive="base">
                                        <p:cTn id="17" dur="700" fill="hold"/>
                                        <p:tgtEl>
                                          <p:spTgt spid="8"/>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00"/>
                                        <p:tgtEl>
                                          <p:spTgt spid="9"/>
                                        </p:tgtEl>
                                      </p:cBhvr>
                                    </p:animEffect>
                                    <p:anim calcmode="lin" valueType="num">
                                      <p:cBhvr additive="base">
                                        <p:cTn id="21" dur="700" fill="hold"/>
                                        <p:tgtEl>
                                          <p:spTgt spid="9"/>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8" presetID="23" presetClass="entr" presetSubtype="16"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Scale>
                                      <p:cBhvr>
                                        <p:cTn id="50" dur="500" fill="hold"/>
                                        <p:tgtEl>
                                          <p:spTgt spid="17"/>
                                        </p:tgtEl>
                                      </p:cBhvr>
                                      <p:from x="0" y="0"/>
                                      <p:to x="100000" y="100000"/>
                                    </p:animScale>
                                    <p:animEffect transition="in" filter="fade">
                                      <p:cBhvr>
                                        <p:cTn id="51" dur="500"/>
                                        <p:tgtEl>
                                          <p:spTgt spid="17"/>
                                        </p:tgtEl>
                                      </p:cBhvr>
                                    </p:animEffect>
                                  </p:childTnLst>
                                </p:cTn>
                              </p:par>
                              <p:par>
                                <p:cTn id="52" presetID="2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Scale>
                                      <p:cBhvr>
                                        <p:cTn id="54" dur="500" fill="hold"/>
                                        <p:tgtEl>
                                          <p:spTgt spid="18"/>
                                        </p:tgtEl>
                                      </p:cBhvr>
                                      <p:from x="0" y="0"/>
                                      <p:to x="100000" y="100000"/>
                                    </p:animScale>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2 · วัตถุประสงค์และวิธีวิจัย</a:t>
            </a:r>
            <a:endParaRPr lang="en-US" sz="900" dirty="0"/>
          </a:p>
        </p:txBody>
      </p:sp>
      <p:sp>
        <p:nvSpPr>
          <p:cNvPr id="3" name="static"/>
          <p:cNvSpPr txBox="1"/>
          <p:nvPr/>
        </p:nvSpPr>
        <p:spPr>
          <a:xfrm>
            <a:off x="609600" y="617190"/>
            <a:ext cx="7924800" cy="422895"/>
          </a:xfrm>
          <a:prstGeom prst="rect">
            <a:avLst/>
          </a:prstGeom>
          <a:noFill/>
          <a:ln/>
        </p:spPr>
        <p:txBody>
          <a:bodyPr wrap="squar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การนำทางในพรมแดนเทคโนโลยีที่ไม่สม่ำเสมอ</a:t>
            </a:r>
            <a:endParaRPr lang="en-US" sz="2400" dirty="0"/>
          </a:p>
        </p:txBody>
      </p:sp>
      <p:sp>
        <p:nvSpPr>
          <p:cNvPr id="4" name="b1:rise"/>
          <p:cNvSpPr/>
          <p:nvPr/>
        </p:nvSpPr>
        <p:spPr>
          <a:xfrm>
            <a:off x="609600" y="1521098"/>
            <a:ext cx="342900" cy="342900"/>
          </a:xfrm>
          <a:prstGeom prst="roundRect">
            <a:avLst>
              <a:gd name="adj" fmla="val 50000"/>
            </a:avLst>
          </a:prstGeom>
          <a:solidFill>
            <a:srgbClr val="E6F3F1"/>
          </a:solidFill>
          <a:ln/>
        </p:spPr>
      </p:sp>
      <p:pic>
        <p:nvPicPr>
          <p:cNvPr id="5" name="b1:rise icon Users" descr="preencoded.png">    </p:cNvPr>
          <p:cNvPicPr>
            <a:picLocks noChangeAspect="1"/>
          </p:cNvPicPr>
          <p:nvPr/>
        </p:nvPicPr>
        <p:blipFill>
          <a:blip r:embed="rId1"/>
          <a:stretch>
            <a:fillRect/>
          </a:stretch>
        </p:blipFill>
        <p:spPr>
          <a:xfrm>
            <a:off x="695325" y="1606823"/>
            <a:ext cx="171450" cy="171450"/>
          </a:xfrm>
          <a:prstGeom prst="rect">
            <a:avLst/>
          </a:prstGeom>
        </p:spPr>
      </p:pic>
      <p:sp>
        <p:nvSpPr>
          <p:cNvPr id="6" name="b1:rise"/>
          <p:cNvSpPr txBox="1"/>
          <p:nvPr/>
        </p:nvSpPr>
        <p:spPr>
          <a:xfrm>
            <a:off x="1066800" y="1428750"/>
            <a:ext cx="3162300" cy="171450"/>
          </a:xfrm>
          <a:prstGeom prst="rect">
            <a:avLst/>
          </a:prstGeom>
          <a:noFill/>
          <a:ln/>
        </p:spPr>
        <p:txBody>
          <a:bodyPr wrap="squar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องค์กรที่ร่วมวิจัยและผู้เข้าร่วม</a:t>
            </a:r>
            <a:endParaRPr lang="en-US" sz="1125" dirty="0"/>
          </a:p>
        </p:txBody>
      </p:sp>
      <p:sp>
        <p:nvSpPr>
          <p:cNvPr id="7" name="b1:rise"/>
          <p:cNvSpPr txBox="1"/>
          <p:nvPr/>
        </p:nvSpPr>
        <p:spPr>
          <a:xfrm>
            <a:off x="1066800" y="1609725"/>
            <a:ext cx="3225546" cy="34662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rompt" pitchFamily="34" charset="0"/>
                <a:ea typeface="Prompt" pitchFamily="34" charset="-122"/>
                <a:cs typeface="Prompt" pitchFamily="34" charset="-120"/>
              </a:rPr>
              <a:t>การทดลองภาคสนามร่วมกับ Boston Consulting Group (BCG) </a:t>
            </a:r>
            <a:pPr algn="l" indent="0" marL="0">
              <a:lnSpc>
                <a:spcPts val="1365"/>
              </a:lnSpc>
              <a:buNone/>
            </a:pPr>
            <a:r>
              <a:rPr lang="en-US" sz="975" b="1" dirty="0">
                <a:solidFill>
                  <a:srgbClr val="2E8B86"/>
                </a:solidFill>
                <a:latin typeface="Prompt" pitchFamily="34" charset="0"/>
                <a:ea typeface="Prompt" pitchFamily="34" charset="-122"/>
                <a:cs typeface="Prompt" pitchFamily="34" charset="-120"/>
              </a:rPr>
              <a:t>ที่ปรึกษา 758 คน</a:t>
            </a:r>
            <a:endParaRPr lang="en-US" sz="975" dirty="0"/>
          </a:p>
        </p:txBody>
      </p:sp>
      <p:sp>
        <p:nvSpPr>
          <p:cNvPr id="8" name="b1:rise"/>
          <p:cNvSpPr/>
          <p:nvPr/>
        </p:nvSpPr>
        <p:spPr>
          <a:xfrm>
            <a:off x="609600" y="2095351"/>
            <a:ext cx="342900" cy="342900"/>
          </a:xfrm>
          <a:prstGeom prst="roundRect">
            <a:avLst>
              <a:gd name="adj" fmla="val 50000"/>
            </a:avLst>
          </a:prstGeom>
          <a:solidFill>
            <a:srgbClr val="E6F3F1"/>
          </a:solidFill>
          <a:ln/>
        </p:spPr>
      </p:sp>
      <p:pic>
        <p:nvPicPr>
          <p:cNvPr id="9" name="b1:rise icon Activity" descr="preencoded.png">    </p:cNvPr>
          <p:cNvPicPr>
            <a:picLocks noChangeAspect="1"/>
          </p:cNvPicPr>
          <p:nvPr/>
        </p:nvPicPr>
        <p:blipFill>
          <a:blip r:embed="rId2"/>
          <a:stretch>
            <a:fillRect/>
          </a:stretch>
        </p:blipFill>
        <p:spPr>
          <a:xfrm>
            <a:off x="695325" y="2181076"/>
            <a:ext cx="171450" cy="171450"/>
          </a:xfrm>
          <a:prstGeom prst="rect">
            <a:avLst/>
          </a:prstGeom>
        </p:spPr>
      </p:pic>
      <p:sp>
        <p:nvSpPr>
          <p:cNvPr id="10" name="b1:rise"/>
          <p:cNvSpPr txBox="1"/>
          <p:nvPr/>
        </p:nvSpPr>
        <p:spPr>
          <a:xfrm>
            <a:off x="1066800" y="2089696"/>
            <a:ext cx="3162300" cy="171450"/>
          </a:xfrm>
          <a:prstGeom prst="rect">
            <a:avLst/>
          </a:prstGeom>
          <a:noFill/>
          <a:ln/>
        </p:spPr>
        <p:txBody>
          <a:bodyPr wrap="squar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ประเด็นที่ศึกษา</a:t>
            </a:r>
            <a:endParaRPr lang="en-US" sz="1125" dirty="0"/>
          </a:p>
        </p:txBody>
      </p:sp>
      <p:sp>
        <p:nvSpPr>
          <p:cNvPr id="11" name="b1:rise"/>
          <p:cNvSpPr txBox="1"/>
          <p:nvPr/>
        </p:nvSpPr>
        <p:spPr>
          <a:xfrm>
            <a:off x="1066800" y="2270671"/>
            <a:ext cx="3162300" cy="173310"/>
          </a:xfrm>
          <a:prstGeom prst="rect">
            <a:avLst/>
          </a:prstGeom>
          <a:noFill/>
          <a:ln/>
        </p:spPr>
        <p:txBody>
          <a:bodyPr wrap="square" lIns="0" tIns="0" rIns="0" bIns="0" rtlCol="0" anchor="ctr"/>
          <a:lstStyle/>
          <a:p>
            <a:pPr algn="l" indent="0" marL="0">
              <a:lnSpc>
                <a:spcPts val="1365"/>
              </a:lnSpc>
              <a:buNone/>
            </a:pPr>
            <a:r>
              <a:rPr lang="en-US" sz="975" dirty="0">
                <a:solidFill>
                  <a:srgbClr val="4A5568"/>
                </a:solidFill>
                <a:latin typeface="Prompt" pitchFamily="34" charset="0"/>
                <a:ea typeface="Prompt" pitchFamily="34" charset="-122"/>
                <a:cs typeface="Prompt" pitchFamily="34" charset="-120"/>
              </a:rPr>
              <a:t>ผลิตภาพ คุณภาพงาน และขอบเขตความสามารถของ AI</a:t>
            </a:r>
            <a:endParaRPr lang="en-US" sz="975" dirty="0"/>
          </a:p>
        </p:txBody>
      </p:sp>
      <p:sp>
        <p:nvSpPr>
          <p:cNvPr id="12" name="b2:rise"/>
          <p:cNvSpPr txBox="1"/>
          <p:nvPr/>
        </p:nvSpPr>
        <p:spPr>
          <a:xfrm>
            <a:off x="609600" y="2667000"/>
            <a:ext cx="3619500" cy="171450"/>
          </a:xfrm>
          <a:prstGeom prst="rect">
            <a:avLst/>
          </a:prstGeom>
          <a:noFill/>
          <a:ln/>
        </p:spPr>
        <p:txBody>
          <a:bodyPr wrap="squar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เงื่อนไขการทดลองสามกลุ่ม</a:t>
            </a:r>
            <a:endParaRPr lang="en-US" sz="1125" dirty="0"/>
          </a:p>
        </p:txBody>
      </p:sp>
      <p:sp>
        <p:nvSpPr>
          <p:cNvPr id="13" name="b2:rise"/>
          <p:cNvSpPr/>
          <p:nvPr/>
        </p:nvSpPr>
        <p:spPr>
          <a:xfrm>
            <a:off x="609600" y="2933700"/>
            <a:ext cx="1143000" cy="988591"/>
          </a:xfrm>
          <a:prstGeom prst="roundRect">
            <a:avLst>
              <a:gd name="adj" fmla="val 8671"/>
            </a:avLst>
          </a:prstGeom>
          <a:solidFill>
            <a:srgbClr val="EEF1F5"/>
          </a:solidFill>
          <a:ln/>
        </p:spPr>
      </p:sp>
      <p:sp>
        <p:nvSpPr>
          <p:cNvPr id="14" name="b2:rise"/>
          <p:cNvSpPr txBox="1"/>
          <p:nvPr/>
        </p:nvSpPr>
        <p:spPr>
          <a:xfrm>
            <a:off x="742950" y="3067050"/>
            <a:ext cx="876300" cy="213345"/>
          </a:xfrm>
          <a:prstGeom prst="rect">
            <a:avLst/>
          </a:prstGeom>
          <a:noFill/>
          <a:ln/>
        </p:spPr>
        <p:txBody>
          <a:bodyPr wrap="square" lIns="0" tIns="0" rIns="0" bIns="0" rtlCol="0" anchor="ctr"/>
          <a:lstStyle/>
          <a:p>
            <a:pPr algn="l" indent="0" marL="0">
              <a:lnSpc>
                <a:spcPts val="1680"/>
              </a:lnSpc>
              <a:buNone/>
            </a:pPr>
            <a:r>
              <a:rPr lang="en-US" sz="1200" b="1" dirty="0">
                <a:solidFill>
                  <a:srgbClr val="2E8B86"/>
                </a:solidFill>
                <a:latin typeface="Prompt" pitchFamily="34" charset="0"/>
                <a:ea typeface="Prompt" pitchFamily="34" charset="-122"/>
                <a:cs typeface="Prompt" pitchFamily="34" charset="-120"/>
              </a:rPr>
              <a:t>1</a:t>
            </a:r>
            <a:endParaRPr lang="en-US" sz="1200" dirty="0"/>
          </a:p>
        </p:txBody>
      </p:sp>
      <p:sp>
        <p:nvSpPr>
          <p:cNvPr id="15" name="b2:rise"/>
          <p:cNvSpPr txBox="1"/>
          <p:nvPr/>
        </p:nvSpPr>
        <p:spPr>
          <a:xfrm>
            <a:off x="742950" y="3308970"/>
            <a:ext cx="876300" cy="159990"/>
          </a:xfrm>
          <a:prstGeom prst="rect">
            <a:avLst/>
          </a:prstGeom>
          <a:noFill/>
          <a:ln/>
        </p:spPr>
        <p:txBody>
          <a:bodyPr wrap="square" lIns="0" tIns="0" rIns="0" bIns="0" rtlCol="0" anchor="ctr"/>
          <a:lstStyle/>
          <a:p>
            <a:pPr algn="l" indent="0" marL="0">
              <a:lnSpc>
                <a:spcPts val="1260"/>
              </a:lnSpc>
              <a:buNone/>
            </a:pPr>
            <a:r>
              <a:rPr lang="en-US" sz="900" dirty="0">
                <a:solidFill>
                  <a:srgbClr val="1B2A4A"/>
                </a:solidFill>
                <a:latin typeface="Prompt" pitchFamily="34" charset="0"/>
                <a:ea typeface="Prompt" pitchFamily="34" charset="-122"/>
                <a:cs typeface="Prompt" pitchFamily="34" charset="-120"/>
              </a:rPr>
              <a:t>ไม่ใช้ AI</a:t>
            </a:r>
            <a:endParaRPr lang="en-US" sz="900" dirty="0"/>
          </a:p>
        </p:txBody>
      </p:sp>
      <p:sp>
        <p:nvSpPr>
          <p:cNvPr id="16" name="b2:rise"/>
          <p:cNvSpPr/>
          <p:nvPr/>
        </p:nvSpPr>
        <p:spPr>
          <a:xfrm>
            <a:off x="1847850" y="2933700"/>
            <a:ext cx="1143000" cy="988591"/>
          </a:xfrm>
          <a:prstGeom prst="roundRect">
            <a:avLst>
              <a:gd name="adj" fmla="val 8671"/>
            </a:avLst>
          </a:prstGeom>
          <a:solidFill>
            <a:srgbClr val="EEF1F5"/>
          </a:solidFill>
          <a:ln/>
        </p:spPr>
      </p:sp>
      <p:sp>
        <p:nvSpPr>
          <p:cNvPr id="17" name="b2:rise"/>
          <p:cNvSpPr txBox="1"/>
          <p:nvPr/>
        </p:nvSpPr>
        <p:spPr>
          <a:xfrm>
            <a:off x="1981200" y="3067050"/>
            <a:ext cx="876300" cy="213345"/>
          </a:xfrm>
          <a:prstGeom prst="rect">
            <a:avLst/>
          </a:prstGeom>
          <a:noFill/>
          <a:ln/>
        </p:spPr>
        <p:txBody>
          <a:bodyPr wrap="square" lIns="0" tIns="0" rIns="0" bIns="0" rtlCol="0" anchor="ctr"/>
          <a:lstStyle/>
          <a:p>
            <a:pPr algn="l" indent="0" marL="0">
              <a:lnSpc>
                <a:spcPts val="1680"/>
              </a:lnSpc>
              <a:buNone/>
            </a:pPr>
            <a:r>
              <a:rPr lang="en-US" sz="1200" b="1" dirty="0">
                <a:solidFill>
                  <a:srgbClr val="2E8B86"/>
                </a:solidFill>
                <a:latin typeface="Prompt" pitchFamily="34" charset="0"/>
                <a:ea typeface="Prompt" pitchFamily="34" charset="-122"/>
                <a:cs typeface="Prompt" pitchFamily="34" charset="-120"/>
              </a:rPr>
              <a:t>2</a:t>
            </a:r>
            <a:endParaRPr lang="en-US" sz="1200" dirty="0"/>
          </a:p>
        </p:txBody>
      </p:sp>
      <p:sp>
        <p:nvSpPr>
          <p:cNvPr id="18" name="b2:rise"/>
          <p:cNvSpPr txBox="1"/>
          <p:nvPr/>
        </p:nvSpPr>
        <p:spPr>
          <a:xfrm>
            <a:off x="1981200" y="3308970"/>
            <a:ext cx="876300" cy="159990"/>
          </a:xfrm>
          <a:prstGeom prst="rect">
            <a:avLst/>
          </a:prstGeom>
          <a:noFill/>
          <a:ln/>
        </p:spPr>
        <p:txBody>
          <a:bodyPr wrap="square" lIns="0" tIns="0" rIns="0" bIns="0" rtlCol="0" anchor="ctr"/>
          <a:lstStyle/>
          <a:p>
            <a:pPr algn="l" indent="0" marL="0">
              <a:lnSpc>
                <a:spcPts val="1260"/>
              </a:lnSpc>
              <a:buNone/>
            </a:pPr>
            <a:r>
              <a:rPr lang="en-US" sz="900" dirty="0">
                <a:solidFill>
                  <a:srgbClr val="1B2A4A"/>
                </a:solidFill>
                <a:latin typeface="Prompt" pitchFamily="34" charset="0"/>
                <a:ea typeface="Prompt" pitchFamily="34" charset="-122"/>
                <a:cs typeface="Prompt" pitchFamily="34" charset="-120"/>
              </a:rPr>
              <a:t>ใช้ GPT-4</a:t>
            </a:r>
            <a:endParaRPr lang="en-US" sz="900" dirty="0"/>
          </a:p>
        </p:txBody>
      </p:sp>
      <p:sp>
        <p:nvSpPr>
          <p:cNvPr id="19" name="b2:rise"/>
          <p:cNvSpPr/>
          <p:nvPr/>
        </p:nvSpPr>
        <p:spPr>
          <a:xfrm>
            <a:off x="3086100" y="2933700"/>
            <a:ext cx="1143000" cy="988591"/>
          </a:xfrm>
          <a:prstGeom prst="roundRect">
            <a:avLst>
              <a:gd name="adj" fmla="val 8671"/>
            </a:avLst>
          </a:prstGeom>
          <a:solidFill>
            <a:srgbClr val="1B2A4A"/>
          </a:solidFill>
          <a:ln/>
        </p:spPr>
      </p:sp>
      <p:sp>
        <p:nvSpPr>
          <p:cNvPr id="20" name="b2:rise"/>
          <p:cNvSpPr txBox="1"/>
          <p:nvPr/>
        </p:nvSpPr>
        <p:spPr>
          <a:xfrm>
            <a:off x="3219450" y="3067050"/>
            <a:ext cx="876300" cy="213345"/>
          </a:xfrm>
          <a:prstGeom prst="rect">
            <a:avLst/>
          </a:prstGeom>
          <a:noFill/>
          <a:ln/>
        </p:spPr>
        <p:txBody>
          <a:bodyPr wrap="square" lIns="0" tIns="0" rIns="0" bIns="0" rtlCol="0" anchor="ctr"/>
          <a:lstStyle/>
          <a:p>
            <a:pPr algn="l" indent="0" marL="0">
              <a:lnSpc>
                <a:spcPts val="1680"/>
              </a:lnSpc>
              <a:buNone/>
            </a:pPr>
            <a:r>
              <a:rPr lang="en-US" sz="1200" b="1" dirty="0">
                <a:solidFill>
                  <a:srgbClr val="BFE6E0"/>
                </a:solidFill>
                <a:latin typeface="Prompt" pitchFamily="34" charset="0"/>
                <a:ea typeface="Prompt" pitchFamily="34" charset="-122"/>
                <a:cs typeface="Prompt" pitchFamily="34" charset="-120"/>
              </a:rPr>
              <a:t>3</a:t>
            </a:r>
            <a:endParaRPr lang="en-US" sz="1200" dirty="0"/>
          </a:p>
        </p:txBody>
      </p:sp>
      <p:sp>
        <p:nvSpPr>
          <p:cNvPr id="21" name="b2:rise"/>
          <p:cNvSpPr txBox="1"/>
          <p:nvPr/>
        </p:nvSpPr>
        <p:spPr>
          <a:xfrm>
            <a:off x="3219450" y="3308970"/>
            <a:ext cx="893826" cy="479971"/>
          </a:xfrm>
          <a:prstGeom prst="rect">
            <a:avLst/>
          </a:prstGeom>
          <a:noFill/>
          <a:ln/>
        </p:spPr>
        <p:txBody>
          <a:bodyPr wrap="square" lIns="0" tIns="0" rIns="0" bIns="0" rtlCol="0" anchor="t"/>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ใช้ GPT-4 + คำแนะนำการเขียน prompt</a:t>
            </a:r>
            <a:endParaRPr lang="en-US" sz="900" dirty="0"/>
          </a:p>
        </p:txBody>
      </p:sp>
      <p:sp>
        <p:nvSpPr>
          <p:cNvPr id="22" name="b3:fade"/>
          <p:cNvSpPr/>
          <p:nvPr/>
        </p:nvSpPr>
        <p:spPr>
          <a:xfrm>
            <a:off x="4724400" y="1428750"/>
            <a:ext cx="809625" cy="236190"/>
          </a:xfrm>
          <a:prstGeom prst="roundRect">
            <a:avLst>
              <a:gd name="adj" fmla="val 50000"/>
            </a:avLst>
          </a:prstGeom>
          <a:solidFill>
            <a:srgbClr val="EEF1F5"/>
          </a:solidFill>
          <a:ln/>
        </p:spPr>
      </p:sp>
      <p:sp>
        <p:nvSpPr>
          <p:cNvPr id="23" name="b3:fade"/>
          <p:cNvSpPr txBox="1"/>
          <p:nvPr/>
        </p:nvSpPr>
        <p:spPr>
          <a:xfrm>
            <a:off x="4724400" y="1428750"/>
            <a:ext cx="809625" cy="236190"/>
          </a:xfrm>
          <a:prstGeom prst="rect">
            <a:avLst/>
          </a:prstGeom>
          <a:noFill/>
          <a:ln/>
        </p:spPr>
        <p:txBody>
          <a:bodyPr wrap="square" lIns="95250" tIns="0" rIns="95250" bIns="0" rtlCol="0" anchor="ctr"/>
          <a:lstStyle/>
          <a:p>
            <a:pPr algn="ctr" indent="0" marL="0">
              <a:lnSpc>
                <a:spcPts val="1260"/>
              </a:lnSpc>
              <a:buNone/>
            </a:pPr>
            <a:r>
              <a:rPr lang="en-US" sz="900" b="1" spc="75" kern="0" dirty="0">
                <a:solidFill>
                  <a:srgbClr val="6B7280"/>
                </a:solidFill>
                <a:latin typeface="Prompt" pitchFamily="34" charset="0"/>
                <a:ea typeface="Prompt" pitchFamily="34" charset="-122"/>
                <a:cs typeface="Prompt" pitchFamily="34" charset="-120"/>
              </a:rPr>
              <a:t>แนวคิด</a:t>
            </a:r>
            <a:endParaRPr lang="en-US" sz="900" dirty="0"/>
          </a:p>
        </p:txBody>
      </p:sp>
      <p:sp>
        <p:nvSpPr>
          <p:cNvPr id="24" name="b3:fade"/>
          <p:cNvSpPr txBox="1"/>
          <p:nvPr/>
        </p:nvSpPr>
        <p:spPr>
          <a:xfrm>
            <a:off x="4724400" y="1741140"/>
            <a:ext cx="2667000" cy="194295"/>
          </a:xfrm>
          <a:prstGeom prst="rect">
            <a:avLst/>
          </a:prstGeom>
          <a:noFill/>
          <a:ln/>
        </p:spPr>
        <p:txBody>
          <a:bodyPr wrap="square" lIns="0" tIns="0" rIns="0" bIns="0" rtlCol="0" anchor="ctr"/>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Jagged Technological Frontier</a:t>
            </a:r>
            <a:endParaRPr lang="en-US" sz="1275" dirty="0"/>
          </a:p>
        </p:txBody>
      </p:sp>
      <p:sp>
        <p:nvSpPr>
          <p:cNvPr id="25" name="b3:fade"/>
          <p:cNvSpPr txBox="1"/>
          <p:nvPr/>
        </p:nvSpPr>
        <p:spPr>
          <a:xfrm>
            <a:off x="4724400" y="2011635"/>
            <a:ext cx="2720340" cy="371475"/>
          </a:xfrm>
          <a:prstGeom prst="rect">
            <a:avLst/>
          </a:prstGeom>
          <a:noFill/>
          <a:ln/>
        </p:spPr>
        <p:txBody>
          <a:bodyPr wrap="square" lIns="0" tIns="0" rIns="0" bIns="0" rtlCol="0" anchor="t"/>
          <a:lstStyle/>
          <a:p>
            <a:pPr algn="l" indent="0" marL="0">
              <a:lnSpc>
                <a:spcPts val="1463"/>
              </a:lnSpc>
              <a:buNone/>
            </a:pPr>
            <a:r>
              <a:rPr lang="en-US" sz="975" dirty="0">
                <a:solidFill>
                  <a:srgbClr val="4A5568"/>
                </a:solidFill>
                <a:latin typeface="Prompt" pitchFamily="34" charset="0"/>
                <a:ea typeface="Prompt" pitchFamily="34" charset="-122"/>
                <a:cs typeface="Prompt" pitchFamily="34" charset="-120"/>
              </a:rPr>
              <a:t>AI ทำงานบางอย่างได้ดี แต่ทำงานอื่นที่ดูยากพอกันได้ไม่ดี เส้นแบ่งนี้</a:t>
            </a:r>
            <a:pPr algn="l" indent="0" marL="0">
              <a:lnSpc>
                <a:spcPts val="1463"/>
              </a:lnSpc>
              <a:buNone/>
            </a:pPr>
            <a:r>
              <a:rPr lang="en-US" sz="975" b="1" dirty="0">
                <a:solidFill>
                  <a:srgbClr val="2E8B86"/>
                </a:solidFill>
                <a:latin typeface="Prompt" pitchFamily="34" charset="0"/>
                <a:ea typeface="Prompt" pitchFamily="34" charset="-122"/>
                <a:cs typeface="Prompt" pitchFamily="34" charset="-120"/>
              </a:rPr>
              <a:t>ไม่สม่ำเสมอและมองเห็นได้ยาก</a:t>
            </a:r>
            <a:endParaRPr lang="en-US" sz="975" dirty="0"/>
          </a:p>
        </p:txBody>
      </p:sp>
      <p:pic>
        <p:nvPicPr>
          <p:cNvPr id="26" name="b3:pop (มาสคอตหุ่นยนต์ถือแว่นขยาย)" descr="/home/user/slide-present-en/presentation/webdeck/art/robot-search.png">    </p:cNvPr>
          <p:cNvPicPr>
            <a:picLocks noChangeAspect="1"/>
          </p:cNvPicPr>
          <p:nvPr/>
        </p:nvPicPr>
        <p:blipFill>
          <a:blip r:embed="rId3"/>
          <a:stretch>
            <a:fillRect/>
          </a:stretch>
        </p:blipFill>
        <p:spPr>
          <a:xfrm>
            <a:off x="7486650" y="1428750"/>
            <a:ext cx="1047750" cy="904875"/>
          </a:xfrm>
          <a:prstGeom prst="rect">
            <a:avLst/>
          </a:prstGeom>
        </p:spPr>
      </p:pic>
      <p:sp>
        <p:nvSpPr>
          <p:cNvPr id="27" name="b4:rise"/>
          <p:cNvSpPr txBox="1"/>
          <p:nvPr/>
        </p:nvSpPr>
        <p:spPr>
          <a:xfrm>
            <a:off x="4724400" y="2743200"/>
            <a:ext cx="3810000" cy="159990"/>
          </a:xfrm>
          <a:prstGeom prst="rect">
            <a:avLst/>
          </a:prstGeom>
          <a:noFill/>
          <a:ln/>
        </p:spPr>
        <p:txBody>
          <a:bodyPr wrap="square" lIns="0" tIns="0" rIns="0" bIns="0" rtlCol="0" anchor="ctr"/>
          <a:lstStyle/>
          <a:p>
            <a:pPr algn="r" indent="0" marL="0">
              <a:lnSpc>
                <a:spcPts val="1260"/>
              </a:lnSpc>
              <a:buNone/>
            </a:pPr>
            <a:r>
              <a:rPr lang="en-US" sz="900" b="1" dirty="0">
                <a:solidFill>
                  <a:srgbClr val="6B7280"/>
                </a:solidFill>
                <a:latin typeface="Prompt" pitchFamily="34" charset="0"/>
                <a:ea typeface="Prompt" pitchFamily="34" charset="-122"/>
                <a:cs typeface="Prompt" pitchFamily="34" charset="-120"/>
              </a:rPr>
              <a:t>ภายนอกพรมแดน: AI ทำได้ไม่ดี</a:t>
            </a:r>
            <a:endParaRPr lang="en-US" sz="900" dirty="0"/>
          </a:p>
        </p:txBody>
      </p:sp>
      <p:sp>
        <p:nvSpPr>
          <p:cNvPr id="28" name="b4:rise"/>
          <p:cNvSpPr/>
          <p:nvPr/>
        </p:nvSpPr>
        <p:spPr>
          <a:xfrm>
            <a:off x="4724400" y="2941290"/>
            <a:ext cx="3810000" cy="933450"/>
          </a:xfrm>
          <a:prstGeom prst="roundRect">
            <a:avLst>
              <a:gd name="adj" fmla="val 9184"/>
            </a:avLst>
          </a:prstGeom>
          <a:ln w="6350">
            <a:solidFill>
              <a:srgbClr val="E3E8EE"/>
            </a:solidFill>
            <a:prstDash val="solid"/>
          </a:ln>
        </p:spPr>
      </p:sp>
      <p:pic>
        <p:nvPicPr>
          <p:cNvPr id="29" name="b4:rise (เส้นหยักแบ่งงานที่ AI ทำได้ดีกับงานที่ทำได้ไม่ดี)" descr="/home/user/slide-present-en/presentation/webdeck/art/frontier.png">    </p:cNvPr>
          <p:cNvPicPr>
            <a:picLocks noChangeAspect="1"/>
          </p:cNvPicPr>
          <p:nvPr/>
        </p:nvPicPr>
        <p:blipFill>
          <a:blip r:embed="rId4"/>
          <a:stretch>
            <a:fillRect/>
          </a:stretch>
        </p:blipFill>
        <p:spPr>
          <a:xfrm>
            <a:off x="4724400" y="2941290"/>
            <a:ext cx="3810000" cy="933450"/>
          </a:xfrm>
          <a:prstGeom prst="rect">
            <a:avLst/>
          </a:prstGeom>
        </p:spPr>
      </p:pic>
      <p:sp>
        <p:nvSpPr>
          <p:cNvPr id="30" name="b4:rise"/>
          <p:cNvSpPr/>
          <p:nvPr/>
        </p:nvSpPr>
        <p:spPr>
          <a:xfrm>
            <a:off x="4724400" y="2941290"/>
            <a:ext cx="3810000" cy="933450"/>
          </a:xfrm>
          <a:prstGeom prst="roundRect">
            <a:avLst>
              <a:gd name="adj" fmla="val 9184"/>
            </a:avLst>
          </a:prstGeom>
          <a:ln w="6350">
            <a:solidFill>
              <a:srgbClr val="E3E8EE"/>
            </a:solidFill>
            <a:prstDash val="solid"/>
          </a:ln>
        </p:spPr>
      </p:sp>
      <p:sp>
        <p:nvSpPr>
          <p:cNvPr id="31" name="b4:rise"/>
          <p:cNvSpPr txBox="1"/>
          <p:nvPr/>
        </p:nvSpPr>
        <p:spPr>
          <a:xfrm>
            <a:off x="4724400" y="3912840"/>
            <a:ext cx="3810000" cy="159990"/>
          </a:xfrm>
          <a:prstGeom prst="rect">
            <a:avLst/>
          </a:prstGeom>
          <a:noFill/>
          <a:ln/>
        </p:spPr>
        <p:txBody>
          <a:bodyPr wrap="square" lIns="0" tIns="0" rIns="0" bIns="0" rtlCol="0" anchor="ctr"/>
          <a:lstStyle/>
          <a:p>
            <a:pPr algn="l" indent="0" marL="0">
              <a:lnSpc>
                <a:spcPts val="1260"/>
              </a:lnSpc>
              <a:buNone/>
            </a:pPr>
            <a:r>
              <a:rPr lang="en-US" sz="900" b="1" dirty="0">
                <a:solidFill>
                  <a:srgbClr val="2E8B86"/>
                </a:solidFill>
                <a:latin typeface="Prompt" pitchFamily="34" charset="0"/>
                <a:ea typeface="Prompt" pitchFamily="34" charset="-122"/>
                <a:cs typeface="Prompt" pitchFamily="34" charset="-120"/>
              </a:rPr>
              <a:t>ภายในพรมแดน: AI ทำได้ดี</a:t>
            </a:r>
            <a:endParaRPr lang="en-US" sz="900" dirty="0"/>
          </a:p>
        </p:txBody>
      </p:sp>
      <p:sp>
        <p:nvSpPr>
          <p:cNvPr id="32" name="b4:rise"/>
          <p:cNvSpPr txBox="1"/>
          <p:nvPr/>
        </p:nvSpPr>
        <p:spPr>
          <a:xfrm>
            <a:off x="4724400" y="4110930"/>
            <a:ext cx="3886200" cy="331440"/>
          </a:xfrm>
          <a:prstGeom prst="rect">
            <a:avLst/>
          </a:prstGeom>
          <a:noFill/>
          <a:ln/>
        </p:spPr>
        <p:txBody>
          <a:bodyPr wrap="square" lIns="0" tIns="0" rIns="0" bIns="0" rtlCol="0" anchor="t"/>
          <a:lstStyle/>
          <a:p>
            <a:pPr algn="l" indent="0" marL="0">
              <a:lnSpc>
                <a:spcPts val="1305"/>
              </a:lnSpc>
              <a:buNone/>
            </a:pPr>
            <a:r>
              <a:rPr lang="en-US" sz="900" dirty="0">
                <a:solidFill>
                  <a:srgbClr val="6B7280"/>
                </a:solidFill>
                <a:latin typeface="Prompt" pitchFamily="34" charset="0"/>
                <a:ea typeface="Prompt" pitchFamily="34" charset="-122"/>
                <a:cs typeface="Prompt" pitchFamily="34" charset="-120"/>
              </a:rPr>
              <a:t>วิธีอ่านแผนภาพ: แต่ละจุดคืองานที่ดูยากพอๆ กัน ใต้เส้น (พื้นที่ระบายสี) คืองานที่ AI ทำได้ดี เหนือเส้นคืองานที่ AI ทำได้ไม่ดี</a:t>
            </a:r>
            <a:endParaRPr lang="en-US" sz="900" dirty="0"/>
          </a:p>
        </p:txBody>
      </p:sp>
      <p:sp>
        <p:nvSpPr>
          <p:cNvPr id="33" name="static"/>
          <p:cNvSpPr txBox="1"/>
          <p:nvPr/>
        </p:nvSpPr>
        <p:spPr>
          <a:xfrm>
            <a:off x="609600" y="4827315"/>
            <a:ext cx="4286250" cy="159990"/>
          </a:xfrm>
          <a:prstGeom prst="rect">
            <a:avLst/>
          </a:prstGeom>
          <a:noFill/>
          <a:ln/>
        </p:spPr>
        <p:txBody>
          <a:bodyPr wrap="squar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Harvard Business School Working Paper 24-013.</a:t>
            </a:r>
            <a:endParaRPr lang="en-US" sz="900" dirty="0"/>
          </a:p>
        </p:txBody>
      </p:sp>
      <p:sp>
        <p:nvSpPr>
          <p:cNvPr id="34" name="b5:fade"/>
          <p:cNvSpPr txBox="1"/>
          <p:nvPr/>
        </p:nvSpPr>
        <p:spPr>
          <a:xfrm>
            <a:off x="4032721" y="4619625"/>
            <a:ext cx="2952750" cy="159990"/>
          </a:xfrm>
          <a:prstGeom prst="rect">
            <a:avLst/>
          </a:prstGeom>
          <a:noFill/>
          <a:ln/>
        </p:spPr>
        <p:txBody>
          <a:bodyPr wrap="squar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เมื่อ </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ที่ปรึกษา 758 คน </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ใช้ GPT-4 จริง เกิดอะไรขึ้น? →</a:t>
            </a:r>
            <a:endParaRPr lang="en-US" sz="900" dirty="0"/>
          </a:p>
        </p:txBody>
      </p:sp>
      <p:sp>
        <p:nvSpPr>
          <p:cNvPr id="35" name="!!key1-th-34 static"/>
          <p:cNvSpPr/>
          <p:nvPr/>
        </p:nvSpPr>
        <p:spPr>
          <a:xfrm>
            <a:off x="7048500" y="342900"/>
            <a:ext cx="1485900" cy="255240"/>
          </a:xfrm>
          <a:prstGeom prst="roundRect">
            <a:avLst>
              <a:gd name="adj" fmla="val 50000"/>
            </a:avLst>
          </a:prstGeom>
          <a:solidFill>
            <a:srgbClr val="2E8B86"/>
          </a:solidFill>
          <a:ln/>
        </p:spPr>
      </p:sp>
      <p:sp>
        <p:nvSpPr>
          <p:cNvPr id="36" name="!!key1-th-35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การทดลองที่ 1: BCG</a:t>
            </a:r>
            <a:endParaRPr lang="en-US" sz="900" dirty="0"/>
          </a:p>
        </p:txBody>
      </p:sp>
      <p:sp>
        <p:nvSpPr>
          <p:cNvPr id="37" name="!!key2-th-36 b6:pop"/>
          <p:cNvSpPr/>
          <p:nvPr/>
        </p:nvSpPr>
        <p:spPr>
          <a:xfrm>
            <a:off x="7048500" y="4572000"/>
            <a:ext cx="1485900" cy="255240"/>
          </a:xfrm>
          <a:prstGeom prst="roundRect">
            <a:avLst>
              <a:gd name="adj" fmla="val 50000"/>
            </a:avLst>
          </a:prstGeom>
          <a:solidFill>
            <a:srgbClr val="2E8B86"/>
          </a:solidFill>
          <a:ln/>
        </p:spPr>
      </p:sp>
      <p:sp>
        <p:nvSpPr>
          <p:cNvPr id="38" name="!!key2-th-37 b6: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พรมแดนที่ไม่สม่ำเสมอ</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5" fill="hold">
                      <p:stCondLst>
                        <p:cond delay="indefinite"/>
                      </p:stCondLst>
                      <p:childTnLst>
                        <p:par>
                          <p:cTn id="3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700"/>
                                        <p:tgtEl>
                                          <p:spTgt spid="12"/>
                                        </p:tgtEl>
                                      </p:cBhvr>
                                    </p:animEffect>
                                    <p:anim calcmode="lin" valueType="num">
                                      <p:cBhvr additive="base">
                                        <p:cTn id="40" dur="700" fill="hold"/>
                                        <p:tgtEl>
                                          <p:spTgt spid="12"/>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700"/>
                                        <p:tgtEl>
                                          <p:spTgt spid="13"/>
                                        </p:tgtEl>
                                      </p:cBhvr>
                                    </p:animEffect>
                                    <p:anim calcmode="lin" valueType="num">
                                      <p:cBhvr additive="base">
                                        <p:cTn id="44" dur="700" fill="hold"/>
                                        <p:tgtEl>
                                          <p:spTgt spid="13"/>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700"/>
                                        <p:tgtEl>
                                          <p:spTgt spid="14"/>
                                        </p:tgtEl>
                                      </p:cBhvr>
                                    </p:animEffect>
                                    <p:anim calcmode="lin" valueType="num">
                                      <p:cBhvr additive="base">
                                        <p:cTn id="48" dur="700" fill="hold"/>
                                        <p:tgtEl>
                                          <p:spTgt spid="14"/>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700"/>
                                        <p:tgtEl>
                                          <p:spTgt spid="19"/>
                                        </p:tgtEl>
                                      </p:cBhvr>
                                    </p:animEffect>
                                    <p:anim calcmode="lin" valueType="num">
                                      <p:cBhvr additive="base">
                                        <p:cTn id="68" dur="700" fill="hold"/>
                                        <p:tgtEl>
                                          <p:spTgt spid="19"/>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700"/>
                                        <p:tgtEl>
                                          <p:spTgt spid="20"/>
                                        </p:tgtEl>
                                      </p:cBhvr>
                                    </p:animEffect>
                                    <p:anim calcmode="lin" valueType="num">
                                      <p:cBhvr additive="base">
                                        <p:cTn id="72" dur="700" fill="hold"/>
                                        <p:tgtEl>
                                          <p:spTgt spid="20"/>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additive="base">
                                        <p:cTn id="7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500"/>
                                        <p:tgtEl>
                                          <p:spTgt spid="26"/>
                                        </p:tgtEl>
                                      </p:cBhvr>
                                    </p:animEffect>
                                  </p:childTnLst>
                                </p:cTn>
                              </p:par>
                            </p:childTnLst>
                          </p:cTn>
                        </p:par>
                      </p:childTnLst>
                    </p:cTn>
                  </p:par>
                  <p:par>
                    <p:cTn id="120" fill="hold">
                      <p:stCondLst>
                        <p:cond delay="indefinite"/>
                      </p:stCondLst>
                      <p:childTnLst>
                        <p:par>
                          <p:cTn id="121"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8"/>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8"/>
                                          </p:val>
                                        </p:tav>
                                        <p:tav tm="100000">
                                          <p:val>
                                            <p:strVal val="#ppt_y"/>
                                          </p:val>
                                        </p:tav>
                                      </p:tavLst>
                                    </p:anim>
                                  </p:childTnLst>
                                </p:cTn>
                              </p:par>
                              <p:par>
                                <p:cTn id="108" presetID="42" presetClass="entr" presetSubtype="0" fill="hold" grpId="0" nodeType="withEffect">
                                  <p:stCondLst>
                                    <p:cond delay="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childTnLst>
                          </p:cTn>
                        </p:par>
                      </p:childTnLst>
                    </p:cTn>
                  </p:par>
                  <p:par>
                    <p:cTn id="135" fill="hold">
                      <p:stCondLst>
                        <p:cond delay="indefinite"/>
                      </p:stCondLst>
                      <p:childTnLst>
                        <p:par>
                          <p:cTn id="136" fill="hold">
                            <p:stCondLst>
                              <p:cond delay="0"/>
                            </p:stCondLst>
                            <p:childTnLst>
                              <p:par>
                                <p:cTn id="127" presetID="23" presetClass="entr" presetSubtype="16" fill="hold" grpId="0" nodeType="clickEffect">
                                  <p:stCondLst>
                                    <p:cond delay="0"/>
                                  </p:stCondLst>
                                  <p:childTnLst>
                                    <p:set>
                                      <p:cBhvr>
                                        <p:cTn id="128" dur="1" fill="hold">
                                          <p:stCondLst>
                                            <p:cond delay="0"/>
                                          </p:stCondLst>
                                        </p:cTn>
                                        <p:tgtEl>
                                          <p:spTgt spid="37"/>
                                        </p:tgtEl>
                                        <p:attrNameLst>
                                          <p:attrName>style.visibility</p:attrName>
                                        </p:attrNameLst>
                                      </p:cBhvr>
                                      <p:to>
                                        <p:strVal val="visible"/>
                                      </p:to>
                                    </p:set>
                                    <p:animScale>
                                      <p:cBhvr>
                                        <p:cTn id="129" dur="500" fill="hold"/>
                                        <p:tgtEl>
                                          <p:spTgt spid="37"/>
                                        </p:tgtEl>
                                      </p:cBhvr>
                                      <p:from x="0" y="0"/>
                                      <p:to x="100000" y="100000"/>
                                    </p:animScale>
                                    <p:animEffect transition="in" filter="fade">
                                      <p:cBhvr>
                                        <p:cTn id="130" dur="500"/>
                                        <p:tgtEl>
                                          <p:spTgt spid="37"/>
                                        </p:tgtEl>
                                      </p:cBhvr>
                                    </p:animEffect>
                                  </p:childTnLst>
                                </p:cTn>
                              </p:par>
                              <p:par>
                                <p:cTn id="131" presetID="23" presetClass="entr" presetSubtype="16" fill="hold" grpId="0" nodeType="withEffect">
                                  <p:stCondLst>
                                    <p:cond delay="0"/>
                                  </p:stCondLst>
                                  <p:childTnLst>
                                    <p:set>
                                      <p:cBhvr>
                                        <p:cTn id="132" dur="1" fill="hold">
                                          <p:stCondLst>
                                            <p:cond delay="0"/>
                                          </p:stCondLst>
                                        </p:cTn>
                                        <p:tgtEl>
                                          <p:spTgt spid="38"/>
                                        </p:tgtEl>
                                        <p:attrNameLst>
                                          <p:attrName>style.visibility</p:attrName>
                                        </p:attrNameLst>
                                      </p:cBhvr>
                                      <p:to>
                                        <p:strVal val="visible"/>
                                      </p:to>
                                    </p:set>
                                    <p:animScale>
                                      <p:cBhvr>
                                        <p:cTn id="133" dur="500" fill="hold"/>
                                        <p:tgtEl>
                                          <p:spTgt spid="38"/>
                                        </p:tgtEl>
                                      </p:cBhvr>
                                      <p:from x="0" y="0"/>
                                      <p:to x="100000" y="100000"/>
                                    </p:animScale>
                                    <p:animEffect transition="in" filter="fade">
                                      <p:cBhvr>
                                        <p:cTn id="134"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30" grpId="0" animBg="1"/>
      <p:bldP spid="31" grpId="0" animBg="1"/>
      <p:bldP spid="32" grpId="0" animBg="1"/>
      <p:bldP spid="34" grpId="0" animBg="1"/>
      <p:bldP spid="37" grpId="0" animBg="1"/>
      <p:bldP spid="3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2 · ผลการศึกษาที่สำคัญ</a:t>
            </a:r>
            <a:endParaRPr lang="en-US" sz="900" dirty="0"/>
          </a:p>
        </p:txBody>
      </p:sp>
      <p:sp>
        <p:nvSpPr>
          <p:cNvPr id="3" name="static"/>
          <p:cNvSpPr txBox="1"/>
          <p:nvPr/>
        </p:nvSpPr>
        <p:spPr>
          <a:xfrm>
            <a:off x="609600" y="617190"/>
            <a:ext cx="7924800" cy="422895"/>
          </a:xfrm>
          <a:prstGeom prst="rect">
            <a:avLst/>
          </a:prstGeom>
          <a:noFill/>
          <a:ln/>
        </p:spPr>
        <p:txBody>
          <a:bodyPr wrap="squar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AI ช่วยเพิ่มประสิทธิภาพ แต่มีข้อจำกัด</a:t>
            </a:r>
            <a:endParaRPr lang="en-US" sz="2400" dirty="0"/>
          </a:p>
        </p:txBody>
      </p:sp>
      <p:sp>
        <p:nvSpPr>
          <p:cNvPr id="4" name="b1:fade"/>
          <p:cNvSpPr/>
          <p:nvPr/>
        </p:nvSpPr>
        <p:spPr>
          <a:xfrm>
            <a:off x="609600" y="1381125"/>
            <a:ext cx="952500" cy="236190"/>
          </a:xfrm>
          <a:prstGeom prst="roundRect">
            <a:avLst>
              <a:gd name="adj" fmla="val 50000"/>
            </a:avLst>
          </a:prstGeom>
          <a:solidFill>
            <a:srgbClr val="BFE6E0"/>
          </a:solidFill>
          <a:ln/>
        </p:spPr>
      </p:sp>
      <p:sp>
        <p:nvSpPr>
          <p:cNvPr id="5" name="b1:fade"/>
          <p:cNvSpPr txBox="1"/>
          <p:nvPr/>
        </p:nvSpPr>
        <p:spPr>
          <a:xfrm>
            <a:off x="609600" y="1381125"/>
            <a:ext cx="952500" cy="236190"/>
          </a:xfrm>
          <a:prstGeom prst="rect">
            <a:avLst/>
          </a:prstGeom>
          <a:noFill/>
          <a:ln/>
        </p:spPr>
        <p:txBody>
          <a:bodyPr wrap="squar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6" name="b1:fade"/>
          <p:cNvSpPr txBox="1"/>
          <p:nvPr/>
        </p:nvSpPr>
        <p:spPr>
          <a:xfrm>
            <a:off x="609600" y="1683990"/>
            <a:ext cx="4191000" cy="159990"/>
          </a:xfrm>
          <a:prstGeom prst="rect">
            <a:avLst/>
          </a:prstGeom>
          <a:noFill/>
          <a:ln/>
        </p:spPr>
        <p:txBody>
          <a:bodyPr wrap="square" lIns="0" tIns="0" rIns="0" bIns="0" rtlCol="0" anchor="ctr"/>
          <a:lstStyle/>
          <a:p>
            <a:pPr algn="l" indent="0" marL="0">
              <a:lnSpc>
                <a:spcPts val="1260"/>
              </a:lnSpc>
              <a:buNone/>
            </a:pPr>
            <a:r>
              <a:rPr lang="en-US" sz="1050" b="1" dirty="0">
                <a:solidFill>
                  <a:srgbClr val="4A5568"/>
                </a:solidFill>
                <a:latin typeface="Prompt" pitchFamily="34" charset="0"/>
                <a:ea typeface="Prompt" pitchFamily="34" charset="-122"/>
                <a:cs typeface="Prompt" pitchFamily="34" charset="-120"/>
              </a:rPr>
              <a:t>การเปลี่ยนแปลงของที่ปรึกษาที่ใช้ AI ใน</a:t>
            </a:r>
            <a:pPr algn="l" indent="0" marL="0">
              <a:lnSpc>
                <a:spcPts val="1260"/>
              </a:lnSpc>
              <a:buNone/>
            </a:pPr>
            <a:r>
              <a:rPr lang="en-US" sz="1050" b="1" dirty="0">
                <a:solidFill>
                  <a:srgbClr val="2E8B86"/>
                </a:solidFill>
                <a:latin typeface="Prompt" pitchFamily="34" charset="0"/>
                <a:ea typeface="Prompt" pitchFamily="34" charset="-122"/>
                <a:cs typeface="Prompt" pitchFamily="34" charset="-120"/>
              </a:rPr>
              <a:t>งานภายในพรมแดน</a:t>
            </a:r>
            <a:endParaRPr lang="en-US" sz="1050" dirty="0"/>
          </a:p>
        </p:txBody>
      </p:sp>
      <p:sp>
        <p:nvSpPr>
          <p:cNvPr id="7" name="b2:left"/>
          <p:cNvSpPr txBox="1"/>
          <p:nvPr/>
        </p:nvSpPr>
        <p:spPr>
          <a:xfrm>
            <a:off x="609600" y="1920255"/>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งานที่ทำเสร็จ</a:t>
            </a:r>
            <a:endParaRPr lang="en-US" sz="900" dirty="0"/>
          </a:p>
        </p:txBody>
      </p:sp>
      <p:sp>
        <p:nvSpPr>
          <p:cNvPr id="8" name="b2:left"/>
          <p:cNvSpPr/>
          <p:nvPr/>
        </p:nvSpPr>
        <p:spPr>
          <a:xfrm>
            <a:off x="1685925" y="1905000"/>
            <a:ext cx="695325" cy="190500"/>
          </a:xfrm>
          <a:prstGeom prst="roundRect">
            <a:avLst>
              <a:gd name="adj" fmla="val 15000"/>
            </a:avLst>
          </a:prstGeom>
          <a:solidFill>
            <a:srgbClr val="2E8B86"/>
          </a:solidFill>
          <a:ln/>
        </p:spPr>
      </p:sp>
      <p:sp>
        <p:nvSpPr>
          <p:cNvPr id="9" name="b2:left"/>
          <p:cNvSpPr txBox="1"/>
          <p:nvPr/>
        </p:nvSpPr>
        <p:spPr>
          <a:xfrm>
            <a:off x="2457450" y="1920255"/>
            <a:ext cx="346025"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+12.2%</a:t>
            </a:r>
            <a:endParaRPr lang="en-US" sz="900" dirty="0"/>
          </a:p>
        </p:txBody>
      </p:sp>
      <p:sp>
        <p:nvSpPr>
          <p:cNvPr id="10" name="b3:left"/>
          <p:cNvSpPr txBox="1"/>
          <p:nvPr/>
        </p:nvSpPr>
        <p:spPr>
          <a:xfrm>
            <a:off x="609600" y="2196480"/>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ความเร็ว</a:t>
            </a:r>
            <a:endParaRPr lang="en-US" sz="900" dirty="0"/>
          </a:p>
        </p:txBody>
      </p:sp>
      <p:sp>
        <p:nvSpPr>
          <p:cNvPr id="11" name="b3:left"/>
          <p:cNvSpPr/>
          <p:nvPr/>
        </p:nvSpPr>
        <p:spPr>
          <a:xfrm>
            <a:off x="1685925" y="2181225"/>
            <a:ext cx="1433513" cy="190500"/>
          </a:xfrm>
          <a:prstGeom prst="roundRect">
            <a:avLst>
              <a:gd name="adj" fmla="val 15000"/>
            </a:avLst>
          </a:prstGeom>
          <a:solidFill>
            <a:srgbClr val="2E8B86"/>
          </a:solidFill>
          <a:ln/>
        </p:spPr>
      </p:sp>
      <p:sp>
        <p:nvSpPr>
          <p:cNvPr id="12" name="b3:left"/>
          <p:cNvSpPr txBox="1"/>
          <p:nvPr/>
        </p:nvSpPr>
        <p:spPr>
          <a:xfrm>
            <a:off x="3195638" y="2196480"/>
            <a:ext cx="345356"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+25.1%</a:t>
            </a:r>
            <a:endParaRPr lang="en-US" sz="900" dirty="0"/>
          </a:p>
        </p:txBody>
      </p:sp>
      <p:sp>
        <p:nvSpPr>
          <p:cNvPr id="13" name="b4:left"/>
          <p:cNvSpPr txBox="1"/>
          <p:nvPr/>
        </p:nvSpPr>
        <p:spPr>
          <a:xfrm>
            <a:off x="609600" y="2472705"/>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คุณภาพ</a:t>
            </a:r>
            <a:endParaRPr lang="en-US" sz="900" dirty="0"/>
          </a:p>
        </p:txBody>
      </p:sp>
      <p:sp>
        <p:nvSpPr>
          <p:cNvPr id="14" name="b4:left"/>
          <p:cNvSpPr/>
          <p:nvPr/>
        </p:nvSpPr>
        <p:spPr>
          <a:xfrm>
            <a:off x="1685925" y="2457450"/>
            <a:ext cx="2286000" cy="190500"/>
          </a:xfrm>
          <a:prstGeom prst="roundRect">
            <a:avLst>
              <a:gd name="adj" fmla="val 15000"/>
            </a:avLst>
          </a:prstGeom>
          <a:solidFill>
            <a:srgbClr val="2E8B86"/>
          </a:solidFill>
          <a:ln/>
        </p:spPr>
      </p:sp>
      <p:sp>
        <p:nvSpPr>
          <p:cNvPr id="15" name="b4:left"/>
          <p:cNvSpPr txBox="1"/>
          <p:nvPr/>
        </p:nvSpPr>
        <p:spPr>
          <a:xfrm>
            <a:off x="4048125" y="2472705"/>
            <a:ext cx="718989"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มากกว่า +40%</a:t>
            </a:r>
            <a:endParaRPr lang="en-US" sz="900" dirty="0"/>
          </a:p>
        </p:txBody>
      </p:sp>
      <p:sp>
        <p:nvSpPr>
          <p:cNvPr id="16" name="b5:left"/>
          <p:cNvSpPr txBox="1"/>
          <p:nvPr/>
        </p:nvSpPr>
        <p:spPr>
          <a:xfrm>
            <a:off x="609600" y="2748930"/>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กลุ่มต่ำกว่าค่าเฉลี่ย</a:t>
            </a:r>
            <a:endParaRPr lang="en-US" sz="900" dirty="0"/>
          </a:p>
        </p:txBody>
      </p:sp>
      <p:sp>
        <p:nvSpPr>
          <p:cNvPr id="17" name="b5:left"/>
          <p:cNvSpPr/>
          <p:nvPr/>
        </p:nvSpPr>
        <p:spPr>
          <a:xfrm>
            <a:off x="1685925" y="2733675"/>
            <a:ext cx="2457450" cy="190500"/>
          </a:xfrm>
          <a:prstGeom prst="roundRect">
            <a:avLst>
              <a:gd name="adj" fmla="val 15000"/>
            </a:avLst>
          </a:prstGeom>
          <a:solidFill>
            <a:srgbClr val="1B2A4A"/>
          </a:solidFill>
          <a:ln/>
        </p:spPr>
      </p:sp>
      <p:sp>
        <p:nvSpPr>
          <p:cNvPr id="18" name="b5:left"/>
          <p:cNvSpPr txBox="1"/>
          <p:nvPr/>
        </p:nvSpPr>
        <p:spPr>
          <a:xfrm>
            <a:off x="4219575" y="2748930"/>
            <a:ext cx="284634"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+43%</a:t>
            </a:r>
            <a:endParaRPr lang="en-US" sz="900" dirty="0"/>
          </a:p>
        </p:txBody>
      </p:sp>
      <p:sp>
        <p:nvSpPr>
          <p:cNvPr id="19" name="b6:left"/>
          <p:cNvSpPr txBox="1"/>
          <p:nvPr/>
        </p:nvSpPr>
        <p:spPr>
          <a:xfrm>
            <a:off x="609600" y="3025155"/>
            <a:ext cx="1000125" cy="159990"/>
          </a:xfrm>
          <a:prstGeom prst="rect">
            <a:avLst/>
          </a:prstGeom>
          <a:noFill/>
          <a:ln/>
        </p:spPr>
        <p:txBody>
          <a:bodyPr wrap="squar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กลุ่มสูงกว่าค่าเฉลี่ย</a:t>
            </a:r>
            <a:endParaRPr lang="en-US" sz="900" dirty="0"/>
          </a:p>
        </p:txBody>
      </p:sp>
      <p:sp>
        <p:nvSpPr>
          <p:cNvPr id="20" name="b6:left"/>
          <p:cNvSpPr/>
          <p:nvPr/>
        </p:nvSpPr>
        <p:spPr>
          <a:xfrm>
            <a:off x="1685925" y="3009900"/>
            <a:ext cx="971550" cy="190500"/>
          </a:xfrm>
          <a:prstGeom prst="roundRect">
            <a:avLst>
              <a:gd name="adj" fmla="val 15000"/>
            </a:avLst>
          </a:prstGeom>
          <a:solidFill>
            <a:srgbClr val="1B2A4A"/>
          </a:solidFill>
          <a:ln/>
        </p:spPr>
      </p:sp>
      <p:sp>
        <p:nvSpPr>
          <p:cNvPr id="21" name="b6:left"/>
          <p:cNvSpPr txBox="1"/>
          <p:nvPr/>
        </p:nvSpPr>
        <p:spPr>
          <a:xfrm>
            <a:off x="2733675" y="3025155"/>
            <a:ext cx="253901"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+17%</a:t>
            </a:r>
            <a:endParaRPr lang="en-US" sz="900" dirty="0"/>
          </a:p>
        </p:txBody>
      </p:sp>
      <p:sp>
        <p:nvSpPr>
          <p:cNvPr id="22" name="b6:fade"/>
          <p:cNvSpPr txBox="1"/>
          <p:nvPr/>
        </p:nvSpPr>
        <p:spPr>
          <a:xfrm>
            <a:off x="609600" y="3333750"/>
            <a:ext cx="4177665" cy="331440"/>
          </a:xfrm>
          <a:prstGeom prst="rect">
            <a:avLst/>
          </a:prstGeom>
          <a:noFill/>
          <a:ln/>
        </p:spPr>
        <p:txBody>
          <a:bodyPr wrap="square" lIns="0" tIns="0" rIns="0" bIns="0" rtlCol="0" anchor="t"/>
          <a:lstStyle/>
          <a:p>
            <a:pPr algn="l" indent="0" marL="0">
              <a:lnSpc>
                <a:spcPts val="1305"/>
              </a:lnSpc>
              <a:buNone/>
            </a:pPr>
            <a:r>
              <a:rPr lang="en-US" sz="900" dirty="0">
                <a:solidFill>
                  <a:srgbClr val="9AA5B4"/>
                </a:solidFill>
                <a:latin typeface="Prompt" pitchFamily="34" charset="0"/>
                <a:ea typeface="Prompt" pitchFamily="34" charset="-122"/>
                <a:cs typeface="Prompt" pitchFamily="34" charset="-120"/>
              </a:rPr>
              <a:t>คุณภาพรายงานว่า "มากกว่า 40%" เทียบกลุ่มควบคุม ส่วนกลุ่มต่ำ/สูงกว่าค่าเฉลี่ยคือการพัฒนาเทียบคะแนนเดิมของกลุ่มนั้นเอง</a:t>
            </a:r>
            <a:endParaRPr lang="en-US" sz="900" dirty="0"/>
          </a:p>
        </p:txBody>
      </p:sp>
      <p:sp>
        <p:nvSpPr>
          <p:cNvPr id="23" name="b7:pop"/>
          <p:cNvSpPr/>
          <p:nvPr/>
        </p:nvSpPr>
        <p:spPr>
          <a:xfrm>
            <a:off x="5200650" y="1381125"/>
            <a:ext cx="3333750" cy="1723951"/>
          </a:xfrm>
          <a:prstGeom prst="roundRect">
            <a:avLst>
              <a:gd name="adj" fmla="val 6630"/>
            </a:avLst>
          </a:prstGeom>
          <a:solidFill>
            <a:srgbClr val="1B2A4A"/>
          </a:solidFill>
          <a:ln/>
        </p:spPr>
      </p:sp>
      <p:sp>
        <p:nvSpPr>
          <p:cNvPr id="24" name="b7:pop"/>
          <p:cNvSpPr txBox="1"/>
          <p:nvPr/>
        </p:nvSpPr>
        <p:spPr>
          <a:xfrm>
            <a:off x="5410200" y="1571625"/>
            <a:ext cx="291465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งานภายนอกพรมแดน</a:t>
            </a:r>
            <a:endParaRPr lang="en-US" sz="900" dirty="0"/>
          </a:p>
        </p:txBody>
      </p:sp>
      <p:sp>
        <p:nvSpPr>
          <p:cNvPr id="25" name="b7:pop"/>
          <p:cNvSpPr txBox="1"/>
          <p:nvPr/>
        </p:nvSpPr>
        <p:spPr>
          <a:xfrm>
            <a:off x="5410200" y="1760190"/>
            <a:ext cx="2914650" cy="523875"/>
          </a:xfrm>
          <a:prstGeom prst="rect">
            <a:avLst/>
          </a:prstGeom>
          <a:noFill/>
          <a:ln/>
        </p:spPr>
        <p:txBody>
          <a:bodyPr wrap="square" lIns="0" tIns="0" rIns="0" bIns="0" rtlCol="0" anchor="ctr"/>
          <a:lstStyle/>
          <a:p>
            <a:pPr algn="l" indent="0" marL="0">
              <a:lnSpc>
                <a:spcPts val="4125"/>
              </a:lnSpc>
              <a:buNone/>
            </a:pPr>
            <a:r>
              <a:rPr lang="en-US" sz="4125" b="1" dirty="0">
                <a:solidFill>
                  <a:srgbClr val="F7F9FB"/>
                </a:solidFill>
                <a:latin typeface="Poppins" pitchFamily="34" charset="0"/>
                <a:ea typeface="Poppins" pitchFamily="34" charset="-122"/>
                <a:cs typeface="Poppins" pitchFamily="34" charset="-120"/>
              </a:rPr>
              <a:t>−19</a:t>
            </a:r>
            <a:endParaRPr lang="en-US" sz="4125" dirty="0"/>
          </a:p>
        </p:txBody>
      </p:sp>
      <p:sp>
        <p:nvSpPr>
          <p:cNvPr id="26" name="b7:pop"/>
          <p:cNvSpPr txBox="1"/>
          <p:nvPr/>
        </p:nvSpPr>
        <p:spPr>
          <a:xfrm>
            <a:off x="5410200" y="2312640"/>
            <a:ext cx="2914650" cy="173310"/>
          </a:xfrm>
          <a:prstGeom prst="rect">
            <a:avLst/>
          </a:prstGeom>
          <a:noFill/>
          <a:ln/>
        </p:spPr>
        <p:txBody>
          <a:bodyPr wrap="square" lIns="0" tIns="0" rIns="0" bIns="0" rtlCol="0" anchor="ctr"/>
          <a:lstStyle/>
          <a:p>
            <a:pPr algn="l" indent="0" marL="0">
              <a:lnSpc>
                <a:spcPts val="1365"/>
              </a:lnSpc>
              <a:buNone/>
            </a:pPr>
            <a:r>
              <a:rPr lang="en-US" sz="975" dirty="0">
                <a:solidFill>
                  <a:srgbClr val="BFE6E0"/>
                </a:solidFill>
                <a:latin typeface="Prompt" pitchFamily="34" charset="0"/>
                <a:ea typeface="Prompt" pitchFamily="34" charset="-122"/>
                <a:cs typeface="Prompt" pitchFamily="34" charset="-120"/>
              </a:rPr>
              <a:t>จุดร้อยละ (percentage points)</a:t>
            </a:r>
            <a:endParaRPr lang="en-US" sz="975" dirty="0"/>
          </a:p>
        </p:txBody>
      </p:sp>
      <p:sp>
        <p:nvSpPr>
          <p:cNvPr id="27" name="b7:pop"/>
          <p:cNvSpPr txBox="1"/>
          <p:nvPr/>
        </p:nvSpPr>
        <p:spPr>
          <a:xfrm>
            <a:off x="5410200" y="2514526"/>
            <a:ext cx="2914650" cy="400050"/>
          </a:xfrm>
          <a:prstGeom prst="rect">
            <a:avLst/>
          </a:prstGeom>
          <a:noFill/>
          <a:ln/>
        </p:spPr>
        <p:txBody>
          <a:bodyPr wrap="square" lIns="0" tIns="57150" rIns="0" bIns="0" rtlCol="0" anchor="t"/>
          <a:lstStyle/>
          <a:p>
            <a:pPr algn="l" indent="0" marL="0">
              <a:lnSpc>
                <a:spcPts val="1350"/>
              </a:lnSpc>
              <a:buNone/>
            </a:pPr>
            <a:r>
              <a:rPr lang="en-US" sz="900" dirty="0">
                <a:solidFill>
                  <a:srgbClr val="F7F9FB"/>
                </a:solidFill>
                <a:latin typeface="Prompt" pitchFamily="34" charset="0"/>
                <a:ea typeface="Prompt" pitchFamily="34" charset="-122"/>
                <a:cs typeface="Prompt" pitchFamily="34" charset="-120"/>
              </a:rPr>
              <a:t>ผู้ใช้ AI มีโอกาสได้คำตอบที่ถูกต้องน้อยกว่าผู้ไม่ใช้ AI อยู่ </a:t>
            </a:r>
            <a:pPr algn="l" indent="0" marL="0">
              <a:lnSpc>
                <a:spcPts val="1350"/>
              </a:lnSpc>
              <a:buNone/>
            </a:pPr>
            <a:r>
              <a:rPr lang="en-US" sz="900" b="1" dirty="0">
                <a:solidFill>
                  <a:srgbClr val="BFE6E0"/>
                </a:solidFill>
                <a:latin typeface="Prompt" pitchFamily="34" charset="0"/>
                <a:ea typeface="Prompt" pitchFamily="34" charset="-122"/>
                <a:cs typeface="Prompt" pitchFamily="34" charset="-120"/>
              </a:rPr>
              <a:t>19 จุดร้อยละ</a:t>
            </a:r>
            <a:endParaRPr lang="en-US" sz="900" dirty="0"/>
          </a:p>
        </p:txBody>
      </p:sp>
      <p:pic>
        <p:nvPicPr>
          <p:cNvPr id="28" name="b7:pop (มาสคอตหุ่นยนต์ทำหน้างง)" descr="/home/user/slide-present-en/presentation/webdeck/art/robot-confused-dark.png">    </p:cNvPr>
          <p:cNvPicPr>
            <a:picLocks noChangeAspect="1"/>
          </p:cNvPicPr>
          <p:nvPr/>
        </p:nvPicPr>
        <p:blipFill>
          <a:blip r:embed="rId1"/>
          <a:stretch>
            <a:fillRect/>
          </a:stretch>
        </p:blipFill>
        <p:spPr>
          <a:xfrm>
            <a:off x="7448550" y="1495425"/>
            <a:ext cx="952500" cy="819150"/>
          </a:xfrm>
          <a:prstGeom prst="rect">
            <a:avLst/>
          </a:prstGeom>
        </p:spPr>
      </p:pic>
      <p:sp>
        <p:nvSpPr>
          <p:cNvPr id="29" name="b8:fade"/>
          <p:cNvSpPr txBox="1"/>
          <p:nvPr/>
        </p:nvSpPr>
        <p:spPr>
          <a:xfrm>
            <a:off x="5200650" y="3333750"/>
            <a:ext cx="3400425" cy="331440"/>
          </a:xfrm>
          <a:prstGeom prst="rect">
            <a:avLst/>
          </a:prstGeom>
          <a:noFill/>
          <a:ln/>
        </p:spPr>
        <p:txBody>
          <a:bodyPr wrap="square" lIns="0" tIns="0" rIns="0" bIns="0" rtlCol="0" anchor="t"/>
          <a:lstStyle/>
          <a:p>
            <a:pPr algn="l" indent="0" marL="0">
              <a:lnSpc>
                <a:spcPts val="1305"/>
              </a:lnSpc>
              <a:buNone/>
            </a:pPr>
            <a:r>
              <a:rPr lang="en-US" sz="900" dirty="0">
                <a:solidFill>
                  <a:srgbClr val="6B7280"/>
                </a:solidFill>
                <a:latin typeface="Prompt" pitchFamily="34" charset="0"/>
                <a:ea typeface="Prompt" pitchFamily="34" charset="-122"/>
                <a:cs typeface="Prompt" pitchFamily="34" charset="-120"/>
              </a:rPr>
              <a:t>คือส่วนต่างของอัตราความถูกต้องสองกลุ่ม ไม่ใช่ร้อยละการเปลี่ยนแปลง</a:t>
            </a:r>
            <a:endParaRPr lang="en-US" sz="900" dirty="0"/>
          </a:p>
        </p:txBody>
      </p:sp>
      <p:sp>
        <p:nvSpPr>
          <p:cNvPr id="30" name="b9:rise"/>
          <p:cNvSpPr/>
          <p:nvPr/>
        </p:nvSpPr>
        <p:spPr>
          <a:xfrm>
            <a:off x="5200650" y="3657600"/>
            <a:ext cx="4763" cy="0"/>
          </a:xfrm>
          <a:prstGeom prst="line">
            <a:avLst/>
          </a:prstGeom>
          <a:noFill/>
          <a:ln w="6350">
            <a:solidFill>
              <a:srgbClr val="E3E8EE"/>
            </a:solidFill>
            <a:prstDash val="solid"/>
          </a:ln>
        </p:spPr>
      </p:sp>
      <p:sp>
        <p:nvSpPr>
          <p:cNvPr id="31" name="b9:rise"/>
          <p:cNvSpPr txBox="1"/>
          <p:nvPr/>
        </p:nvSpPr>
        <p:spPr>
          <a:xfrm>
            <a:off x="5200650" y="3657600"/>
            <a:ext cx="3333750" cy="212378"/>
          </a:xfrm>
          <a:prstGeom prst="rect">
            <a:avLst/>
          </a:prstGeom>
          <a:noFill/>
          <a:ln/>
        </p:spPr>
        <p:txBody>
          <a:bodyPr wrap="squar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รูปแบบการใช้ AI ที่ประสบความสำเร็จสองแบบ</a:t>
            </a:r>
            <a:endParaRPr lang="en-US" sz="1050" dirty="0"/>
          </a:p>
        </p:txBody>
      </p:sp>
      <p:pic>
        <p:nvPicPr>
          <p:cNvPr id="32" name="b9:rise (คนกับหุ่นยนต์อยู่เคียงกัน)" descr="/home/user/slide-present-en/presentation/webdeck/art/centaur.png">    </p:cNvPr>
          <p:cNvPicPr>
            <a:picLocks noChangeAspect="1"/>
          </p:cNvPicPr>
          <p:nvPr/>
        </p:nvPicPr>
        <p:blipFill>
          <a:blip r:embed="rId2"/>
          <a:stretch>
            <a:fillRect/>
          </a:stretch>
        </p:blipFill>
        <p:spPr>
          <a:xfrm>
            <a:off x="5200650" y="3917603"/>
            <a:ext cx="342900" cy="228600"/>
          </a:xfrm>
          <a:prstGeom prst="rect">
            <a:avLst/>
          </a:prstGeom>
        </p:spPr>
      </p:pic>
      <p:sp>
        <p:nvSpPr>
          <p:cNvPr id="33" name="b9:rise"/>
          <p:cNvSpPr txBox="1"/>
          <p:nvPr/>
        </p:nvSpPr>
        <p:spPr>
          <a:xfrm>
            <a:off x="5619750" y="3945210"/>
            <a:ext cx="2434977" cy="173310"/>
          </a:xfrm>
          <a:prstGeom prst="rect">
            <a:avLst/>
          </a:prstGeom>
          <a:noFill/>
          <a:ln/>
        </p:spPr>
        <p:txBody>
          <a:bodyPr wrap="squar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Centaurs (เซนทอร์)</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แบ่งงานระหว่างคนกับ AI</a:t>
            </a:r>
            <a:endParaRPr lang="en-US" sz="975" dirty="0"/>
          </a:p>
        </p:txBody>
      </p:sp>
      <p:pic>
        <p:nvPicPr>
          <p:cNvPr id="34" name="b9:rise (ใบหน้าครึ่งคนครึ่งหุ่นยนต์)" descr="/home/user/slide-present-en/presentation/webdeck/art/cyborg.png">    </p:cNvPr>
          <p:cNvPicPr>
            <a:picLocks noChangeAspect="1"/>
          </p:cNvPicPr>
          <p:nvPr/>
        </p:nvPicPr>
        <p:blipFill>
          <a:blip r:embed="rId3"/>
          <a:stretch>
            <a:fillRect/>
          </a:stretch>
        </p:blipFill>
        <p:spPr>
          <a:xfrm>
            <a:off x="5200650" y="4193828"/>
            <a:ext cx="342900" cy="228600"/>
          </a:xfrm>
          <a:prstGeom prst="rect">
            <a:avLst/>
          </a:prstGeom>
        </p:spPr>
      </p:pic>
      <p:sp>
        <p:nvSpPr>
          <p:cNvPr id="35" name="b9:rise"/>
          <p:cNvSpPr txBox="1"/>
          <p:nvPr/>
        </p:nvSpPr>
        <p:spPr>
          <a:xfrm>
            <a:off x="5619750" y="4221435"/>
            <a:ext cx="2554932" cy="173310"/>
          </a:xfrm>
          <a:prstGeom prst="rect">
            <a:avLst/>
          </a:prstGeom>
          <a:noFill/>
          <a:ln/>
        </p:spPr>
        <p:txBody>
          <a:bodyPr wrap="squar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Cyborgs (ไซบอร์ก)</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ผสาน AI เข้าไปในทุกขั้นตอน</a:t>
            </a:r>
            <a:endParaRPr lang="en-US" sz="975" dirty="0"/>
          </a:p>
        </p:txBody>
      </p:sp>
      <p:sp>
        <p:nvSpPr>
          <p:cNvPr id="36" name="static"/>
          <p:cNvSpPr txBox="1"/>
          <p:nvPr/>
        </p:nvSpPr>
        <p:spPr>
          <a:xfrm>
            <a:off x="609600" y="4827315"/>
            <a:ext cx="4286250" cy="159990"/>
          </a:xfrm>
          <a:prstGeom prst="rect">
            <a:avLst/>
          </a:prstGeom>
          <a:noFill/>
          <a:ln/>
        </p:spPr>
        <p:txBody>
          <a:bodyPr wrap="squar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Harvard Business School Working Paper 24-013.</a:t>
            </a:r>
            <a:endParaRPr lang="en-US" sz="900" dirty="0"/>
          </a:p>
        </p:txBody>
      </p:sp>
      <p:sp>
        <p:nvSpPr>
          <p:cNvPr id="37" name="b10:fade"/>
          <p:cNvSpPr txBox="1"/>
          <p:nvPr/>
        </p:nvSpPr>
        <p:spPr>
          <a:xfrm>
            <a:off x="4032721" y="4619625"/>
            <a:ext cx="2952750" cy="159990"/>
          </a:xfrm>
          <a:prstGeom prst="rect">
            <a:avLst/>
          </a:prstGeom>
          <a:noFill/>
          <a:ln/>
        </p:spPr>
        <p:txBody>
          <a:bodyPr wrap="squar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ผลแบบนี้จะเป็นจริงกับ</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ธุรกิจขนาดเล็กจริง</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หรือไม่? →</a:t>
            </a:r>
            <a:endParaRPr lang="en-US" sz="900" dirty="0"/>
          </a:p>
        </p:txBody>
      </p:sp>
      <p:sp>
        <p:nvSpPr>
          <p:cNvPr id="38" name="!!key2-th-37 static"/>
          <p:cNvSpPr/>
          <p:nvPr/>
        </p:nvSpPr>
        <p:spPr>
          <a:xfrm>
            <a:off x="7048500" y="342900"/>
            <a:ext cx="1485900" cy="255240"/>
          </a:xfrm>
          <a:prstGeom prst="roundRect">
            <a:avLst>
              <a:gd name="adj" fmla="val 50000"/>
            </a:avLst>
          </a:prstGeom>
          <a:solidFill>
            <a:srgbClr val="2E8B86"/>
          </a:solidFill>
          <a:ln/>
        </p:spPr>
      </p:sp>
      <p:sp>
        <p:nvSpPr>
          <p:cNvPr id="39" name="!!key2-th-38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พรมแดนที่ไม่สม่ำเสมอ</a:t>
            </a:r>
            <a:endParaRPr lang="en-US" sz="900" dirty="0"/>
          </a:p>
        </p:txBody>
      </p:sp>
      <p:sp>
        <p:nvSpPr>
          <p:cNvPr id="40" name="!!key3-th-39 b11:pop"/>
          <p:cNvSpPr/>
          <p:nvPr/>
        </p:nvSpPr>
        <p:spPr>
          <a:xfrm>
            <a:off x="7048500" y="4572000"/>
            <a:ext cx="1485900" cy="255240"/>
          </a:xfrm>
          <a:prstGeom prst="roundRect">
            <a:avLst>
              <a:gd name="adj" fmla="val 50000"/>
            </a:avLst>
          </a:prstGeom>
          <a:solidFill>
            <a:srgbClr val="2E8B86"/>
          </a:solidFill>
          <a:ln/>
        </p:spPr>
      </p:sp>
      <p:sp>
        <p:nvSpPr>
          <p:cNvPr id="41" name="!!key3-th-40 b11: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ธุรกิจขนาดเล็กจริง</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childTnLst>
                          </p:cTn>
                        </p:par>
                      </p:childTnLst>
                    </p:cTn>
                  </p:par>
                  <p:par>
                    <p:cTn id="45" fill="hold">
                      <p:stCondLst>
                        <p:cond delay="indefinite"/>
                      </p:stCondLst>
                      <p:childTnLst>
                        <p:par>
                          <p:cTn id="46"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500"/>
                                        <p:tgtEl>
                                          <p:spTgt spid="13"/>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500"/>
                                        <p:tgtEl>
                                          <p:spTgt spid="14"/>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56" fill="hold">
                      <p:stCondLst>
                        <p:cond delay="indefinite"/>
                      </p:stCondLst>
                      <p:childTnLst>
                        <p:par>
                          <p:cTn id="57"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wipe(left)">
                                      <p:cBhvr>
                                        <p:cTn id="49" dur="500"/>
                                        <p:tgtEl>
                                          <p:spTgt spid="16"/>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500"/>
                                        <p:tgtEl>
                                          <p:spTgt spid="19"/>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500"/>
                                        <p:tgtEl>
                                          <p:spTgt spid="20"/>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500"/>
                                        <p:tgtEl>
                                          <p:spTgt spid="21"/>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500"/>
                                        <p:tgtEl>
                                          <p:spTgt spid="22"/>
                                        </p:tgtEl>
                                      </p:cBhvr>
                                    </p:animEffect>
                                  </p:childTnLst>
                                </p:cTn>
                              </p:par>
                            </p:childTnLst>
                          </p:cTn>
                        </p:par>
                      </p:childTnLst>
                    </p:cTn>
                  </p:par>
                  <p:par>
                    <p:cTn id="96" fill="hold">
                      <p:stCondLst>
                        <p:cond delay="indefinite"/>
                      </p:stCondLst>
                      <p:childTnLst>
                        <p:par>
                          <p:cTn id="97" fill="hold">
                            <p:stCondLst>
                              <p:cond delay="0"/>
                            </p:stCondLst>
                            <p:childTnLst>
                              <p:par>
                                <p:cTn id="72" presetID="23" presetClass="entr" presetSubtype="16"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par>
                                <p:cTn id="76" presetID="2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Scale>
                                      <p:cBhvr>
                                        <p:cTn id="78" dur="500" fill="hold"/>
                                        <p:tgtEl>
                                          <p:spTgt spid="24"/>
                                        </p:tgtEl>
                                      </p:cBhvr>
                                      <p:from x="0" y="0"/>
                                      <p:to x="100000" y="100000"/>
                                    </p:animScale>
                                    <p:animEffect transition="in" filter="fade">
                                      <p:cBhvr>
                                        <p:cTn id="79" dur="500"/>
                                        <p:tgtEl>
                                          <p:spTgt spid="24"/>
                                        </p:tgtEl>
                                      </p:cBhvr>
                                    </p:animEffect>
                                  </p:childTnLst>
                                </p:cTn>
                              </p:par>
                              <p:par>
                                <p:cTn id="80" presetID="23" presetClass="entr" presetSubtype="16"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Scale>
                                      <p:cBhvr>
                                        <p:cTn id="82" dur="500" fill="hold"/>
                                        <p:tgtEl>
                                          <p:spTgt spid="25"/>
                                        </p:tgtEl>
                                      </p:cBhvr>
                                      <p:from x="0" y="0"/>
                                      <p:to x="100000" y="100000"/>
                                    </p:animScale>
                                    <p:animEffect transition="in" filter="fade">
                                      <p:cBhvr>
                                        <p:cTn id="83" dur="500"/>
                                        <p:tgtEl>
                                          <p:spTgt spid="25"/>
                                        </p:tgtEl>
                                      </p:cBhvr>
                                    </p:animEffect>
                                  </p:childTnLst>
                                </p:cTn>
                              </p:par>
                              <p:par>
                                <p:cTn id="84" presetID="23" presetClass="entr" presetSubtype="16"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Scale>
                                      <p:cBhvr>
                                        <p:cTn id="86" dur="500" fill="hold"/>
                                        <p:tgtEl>
                                          <p:spTgt spid="26"/>
                                        </p:tgtEl>
                                      </p:cBhvr>
                                      <p:from x="0" y="0"/>
                                      <p:to x="100000" y="100000"/>
                                    </p:animScale>
                                    <p:animEffect transition="in" filter="fade">
                                      <p:cBhvr>
                                        <p:cTn id="87" dur="500"/>
                                        <p:tgtEl>
                                          <p:spTgt spid="26"/>
                                        </p:tgtEl>
                                      </p:cBhvr>
                                    </p:animEffect>
                                  </p:childTnLst>
                                </p:cTn>
                              </p:par>
                              <p:par>
                                <p:cTn id="88" presetID="23" presetClass="entr" presetSubtype="16" fill="hold" grpId="0" nodeType="withEffect">
                                  <p:stCondLst>
                                    <p:cond delay="0"/>
                                  </p:stCondLst>
                                  <p:childTnLst>
                                    <p:set>
                                      <p:cBhvr>
                                        <p:cTn id="89" dur="1" fill="hold">
                                          <p:stCondLst>
                                            <p:cond delay="0"/>
                                          </p:stCondLst>
                                        </p:cTn>
                                        <p:tgtEl>
                                          <p:spTgt spid="27"/>
                                        </p:tgtEl>
                                        <p:attrNameLst>
                                          <p:attrName>style.visibility</p:attrName>
                                        </p:attrNameLst>
                                      </p:cBhvr>
                                      <p:to>
                                        <p:strVal val="visible"/>
                                      </p:to>
                                    </p:set>
                                    <p:animScale>
                                      <p:cBhvr>
                                        <p:cTn id="90" dur="500" fill="hold"/>
                                        <p:tgtEl>
                                          <p:spTgt spid="27"/>
                                        </p:tgtEl>
                                      </p:cBhvr>
                                      <p:from x="0" y="0"/>
                                      <p:to x="100000" y="100000"/>
                                    </p:animScale>
                                    <p:animEffect transition="in" filter="fade">
                                      <p:cBhvr>
                                        <p:cTn id="91" dur="500"/>
                                        <p:tgtEl>
                                          <p:spTgt spid="27"/>
                                        </p:tgtEl>
                                      </p:cBhvr>
                                    </p:animEffect>
                                  </p:childTnLst>
                                </p:cTn>
                              </p:par>
                              <p:par>
                                <p:cTn id="92" presetID="23" presetClass="entr" presetSubtype="16"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Scale>
                                      <p:cBhvr>
                                        <p:cTn id="94" dur="500" fill="hold"/>
                                        <p:tgtEl>
                                          <p:spTgt spid="28"/>
                                        </p:tgtEl>
                                      </p:cBhvr>
                                      <p:from x="0" y="0"/>
                                      <p:to x="100000" y="100000"/>
                                    </p:animScale>
                                    <p:animEffect transition="in" filter="fade">
                                      <p:cBhvr>
                                        <p:cTn id="95" dur="500"/>
                                        <p:tgtEl>
                                          <p:spTgt spid="28"/>
                                        </p:tgtEl>
                                      </p:cBhvr>
                                    </p:animEffect>
                                  </p:childTnLst>
                                </p:cTn>
                              </p:par>
                            </p:childTnLst>
                          </p:cTn>
                        </p:par>
                      </p:childTnLst>
                    </p:cTn>
                  </p:par>
                  <p:par>
                    <p:cTn id="101" fill="hold">
                      <p:stCondLst>
                        <p:cond delay="indefinite"/>
                      </p:stCondLst>
                      <p:childTnLst>
                        <p:par>
                          <p:cTn id="102"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par>
                    <p:cTn id="127" fill="hold">
                      <p:stCondLst>
                        <p:cond delay="indefinite"/>
                      </p:stCondLst>
                      <p:childTnLst>
                        <p:par>
                          <p:cTn id="128"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700"/>
                                        <p:tgtEl>
                                          <p:spTgt spid="30"/>
                                        </p:tgtEl>
                                      </p:cBhvr>
                                    </p:animEffect>
                                    <p:anim calcmode="lin" valueType="num">
                                      <p:cBhvr additive="base">
                                        <p:cTn id="106" dur="700" fill="hold"/>
                                        <p:tgtEl>
                                          <p:spTgt spid="30"/>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700"/>
                                        <p:tgtEl>
                                          <p:spTgt spid="31"/>
                                        </p:tgtEl>
                                      </p:cBhvr>
                                    </p:animEffect>
                                    <p:anim calcmode="lin" valueType="num">
                                      <p:cBhvr additive="base">
                                        <p:cTn id="110" dur="700" fill="hold"/>
                                        <p:tgtEl>
                                          <p:spTgt spid="31"/>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2"/>
                                        </p:tgtEl>
                                        <p:attrNameLst>
                                          <p:attrName>style.visibility</p:attrName>
                                        </p:attrNameLst>
                                      </p:cBhvr>
                                      <p:to>
                                        <p:strVal val="visible"/>
                                      </p:to>
                                    </p:set>
                                    <p:animEffect transition="in" filter="fade">
                                      <p:cBhvr>
                                        <p:cTn id="113" dur="700"/>
                                        <p:tgtEl>
                                          <p:spTgt spid="32"/>
                                        </p:tgtEl>
                                      </p:cBhvr>
                                    </p:animEffect>
                                    <p:anim calcmode="lin" valueType="num">
                                      <p:cBhvr additive="base">
                                        <p:cTn id="114" dur="700" fill="hold"/>
                                        <p:tgtEl>
                                          <p:spTgt spid="32"/>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3"/>
                                        </p:tgtEl>
                                        <p:attrNameLst>
                                          <p:attrName>style.visibility</p:attrName>
                                        </p:attrNameLst>
                                      </p:cBhvr>
                                      <p:to>
                                        <p:strVal val="visible"/>
                                      </p:to>
                                    </p:set>
                                    <p:animEffect transition="in" filter="fade">
                                      <p:cBhvr>
                                        <p:cTn id="117" dur="700"/>
                                        <p:tgtEl>
                                          <p:spTgt spid="33"/>
                                        </p:tgtEl>
                                      </p:cBhvr>
                                    </p:animEffect>
                                    <p:anim calcmode="lin" valueType="num">
                                      <p:cBhvr additive="base">
                                        <p:cTn id="118" dur="700" fill="hold"/>
                                        <p:tgtEl>
                                          <p:spTgt spid="33"/>
                                        </p:tgtEl>
                                        <p:attrNameLst>
                                          <p:attrName>ppt_y</p:attrName>
                                        </p:attrNameLst>
                                      </p:cBhvr>
                                      <p:tavLst>
                                        <p:tav tm="0">
                                          <p:val>
                                            <p:strVal val="#ppt_y+.0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700"/>
                                        <p:tgtEl>
                                          <p:spTgt spid="34"/>
                                        </p:tgtEl>
                                      </p:cBhvr>
                                    </p:animEffect>
                                    <p:anim calcmode="lin" valueType="num">
                                      <p:cBhvr additive="base">
                                        <p:cTn id="122" dur="700" fill="hold"/>
                                        <p:tgtEl>
                                          <p:spTgt spid="34"/>
                                        </p:tgtEl>
                                        <p:attrNameLst>
                                          <p:attrName>ppt_y</p:attrName>
                                        </p:attrNameLst>
                                      </p:cBhvr>
                                      <p:tavLst>
                                        <p:tav tm="0">
                                          <p:val>
                                            <p:strVal val="#ppt_y+.08"/>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700"/>
                                        <p:tgtEl>
                                          <p:spTgt spid="35"/>
                                        </p:tgtEl>
                                      </p:cBhvr>
                                    </p:animEffect>
                                    <p:anim calcmode="lin" valueType="num">
                                      <p:cBhvr additive="base">
                                        <p:cTn id="126"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2" fill="hold">
                      <p:stCondLst>
                        <p:cond delay="indefinite"/>
                      </p:stCondLst>
                      <p:childTnLst>
                        <p:par>
                          <p:cTn id="133"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500"/>
                                        <p:tgtEl>
                                          <p:spTgt spid="37"/>
                                        </p:tgtEl>
                                      </p:cBhvr>
                                    </p:animEffect>
                                  </p:childTnLst>
                                </p:cTn>
                              </p:par>
                            </p:childTnLst>
                          </p:cTn>
                        </p:par>
                      </p:childTnLst>
                    </p:cTn>
                  </p:par>
                  <p:par>
                    <p:cTn id="142" fill="hold">
                      <p:stCondLst>
                        <p:cond delay="indefinite"/>
                      </p:stCondLst>
                      <p:childTnLst>
                        <p:par>
                          <p:cTn id="143" fill="hold">
                            <p:stCondLst>
                              <p:cond delay="0"/>
                            </p:stCondLst>
                            <p:childTnLst>
                              <p:par>
                                <p:cTn id="134" presetID="23" presetClass="entr" presetSubtype="16"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Scale>
                                      <p:cBhvr>
                                        <p:cTn id="136" dur="500" fill="hold"/>
                                        <p:tgtEl>
                                          <p:spTgt spid="40"/>
                                        </p:tgtEl>
                                      </p:cBhvr>
                                      <p:from x="0" y="0"/>
                                      <p:to x="100000" y="100000"/>
                                    </p:animScale>
                                    <p:animEffect transition="in" filter="fade">
                                      <p:cBhvr>
                                        <p:cTn id="137" dur="500"/>
                                        <p:tgtEl>
                                          <p:spTgt spid="40"/>
                                        </p:tgtEl>
                                      </p:cBhvr>
                                    </p:animEffect>
                                  </p:childTnLst>
                                </p:cTn>
                              </p:par>
                              <p:par>
                                <p:cTn id="138" presetID="23" presetClass="entr" presetSubtype="16" fill="hold" grpId="0" nodeType="withEffect">
                                  <p:stCondLst>
                                    <p:cond delay="0"/>
                                  </p:stCondLst>
                                  <p:childTnLst>
                                    <p:set>
                                      <p:cBhvr>
                                        <p:cTn id="139" dur="1" fill="hold">
                                          <p:stCondLst>
                                            <p:cond delay="0"/>
                                          </p:stCondLst>
                                        </p:cTn>
                                        <p:tgtEl>
                                          <p:spTgt spid="41"/>
                                        </p:tgtEl>
                                        <p:attrNameLst>
                                          <p:attrName>style.visibility</p:attrName>
                                        </p:attrNameLst>
                                      </p:cBhvr>
                                      <p:to>
                                        <p:strVal val="visible"/>
                                      </p:to>
                                    </p:set>
                                    <p:animScale>
                                      <p:cBhvr>
                                        <p:cTn id="140" dur="500" fill="hold"/>
                                        <p:tgtEl>
                                          <p:spTgt spid="41"/>
                                        </p:tgtEl>
                                      </p:cBhvr>
                                      <p:from x="0" y="0"/>
                                      <p:to x="100000" y="100000"/>
                                    </p:animScale>
                                    <p:animEffect transition="in" filter="fade">
                                      <p:cBhvr>
                                        <p:cTn id="141"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5 · วัตถุประสงค์และผลการศึกษา</a:t>
            </a:r>
            <a:endParaRPr lang="en-US" sz="900" dirty="0"/>
          </a:p>
        </p:txBody>
      </p:sp>
      <p:sp>
        <p:nvSpPr>
          <p:cNvPr id="3" name="static"/>
          <p:cNvSpPr txBox="1"/>
          <p:nvPr/>
        </p:nvSpPr>
        <p:spPr>
          <a:xfrm>
            <a:off x="609600" y="617190"/>
            <a:ext cx="7924800" cy="422895"/>
          </a:xfrm>
          <a:prstGeom prst="rect">
            <a:avLst/>
          </a:prstGeom>
          <a:noFill/>
          <a:ln/>
        </p:spPr>
        <p:txBody>
          <a:bodyPr wrap="squar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ผลกระทบของ AI ต่อผู้ประกอบการที่แตกต่างกัน</a:t>
            </a:r>
            <a:endParaRPr lang="en-US" sz="2400" dirty="0"/>
          </a:p>
        </p:txBody>
      </p:sp>
      <p:sp>
        <p:nvSpPr>
          <p:cNvPr id="4" name="b1:rise"/>
          <p:cNvSpPr/>
          <p:nvPr/>
        </p:nvSpPr>
        <p:spPr>
          <a:xfrm>
            <a:off x="609600" y="1476375"/>
            <a:ext cx="342900" cy="342900"/>
          </a:xfrm>
          <a:prstGeom prst="roundRect">
            <a:avLst>
              <a:gd name="adj" fmla="val 50000"/>
            </a:avLst>
          </a:prstGeom>
          <a:solidFill>
            <a:srgbClr val="E6F3F1"/>
          </a:solidFill>
          <a:ln/>
        </p:spPr>
      </p:sp>
      <p:pic>
        <p:nvPicPr>
          <p:cNvPr id="5" name="b1:rise icon Globe" descr="preencoded.png">    </p:cNvPr>
          <p:cNvPicPr>
            <a:picLocks noChangeAspect="1"/>
          </p:cNvPicPr>
          <p:nvPr/>
        </p:nvPicPr>
        <p:blipFill>
          <a:blip r:embed="rId1"/>
          <a:stretch>
            <a:fillRect/>
          </a:stretch>
        </p:blipFill>
        <p:spPr>
          <a:xfrm>
            <a:off x="695325" y="1562100"/>
            <a:ext cx="171450" cy="171450"/>
          </a:xfrm>
          <a:prstGeom prst="rect">
            <a:avLst/>
          </a:prstGeom>
        </p:spPr>
      </p:pic>
      <p:sp>
        <p:nvSpPr>
          <p:cNvPr id="6" name="b1:rise"/>
          <p:cNvSpPr txBox="1"/>
          <p:nvPr/>
        </p:nvSpPr>
        <p:spPr>
          <a:xfrm>
            <a:off x="1066800" y="1479724"/>
            <a:ext cx="3162300" cy="159990"/>
          </a:xfrm>
          <a:prstGeom prst="rect">
            <a:avLst/>
          </a:prstGeom>
          <a:noFill/>
          <a:ln/>
        </p:spPr>
        <p:txBody>
          <a:bodyPr wrap="squar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บริบท</a:t>
            </a:r>
            <a:endParaRPr lang="en-US" sz="1050" dirty="0"/>
          </a:p>
        </p:txBody>
      </p:sp>
      <p:sp>
        <p:nvSpPr>
          <p:cNvPr id="7" name="b1:rise"/>
          <p:cNvSpPr txBox="1"/>
          <p:nvPr/>
        </p:nvSpPr>
        <p:spPr>
          <a:xfrm>
            <a:off x="1066800" y="1649239"/>
            <a:ext cx="3162300" cy="166688"/>
          </a:xfrm>
          <a:prstGeom prst="rect">
            <a:avLst/>
          </a:prstGeom>
          <a:noFill/>
          <a:ln/>
        </p:spPr>
        <p:txBody>
          <a:bodyPr wrap="squar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ผู้ประกอบการธุรกิจขนาดเล็กในประเทศเคนยา</a:t>
            </a:r>
            <a:endParaRPr lang="en-US" sz="938" dirty="0"/>
          </a:p>
        </p:txBody>
      </p:sp>
      <p:sp>
        <p:nvSpPr>
          <p:cNvPr id="8" name="b1:rise"/>
          <p:cNvSpPr/>
          <p:nvPr/>
        </p:nvSpPr>
        <p:spPr>
          <a:xfrm>
            <a:off x="609600" y="1924050"/>
            <a:ext cx="342900" cy="342900"/>
          </a:xfrm>
          <a:prstGeom prst="roundRect">
            <a:avLst>
              <a:gd name="adj" fmla="val 50000"/>
            </a:avLst>
          </a:prstGeom>
          <a:solidFill>
            <a:srgbClr val="E6F3F1"/>
          </a:solidFill>
          <a:ln/>
        </p:spPr>
      </p:sp>
      <p:pic>
        <p:nvPicPr>
          <p:cNvPr id="9" name="b1:rise icon Chat" descr="preencoded.png">    </p:cNvPr>
          <p:cNvPicPr>
            <a:picLocks noChangeAspect="1"/>
          </p:cNvPicPr>
          <p:nvPr/>
        </p:nvPicPr>
        <p:blipFill>
          <a:blip r:embed="rId2"/>
          <a:stretch>
            <a:fillRect/>
          </a:stretch>
        </p:blipFill>
        <p:spPr>
          <a:xfrm>
            <a:off x="695325" y="2009775"/>
            <a:ext cx="171450" cy="171450"/>
          </a:xfrm>
          <a:prstGeom prst="rect">
            <a:avLst/>
          </a:prstGeom>
        </p:spPr>
      </p:pic>
      <p:sp>
        <p:nvSpPr>
          <p:cNvPr id="10" name="b1:rise"/>
          <p:cNvSpPr txBox="1"/>
          <p:nvPr/>
        </p:nvSpPr>
        <p:spPr>
          <a:xfrm>
            <a:off x="1066800" y="1927399"/>
            <a:ext cx="3162300" cy="159990"/>
          </a:xfrm>
          <a:prstGeom prst="rect">
            <a:avLst/>
          </a:prstGeom>
          <a:noFill/>
          <a:ln/>
        </p:spPr>
        <p:txBody>
          <a:bodyPr wrap="squar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สิ่งที่ทดลอง</a:t>
            </a:r>
            <a:endParaRPr lang="en-US" sz="1050" dirty="0"/>
          </a:p>
        </p:txBody>
      </p:sp>
      <p:sp>
        <p:nvSpPr>
          <p:cNvPr id="11" name="b1:rise"/>
          <p:cNvSpPr txBox="1"/>
          <p:nvPr/>
        </p:nvSpPr>
        <p:spPr>
          <a:xfrm>
            <a:off x="1066800" y="2096914"/>
            <a:ext cx="3162300" cy="166688"/>
          </a:xfrm>
          <a:prstGeom prst="rect">
            <a:avLst/>
          </a:prstGeom>
          <a:noFill/>
          <a:ln/>
        </p:spPr>
        <p:txBody>
          <a:bodyPr wrap="squar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ผู้ช่วยธุรกิจ AI ที่ขับเคลื่อนด้วย GPT-4 ให้คำแนะนำทางธุรกิจ</a:t>
            </a:r>
            <a:endParaRPr lang="en-US" sz="938" dirty="0"/>
          </a:p>
        </p:txBody>
      </p:sp>
      <p:sp>
        <p:nvSpPr>
          <p:cNvPr id="12" name="b1:rise"/>
          <p:cNvSpPr/>
          <p:nvPr/>
        </p:nvSpPr>
        <p:spPr>
          <a:xfrm>
            <a:off x="609600" y="2371725"/>
            <a:ext cx="342900" cy="342900"/>
          </a:xfrm>
          <a:prstGeom prst="roundRect">
            <a:avLst>
              <a:gd name="adj" fmla="val 50000"/>
            </a:avLst>
          </a:prstGeom>
          <a:solidFill>
            <a:srgbClr val="E6F3F1"/>
          </a:solidFill>
          <a:ln/>
        </p:spPr>
      </p:sp>
      <p:pic>
        <p:nvPicPr>
          <p:cNvPr id="13" name="b1:rise icon Chart" descr="preencoded.png">    </p:cNvPr>
          <p:cNvPicPr>
            <a:picLocks noChangeAspect="1"/>
          </p:cNvPicPr>
          <p:nvPr/>
        </p:nvPicPr>
        <p:blipFill>
          <a:blip r:embed="rId3"/>
          <a:stretch>
            <a:fillRect/>
          </a:stretch>
        </p:blipFill>
        <p:spPr>
          <a:xfrm>
            <a:off x="695325" y="2457450"/>
            <a:ext cx="171450" cy="171450"/>
          </a:xfrm>
          <a:prstGeom prst="rect">
            <a:avLst/>
          </a:prstGeom>
        </p:spPr>
      </p:pic>
      <p:sp>
        <p:nvSpPr>
          <p:cNvPr id="14" name="b1:rise"/>
          <p:cNvSpPr txBox="1"/>
          <p:nvPr/>
        </p:nvSpPr>
        <p:spPr>
          <a:xfrm>
            <a:off x="1066800" y="2375074"/>
            <a:ext cx="3162300" cy="159990"/>
          </a:xfrm>
          <a:prstGeom prst="rect">
            <a:avLst/>
          </a:prstGeom>
          <a:noFill/>
          <a:ln/>
        </p:spPr>
        <p:txBody>
          <a:bodyPr wrap="squar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ตัวแปรผลลัพธ์</a:t>
            </a:r>
            <a:endParaRPr lang="en-US" sz="1050" dirty="0"/>
          </a:p>
        </p:txBody>
      </p:sp>
      <p:sp>
        <p:nvSpPr>
          <p:cNvPr id="15" name="b1:rise"/>
          <p:cNvSpPr txBox="1"/>
          <p:nvPr/>
        </p:nvSpPr>
        <p:spPr>
          <a:xfrm>
            <a:off x="1066800" y="2544589"/>
            <a:ext cx="3162300" cy="166688"/>
          </a:xfrm>
          <a:prstGeom prst="rect">
            <a:avLst/>
          </a:prstGeom>
          <a:noFill/>
          <a:ln/>
        </p:spPr>
        <p:txBody>
          <a:bodyPr wrap="squar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รายได้และกำไร</a:t>
            </a:r>
            <a:endParaRPr lang="en-US" sz="938" dirty="0"/>
          </a:p>
        </p:txBody>
      </p:sp>
      <p:sp>
        <p:nvSpPr>
          <p:cNvPr id="16" name="b2:pop"/>
          <p:cNvSpPr/>
          <p:nvPr/>
        </p:nvSpPr>
        <p:spPr>
          <a:xfrm>
            <a:off x="609600" y="3048000"/>
            <a:ext cx="3619500" cy="1351062"/>
          </a:xfrm>
          <a:prstGeom prst="roundRect">
            <a:avLst>
              <a:gd name="adj" fmla="val 8460"/>
            </a:avLst>
          </a:prstGeom>
          <a:solidFill>
            <a:srgbClr val="1B2A4A"/>
          </a:solidFill>
          <a:ln/>
        </p:spPr>
      </p:sp>
      <p:sp>
        <p:nvSpPr>
          <p:cNvPr id="17" name="b2:pop"/>
          <p:cNvSpPr/>
          <p:nvPr/>
        </p:nvSpPr>
        <p:spPr>
          <a:xfrm>
            <a:off x="800100" y="3219450"/>
            <a:ext cx="952500" cy="217140"/>
          </a:xfrm>
          <a:prstGeom prst="roundRect">
            <a:avLst>
              <a:gd name="adj" fmla="val 50000"/>
            </a:avLst>
          </a:prstGeom>
          <a:solidFill>
            <a:srgbClr val="BFE6E0"/>
          </a:solidFill>
          <a:ln/>
        </p:spPr>
      </p:sp>
      <p:sp>
        <p:nvSpPr>
          <p:cNvPr id="18" name="b2:pop"/>
          <p:cNvSpPr txBox="1"/>
          <p:nvPr/>
        </p:nvSpPr>
        <p:spPr>
          <a:xfrm>
            <a:off x="800100" y="3219450"/>
            <a:ext cx="952500" cy="217140"/>
          </a:xfrm>
          <a:prstGeom prst="rect">
            <a:avLst/>
          </a:prstGeom>
          <a:noFill/>
          <a:ln/>
        </p:spPr>
        <p:txBody>
          <a:bodyPr wrap="square" lIns="85725" tIns="0" rIns="85725"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19" name="b2:pop"/>
          <p:cNvSpPr txBox="1"/>
          <p:nvPr/>
        </p:nvSpPr>
        <p:spPr>
          <a:xfrm>
            <a:off x="800100" y="3484215"/>
            <a:ext cx="3238500" cy="159990"/>
          </a:xfrm>
          <a:prstGeom prst="rect">
            <a:avLst/>
          </a:prstGeom>
          <a:noFill/>
          <a:ln/>
        </p:spPr>
        <p:txBody>
          <a:bodyPr wrap="square" lIns="0" tIns="0" rIns="0" bIns="0" rtlCol="0" anchor="ctr"/>
          <a:lstStyle/>
          <a:p>
            <a:pPr algn="l" indent="0" marL="0">
              <a:lnSpc>
                <a:spcPts val="1260"/>
              </a:lnSpc>
              <a:buNone/>
            </a:pPr>
            <a:r>
              <a:rPr lang="en-US" sz="1050" b="1" dirty="0">
                <a:solidFill>
                  <a:srgbClr val="BFE6E0"/>
                </a:solidFill>
                <a:latin typeface="Prompt" pitchFamily="34" charset="0"/>
                <a:ea typeface="Prompt" pitchFamily="34" charset="-122"/>
                <a:cs typeface="Prompt" pitchFamily="34" charset="-120"/>
              </a:rPr>
              <a:t>ผลโดยเฉลี่ย</a:t>
            </a:r>
            <a:endParaRPr lang="en-US" sz="1050" dirty="0"/>
          </a:p>
        </p:txBody>
      </p:sp>
      <p:sp>
        <p:nvSpPr>
          <p:cNvPr id="20" name="b2:pop"/>
          <p:cNvSpPr txBox="1"/>
          <p:nvPr/>
        </p:nvSpPr>
        <p:spPr>
          <a:xfrm>
            <a:off x="800100" y="3691830"/>
            <a:ext cx="2234565" cy="535781"/>
          </a:xfrm>
          <a:prstGeom prst="rect">
            <a:avLst/>
          </a:prstGeom>
          <a:noFill/>
          <a:ln/>
        </p:spPr>
        <p:txBody>
          <a:bodyPr wrap="square" lIns="0" tIns="0" rIns="0" bIns="0" rtlCol="0" anchor="t"/>
          <a:lstStyle/>
          <a:p>
            <a:pPr algn="l" indent="0" marL="0">
              <a:lnSpc>
                <a:spcPts val="1406"/>
              </a:lnSpc>
              <a:buNone/>
            </a:pPr>
            <a:r>
              <a:rPr lang="en-US" sz="938" dirty="0">
                <a:solidFill>
                  <a:srgbClr val="F7F9FB"/>
                </a:solidFill>
                <a:latin typeface="Prompt" pitchFamily="34" charset="0"/>
                <a:ea typeface="Prompt" pitchFamily="34" charset="-122"/>
                <a:cs typeface="Prompt" pitchFamily="34" charset="-120"/>
              </a:rPr>
              <a:t>ไม่สามารถปฏิเสธสมมติฐานว่าง (null hypothesis) ที่ว่าไม่มีผลเฉลี่ยต่อรายได้และกำไร</a:t>
            </a:r>
            <a:endParaRPr lang="en-US" sz="938" dirty="0"/>
          </a:p>
        </p:txBody>
      </p:sp>
      <p:pic>
        <p:nvPicPr>
          <p:cNvPr id="21" name="b2:pop (มาสคอตหุ่นยนต์ถือโทรศัพท์)" descr="/home/user/slide-present-en/presentation/webdeck/art/robot-shop-dark.png">    </p:cNvPr>
          <p:cNvPicPr>
            <a:picLocks noChangeAspect="1"/>
          </p:cNvPicPr>
          <p:nvPr/>
        </p:nvPicPr>
        <p:blipFill>
          <a:blip r:embed="rId4"/>
          <a:stretch>
            <a:fillRect/>
          </a:stretch>
        </p:blipFill>
        <p:spPr>
          <a:xfrm>
            <a:off x="3209925" y="3162300"/>
            <a:ext cx="904875" cy="781050"/>
          </a:xfrm>
          <a:prstGeom prst="rect">
            <a:avLst/>
          </a:prstGeom>
        </p:spPr>
      </p:pic>
      <p:sp>
        <p:nvSpPr>
          <p:cNvPr id="22" name="b3:fade"/>
          <p:cNvSpPr/>
          <p:nvPr/>
        </p:nvSpPr>
        <p:spPr>
          <a:xfrm>
            <a:off x="4838700" y="1476375"/>
            <a:ext cx="952500" cy="236190"/>
          </a:xfrm>
          <a:prstGeom prst="roundRect">
            <a:avLst>
              <a:gd name="adj" fmla="val 50000"/>
            </a:avLst>
          </a:prstGeom>
          <a:solidFill>
            <a:srgbClr val="BFE6E0"/>
          </a:solidFill>
          <a:ln/>
        </p:spPr>
      </p:sp>
      <p:sp>
        <p:nvSpPr>
          <p:cNvPr id="23" name="b3:fade"/>
          <p:cNvSpPr txBox="1"/>
          <p:nvPr/>
        </p:nvSpPr>
        <p:spPr>
          <a:xfrm>
            <a:off x="4838700" y="1476375"/>
            <a:ext cx="952500" cy="236190"/>
          </a:xfrm>
          <a:prstGeom prst="rect">
            <a:avLst/>
          </a:prstGeom>
          <a:noFill/>
          <a:ln/>
        </p:spPr>
        <p:txBody>
          <a:bodyPr wrap="squar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24" name="b3:fade"/>
          <p:cNvSpPr txBox="1"/>
          <p:nvPr/>
        </p:nvSpPr>
        <p:spPr>
          <a:xfrm>
            <a:off x="4838700" y="1788765"/>
            <a:ext cx="2667000" cy="194295"/>
          </a:xfrm>
          <a:prstGeom prst="rect">
            <a:avLst/>
          </a:prstGeom>
          <a:noFill/>
          <a:ln/>
        </p:spPr>
        <p:txBody>
          <a:bodyPr wrap="square" lIns="0" tIns="0" rIns="0" bIns="0" rtlCol="0" anchor="ctr"/>
          <a:lstStyle/>
          <a:p>
            <a:pPr algn="l" indent="0" marL="0">
              <a:lnSpc>
                <a:spcPts val="1530"/>
              </a:lnSpc>
              <a:buNone/>
            </a:pPr>
            <a:r>
              <a:rPr lang="en-US" sz="1275" b="1" dirty="0">
                <a:solidFill>
                  <a:srgbClr val="1B2A4A"/>
                </a:solidFill>
                <a:latin typeface="Prompt" pitchFamily="34" charset="0"/>
                <a:ea typeface="Prompt" pitchFamily="34" charset="-122"/>
                <a:cs typeface="Prompt" pitchFamily="34" charset="-120"/>
              </a:rPr>
              <a:t>แยกตามผลงานตั้งต้น</a:t>
            </a:r>
            <a:endParaRPr lang="en-US" sz="1275" dirty="0"/>
          </a:p>
        </p:txBody>
      </p:sp>
      <p:pic>
        <p:nvPicPr>
          <p:cNvPr id="25" name="b3:pop (ผู้ประกอบการถือโทรศัพท์)" descr="/home/user/slide-present-en/presentation/webdeck/art/human-phone.png">    </p:cNvPr>
          <p:cNvPicPr>
            <a:picLocks noChangeAspect="1"/>
          </p:cNvPicPr>
          <p:nvPr/>
        </p:nvPicPr>
        <p:blipFill>
          <a:blip r:embed="rId5"/>
          <a:stretch>
            <a:fillRect/>
          </a:stretch>
        </p:blipFill>
        <p:spPr>
          <a:xfrm>
            <a:off x="7581900" y="1428750"/>
            <a:ext cx="952500" cy="1000125"/>
          </a:xfrm>
          <a:prstGeom prst="rect">
            <a:avLst/>
          </a:prstGeom>
        </p:spPr>
      </p:pic>
      <p:sp>
        <p:nvSpPr>
          <p:cNvPr id="26" name="b4:left"/>
          <p:cNvSpPr txBox="1"/>
          <p:nvPr/>
        </p:nvSpPr>
        <p:spPr>
          <a:xfrm>
            <a:off x="4838700" y="2095500"/>
            <a:ext cx="3695700" cy="173310"/>
          </a:xfrm>
          <a:prstGeom prst="rect">
            <a:avLst/>
          </a:prstGeom>
          <a:noFill/>
          <a:ln/>
        </p:spPr>
        <p:txBody>
          <a:bodyPr wrap="squar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กลุ่มผลงานต่ำ</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a:t>
            </a:r>
            <a:pPr algn="l" indent="0" marL="0">
              <a:lnSpc>
                <a:spcPts val="1365"/>
              </a:lnSpc>
              <a:buNone/>
            </a:pPr>
            <a:r>
              <a:rPr lang="en-US" sz="975" b="1" dirty="0">
                <a:solidFill>
                  <a:srgbClr val="6B7280"/>
                </a:solidFill>
                <a:latin typeface="Prompt" pitchFamily="34" charset="0"/>
                <a:ea typeface="Prompt" pitchFamily="34" charset="-122"/>
                <a:cs typeface="Prompt" pitchFamily="34" charset="-120"/>
              </a:rPr>
              <a:t>แย่ลงเกือบ 10%</a:t>
            </a:r>
            <a:endParaRPr lang="en-US" sz="975" dirty="0"/>
          </a:p>
        </p:txBody>
      </p:sp>
      <p:sp>
        <p:nvSpPr>
          <p:cNvPr id="27" name="b4:left"/>
          <p:cNvSpPr/>
          <p:nvPr/>
        </p:nvSpPr>
        <p:spPr>
          <a:xfrm>
            <a:off x="4838700" y="2316435"/>
            <a:ext cx="857250" cy="190500"/>
          </a:xfrm>
          <a:prstGeom prst="roundRect">
            <a:avLst>
              <a:gd name="adj" fmla="val 15000"/>
            </a:avLst>
          </a:prstGeom>
          <a:solidFill>
            <a:srgbClr val="A3ADBB"/>
          </a:solidFill>
          <a:ln/>
        </p:spPr>
      </p:sp>
      <p:sp>
        <p:nvSpPr>
          <p:cNvPr id="28" name="b5:left"/>
          <p:cNvSpPr txBox="1"/>
          <p:nvPr/>
        </p:nvSpPr>
        <p:spPr>
          <a:xfrm>
            <a:off x="4838700" y="2600325"/>
            <a:ext cx="3695700" cy="173310"/>
          </a:xfrm>
          <a:prstGeom prst="rect">
            <a:avLst/>
          </a:prstGeom>
          <a:noFill/>
          <a:ln/>
        </p:spPr>
        <p:txBody>
          <a:bodyPr wrap="squar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กลุ่มผลงานสูง</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a:t>
            </a:r>
            <a:pPr algn="l" indent="0" marL="0">
              <a:lnSpc>
                <a:spcPts val="1365"/>
              </a:lnSpc>
              <a:buNone/>
            </a:pPr>
            <a:r>
              <a:rPr lang="en-US" sz="975" b="1" dirty="0">
                <a:solidFill>
                  <a:srgbClr val="2E8B86"/>
                </a:solidFill>
                <a:latin typeface="Prompt" pitchFamily="34" charset="0"/>
                <a:ea typeface="Prompt" pitchFamily="34" charset="-122"/>
                <a:cs typeface="Prompt" pitchFamily="34" charset="-120"/>
              </a:rPr>
              <a:t>อาจได้ประโยชน์มากกว่า 15%</a:t>
            </a:r>
            <a:endParaRPr lang="en-US" sz="975" dirty="0"/>
          </a:p>
        </p:txBody>
      </p:sp>
      <p:sp>
        <p:nvSpPr>
          <p:cNvPr id="29" name="b5:left"/>
          <p:cNvSpPr/>
          <p:nvPr/>
        </p:nvSpPr>
        <p:spPr>
          <a:xfrm>
            <a:off x="4838700" y="2821260"/>
            <a:ext cx="1285875" cy="190500"/>
          </a:xfrm>
          <a:prstGeom prst="roundRect">
            <a:avLst>
              <a:gd name="adj" fmla="val 15000"/>
            </a:avLst>
          </a:prstGeom>
          <a:solidFill>
            <a:srgbClr val="2E8B86"/>
          </a:solidFill>
          <a:ln/>
        </p:spPr>
      </p:sp>
      <p:sp>
        <p:nvSpPr>
          <p:cNvPr id="30" name="b5:left"/>
          <p:cNvSpPr txBox="1"/>
          <p:nvPr/>
        </p:nvSpPr>
        <p:spPr>
          <a:xfrm>
            <a:off x="4838700" y="3059385"/>
            <a:ext cx="3695700" cy="159990"/>
          </a:xfrm>
          <a:prstGeom prst="rect">
            <a:avLst/>
          </a:prstGeom>
          <a:noFill/>
          <a:ln/>
        </p:spPr>
        <p:txBody>
          <a:bodyPr wrap="squar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ความยาวแท่งเป็นเพียงภาพประกอบ</a:t>
            </a:r>
            <a:endParaRPr lang="en-US" sz="900" dirty="0"/>
          </a:p>
        </p:txBody>
      </p:sp>
      <p:sp>
        <p:nvSpPr>
          <p:cNvPr id="31" name="b6:rise"/>
          <p:cNvSpPr/>
          <p:nvPr/>
        </p:nvSpPr>
        <p:spPr>
          <a:xfrm>
            <a:off x="4838700" y="3333750"/>
            <a:ext cx="4763" cy="0"/>
          </a:xfrm>
          <a:prstGeom prst="line">
            <a:avLst/>
          </a:prstGeom>
          <a:noFill/>
          <a:ln w="6350">
            <a:solidFill>
              <a:srgbClr val="E3E8EE"/>
            </a:solidFill>
            <a:prstDash val="solid"/>
          </a:ln>
        </p:spPr>
      </p:sp>
      <p:pic>
        <p:nvPicPr>
          <p:cNvPr id="32" name="b6:rise icon Chat" descr="preencoded.png">    </p:cNvPr>
          <p:cNvPicPr>
            <a:picLocks noChangeAspect="1"/>
          </p:cNvPicPr>
          <p:nvPr/>
        </p:nvPicPr>
        <p:blipFill>
          <a:blip r:embed="rId6"/>
          <a:stretch>
            <a:fillRect/>
          </a:stretch>
        </p:blipFill>
        <p:spPr>
          <a:xfrm>
            <a:off x="4838700" y="3511153"/>
            <a:ext cx="152400" cy="152400"/>
          </a:xfrm>
          <a:prstGeom prst="rect">
            <a:avLst/>
          </a:prstGeom>
        </p:spPr>
      </p:pic>
      <p:sp>
        <p:nvSpPr>
          <p:cNvPr id="33" name="b6:rise"/>
          <p:cNvSpPr txBox="1"/>
          <p:nvPr/>
        </p:nvSpPr>
        <p:spPr>
          <a:xfrm>
            <a:off x="5067300" y="3414713"/>
            <a:ext cx="3536442" cy="345281"/>
          </a:xfrm>
          <a:prstGeom prst="rect">
            <a:avLst/>
          </a:prstGeom>
          <a:noFill/>
          <a:ln/>
        </p:spPr>
        <p:txBody>
          <a:bodyPr wrap="square" lIns="0" tIns="0" rIns="0" bIns="0" rtlCol="0" anchor="t"/>
          <a:lstStyle/>
          <a:p>
            <a:pPr algn="l" indent="0" marL="0">
              <a:lnSpc>
                <a:spcPts val="1359"/>
              </a:lnSpc>
              <a:buNone/>
            </a:pPr>
            <a:r>
              <a:rPr lang="en-US" sz="938" dirty="0">
                <a:solidFill>
                  <a:srgbClr val="1B2A4A"/>
                </a:solidFill>
                <a:latin typeface="Prompt" pitchFamily="34" charset="0"/>
                <a:ea typeface="Prompt" pitchFamily="34" charset="-122"/>
                <a:cs typeface="Prompt" pitchFamily="34" charset="-120"/>
              </a:rPr>
              <a:t>คำถามและคำแนะนำใกล้เคียงกัน ความต่างอยู่ที่</a:t>
            </a:r>
            <a:pPr algn="l" indent="0" marL="0">
              <a:lnSpc>
                <a:spcPts val="1359"/>
              </a:lnSpc>
              <a:buNone/>
            </a:pPr>
            <a:r>
              <a:rPr lang="en-US" sz="938" b="1" dirty="0">
                <a:solidFill>
                  <a:srgbClr val="2E8B86"/>
                </a:solidFill>
                <a:latin typeface="Prompt" pitchFamily="34" charset="0"/>
                <a:ea typeface="Prompt" pitchFamily="34" charset="-122"/>
                <a:cs typeface="Prompt" pitchFamily="34" charset="-120"/>
              </a:rPr>
              <a:t>คำแนะนำที่ผู้ประกอบการเลือกนำไปปฏิบัติ</a:t>
            </a:r>
            <a:endParaRPr lang="en-US" sz="938" dirty="0"/>
          </a:p>
        </p:txBody>
      </p:sp>
      <p:pic>
        <p:nvPicPr>
          <p:cNvPr id="34" name="b6:rise icon Warning" descr="preencoded.png">    </p:cNvPr>
          <p:cNvPicPr>
            <a:picLocks noChangeAspect="1"/>
          </p:cNvPicPr>
          <p:nvPr/>
        </p:nvPicPr>
        <p:blipFill>
          <a:blip r:embed="rId7"/>
          <a:stretch>
            <a:fillRect/>
          </a:stretch>
        </p:blipFill>
        <p:spPr>
          <a:xfrm>
            <a:off x="4838700" y="3942159"/>
            <a:ext cx="152400" cy="152400"/>
          </a:xfrm>
          <a:prstGeom prst="rect">
            <a:avLst/>
          </a:prstGeom>
        </p:spPr>
      </p:pic>
      <p:sp>
        <p:nvSpPr>
          <p:cNvPr id="35" name="b6:rise"/>
          <p:cNvSpPr txBox="1"/>
          <p:nvPr/>
        </p:nvSpPr>
        <p:spPr>
          <a:xfrm>
            <a:off x="5067300" y="3845719"/>
            <a:ext cx="3536442" cy="345281"/>
          </a:xfrm>
          <a:prstGeom prst="rect">
            <a:avLst/>
          </a:prstGeom>
          <a:noFill/>
          <a:ln/>
        </p:spPr>
        <p:txBody>
          <a:bodyPr wrap="square" lIns="0" tIns="0" rIns="0" bIns="0" rtlCol="0" anchor="t"/>
          <a:lstStyle/>
          <a:p>
            <a:pPr algn="l" indent="0" marL="0">
              <a:lnSpc>
                <a:spcPts val="1359"/>
              </a:lnSpc>
              <a:buNone/>
            </a:pPr>
            <a:r>
              <a:rPr lang="en-US" sz="938" dirty="0">
                <a:solidFill>
                  <a:srgbClr val="4A5568"/>
                </a:solidFill>
                <a:latin typeface="Prompt" pitchFamily="34" charset="0"/>
                <a:ea typeface="Prompt" pitchFamily="34" charset="-122"/>
                <a:cs typeface="Prompt" pitchFamily="34" charset="-120"/>
              </a:rPr>
              <a:t>เป็นค่าเฉลี่ยของกลุ่มย่อย ไม่ใช่ว่าคนเก่งทุกคนจะได้ประโยชน์ หรือคนอ่อนทุกคนจะเสียประโยชน์</a:t>
            </a:r>
            <a:endParaRPr lang="en-US" sz="938" dirty="0"/>
          </a:p>
        </p:txBody>
      </p:sp>
      <p:sp>
        <p:nvSpPr>
          <p:cNvPr id="36" name="static"/>
          <p:cNvSpPr txBox="1"/>
          <p:nvPr/>
        </p:nvSpPr>
        <p:spPr>
          <a:xfrm>
            <a:off x="609600" y="4827315"/>
            <a:ext cx="4762500" cy="159990"/>
          </a:xfrm>
          <a:prstGeom prst="rect">
            <a:avLst/>
          </a:prstGeom>
          <a:noFill/>
          <a:ln/>
        </p:spPr>
        <p:txBody>
          <a:bodyPr wrap="squar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Otis et al. (2026). Management Science, 72(7). doi.org/10.1287/mnsc.2024.06909</a:t>
            </a:r>
            <a:endParaRPr lang="en-US" sz="900" dirty="0"/>
          </a:p>
        </p:txBody>
      </p:sp>
      <p:sp>
        <p:nvSpPr>
          <p:cNvPr id="37" name="b7:fade"/>
          <p:cNvSpPr txBox="1"/>
          <p:nvPr/>
        </p:nvSpPr>
        <p:spPr>
          <a:xfrm>
            <a:off x="4043288" y="4619625"/>
            <a:ext cx="2952750" cy="159990"/>
          </a:xfrm>
          <a:prstGeom prst="rect">
            <a:avLst/>
          </a:prstGeom>
          <a:noFill/>
          <a:ln/>
        </p:spPr>
        <p:txBody>
          <a:bodyPr wrap="squar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สองงานวิจัย </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บทเรียนเดียว</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a:t>
            </a:r>
            <a:endParaRPr lang="en-US" sz="900" dirty="0"/>
          </a:p>
        </p:txBody>
      </p:sp>
      <p:sp>
        <p:nvSpPr>
          <p:cNvPr id="38" name="!!key3-th-37 static"/>
          <p:cNvSpPr/>
          <p:nvPr/>
        </p:nvSpPr>
        <p:spPr>
          <a:xfrm>
            <a:off x="7048500" y="342900"/>
            <a:ext cx="1485900" cy="255240"/>
          </a:xfrm>
          <a:prstGeom prst="roundRect">
            <a:avLst>
              <a:gd name="adj" fmla="val 50000"/>
            </a:avLst>
          </a:prstGeom>
          <a:solidFill>
            <a:srgbClr val="2E8B86"/>
          </a:solidFill>
          <a:ln/>
        </p:spPr>
      </p:sp>
      <p:sp>
        <p:nvSpPr>
          <p:cNvPr id="39" name="!!key3-th-38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ธุรกิจขนาดเล็กจริง</a:t>
            </a:r>
            <a:endParaRPr lang="en-US" sz="900" dirty="0"/>
          </a:p>
        </p:txBody>
      </p:sp>
      <p:sp>
        <p:nvSpPr>
          <p:cNvPr id="40" name="!!key4-th-39 b8:pop"/>
          <p:cNvSpPr/>
          <p:nvPr/>
        </p:nvSpPr>
        <p:spPr>
          <a:xfrm>
            <a:off x="7048500" y="4572000"/>
            <a:ext cx="1485900" cy="255240"/>
          </a:xfrm>
          <a:prstGeom prst="roundRect">
            <a:avLst>
              <a:gd name="adj" fmla="val 50000"/>
            </a:avLst>
          </a:prstGeom>
          <a:solidFill>
            <a:srgbClr val="2E8B86"/>
          </a:solidFill>
          <a:ln/>
        </p:spPr>
      </p:sp>
      <p:sp>
        <p:nvSpPr>
          <p:cNvPr id="41" name="!!key4-th-40 b8:pop"/>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วิจารณญาณของมนุษย์</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53" presetID="23" presetClass="entr" presetSubtype="16"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Scale>
                                      <p:cBhvr>
                                        <p:cTn id="55" dur="500" fill="hold"/>
                                        <p:tgtEl>
                                          <p:spTgt spid="16"/>
                                        </p:tgtEl>
                                      </p:cBhvr>
                                      <p:from x="0" y="0"/>
                                      <p:to x="100000" y="100000"/>
                                    </p:animScale>
                                    <p:animEffect transition="in" filter="fade">
                                      <p:cBhvr>
                                        <p:cTn id="56" dur="500"/>
                                        <p:tgtEl>
                                          <p:spTgt spid="16"/>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Scale>
                                      <p:cBhvr>
                                        <p:cTn id="59" dur="500" fill="hold"/>
                                        <p:tgtEl>
                                          <p:spTgt spid="17"/>
                                        </p:tgtEl>
                                      </p:cBhvr>
                                      <p:from x="0" y="0"/>
                                      <p:to x="100000" y="100000"/>
                                    </p:animScale>
                                    <p:animEffect transition="in" filter="fade">
                                      <p:cBhvr>
                                        <p:cTn id="60" dur="500"/>
                                        <p:tgtEl>
                                          <p:spTgt spid="17"/>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Scale>
                                      <p:cBhvr>
                                        <p:cTn id="63" dur="500" fill="hold"/>
                                        <p:tgtEl>
                                          <p:spTgt spid="18"/>
                                        </p:tgtEl>
                                      </p:cBhvr>
                                      <p:from x="0" y="0"/>
                                      <p:to x="100000" y="100000"/>
                                    </p:animScale>
                                    <p:animEffect transition="in" filter="fade">
                                      <p:cBhvr>
                                        <p:cTn id="64" dur="500"/>
                                        <p:tgtEl>
                                          <p:spTgt spid="18"/>
                                        </p:tgtEl>
                                      </p:cBhvr>
                                    </p:animEffect>
                                  </p:childTnLst>
                                </p:cTn>
                              </p:par>
                              <p:par>
                                <p:cTn id="65" presetID="23" presetClass="entr" presetSubtype="16"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Scale>
                                      <p:cBhvr>
                                        <p:cTn id="67" dur="500" fill="hold"/>
                                        <p:tgtEl>
                                          <p:spTgt spid="19"/>
                                        </p:tgtEl>
                                      </p:cBhvr>
                                      <p:from x="0" y="0"/>
                                      <p:to x="100000" y="100000"/>
                                    </p:animScale>
                                    <p:animEffect transition="in" filter="fade">
                                      <p:cBhvr>
                                        <p:cTn id="68" dur="500"/>
                                        <p:tgtEl>
                                          <p:spTgt spid="19"/>
                                        </p:tgtEl>
                                      </p:cBhvr>
                                    </p:animEffect>
                                  </p:childTnLst>
                                </p:cTn>
                              </p:par>
                              <p:par>
                                <p:cTn id="69" presetID="23" presetClass="entr" presetSubtype="16"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Scale>
                                      <p:cBhvr>
                                        <p:cTn id="71" dur="500" fill="hold"/>
                                        <p:tgtEl>
                                          <p:spTgt spid="20"/>
                                        </p:tgtEl>
                                      </p:cBhvr>
                                      <p:from x="0" y="0"/>
                                      <p:to x="100000" y="100000"/>
                                    </p:animScale>
                                    <p:animEffect transition="in" filter="fade">
                                      <p:cBhvr>
                                        <p:cTn id="72" dur="500"/>
                                        <p:tgtEl>
                                          <p:spTgt spid="20"/>
                                        </p:tgtEl>
                                      </p:cBhvr>
                                    </p:animEffect>
                                  </p:childTnLst>
                                </p:cTn>
                              </p:par>
                              <p:par>
                                <p:cTn id="73" presetID="2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Scale>
                                      <p:cBhvr>
                                        <p:cTn id="75" dur="500" fill="hold"/>
                                        <p:tgtEl>
                                          <p:spTgt spid="21"/>
                                        </p:tgtEl>
                                      </p:cBhvr>
                                      <p:from x="0" y="0"/>
                                      <p:to x="100000" y="100000"/>
                                    </p:animScale>
                                    <p:animEffect transition="in" filter="fade">
                                      <p:cBhvr>
                                        <p:cTn id="76" dur="500"/>
                                        <p:tgtEl>
                                          <p:spTgt spid="21"/>
                                        </p:tgtEl>
                                      </p:cBhvr>
                                    </p:animEffect>
                                  </p:childTnLst>
                                </p:cTn>
                              </p:par>
                            </p:childTnLst>
                          </p:cTn>
                        </p:par>
                      </p:childTnLst>
                    </p:cTn>
                  </p:par>
                  <p:par>
                    <p:cTn id="91" fill="hold">
                      <p:stCondLst>
                        <p:cond delay="indefinite"/>
                      </p:stCondLst>
                      <p:childTnLst>
                        <p:par>
                          <p:cTn id="92"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childTnLst>
                          </p:cTn>
                        </p:par>
                      </p:childTnLst>
                    </p:cTn>
                  </p:par>
                  <p:par>
                    <p:cTn id="99" fill="hold">
                      <p:stCondLst>
                        <p:cond delay="indefinite"/>
                      </p:stCondLst>
                      <p:childTnLst>
                        <p:par>
                          <p:cTn id="100"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500"/>
                                        <p:tgtEl>
                                          <p:spTgt spid="26"/>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wipe(left)">
                                      <p:cBhvr>
                                        <p:cTn id="103" dur="500"/>
                                        <p:tgtEl>
                                          <p:spTgt spid="28"/>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left)">
                                      <p:cBhvr>
                                        <p:cTn id="106" dur="500"/>
                                        <p:tgtEl>
                                          <p:spTgt spid="29"/>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Effect transition="in" filter="wipe(left)">
                                      <p:cBhvr>
                                        <p:cTn id="109" dur="500"/>
                                        <p:tgtEl>
                                          <p:spTgt spid="30"/>
                                        </p:tgtEl>
                                      </p:cBhvr>
                                    </p:animEffect>
                                  </p:childTnLst>
                                </p:cTn>
                              </p:par>
                            </p:childTnLst>
                          </p:cTn>
                        </p:par>
                      </p:childTnLst>
                    </p:cTn>
                  </p:par>
                  <p:par>
                    <p:cTn id="132" fill="hold">
                      <p:stCondLst>
                        <p:cond delay="indefinite"/>
                      </p:stCondLst>
                      <p:childTnLst>
                        <p:par>
                          <p:cTn id="133" fill="hold">
                            <p:stCondLst>
                              <p:cond delay="0"/>
                            </p:stCondLst>
                            <p:childTnLst>
                              <p:par>
                                <p:cTn id="112" presetID="42" presetClass="entr" presetSubtype="0" fill="hold" grpId="0" nodeType="click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8"/>
                                          </p:val>
                                        </p:tav>
                                        <p:tav tm="100000">
                                          <p:val>
                                            <p:strVal val="#ppt_y"/>
                                          </p:val>
                                        </p:tav>
                                      </p:tavLst>
                                    </p:anim>
                                  </p:childTnLst>
                                </p:cTn>
                              </p:par>
                              <p:par>
                                <p:cTn id="128" presetID="42" presetClass="entr" presetSubtype="0" fill="hold" grpId="0" nodeType="withEffect">
                                  <p:stCondLst>
                                    <p:cond delay="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7" fill="hold">
                      <p:stCondLst>
                        <p:cond delay="indefinite"/>
                      </p:stCondLst>
                      <p:childTnLst>
                        <p:par>
                          <p:cTn id="138" fill="hold">
                            <p:stCondLst>
                              <p:cond delay="0"/>
                            </p:stCondLst>
                            <p:childTnLst>
                              <p:par>
                                <p:cTn id="134" presetID="10" presetClass="entr" presetSubtype="0" fill="hold" grpId="0" nodeType="clickEffect">
                                  <p:stCondLst>
                                    <p:cond delay="0"/>
                                  </p:stCondLst>
                                  <p:childTnLst>
                                    <p:set>
                                      <p:cBhvr>
                                        <p:cTn id="135" dur="1" fill="hold">
                                          <p:stCondLst>
                                            <p:cond delay="0"/>
                                          </p:stCondLst>
                                        </p:cTn>
                                        <p:tgtEl>
                                          <p:spTgt spid="37"/>
                                        </p:tgtEl>
                                        <p:attrNameLst>
                                          <p:attrName>style.visibility</p:attrName>
                                        </p:attrNameLst>
                                      </p:cBhvr>
                                      <p:to>
                                        <p:strVal val="visible"/>
                                      </p:to>
                                    </p:set>
                                    <p:animEffect transition="in" filter="fade">
                                      <p:cBhvr>
                                        <p:cTn id="136" dur="500"/>
                                        <p:tgtEl>
                                          <p:spTgt spid="37"/>
                                        </p:tgtEl>
                                      </p:cBhvr>
                                    </p:animEffect>
                                  </p:childTnLst>
                                </p:cTn>
                              </p:par>
                            </p:childTnLst>
                          </p:cTn>
                        </p:par>
                      </p:childTnLst>
                    </p:cTn>
                  </p:par>
                  <p:par>
                    <p:cTn id="147" fill="hold">
                      <p:stCondLst>
                        <p:cond delay="indefinite"/>
                      </p:stCondLst>
                      <p:childTnLst>
                        <p:par>
                          <p:cTn id="148" fill="hold">
                            <p:stCondLst>
                              <p:cond delay="0"/>
                            </p:stCondLst>
                            <p:childTnLst>
                              <p:par>
                                <p:cTn id="139" presetID="23" presetClass="entr" presetSubtype="16" fill="hold" grpId="0" nodeType="clickEffect">
                                  <p:stCondLst>
                                    <p:cond delay="0"/>
                                  </p:stCondLst>
                                  <p:childTnLst>
                                    <p:set>
                                      <p:cBhvr>
                                        <p:cTn id="140" dur="1" fill="hold">
                                          <p:stCondLst>
                                            <p:cond delay="0"/>
                                          </p:stCondLst>
                                        </p:cTn>
                                        <p:tgtEl>
                                          <p:spTgt spid="40"/>
                                        </p:tgtEl>
                                        <p:attrNameLst>
                                          <p:attrName>style.visibility</p:attrName>
                                        </p:attrNameLst>
                                      </p:cBhvr>
                                      <p:to>
                                        <p:strVal val="visible"/>
                                      </p:to>
                                    </p:set>
                                    <p:animScale>
                                      <p:cBhvr>
                                        <p:cTn id="141" dur="500" fill="hold"/>
                                        <p:tgtEl>
                                          <p:spTgt spid="40"/>
                                        </p:tgtEl>
                                      </p:cBhvr>
                                      <p:from x="0" y="0"/>
                                      <p:to x="100000" y="100000"/>
                                    </p:animScale>
                                    <p:animEffect transition="in" filter="fade">
                                      <p:cBhvr>
                                        <p:cTn id="142" dur="500"/>
                                        <p:tgtEl>
                                          <p:spTgt spid="40"/>
                                        </p:tgtEl>
                                      </p:cBhvr>
                                    </p:animEffect>
                                  </p:childTnLst>
                                </p:cTn>
                              </p:par>
                              <p:par>
                                <p:cTn id="143" presetID="23" presetClass="entr" presetSubtype="16"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Scale>
                                      <p:cBhvr>
                                        <p:cTn id="145" dur="500" fill="hold"/>
                                        <p:tgtEl>
                                          <p:spTgt spid="41"/>
                                        </p:tgtEl>
                                      </p:cBhvr>
                                      <p:from x="0" y="0"/>
                                      <p:to x="100000" y="100000"/>
                                    </p:animScale>
                                    <p:animEffect transition="in" filter="fade">
                                      <p:cBhvr>
                                        <p:cTn id="146"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squar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อภิปรายผลและเปรียบเทียบ</a:t>
            </a:r>
            <a:endParaRPr lang="en-US" sz="900" dirty="0"/>
          </a:p>
        </p:txBody>
      </p:sp>
      <p:sp>
        <p:nvSpPr>
          <p:cNvPr id="3" name="static"/>
          <p:cNvSpPr txBox="1"/>
          <p:nvPr/>
        </p:nvSpPr>
        <p:spPr>
          <a:xfrm>
            <a:off x="609600" y="617190"/>
            <a:ext cx="7924800" cy="422895"/>
          </a:xfrm>
          <a:prstGeom prst="rect">
            <a:avLst/>
          </a:prstGeom>
          <a:noFill/>
          <a:ln/>
        </p:spPr>
        <p:txBody>
          <a:bodyPr wrap="squar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AI เป็นเครื่องมือ ไม่ใช่หลักประกันความสำเร็จ</a:t>
            </a:r>
            <a:endParaRPr lang="en-US" sz="2400" dirty="0"/>
          </a:p>
        </p:txBody>
      </p:sp>
      <p:sp>
        <p:nvSpPr>
          <p:cNvPr id="4" name="b1:rise"/>
          <p:cNvSpPr/>
          <p:nvPr/>
        </p:nvSpPr>
        <p:spPr>
          <a:xfrm>
            <a:off x="609600" y="1381125"/>
            <a:ext cx="952500" cy="236190"/>
          </a:xfrm>
          <a:prstGeom prst="roundRect">
            <a:avLst>
              <a:gd name="adj" fmla="val 50000"/>
            </a:avLst>
          </a:prstGeom>
          <a:solidFill>
            <a:srgbClr val="BFE6E0"/>
          </a:solidFill>
          <a:ln/>
        </p:spPr>
      </p:sp>
      <p:sp>
        <p:nvSpPr>
          <p:cNvPr id="5" name="b1:rise"/>
          <p:cNvSpPr txBox="1"/>
          <p:nvPr/>
        </p:nvSpPr>
        <p:spPr>
          <a:xfrm>
            <a:off x="609600" y="1381125"/>
            <a:ext cx="952500" cy="236190"/>
          </a:xfrm>
          <a:prstGeom prst="rect">
            <a:avLst/>
          </a:prstGeom>
          <a:noFill/>
          <a:ln/>
        </p:spPr>
        <p:txBody>
          <a:bodyPr wrap="squar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6" name="b1:rise"/>
          <p:cNvSpPr/>
          <p:nvPr/>
        </p:nvSpPr>
        <p:spPr>
          <a:xfrm>
            <a:off x="609600" y="1981646"/>
            <a:ext cx="4763" cy="0"/>
          </a:xfrm>
          <a:prstGeom prst="line">
            <a:avLst/>
          </a:prstGeom>
          <a:noFill/>
          <a:ln w="6350">
            <a:solidFill>
              <a:srgbClr val="D8DEE6"/>
            </a:solidFill>
            <a:prstDash val="solid"/>
          </a:ln>
        </p:spPr>
      </p:sp>
      <p:sp>
        <p:nvSpPr>
          <p:cNvPr id="7" name="b1:rise"/>
          <p:cNvSpPr/>
          <p:nvPr/>
        </p:nvSpPr>
        <p:spPr>
          <a:xfrm>
            <a:off x="2036043" y="1981646"/>
            <a:ext cx="4763" cy="0"/>
          </a:xfrm>
          <a:prstGeom prst="line">
            <a:avLst/>
          </a:prstGeom>
          <a:noFill/>
          <a:ln w="6350">
            <a:solidFill>
              <a:srgbClr val="D8DEE6"/>
            </a:solidFill>
            <a:prstDash val="solid"/>
          </a:ln>
        </p:spPr>
      </p:sp>
      <p:sp>
        <p:nvSpPr>
          <p:cNvPr id="8" name="b1:rise"/>
          <p:cNvSpPr txBox="1"/>
          <p:nvPr/>
        </p:nvSpPr>
        <p:spPr>
          <a:xfrm>
            <a:off x="2036043" y="1674465"/>
            <a:ext cx="3249141" cy="307181"/>
          </a:xfrm>
          <a:prstGeom prst="rect">
            <a:avLst/>
          </a:prstGeom>
          <a:noFill/>
          <a:ln/>
        </p:spPr>
        <p:txBody>
          <a:bodyPr wrap="square" lIns="95250" tIns="0" rIns="95250" bIns="0" rtlCol="0" anchor="ctr"/>
          <a:lstStyle/>
          <a:p>
            <a:pPr algn="l" indent="0" marL="0">
              <a:lnSpc>
                <a:spcPts val="1125"/>
              </a:lnSpc>
              <a:buNone/>
            </a:pPr>
            <a:r>
              <a:rPr lang="en-US" sz="900" b="1" dirty="0">
                <a:solidFill>
                  <a:srgbClr val="1B2A4A"/>
                </a:solidFill>
                <a:latin typeface="Prompt" pitchFamily="34" charset="0"/>
                <a:ea typeface="Prompt" pitchFamily="34" charset="-122"/>
                <a:cs typeface="Prompt" pitchFamily="34" charset="-120"/>
              </a:rPr>
              <a:t>บทความที่ 2 · ที่ปรึกษา</a:t>
            </a:r>
            <a:endParaRPr lang="en-US" sz="900" dirty="0"/>
          </a:p>
        </p:txBody>
      </p:sp>
      <p:sp>
        <p:nvSpPr>
          <p:cNvPr id="9" name="b1:rise"/>
          <p:cNvSpPr/>
          <p:nvPr/>
        </p:nvSpPr>
        <p:spPr>
          <a:xfrm>
            <a:off x="5285184" y="1981646"/>
            <a:ext cx="4763" cy="0"/>
          </a:xfrm>
          <a:prstGeom prst="line">
            <a:avLst/>
          </a:prstGeom>
          <a:noFill/>
          <a:ln w="6350">
            <a:solidFill>
              <a:srgbClr val="D8DEE6"/>
            </a:solidFill>
            <a:prstDash val="solid"/>
          </a:ln>
        </p:spPr>
      </p:sp>
      <p:sp>
        <p:nvSpPr>
          <p:cNvPr id="10" name="b1:rise"/>
          <p:cNvSpPr txBox="1"/>
          <p:nvPr/>
        </p:nvSpPr>
        <p:spPr>
          <a:xfrm>
            <a:off x="5285184" y="1674465"/>
            <a:ext cx="3249216" cy="307181"/>
          </a:xfrm>
          <a:prstGeom prst="rect">
            <a:avLst/>
          </a:prstGeom>
          <a:noFill/>
          <a:ln/>
        </p:spPr>
        <p:txBody>
          <a:bodyPr wrap="square" lIns="95250" tIns="0" rIns="95250" bIns="0" rtlCol="0" anchor="ctr"/>
          <a:lstStyle/>
          <a:p>
            <a:pPr algn="l" indent="0" marL="0">
              <a:lnSpc>
                <a:spcPts val="1125"/>
              </a:lnSpc>
              <a:buNone/>
            </a:pPr>
            <a:r>
              <a:rPr lang="en-US" sz="900" b="1" dirty="0">
                <a:solidFill>
                  <a:srgbClr val="1B2A4A"/>
                </a:solidFill>
                <a:latin typeface="Prompt" pitchFamily="34" charset="0"/>
                <a:ea typeface="Prompt" pitchFamily="34" charset="-122"/>
                <a:cs typeface="Prompt" pitchFamily="34" charset="-120"/>
              </a:rPr>
              <a:t>บทความที่ 5 · ผู้ประกอบการ</a:t>
            </a:r>
            <a:endParaRPr lang="en-US" sz="900" dirty="0"/>
          </a:p>
        </p:txBody>
      </p:sp>
      <p:sp>
        <p:nvSpPr>
          <p:cNvPr id="11" name="b1:rise"/>
          <p:cNvSpPr/>
          <p:nvPr/>
        </p:nvSpPr>
        <p:spPr>
          <a:xfrm>
            <a:off x="609600" y="2291209"/>
            <a:ext cx="4763" cy="0"/>
          </a:xfrm>
          <a:prstGeom prst="line">
            <a:avLst/>
          </a:prstGeom>
          <a:noFill/>
          <a:ln w="6350">
            <a:solidFill>
              <a:srgbClr val="D8DEE6"/>
            </a:solidFill>
            <a:prstDash val="solid"/>
          </a:ln>
        </p:spPr>
      </p:sp>
      <p:sp>
        <p:nvSpPr>
          <p:cNvPr id="12" name="b1:rise"/>
          <p:cNvSpPr txBox="1"/>
          <p:nvPr/>
        </p:nvSpPr>
        <p:spPr>
          <a:xfrm>
            <a:off x="609600" y="1981646"/>
            <a:ext cx="1426443" cy="309562"/>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กลุ่มที่ศึกษา</a:t>
            </a:r>
            <a:endParaRPr lang="en-US" sz="900" dirty="0"/>
          </a:p>
        </p:txBody>
      </p:sp>
      <p:sp>
        <p:nvSpPr>
          <p:cNvPr id="13" name="b1:rise"/>
          <p:cNvSpPr/>
          <p:nvPr/>
        </p:nvSpPr>
        <p:spPr>
          <a:xfrm>
            <a:off x="2036043" y="2291209"/>
            <a:ext cx="4763" cy="0"/>
          </a:xfrm>
          <a:prstGeom prst="line">
            <a:avLst/>
          </a:prstGeom>
          <a:noFill/>
          <a:ln w="6350">
            <a:solidFill>
              <a:srgbClr val="D8DEE6"/>
            </a:solidFill>
            <a:prstDash val="solid"/>
          </a:ln>
        </p:spPr>
      </p:sp>
      <p:sp>
        <p:nvSpPr>
          <p:cNvPr id="14" name="b1:rise"/>
          <p:cNvSpPr txBox="1"/>
          <p:nvPr/>
        </p:nvSpPr>
        <p:spPr>
          <a:xfrm>
            <a:off x="2036043" y="1981646"/>
            <a:ext cx="3249141" cy="309562"/>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พนักงานความรู้ที่ BCG</a:t>
            </a:r>
            <a:endParaRPr lang="en-US" sz="900" dirty="0"/>
          </a:p>
        </p:txBody>
      </p:sp>
      <p:sp>
        <p:nvSpPr>
          <p:cNvPr id="15" name="b1:rise"/>
          <p:cNvSpPr/>
          <p:nvPr/>
        </p:nvSpPr>
        <p:spPr>
          <a:xfrm>
            <a:off x="5285184" y="2291209"/>
            <a:ext cx="4763" cy="0"/>
          </a:xfrm>
          <a:prstGeom prst="line">
            <a:avLst/>
          </a:prstGeom>
          <a:noFill/>
          <a:ln w="6350">
            <a:solidFill>
              <a:srgbClr val="D8DEE6"/>
            </a:solidFill>
            <a:prstDash val="solid"/>
          </a:ln>
        </p:spPr>
      </p:sp>
      <p:sp>
        <p:nvSpPr>
          <p:cNvPr id="16" name="b1:rise"/>
          <p:cNvSpPr txBox="1"/>
          <p:nvPr/>
        </p:nvSpPr>
        <p:spPr>
          <a:xfrm>
            <a:off x="5285184" y="1981646"/>
            <a:ext cx="3249216" cy="309562"/>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ธุรกิจขนาดเล็กในเคนยา</a:t>
            </a:r>
            <a:endParaRPr lang="en-US" sz="900" dirty="0"/>
          </a:p>
        </p:txBody>
      </p:sp>
      <p:sp>
        <p:nvSpPr>
          <p:cNvPr id="17" name="b1:rise"/>
          <p:cNvSpPr/>
          <p:nvPr/>
        </p:nvSpPr>
        <p:spPr>
          <a:xfrm>
            <a:off x="609600" y="2291209"/>
            <a:ext cx="7924800" cy="309562"/>
          </a:xfrm>
          <a:prstGeom prst="rect">
            <a:avLst/>
          </a:prstGeom>
          <a:solidFill>
            <a:srgbClr val="EEF1F5"/>
          </a:solidFill>
          <a:ln/>
        </p:spPr>
      </p:sp>
      <p:sp>
        <p:nvSpPr>
          <p:cNvPr id="18" name="b1:rise"/>
          <p:cNvSpPr/>
          <p:nvPr/>
        </p:nvSpPr>
        <p:spPr>
          <a:xfrm>
            <a:off x="609600" y="2600771"/>
            <a:ext cx="4763" cy="0"/>
          </a:xfrm>
          <a:prstGeom prst="line">
            <a:avLst/>
          </a:prstGeom>
          <a:noFill/>
          <a:ln w="6350">
            <a:solidFill>
              <a:srgbClr val="D8DEE6"/>
            </a:solidFill>
            <a:prstDash val="solid"/>
          </a:ln>
        </p:spPr>
      </p:sp>
      <p:sp>
        <p:nvSpPr>
          <p:cNvPr id="19" name="b1:rise"/>
          <p:cNvSpPr txBox="1"/>
          <p:nvPr/>
        </p:nvSpPr>
        <p:spPr>
          <a:xfrm>
            <a:off x="609600" y="2291209"/>
            <a:ext cx="1426443" cy="309562"/>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ผลหลัก</a:t>
            </a:r>
            <a:endParaRPr lang="en-US" sz="900" dirty="0"/>
          </a:p>
        </p:txBody>
      </p:sp>
      <p:sp>
        <p:nvSpPr>
          <p:cNvPr id="20" name="b1:rise"/>
          <p:cNvSpPr/>
          <p:nvPr/>
        </p:nvSpPr>
        <p:spPr>
          <a:xfrm>
            <a:off x="2036043" y="2600771"/>
            <a:ext cx="4763" cy="0"/>
          </a:xfrm>
          <a:prstGeom prst="line">
            <a:avLst/>
          </a:prstGeom>
          <a:noFill/>
          <a:ln w="6350">
            <a:solidFill>
              <a:srgbClr val="D8DEE6"/>
            </a:solidFill>
            <a:prstDash val="solid"/>
          </a:ln>
        </p:spPr>
      </p:sp>
      <p:sp>
        <p:nvSpPr>
          <p:cNvPr id="21" name="b1:rise"/>
          <p:cNvSpPr txBox="1"/>
          <p:nvPr/>
        </p:nvSpPr>
        <p:spPr>
          <a:xfrm>
            <a:off x="2036043" y="2291209"/>
            <a:ext cx="3249141" cy="309562"/>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ผลิตภาพและคุณภาพสูงขึ้นภายในพรมแดนความสามารถของ AI</a:t>
            </a:r>
            <a:endParaRPr lang="en-US" sz="900" dirty="0"/>
          </a:p>
        </p:txBody>
      </p:sp>
      <p:sp>
        <p:nvSpPr>
          <p:cNvPr id="22" name="b1:rise"/>
          <p:cNvSpPr/>
          <p:nvPr/>
        </p:nvSpPr>
        <p:spPr>
          <a:xfrm>
            <a:off x="5285184" y="2600771"/>
            <a:ext cx="4763" cy="0"/>
          </a:xfrm>
          <a:prstGeom prst="line">
            <a:avLst/>
          </a:prstGeom>
          <a:noFill/>
          <a:ln w="6350">
            <a:solidFill>
              <a:srgbClr val="D8DEE6"/>
            </a:solidFill>
            <a:prstDash val="solid"/>
          </a:ln>
        </p:spPr>
      </p:sp>
      <p:sp>
        <p:nvSpPr>
          <p:cNvPr id="23" name="b1:rise"/>
          <p:cNvSpPr txBox="1"/>
          <p:nvPr/>
        </p:nvSpPr>
        <p:spPr>
          <a:xfrm>
            <a:off x="5285184" y="2291209"/>
            <a:ext cx="3249216" cy="309562"/>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ไม่พบผลเฉลี่ยต่อรายได้และกำไรอย่างชัดเจน</a:t>
            </a:r>
            <a:endParaRPr lang="en-US" sz="900" dirty="0"/>
          </a:p>
        </p:txBody>
      </p:sp>
      <p:sp>
        <p:nvSpPr>
          <p:cNvPr id="24" name="b1:rise"/>
          <p:cNvSpPr/>
          <p:nvPr/>
        </p:nvSpPr>
        <p:spPr>
          <a:xfrm>
            <a:off x="609600" y="2910334"/>
            <a:ext cx="4763" cy="0"/>
          </a:xfrm>
          <a:prstGeom prst="line">
            <a:avLst/>
          </a:prstGeom>
          <a:noFill/>
          <a:ln w="6350">
            <a:solidFill>
              <a:srgbClr val="D8DEE6"/>
            </a:solidFill>
            <a:prstDash val="solid"/>
          </a:ln>
        </p:spPr>
      </p:sp>
      <p:sp>
        <p:nvSpPr>
          <p:cNvPr id="25" name="b1:rise"/>
          <p:cNvSpPr txBox="1"/>
          <p:nvPr/>
        </p:nvSpPr>
        <p:spPr>
          <a:xfrm>
            <a:off x="609600" y="2600771"/>
            <a:ext cx="1426443" cy="309562"/>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ข้อค้นพบสำคัญ</a:t>
            </a:r>
            <a:endParaRPr lang="en-US" sz="900" dirty="0"/>
          </a:p>
        </p:txBody>
      </p:sp>
      <p:sp>
        <p:nvSpPr>
          <p:cNvPr id="26" name="b1:rise"/>
          <p:cNvSpPr/>
          <p:nvPr/>
        </p:nvSpPr>
        <p:spPr>
          <a:xfrm>
            <a:off x="2036043" y="2910334"/>
            <a:ext cx="4763" cy="0"/>
          </a:xfrm>
          <a:prstGeom prst="line">
            <a:avLst/>
          </a:prstGeom>
          <a:noFill/>
          <a:ln w="6350">
            <a:solidFill>
              <a:srgbClr val="D8DEE6"/>
            </a:solidFill>
            <a:prstDash val="solid"/>
          </a:ln>
        </p:spPr>
      </p:sp>
      <p:sp>
        <p:nvSpPr>
          <p:cNvPr id="27" name="b1:rise"/>
          <p:cNvSpPr txBox="1"/>
          <p:nvPr/>
        </p:nvSpPr>
        <p:spPr>
          <a:xfrm>
            <a:off x="2036043" y="2600771"/>
            <a:ext cx="3249141" cy="309562"/>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ความถูกต้องลดลงในงานนอกพรมแดน</a:t>
            </a:r>
            <a:endParaRPr lang="en-US" sz="900" dirty="0"/>
          </a:p>
        </p:txBody>
      </p:sp>
      <p:sp>
        <p:nvSpPr>
          <p:cNvPr id="28" name="b1:rise"/>
          <p:cNvSpPr/>
          <p:nvPr/>
        </p:nvSpPr>
        <p:spPr>
          <a:xfrm>
            <a:off x="5285184" y="2910334"/>
            <a:ext cx="4763" cy="0"/>
          </a:xfrm>
          <a:prstGeom prst="line">
            <a:avLst/>
          </a:prstGeom>
          <a:noFill/>
          <a:ln w="6350">
            <a:solidFill>
              <a:srgbClr val="D8DEE6"/>
            </a:solidFill>
            <a:prstDash val="solid"/>
          </a:ln>
        </p:spPr>
      </p:sp>
      <p:sp>
        <p:nvSpPr>
          <p:cNvPr id="29" name="b1:rise"/>
          <p:cNvSpPr txBox="1"/>
          <p:nvPr/>
        </p:nvSpPr>
        <p:spPr>
          <a:xfrm>
            <a:off x="5285184" y="2600771"/>
            <a:ext cx="3249216" cy="309562"/>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ผลขึ้นกับผลงานตั้งต้นและคำแนะนำที่เลือกนำไปใช้</a:t>
            </a:r>
            <a:endParaRPr lang="en-US" sz="900" dirty="0"/>
          </a:p>
        </p:txBody>
      </p:sp>
      <p:sp>
        <p:nvSpPr>
          <p:cNvPr id="30" name="b2:pop"/>
          <p:cNvSpPr/>
          <p:nvPr/>
        </p:nvSpPr>
        <p:spPr>
          <a:xfrm>
            <a:off x="609600" y="3143250"/>
            <a:ext cx="7924800" cy="1090687"/>
          </a:xfrm>
          <a:prstGeom prst="roundRect">
            <a:avLst>
              <a:gd name="adj" fmla="val 10480"/>
            </a:avLst>
          </a:prstGeom>
          <a:solidFill>
            <a:srgbClr val="2E8B86"/>
          </a:solidFill>
          <a:ln/>
        </p:spPr>
      </p:sp>
      <p:sp>
        <p:nvSpPr>
          <p:cNvPr id="31" name="b2:pop"/>
          <p:cNvSpPr/>
          <p:nvPr/>
        </p:nvSpPr>
        <p:spPr>
          <a:xfrm>
            <a:off x="819150" y="3276600"/>
            <a:ext cx="857250" cy="217140"/>
          </a:xfrm>
          <a:prstGeom prst="roundRect">
            <a:avLst>
              <a:gd name="adj" fmla="val 50000"/>
            </a:avLst>
          </a:prstGeom>
          <a:solidFill>
            <a:srgbClr val="F7F9FB"/>
          </a:solidFill>
          <a:ln/>
        </p:spPr>
      </p:sp>
      <p:sp>
        <p:nvSpPr>
          <p:cNvPr id="32" name="b2:pop"/>
          <p:cNvSpPr txBox="1"/>
          <p:nvPr/>
        </p:nvSpPr>
        <p:spPr>
          <a:xfrm>
            <a:off x="819150" y="3276600"/>
            <a:ext cx="857250" cy="217140"/>
          </a:xfrm>
          <a:prstGeom prst="rect">
            <a:avLst/>
          </a:prstGeom>
          <a:noFill/>
          <a:ln/>
        </p:spPr>
        <p:txBody>
          <a:bodyPr wrap="square" lIns="85725" tIns="0" rIns="85725"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การตีความ</a:t>
            </a:r>
            <a:endParaRPr lang="en-US" sz="900" dirty="0"/>
          </a:p>
        </p:txBody>
      </p:sp>
      <p:sp>
        <p:nvSpPr>
          <p:cNvPr id="33" name="b2:pop"/>
          <p:cNvSpPr txBox="1"/>
          <p:nvPr/>
        </p:nvSpPr>
        <p:spPr>
          <a:xfrm>
            <a:off x="819150" y="3541365"/>
            <a:ext cx="3400425" cy="559222"/>
          </a:xfrm>
          <a:prstGeom prst="rect">
            <a:avLst/>
          </a:prstGeom>
          <a:noFill/>
          <a:ln/>
        </p:spPr>
        <p:txBody>
          <a:bodyPr wrap="square" lIns="0" tIns="0" rIns="0" bIns="0" rtlCol="0" anchor="t"/>
          <a:lstStyle/>
          <a:p>
            <a:pPr algn="l" indent="0" marL="0">
              <a:lnSpc>
                <a:spcPts val="1468"/>
              </a:lnSpc>
              <a:buNone/>
            </a:pPr>
            <a:r>
              <a:rPr lang="en-US" sz="1013" b="1" dirty="0">
                <a:solidFill>
                  <a:srgbClr val="F7F9FB"/>
                </a:solidFill>
                <a:latin typeface="Prompt" pitchFamily="34" charset="0"/>
                <a:ea typeface="Prompt" pitchFamily="34" charset="-122"/>
                <a:cs typeface="Prompt" pitchFamily="34" charset="-120"/>
              </a:rPr>
              <a:t>AI ส่งผลต่อผลการทำงานจริงได้ แต่ผลกระทบขึ้นอยู่กับความเหมาะสมของงาน พฤติกรรมของผู้ใช้ และ</a:t>
            </a:r>
            <a:pPr algn="l" indent="0" marL="0">
              <a:lnSpc>
                <a:spcPts val="1468"/>
              </a:lnSpc>
              <a:buNone/>
            </a:pPr>
            <a:r>
              <a:rPr lang="en-US" sz="1013" b="1" u="sng" dirty="0">
                <a:solidFill>
                  <a:srgbClr val="F7F9FB"/>
                </a:solidFill>
                <a:latin typeface="Prompt" pitchFamily="34" charset="0"/>
                <a:ea typeface="Prompt" pitchFamily="34" charset="-122"/>
                <a:cs typeface="Prompt" pitchFamily="34" charset="-120"/>
              </a:rPr>
              <a:t>วิจารณญาณของมนุษย์</a:t>
            </a:r>
            <a:endParaRPr lang="en-US" sz="1013" dirty="0"/>
          </a:p>
        </p:txBody>
      </p:sp>
      <p:pic>
        <p:nvPicPr>
          <p:cNvPr id="34" name="b2:pop icon Check" descr="preencoded.png">    </p:cNvPr>
          <p:cNvPicPr>
            <a:picLocks noChangeAspect="1"/>
          </p:cNvPicPr>
          <p:nvPr/>
        </p:nvPicPr>
        <p:blipFill>
          <a:blip r:embed="rId1"/>
          <a:stretch>
            <a:fillRect/>
          </a:stretch>
        </p:blipFill>
        <p:spPr>
          <a:xfrm>
            <a:off x="4343400" y="3409504"/>
            <a:ext cx="142875" cy="142875"/>
          </a:xfrm>
          <a:prstGeom prst="rect">
            <a:avLst/>
          </a:prstGeom>
        </p:spPr>
      </p:pic>
      <p:sp>
        <p:nvSpPr>
          <p:cNvPr id="35" name="b2:pop"/>
          <p:cNvSpPr txBox="1"/>
          <p:nvPr/>
        </p:nvSpPr>
        <p:spPr>
          <a:xfrm>
            <a:off x="4552950" y="3400946"/>
            <a:ext cx="1599977" cy="159990"/>
          </a:xfrm>
          <a:prstGeom prst="rect">
            <a:avLst/>
          </a:prstGeom>
          <a:noFill/>
          <a:ln/>
        </p:spPr>
        <p:txBody>
          <a:bodyPr wrap="squar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เลือกงานให้ตรงกับจุดแข็งของ AI</a:t>
            </a:r>
            <a:endParaRPr lang="en-US" sz="900" dirty="0"/>
          </a:p>
        </p:txBody>
      </p:sp>
      <p:pic>
        <p:nvPicPr>
          <p:cNvPr id="36" name="b2:pop icon Check" descr="preencoded.png">    </p:cNvPr>
          <p:cNvPicPr>
            <a:picLocks noChangeAspect="1"/>
          </p:cNvPicPr>
          <p:nvPr/>
        </p:nvPicPr>
        <p:blipFill>
          <a:blip r:embed="rId2"/>
          <a:stretch>
            <a:fillRect/>
          </a:stretch>
        </p:blipFill>
        <p:spPr>
          <a:xfrm>
            <a:off x="4343400" y="3617119"/>
            <a:ext cx="142875" cy="142875"/>
          </a:xfrm>
          <a:prstGeom prst="rect">
            <a:avLst/>
          </a:prstGeom>
        </p:spPr>
      </p:pic>
      <p:sp>
        <p:nvSpPr>
          <p:cNvPr id="37" name="b2:pop"/>
          <p:cNvSpPr txBox="1"/>
          <p:nvPr/>
        </p:nvSpPr>
        <p:spPr>
          <a:xfrm>
            <a:off x="4552950" y="3608561"/>
            <a:ext cx="2126679" cy="159990"/>
          </a:xfrm>
          <a:prstGeom prst="rect">
            <a:avLst/>
          </a:prstGeom>
          <a:noFill/>
          <a:ln/>
        </p:spPr>
        <p:txBody>
          <a:bodyPr wrap="squar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ประเมินคำแนะนำของ AI อย่างมีวิจารณญาณ</a:t>
            </a:r>
            <a:endParaRPr lang="en-US" sz="900" dirty="0"/>
          </a:p>
        </p:txBody>
      </p:sp>
      <p:pic>
        <p:nvPicPr>
          <p:cNvPr id="38" name="b2:pop icon Check" descr="preencoded.png">    </p:cNvPr>
          <p:cNvPicPr>
            <a:picLocks noChangeAspect="1"/>
          </p:cNvPicPr>
          <p:nvPr/>
        </p:nvPicPr>
        <p:blipFill>
          <a:blip r:embed="rId3"/>
          <a:stretch>
            <a:fillRect/>
          </a:stretch>
        </p:blipFill>
        <p:spPr>
          <a:xfrm>
            <a:off x="4343400" y="3824734"/>
            <a:ext cx="142875" cy="142875"/>
          </a:xfrm>
          <a:prstGeom prst="rect">
            <a:avLst/>
          </a:prstGeom>
        </p:spPr>
      </p:pic>
      <p:sp>
        <p:nvSpPr>
          <p:cNvPr id="39" name="b2:pop"/>
          <p:cNvSpPr txBox="1"/>
          <p:nvPr/>
        </p:nvSpPr>
        <p:spPr>
          <a:xfrm>
            <a:off x="4552950" y="3816176"/>
            <a:ext cx="1272332" cy="159990"/>
          </a:xfrm>
          <a:prstGeom prst="rect">
            <a:avLst/>
          </a:prstGeom>
          <a:noFill/>
          <a:ln/>
        </p:spPr>
        <p:txBody>
          <a:bodyPr wrap="squar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ให้มนุษย์ตัดสินใจขั้นสุดท้าย</a:t>
            </a:r>
            <a:endParaRPr lang="en-US" sz="900" dirty="0"/>
          </a:p>
        </p:txBody>
      </p:sp>
      <p:pic>
        <p:nvPicPr>
          <p:cNvPr id="40" name="b2:pop (คนยื่นมือจับมือ)" descr="/home/user/slide-present-en/presentation/webdeck/art/human-shake-teal.png">    </p:cNvPr>
          <p:cNvPicPr>
            <a:picLocks noChangeAspect="1"/>
          </p:cNvPicPr>
          <p:nvPr/>
        </p:nvPicPr>
        <p:blipFill>
          <a:blip r:embed="rId4"/>
          <a:stretch>
            <a:fillRect/>
          </a:stretch>
        </p:blipFill>
        <p:spPr>
          <a:xfrm>
            <a:off x="7134225" y="3364706"/>
            <a:ext cx="571500" cy="647700"/>
          </a:xfrm>
          <a:prstGeom prst="rect">
            <a:avLst/>
          </a:prstGeom>
        </p:spPr>
      </p:pic>
      <p:pic>
        <p:nvPicPr>
          <p:cNvPr id="41" name="b2:pop (มาสคอตหุ่นยนต์ยื่นมือจับมือ)" descr="/home/user/slide-present-en/presentation/webdeck/art/robot-shake-teal.png">    </p:cNvPr>
          <p:cNvPicPr>
            <a:picLocks noChangeAspect="1"/>
          </p:cNvPicPr>
          <p:nvPr/>
        </p:nvPicPr>
        <p:blipFill>
          <a:blip r:embed="rId5"/>
          <a:stretch>
            <a:fillRect/>
          </a:stretch>
        </p:blipFill>
        <p:spPr>
          <a:xfrm>
            <a:off x="7705725" y="3364706"/>
            <a:ext cx="619125" cy="647700"/>
          </a:xfrm>
          <a:prstGeom prst="rect">
            <a:avLst/>
          </a:prstGeom>
        </p:spPr>
      </p:pic>
      <p:sp>
        <p:nvSpPr>
          <p:cNvPr id="42" name="static"/>
          <p:cNvSpPr txBox="1"/>
          <p:nvPr/>
        </p:nvSpPr>
        <p:spPr>
          <a:xfrm>
            <a:off x="609600" y="4678710"/>
            <a:ext cx="5343525" cy="319980"/>
          </a:xfrm>
          <a:prstGeom prst="rect">
            <a:avLst/>
          </a:prstGeom>
          <a:noFill/>
          <a:ln/>
        </p:spPr>
        <p:txBody>
          <a:bodyPr wrap="square" lIns="0" tIns="0" rIns="0" bIns="0" rtlCol="0" anchor="t"/>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HBS Working Paper 24-013 · Otis et al. (2026), Management Science 72(7), doi.org/10.1287/mnsc.2024.06909</a:t>
            </a:r>
            <a:endParaRPr lang="en-US" sz="900" dirty="0"/>
          </a:p>
        </p:txBody>
      </p:sp>
      <p:sp>
        <p:nvSpPr>
          <p:cNvPr id="43" name="b3:fade"/>
          <p:cNvSpPr txBox="1"/>
          <p:nvPr/>
        </p:nvSpPr>
        <p:spPr>
          <a:xfrm>
            <a:off x="6153150" y="4678710"/>
            <a:ext cx="2381250" cy="159990"/>
          </a:xfrm>
          <a:prstGeom prst="rect">
            <a:avLst/>
          </a:prstGeom>
          <a:noFill/>
          <a:ln/>
        </p:spPr>
        <p:txBody>
          <a:bodyPr wrap="squar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ขอบคุณครับ</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ยินดีรับคำถาม</a:t>
            </a:r>
            <a:endParaRPr lang="en-US" sz="900" dirty="0"/>
          </a:p>
        </p:txBody>
      </p:sp>
      <p:sp>
        <p:nvSpPr>
          <p:cNvPr id="44" name="!!key4-th-43 static"/>
          <p:cNvSpPr/>
          <p:nvPr/>
        </p:nvSpPr>
        <p:spPr>
          <a:xfrm>
            <a:off x="7048500" y="342900"/>
            <a:ext cx="1485900" cy="255240"/>
          </a:xfrm>
          <a:prstGeom prst="roundRect">
            <a:avLst>
              <a:gd name="adj" fmla="val 50000"/>
            </a:avLst>
          </a:prstGeom>
          <a:solidFill>
            <a:srgbClr val="2E8B86"/>
          </a:solidFill>
          <a:ln/>
        </p:spPr>
      </p:sp>
      <p:sp>
        <p:nvSpPr>
          <p:cNvPr id="45" name="!!key4-th-44 static"/>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วิจารณญาณของมนุษย์</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7" fill="hold">
                      <p:stCondLst>
                        <p:cond delay="indefinite"/>
                      </p:stCondLst>
                      <p:childTnLst>
                        <p:par>
                          <p:cTn id="10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8"/>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09" presetID="23" presetClass="entr" presetSubtype="16" fill="hold" grpId="0" nodeType="clickEffect">
                                  <p:stCondLst>
                                    <p:cond delay="0"/>
                                  </p:stCondLst>
                                  <p:childTnLst>
                                    <p:set>
                                      <p:cBhvr>
                                        <p:cTn id="110" dur="1" fill="hold">
                                          <p:stCondLst>
                                            <p:cond delay="0"/>
                                          </p:stCondLst>
                                        </p:cTn>
                                        <p:tgtEl>
                                          <p:spTgt spid="30"/>
                                        </p:tgtEl>
                                        <p:attrNameLst>
                                          <p:attrName>style.visibility</p:attrName>
                                        </p:attrNameLst>
                                      </p:cBhvr>
                                      <p:to>
                                        <p:strVal val="visible"/>
                                      </p:to>
                                    </p:set>
                                    <p:animScale>
                                      <p:cBhvr>
                                        <p:cTn id="111" dur="500" fill="hold"/>
                                        <p:tgtEl>
                                          <p:spTgt spid="30"/>
                                        </p:tgtEl>
                                      </p:cBhvr>
                                      <p:from x="0" y="0"/>
                                      <p:to x="100000" y="100000"/>
                                    </p:animScale>
                                    <p:animEffect transition="in" filter="fade">
                                      <p:cBhvr>
                                        <p:cTn id="112" dur="500"/>
                                        <p:tgtEl>
                                          <p:spTgt spid="30"/>
                                        </p:tgtEl>
                                      </p:cBhvr>
                                    </p:animEffect>
                                  </p:childTnLst>
                                </p:cTn>
                              </p:par>
                              <p:par>
                                <p:cTn id="113" presetID="23" presetClass="entr" presetSubtype="16" fill="hold" grpId="0" nodeType="withEffect">
                                  <p:stCondLst>
                                    <p:cond delay="0"/>
                                  </p:stCondLst>
                                  <p:childTnLst>
                                    <p:set>
                                      <p:cBhvr>
                                        <p:cTn id="114" dur="1" fill="hold">
                                          <p:stCondLst>
                                            <p:cond delay="0"/>
                                          </p:stCondLst>
                                        </p:cTn>
                                        <p:tgtEl>
                                          <p:spTgt spid="31"/>
                                        </p:tgtEl>
                                        <p:attrNameLst>
                                          <p:attrName>style.visibility</p:attrName>
                                        </p:attrNameLst>
                                      </p:cBhvr>
                                      <p:to>
                                        <p:strVal val="visible"/>
                                      </p:to>
                                    </p:set>
                                    <p:animScale>
                                      <p:cBhvr>
                                        <p:cTn id="115" dur="500" fill="hold"/>
                                        <p:tgtEl>
                                          <p:spTgt spid="31"/>
                                        </p:tgtEl>
                                      </p:cBhvr>
                                      <p:from x="0" y="0"/>
                                      <p:to x="100000" y="100000"/>
                                    </p:animScale>
                                    <p:animEffect transition="in" filter="fade">
                                      <p:cBhvr>
                                        <p:cTn id="116" dur="500"/>
                                        <p:tgtEl>
                                          <p:spTgt spid="31"/>
                                        </p:tgtEl>
                                      </p:cBhvr>
                                    </p:animEffect>
                                  </p:childTnLst>
                                </p:cTn>
                              </p:par>
                              <p:par>
                                <p:cTn id="117" presetID="23" presetClass="entr" presetSubtype="16" fill="hold" grpId="0" nodeType="withEffect">
                                  <p:stCondLst>
                                    <p:cond delay="0"/>
                                  </p:stCondLst>
                                  <p:childTnLst>
                                    <p:set>
                                      <p:cBhvr>
                                        <p:cTn id="118" dur="1" fill="hold">
                                          <p:stCondLst>
                                            <p:cond delay="0"/>
                                          </p:stCondLst>
                                        </p:cTn>
                                        <p:tgtEl>
                                          <p:spTgt spid="32"/>
                                        </p:tgtEl>
                                        <p:attrNameLst>
                                          <p:attrName>style.visibility</p:attrName>
                                        </p:attrNameLst>
                                      </p:cBhvr>
                                      <p:to>
                                        <p:strVal val="visible"/>
                                      </p:to>
                                    </p:set>
                                    <p:animScale>
                                      <p:cBhvr>
                                        <p:cTn id="119" dur="500" fill="hold"/>
                                        <p:tgtEl>
                                          <p:spTgt spid="32"/>
                                        </p:tgtEl>
                                      </p:cBhvr>
                                      <p:from x="0" y="0"/>
                                      <p:to x="100000" y="100000"/>
                                    </p:animScale>
                                    <p:animEffect transition="in" filter="fade">
                                      <p:cBhvr>
                                        <p:cTn id="120" dur="500"/>
                                        <p:tgtEl>
                                          <p:spTgt spid="32"/>
                                        </p:tgtEl>
                                      </p:cBhvr>
                                    </p:animEffect>
                                  </p:childTnLst>
                                </p:cTn>
                              </p:par>
                              <p:par>
                                <p:cTn id="121" presetID="23" presetClass="entr" presetSubtype="16" fill="hold" grpId="0" nodeType="withEffect">
                                  <p:stCondLst>
                                    <p:cond delay="0"/>
                                  </p:stCondLst>
                                  <p:childTnLst>
                                    <p:set>
                                      <p:cBhvr>
                                        <p:cTn id="122" dur="1" fill="hold">
                                          <p:stCondLst>
                                            <p:cond delay="0"/>
                                          </p:stCondLst>
                                        </p:cTn>
                                        <p:tgtEl>
                                          <p:spTgt spid="33"/>
                                        </p:tgtEl>
                                        <p:attrNameLst>
                                          <p:attrName>style.visibility</p:attrName>
                                        </p:attrNameLst>
                                      </p:cBhvr>
                                      <p:to>
                                        <p:strVal val="visible"/>
                                      </p:to>
                                    </p:set>
                                    <p:animScale>
                                      <p:cBhvr>
                                        <p:cTn id="123" dur="500" fill="hold"/>
                                        <p:tgtEl>
                                          <p:spTgt spid="33"/>
                                        </p:tgtEl>
                                      </p:cBhvr>
                                      <p:from x="0" y="0"/>
                                      <p:to x="100000" y="100000"/>
                                    </p:animScale>
                                    <p:animEffect transition="in" filter="fade">
                                      <p:cBhvr>
                                        <p:cTn id="124" dur="500"/>
                                        <p:tgtEl>
                                          <p:spTgt spid="33"/>
                                        </p:tgtEl>
                                      </p:cBhvr>
                                    </p:animEffect>
                                  </p:childTnLst>
                                </p:cTn>
                              </p:par>
                              <p:par>
                                <p:cTn id="125" presetID="23" presetClass="entr" presetSubtype="16" fill="hold" grpId="0" nodeType="withEffect">
                                  <p:stCondLst>
                                    <p:cond delay="0"/>
                                  </p:stCondLst>
                                  <p:childTnLst>
                                    <p:set>
                                      <p:cBhvr>
                                        <p:cTn id="126" dur="1" fill="hold">
                                          <p:stCondLst>
                                            <p:cond delay="0"/>
                                          </p:stCondLst>
                                        </p:cTn>
                                        <p:tgtEl>
                                          <p:spTgt spid="34"/>
                                        </p:tgtEl>
                                        <p:attrNameLst>
                                          <p:attrName>style.visibility</p:attrName>
                                        </p:attrNameLst>
                                      </p:cBhvr>
                                      <p:to>
                                        <p:strVal val="visible"/>
                                      </p:to>
                                    </p:set>
                                    <p:animScale>
                                      <p:cBhvr>
                                        <p:cTn id="127" dur="500" fill="hold"/>
                                        <p:tgtEl>
                                          <p:spTgt spid="34"/>
                                        </p:tgtEl>
                                      </p:cBhvr>
                                      <p:from x="0" y="0"/>
                                      <p:to x="100000" y="100000"/>
                                    </p:animScale>
                                    <p:animEffect transition="in" filter="fade">
                                      <p:cBhvr>
                                        <p:cTn id="128" dur="500"/>
                                        <p:tgtEl>
                                          <p:spTgt spid="34"/>
                                        </p:tgtEl>
                                      </p:cBhvr>
                                    </p:animEffect>
                                  </p:childTnLst>
                                </p:cTn>
                              </p:par>
                              <p:par>
                                <p:cTn id="129" presetID="23" presetClass="entr" presetSubtype="16" fill="hold" grpId="0" nodeType="withEffect">
                                  <p:stCondLst>
                                    <p:cond delay="0"/>
                                  </p:stCondLst>
                                  <p:childTnLst>
                                    <p:set>
                                      <p:cBhvr>
                                        <p:cTn id="130" dur="1" fill="hold">
                                          <p:stCondLst>
                                            <p:cond delay="0"/>
                                          </p:stCondLst>
                                        </p:cTn>
                                        <p:tgtEl>
                                          <p:spTgt spid="35"/>
                                        </p:tgtEl>
                                        <p:attrNameLst>
                                          <p:attrName>style.visibility</p:attrName>
                                        </p:attrNameLst>
                                      </p:cBhvr>
                                      <p:to>
                                        <p:strVal val="visible"/>
                                      </p:to>
                                    </p:set>
                                    <p:animScale>
                                      <p:cBhvr>
                                        <p:cTn id="131" dur="500" fill="hold"/>
                                        <p:tgtEl>
                                          <p:spTgt spid="35"/>
                                        </p:tgtEl>
                                      </p:cBhvr>
                                      <p:from x="0" y="0"/>
                                      <p:to x="100000" y="100000"/>
                                    </p:animScale>
                                    <p:animEffect transition="in" filter="fade">
                                      <p:cBhvr>
                                        <p:cTn id="132" dur="500"/>
                                        <p:tgtEl>
                                          <p:spTgt spid="35"/>
                                        </p:tgtEl>
                                      </p:cBhvr>
                                    </p:animEffect>
                                  </p:childTnLst>
                                </p:cTn>
                              </p:par>
                              <p:par>
                                <p:cTn id="133" presetID="23" presetClass="entr" presetSubtype="16" fill="hold" grpId="0" nodeType="withEffect">
                                  <p:stCondLst>
                                    <p:cond delay="0"/>
                                  </p:stCondLst>
                                  <p:childTnLst>
                                    <p:set>
                                      <p:cBhvr>
                                        <p:cTn id="134" dur="1" fill="hold">
                                          <p:stCondLst>
                                            <p:cond delay="0"/>
                                          </p:stCondLst>
                                        </p:cTn>
                                        <p:tgtEl>
                                          <p:spTgt spid="36"/>
                                        </p:tgtEl>
                                        <p:attrNameLst>
                                          <p:attrName>style.visibility</p:attrName>
                                        </p:attrNameLst>
                                      </p:cBhvr>
                                      <p:to>
                                        <p:strVal val="visible"/>
                                      </p:to>
                                    </p:set>
                                    <p:animScale>
                                      <p:cBhvr>
                                        <p:cTn id="135" dur="500" fill="hold"/>
                                        <p:tgtEl>
                                          <p:spTgt spid="36"/>
                                        </p:tgtEl>
                                      </p:cBhvr>
                                      <p:from x="0" y="0"/>
                                      <p:to x="100000" y="100000"/>
                                    </p:animScale>
                                    <p:animEffect transition="in" filter="fade">
                                      <p:cBhvr>
                                        <p:cTn id="136" dur="500"/>
                                        <p:tgtEl>
                                          <p:spTgt spid="36"/>
                                        </p:tgtEl>
                                      </p:cBhvr>
                                    </p:animEffect>
                                  </p:childTnLst>
                                </p:cTn>
                              </p:par>
                              <p:par>
                                <p:cTn id="137" presetID="23" presetClass="entr" presetSubtype="16" fill="hold" grpId="0" nodeType="withEffect">
                                  <p:stCondLst>
                                    <p:cond delay="0"/>
                                  </p:stCondLst>
                                  <p:childTnLst>
                                    <p:set>
                                      <p:cBhvr>
                                        <p:cTn id="138" dur="1" fill="hold">
                                          <p:stCondLst>
                                            <p:cond delay="0"/>
                                          </p:stCondLst>
                                        </p:cTn>
                                        <p:tgtEl>
                                          <p:spTgt spid="37"/>
                                        </p:tgtEl>
                                        <p:attrNameLst>
                                          <p:attrName>style.visibility</p:attrName>
                                        </p:attrNameLst>
                                      </p:cBhvr>
                                      <p:to>
                                        <p:strVal val="visible"/>
                                      </p:to>
                                    </p:set>
                                    <p:animScale>
                                      <p:cBhvr>
                                        <p:cTn id="139" dur="500" fill="hold"/>
                                        <p:tgtEl>
                                          <p:spTgt spid="37"/>
                                        </p:tgtEl>
                                      </p:cBhvr>
                                      <p:from x="0" y="0"/>
                                      <p:to x="100000" y="100000"/>
                                    </p:animScale>
                                    <p:animEffect transition="in" filter="fade">
                                      <p:cBhvr>
                                        <p:cTn id="140" dur="500"/>
                                        <p:tgtEl>
                                          <p:spTgt spid="37"/>
                                        </p:tgtEl>
                                      </p:cBhvr>
                                    </p:animEffect>
                                  </p:childTnLst>
                                </p:cTn>
                              </p:par>
                              <p:par>
                                <p:cTn id="141" presetID="23" presetClass="entr" presetSubtype="16" fill="hold" grpId="0" nodeType="withEffect">
                                  <p:stCondLst>
                                    <p:cond delay="0"/>
                                  </p:stCondLst>
                                  <p:childTnLst>
                                    <p:set>
                                      <p:cBhvr>
                                        <p:cTn id="142" dur="1" fill="hold">
                                          <p:stCondLst>
                                            <p:cond delay="0"/>
                                          </p:stCondLst>
                                        </p:cTn>
                                        <p:tgtEl>
                                          <p:spTgt spid="38"/>
                                        </p:tgtEl>
                                        <p:attrNameLst>
                                          <p:attrName>style.visibility</p:attrName>
                                        </p:attrNameLst>
                                      </p:cBhvr>
                                      <p:to>
                                        <p:strVal val="visible"/>
                                      </p:to>
                                    </p:set>
                                    <p:animScale>
                                      <p:cBhvr>
                                        <p:cTn id="143" dur="500" fill="hold"/>
                                        <p:tgtEl>
                                          <p:spTgt spid="38"/>
                                        </p:tgtEl>
                                      </p:cBhvr>
                                      <p:from x="0" y="0"/>
                                      <p:to x="100000" y="100000"/>
                                    </p:animScale>
                                    <p:animEffect transition="in" filter="fade">
                                      <p:cBhvr>
                                        <p:cTn id="144" dur="500"/>
                                        <p:tgtEl>
                                          <p:spTgt spid="38"/>
                                        </p:tgtEl>
                                      </p:cBhvr>
                                    </p:animEffect>
                                  </p:childTnLst>
                                </p:cTn>
                              </p:par>
                              <p:par>
                                <p:cTn id="145" presetID="23" presetClass="entr" presetSubtype="16" fill="hold" grpId="0" nodeType="withEffect">
                                  <p:stCondLst>
                                    <p:cond delay="0"/>
                                  </p:stCondLst>
                                  <p:childTnLst>
                                    <p:set>
                                      <p:cBhvr>
                                        <p:cTn id="146" dur="1" fill="hold">
                                          <p:stCondLst>
                                            <p:cond delay="0"/>
                                          </p:stCondLst>
                                        </p:cTn>
                                        <p:tgtEl>
                                          <p:spTgt spid="39"/>
                                        </p:tgtEl>
                                        <p:attrNameLst>
                                          <p:attrName>style.visibility</p:attrName>
                                        </p:attrNameLst>
                                      </p:cBhvr>
                                      <p:to>
                                        <p:strVal val="visible"/>
                                      </p:to>
                                    </p:set>
                                    <p:animScale>
                                      <p:cBhvr>
                                        <p:cTn id="147" dur="500" fill="hold"/>
                                        <p:tgtEl>
                                          <p:spTgt spid="39"/>
                                        </p:tgtEl>
                                      </p:cBhvr>
                                      <p:from x="0" y="0"/>
                                      <p:to x="100000" y="100000"/>
                                    </p:animScale>
                                    <p:animEffect transition="in" filter="fade">
                                      <p:cBhvr>
                                        <p:cTn id="148" dur="500"/>
                                        <p:tgtEl>
                                          <p:spTgt spid="39"/>
                                        </p:tgtEl>
                                      </p:cBhvr>
                                    </p:animEffect>
                                  </p:childTnLst>
                                </p:cTn>
                              </p:par>
                              <p:par>
                                <p:cTn id="149" presetID="23" presetClass="entr" presetSubtype="16" fill="hold" grpId="0" nodeType="withEffect">
                                  <p:stCondLst>
                                    <p:cond delay="0"/>
                                  </p:stCondLst>
                                  <p:childTnLst>
                                    <p:set>
                                      <p:cBhvr>
                                        <p:cTn id="150" dur="1" fill="hold">
                                          <p:stCondLst>
                                            <p:cond delay="0"/>
                                          </p:stCondLst>
                                        </p:cTn>
                                        <p:tgtEl>
                                          <p:spTgt spid="40"/>
                                        </p:tgtEl>
                                        <p:attrNameLst>
                                          <p:attrName>style.visibility</p:attrName>
                                        </p:attrNameLst>
                                      </p:cBhvr>
                                      <p:to>
                                        <p:strVal val="visible"/>
                                      </p:to>
                                    </p:set>
                                    <p:animScale>
                                      <p:cBhvr>
                                        <p:cTn id="151" dur="500" fill="hold"/>
                                        <p:tgtEl>
                                          <p:spTgt spid="40"/>
                                        </p:tgtEl>
                                      </p:cBhvr>
                                      <p:from x="0" y="0"/>
                                      <p:to x="100000" y="100000"/>
                                    </p:animScale>
                                    <p:animEffect transition="in" filter="fade">
                                      <p:cBhvr>
                                        <p:cTn id="152" dur="500"/>
                                        <p:tgtEl>
                                          <p:spTgt spid="40"/>
                                        </p:tgtEl>
                                      </p:cBhvr>
                                    </p:animEffect>
                                  </p:childTnLst>
                                </p:cTn>
                              </p:par>
                              <p:par>
                                <p:cTn id="153" presetID="23" presetClass="entr" presetSubtype="16" fill="hold" grpId="0" nodeType="withEffect">
                                  <p:stCondLst>
                                    <p:cond delay="0"/>
                                  </p:stCondLst>
                                  <p:childTnLst>
                                    <p:set>
                                      <p:cBhvr>
                                        <p:cTn id="154" dur="1" fill="hold">
                                          <p:stCondLst>
                                            <p:cond delay="0"/>
                                          </p:stCondLst>
                                        </p:cTn>
                                        <p:tgtEl>
                                          <p:spTgt spid="41"/>
                                        </p:tgtEl>
                                        <p:attrNameLst>
                                          <p:attrName>style.visibility</p:attrName>
                                        </p:attrNameLst>
                                      </p:cBhvr>
                                      <p:to>
                                        <p:strVal val="visible"/>
                                      </p:to>
                                    </p:set>
                                    <p:animScale>
                                      <p:cBhvr>
                                        <p:cTn id="155" dur="500" fill="hold"/>
                                        <p:tgtEl>
                                          <p:spTgt spid="41"/>
                                        </p:tgtEl>
                                      </p:cBhvr>
                                      <p:from x="0" y="0"/>
                                      <p:to x="100000" y="100000"/>
                                    </p:animScale>
                                    <p:animEffect transition="in" filter="fade">
                                      <p:cBhvr>
                                        <p:cTn id="156" dur="500"/>
                                        <p:tgtEl>
                                          <p:spTgt spid="41"/>
                                        </p:tgtEl>
                                      </p:cBhvr>
                                    </p:animEffect>
                                  </p:childTnLst>
                                </p:cTn>
                              </p:par>
                            </p:childTnLst>
                          </p:cTn>
                        </p:par>
                      </p:childTnLst>
                    </p:cTn>
                  </p:par>
                  <p:par>
                    <p:cTn id="162" fill="hold">
                      <p:stCondLst>
                        <p:cond delay="indefinite"/>
                      </p:stCondLst>
                      <p:childTnLst>
                        <p:par>
                          <p:cTn id="163" fill="hold">
                            <p:stCondLst>
                              <p:cond delay="0"/>
                            </p:stCondLst>
                            <p:childTnLst>
                              <p:par>
                                <p:cTn id="159" presetID="10" presetClass="entr" presetSubtype="0" fill="hold" grpId="0" nodeType="clickEffect">
                                  <p:stCondLst>
                                    <p:cond delay="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7" grpId="0" animBg="1"/>
      <p:bldP spid="39" grpId="0" animBg="1"/>
      <p:bldP spid="4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and Work Performance</dc:title>
  <dc:subject>PptxGenJS Presentation</dc:subject>
  <dc:creator>Chayanun Sungsa-ard</dc:creator>
  <cp:lastModifiedBy>Chayanun Sungsa-ard</cp:lastModifiedBy>
  <cp:revision>1</cp:revision>
  <dcterms:created xsi:type="dcterms:W3CDTF">2026-10-09T16:50:06Z</dcterms:created>
  <dcterms:modified xsi:type="dcterms:W3CDTF">2026-10-09T16:50:06Z</dcterms:modified>
</cp:coreProperties>
</file>