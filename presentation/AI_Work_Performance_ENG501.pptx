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Slides 1-5)" id="{6181e29a-e672-cf70-2f7a-b3ec54fbc939}">
          <p14:sldIdLst>
            <p14:sldId id="256"/>
            <p14:sldId id="257"/>
            <p14:sldId id="258"/>
            <p14:sldId id="259"/>
            <p14:sldId id="260"/>
          </p14:sldIdLst>
        </p14:section>
        <p14:section name="ภาษาไทย (Slides 6-10)" id="{56039b48-a59d-e2dd-a6f5-0217f1e3d054}">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B2A4A"/>
                </a:solidFill>
                <a:latin typeface="+mn-lt"/>
              </a:defRPr>
            </a:pPr>
            <a:r>
              <a:rPr sz="950" b="0" i="0" u="none" strike="noStrike">
                <a:solidFill>
                  <a:srgbClr val="1B2A4A"/>
                </a:solidFill>
                <a:latin typeface="+mn-lt"/>
              </a:rPr>
              <a:t>Percentage change for consultants using AI (tasks within the frontier)</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Tasks completed</c:v>
                  </c:pt>
                  <c:pt idx="1">
                    <c:v>Task speed</c:v>
                  </c:pt>
                  <c:pt idx="2">
                    <c:v>Quality</c:v>
                  </c:pt>
                  <c:pt idx="3">
                    <c:v>Below-average</c:v>
                  </c:pt>
                  <c:pt idx="4">
                    <c:v>Above-average</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5A6472"/>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B2A4A"/>
                </a:solidFill>
                <a:latin typeface="+mn-lt"/>
              </a:defRPr>
            </a:pPr>
            <a:r>
              <a:rPr sz="950" b="0" i="0" u="none" strike="noStrike">
                <a:solidFill>
                  <a:srgbClr val="1B2A4A"/>
                </a:solidFill>
                <a:latin typeface="+mn-lt"/>
              </a:rPr>
              <a:t>ร้อยละการเปลี่ยนแปลงของที่ปรึกษาที่ใช้ AI (งานภายในพรมแดน)</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งานที่ทำเสร็จ</c:v>
                  </c:pt>
                  <c:pt idx="1">
                    <c:v>ความเร็วในการทำงาน</c:v>
                  </c:pt>
                  <c:pt idx="2">
                    <c:v>คุณภาพเทียบกลุ่มควบคุม</c:v>
                  </c:pt>
                  <c:pt idx="3">
                    <c:v>กลุ่มผลงานต่ำกว่าค่าเฉลี่ย</c:v>
                  </c:pt>
                  <c:pt idx="4">
                    <c:v>กลุ่มผลงานสูงกว่าค่าเฉลี่ย</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5A6472"/>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_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_E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_DARK_TH-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CONTENT_TH-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rtlCol="0"/>
          <a:lstStyle>
            <a:lvl1pPr algn="l" indent="0" marL="0">
              <a:buNone/>
              <a:defRPr lang="en-US" sz="3200" b="1" dirty="0">
                <a:solidFill>
                  <a:schemeClr val="bg1"/>
                </a:solidFill>
                <a:latin typeface="Poppins" pitchFamily="34" charset="0"/>
                <a:ea typeface="Poppins" pitchFamily="34" charset="-122"/>
                <a:cs typeface="Poppins" pitchFamily="34" charset="-120"/>
              </a:defRPr>
            </a:lvl1pPr>
          </a:lstStyle>
          <a:p>
            <a:pPr algn="l" indent="0" marL="0">
              <a:buNone/>
            </a:pP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rtlCol="0"/>
          <a:lstStyle>
            <a:lvl1pPr algn="l" indent="0" marL="0">
              <a:buNone/>
              <a:defRPr lang="en-US" sz="1400" dirty="0">
                <a:solidFill>
                  <a:schemeClr val="accent4"/>
                </a:solidFill>
                <a:latin typeface="Poppins" pitchFamily="34" charset="0"/>
                <a:ea typeface="Poppins" pitchFamily="34" charset="-122"/>
                <a:cs typeface="Poppins"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rtlCol="0"/>
          <a:lstStyle>
            <a:lvl1pPr algn="l" indent="0" marL="0">
              <a:buNone/>
              <a:defRPr lang="en-US" sz="1050" b="1" spc="100" kern="0" dirty="0">
                <a:solidFill>
                  <a:schemeClr val="accent1"/>
                </a:solidFill>
                <a:latin typeface="Poppins" pitchFamily="34" charset="0"/>
                <a:ea typeface="Poppins" pitchFamily="34" charset="-122"/>
                <a:cs typeface="Poppins" pitchFamily="34" charset="-120"/>
              </a:defRPr>
            </a:lvl1pPr>
          </a:lstStyle>
          <a:p>
            <a:pPr algn="l" indent="0" marL="0">
              <a:buNone/>
            </a:pP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rtlCol="0"/>
          <a:lstStyle>
            <a:lvl1pPr algn="l" indent="0" marL="0">
              <a:buNone/>
              <a:defRPr lang="en-US" sz="2600" b="1" dirty="0">
                <a:solidFill>
                  <a:schemeClr val="tx1"/>
                </a:solidFill>
                <a:latin typeface="Poppins" pitchFamily="34" charset="0"/>
                <a:ea typeface="Poppins" pitchFamily="34" charset="-122"/>
                <a:cs typeface="Poppins" pitchFamily="34" charset="-120"/>
              </a:defRPr>
            </a:lvl1pPr>
          </a:lstStyle>
          <a:p>
            <a:pPr algn="l" indent="0" marL="0">
              <a:buNone/>
            </a:pPr>
            <a:endParaRPr lang="en-US" sz="2600" dirty="0"/>
          </a:p>
        </p:txBody>
      </p:sp>
      <p:sp>
        <p:nvSpPr>
          <p:cNvPr id="4"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rgbClr val="9AA5B4"/>
                </a:solidFill>
                <a:latin typeface="Poppins" pitchFamily="34" charset="0"/>
                <a:ea typeface="Poppins" pitchFamily="34" charset="-122"/>
                <a:cs typeface="Poppins" pitchFamily="34" charset="-120"/>
              </a:rPr>
              <a:t>Chayanun Sungsa-ard  |  691401708  |  MBA  |  ENG 501</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rtlCol="0"/>
          <a:lstStyle>
            <a:lvl1pPr algn="l" indent="0" marL="0">
              <a:buNone/>
              <a:defRPr lang="en-US" sz="3200" b="1" dirty="0">
                <a:solidFill>
                  <a:schemeClr val="bg1"/>
                </a:solidFill>
                <a:latin typeface="Prompt" pitchFamily="34" charset="0"/>
                <a:ea typeface="Prompt" pitchFamily="34" charset="-122"/>
                <a:cs typeface="Prompt" pitchFamily="34" charset="-120"/>
              </a:defRPr>
            </a:lvl1pPr>
          </a:lstStyle>
          <a:p>
            <a:pPr algn="l" indent="0" marL="0">
              <a:buNone/>
            </a:pP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rtlCol="0"/>
          <a:lstStyle>
            <a:lvl1pPr algn="l" indent="0" marL="0">
              <a:buNone/>
              <a:defRPr lang="en-US" sz="1400" dirty="0">
                <a:solidFill>
                  <a:schemeClr val="accent4"/>
                </a:solidFill>
                <a:latin typeface="Prompt" pitchFamily="34" charset="0"/>
                <a:ea typeface="Prompt" pitchFamily="34" charset="-122"/>
                <a:cs typeface="Prompt"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rtlCol="0"/>
          <a:lstStyle>
            <a:lvl1pPr algn="l" indent="0" marL="0">
              <a:buNone/>
              <a:defRPr lang="en-US" sz="1050" b="1" spc="100" kern="0" dirty="0">
                <a:solidFill>
                  <a:schemeClr val="accent1"/>
                </a:solidFill>
                <a:latin typeface="Prompt" pitchFamily="34" charset="0"/>
                <a:ea typeface="Prompt" pitchFamily="34" charset="-122"/>
                <a:cs typeface="Prompt" pitchFamily="34" charset="-120"/>
              </a:defRPr>
            </a:lvl1pPr>
          </a:lstStyle>
          <a:p>
            <a:pPr algn="l" indent="0" marL="0">
              <a:buNone/>
            </a:pP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rtlCol="0"/>
          <a:lstStyle>
            <a:lvl1pPr algn="l" indent="0" marL="0">
              <a:buNone/>
              <a:defRPr lang="en-US" sz="2600" b="1" dirty="0">
                <a:solidFill>
                  <a:schemeClr val="tx1"/>
                </a:solidFill>
                <a:latin typeface="Prompt" pitchFamily="34" charset="0"/>
                <a:ea typeface="Prompt" pitchFamily="34" charset="-122"/>
                <a:cs typeface="Prompt" pitchFamily="34" charset="-120"/>
              </a:defRPr>
            </a:lvl1pPr>
          </a:lstStyle>
          <a:p>
            <a:pPr algn="l" indent="0" marL="0">
              <a:buNone/>
            </a:pPr>
            <a:endParaRPr lang="en-US" sz="2600" dirty="0"/>
          </a:p>
        </p:txBody>
      </p:sp>
      <p:sp>
        <p:nvSpPr>
          <p:cNvPr id="4"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rgbClr val="9AA5B4"/>
                </a:solidFill>
                <a:latin typeface="Prompt" pitchFamily="34" charset="0"/>
                <a:ea typeface="Prompt" pitchFamily="34" charset="-122"/>
                <a:cs typeface="Prompt" pitchFamily="34" charset="-120"/>
              </a:rPr>
              <a:t>Chayanun Sungsa-ard  |  691401708  |  MBA  |  ENG 501</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5.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5.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oppins" pitchFamily="34" charset="0"/>
                <a:ea typeface="Poppins" pitchFamily="34" charset="-122"/>
                <a:cs typeface="Poppins" pitchFamily="34" charset="-120"/>
              </a:rPr>
              <a:t>Artificial Intelligence and Work Performance</a:t>
            </a: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oppins" pitchFamily="34" charset="0"/>
                <a:ea typeface="Poppins" pitchFamily="34" charset="-122"/>
                <a:cs typeface="Poppins" pitchFamily="34" charset="-120"/>
              </a:rPr>
              <a:t>Evidence from two recent field experiments</a:t>
            </a:r>
            <a:endParaRPr lang="en-US" sz="1400" dirty="0"/>
          </a:p>
        </p:txBody>
      </p:sp>
      <p:pic>
        <p:nvPicPr>
          <p:cNvPr id="4" name="mascot waving" descr="preencoded.png">    </p:cNvPr>
          <p:cNvPicPr>
            <a:picLocks noChangeAspect="1"/>
          </p:cNvPicPr>
          <p:nvPr/>
        </p:nvPicPr>
        <p:blipFill>
          <a:blip r:embed="rId1"/>
          <a:stretch>
            <a:fillRect/>
          </a:stretch>
        </p:blipFill>
        <p:spPr>
          <a:xfrm>
            <a:off x="6903720" y="320040"/>
            <a:ext cx="1920240" cy="1664208"/>
          </a:xfrm>
          <a:prstGeom prst="rect">
            <a:avLst/>
          </a:prstGeom>
        </p:spPr>
      </p:pic>
      <p:sp>
        <p:nvSpPr>
          <p:cNvPr id="5" name="central question"/>
          <p:cNvSpPr txBox="1"/>
          <p:nvPr/>
        </p:nvSpPr>
        <p:spPr>
          <a:xfrm>
            <a:off x="457200" y="1920240"/>
            <a:ext cx="8229600" cy="365760"/>
          </a:xfrm>
          <a:prstGeom prst="rect">
            <a:avLst/>
          </a:prstGeom>
          <a:noFill/>
          <a:ln/>
        </p:spPr>
        <p:txBody>
          <a:bodyPr wrap="square" lIns="0" tIns="0" rIns="0" bIns="0" rtlCol="0" anchor="ctr"/>
          <a:lstStyle/>
          <a:p>
            <a:pPr indent="0" marL="0">
              <a:buNone/>
            </a:pPr>
            <a:r>
              <a:rPr lang="en-US" sz="1250" b="1" dirty="0">
                <a:solidFill>
                  <a:srgbClr val="BFE6E0"/>
                </a:solidFill>
                <a:latin typeface="Poppins" pitchFamily="34" charset="0"/>
                <a:ea typeface="Poppins" pitchFamily="34" charset="-122"/>
                <a:cs typeface="Poppins" pitchFamily="34" charset="-120"/>
              </a:rPr>
              <a:t>Central question: How does AI affect productivity, work quality, and business performance?</a:t>
            </a:r>
            <a:endParaRPr lang="en-US" sz="1250" dirty="0"/>
          </a:p>
        </p:txBody>
      </p:sp>
      <p:sp>
        <p:nvSpPr>
          <p:cNvPr id="6" name="article card 1"/>
          <p:cNvSpPr/>
          <p:nvPr/>
        </p:nvSpPr>
        <p:spPr>
          <a:xfrm>
            <a:off x="457200" y="2377440"/>
            <a:ext cx="3977640" cy="1298448"/>
          </a:xfrm>
          <a:prstGeom prst="roundRect">
            <a:avLst>
              <a:gd name="adj" fmla="val 7042"/>
            </a:avLst>
          </a:prstGeom>
          <a:solidFill>
            <a:srgbClr val="2A3D63"/>
          </a:solidFill>
          <a:ln w="12700">
            <a:solidFill>
              <a:srgbClr val="2A3D63"/>
            </a:solidFill>
            <a:prstDash val="solid"/>
          </a:ln>
        </p:spPr>
      </p:sp>
      <p:sp>
        <p:nvSpPr>
          <p:cNvPr id="7" name="article label"/>
          <p:cNvSpPr txBox="1"/>
          <p:nvPr/>
        </p:nvSpPr>
        <p:spPr>
          <a:xfrm>
            <a:off x="658368" y="2487168"/>
            <a:ext cx="3575304" cy="219456"/>
          </a:xfrm>
          <a:prstGeom prst="rect">
            <a:avLst/>
          </a:prstGeom>
          <a:noFill/>
          <a:ln/>
        </p:spPr>
        <p:txBody>
          <a:bodyPr wrap="square" lIns="0" tIns="0" rIns="0" bIns="0" rtlCol="0" anchor="ctr"/>
          <a:lstStyle/>
          <a:p>
            <a:pPr indent="0" marL="0">
              <a:buNone/>
            </a:pPr>
            <a:r>
              <a:rPr lang="en-US" sz="950" b="1" spc="100" kern="0" dirty="0">
                <a:solidFill>
                  <a:srgbClr val="BFE6E0"/>
                </a:solidFill>
                <a:latin typeface="Poppins" pitchFamily="34" charset="0"/>
                <a:ea typeface="Poppins" pitchFamily="34" charset="-122"/>
                <a:cs typeface="Poppins" pitchFamily="34" charset="-120"/>
              </a:rPr>
              <a:t>Article 2</a:t>
            </a:r>
            <a:endParaRPr lang="en-US" sz="950" dirty="0"/>
          </a:p>
        </p:txBody>
      </p:sp>
      <p:sp>
        <p:nvSpPr>
          <p:cNvPr id="8" name="article title"/>
          <p:cNvSpPr txBox="1"/>
          <p:nvPr/>
        </p:nvSpPr>
        <p:spPr>
          <a:xfrm>
            <a:off x="658368" y="2706624"/>
            <a:ext cx="3575304" cy="640080"/>
          </a:xfrm>
          <a:prstGeom prst="rect">
            <a:avLst/>
          </a:prstGeom>
          <a:noFill/>
          <a:ln/>
        </p:spPr>
        <p:txBody>
          <a:bodyPr wrap="square" lIns="0" tIns="0" rIns="0" bIns="0" rtlCol="0" anchor="t"/>
          <a:lstStyle/>
          <a:p>
            <a:pPr indent="0" marL="0">
              <a:buNone/>
            </a:pPr>
            <a:r>
              <a:rPr lang="en-US" sz="1000" b="1" dirty="0">
                <a:solidFill>
                  <a:srgbClr val="FFFFFF"/>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1000" dirty="0"/>
          </a:p>
        </p:txBody>
      </p:sp>
      <p:sp>
        <p:nvSpPr>
          <p:cNvPr id="9" name="article meta"/>
          <p:cNvSpPr txBox="1"/>
          <p:nvPr/>
        </p:nvSpPr>
        <p:spPr>
          <a:xfrm>
            <a:off x="658368" y="3328416"/>
            <a:ext cx="3575304" cy="310896"/>
          </a:xfrm>
          <a:prstGeom prst="rect">
            <a:avLst/>
          </a:prstGeom>
          <a:noFill/>
          <a:ln/>
        </p:spPr>
        <p:txBody>
          <a:bodyPr wrap="square" lIns="0" tIns="0" rIns="0" bIns="0" rtlCol="0" anchor="t"/>
          <a:lstStyle/>
          <a:p>
            <a:pPr indent="0" marL="0">
              <a:buNone/>
            </a:pPr>
            <a:r>
              <a:rPr lang="en-US" sz="80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800" dirty="0"/>
          </a:p>
        </p:txBody>
      </p:sp>
      <p:sp>
        <p:nvSpPr>
          <p:cNvPr id="10" name="article card 2"/>
          <p:cNvSpPr/>
          <p:nvPr/>
        </p:nvSpPr>
        <p:spPr>
          <a:xfrm>
            <a:off x="4709160" y="2377440"/>
            <a:ext cx="3977640" cy="1298448"/>
          </a:xfrm>
          <a:prstGeom prst="roundRect">
            <a:avLst>
              <a:gd name="adj" fmla="val 7042"/>
            </a:avLst>
          </a:prstGeom>
          <a:solidFill>
            <a:srgbClr val="2A3D63"/>
          </a:solidFill>
          <a:ln w="12700">
            <a:solidFill>
              <a:srgbClr val="2A3D63"/>
            </a:solidFill>
            <a:prstDash val="solid"/>
          </a:ln>
        </p:spPr>
      </p:sp>
      <p:sp>
        <p:nvSpPr>
          <p:cNvPr id="11" name="article label"/>
          <p:cNvSpPr txBox="1"/>
          <p:nvPr/>
        </p:nvSpPr>
        <p:spPr>
          <a:xfrm>
            <a:off x="4910328" y="2487168"/>
            <a:ext cx="3575304" cy="219456"/>
          </a:xfrm>
          <a:prstGeom prst="rect">
            <a:avLst/>
          </a:prstGeom>
          <a:noFill/>
          <a:ln/>
        </p:spPr>
        <p:txBody>
          <a:bodyPr wrap="square" lIns="0" tIns="0" rIns="0" bIns="0" rtlCol="0" anchor="ctr"/>
          <a:lstStyle/>
          <a:p>
            <a:pPr indent="0" marL="0">
              <a:buNone/>
            </a:pPr>
            <a:r>
              <a:rPr lang="en-US" sz="950" b="1" spc="100" kern="0" dirty="0">
                <a:solidFill>
                  <a:srgbClr val="BFE6E0"/>
                </a:solidFill>
                <a:latin typeface="Poppins" pitchFamily="34" charset="0"/>
                <a:ea typeface="Poppins" pitchFamily="34" charset="-122"/>
                <a:cs typeface="Poppins" pitchFamily="34" charset="-120"/>
              </a:rPr>
              <a:t>Article 5</a:t>
            </a:r>
            <a:endParaRPr lang="en-US" sz="950" dirty="0"/>
          </a:p>
        </p:txBody>
      </p:sp>
      <p:sp>
        <p:nvSpPr>
          <p:cNvPr id="12" name="article title"/>
          <p:cNvSpPr txBox="1"/>
          <p:nvPr/>
        </p:nvSpPr>
        <p:spPr>
          <a:xfrm>
            <a:off x="4910328" y="2706624"/>
            <a:ext cx="3575304" cy="640080"/>
          </a:xfrm>
          <a:prstGeom prst="rect">
            <a:avLst/>
          </a:prstGeom>
          <a:noFill/>
          <a:ln/>
        </p:spPr>
        <p:txBody>
          <a:bodyPr wrap="square" lIns="0" tIns="0" rIns="0" bIns="0" rtlCol="0" anchor="t"/>
          <a:lstStyle/>
          <a:p>
            <a:pPr indent="0" marL="0">
              <a:buNone/>
            </a:pPr>
            <a:r>
              <a:rPr lang="en-US" sz="1000" b="1" dirty="0">
                <a:solidFill>
                  <a:srgbClr val="FFFFFF"/>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1000" dirty="0"/>
          </a:p>
        </p:txBody>
      </p:sp>
      <p:sp>
        <p:nvSpPr>
          <p:cNvPr id="13" name="article meta"/>
          <p:cNvSpPr txBox="1"/>
          <p:nvPr/>
        </p:nvSpPr>
        <p:spPr>
          <a:xfrm>
            <a:off x="4910328" y="3328416"/>
            <a:ext cx="3575304" cy="310896"/>
          </a:xfrm>
          <a:prstGeom prst="rect">
            <a:avLst/>
          </a:prstGeom>
          <a:noFill/>
          <a:ln/>
        </p:spPr>
        <p:txBody>
          <a:bodyPr wrap="square" lIns="0" tIns="0" rIns="0" bIns="0" rtlCol="0" anchor="t"/>
          <a:lstStyle/>
          <a:p>
            <a:pPr indent="0" marL="0">
              <a:buNone/>
            </a:pPr>
            <a:r>
              <a:rPr lang="en-US" sz="80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800" dirty="0"/>
          </a:p>
        </p:txBody>
      </p:sp>
      <p:sp>
        <p:nvSpPr>
          <p:cNvPr id="14" name="roadmap head"/>
          <p:cNvSpPr txBox="1"/>
          <p:nvPr/>
        </p:nvSpPr>
        <p:spPr>
          <a:xfrm>
            <a:off x="457200" y="3803904"/>
            <a:ext cx="1051560" cy="274320"/>
          </a:xfrm>
          <a:prstGeom prst="rect">
            <a:avLst/>
          </a:prstGeom>
          <a:noFill/>
          <a:ln/>
        </p:spPr>
        <p:txBody>
          <a:bodyPr wrap="square" lIns="0" tIns="0" rIns="0" bIns="0" rtlCol="0" anchor="ctr"/>
          <a:lstStyle/>
          <a:p>
            <a:pPr indent="0" marL="0">
              <a:buNone/>
            </a:pPr>
            <a:r>
              <a:rPr lang="en-US" sz="900" b="1" dirty="0">
                <a:solidFill>
                  <a:srgbClr val="BFE6E0"/>
                </a:solidFill>
                <a:latin typeface="Poppins" pitchFamily="34" charset="0"/>
                <a:ea typeface="Poppins" pitchFamily="34" charset="-122"/>
                <a:cs typeface="Poppins" pitchFamily="34" charset="-120"/>
              </a:rPr>
              <a:t>Today's path</a:t>
            </a:r>
            <a:endParaRPr lang="en-US" sz="900" dirty="0"/>
          </a:p>
        </p:txBody>
      </p:sp>
      <p:sp>
        <p:nvSpPr>
          <p:cNvPr id="15" name="roadmap chip 1"/>
          <p:cNvSpPr/>
          <p:nvPr/>
        </p:nvSpPr>
        <p:spPr>
          <a:xfrm>
            <a:off x="1600200" y="3803904"/>
            <a:ext cx="1344168" cy="274320"/>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00200"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  Introduction</a:t>
            </a:r>
            <a:endParaRPr lang="en-US" sz="750" dirty="0"/>
          </a:p>
        </p:txBody>
      </p:sp>
      <p:sp>
        <p:nvSpPr>
          <p:cNvPr id="17" name="roadmap chip 2"/>
          <p:cNvSpPr/>
          <p:nvPr/>
        </p:nvSpPr>
        <p:spPr>
          <a:xfrm>
            <a:off x="3035808" y="3803904"/>
            <a:ext cx="1344168" cy="274320"/>
          </a:xfrm>
          <a:prstGeom prst="roundRect">
            <a:avLst>
              <a:gd name="adj" fmla="val 50000"/>
            </a:avLst>
          </a:prstGeom>
          <a:solidFill>
            <a:srgbClr val="2A3D63"/>
          </a:solidFill>
          <a:ln w="9525">
            <a:solidFill>
              <a:srgbClr val="2E8B86"/>
            </a:solidFill>
            <a:prstDash val="solid"/>
          </a:ln>
        </p:spPr>
      </p:sp>
      <p:sp>
        <p:nvSpPr>
          <p:cNvPr id="18" name="roadmap chip text"/>
          <p:cNvSpPr txBox="1"/>
          <p:nvPr/>
        </p:nvSpPr>
        <p:spPr>
          <a:xfrm>
            <a:off x="3035808"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2  Article 2: Method</a:t>
            </a:r>
            <a:endParaRPr lang="en-US" sz="750" dirty="0"/>
          </a:p>
        </p:txBody>
      </p:sp>
      <p:sp>
        <p:nvSpPr>
          <p:cNvPr id="19" name="roadmap chip 3"/>
          <p:cNvSpPr/>
          <p:nvPr/>
        </p:nvSpPr>
        <p:spPr>
          <a:xfrm>
            <a:off x="4471416" y="3803904"/>
            <a:ext cx="1344168" cy="274320"/>
          </a:xfrm>
          <a:prstGeom prst="roundRect">
            <a:avLst>
              <a:gd name="adj" fmla="val 50000"/>
            </a:avLst>
          </a:prstGeom>
          <a:solidFill>
            <a:srgbClr val="2A3D63"/>
          </a:solidFill>
          <a:ln w="9525">
            <a:solidFill>
              <a:srgbClr val="2E8B86"/>
            </a:solidFill>
            <a:prstDash val="solid"/>
          </a:ln>
        </p:spPr>
      </p:sp>
      <p:sp>
        <p:nvSpPr>
          <p:cNvPr id="20" name="roadmap chip text"/>
          <p:cNvSpPr txBox="1"/>
          <p:nvPr/>
        </p:nvSpPr>
        <p:spPr>
          <a:xfrm>
            <a:off x="4471416"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3  Article 2: Findings</a:t>
            </a:r>
            <a:endParaRPr lang="en-US" sz="750" dirty="0"/>
          </a:p>
        </p:txBody>
      </p:sp>
      <p:sp>
        <p:nvSpPr>
          <p:cNvPr id="21" name="roadmap chip 4"/>
          <p:cNvSpPr/>
          <p:nvPr/>
        </p:nvSpPr>
        <p:spPr>
          <a:xfrm>
            <a:off x="5907024" y="3803904"/>
            <a:ext cx="1344168" cy="274320"/>
          </a:xfrm>
          <a:prstGeom prst="roundRect">
            <a:avLst>
              <a:gd name="adj" fmla="val 50000"/>
            </a:avLst>
          </a:prstGeom>
          <a:solidFill>
            <a:srgbClr val="2A3D63"/>
          </a:solidFill>
          <a:ln w="9525">
            <a:solidFill>
              <a:srgbClr val="2E8B86"/>
            </a:solidFill>
            <a:prstDash val="solid"/>
          </a:ln>
        </p:spPr>
      </p:sp>
      <p:sp>
        <p:nvSpPr>
          <p:cNvPr id="22" name="roadmap chip text"/>
          <p:cNvSpPr txBox="1"/>
          <p:nvPr/>
        </p:nvSpPr>
        <p:spPr>
          <a:xfrm>
            <a:off x="5907024"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4  Article 5: Entrepreneurs</a:t>
            </a:r>
            <a:endParaRPr lang="en-US" sz="750" dirty="0"/>
          </a:p>
        </p:txBody>
      </p:sp>
      <p:sp>
        <p:nvSpPr>
          <p:cNvPr id="23" name="roadmap chip 5"/>
          <p:cNvSpPr/>
          <p:nvPr/>
        </p:nvSpPr>
        <p:spPr>
          <a:xfrm>
            <a:off x="7342632" y="3803904"/>
            <a:ext cx="1344168" cy="274320"/>
          </a:xfrm>
          <a:prstGeom prst="roundRect">
            <a:avLst>
              <a:gd name="adj" fmla="val 50000"/>
            </a:avLst>
          </a:prstGeom>
          <a:solidFill>
            <a:srgbClr val="2A3D63"/>
          </a:solidFill>
          <a:ln w="9525">
            <a:solidFill>
              <a:srgbClr val="2E8B86"/>
            </a:solidFill>
            <a:prstDash val="solid"/>
          </a:ln>
        </p:spPr>
      </p:sp>
      <p:sp>
        <p:nvSpPr>
          <p:cNvPr id="24" name="roadmap chip text"/>
          <p:cNvSpPr txBox="1"/>
          <p:nvPr/>
        </p:nvSpPr>
        <p:spPr>
          <a:xfrm>
            <a:off x="7342632"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5  Discussion</a:t>
            </a:r>
            <a:endParaRPr lang="en-US" sz="750" dirty="0"/>
          </a:p>
        </p:txBody>
      </p:sp>
      <p:sp>
        <p:nvSpPr>
          <p:cNvPr id="25" name="presenter"/>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FFFFFF"/>
                </a:solidFill>
                <a:latin typeface="Poppins" pitchFamily="34" charset="0"/>
                <a:ea typeface="Poppins" pitchFamily="34" charset="-122"/>
                <a:cs typeface="Poppins" pitchFamily="34" charset="-120"/>
              </a:rPr>
              <a:t>Chayanun Sungsa-ard</a:t>
            </a:r>
            <a:endParaRPr lang="en-US" sz="1100" dirty="0"/>
          </a:p>
          <a:p>
            <a:pPr indent="0" marL="0">
              <a:buNone/>
            </a:pPr>
            <a:r>
              <a:rPr lang="en-US" sz="900" dirty="0">
                <a:solidFill>
                  <a:srgbClr val="BFE6E0"/>
                </a:solidFill>
                <a:latin typeface="Poppins" pitchFamily="34" charset="0"/>
                <a:ea typeface="Poppins" pitchFamily="34" charset="-122"/>
                <a:cs typeface="Poppins" pitchFamily="34" charset="-120"/>
              </a:rPr>
              <a:t>Student ID 691401708  |  Master of Business Administration (MBA)  |  ENG 501 English for Master's Degree</a:t>
            </a:r>
            <a:endParaRPr lang="en-US" sz="11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oppins" pitchFamily="34" charset="0"/>
                <a:ea typeface="Poppins" pitchFamily="34" charset="-122"/>
                <a:cs typeface="Poppins" pitchFamily="34" charset="-120"/>
              </a:rPr>
              <a:t>Article 2  |  Research purpose and method</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Navigating the Jagged Technological Frontier</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2E8B86"/>
          </a:solidFill>
          <a:ln w="12700">
            <a:solidFill>
              <a:srgbClr val="2E8B86"/>
            </a:solidFill>
            <a:prstDash val="solid"/>
          </a:ln>
        </p:spPr>
      </p:sp>
      <p:sp>
        <p:nvSpPr>
          <p:cNvPr id="6" name="progress dot 3"/>
          <p:cNvSpPr/>
          <p:nvPr/>
        </p:nvSpPr>
        <p:spPr>
          <a:xfrm>
            <a:off x="8211312" y="228600"/>
            <a:ext cx="109728" cy="109728"/>
          </a:xfrm>
          <a:prstGeom prst="ellipse">
            <a:avLst/>
          </a:prstGeom>
          <a:solidFill>
            <a:srgbClr val="D8DEE6"/>
          </a:solidFill>
          <a:ln w="12700">
            <a:solidFill>
              <a:srgbClr val="D8DEE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latin typeface="Poppins" pitchFamily="34" charset="0"/>
                <a:ea typeface="Poppins" pitchFamily="34" charset="-122"/>
                <a:cs typeface="Poppins" pitchFamily="34" charset="-120"/>
              </a:rPr>
              <a:t>Article 2: Method</a:t>
            </a:r>
            <a:endParaRPr lang="en-US" sz="8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900" dirty="0">
                <a:solidFill>
                  <a:schemeClr val="tx2"/>
                </a:solidFill>
                <a:latin typeface="Poppins" pitchFamily="34" charset="0"/>
                <a:ea typeface="Poppins" pitchFamily="34" charset="-122"/>
                <a:cs typeface="Poppins" pitchFamily="34" charset="-120"/>
              </a:rPr>
              <a:t>Fabrizio Dell'Acqua et al.  |  Harvard Business School Working Paper 24-013, 2023</a:t>
            </a:r>
            <a:endParaRPr lang="en-US" sz="9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Briefcase"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Research partner"/>
          <p:cNvSpPr txBox="1"/>
          <p:nvPr/>
        </p:nvSpPr>
        <p:spPr>
          <a:xfrm>
            <a:off x="969264" y="1389888"/>
            <a:ext cx="3557016" cy="512064"/>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Research partner</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Field experiment conducted with Boston Consulting Group (BCG)</a:t>
            </a:r>
            <a:endParaRPr lang="en-US" sz="1150" dirty="0"/>
          </a:p>
        </p:txBody>
      </p:sp>
      <p:sp>
        <p:nvSpPr>
          <p:cNvPr id="14" name="icon circle"/>
          <p:cNvSpPr/>
          <p:nvPr/>
        </p:nvSpPr>
        <p:spPr>
          <a:xfrm>
            <a:off x="457200" y="1993392"/>
            <a:ext cx="384048" cy="384048"/>
          </a:xfrm>
          <a:prstGeom prst="ellipse">
            <a:avLst/>
          </a:prstGeom>
          <a:solidFill>
            <a:srgbClr val="2E8B86"/>
          </a:solidFill>
          <a:ln w="12700">
            <a:solidFill>
              <a:srgbClr val="2E8B86"/>
            </a:solidFill>
            <a:prstDash val="solid"/>
          </a:ln>
        </p:spPr>
      </p:sp>
      <p:pic>
        <p:nvPicPr>
          <p:cNvPr id="15" name="icon FiUsers" descr="preencoded.png">    </p:cNvPr>
          <p:cNvPicPr>
            <a:picLocks noChangeAspect="1"/>
          </p:cNvPicPr>
          <p:nvPr/>
        </p:nvPicPr>
        <p:blipFill>
          <a:blip r:embed="rId2"/>
          <a:stretch>
            <a:fillRect/>
          </a:stretch>
        </p:blipFill>
        <p:spPr>
          <a:xfrm>
            <a:off x="539496" y="2075688"/>
            <a:ext cx="219456" cy="219456"/>
          </a:xfrm>
          <a:prstGeom prst="rect">
            <a:avLst/>
          </a:prstGeom>
        </p:spPr>
      </p:pic>
      <p:sp>
        <p:nvSpPr>
          <p:cNvPr id="16" name="fact Participants"/>
          <p:cNvSpPr txBox="1"/>
          <p:nvPr/>
        </p:nvSpPr>
        <p:spPr>
          <a:xfrm>
            <a:off x="969264" y="1956816"/>
            <a:ext cx="3557016" cy="512064"/>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Participants</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758 consultants took part</a:t>
            </a:r>
            <a:endParaRPr lang="en-US" sz="1150" dirty="0"/>
          </a:p>
        </p:txBody>
      </p:sp>
      <p:sp>
        <p:nvSpPr>
          <p:cNvPr id="17" name="icon circle"/>
          <p:cNvSpPr/>
          <p:nvPr/>
        </p:nvSpPr>
        <p:spPr>
          <a:xfrm>
            <a:off x="457200" y="2560320"/>
            <a:ext cx="384048" cy="384048"/>
          </a:xfrm>
          <a:prstGeom prst="ellipse">
            <a:avLst/>
          </a:prstGeom>
          <a:solidFill>
            <a:srgbClr val="2E8B86"/>
          </a:solidFill>
          <a:ln w="12700">
            <a:solidFill>
              <a:srgbClr val="2E8B86"/>
            </a:solidFill>
            <a:prstDash val="solid"/>
          </a:ln>
        </p:spPr>
      </p:sp>
      <p:pic>
        <p:nvPicPr>
          <p:cNvPr id="18" name="icon FiTarget" descr="preencoded.png">    </p:cNvPr>
          <p:cNvPicPr>
            <a:picLocks noChangeAspect="1"/>
          </p:cNvPicPr>
          <p:nvPr/>
        </p:nvPicPr>
        <p:blipFill>
          <a:blip r:embed="rId3"/>
          <a:stretch>
            <a:fillRect/>
          </a:stretch>
        </p:blipFill>
        <p:spPr>
          <a:xfrm>
            <a:off x="539496" y="2642616"/>
            <a:ext cx="219456" cy="219456"/>
          </a:xfrm>
          <a:prstGeom prst="rect">
            <a:avLst/>
          </a:prstGeom>
        </p:spPr>
      </p:pic>
      <p:sp>
        <p:nvSpPr>
          <p:cNvPr id="19" name="fact Research focus"/>
          <p:cNvSpPr txBox="1"/>
          <p:nvPr/>
        </p:nvSpPr>
        <p:spPr>
          <a:xfrm>
            <a:off x="969264" y="2523744"/>
            <a:ext cx="3557016" cy="512064"/>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Research focus</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Productivity, work quality, and the boundaries of AI capability</a:t>
            </a:r>
            <a:endParaRPr lang="en-US" sz="1150" dirty="0"/>
          </a:p>
        </p:txBody>
      </p:sp>
      <p:sp>
        <p:nvSpPr>
          <p:cNvPr id="20" name="conditions head"/>
          <p:cNvSpPr txBox="1"/>
          <p:nvPr/>
        </p:nvSpPr>
        <p:spPr>
          <a:xfrm>
            <a:off x="457200" y="3163824"/>
            <a:ext cx="4069080" cy="237744"/>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Three experimental conditions</a:t>
            </a:r>
            <a:endParaRPr lang="en-US" sz="1150" dirty="0"/>
          </a:p>
        </p:txBody>
      </p:sp>
      <p:sp>
        <p:nvSpPr>
          <p:cNvPr id="21" name="condition 1"/>
          <p:cNvSpPr/>
          <p:nvPr/>
        </p:nvSpPr>
        <p:spPr>
          <a:xfrm>
            <a:off x="457200" y="3456432"/>
            <a:ext cx="1203960" cy="877824"/>
          </a:xfrm>
          <a:prstGeom prst="roundRect">
            <a:avLst>
              <a:gd name="adj" fmla="val 10417"/>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2" name="condition number"/>
          <p:cNvSpPr txBox="1"/>
          <p:nvPr/>
        </p:nvSpPr>
        <p:spPr>
          <a:xfrm>
            <a:off x="548640" y="3511296"/>
            <a:ext cx="274320" cy="274320"/>
          </a:xfrm>
          <a:prstGeom prst="rect">
            <a:avLst/>
          </a:prstGeom>
          <a:noFill/>
          <a:ln/>
        </p:spPr>
        <p:txBody>
          <a:bodyPr wrap="square" lIns="0" tIns="0" rIns="0" bIns="0" rtlCol="0" anchor="ctr"/>
          <a:lstStyle/>
          <a:p>
            <a:pPr indent="0" marL="0">
              <a:buNone/>
            </a:pPr>
            <a:r>
              <a:rPr lang="en-US" sz="1400" b="1" dirty="0">
                <a:solidFill>
                  <a:srgbClr val="2E8B86"/>
                </a:solidFill>
                <a:latin typeface="Poppins" pitchFamily="34" charset="0"/>
                <a:ea typeface="Poppins" pitchFamily="34" charset="-122"/>
                <a:cs typeface="Poppins" pitchFamily="34" charset="-120"/>
              </a:rPr>
              <a:t>1</a:t>
            </a:r>
            <a:endParaRPr lang="en-US" sz="1400" dirty="0"/>
          </a:p>
        </p:txBody>
      </p:sp>
      <p:sp>
        <p:nvSpPr>
          <p:cNvPr id="23" name="condition text"/>
          <p:cNvSpPr txBox="1"/>
          <p:nvPr/>
        </p:nvSpPr>
        <p:spPr>
          <a:xfrm>
            <a:off x="548640" y="3767328"/>
            <a:ext cx="1021080" cy="530352"/>
          </a:xfrm>
          <a:prstGeom prst="rect">
            <a:avLst/>
          </a:prstGeom>
          <a:noFill/>
          <a:ln/>
        </p:spPr>
        <p:txBody>
          <a:bodyPr wrap="square" lIns="0" tIns="0" rIns="0" bIns="0" rtlCol="0" anchor="t"/>
          <a:lstStyle/>
          <a:p>
            <a:pPr indent="0" marL="0">
              <a:buNone/>
            </a:pPr>
            <a:r>
              <a:rPr lang="en-US" sz="900" dirty="0">
                <a:solidFill>
                  <a:schemeClr val="tx1"/>
                </a:solidFill>
                <a:latin typeface="Poppins" pitchFamily="34" charset="0"/>
                <a:ea typeface="Poppins" pitchFamily="34" charset="-122"/>
                <a:cs typeface="Poppins" pitchFamily="34" charset="-120"/>
              </a:rPr>
              <a:t>No AI access</a:t>
            </a:r>
            <a:endParaRPr lang="en-US" sz="900" dirty="0"/>
          </a:p>
        </p:txBody>
      </p:sp>
      <p:pic>
        <p:nvPicPr>
          <p:cNvPr id="24" name="icon FiChevronRight" descr="preencoded.png">    </p:cNvPr>
          <p:cNvPicPr>
            <a:picLocks noChangeAspect="1"/>
          </p:cNvPicPr>
          <p:nvPr/>
        </p:nvPicPr>
        <p:blipFill>
          <a:blip r:embed="rId4"/>
          <a:stretch>
            <a:fillRect/>
          </a:stretch>
        </p:blipFill>
        <p:spPr>
          <a:xfrm>
            <a:off x="1688592" y="3803904"/>
            <a:ext cx="182880" cy="182880"/>
          </a:xfrm>
          <a:prstGeom prst="rect">
            <a:avLst/>
          </a:prstGeom>
        </p:spPr>
      </p:pic>
      <p:sp>
        <p:nvSpPr>
          <p:cNvPr id="25" name="condition 2"/>
          <p:cNvSpPr/>
          <p:nvPr/>
        </p:nvSpPr>
        <p:spPr>
          <a:xfrm>
            <a:off x="188976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6" name="condition number"/>
          <p:cNvSpPr txBox="1"/>
          <p:nvPr/>
        </p:nvSpPr>
        <p:spPr>
          <a:xfrm>
            <a:off x="198120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latin typeface="Poppins" pitchFamily="34" charset="0"/>
                <a:ea typeface="Poppins" pitchFamily="34" charset="-122"/>
                <a:cs typeface="Poppins" pitchFamily="34" charset="-120"/>
              </a:rPr>
              <a:t>2</a:t>
            </a:r>
            <a:endParaRPr lang="en-US" sz="1400" dirty="0"/>
          </a:p>
        </p:txBody>
      </p:sp>
      <p:sp>
        <p:nvSpPr>
          <p:cNvPr id="27" name="condition text"/>
          <p:cNvSpPr txBox="1"/>
          <p:nvPr/>
        </p:nvSpPr>
        <p:spPr>
          <a:xfrm>
            <a:off x="1981200" y="3767328"/>
            <a:ext cx="1021080" cy="530352"/>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GPT-4 access</a:t>
            </a:r>
            <a:endParaRPr lang="en-US" sz="900" dirty="0"/>
          </a:p>
        </p:txBody>
      </p:sp>
      <p:pic>
        <p:nvPicPr>
          <p:cNvPr id="28" name="icon FiChevronRight" descr="preencoded.png">    </p:cNvPr>
          <p:cNvPicPr>
            <a:picLocks noChangeAspect="1"/>
          </p:cNvPicPr>
          <p:nvPr/>
        </p:nvPicPr>
        <p:blipFill>
          <a:blip r:embed="rId5"/>
          <a:stretch>
            <a:fillRect/>
          </a:stretch>
        </p:blipFill>
        <p:spPr>
          <a:xfrm>
            <a:off x="3121152" y="3803904"/>
            <a:ext cx="182880" cy="182880"/>
          </a:xfrm>
          <a:prstGeom prst="rect">
            <a:avLst/>
          </a:prstGeom>
        </p:spPr>
      </p:pic>
      <p:sp>
        <p:nvSpPr>
          <p:cNvPr id="29" name="condition 3"/>
          <p:cNvSpPr/>
          <p:nvPr/>
        </p:nvSpPr>
        <p:spPr>
          <a:xfrm>
            <a:off x="332232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30" name="condition number"/>
          <p:cNvSpPr txBox="1"/>
          <p:nvPr/>
        </p:nvSpPr>
        <p:spPr>
          <a:xfrm>
            <a:off x="341376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latin typeface="Poppins" pitchFamily="34" charset="0"/>
                <a:ea typeface="Poppins" pitchFamily="34" charset="-122"/>
                <a:cs typeface="Poppins" pitchFamily="34" charset="-120"/>
              </a:rPr>
              <a:t>3</a:t>
            </a:r>
            <a:endParaRPr lang="en-US" sz="1400" dirty="0"/>
          </a:p>
        </p:txBody>
      </p:sp>
      <p:sp>
        <p:nvSpPr>
          <p:cNvPr id="31" name="condition text"/>
          <p:cNvSpPr txBox="1"/>
          <p:nvPr/>
        </p:nvSpPr>
        <p:spPr>
          <a:xfrm>
            <a:off x="3413760" y="3767328"/>
            <a:ext cx="1021080" cy="530352"/>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GPT-4 access with prompt engineering guidance</a:t>
            </a:r>
            <a:endParaRPr lang="en-US" sz="900" dirty="0"/>
          </a:p>
        </p:txBody>
      </p:sp>
      <p:sp>
        <p:nvSpPr>
          <p:cNvPr id="32" name="concept card"/>
          <p:cNvSpPr/>
          <p:nvPr/>
        </p:nvSpPr>
        <p:spPr>
          <a:xfrm>
            <a:off x="4846320" y="1371600"/>
            <a:ext cx="3840480" cy="2962656"/>
          </a:xfrm>
          <a:prstGeom prst="roundRect">
            <a:avLst>
              <a:gd name="adj" fmla="val 3086"/>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33" name="tag concept"/>
          <p:cNvSpPr/>
          <p:nvPr/>
        </p:nvSpPr>
        <p:spPr>
          <a:xfrm>
            <a:off x="5029200" y="1517904"/>
            <a:ext cx="1188720" cy="219456"/>
          </a:xfrm>
          <a:prstGeom prst="roundRect">
            <a:avLst>
              <a:gd name="adj" fmla="val 50000"/>
            </a:avLst>
          </a:prstGeom>
          <a:solidFill>
            <a:srgbClr val="EEF1F5"/>
          </a:solidFill>
          <a:ln w="12700">
            <a:solidFill>
              <a:srgbClr val="EEF1F5"/>
            </a:solidFill>
            <a:prstDash val="solid"/>
          </a:ln>
        </p:spPr>
      </p:sp>
      <p:sp>
        <p:nvSpPr>
          <p:cNvPr id="34" name="tag text"/>
          <p:cNvSpPr txBox="1"/>
          <p:nvPr/>
        </p:nvSpPr>
        <p:spPr>
          <a:xfrm>
            <a:off x="5029200" y="1517904"/>
            <a:ext cx="1188720" cy="219456"/>
          </a:xfrm>
          <a:prstGeom prst="rect">
            <a:avLst/>
          </a:prstGeom>
          <a:noFill/>
          <a:ln/>
        </p:spPr>
        <p:txBody>
          <a:bodyPr wrap="square" lIns="0" tIns="0" rIns="0" bIns="0" rtlCol="0" anchor="ctr"/>
          <a:lstStyle/>
          <a:p>
            <a:pPr algn="ctr" indent="0" marL="0">
              <a:buNone/>
            </a:pPr>
            <a:r>
              <a:rPr lang="en-US" sz="800" b="1" spc="100" kern="0" dirty="0">
                <a:solidFill>
                  <a:schemeClr val="tx2"/>
                </a:solidFill>
                <a:latin typeface="Poppins" pitchFamily="34" charset="0"/>
                <a:ea typeface="Poppins" pitchFamily="34" charset="-122"/>
                <a:cs typeface="Poppins" pitchFamily="34" charset="-120"/>
              </a:rPr>
              <a:t>CONCEPT</a:t>
            </a:r>
            <a:endParaRPr lang="en-US" sz="800" dirty="0"/>
          </a:p>
        </p:txBody>
      </p:sp>
      <p:sp>
        <p:nvSpPr>
          <p:cNvPr id="35" name="concept head"/>
          <p:cNvSpPr txBox="1"/>
          <p:nvPr/>
        </p:nvSpPr>
        <p:spPr>
          <a:xfrm>
            <a:off x="5029200" y="1792224"/>
            <a:ext cx="2697480" cy="274320"/>
          </a:xfrm>
          <a:prstGeom prst="rect">
            <a:avLst/>
          </a:prstGeom>
          <a:noFill/>
          <a:ln/>
        </p:spPr>
        <p:txBody>
          <a:bodyPr wrap="square" lIns="0" tIns="0" rIns="0" bIns="0" rtlCol="0" anchor="ctr"/>
          <a:lstStyle/>
          <a:p>
            <a:pPr indent="0" marL="0">
              <a:buNone/>
            </a:pPr>
            <a:r>
              <a:rPr lang="en-US" sz="1050" b="1" dirty="0">
                <a:solidFill>
                  <a:schemeClr val="tx1"/>
                </a:solidFill>
                <a:latin typeface="Poppins" pitchFamily="34" charset="0"/>
                <a:ea typeface="Poppins" pitchFamily="34" charset="-122"/>
                <a:cs typeface="Poppins" pitchFamily="34" charset="-120"/>
              </a:rPr>
              <a:t>The "Jagged Technological Frontier"</a:t>
            </a:r>
            <a:endParaRPr lang="en-US" sz="1050" dirty="0"/>
          </a:p>
        </p:txBody>
      </p:sp>
      <p:sp>
        <p:nvSpPr>
          <p:cNvPr id="36" name="concept body"/>
          <p:cNvSpPr txBox="1"/>
          <p:nvPr/>
        </p:nvSpPr>
        <p:spPr>
          <a:xfrm>
            <a:off x="5029200" y="2084832"/>
            <a:ext cx="2697480" cy="896112"/>
          </a:xfrm>
          <a:prstGeom prst="rect">
            <a:avLst/>
          </a:prstGeom>
          <a:noFill/>
          <a:ln/>
        </p:spPr>
        <p:txBody>
          <a:bodyPr wrap="square" lIns="0" tIns="0" rIns="0" bIns="0" rtlCol="0" anchor="t"/>
          <a:lstStyle/>
          <a:p>
            <a:pPr indent="0" marL="0">
              <a:buNone/>
            </a:pPr>
            <a:r>
              <a:rPr lang="en-US" sz="900" dirty="0">
                <a:solidFill>
                  <a:schemeClr val="tx2"/>
                </a:solidFill>
                <a:latin typeface="Poppins" pitchFamily="34" charset="0"/>
                <a:ea typeface="Poppins" pitchFamily="34" charset="-122"/>
                <a:cs typeface="Poppins" pitchFamily="34" charset="-120"/>
              </a:rPr>
              <a:t>AI can perform some tasks well while struggling with other tasks that appear similarly difficult. The boundary is uneven, so workers cannot assume that a task is "safe" for AI just because it looks easy.</a:t>
            </a:r>
            <a:endParaRPr lang="en-US" sz="900" dirty="0"/>
          </a:p>
        </p:txBody>
      </p:sp>
      <p:pic>
        <p:nvPicPr>
          <p:cNvPr id="37" name="mascot searching" descr="preencoded.png">    </p:cNvPr>
          <p:cNvPicPr>
            <a:picLocks noChangeAspect="1"/>
          </p:cNvPicPr>
          <p:nvPr/>
        </p:nvPicPr>
        <p:blipFill>
          <a:blip r:embed="rId6"/>
          <a:stretch>
            <a:fillRect/>
          </a:stretch>
        </p:blipFill>
        <p:spPr>
          <a:xfrm>
            <a:off x="7607808" y="1572768"/>
            <a:ext cx="1005840" cy="868680"/>
          </a:xfrm>
          <a:prstGeom prst="rect">
            <a:avLst/>
          </a:prstGeom>
        </p:spPr>
      </p:pic>
      <p:pic>
        <p:nvPicPr>
          <p:cNvPr id="38" name="frontier illustration" descr="preencoded.png">    </p:cNvPr>
          <p:cNvPicPr>
            <a:picLocks noChangeAspect="1"/>
          </p:cNvPicPr>
          <p:nvPr/>
        </p:nvPicPr>
        <p:blipFill>
          <a:blip r:embed="rId7"/>
          <a:stretch>
            <a:fillRect/>
          </a:stretch>
        </p:blipFill>
        <p:spPr>
          <a:xfrm>
            <a:off x="5029200" y="3017520"/>
            <a:ext cx="3474720" cy="1078992"/>
          </a:xfrm>
          <a:prstGeom prst="rect">
            <a:avLst/>
          </a:prstGeom>
        </p:spPr>
      </p:pic>
      <p:sp>
        <p:nvSpPr>
          <p:cNvPr id="39" name="outside label"/>
          <p:cNvSpPr txBox="1"/>
          <p:nvPr/>
        </p:nvSpPr>
        <p:spPr>
          <a:xfrm>
            <a:off x="5120640" y="3063240"/>
            <a:ext cx="3291840" cy="182880"/>
          </a:xfrm>
          <a:prstGeom prst="rect">
            <a:avLst/>
          </a:prstGeom>
          <a:noFill/>
          <a:ln/>
        </p:spPr>
        <p:txBody>
          <a:bodyPr wrap="square" lIns="0" tIns="0" rIns="0" bIns="0" rtlCol="0" anchor="ctr"/>
          <a:lstStyle/>
          <a:p>
            <a:pPr algn="r" indent="0" marL="0">
              <a:buNone/>
            </a:pPr>
            <a:r>
              <a:rPr lang="en-US" sz="750" b="1" dirty="0">
                <a:solidFill>
                  <a:schemeClr val="tx2"/>
                </a:solidFill>
                <a:latin typeface="Poppins" pitchFamily="34" charset="0"/>
                <a:ea typeface="Poppins" pitchFamily="34" charset="-122"/>
                <a:cs typeface="Poppins" pitchFamily="34" charset="-120"/>
              </a:rPr>
              <a:t>Outside the frontier: AI struggles</a:t>
            </a:r>
            <a:endParaRPr lang="en-US" sz="750" dirty="0"/>
          </a:p>
        </p:txBody>
      </p:sp>
      <p:sp>
        <p:nvSpPr>
          <p:cNvPr id="40" name="inside label"/>
          <p:cNvSpPr txBox="1"/>
          <p:nvPr/>
        </p:nvSpPr>
        <p:spPr>
          <a:xfrm>
            <a:off x="5120640" y="3858768"/>
            <a:ext cx="3291840" cy="182880"/>
          </a:xfrm>
          <a:prstGeom prst="rect">
            <a:avLst/>
          </a:prstGeom>
          <a:noFill/>
          <a:ln/>
        </p:spPr>
        <p:txBody>
          <a:bodyPr wrap="square" lIns="0" tIns="0" rIns="0" bIns="0" rtlCol="0" anchor="ctr"/>
          <a:lstStyle/>
          <a:p>
            <a:pPr indent="0" marL="0">
              <a:buNone/>
            </a:pPr>
            <a:r>
              <a:rPr lang="en-US" sz="750" b="1" dirty="0">
                <a:solidFill>
                  <a:srgbClr val="2E8B86"/>
                </a:solidFill>
                <a:latin typeface="Poppins" pitchFamily="34" charset="0"/>
                <a:ea typeface="Poppins" pitchFamily="34" charset="-122"/>
                <a:cs typeface="Poppins" pitchFamily="34" charset="-120"/>
              </a:rPr>
              <a:t>Inside the frontier: AI performs well</a:t>
            </a:r>
            <a:endParaRPr lang="en-US" sz="750" dirty="0"/>
          </a:p>
        </p:txBody>
      </p:sp>
      <p:sp>
        <p:nvSpPr>
          <p:cNvPr id="41" name="axis label"/>
          <p:cNvSpPr txBox="1"/>
          <p:nvPr/>
        </p:nvSpPr>
        <p:spPr>
          <a:xfrm>
            <a:off x="5029200" y="4105656"/>
            <a:ext cx="3474720" cy="146304"/>
          </a:xfrm>
          <a:prstGeom prst="rect">
            <a:avLst/>
          </a:prstGeom>
          <a:noFill/>
          <a:ln/>
        </p:spPr>
        <p:txBody>
          <a:bodyPr wrap="square" lIns="0" tIns="0" rIns="0" bIns="0" rtlCol="0" anchor="ctr"/>
          <a:lstStyle/>
          <a:p>
            <a:pPr algn="ctr" indent="0" marL="0">
              <a:buNone/>
            </a:pPr>
            <a:r>
              <a:rPr lang="en-US" sz="700" i="1" dirty="0">
                <a:solidFill>
                  <a:schemeClr val="tx2"/>
                </a:solidFill>
                <a:latin typeface="Poppins" pitchFamily="34" charset="0"/>
                <a:ea typeface="Poppins" pitchFamily="34" charset="-122"/>
                <a:cs typeface="Poppins" pitchFamily="34" charset="-120"/>
              </a:rPr>
              <a:t>Tasks of similar apparent difficulty</a:t>
            </a:r>
            <a:endParaRPr lang="en-US" sz="7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oppins" pitchFamily="34" charset="0"/>
                <a:ea typeface="Poppins" pitchFamily="34" charset="-122"/>
                <a:cs typeface="Poppins" pitchFamily="34" charset="-120"/>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8"/>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latin typeface="Poppins" pitchFamily="34" charset="0"/>
                <a:ea typeface="Poppins" pitchFamily="34" charset="-122"/>
                <a:cs typeface="Poppins" pitchFamily="34" charset="-120"/>
              </a:rPr>
              <a:t>Next:  </a:t>
            </a:r>
            <a:pPr indent="0" marL="0">
              <a:buNone/>
            </a:pPr>
            <a:r>
              <a:rPr lang="en-US" sz="800" dirty="0">
                <a:solidFill>
                  <a:srgbClr val="1B2A4A"/>
                </a:solidFill>
                <a:latin typeface="Poppins" pitchFamily="34" charset="0"/>
                <a:ea typeface="Poppins" pitchFamily="34" charset="-122"/>
                <a:cs typeface="Poppins" pitchFamily="34" charset="-120"/>
              </a:rPr>
              <a:t>So what happened when 758 consultants actually used GPT-4?</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oppins" pitchFamily="34" charset="0"/>
                <a:ea typeface="Poppins" pitchFamily="34" charset="-122"/>
                <a:cs typeface="Poppins" pitchFamily="34" charset="-120"/>
              </a:rPr>
              <a:t>Article 2  |  Key findings</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Can Improve Productivity, but Has Limits</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2E8B86"/>
          </a:solidFill>
          <a:ln w="12700">
            <a:solidFill>
              <a:srgbClr val="2E8B8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latin typeface="Poppins" pitchFamily="34" charset="0"/>
                <a:ea typeface="Poppins" pitchFamily="34" charset="-122"/>
                <a:cs typeface="Poppins" pitchFamily="34" charset="-120"/>
              </a:rPr>
              <a:t>Article 2: Findings</a:t>
            </a:r>
            <a:endParaRPr lang="en-US" sz="800" dirty="0"/>
          </a:p>
        </p:txBody>
      </p:sp>
      <p:sp>
        <p:nvSpPr>
          <p:cNvPr id="10" name="tag finding"/>
          <p:cNvSpPr/>
          <p:nvPr/>
        </p:nvSpPr>
        <p:spPr>
          <a:xfrm>
            <a:off x="457200" y="1133856"/>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33856"/>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Poppins" pitchFamily="34" charset="0"/>
                <a:ea typeface="Poppins" pitchFamily="34" charset="-122"/>
                <a:cs typeface="Poppins" pitchFamily="34" charset="-120"/>
              </a:rPr>
              <a:t>FINDING (reported in the article)</a:t>
            </a:r>
            <a:endParaRPr lang="en-US" sz="800" dirty="0"/>
          </a:p>
        </p:txBody>
      </p:sp>
      <p:graphicFrame>
        <p:nvGraphicFramePr>
          <p:cNvPr id="12" name="findings chart" descr=""/>
          <p:cNvGraphicFramePr/>
          <p:nvPr/>
        </p:nvGraphicFramePr>
        <p:xfrm>
          <a:off x="457200" y="1371600"/>
          <a:ext cx="484632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457200" y="3419856"/>
            <a:ext cx="4846320" cy="365760"/>
          </a:xfrm>
          <a:prstGeom prst="rect">
            <a:avLst/>
          </a:prstGeom>
          <a:noFill/>
          <a:ln/>
        </p:spPr>
        <p:txBody>
          <a:bodyPr wrap="square" lIns="0" tIns="0" rIns="0" bIns="0" rtlCol="0" anchor="t"/>
          <a:lstStyle/>
          <a:p>
            <a:pPr indent="0" marL="0">
              <a:buNone/>
            </a:pPr>
            <a:r>
              <a:rPr lang="en-US" sz="750" i="1" dirty="0">
                <a:solidFill>
                  <a:schemeClr val="tx2"/>
                </a:solidFill>
                <a:latin typeface="Poppins" pitchFamily="34" charset="0"/>
                <a:ea typeface="Poppins" pitchFamily="34" charset="-122"/>
                <a:cs typeface="Poppins" pitchFamily="34" charset="-120"/>
              </a:rPr>
              <a:t>Quality is reported as "more than 40%" higher than the control group; the bar is plotted at 40. Below-/above-average rows are performer groups, each improving against its own baseline score.</a:t>
            </a:r>
            <a:endParaRPr lang="en-US" sz="750" dirty="0"/>
          </a:p>
        </p:txBody>
      </p:sp>
      <p:sp>
        <p:nvSpPr>
          <p:cNvPr id="14" name="outside callout"/>
          <p:cNvSpPr/>
          <p:nvPr/>
        </p:nvSpPr>
        <p:spPr>
          <a:xfrm>
            <a:off x="5577840" y="1133856"/>
            <a:ext cx="3108960" cy="1755648"/>
          </a:xfrm>
          <a:prstGeom prst="roundRect">
            <a:avLst>
              <a:gd name="adj" fmla="val 5208"/>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15" name="outside head"/>
          <p:cNvSpPr txBox="1"/>
          <p:nvPr/>
        </p:nvSpPr>
        <p:spPr>
          <a:xfrm>
            <a:off x="5760720" y="1225296"/>
            <a:ext cx="2743200" cy="237744"/>
          </a:xfrm>
          <a:prstGeom prst="rect">
            <a:avLst/>
          </a:prstGeom>
          <a:noFill/>
          <a:ln/>
        </p:spPr>
        <p:txBody>
          <a:bodyPr wrap="square" lIns="0" tIns="0" rIns="0" bIns="0" rtlCol="0" anchor="ctr"/>
          <a:lstStyle/>
          <a:p>
            <a:pPr indent="0" marL="0">
              <a:buNone/>
            </a:pPr>
            <a:r>
              <a:rPr lang="en-US" sz="1000" b="1" spc="100" kern="0" dirty="0">
                <a:solidFill>
                  <a:srgbClr val="BFE6E0"/>
                </a:solidFill>
                <a:latin typeface="Poppins" pitchFamily="34" charset="0"/>
                <a:ea typeface="Poppins" pitchFamily="34" charset="-122"/>
                <a:cs typeface="Poppins" pitchFamily="34" charset="-120"/>
              </a:rPr>
              <a:t>Outside the frontier</a:t>
            </a:r>
            <a:endParaRPr lang="en-US" sz="1000" dirty="0"/>
          </a:p>
        </p:txBody>
      </p:sp>
      <p:sp>
        <p:nvSpPr>
          <p:cNvPr id="16" name="outside stat"/>
          <p:cNvSpPr txBox="1"/>
          <p:nvPr/>
        </p:nvSpPr>
        <p:spPr>
          <a:xfrm>
            <a:off x="5760720" y="1426464"/>
            <a:ext cx="1463040" cy="457200"/>
          </a:xfrm>
          <a:prstGeom prst="rect">
            <a:avLst/>
          </a:prstGeom>
          <a:noFill/>
          <a:ln/>
        </p:spPr>
        <p:txBody>
          <a:bodyPr wrap="square" lIns="0" tIns="0" rIns="0" bIns="0" rtlCol="0" anchor="ctr"/>
          <a:lstStyle/>
          <a:p>
            <a:pPr indent="0" marL="0">
              <a:buNone/>
            </a:pPr>
            <a:r>
              <a:rPr lang="en-US" sz="4000" b="1" dirty="0">
                <a:solidFill>
                  <a:srgbClr val="FFFFFF"/>
                </a:solidFill>
                <a:latin typeface="Poppins" pitchFamily="34" charset="0"/>
                <a:ea typeface="Poppins" pitchFamily="34" charset="-122"/>
                <a:cs typeface="Poppins" pitchFamily="34" charset="-120"/>
              </a:rPr>
              <a:t>−19</a:t>
            </a:r>
            <a:endParaRPr lang="en-US" sz="4000" dirty="0"/>
          </a:p>
        </p:txBody>
      </p:sp>
      <p:sp>
        <p:nvSpPr>
          <p:cNvPr id="17" name="outside unit"/>
          <p:cNvSpPr txBox="1"/>
          <p:nvPr/>
        </p:nvSpPr>
        <p:spPr>
          <a:xfrm>
            <a:off x="5760720" y="1883664"/>
            <a:ext cx="1920240" cy="201168"/>
          </a:xfrm>
          <a:prstGeom prst="rect">
            <a:avLst/>
          </a:prstGeom>
          <a:noFill/>
          <a:ln/>
        </p:spPr>
        <p:txBody>
          <a:bodyPr wrap="square" lIns="0" tIns="0" rIns="0" bIns="0" rtlCol="0" anchor="ctr"/>
          <a:lstStyle/>
          <a:p>
            <a:pPr indent="0" marL="0">
              <a:buNone/>
            </a:pPr>
            <a:r>
              <a:rPr lang="en-US" sz="850" dirty="0">
                <a:solidFill>
                  <a:srgbClr val="BFE6E0"/>
                </a:solidFill>
                <a:latin typeface="Poppins" pitchFamily="34" charset="0"/>
                <a:ea typeface="Poppins" pitchFamily="34" charset="-122"/>
                <a:cs typeface="Poppins" pitchFamily="34" charset="-120"/>
              </a:rPr>
              <a:t>percentage points</a:t>
            </a:r>
            <a:endParaRPr lang="en-US" sz="850" dirty="0"/>
          </a:p>
        </p:txBody>
      </p:sp>
      <p:pic>
        <p:nvPicPr>
          <p:cNvPr id="18" name="mascot confused" descr="preencoded.png">    </p:cNvPr>
          <p:cNvPicPr>
            <a:picLocks noChangeAspect="1"/>
          </p:cNvPicPr>
          <p:nvPr/>
        </p:nvPicPr>
        <p:blipFill>
          <a:blip r:embed="rId2"/>
          <a:stretch>
            <a:fillRect/>
          </a:stretch>
        </p:blipFill>
        <p:spPr>
          <a:xfrm>
            <a:off x="7571232" y="1316736"/>
            <a:ext cx="1005840" cy="868680"/>
          </a:xfrm>
          <a:prstGeom prst="rect">
            <a:avLst/>
          </a:prstGeom>
        </p:spPr>
      </p:pic>
      <p:sp>
        <p:nvSpPr>
          <p:cNvPr id="19" name="outside body"/>
          <p:cNvSpPr txBox="1"/>
          <p:nvPr/>
        </p:nvSpPr>
        <p:spPr>
          <a:xfrm>
            <a:off x="5760720" y="2139696"/>
            <a:ext cx="2743200" cy="694944"/>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For a task selected to be outside the frontier, AI users were 19 percentage points less likely to produce correct solutions than consultants without AI.</a:t>
            </a:r>
            <a:endParaRPr lang="en-US" sz="900" dirty="0"/>
          </a:p>
        </p:txBody>
      </p:sp>
      <p:sp>
        <p:nvSpPr>
          <p:cNvPr id="20" name="unit note card"/>
          <p:cNvSpPr/>
          <p:nvPr/>
        </p:nvSpPr>
        <p:spPr>
          <a:xfrm>
            <a:off x="5577840" y="2980944"/>
            <a:ext cx="3108960" cy="804672"/>
          </a:xfrm>
          <a:prstGeom prst="roundRect">
            <a:avLst>
              <a:gd name="adj" fmla="val 11364"/>
            </a:avLst>
          </a:prstGeom>
          <a:solidFill>
            <a:srgbClr val="EEF1F5"/>
          </a:solidFill>
          <a:ln w="12700">
            <a:solidFill>
              <a:srgbClr val="EEF1F5"/>
            </a:solidFill>
            <a:prstDash val="solid"/>
          </a:ln>
        </p:spPr>
      </p:sp>
      <p:sp>
        <p:nvSpPr>
          <p:cNvPr id="21" name="unit note"/>
          <p:cNvSpPr txBox="1"/>
          <p:nvPr/>
        </p:nvSpPr>
        <p:spPr>
          <a:xfrm>
            <a:off x="5715000" y="3017520"/>
            <a:ext cx="2834640" cy="731520"/>
          </a:xfrm>
          <a:prstGeom prst="rect">
            <a:avLst/>
          </a:prstGeom>
          <a:noFill/>
          <a:ln/>
        </p:spPr>
        <p:txBody>
          <a:bodyPr wrap="square" lIns="0" tIns="0" rIns="0" bIns="0" rtlCol="0" anchor="ctr"/>
          <a:lstStyle/>
          <a:p>
            <a:pPr indent="0" marL="0">
              <a:buNone/>
            </a:pPr>
            <a:r>
              <a:rPr lang="en-US" sz="800" dirty="0">
                <a:solidFill>
                  <a:schemeClr val="tx2"/>
                </a:solidFill>
                <a:latin typeface="Poppins" pitchFamily="34" charset="0"/>
                <a:ea typeface="Poppins" pitchFamily="34" charset="-122"/>
                <a:cs typeface="Poppins" pitchFamily="34" charset="-120"/>
              </a:rPr>
              <a:t>Percentage change (e.g. +12.2%) compares to a baseline. Percentage points (−19) is the gap between two success rates.</a:t>
            </a:r>
            <a:endParaRPr lang="en-US" sz="800" dirty="0"/>
          </a:p>
        </p:txBody>
      </p:sp>
      <p:sp>
        <p:nvSpPr>
          <p:cNvPr id="22" name="approach head"/>
          <p:cNvSpPr txBox="1"/>
          <p:nvPr/>
        </p:nvSpPr>
        <p:spPr>
          <a:xfrm>
            <a:off x="457200" y="3840480"/>
            <a:ext cx="4572000" cy="201168"/>
          </a:xfrm>
          <a:prstGeom prst="rect">
            <a:avLst/>
          </a:prstGeom>
          <a:noFill/>
          <a:ln/>
        </p:spPr>
        <p:txBody>
          <a:bodyPr wrap="square" lIns="0" tIns="0" rIns="0" bIns="0" rtlCol="0" anchor="ctr"/>
          <a:lstStyle/>
          <a:p>
            <a:pPr indent="0" marL="0">
              <a:buNone/>
            </a:pPr>
            <a:r>
              <a:rPr lang="en-US" sz="1050" b="1" dirty="0">
                <a:solidFill>
                  <a:schemeClr val="tx1"/>
                </a:solidFill>
                <a:latin typeface="Poppins" pitchFamily="34" charset="0"/>
                <a:ea typeface="Poppins" pitchFamily="34" charset="-122"/>
                <a:cs typeface="Poppins" pitchFamily="34" charset="-120"/>
              </a:rPr>
              <a:t>Two successful patterns of AI use</a:t>
            </a:r>
            <a:endParaRPr lang="en-US" sz="1050" dirty="0"/>
          </a:p>
        </p:txBody>
      </p:sp>
      <p:sp>
        <p:nvSpPr>
          <p:cNvPr id="23" name="approach Centaurs"/>
          <p:cNvSpPr/>
          <p:nvPr/>
        </p:nvSpPr>
        <p:spPr>
          <a:xfrm>
            <a:off x="457200" y="4059936"/>
            <a:ext cx="3977640" cy="365760"/>
          </a:xfrm>
          <a:prstGeom prst="roundRect">
            <a:avLst>
              <a:gd name="adj" fmla="val 25000"/>
            </a:avLst>
          </a:prstGeom>
          <a:solidFill>
            <a:srgbClr val="EEF1F5"/>
          </a:solidFill>
          <a:ln w="12700">
            <a:solidFill>
              <a:srgbClr val="EEF1F5"/>
            </a:solidFill>
            <a:prstDash val="solid"/>
          </a:ln>
        </p:spPr>
      </p:sp>
      <p:pic>
        <p:nvPicPr>
          <p:cNvPr id="24" name="glyph Centaurs" descr="preencoded.png">    </p:cNvPr>
          <p:cNvPicPr>
            <a:picLocks noChangeAspect="1"/>
          </p:cNvPicPr>
          <p:nvPr/>
        </p:nvPicPr>
        <p:blipFill>
          <a:blip r:embed="rId3"/>
          <a:stretch>
            <a:fillRect/>
          </a:stretch>
        </p:blipFill>
        <p:spPr>
          <a:xfrm>
            <a:off x="530352" y="4105656"/>
            <a:ext cx="411480" cy="274320"/>
          </a:xfrm>
          <a:prstGeom prst="rect">
            <a:avLst/>
          </a:prstGeom>
        </p:spPr>
      </p:pic>
      <p:sp>
        <p:nvSpPr>
          <p:cNvPr id="25" name="approach text"/>
          <p:cNvSpPr txBox="1"/>
          <p:nvPr/>
        </p:nvSpPr>
        <p:spPr>
          <a:xfrm>
            <a:off x="1024128" y="4059936"/>
            <a:ext cx="3337560" cy="365760"/>
          </a:xfrm>
          <a:prstGeom prst="rect">
            <a:avLst/>
          </a:prstGeom>
          <a:noFill/>
          <a:ln/>
        </p:spPr>
        <p:txBody>
          <a:bodyPr wrap="square" lIns="0" tIns="0" rIns="0" bIns="0" rtlCol="0" anchor="ctr"/>
          <a:lstStyle/>
          <a:p>
            <a:pPr indent="0" marL="0">
              <a:buNone/>
            </a:pPr>
            <a:r>
              <a:rPr lang="en-US" sz="950" b="1" dirty="0">
                <a:solidFill>
                  <a:schemeClr val="tx1"/>
                </a:solidFill>
                <a:latin typeface="Poppins" pitchFamily="34" charset="0"/>
                <a:ea typeface="Poppins" pitchFamily="34" charset="-122"/>
                <a:cs typeface="Poppins" pitchFamily="34" charset="-120"/>
              </a:rPr>
              <a:t>Centaurs  </a:t>
            </a:r>
            <a:pPr indent="0" marL="0">
              <a:buNone/>
            </a:pPr>
            <a:r>
              <a:rPr lang="en-US" sz="850" dirty="0">
                <a:solidFill>
                  <a:schemeClr val="tx2"/>
                </a:solidFill>
                <a:latin typeface="Poppins" pitchFamily="34" charset="0"/>
                <a:ea typeface="Poppins" pitchFamily="34" charset="-122"/>
                <a:cs typeface="Poppins" pitchFamily="34" charset="-120"/>
              </a:rPr>
              <a:t>Divide tasks between humans and AI, delegating sub-tasks to whichever is better suited.</a:t>
            </a:r>
            <a:endParaRPr lang="en-US" sz="950" dirty="0"/>
          </a:p>
        </p:txBody>
      </p:sp>
      <p:sp>
        <p:nvSpPr>
          <p:cNvPr id="26" name="approach Cyborgs"/>
          <p:cNvSpPr/>
          <p:nvPr/>
        </p:nvSpPr>
        <p:spPr>
          <a:xfrm>
            <a:off x="4709160" y="4059936"/>
            <a:ext cx="3977640" cy="365760"/>
          </a:xfrm>
          <a:prstGeom prst="roundRect">
            <a:avLst>
              <a:gd name="adj" fmla="val 25000"/>
            </a:avLst>
          </a:prstGeom>
          <a:solidFill>
            <a:srgbClr val="EEF1F5"/>
          </a:solidFill>
          <a:ln w="12700">
            <a:solidFill>
              <a:srgbClr val="EEF1F5"/>
            </a:solidFill>
            <a:prstDash val="solid"/>
          </a:ln>
        </p:spPr>
      </p:sp>
      <p:pic>
        <p:nvPicPr>
          <p:cNvPr id="27" name="glyph Cyborgs" descr="preencoded.png">    </p:cNvPr>
          <p:cNvPicPr>
            <a:picLocks noChangeAspect="1"/>
          </p:cNvPicPr>
          <p:nvPr/>
        </p:nvPicPr>
        <p:blipFill>
          <a:blip r:embed="rId4"/>
          <a:stretch>
            <a:fillRect/>
          </a:stretch>
        </p:blipFill>
        <p:spPr>
          <a:xfrm>
            <a:off x="4782312" y="4105656"/>
            <a:ext cx="411480" cy="274320"/>
          </a:xfrm>
          <a:prstGeom prst="rect">
            <a:avLst/>
          </a:prstGeom>
        </p:spPr>
      </p:pic>
      <p:sp>
        <p:nvSpPr>
          <p:cNvPr id="28" name="approach text"/>
          <p:cNvSpPr txBox="1"/>
          <p:nvPr/>
        </p:nvSpPr>
        <p:spPr>
          <a:xfrm>
            <a:off x="5276088" y="4059936"/>
            <a:ext cx="3337560" cy="365760"/>
          </a:xfrm>
          <a:prstGeom prst="rect">
            <a:avLst/>
          </a:prstGeom>
          <a:noFill/>
          <a:ln/>
        </p:spPr>
        <p:txBody>
          <a:bodyPr wrap="square" lIns="0" tIns="0" rIns="0" bIns="0" rtlCol="0" anchor="ctr"/>
          <a:lstStyle/>
          <a:p>
            <a:pPr indent="0" marL="0">
              <a:buNone/>
            </a:pPr>
            <a:r>
              <a:rPr lang="en-US" sz="950" b="1" dirty="0">
                <a:solidFill>
                  <a:schemeClr val="tx1"/>
                </a:solidFill>
                <a:latin typeface="Poppins" pitchFamily="34" charset="0"/>
                <a:ea typeface="Poppins" pitchFamily="34" charset="-122"/>
                <a:cs typeface="Poppins" pitchFamily="34" charset="-120"/>
              </a:rPr>
              <a:t>Cyborgs  </a:t>
            </a:r>
            <a:pPr indent="0" marL="0">
              <a:buNone/>
            </a:pPr>
            <a:r>
              <a:rPr lang="en-US" sz="850" dirty="0">
                <a:solidFill>
                  <a:schemeClr val="tx2"/>
                </a:solidFill>
                <a:latin typeface="Poppins" pitchFamily="34" charset="0"/>
                <a:ea typeface="Poppins" pitchFamily="34" charset="-122"/>
                <a:cs typeface="Poppins" pitchFamily="34" charset="-120"/>
              </a:rPr>
              <a:t>Integrate AI continuously into the workflow, moving back and forth with the tool.</a:t>
            </a:r>
            <a:endParaRPr lang="en-US" sz="950" dirty="0"/>
          </a:p>
        </p:txBody>
      </p:sp>
      <p:sp>
        <p:nvSpPr>
          <p:cNvPr id="29"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oppins" pitchFamily="34" charset="0"/>
                <a:ea typeface="Poppins" pitchFamily="34" charset="-122"/>
                <a:cs typeface="Poppins" pitchFamily="34" charset="-120"/>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30"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31" name="icon FiArrowRight" descr="preencoded.png">    </p:cNvPr>
          <p:cNvPicPr>
            <a:picLocks noChangeAspect="1"/>
          </p:cNvPicPr>
          <p:nvPr/>
        </p:nvPicPr>
        <p:blipFill>
          <a:blip r:embed="rId5"/>
          <a:stretch>
            <a:fillRect/>
          </a:stretch>
        </p:blipFill>
        <p:spPr>
          <a:xfrm>
            <a:off x="8412480" y="4480560"/>
            <a:ext cx="182880" cy="182880"/>
          </a:xfrm>
          <a:prstGeom prst="rect">
            <a:avLst/>
          </a:prstGeom>
        </p:spPr>
      </p:pic>
      <p:sp>
        <p:nvSpPr>
          <p:cNvPr id="32"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latin typeface="Poppins" pitchFamily="34" charset="0"/>
                <a:ea typeface="Poppins" pitchFamily="34" charset="-122"/>
                <a:cs typeface="Poppins" pitchFamily="34" charset="-120"/>
              </a:rPr>
              <a:t>Next:  </a:t>
            </a:r>
            <a:pPr indent="0" marL="0">
              <a:buNone/>
            </a:pPr>
            <a:r>
              <a:rPr lang="en-US" sz="800" dirty="0">
                <a:solidFill>
                  <a:srgbClr val="1B2A4A"/>
                </a:solidFill>
                <a:latin typeface="Poppins" pitchFamily="34" charset="0"/>
                <a:ea typeface="Poppins" pitchFamily="34" charset="-122"/>
                <a:cs typeface="Poppins" pitchFamily="34" charset="-120"/>
              </a:rPr>
              <a:t>Does this hold outside the office, for real small businesses?</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oppins" pitchFamily="34" charset="0"/>
                <a:ea typeface="Poppins" pitchFamily="34" charset="-122"/>
                <a:cs typeface="Poppins" pitchFamily="34" charset="-120"/>
              </a:rPr>
              <a:t>Article 5  |  Research purpose and findings</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The Uneven Impact of Generative AI on Entrepreneurial Performance</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2E8B86"/>
          </a:solidFill>
          <a:ln w="12700">
            <a:solidFill>
              <a:srgbClr val="2E8B8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latin typeface="Poppins" pitchFamily="34" charset="0"/>
                <a:ea typeface="Poppins" pitchFamily="34" charset="-122"/>
                <a:cs typeface="Poppins" pitchFamily="34" charset="-120"/>
              </a:rPr>
              <a:t>Article 5: Entrepreneurs</a:t>
            </a:r>
            <a:endParaRPr lang="en-US" sz="8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900" dirty="0">
                <a:solidFill>
                  <a:schemeClr val="tx2"/>
                </a:solidFill>
                <a:latin typeface="Poppins" pitchFamily="34" charset="0"/>
                <a:ea typeface="Poppins" pitchFamily="34" charset="-122"/>
                <a:cs typeface="Poppins" pitchFamily="34" charset="-120"/>
              </a:rPr>
              <a:t>Nicholas G. Otis et al.  |  Management Science, Vol. 72, No. 7, 2026  |  DOI 10.1287/mnsc.2024.06909</a:t>
            </a:r>
            <a:endParaRPr lang="en-US" sz="9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MapPin"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Setting"/>
          <p:cNvSpPr txBox="1"/>
          <p:nvPr/>
        </p:nvSpPr>
        <p:spPr>
          <a:xfrm>
            <a:off x="969264" y="1389888"/>
            <a:ext cx="3328416" cy="530352"/>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Setting</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Field experiment with small-business entrepreneurs in Kenya</a:t>
            </a:r>
            <a:endParaRPr lang="en-US" sz="1150" dirty="0"/>
          </a:p>
        </p:txBody>
      </p:sp>
      <p:sp>
        <p:nvSpPr>
          <p:cNvPr id="14" name="icon circle"/>
          <p:cNvSpPr/>
          <p:nvPr/>
        </p:nvSpPr>
        <p:spPr>
          <a:xfrm>
            <a:off x="457200" y="2011680"/>
            <a:ext cx="384048" cy="384048"/>
          </a:xfrm>
          <a:prstGeom prst="ellipse">
            <a:avLst/>
          </a:prstGeom>
          <a:solidFill>
            <a:srgbClr val="2E8B86"/>
          </a:solidFill>
          <a:ln w="12700">
            <a:solidFill>
              <a:srgbClr val="2E8B86"/>
            </a:solidFill>
            <a:prstDash val="solid"/>
          </a:ln>
        </p:spPr>
      </p:sp>
      <p:pic>
        <p:nvPicPr>
          <p:cNvPr id="15" name="icon FiMessageSquare" descr="preencoded.png">    </p:cNvPr>
          <p:cNvPicPr>
            <a:picLocks noChangeAspect="1"/>
          </p:cNvPicPr>
          <p:nvPr/>
        </p:nvPicPr>
        <p:blipFill>
          <a:blip r:embed="rId2"/>
          <a:stretch>
            <a:fillRect/>
          </a:stretch>
        </p:blipFill>
        <p:spPr>
          <a:xfrm>
            <a:off x="539496" y="2093976"/>
            <a:ext cx="219456" cy="219456"/>
          </a:xfrm>
          <a:prstGeom prst="rect">
            <a:avLst/>
          </a:prstGeom>
        </p:spPr>
      </p:pic>
      <p:sp>
        <p:nvSpPr>
          <p:cNvPr id="16" name="fact Intervention"/>
          <p:cNvSpPr txBox="1"/>
          <p:nvPr/>
        </p:nvSpPr>
        <p:spPr>
          <a:xfrm>
            <a:off x="969264" y="1975104"/>
            <a:ext cx="3328416" cy="530352"/>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Intervention</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Access to a GPT-4-powered AI business assistant that gave business advice</a:t>
            </a:r>
            <a:endParaRPr lang="en-US" sz="1150" dirty="0"/>
          </a:p>
        </p:txBody>
      </p:sp>
      <p:sp>
        <p:nvSpPr>
          <p:cNvPr id="17" name="icon circle"/>
          <p:cNvSpPr/>
          <p:nvPr/>
        </p:nvSpPr>
        <p:spPr>
          <a:xfrm>
            <a:off x="457200" y="2596896"/>
            <a:ext cx="384048" cy="384048"/>
          </a:xfrm>
          <a:prstGeom prst="ellipse">
            <a:avLst/>
          </a:prstGeom>
          <a:solidFill>
            <a:srgbClr val="2E8B86"/>
          </a:solidFill>
          <a:ln w="12700">
            <a:solidFill>
              <a:srgbClr val="2E8B86"/>
            </a:solidFill>
            <a:prstDash val="solid"/>
          </a:ln>
        </p:spPr>
      </p:sp>
      <p:pic>
        <p:nvPicPr>
          <p:cNvPr id="18" name="icon FiDollarSign" descr="preencoded.png">    </p:cNvPr>
          <p:cNvPicPr>
            <a:picLocks noChangeAspect="1"/>
          </p:cNvPicPr>
          <p:nvPr/>
        </p:nvPicPr>
        <p:blipFill>
          <a:blip r:embed="rId3"/>
          <a:stretch>
            <a:fillRect/>
          </a:stretch>
        </p:blipFill>
        <p:spPr>
          <a:xfrm>
            <a:off x="539496" y="2679192"/>
            <a:ext cx="219456" cy="219456"/>
          </a:xfrm>
          <a:prstGeom prst="rect">
            <a:avLst/>
          </a:prstGeom>
        </p:spPr>
      </p:pic>
      <p:sp>
        <p:nvSpPr>
          <p:cNvPr id="19" name="fact Outcomes examined"/>
          <p:cNvSpPr txBox="1"/>
          <p:nvPr/>
        </p:nvSpPr>
        <p:spPr>
          <a:xfrm>
            <a:off x="969264" y="2560320"/>
            <a:ext cx="3328416" cy="530352"/>
          </a:xfrm>
          <a:prstGeom prst="rect">
            <a:avLst/>
          </a:prstGeom>
          <a:noFill/>
          <a:ln/>
        </p:spPr>
        <p:txBody>
          <a:bodyPr wrap="square" lIns="0" tIns="0" rIns="0" bIns="0" rtlCol="0" anchor="t"/>
          <a:lstStyle/>
          <a:p>
            <a:pPr indent="0" marL="0">
              <a:buNone/>
            </a:pPr>
            <a:r>
              <a:rPr lang="en-US" sz="1150" b="1" dirty="0">
                <a:solidFill>
                  <a:schemeClr val="tx1"/>
                </a:solidFill>
                <a:latin typeface="Poppins" pitchFamily="34" charset="0"/>
                <a:ea typeface="Poppins" pitchFamily="34" charset="-122"/>
                <a:cs typeface="Poppins" pitchFamily="34" charset="-120"/>
              </a:rPr>
              <a:t>Outcomes examined</a:t>
            </a:r>
            <a:endParaRPr lang="en-US" sz="1150" dirty="0"/>
          </a:p>
          <a:p>
            <a:pPr indent="0" marL="0">
              <a:buNone/>
            </a:pPr>
            <a:r>
              <a:rPr lang="en-US" sz="1050" dirty="0">
                <a:solidFill>
                  <a:schemeClr val="tx2"/>
                </a:solidFill>
                <a:latin typeface="Poppins" pitchFamily="34" charset="0"/>
                <a:ea typeface="Poppins" pitchFamily="34" charset="-122"/>
                <a:cs typeface="Poppins" pitchFamily="34" charset="-120"/>
              </a:rPr>
              <a:t>Small-business revenue and profit</a:t>
            </a:r>
            <a:endParaRPr lang="en-US" sz="1150" dirty="0"/>
          </a:p>
        </p:txBody>
      </p:sp>
      <p:sp>
        <p:nvSpPr>
          <p:cNvPr id="20" name="main effect card"/>
          <p:cNvSpPr/>
          <p:nvPr/>
        </p:nvSpPr>
        <p:spPr>
          <a:xfrm>
            <a:off x="457200" y="3200400"/>
            <a:ext cx="3840480" cy="1152144"/>
          </a:xfrm>
          <a:prstGeom prst="roundRect">
            <a:avLst>
              <a:gd name="adj" fmla="val 793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1" name="tag finding"/>
          <p:cNvSpPr/>
          <p:nvPr/>
        </p:nvSpPr>
        <p:spPr>
          <a:xfrm>
            <a:off x="621792" y="3310128"/>
            <a:ext cx="2286000" cy="219456"/>
          </a:xfrm>
          <a:prstGeom prst="roundRect">
            <a:avLst>
              <a:gd name="adj" fmla="val 50000"/>
            </a:avLst>
          </a:prstGeom>
          <a:solidFill>
            <a:srgbClr val="2E8B86"/>
          </a:solidFill>
          <a:ln w="12700">
            <a:solidFill>
              <a:srgbClr val="2E8B86"/>
            </a:solidFill>
            <a:prstDash val="solid"/>
          </a:ln>
        </p:spPr>
      </p:sp>
      <p:sp>
        <p:nvSpPr>
          <p:cNvPr id="22" name="tag text"/>
          <p:cNvSpPr txBox="1"/>
          <p:nvPr/>
        </p:nvSpPr>
        <p:spPr>
          <a:xfrm>
            <a:off x="621792" y="331012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Poppins" pitchFamily="34" charset="0"/>
                <a:ea typeface="Poppins" pitchFamily="34" charset="-122"/>
                <a:cs typeface="Poppins" pitchFamily="34" charset="-120"/>
              </a:rPr>
              <a:t>FINDING (reported in the article)</a:t>
            </a:r>
            <a:endParaRPr lang="en-US" sz="800" dirty="0"/>
          </a:p>
        </p:txBody>
      </p:sp>
      <p:sp>
        <p:nvSpPr>
          <p:cNvPr id="23" name="main head"/>
          <p:cNvSpPr txBox="1"/>
          <p:nvPr/>
        </p:nvSpPr>
        <p:spPr>
          <a:xfrm>
            <a:off x="621792" y="3566160"/>
            <a:ext cx="2651760" cy="219456"/>
          </a:xfrm>
          <a:prstGeom prst="rect">
            <a:avLst/>
          </a:prstGeom>
          <a:noFill/>
          <a:ln/>
        </p:spPr>
        <p:txBody>
          <a:bodyPr wrap="square" lIns="0" tIns="0" rIns="0" bIns="0" rtlCol="0" anchor="ctr"/>
          <a:lstStyle/>
          <a:p>
            <a:pPr indent="0" marL="0">
              <a:buNone/>
            </a:pPr>
            <a:r>
              <a:rPr lang="en-US" sz="1050" b="1" dirty="0">
                <a:solidFill>
                  <a:srgbClr val="BFE6E0"/>
                </a:solidFill>
                <a:latin typeface="Poppins" pitchFamily="34" charset="0"/>
                <a:ea typeface="Poppins" pitchFamily="34" charset="-122"/>
                <a:cs typeface="Poppins" pitchFamily="34" charset="-120"/>
              </a:rPr>
              <a:t>Average effect</a:t>
            </a:r>
            <a:endParaRPr lang="en-US" sz="1050" dirty="0"/>
          </a:p>
        </p:txBody>
      </p:sp>
      <p:sp>
        <p:nvSpPr>
          <p:cNvPr id="24" name="main body"/>
          <p:cNvSpPr txBox="1"/>
          <p:nvPr/>
        </p:nvSpPr>
        <p:spPr>
          <a:xfrm>
            <a:off x="621792" y="3785616"/>
            <a:ext cx="2651760" cy="54864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The researchers could not reject the null hypothesis of no average treatment effect on revenue and profits.</a:t>
            </a:r>
            <a:endParaRPr lang="en-US" sz="900" dirty="0"/>
          </a:p>
        </p:txBody>
      </p:sp>
      <p:pic>
        <p:nvPicPr>
          <p:cNvPr id="25" name="mascot with phone" descr="preencoded.png">    </p:cNvPr>
          <p:cNvPicPr>
            <a:picLocks noChangeAspect="1"/>
          </p:cNvPicPr>
          <p:nvPr/>
        </p:nvPicPr>
        <p:blipFill>
          <a:blip r:embed="rId4"/>
          <a:stretch>
            <a:fillRect/>
          </a:stretch>
        </p:blipFill>
        <p:spPr>
          <a:xfrm>
            <a:off x="3246120" y="3419856"/>
            <a:ext cx="960120" cy="822960"/>
          </a:xfrm>
          <a:prstGeom prst="rect">
            <a:avLst/>
          </a:prstGeom>
        </p:spPr>
      </p:pic>
      <p:sp>
        <p:nvSpPr>
          <p:cNvPr id="26" name="subgroup card"/>
          <p:cNvSpPr/>
          <p:nvPr/>
        </p:nvSpPr>
        <p:spPr>
          <a:xfrm>
            <a:off x="4617720" y="1371600"/>
            <a:ext cx="4069080" cy="1975104"/>
          </a:xfrm>
          <a:prstGeom prst="roundRect">
            <a:avLst>
              <a:gd name="adj" fmla="val 4630"/>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7" name="tag finding"/>
          <p:cNvSpPr/>
          <p:nvPr/>
        </p:nvSpPr>
        <p:spPr>
          <a:xfrm>
            <a:off x="4782312" y="1481328"/>
            <a:ext cx="2286000" cy="219456"/>
          </a:xfrm>
          <a:prstGeom prst="roundRect">
            <a:avLst>
              <a:gd name="adj" fmla="val 50000"/>
            </a:avLst>
          </a:prstGeom>
          <a:solidFill>
            <a:srgbClr val="2E8B86"/>
          </a:solidFill>
          <a:ln w="12700">
            <a:solidFill>
              <a:srgbClr val="2E8B86"/>
            </a:solidFill>
            <a:prstDash val="solid"/>
          </a:ln>
        </p:spPr>
      </p:sp>
      <p:sp>
        <p:nvSpPr>
          <p:cNvPr id="28" name="tag text"/>
          <p:cNvSpPr txBox="1"/>
          <p:nvPr/>
        </p:nvSpPr>
        <p:spPr>
          <a:xfrm>
            <a:off x="4782312" y="148132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Poppins" pitchFamily="34" charset="0"/>
                <a:ea typeface="Poppins" pitchFamily="34" charset="-122"/>
                <a:cs typeface="Poppins" pitchFamily="34" charset="-120"/>
              </a:rPr>
              <a:t>FINDING (reported in the article)</a:t>
            </a:r>
            <a:endParaRPr lang="en-US" sz="800" dirty="0"/>
          </a:p>
        </p:txBody>
      </p:sp>
      <p:sp>
        <p:nvSpPr>
          <p:cNvPr id="29" name="subgroup head"/>
          <p:cNvSpPr txBox="1"/>
          <p:nvPr/>
        </p:nvSpPr>
        <p:spPr>
          <a:xfrm>
            <a:off x="4782312" y="1737360"/>
            <a:ext cx="2971800" cy="237744"/>
          </a:xfrm>
          <a:prstGeom prst="rect">
            <a:avLst/>
          </a:prstGeom>
          <a:noFill/>
          <a:ln/>
        </p:spPr>
        <p:txBody>
          <a:bodyPr wrap="square" lIns="0" tIns="0" rIns="0" bIns="0" rtlCol="0" anchor="ctr"/>
          <a:lstStyle/>
          <a:p>
            <a:pPr indent="0" marL="0">
              <a:buNone/>
            </a:pPr>
            <a:r>
              <a:rPr lang="en-US" sz="1000" b="1" dirty="0">
                <a:solidFill>
                  <a:schemeClr val="tx1"/>
                </a:solidFill>
                <a:latin typeface="Poppins" pitchFamily="34" charset="0"/>
                <a:ea typeface="Poppins" pitchFamily="34" charset="-122"/>
                <a:cs typeface="Poppins" pitchFamily="34" charset="-120"/>
              </a:rPr>
              <a:t>Subgroup results by baseline performance</a:t>
            </a:r>
            <a:endParaRPr lang="en-US" sz="1000" dirty="0"/>
          </a:p>
        </p:txBody>
      </p:sp>
      <p:pic>
        <p:nvPicPr>
          <p:cNvPr id="30" name="entrepreneur with phone" descr="preencoded.png">    </p:cNvPr>
          <p:cNvPicPr>
            <a:picLocks noChangeAspect="1"/>
          </p:cNvPicPr>
          <p:nvPr/>
        </p:nvPicPr>
        <p:blipFill>
          <a:blip r:embed="rId5"/>
          <a:stretch>
            <a:fillRect/>
          </a:stretch>
        </p:blipFill>
        <p:spPr>
          <a:xfrm>
            <a:off x="7662672" y="1426464"/>
            <a:ext cx="914400" cy="960120"/>
          </a:xfrm>
          <a:prstGeom prst="rect">
            <a:avLst/>
          </a:prstGeom>
        </p:spPr>
      </p:pic>
      <p:sp>
        <p:nvSpPr>
          <p:cNvPr id="31" name="zero line"/>
          <p:cNvSpPr/>
          <p:nvPr/>
        </p:nvSpPr>
        <p:spPr>
          <a:xfrm>
            <a:off x="6245352" y="2194560"/>
            <a:ext cx="0" cy="1024128"/>
          </a:xfrm>
          <a:prstGeom prst="line">
            <a:avLst/>
          </a:prstGeom>
          <a:noFill/>
          <a:ln w="9525">
            <a:solidFill>
              <a:srgbClr val="9AA5B4"/>
            </a:solidFill>
            <a:prstDash val="dash"/>
          </a:ln>
        </p:spPr>
      </p:sp>
      <p:sp>
        <p:nvSpPr>
          <p:cNvPr id="32" name="bar label 0"/>
          <p:cNvSpPr txBox="1"/>
          <p:nvPr/>
        </p:nvSpPr>
        <p:spPr>
          <a:xfrm>
            <a:off x="4782312" y="2011680"/>
            <a:ext cx="3739896" cy="219456"/>
          </a:xfrm>
          <a:prstGeom prst="rect">
            <a:avLst/>
          </a:prstGeom>
          <a:noFill/>
          <a:ln/>
        </p:spPr>
        <p:txBody>
          <a:bodyPr wrap="square" lIns="0" tIns="0" rIns="0" bIns="0" rtlCol="0" anchor="ctr"/>
          <a:lstStyle/>
          <a:p>
            <a:pPr indent="0" marL="0">
              <a:buNone/>
            </a:pPr>
            <a:r>
              <a:rPr lang="en-US" sz="850" b="1" dirty="0">
                <a:solidFill>
                  <a:schemeClr val="tx1"/>
                </a:solidFill>
                <a:latin typeface="Poppins" pitchFamily="34" charset="0"/>
                <a:ea typeface="Poppins" pitchFamily="34" charset="-122"/>
                <a:cs typeface="Poppins" pitchFamily="34" charset="-120"/>
              </a:rPr>
              <a:t>Low performers at baseline  </a:t>
            </a:r>
            <a:pPr indent="0" marL="0">
              <a:buNone/>
            </a:pPr>
            <a:r>
              <a:rPr lang="en-US" sz="850" b="1" dirty="0">
                <a:solidFill>
                  <a:srgbClr val="5A6472"/>
                </a:solidFill>
                <a:latin typeface="Poppins" pitchFamily="34" charset="0"/>
                <a:ea typeface="Poppins" pitchFamily="34" charset="-122"/>
                <a:cs typeface="Poppins" pitchFamily="34" charset="-120"/>
              </a:rPr>
              <a:t>nearly 10% worse</a:t>
            </a:r>
            <a:endParaRPr lang="en-US" sz="850" dirty="0"/>
          </a:p>
        </p:txBody>
      </p:sp>
      <p:sp>
        <p:nvSpPr>
          <p:cNvPr id="33" name="bar 0"/>
          <p:cNvSpPr/>
          <p:nvPr/>
        </p:nvSpPr>
        <p:spPr>
          <a:xfrm>
            <a:off x="5426050" y="2249424"/>
            <a:ext cx="819302" cy="237744"/>
          </a:xfrm>
          <a:prstGeom prst="rect">
            <a:avLst/>
          </a:prstGeom>
          <a:solidFill>
            <a:srgbClr val="9AA5B4"/>
          </a:solidFill>
          <a:ln w="12700">
            <a:solidFill>
              <a:srgbClr val="9AA5B4"/>
            </a:solidFill>
            <a:prstDash val="solid"/>
          </a:ln>
        </p:spPr>
      </p:sp>
      <p:sp>
        <p:nvSpPr>
          <p:cNvPr id="34" name="bar label 1"/>
          <p:cNvSpPr txBox="1"/>
          <p:nvPr/>
        </p:nvSpPr>
        <p:spPr>
          <a:xfrm>
            <a:off x="4782312" y="2560320"/>
            <a:ext cx="3739896" cy="219456"/>
          </a:xfrm>
          <a:prstGeom prst="rect">
            <a:avLst/>
          </a:prstGeom>
          <a:noFill/>
          <a:ln/>
        </p:spPr>
        <p:txBody>
          <a:bodyPr wrap="square" lIns="0" tIns="0" rIns="0" bIns="0" rtlCol="0" anchor="ctr"/>
          <a:lstStyle/>
          <a:p>
            <a:pPr indent="0" marL="0">
              <a:buNone/>
            </a:pPr>
            <a:r>
              <a:rPr lang="en-US" sz="850" b="1" dirty="0">
                <a:solidFill>
                  <a:schemeClr val="tx1"/>
                </a:solidFill>
                <a:latin typeface="Poppins" pitchFamily="34" charset="0"/>
                <a:ea typeface="Poppins" pitchFamily="34" charset="-122"/>
                <a:cs typeface="Poppins" pitchFamily="34" charset="-120"/>
              </a:rPr>
              <a:t>High performers at baseline  </a:t>
            </a:r>
            <a:pPr indent="0" marL="0">
              <a:buNone/>
            </a:pPr>
            <a:r>
              <a:rPr lang="en-US" sz="850" b="1" dirty="0">
                <a:solidFill>
                  <a:srgbClr val="2E8B86"/>
                </a:solidFill>
                <a:latin typeface="Poppins" pitchFamily="34" charset="0"/>
                <a:ea typeface="Poppins" pitchFamily="34" charset="-122"/>
                <a:cs typeface="Poppins" pitchFamily="34" charset="-120"/>
              </a:rPr>
              <a:t>may have benefited by more than 15%</a:t>
            </a:r>
            <a:endParaRPr lang="en-US" sz="850" dirty="0"/>
          </a:p>
        </p:txBody>
      </p:sp>
      <p:sp>
        <p:nvSpPr>
          <p:cNvPr id="35" name="bar 1"/>
          <p:cNvSpPr/>
          <p:nvPr/>
        </p:nvSpPr>
        <p:spPr>
          <a:xfrm>
            <a:off x="6245352" y="2798064"/>
            <a:ext cx="1228954" cy="237744"/>
          </a:xfrm>
          <a:prstGeom prst="rect">
            <a:avLst/>
          </a:prstGeom>
          <a:solidFill>
            <a:srgbClr val="2E8B86"/>
          </a:solidFill>
          <a:ln w="12700">
            <a:solidFill>
              <a:srgbClr val="2E8B86"/>
            </a:solidFill>
            <a:prstDash val="solid"/>
          </a:ln>
        </p:spPr>
      </p:sp>
      <p:sp>
        <p:nvSpPr>
          <p:cNvPr id="36" name="bar note"/>
          <p:cNvSpPr txBox="1"/>
          <p:nvPr/>
        </p:nvSpPr>
        <p:spPr>
          <a:xfrm>
            <a:off x="4782312" y="3163824"/>
            <a:ext cx="3739896" cy="164592"/>
          </a:xfrm>
          <a:prstGeom prst="rect">
            <a:avLst/>
          </a:prstGeom>
          <a:noFill/>
          <a:ln/>
        </p:spPr>
        <p:txBody>
          <a:bodyPr wrap="square" lIns="0" tIns="0" rIns="0" bIns="0" rtlCol="0" anchor="ctr"/>
          <a:lstStyle/>
          <a:p>
            <a:pPr algn="r" indent="0" marL="0">
              <a:buNone/>
            </a:pPr>
            <a:r>
              <a:rPr lang="en-US" sz="750" i="1" dirty="0">
                <a:solidFill>
                  <a:schemeClr val="tx2"/>
                </a:solidFill>
                <a:latin typeface="Poppins" pitchFamily="34" charset="0"/>
                <a:ea typeface="Poppins" pitchFamily="34" charset="-122"/>
                <a:cs typeface="Poppins" pitchFamily="34" charset="-120"/>
              </a:rPr>
              <a:t>Bar lengths are illustrative of the reported figures</a:t>
            </a:r>
            <a:endParaRPr lang="en-US" sz="750" dirty="0"/>
          </a:p>
        </p:txBody>
      </p:sp>
      <p:sp>
        <p:nvSpPr>
          <p:cNvPr id="37" name="mechanism card"/>
          <p:cNvSpPr/>
          <p:nvPr/>
        </p:nvSpPr>
        <p:spPr>
          <a:xfrm>
            <a:off x="4617720" y="3401568"/>
            <a:ext cx="4069080" cy="457200"/>
          </a:xfrm>
          <a:prstGeom prst="roundRect">
            <a:avLst>
              <a:gd name="adj" fmla="val 20000"/>
            </a:avLst>
          </a:prstGeom>
          <a:solidFill>
            <a:srgbClr val="EEF1F5"/>
          </a:solidFill>
          <a:ln w="12700">
            <a:solidFill>
              <a:srgbClr val="EEF1F5"/>
            </a:solidFill>
            <a:prstDash val="solid"/>
          </a:ln>
        </p:spPr>
      </p:sp>
      <p:sp>
        <p:nvSpPr>
          <p:cNvPr id="38" name="mechanism"/>
          <p:cNvSpPr txBox="1"/>
          <p:nvPr/>
        </p:nvSpPr>
        <p:spPr>
          <a:xfrm>
            <a:off x="4754880" y="3419856"/>
            <a:ext cx="3794760" cy="420624"/>
          </a:xfrm>
          <a:prstGeom prst="rect">
            <a:avLst/>
          </a:prstGeom>
          <a:noFill/>
          <a:ln/>
        </p:spPr>
        <p:txBody>
          <a:bodyPr wrap="square" lIns="0" tIns="0" rIns="0" bIns="0" rtlCol="0" anchor="ctr"/>
          <a:lstStyle/>
          <a:p>
            <a:pPr indent="0" marL="0">
              <a:buNone/>
            </a:pPr>
            <a:r>
              <a:rPr lang="en-US" sz="850" dirty="0">
                <a:solidFill>
                  <a:schemeClr val="tx1"/>
                </a:solidFill>
                <a:latin typeface="Poppins" pitchFamily="34" charset="0"/>
                <a:ea typeface="Poppins" pitchFamily="34" charset="-122"/>
                <a:cs typeface="Poppins" pitchFamily="34" charset="-120"/>
              </a:rPr>
              <a:t>The difference did not appear to result from differences in the questions asked or the AI advice given, but from the advice entrepreneurs chose to implement.</a:t>
            </a:r>
            <a:endParaRPr lang="en-US" sz="850" dirty="0"/>
          </a:p>
        </p:txBody>
      </p:sp>
      <p:sp>
        <p:nvSpPr>
          <p:cNvPr id="39" name="caution card"/>
          <p:cNvSpPr/>
          <p:nvPr/>
        </p:nvSpPr>
        <p:spPr>
          <a:xfrm>
            <a:off x="4617720" y="3931920"/>
            <a:ext cx="4069080" cy="420624"/>
          </a:xfrm>
          <a:prstGeom prst="roundRect">
            <a:avLst>
              <a:gd name="adj" fmla="val 21739"/>
            </a:avLst>
          </a:prstGeom>
          <a:solidFill>
            <a:srgbClr val="FFFFFF"/>
          </a:solidFill>
          <a:ln w="12700">
            <a:solidFill>
              <a:srgbClr val="2E8B86"/>
            </a:solidFill>
            <a:prstDash val="solid"/>
          </a:ln>
        </p:spPr>
      </p:sp>
      <p:pic>
        <p:nvPicPr>
          <p:cNvPr id="40" name="icon FiAlertTriangle" descr="preencoded.png">    </p:cNvPr>
          <p:cNvPicPr>
            <a:picLocks noChangeAspect="1"/>
          </p:cNvPicPr>
          <p:nvPr/>
        </p:nvPicPr>
        <p:blipFill>
          <a:blip r:embed="rId6"/>
          <a:stretch>
            <a:fillRect/>
          </a:stretch>
        </p:blipFill>
        <p:spPr>
          <a:xfrm>
            <a:off x="4727448" y="4032504"/>
            <a:ext cx="219456" cy="219456"/>
          </a:xfrm>
          <a:prstGeom prst="rect">
            <a:avLst/>
          </a:prstGeom>
        </p:spPr>
      </p:pic>
      <p:sp>
        <p:nvSpPr>
          <p:cNvPr id="41" name="caution"/>
          <p:cNvSpPr txBox="1"/>
          <p:nvPr/>
        </p:nvSpPr>
        <p:spPr>
          <a:xfrm>
            <a:off x="5020056" y="3950208"/>
            <a:ext cx="3557016" cy="384048"/>
          </a:xfrm>
          <a:prstGeom prst="rect">
            <a:avLst/>
          </a:prstGeom>
          <a:noFill/>
          <a:ln/>
        </p:spPr>
        <p:txBody>
          <a:bodyPr wrap="square" lIns="0" tIns="0" rIns="0" bIns="0" rtlCol="0" anchor="ctr"/>
          <a:lstStyle/>
          <a:p>
            <a:pPr indent="0" marL="0">
              <a:buNone/>
            </a:pPr>
            <a:r>
              <a:rPr lang="en-US" sz="800" dirty="0">
                <a:solidFill>
                  <a:schemeClr val="tx2"/>
                </a:solidFill>
                <a:latin typeface="Poppins" pitchFamily="34" charset="0"/>
                <a:ea typeface="Poppins" pitchFamily="34" charset="-122"/>
                <a:cs typeface="Poppins" pitchFamily="34" charset="-120"/>
              </a:rPr>
              <a:t>Caution: these are subgroup averages. They do not show that every high-performing entrepreneur benefits or that every low-performing entrepreneur loses.</a:t>
            </a:r>
            <a:endParaRPr lang="en-US" sz="8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oppins" pitchFamily="34" charset="0"/>
                <a:ea typeface="Poppins" pitchFamily="34" charset="-122"/>
                <a:cs typeface="Poppins" pitchFamily="34" charset="-120"/>
              </a:rPr>
              <a:t>Otis, N. G., Clarke, R., Delecourt, S., Holtz, D., &amp; Koning, R. (2026). The Uneven Impact of Generative Artificial Intelligence on Entrepreneurial Performance: Evidence from a Field Experiment in Kenya. Management Science, 72(7). https://doi.org/10.1287/mnsc.2024.06909</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7"/>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latin typeface="Poppins" pitchFamily="34" charset="0"/>
                <a:ea typeface="Poppins" pitchFamily="34" charset="-122"/>
                <a:cs typeface="Poppins" pitchFamily="34" charset="-120"/>
              </a:rPr>
              <a:t>Next:  </a:t>
            </a:r>
            <a:pPr indent="0" marL="0">
              <a:buNone/>
            </a:pPr>
            <a:r>
              <a:rPr lang="en-US" sz="800" dirty="0">
                <a:solidFill>
                  <a:srgbClr val="1B2A4A"/>
                </a:solidFill>
                <a:latin typeface="Poppins" pitchFamily="34" charset="0"/>
                <a:ea typeface="Poppins" pitchFamily="34" charset="-122"/>
                <a:cs typeface="Poppins" pitchFamily="34" charset="-120"/>
              </a:rPr>
              <a:t>Two studies, one lesson: what do they tell us together?</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oppins" pitchFamily="34" charset="0"/>
                <a:ea typeface="Poppins" pitchFamily="34" charset="-122"/>
                <a:cs typeface="Poppins" pitchFamily="34" charset="-120"/>
              </a:rPr>
              <a:t>Discussion and comparison</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Is a Tool, Not a Guarantee of Success</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BFE6E0"/>
          </a:solidFill>
          <a:ln w="12700">
            <a:solidFill>
              <a:srgbClr val="BFE6E0"/>
            </a:solidFill>
            <a:prstDash val="solid"/>
          </a:ln>
        </p:spPr>
      </p:sp>
      <p:sp>
        <p:nvSpPr>
          <p:cNvPr id="8" name="progress dot 5"/>
          <p:cNvSpPr/>
          <p:nvPr/>
        </p:nvSpPr>
        <p:spPr>
          <a:xfrm>
            <a:off x="8577072" y="228600"/>
            <a:ext cx="109728" cy="109728"/>
          </a:xfrm>
          <a:prstGeom prst="ellipse">
            <a:avLst/>
          </a:prstGeom>
          <a:solidFill>
            <a:srgbClr val="2E8B86"/>
          </a:solidFill>
          <a:ln w="12700">
            <a:solidFill>
              <a:srgbClr val="2E8B8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latin typeface="Poppins" pitchFamily="34" charset="0"/>
                <a:ea typeface="Poppins" pitchFamily="34" charset="-122"/>
                <a:cs typeface="Poppins" pitchFamily="34" charset="-120"/>
              </a:rPr>
              <a:t>Discussion</a:t>
            </a:r>
            <a:endParaRPr lang="en-US" sz="800" dirty="0"/>
          </a:p>
        </p:txBody>
      </p:sp>
      <p:sp>
        <p:nvSpPr>
          <p:cNvPr id="10" name="tag finding"/>
          <p:cNvSpPr/>
          <p:nvPr/>
        </p:nvSpPr>
        <p:spPr>
          <a:xfrm>
            <a:off x="457200" y="1115568"/>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1556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Poppins" pitchFamily="34" charset="0"/>
                <a:ea typeface="Poppins" pitchFamily="34" charset="-122"/>
                <a:cs typeface="Poppins" pitchFamily="34" charset="-120"/>
              </a:rPr>
              <a:t>FINDING (reported in the article)</a:t>
            </a:r>
            <a:endParaRPr lang="en-US" sz="80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554480"/>
                <a:gridCol w="3337560"/>
                <a:gridCol w="3337560"/>
              </a:tblGrid>
              <a:tr h="310896">
                <a:tc>
                  <a:txBody>
                    <a:bodyPr/>
                    <a:lstStyle/>
                    <a:p>
                      <a:pPr indent="0" marL="0">
                        <a:buNone/>
                      </a:pP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950" b="1" dirty="0">
                          <a:solidFill>
                            <a:srgbClr val="FFFFFF"/>
                          </a:solidFill>
                          <a:latin typeface="Poppins" pitchFamily="34" charset="0"/>
                          <a:ea typeface="Poppins" pitchFamily="34" charset="-122"/>
                          <a:cs typeface="Poppins" pitchFamily="34" charset="-120"/>
                        </a:rPr>
                        <a:t>Article 2  |  Dell'Acqua et al. (2023)</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950" b="1" dirty="0">
                          <a:solidFill>
                            <a:srgbClr val="FFFFFF"/>
                          </a:solidFill>
                          <a:latin typeface="Poppins" pitchFamily="34" charset="0"/>
                          <a:ea typeface="Poppins" pitchFamily="34" charset="-122"/>
                          <a:cs typeface="Poppins" pitchFamily="34" charset="-120"/>
                        </a:rPr>
                        <a:t>Article 5  |  Otis et al. (2026)</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r>
              <a:tr h="457200">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Focus</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Knowledge workers and consultants (BCG)</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Entrepreneurs in Kenya</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Main result</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Higher productivity and work quality for tasks within AI's capability frontier</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No established average treatment effect on revenue and profits</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r>
              <a:tr h="512064">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Key limitation or insight</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Reduced correctness on a task outside that frontier</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Poppins" pitchFamily="34" charset="0"/>
                          <a:ea typeface="Poppins" pitchFamily="34" charset="-122"/>
                          <a:cs typeface="Poppins" pitchFamily="34" charset="-120"/>
                        </a:rPr>
                        <a:t>Outcomes differed by baseline performance and by which AI recommendations were implemented</a:t>
                      </a:r>
                      <a:endParaRPr lang="en-US" sz="950" dirty="0">
                        <a:latin typeface="Poppins" charset="0"/>
                        <a:ea typeface="Poppins" charset="0"/>
                        <a:cs typeface="Poppins"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457200" y="3310128"/>
            <a:ext cx="8229600" cy="1042416"/>
          </a:xfrm>
          <a:prstGeom prst="roundRect">
            <a:avLst>
              <a:gd name="adj" fmla="val 8772"/>
            </a:avLst>
          </a:prstGeom>
          <a:solidFill>
            <a:srgbClr val="2E8B86"/>
          </a:solidFill>
          <a:ln w="12700">
            <a:solidFill>
              <a:srgbClr val="2E8B86"/>
            </a:solidFill>
            <a:prstDash val="solid"/>
          </a:ln>
          <a:effectLst>
            <a:outerShdw sx="100000" sy="100000" kx="0" ky="0" algn="bl" rotWithShape="0" blurRad="101600" dist="25400" dir="5400000">
              <a:srgbClr val="1B2A4A">
                <a:alpha val="12000"/>
              </a:srgbClr>
            </a:outerShdw>
          </a:effectLst>
        </p:spPr>
      </p:sp>
      <p:sp>
        <p:nvSpPr>
          <p:cNvPr id="14" name="tag interp"/>
          <p:cNvSpPr/>
          <p:nvPr/>
        </p:nvSpPr>
        <p:spPr>
          <a:xfrm>
            <a:off x="640080" y="3419856"/>
            <a:ext cx="1371600" cy="219456"/>
          </a:xfrm>
          <a:prstGeom prst="roundRect">
            <a:avLst>
              <a:gd name="adj" fmla="val 50000"/>
            </a:avLst>
          </a:prstGeom>
          <a:solidFill>
            <a:srgbClr val="EEF1F5"/>
          </a:solidFill>
          <a:ln w="12700">
            <a:solidFill>
              <a:srgbClr val="EEF1F5"/>
            </a:solidFill>
            <a:prstDash val="solid"/>
          </a:ln>
        </p:spPr>
      </p:sp>
      <p:sp>
        <p:nvSpPr>
          <p:cNvPr id="15" name="tag text"/>
          <p:cNvSpPr txBox="1"/>
          <p:nvPr/>
        </p:nvSpPr>
        <p:spPr>
          <a:xfrm>
            <a:off x="640080" y="3419856"/>
            <a:ext cx="1371600" cy="219456"/>
          </a:xfrm>
          <a:prstGeom prst="rect">
            <a:avLst/>
          </a:prstGeom>
          <a:noFill/>
          <a:ln/>
        </p:spPr>
        <p:txBody>
          <a:bodyPr wrap="square" lIns="0" tIns="0" rIns="0" bIns="0" rtlCol="0" anchor="ctr"/>
          <a:lstStyle/>
          <a:p>
            <a:pPr algn="ctr" indent="0" marL="0">
              <a:buNone/>
            </a:pPr>
            <a:r>
              <a:rPr lang="en-US" sz="800" b="1" spc="100" kern="0" dirty="0">
                <a:solidFill>
                  <a:schemeClr val="tx2"/>
                </a:solidFill>
                <a:latin typeface="Poppins" pitchFamily="34" charset="0"/>
                <a:ea typeface="Poppins" pitchFamily="34" charset="-122"/>
                <a:cs typeface="Poppins" pitchFamily="34" charset="-120"/>
              </a:rPr>
              <a:t>INTERPRETATION</a:t>
            </a:r>
            <a:endParaRPr lang="en-US" sz="800" dirty="0"/>
          </a:p>
        </p:txBody>
      </p:sp>
      <p:sp>
        <p:nvSpPr>
          <p:cNvPr id="16" name="conclusion head"/>
          <p:cNvSpPr txBox="1"/>
          <p:nvPr/>
        </p:nvSpPr>
        <p:spPr>
          <a:xfrm>
            <a:off x="640080" y="3675888"/>
            <a:ext cx="2011680" cy="237744"/>
          </a:xfrm>
          <a:prstGeom prst="rect">
            <a:avLst/>
          </a:prstGeom>
          <a:noFill/>
          <a:ln/>
        </p:spPr>
        <p:txBody>
          <a:bodyPr wrap="square" lIns="0" tIns="0" rIns="0" bIns="0" rtlCol="0" anchor="ctr"/>
          <a:lstStyle/>
          <a:p>
            <a:pPr indent="0" marL="0">
              <a:buNone/>
            </a:pPr>
            <a:r>
              <a:rPr lang="en-US" sz="1100" b="1" dirty="0">
                <a:solidFill>
                  <a:srgbClr val="FFFFFF"/>
                </a:solidFill>
                <a:latin typeface="Poppins" pitchFamily="34" charset="0"/>
                <a:ea typeface="Poppins" pitchFamily="34" charset="-122"/>
                <a:cs typeface="Poppins" pitchFamily="34" charset="-120"/>
              </a:rPr>
              <a:t>Conclusion</a:t>
            </a:r>
            <a:endParaRPr lang="en-US" sz="1100" dirty="0"/>
          </a:p>
        </p:txBody>
      </p:sp>
      <p:sp>
        <p:nvSpPr>
          <p:cNvPr id="17" name="conclusion"/>
          <p:cNvSpPr txBox="1"/>
          <p:nvPr/>
        </p:nvSpPr>
        <p:spPr>
          <a:xfrm>
            <a:off x="640080" y="3895344"/>
            <a:ext cx="3794760" cy="438912"/>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AI can influence real-world performance, but its impact depends on task suitability, user behavior, and human judgment.</a:t>
            </a:r>
            <a:endParaRPr lang="en-US" sz="900" dirty="0"/>
          </a:p>
        </p:txBody>
      </p:sp>
      <p:pic>
        <p:nvPicPr>
          <p:cNvPr id="18" name="icon check" descr="preencoded.png">    </p:cNvPr>
          <p:cNvPicPr>
            <a:picLocks noChangeAspect="1"/>
          </p:cNvPicPr>
          <p:nvPr/>
        </p:nvPicPr>
        <p:blipFill>
          <a:blip r:embed="rId1"/>
          <a:stretch>
            <a:fillRect/>
          </a:stretch>
        </p:blipFill>
        <p:spPr>
          <a:xfrm>
            <a:off x="4526280" y="3474720"/>
            <a:ext cx="182880" cy="182880"/>
          </a:xfrm>
          <a:prstGeom prst="rect">
            <a:avLst/>
          </a:prstGeom>
        </p:spPr>
      </p:pic>
      <p:sp>
        <p:nvSpPr>
          <p:cNvPr id="19" name="takeaway 1"/>
          <p:cNvSpPr txBox="1"/>
          <p:nvPr/>
        </p:nvSpPr>
        <p:spPr>
          <a:xfrm>
            <a:off x="4800600" y="3438144"/>
            <a:ext cx="2240280" cy="256032"/>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Match the task to what AI does well</a:t>
            </a:r>
            <a:endParaRPr lang="en-US" sz="850" dirty="0"/>
          </a:p>
        </p:txBody>
      </p:sp>
      <p:pic>
        <p:nvPicPr>
          <p:cNvPr id="20" name="icon check" descr="preencoded.png">    </p:cNvPr>
          <p:cNvPicPr>
            <a:picLocks noChangeAspect="1"/>
          </p:cNvPicPr>
          <p:nvPr/>
        </p:nvPicPr>
        <p:blipFill>
          <a:blip r:embed="rId2"/>
          <a:stretch>
            <a:fillRect/>
          </a:stretch>
        </p:blipFill>
        <p:spPr>
          <a:xfrm>
            <a:off x="4526280" y="3767328"/>
            <a:ext cx="182880" cy="182880"/>
          </a:xfrm>
          <a:prstGeom prst="rect">
            <a:avLst/>
          </a:prstGeom>
        </p:spPr>
      </p:pic>
      <p:sp>
        <p:nvSpPr>
          <p:cNvPr id="21" name="takeaway 2"/>
          <p:cNvSpPr txBox="1"/>
          <p:nvPr/>
        </p:nvSpPr>
        <p:spPr>
          <a:xfrm>
            <a:off x="4800600" y="3730752"/>
            <a:ext cx="2240280" cy="256032"/>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Evaluate AI advice critically before acting</a:t>
            </a:r>
            <a:endParaRPr lang="en-US" sz="850" dirty="0"/>
          </a:p>
        </p:txBody>
      </p:sp>
      <p:pic>
        <p:nvPicPr>
          <p:cNvPr id="22" name="icon check" descr="preencoded.png">    </p:cNvPr>
          <p:cNvPicPr>
            <a:picLocks noChangeAspect="1"/>
          </p:cNvPicPr>
          <p:nvPr/>
        </p:nvPicPr>
        <p:blipFill>
          <a:blip r:embed="rId3"/>
          <a:stretch>
            <a:fillRect/>
          </a:stretch>
        </p:blipFill>
        <p:spPr>
          <a:xfrm>
            <a:off x="4526280" y="4059936"/>
            <a:ext cx="182880" cy="182880"/>
          </a:xfrm>
          <a:prstGeom prst="rect">
            <a:avLst/>
          </a:prstGeom>
        </p:spPr>
      </p:pic>
      <p:sp>
        <p:nvSpPr>
          <p:cNvPr id="23" name="takeaway 3"/>
          <p:cNvSpPr txBox="1"/>
          <p:nvPr/>
        </p:nvSpPr>
        <p:spPr>
          <a:xfrm>
            <a:off x="4800600" y="4023360"/>
            <a:ext cx="2240280" cy="256032"/>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Keep human judgment in the loop</a:t>
            </a:r>
            <a:endParaRPr lang="en-US" sz="850" dirty="0"/>
          </a:p>
        </p:txBody>
      </p:sp>
      <p:pic>
        <p:nvPicPr>
          <p:cNvPr id="24" name="human handshake" descr="preencoded.png">    </p:cNvPr>
          <p:cNvPicPr>
            <a:picLocks noChangeAspect="1"/>
          </p:cNvPicPr>
          <p:nvPr/>
        </p:nvPicPr>
        <p:blipFill>
          <a:blip r:embed="rId4"/>
          <a:stretch>
            <a:fillRect/>
          </a:stretch>
        </p:blipFill>
        <p:spPr>
          <a:xfrm>
            <a:off x="6903720" y="3401568"/>
            <a:ext cx="868680" cy="914400"/>
          </a:xfrm>
          <a:prstGeom prst="rect">
            <a:avLst/>
          </a:prstGeom>
        </p:spPr>
      </p:pic>
      <p:pic>
        <p:nvPicPr>
          <p:cNvPr id="25" name="mascot handshake" descr="preencoded.png">    </p:cNvPr>
          <p:cNvPicPr>
            <a:picLocks noChangeAspect="1"/>
          </p:cNvPicPr>
          <p:nvPr/>
        </p:nvPicPr>
        <p:blipFill>
          <a:blip r:embed="rId5"/>
          <a:stretch>
            <a:fillRect/>
          </a:stretch>
        </p:blipFill>
        <p:spPr>
          <a:xfrm>
            <a:off x="7662672" y="3401568"/>
            <a:ext cx="932688" cy="914400"/>
          </a:xfrm>
          <a:prstGeom prst="rect">
            <a:avLst/>
          </a:prstGeom>
        </p:spPr>
      </p:pic>
      <p:sp>
        <p:nvSpPr>
          <p:cNvPr id="26"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oppins" pitchFamily="34" charset="0"/>
                <a:ea typeface="Poppins" pitchFamily="34" charset="-122"/>
                <a:cs typeface="Poppins" pitchFamily="34" charset="-120"/>
              </a:rPr>
              <a:t>Dell'Acqua et al. (2023), Harvard Business School Working Paper 24-013   |   Otis et al. (2026), Management Science, 72(7), https://doi.org/10.1287/mnsc.2024.06909</a:t>
            </a:r>
            <a:endParaRPr lang="en-US" sz="750" dirty="0"/>
          </a:p>
        </p:txBody>
      </p:sp>
      <p:sp>
        <p:nvSpPr>
          <p:cNvPr id="27"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28" name="icon FiArrowRight" descr="preencoded.png">    </p:cNvPr>
          <p:cNvPicPr>
            <a:picLocks noChangeAspect="1"/>
          </p:cNvPicPr>
          <p:nvPr/>
        </p:nvPicPr>
        <p:blipFill>
          <a:blip r:embed="rId6"/>
          <a:stretch>
            <a:fillRect/>
          </a:stretch>
        </p:blipFill>
        <p:spPr>
          <a:xfrm>
            <a:off x="8412480" y="4480560"/>
            <a:ext cx="182880" cy="182880"/>
          </a:xfrm>
          <a:prstGeom prst="rect">
            <a:avLst/>
          </a:prstGeom>
        </p:spPr>
      </p:pic>
      <p:sp>
        <p:nvSpPr>
          <p:cNvPr id="29"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latin typeface="Poppins" pitchFamily="34" charset="0"/>
                <a:ea typeface="Poppins" pitchFamily="34" charset="-122"/>
                <a:cs typeface="Poppins" pitchFamily="34" charset="-120"/>
              </a:rPr>
              <a:t>Next:  </a:t>
            </a:r>
            <a:pPr indent="0" marL="0">
              <a:buNone/>
            </a:pPr>
            <a:r>
              <a:rPr lang="en-US" sz="800" dirty="0">
                <a:solidFill>
                  <a:srgbClr val="1B2A4A"/>
                </a:solidFill>
                <a:latin typeface="Poppins" pitchFamily="34" charset="0"/>
                <a:ea typeface="Poppins" pitchFamily="34" charset="-122"/>
                <a:cs typeface="Poppins" pitchFamily="34" charset="-120"/>
              </a:rPr>
              <a:t>Thank you. Questions are welcome.</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oppins"/>
                <a:ea typeface="Poppins"/>
                <a:cs typeface="Poppi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rompt" pitchFamily="34" charset="0"/>
                <a:ea typeface="Prompt" pitchFamily="34" charset="-122"/>
                <a:cs typeface="Prompt" pitchFamily="34" charset="-120"/>
              </a:rPr>
              <a:t>ปัญญาประดิษฐ์กับประสิทธิภาพการทำงาน</a:t>
            </a: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400" dirty="0"/>
          </a:p>
        </p:txBody>
      </p:sp>
      <p:pic>
        <p:nvPicPr>
          <p:cNvPr id="4" name="mascot waving" descr="preencoded.png">    </p:cNvPr>
          <p:cNvPicPr>
            <a:picLocks noChangeAspect="1"/>
          </p:cNvPicPr>
          <p:nvPr/>
        </p:nvPicPr>
        <p:blipFill>
          <a:blip r:embed="rId1"/>
          <a:stretch>
            <a:fillRect/>
          </a:stretch>
        </p:blipFill>
        <p:spPr>
          <a:xfrm>
            <a:off x="6903720" y="320040"/>
            <a:ext cx="1920240" cy="1664208"/>
          </a:xfrm>
          <a:prstGeom prst="rect">
            <a:avLst/>
          </a:prstGeom>
        </p:spPr>
      </p:pic>
      <p:sp>
        <p:nvSpPr>
          <p:cNvPr id="5" name="central question"/>
          <p:cNvSpPr txBox="1"/>
          <p:nvPr/>
        </p:nvSpPr>
        <p:spPr>
          <a:xfrm>
            <a:off x="457200" y="1920240"/>
            <a:ext cx="8229600" cy="365760"/>
          </a:xfrm>
          <a:prstGeom prst="rect">
            <a:avLst/>
          </a:prstGeom>
          <a:noFill/>
          <a:ln/>
        </p:spPr>
        <p:txBody>
          <a:bodyPr wrap="square" lIns="0" tIns="0" rIns="0" bIns="0" rtlCol="0" anchor="ctr"/>
          <a:lstStyle/>
          <a:p>
            <a:pPr indent="0" marL="0">
              <a:buNone/>
            </a:pPr>
            <a:r>
              <a:rPr lang="en-US" sz="1250" b="1" dirty="0">
                <a:solidFill>
                  <a:srgbClr val="BFE6E0"/>
                </a:solidFill>
                <a:latin typeface="Prompt" pitchFamily="34" charset="0"/>
                <a:ea typeface="Prompt" pitchFamily="34" charset="-122"/>
                <a:cs typeface="Prompt" pitchFamily="34" charset="-120"/>
              </a:rPr>
              <a:t>คำถามหลัก: AI ส่งผลต่อผลิตภาพ คุณภาพงาน และผลการดำเนินธุรกิจอย่างไร?</a:t>
            </a:r>
            <a:endParaRPr lang="en-US" sz="1250" dirty="0"/>
          </a:p>
        </p:txBody>
      </p:sp>
      <p:sp>
        <p:nvSpPr>
          <p:cNvPr id="6" name="article card 1"/>
          <p:cNvSpPr/>
          <p:nvPr/>
        </p:nvSpPr>
        <p:spPr>
          <a:xfrm>
            <a:off x="457200" y="2377440"/>
            <a:ext cx="3977640" cy="1298448"/>
          </a:xfrm>
          <a:prstGeom prst="roundRect">
            <a:avLst>
              <a:gd name="adj" fmla="val 7042"/>
            </a:avLst>
          </a:prstGeom>
          <a:solidFill>
            <a:srgbClr val="2A3D63"/>
          </a:solidFill>
          <a:ln w="12700">
            <a:solidFill>
              <a:srgbClr val="2A3D63"/>
            </a:solidFill>
            <a:prstDash val="solid"/>
          </a:ln>
        </p:spPr>
      </p:sp>
      <p:sp>
        <p:nvSpPr>
          <p:cNvPr id="7" name="article label"/>
          <p:cNvSpPr txBox="1"/>
          <p:nvPr/>
        </p:nvSpPr>
        <p:spPr>
          <a:xfrm>
            <a:off x="658368" y="2487168"/>
            <a:ext cx="3575304" cy="219456"/>
          </a:xfrm>
          <a:prstGeom prst="rect">
            <a:avLst/>
          </a:prstGeom>
          <a:noFill/>
          <a:ln/>
        </p:spPr>
        <p:txBody>
          <a:bodyPr wrap="square" lIns="0" tIns="0" rIns="0" bIns="0" rtlCol="0" anchor="ctr"/>
          <a:lstStyle/>
          <a:p>
            <a:pPr indent="0" marL="0">
              <a:buNone/>
            </a:pPr>
            <a:r>
              <a:rPr lang="en-US" sz="1050" b="1" spc="100" kern="0" dirty="0">
                <a:solidFill>
                  <a:srgbClr val="BFE6E0"/>
                </a:solidFill>
                <a:latin typeface="Prompt" pitchFamily="34" charset="0"/>
                <a:ea typeface="Prompt" pitchFamily="34" charset="-122"/>
                <a:cs typeface="Prompt" pitchFamily="34" charset="-120"/>
              </a:rPr>
              <a:t>บทความที่ 2</a:t>
            </a:r>
            <a:endParaRPr lang="en-US" sz="1050" dirty="0"/>
          </a:p>
        </p:txBody>
      </p:sp>
      <p:sp>
        <p:nvSpPr>
          <p:cNvPr id="8" name="article title"/>
          <p:cNvSpPr txBox="1"/>
          <p:nvPr/>
        </p:nvSpPr>
        <p:spPr>
          <a:xfrm>
            <a:off x="658368" y="2706624"/>
            <a:ext cx="3575304" cy="640080"/>
          </a:xfrm>
          <a:prstGeom prst="rect">
            <a:avLst/>
          </a:prstGeom>
          <a:noFill/>
          <a:ln/>
        </p:spPr>
        <p:txBody>
          <a:bodyPr wrap="square" lIns="0" tIns="0" rIns="0" bIns="0" rtlCol="0" anchor="t"/>
          <a:lstStyle/>
          <a:p>
            <a:pPr indent="0" marL="0">
              <a:buNone/>
            </a:pPr>
            <a:r>
              <a:rPr lang="en-US" sz="1100" b="1" dirty="0">
                <a:solidFill>
                  <a:srgbClr val="FFFFFF"/>
                </a:solidFill>
                <a:latin typeface="Prompt" pitchFamily="34" charset="0"/>
                <a:ea typeface="Prompt" pitchFamily="34" charset="-122"/>
                <a:cs typeface="Prompt" pitchFamily="34" charset="-120"/>
              </a:rPr>
              <a:t>Navigating the Jagged Technological Frontier: Field Experimental Evidence of the Effects of AI on Knowledge Worker Productivity and Quality</a:t>
            </a:r>
            <a:endParaRPr lang="en-US" sz="1100" dirty="0"/>
          </a:p>
        </p:txBody>
      </p:sp>
      <p:sp>
        <p:nvSpPr>
          <p:cNvPr id="9" name="article meta"/>
          <p:cNvSpPr txBox="1"/>
          <p:nvPr/>
        </p:nvSpPr>
        <p:spPr>
          <a:xfrm>
            <a:off x="658368" y="3328416"/>
            <a:ext cx="3575304" cy="310896"/>
          </a:xfrm>
          <a:prstGeom prst="rect">
            <a:avLst/>
          </a:prstGeom>
          <a:noFill/>
          <a:ln/>
        </p:spPr>
        <p:txBody>
          <a:bodyPr wrap="square" lIns="0" tIns="0" rIns="0" bIns="0" rtlCol="0" anchor="t"/>
          <a:lstStyle/>
          <a:p>
            <a:pPr indent="0" marL="0">
              <a:buNone/>
            </a:pPr>
            <a:r>
              <a:rPr lang="en-US" sz="90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900" dirty="0"/>
          </a:p>
        </p:txBody>
      </p:sp>
      <p:sp>
        <p:nvSpPr>
          <p:cNvPr id="10" name="article card 2"/>
          <p:cNvSpPr/>
          <p:nvPr/>
        </p:nvSpPr>
        <p:spPr>
          <a:xfrm>
            <a:off x="4709160" y="2377440"/>
            <a:ext cx="3977640" cy="1298448"/>
          </a:xfrm>
          <a:prstGeom prst="roundRect">
            <a:avLst>
              <a:gd name="adj" fmla="val 7042"/>
            </a:avLst>
          </a:prstGeom>
          <a:solidFill>
            <a:srgbClr val="2A3D63"/>
          </a:solidFill>
          <a:ln w="12700">
            <a:solidFill>
              <a:srgbClr val="2A3D63"/>
            </a:solidFill>
            <a:prstDash val="solid"/>
          </a:ln>
        </p:spPr>
      </p:sp>
      <p:sp>
        <p:nvSpPr>
          <p:cNvPr id="11" name="article label"/>
          <p:cNvSpPr txBox="1"/>
          <p:nvPr/>
        </p:nvSpPr>
        <p:spPr>
          <a:xfrm>
            <a:off x="4910328" y="2487168"/>
            <a:ext cx="3575304" cy="219456"/>
          </a:xfrm>
          <a:prstGeom prst="rect">
            <a:avLst/>
          </a:prstGeom>
          <a:noFill/>
          <a:ln/>
        </p:spPr>
        <p:txBody>
          <a:bodyPr wrap="square" lIns="0" tIns="0" rIns="0" bIns="0" rtlCol="0" anchor="ctr"/>
          <a:lstStyle/>
          <a:p>
            <a:pPr indent="0" marL="0">
              <a:buNone/>
            </a:pPr>
            <a:r>
              <a:rPr lang="en-US" sz="1050" b="1" spc="100" kern="0" dirty="0">
                <a:solidFill>
                  <a:srgbClr val="BFE6E0"/>
                </a:solidFill>
                <a:latin typeface="Prompt" pitchFamily="34" charset="0"/>
                <a:ea typeface="Prompt" pitchFamily="34" charset="-122"/>
                <a:cs typeface="Prompt" pitchFamily="34" charset="-120"/>
              </a:rPr>
              <a:t>บทความที่ 5</a:t>
            </a:r>
            <a:endParaRPr lang="en-US" sz="1050" dirty="0"/>
          </a:p>
        </p:txBody>
      </p:sp>
      <p:sp>
        <p:nvSpPr>
          <p:cNvPr id="12" name="article title"/>
          <p:cNvSpPr txBox="1"/>
          <p:nvPr/>
        </p:nvSpPr>
        <p:spPr>
          <a:xfrm>
            <a:off x="4910328" y="2706624"/>
            <a:ext cx="3575304" cy="640080"/>
          </a:xfrm>
          <a:prstGeom prst="rect">
            <a:avLst/>
          </a:prstGeom>
          <a:noFill/>
          <a:ln/>
        </p:spPr>
        <p:txBody>
          <a:bodyPr wrap="square" lIns="0" tIns="0" rIns="0" bIns="0" rtlCol="0" anchor="t"/>
          <a:lstStyle/>
          <a:p>
            <a:pPr indent="0" marL="0">
              <a:buNone/>
            </a:pPr>
            <a:r>
              <a:rPr lang="en-US" sz="1100" b="1" dirty="0">
                <a:solidFill>
                  <a:srgbClr val="FFFFFF"/>
                </a:solidFill>
                <a:latin typeface="Prompt" pitchFamily="34" charset="0"/>
                <a:ea typeface="Prompt" pitchFamily="34" charset="-122"/>
                <a:cs typeface="Prompt" pitchFamily="34" charset="-120"/>
              </a:rPr>
              <a:t>The Uneven Impact of Generative Artificial Intelligence on Entrepreneurial Performance: Evidence from a Field Experiment in Kenya</a:t>
            </a:r>
            <a:endParaRPr lang="en-US" sz="1100" dirty="0"/>
          </a:p>
        </p:txBody>
      </p:sp>
      <p:sp>
        <p:nvSpPr>
          <p:cNvPr id="13" name="article meta"/>
          <p:cNvSpPr txBox="1"/>
          <p:nvPr/>
        </p:nvSpPr>
        <p:spPr>
          <a:xfrm>
            <a:off x="4910328" y="3328416"/>
            <a:ext cx="3575304" cy="310896"/>
          </a:xfrm>
          <a:prstGeom prst="rect">
            <a:avLst/>
          </a:prstGeom>
          <a:noFill/>
          <a:ln/>
        </p:spPr>
        <p:txBody>
          <a:bodyPr wrap="square" lIns="0" tIns="0" rIns="0" bIns="0" rtlCol="0" anchor="t"/>
          <a:lstStyle/>
          <a:p>
            <a:pPr indent="0" marL="0">
              <a:buNone/>
            </a:pPr>
            <a:r>
              <a:rPr lang="en-US" sz="90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900" dirty="0"/>
          </a:p>
        </p:txBody>
      </p:sp>
      <p:sp>
        <p:nvSpPr>
          <p:cNvPr id="14" name="roadmap head"/>
          <p:cNvSpPr txBox="1"/>
          <p:nvPr/>
        </p:nvSpPr>
        <p:spPr>
          <a:xfrm>
            <a:off x="457200" y="3803904"/>
            <a:ext cx="1051560" cy="274320"/>
          </a:xfrm>
          <a:prstGeom prst="rect">
            <a:avLst/>
          </a:prstGeom>
          <a:noFill/>
          <a:ln/>
        </p:spPr>
        <p:txBody>
          <a:bodyPr wrap="square" lIns="0" tIns="0" rIns="0" bIns="0" rtlCol="0" anchor="ctr"/>
          <a:lstStyle/>
          <a:p>
            <a:pPr indent="0" marL="0">
              <a:buNone/>
            </a:pPr>
            <a:r>
              <a:rPr lang="en-US" sz="1000" b="1" dirty="0">
                <a:solidFill>
                  <a:srgbClr val="BFE6E0"/>
                </a:solidFill>
                <a:latin typeface="Prompt" pitchFamily="34" charset="0"/>
                <a:ea typeface="Prompt" pitchFamily="34" charset="-122"/>
                <a:cs typeface="Prompt" pitchFamily="34" charset="-120"/>
              </a:rPr>
              <a:t>ลำดับการนำเสนอ</a:t>
            </a:r>
            <a:endParaRPr lang="en-US" sz="1000" dirty="0"/>
          </a:p>
        </p:txBody>
      </p:sp>
      <p:sp>
        <p:nvSpPr>
          <p:cNvPr id="15" name="roadmap chip 1"/>
          <p:cNvSpPr/>
          <p:nvPr/>
        </p:nvSpPr>
        <p:spPr>
          <a:xfrm>
            <a:off x="1600200" y="3803904"/>
            <a:ext cx="1344168" cy="274320"/>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00200"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1  บทนำ</a:t>
            </a:r>
            <a:endParaRPr lang="en-US" sz="750" dirty="0"/>
          </a:p>
        </p:txBody>
      </p:sp>
      <p:sp>
        <p:nvSpPr>
          <p:cNvPr id="17" name="roadmap chip 2"/>
          <p:cNvSpPr/>
          <p:nvPr/>
        </p:nvSpPr>
        <p:spPr>
          <a:xfrm>
            <a:off x="3035808" y="3803904"/>
            <a:ext cx="1344168" cy="274320"/>
          </a:xfrm>
          <a:prstGeom prst="roundRect">
            <a:avLst>
              <a:gd name="adj" fmla="val 50000"/>
            </a:avLst>
          </a:prstGeom>
          <a:solidFill>
            <a:srgbClr val="2A3D63"/>
          </a:solidFill>
          <a:ln w="9525">
            <a:solidFill>
              <a:srgbClr val="2E8B86"/>
            </a:solidFill>
            <a:prstDash val="solid"/>
          </a:ln>
        </p:spPr>
      </p:sp>
      <p:sp>
        <p:nvSpPr>
          <p:cNvPr id="18" name="roadmap chip text"/>
          <p:cNvSpPr txBox="1"/>
          <p:nvPr/>
        </p:nvSpPr>
        <p:spPr>
          <a:xfrm>
            <a:off x="3035808"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2  บทความ 2: วิธีวิจัย</a:t>
            </a:r>
            <a:endParaRPr lang="en-US" sz="750" dirty="0"/>
          </a:p>
        </p:txBody>
      </p:sp>
      <p:sp>
        <p:nvSpPr>
          <p:cNvPr id="19" name="roadmap chip 3"/>
          <p:cNvSpPr/>
          <p:nvPr/>
        </p:nvSpPr>
        <p:spPr>
          <a:xfrm>
            <a:off x="4471416" y="3803904"/>
            <a:ext cx="1344168" cy="274320"/>
          </a:xfrm>
          <a:prstGeom prst="roundRect">
            <a:avLst>
              <a:gd name="adj" fmla="val 50000"/>
            </a:avLst>
          </a:prstGeom>
          <a:solidFill>
            <a:srgbClr val="2A3D63"/>
          </a:solidFill>
          <a:ln w="9525">
            <a:solidFill>
              <a:srgbClr val="2E8B86"/>
            </a:solidFill>
            <a:prstDash val="solid"/>
          </a:ln>
        </p:spPr>
      </p:sp>
      <p:sp>
        <p:nvSpPr>
          <p:cNvPr id="20" name="roadmap chip text"/>
          <p:cNvSpPr txBox="1"/>
          <p:nvPr/>
        </p:nvSpPr>
        <p:spPr>
          <a:xfrm>
            <a:off x="4471416"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3  บทความ 2: ผลการศึกษา</a:t>
            </a:r>
            <a:endParaRPr lang="en-US" sz="750" dirty="0"/>
          </a:p>
        </p:txBody>
      </p:sp>
      <p:sp>
        <p:nvSpPr>
          <p:cNvPr id="21" name="roadmap chip 4"/>
          <p:cNvSpPr/>
          <p:nvPr/>
        </p:nvSpPr>
        <p:spPr>
          <a:xfrm>
            <a:off x="5907024" y="3803904"/>
            <a:ext cx="1344168" cy="274320"/>
          </a:xfrm>
          <a:prstGeom prst="roundRect">
            <a:avLst>
              <a:gd name="adj" fmla="val 50000"/>
            </a:avLst>
          </a:prstGeom>
          <a:solidFill>
            <a:srgbClr val="2A3D63"/>
          </a:solidFill>
          <a:ln w="9525">
            <a:solidFill>
              <a:srgbClr val="2E8B86"/>
            </a:solidFill>
            <a:prstDash val="solid"/>
          </a:ln>
        </p:spPr>
      </p:sp>
      <p:sp>
        <p:nvSpPr>
          <p:cNvPr id="22" name="roadmap chip text"/>
          <p:cNvSpPr txBox="1"/>
          <p:nvPr/>
        </p:nvSpPr>
        <p:spPr>
          <a:xfrm>
            <a:off x="5907024"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4  บทความ 5: ผู้ประกอบการ</a:t>
            </a:r>
            <a:endParaRPr lang="en-US" sz="750" dirty="0"/>
          </a:p>
        </p:txBody>
      </p:sp>
      <p:sp>
        <p:nvSpPr>
          <p:cNvPr id="23" name="roadmap chip 5"/>
          <p:cNvSpPr/>
          <p:nvPr/>
        </p:nvSpPr>
        <p:spPr>
          <a:xfrm>
            <a:off x="7342632" y="3803904"/>
            <a:ext cx="1344168" cy="274320"/>
          </a:xfrm>
          <a:prstGeom prst="roundRect">
            <a:avLst>
              <a:gd name="adj" fmla="val 50000"/>
            </a:avLst>
          </a:prstGeom>
          <a:solidFill>
            <a:srgbClr val="2A3D63"/>
          </a:solidFill>
          <a:ln w="9525">
            <a:solidFill>
              <a:srgbClr val="2E8B86"/>
            </a:solidFill>
            <a:prstDash val="solid"/>
          </a:ln>
        </p:spPr>
      </p:sp>
      <p:sp>
        <p:nvSpPr>
          <p:cNvPr id="24" name="roadmap chip text"/>
          <p:cNvSpPr txBox="1"/>
          <p:nvPr/>
        </p:nvSpPr>
        <p:spPr>
          <a:xfrm>
            <a:off x="7342632"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5  อภิปรายผล</a:t>
            </a:r>
            <a:endParaRPr lang="en-US" sz="750" dirty="0"/>
          </a:p>
        </p:txBody>
      </p:sp>
      <p:sp>
        <p:nvSpPr>
          <p:cNvPr id="25" name="presenter"/>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b="1" dirty="0">
                <a:solidFill>
                  <a:srgbClr val="FFFFFF"/>
                </a:solidFill>
                <a:latin typeface="Prompt" pitchFamily="34" charset="0"/>
                <a:ea typeface="Prompt" pitchFamily="34" charset="-122"/>
                <a:cs typeface="Prompt" pitchFamily="34" charset="-120"/>
              </a:rPr>
              <a:t>Chayanun Sungsa-ard</a:t>
            </a:r>
            <a:endParaRPr lang="en-US" sz="1200" dirty="0"/>
          </a:p>
          <a:p>
            <a:pPr indent="0" marL="0">
              <a:buNone/>
            </a:pPr>
            <a:r>
              <a:rPr lang="en-US" sz="1000" dirty="0">
                <a:solidFill>
                  <a:srgbClr val="BFE6E0"/>
                </a:solidFill>
                <a:latin typeface="Prompt" pitchFamily="34" charset="0"/>
                <a:ea typeface="Prompt" pitchFamily="34" charset="-122"/>
                <a:cs typeface="Prompt" pitchFamily="34" charset="-120"/>
              </a:rPr>
              <a:t>รหัสนักศึกษา 691401708  |  หลักสูตรบริหารธุรกิจมหาบัณฑิต (MBA)  |  ENG 501 English for Master's Degree</a:t>
            </a:r>
            <a:endParaRPr lang="en-US" sz="12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rompt" pitchFamily="34" charset="0"/>
                <a:ea typeface="Prompt" pitchFamily="34" charset="-122"/>
                <a:cs typeface="Prompt" pitchFamily="34" charset="-120"/>
              </a:rPr>
              <a:t>บทความที่ 2  |  วัตถุประสงค์และวิธีวิจัย</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2E8B86"/>
          </a:solidFill>
          <a:ln w="12700">
            <a:solidFill>
              <a:srgbClr val="2E8B86"/>
            </a:solidFill>
            <a:prstDash val="solid"/>
          </a:ln>
        </p:spPr>
      </p:sp>
      <p:sp>
        <p:nvSpPr>
          <p:cNvPr id="6" name="progress dot 3"/>
          <p:cNvSpPr/>
          <p:nvPr/>
        </p:nvSpPr>
        <p:spPr>
          <a:xfrm>
            <a:off x="8211312" y="228600"/>
            <a:ext cx="109728" cy="109728"/>
          </a:xfrm>
          <a:prstGeom prst="ellipse">
            <a:avLst/>
          </a:prstGeom>
          <a:solidFill>
            <a:srgbClr val="D8DEE6"/>
          </a:solidFill>
          <a:ln w="12700">
            <a:solidFill>
              <a:srgbClr val="D8DEE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latin typeface="Prompt" pitchFamily="34" charset="0"/>
                <a:ea typeface="Prompt" pitchFamily="34" charset="-122"/>
                <a:cs typeface="Prompt" pitchFamily="34" charset="-120"/>
              </a:rPr>
              <a:t>บทความ 2: วิธีวิจัย</a:t>
            </a:r>
            <a:endParaRPr lang="en-US" sz="9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1000" dirty="0">
                <a:solidFill>
                  <a:schemeClr val="tx2"/>
                </a:solidFill>
                <a:latin typeface="Prompt" pitchFamily="34" charset="0"/>
                <a:ea typeface="Prompt" pitchFamily="34" charset="-122"/>
                <a:cs typeface="Prompt" pitchFamily="34" charset="-120"/>
              </a:rPr>
              <a:t>Fabrizio Dell'Acqua et al.  |  Harvard Business School Working Paper 24-013, 2023</a:t>
            </a:r>
            <a:endParaRPr lang="en-US" sz="10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Briefcase"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องค์กรที่ร่วมวิจัย"/>
          <p:cNvSpPr txBox="1"/>
          <p:nvPr/>
        </p:nvSpPr>
        <p:spPr>
          <a:xfrm>
            <a:off x="969264" y="1389888"/>
            <a:ext cx="3557016" cy="512064"/>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องค์กรที่ร่วมวิจัย</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การทดลองภาคสนามร่วมกับ Boston Consulting Group (BCG)</a:t>
            </a:r>
            <a:endParaRPr lang="en-US" sz="1250" dirty="0"/>
          </a:p>
        </p:txBody>
      </p:sp>
      <p:sp>
        <p:nvSpPr>
          <p:cNvPr id="14" name="icon circle"/>
          <p:cNvSpPr/>
          <p:nvPr/>
        </p:nvSpPr>
        <p:spPr>
          <a:xfrm>
            <a:off x="457200" y="1993392"/>
            <a:ext cx="384048" cy="384048"/>
          </a:xfrm>
          <a:prstGeom prst="ellipse">
            <a:avLst/>
          </a:prstGeom>
          <a:solidFill>
            <a:srgbClr val="2E8B86"/>
          </a:solidFill>
          <a:ln w="12700">
            <a:solidFill>
              <a:srgbClr val="2E8B86"/>
            </a:solidFill>
            <a:prstDash val="solid"/>
          </a:ln>
        </p:spPr>
      </p:sp>
      <p:pic>
        <p:nvPicPr>
          <p:cNvPr id="15" name="icon FiUsers" descr="preencoded.png">    </p:cNvPr>
          <p:cNvPicPr>
            <a:picLocks noChangeAspect="1"/>
          </p:cNvPicPr>
          <p:nvPr/>
        </p:nvPicPr>
        <p:blipFill>
          <a:blip r:embed="rId2"/>
          <a:stretch>
            <a:fillRect/>
          </a:stretch>
        </p:blipFill>
        <p:spPr>
          <a:xfrm>
            <a:off x="539496" y="2075688"/>
            <a:ext cx="219456" cy="219456"/>
          </a:xfrm>
          <a:prstGeom prst="rect">
            <a:avLst/>
          </a:prstGeom>
        </p:spPr>
      </p:pic>
      <p:sp>
        <p:nvSpPr>
          <p:cNvPr id="16" name="fact ผู้เข้าร่วม"/>
          <p:cNvSpPr txBox="1"/>
          <p:nvPr/>
        </p:nvSpPr>
        <p:spPr>
          <a:xfrm>
            <a:off x="969264" y="1956816"/>
            <a:ext cx="3557016" cy="512064"/>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ผู้เข้าร่วม</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ที่ปรึกษาจำนวน 758 คน</a:t>
            </a:r>
            <a:endParaRPr lang="en-US" sz="1250" dirty="0"/>
          </a:p>
        </p:txBody>
      </p:sp>
      <p:sp>
        <p:nvSpPr>
          <p:cNvPr id="17" name="icon circle"/>
          <p:cNvSpPr/>
          <p:nvPr/>
        </p:nvSpPr>
        <p:spPr>
          <a:xfrm>
            <a:off x="457200" y="2560320"/>
            <a:ext cx="384048" cy="384048"/>
          </a:xfrm>
          <a:prstGeom prst="ellipse">
            <a:avLst/>
          </a:prstGeom>
          <a:solidFill>
            <a:srgbClr val="2E8B86"/>
          </a:solidFill>
          <a:ln w="12700">
            <a:solidFill>
              <a:srgbClr val="2E8B86"/>
            </a:solidFill>
            <a:prstDash val="solid"/>
          </a:ln>
        </p:spPr>
      </p:sp>
      <p:pic>
        <p:nvPicPr>
          <p:cNvPr id="18" name="icon FiTarget" descr="preencoded.png">    </p:cNvPr>
          <p:cNvPicPr>
            <a:picLocks noChangeAspect="1"/>
          </p:cNvPicPr>
          <p:nvPr/>
        </p:nvPicPr>
        <p:blipFill>
          <a:blip r:embed="rId3"/>
          <a:stretch>
            <a:fillRect/>
          </a:stretch>
        </p:blipFill>
        <p:spPr>
          <a:xfrm>
            <a:off x="539496" y="2642616"/>
            <a:ext cx="219456" cy="219456"/>
          </a:xfrm>
          <a:prstGeom prst="rect">
            <a:avLst/>
          </a:prstGeom>
        </p:spPr>
      </p:pic>
      <p:sp>
        <p:nvSpPr>
          <p:cNvPr id="19" name="fact ประเด็นที่ศึกษา"/>
          <p:cNvSpPr txBox="1"/>
          <p:nvPr/>
        </p:nvSpPr>
        <p:spPr>
          <a:xfrm>
            <a:off x="969264" y="2523744"/>
            <a:ext cx="3557016" cy="512064"/>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ประเด็นที่ศึกษา</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1250" dirty="0"/>
          </a:p>
        </p:txBody>
      </p:sp>
      <p:sp>
        <p:nvSpPr>
          <p:cNvPr id="20" name="conditions head"/>
          <p:cNvSpPr txBox="1"/>
          <p:nvPr/>
        </p:nvSpPr>
        <p:spPr>
          <a:xfrm>
            <a:off x="457200" y="3163824"/>
            <a:ext cx="4069080" cy="237744"/>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เงื่อนไขการทดลองสามกลุ่ม</a:t>
            </a:r>
            <a:endParaRPr lang="en-US" sz="1250" dirty="0"/>
          </a:p>
        </p:txBody>
      </p:sp>
      <p:sp>
        <p:nvSpPr>
          <p:cNvPr id="21" name="condition 1"/>
          <p:cNvSpPr/>
          <p:nvPr/>
        </p:nvSpPr>
        <p:spPr>
          <a:xfrm>
            <a:off x="457200" y="3456432"/>
            <a:ext cx="1203960" cy="877824"/>
          </a:xfrm>
          <a:prstGeom prst="roundRect">
            <a:avLst>
              <a:gd name="adj" fmla="val 10417"/>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2" name="condition number"/>
          <p:cNvSpPr txBox="1"/>
          <p:nvPr/>
        </p:nvSpPr>
        <p:spPr>
          <a:xfrm>
            <a:off x="548640" y="3511296"/>
            <a:ext cx="274320" cy="274320"/>
          </a:xfrm>
          <a:prstGeom prst="rect">
            <a:avLst/>
          </a:prstGeom>
          <a:noFill/>
          <a:ln/>
        </p:spPr>
        <p:txBody>
          <a:bodyPr wrap="square" lIns="0" tIns="0" rIns="0" bIns="0" rtlCol="0" anchor="ctr"/>
          <a:lstStyle/>
          <a:p>
            <a:pPr indent="0" marL="0">
              <a:buNone/>
            </a:pPr>
            <a:r>
              <a:rPr lang="en-US" sz="1400" b="1" dirty="0">
                <a:solidFill>
                  <a:srgbClr val="2E8B86"/>
                </a:solidFill>
                <a:latin typeface="Prompt" pitchFamily="34" charset="0"/>
                <a:ea typeface="Prompt" pitchFamily="34" charset="-122"/>
                <a:cs typeface="Prompt" pitchFamily="34" charset="-120"/>
              </a:rPr>
              <a:t>1</a:t>
            </a:r>
            <a:endParaRPr lang="en-US" sz="1400" dirty="0"/>
          </a:p>
        </p:txBody>
      </p:sp>
      <p:sp>
        <p:nvSpPr>
          <p:cNvPr id="23" name="condition text"/>
          <p:cNvSpPr txBox="1"/>
          <p:nvPr/>
        </p:nvSpPr>
        <p:spPr>
          <a:xfrm>
            <a:off x="548640" y="3767328"/>
            <a:ext cx="1021080" cy="530352"/>
          </a:xfrm>
          <a:prstGeom prst="rect">
            <a:avLst/>
          </a:prstGeom>
          <a:noFill/>
          <a:ln/>
        </p:spPr>
        <p:txBody>
          <a:bodyPr wrap="square" lIns="0" tIns="0" rIns="0" bIns="0" rtlCol="0" anchor="t"/>
          <a:lstStyle/>
          <a:p>
            <a:pPr indent="0" marL="0">
              <a:buNone/>
            </a:pPr>
            <a:r>
              <a:rPr lang="en-US" sz="1000" dirty="0">
                <a:solidFill>
                  <a:schemeClr val="tx1"/>
                </a:solidFill>
                <a:latin typeface="Prompt" pitchFamily="34" charset="0"/>
                <a:ea typeface="Prompt" pitchFamily="34" charset="-122"/>
                <a:cs typeface="Prompt" pitchFamily="34" charset="-120"/>
              </a:rPr>
              <a:t>ไม่สามารถใช้ AI</a:t>
            </a:r>
            <a:endParaRPr lang="en-US" sz="1000" dirty="0"/>
          </a:p>
        </p:txBody>
      </p:sp>
      <p:pic>
        <p:nvPicPr>
          <p:cNvPr id="24" name="icon FiChevronRight" descr="preencoded.png">    </p:cNvPr>
          <p:cNvPicPr>
            <a:picLocks noChangeAspect="1"/>
          </p:cNvPicPr>
          <p:nvPr/>
        </p:nvPicPr>
        <p:blipFill>
          <a:blip r:embed="rId4"/>
          <a:stretch>
            <a:fillRect/>
          </a:stretch>
        </p:blipFill>
        <p:spPr>
          <a:xfrm>
            <a:off x="1688592" y="3803904"/>
            <a:ext cx="182880" cy="182880"/>
          </a:xfrm>
          <a:prstGeom prst="rect">
            <a:avLst/>
          </a:prstGeom>
        </p:spPr>
      </p:pic>
      <p:sp>
        <p:nvSpPr>
          <p:cNvPr id="25" name="condition 2"/>
          <p:cNvSpPr/>
          <p:nvPr/>
        </p:nvSpPr>
        <p:spPr>
          <a:xfrm>
            <a:off x="188976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6" name="condition number"/>
          <p:cNvSpPr txBox="1"/>
          <p:nvPr/>
        </p:nvSpPr>
        <p:spPr>
          <a:xfrm>
            <a:off x="198120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latin typeface="Prompt" pitchFamily="34" charset="0"/>
                <a:ea typeface="Prompt" pitchFamily="34" charset="-122"/>
                <a:cs typeface="Prompt" pitchFamily="34" charset="-120"/>
              </a:rPr>
              <a:t>2</a:t>
            </a:r>
            <a:endParaRPr lang="en-US" sz="1400" dirty="0"/>
          </a:p>
        </p:txBody>
      </p:sp>
      <p:sp>
        <p:nvSpPr>
          <p:cNvPr id="27" name="condition text"/>
          <p:cNvSpPr txBox="1"/>
          <p:nvPr/>
        </p:nvSpPr>
        <p:spPr>
          <a:xfrm>
            <a:off x="1981200" y="3767328"/>
            <a:ext cx="1021080" cy="530352"/>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ใช้ GPT-4 ได้</a:t>
            </a:r>
            <a:endParaRPr lang="en-US" sz="1000" dirty="0"/>
          </a:p>
        </p:txBody>
      </p:sp>
      <p:pic>
        <p:nvPicPr>
          <p:cNvPr id="28" name="icon FiChevronRight" descr="preencoded.png">    </p:cNvPr>
          <p:cNvPicPr>
            <a:picLocks noChangeAspect="1"/>
          </p:cNvPicPr>
          <p:nvPr/>
        </p:nvPicPr>
        <p:blipFill>
          <a:blip r:embed="rId5"/>
          <a:stretch>
            <a:fillRect/>
          </a:stretch>
        </p:blipFill>
        <p:spPr>
          <a:xfrm>
            <a:off x="3121152" y="3803904"/>
            <a:ext cx="182880" cy="182880"/>
          </a:xfrm>
          <a:prstGeom prst="rect">
            <a:avLst/>
          </a:prstGeom>
        </p:spPr>
      </p:pic>
      <p:sp>
        <p:nvSpPr>
          <p:cNvPr id="29" name="condition 3"/>
          <p:cNvSpPr/>
          <p:nvPr/>
        </p:nvSpPr>
        <p:spPr>
          <a:xfrm>
            <a:off x="332232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30" name="condition number"/>
          <p:cNvSpPr txBox="1"/>
          <p:nvPr/>
        </p:nvSpPr>
        <p:spPr>
          <a:xfrm>
            <a:off x="341376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latin typeface="Prompt" pitchFamily="34" charset="0"/>
                <a:ea typeface="Prompt" pitchFamily="34" charset="-122"/>
                <a:cs typeface="Prompt" pitchFamily="34" charset="-120"/>
              </a:rPr>
              <a:t>3</a:t>
            </a:r>
            <a:endParaRPr lang="en-US" sz="1400" dirty="0"/>
          </a:p>
        </p:txBody>
      </p:sp>
      <p:sp>
        <p:nvSpPr>
          <p:cNvPr id="31" name="condition text"/>
          <p:cNvSpPr txBox="1"/>
          <p:nvPr/>
        </p:nvSpPr>
        <p:spPr>
          <a:xfrm>
            <a:off x="3413760" y="3767328"/>
            <a:ext cx="1021080" cy="530352"/>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ใช้ GPT-4 ได้ พร้อมคำแนะนำการเขียน prompt</a:t>
            </a:r>
            <a:endParaRPr lang="en-US" sz="1000" dirty="0"/>
          </a:p>
        </p:txBody>
      </p:sp>
      <p:sp>
        <p:nvSpPr>
          <p:cNvPr id="32" name="concept card"/>
          <p:cNvSpPr/>
          <p:nvPr/>
        </p:nvSpPr>
        <p:spPr>
          <a:xfrm>
            <a:off x="4846320" y="1371600"/>
            <a:ext cx="3840480" cy="2962656"/>
          </a:xfrm>
          <a:prstGeom prst="roundRect">
            <a:avLst>
              <a:gd name="adj" fmla="val 3086"/>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33" name="tag concept"/>
          <p:cNvSpPr/>
          <p:nvPr/>
        </p:nvSpPr>
        <p:spPr>
          <a:xfrm>
            <a:off x="5029200" y="1517904"/>
            <a:ext cx="1188720" cy="219456"/>
          </a:xfrm>
          <a:prstGeom prst="roundRect">
            <a:avLst>
              <a:gd name="adj" fmla="val 50000"/>
            </a:avLst>
          </a:prstGeom>
          <a:solidFill>
            <a:srgbClr val="EEF1F5"/>
          </a:solidFill>
          <a:ln w="12700">
            <a:solidFill>
              <a:srgbClr val="EEF1F5"/>
            </a:solidFill>
            <a:prstDash val="solid"/>
          </a:ln>
        </p:spPr>
      </p:sp>
      <p:sp>
        <p:nvSpPr>
          <p:cNvPr id="34" name="tag text"/>
          <p:cNvSpPr txBox="1"/>
          <p:nvPr/>
        </p:nvSpPr>
        <p:spPr>
          <a:xfrm>
            <a:off x="5029200" y="1517904"/>
            <a:ext cx="1188720" cy="219456"/>
          </a:xfrm>
          <a:prstGeom prst="rect">
            <a:avLst/>
          </a:prstGeom>
          <a:noFill/>
          <a:ln/>
        </p:spPr>
        <p:txBody>
          <a:bodyPr wrap="square" lIns="0" tIns="0" rIns="0" bIns="0" rtlCol="0" anchor="ctr"/>
          <a:lstStyle/>
          <a:p>
            <a:pPr algn="ctr" indent="0" marL="0">
              <a:buNone/>
            </a:pPr>
            <a:r>
              <a:rPr lang="en-US" sz="900" b="1" spc="100" kern="0" dirty="0">
                <a:solidFill>
                  <a:schemeClr val="tx2"/>
                </a:solidFill>
                <a:latin typeface="Prompt" pitchFamily="34" charset="0"/>
                <a:ea typeface="Prompt" pitchFamily="34" charset="-122"/>
                <a:cs typeface="Prompt" pitchFamily="34" charset="-120"/>
              </a:rPr>
              <a:t>แนวคิด</a:t>
            </a:r>
            <a:endParaRPr lang="en-US" sz="900" dirty="0"/>
          </a:p>
        </p:txBody>
      </p:sp>
      <p:sp>
        <p:nvSpPr>
          <p:cNvPr id="35" name="concept head"/>
          <p:cNvSpPr txBox="1"/>
          <p:nvPr/>
        </p:nvSpPr>
        <p:spPr>
          <a:xfrm>
            <a:off x="5029200" y="1792224"/>
            <a:ext cx="2697480" cy="274320"/>
          </a:xfrm>
          <a:prstGeom prst="rect">
            <a:avLst/>
          </a:prstGeom>
          <a:noFill/>
          <a:ln/>
        </p:spPr>
        <p:txBody>
          <a:bodyPr wrap="square" lIns="0" tIns="0" rIns="0" bIns="0" rtlCol="0" anchor="ctr"/>
          <a:lstStyle/>
          <a:p>
            <a:pPr indent="0" marL="0">
              <a:buNone/>
            </a:pPr>
            <a:r>
              <a:rPr lang="en-US" sz="1150" b="1" dirty="0">
                <a:solidFill>
                  <a:schemeClr val="tx1"/>
                </a:solidFill>
                <a:latin typeface="Prompt" pitchFamily="34" charset="0"/>
                <a:ea typeface="Prompt" pitchFamily="34" charset="-122"/>
                <a:cs typeface="Prompt" pitchFamily="34" charset="-120"/>
              </a:rPr>
              <a:t>"Jagged Technological Frontier"</a:t>
            </a:r>
            <a:endParaRPr lang="en-US" sz="1150" dirty="0"/>
          </a:p>
        </p:txBody>
      </p:sp>
      <p:sp>
        <p:nvSpPr>
          <p:cNvPr id="36" name="concept body"/>
          <p:cNvSpPr txBox="1"/>
          <p:nvPr/>
        </p:nvSpPr>
        <p:spPr>
          <a:xfrm>
            <a:off x="5029200" y="2084832"/>
            <a:ext cx="2697480" cy="896112"/>
          </a:xfrm>
          <a:prstGeom prst="rect">
            <a:avLst/>
          </a:prstGeom>
          <a:noFill/>
          <a:ln/>
        </p:spPr>
        <p:txBody>
          <a:bodyPr wrap="square" lIns="0" tIns="0" rIns="0" bIns="0" rtlCol="0" anchor="t"/>
          <a:lstStyle/>
          <a:p>
            <a:pPr indent="0" marL="0">
              <a:buNone/>
            </a:pPr>
            <a:r>
              <a:rPr lang="en-US" sz="1000" dirty="0">
                <a:solidFill>
                  <a:schemeClr val="tx2"/>
                </a:solidFill>
                <a:latin typeface="Prompt" pitchFamily="34" charset="0"/>
                <a:ea typeface="Prompt" pitchFamily="34" charset="-122"/>
                <a:cs typeface="Prompt" pitchFamily="34" charset="-120"/>
              </a:rPr>
              <a:t>AI ทำงานบางอย่างได้ดี แต่กลับทำงานอื่นที่ดูยากพอกันได้ไม่ดี เส้นแบ่งนี้ไม่สม่ำเสมอ ผู้ใช้จึงไม่ควรสรุปว่างานใด "ปลอดภัย" ที่จะมอบให้ AI เพียงเพราะงานนั้นดูง่าย</a:t>
            </a:r>
            <a:endParaRPr lang="en-US" sz="1000" dirty="0"/>
          </a:p>
        </p:txBody>
      </p:sp>
      <p:pic>
        <p:nvPicPr>
          <p:cNvPr id="37" name="mascot searching" descr="preencoded.png">    </p:cNvPr>
          <p:cNvPicPr>
            <a:picLocks noChangeAspect="1"/>
          </p:cNvPicPr>
          <p:nvPr/>
        </p:nvPicPr>
        <p:blipFill>
          <a:blip r:embed="rId6"/>
          <a:stretch>
            <a:fillRect/>
          </a:stretch>
        </p:blipFill>
        <p:spPr>
          <a:xfrm>
            <a:off x="7607808" y="1572768"/>
            <a:ext cx="1005840" cy="868680"/>
          </a:xfrm>
          <a:prstGeom prst="rect">
            <a:avLst/>
          </a:prstGeom>
        </p:spPr>
      </p:pic>
      <p:pic>
        <p:nvPicPr>
          <p:cNvPr id="38" name="frontier illustration" descr="preencoded.png">    </p:cNvPr>
          <p:cNvPicPr>
            <a:picLocks noChangeAspect="1"/>
          </p:cNvPicPr>
          <p:nvPr/>
        </p:nvPicPr>
        <p:blipFill>
          <a:blip r:embed="rId7"/>
          <a:stretch>
            <a:fillRect/>
          </a:stretch>
        </p:blipFill>
        <p:spPr>
          <a:xfrm>
            <a:off x="5029200" y="3017520"/>
            <a:ext cx="3474720" cy="1078992"/>
          </a:xfrm>
          <a:prstGeom prst="rect">
            <a:avLst/>
          </a:prstGeom>
        </p:spPr>
      </p:pic>
      <p:sp>
        <p:nvSpPr>
          <p:cNvPr id="39" name="outside label"/>
          <p:cNvSpPr txBox="1"/>
          <p:nvPr/>
        </p:nvSpPr>
        <p:spPr>
          <a:xfrm>
            <a:off x="5120640" y="3063240"/>
            <a:ext cx="3291840" cy="182880"/>
          </a:xfrm>
          <a:prstGeom prst="rect">
            <a:avLst/>
          </a:prstGeom>
          <a:noFill/>
          <a:ln/>
        </p:spPr>
        <p:txBody>
          <a:bodyPr wrap="square" lIns="0" tIns="0" rIns="0" bIns="0" rtlCol="0" anchor="ctr"/>
          <a:lstStyle/>
          <a:p>
            <a:pPr algn="r" indent="0" marL="0">
              <a:buNone/>
            </a:pPr>
            <a:r>
              <a:rPr lang="en-US" sz="850" b="1" dirty="0">
                <a:solidFill>
                  <a:schemeClr val="tx2"/>
                </a:solidFill>
                <a:latin typeface="Prompt" pitchFamily="34" charset="0"/>
                <a:ea typeface="Prompt" pitchFamily="34" charset="-122"/>
                <a:cs typeface="Prompt" pitchFamily="34" charset="-120"/>
              </a:rPr>
              <a:t>ภายนอกพรมแดน: AI ทำได้ไม่ดี</a:t>
            </a:r>
            <a:endParaRPr lang="en-US" sz="850" dirty="0"/>
          </a:p>
        </p:txBody>
      </p:sp>
      <p:sp>
        <p:nvSpPr>
          <p:cNvPr id="40" name="inside label"/>
          <p:cNvSpPr txBox="1"/>
          <p:nvPr/>
        </p:nvSpPr>
        <p:spPr>
          <a:xfrm>
            <a:off x="5120640" y="3858768"/>
            <a:ext cx="3291840" cy="182880"/>
          </a:xfrm>
          <a:prstGeom prst="rect">
            <a:avLst/>
          </a:prstGeom>
          <a:noFill/>
          <a:ln/>
        </p:spPr>
        <p:txBody>
          <a:bodyPr wrap="square" lIns="0" tIns="0" rIns="0" bIns="0" rtlCol="0" anchor="ctr"/>
          <a:lstStyle/>
          <a:p>
            <a:pPr indent="0" marL="0">
              <a:buNone/>
            </a:pPr>
            <a:r>
              <a:rPr lang="en-US" sz="850" b="1" dirty="0">
                <a:solidFill>
                  <a:srgbClr val="2E8B86"/>
                </a:solidFill>
                <a:latin typeface="Prompt" pitchFamily="34" charset="0"/>
                <a:ea typeface="Prompt" pitchFamily="34" charset="-122"/>
                <a:cs typeface="Prompt" pitchFamily="34" charset="-120"/>
              </a:rPr>
              <a:t>ภายในพรมแดน: AI ทำได้ดี</a:t>
            </a:r>
            <a:endParaRPr lang="en-US" sz="850" dirty="0"/>
          </a:p>
        </p:txBody>
      </p:sp>
      <p:sp>
        <p:nvSpPr>
          <p:cNvPr id="41" name="axis label"/>
          <p:cNvSpPr txBox="1"/>
          <p:nvPr/>
        </p:nvSpPr>
        <p:spPr>
          <a:xfrm>
            <a:off x="5029200" y="4105656"/>
            <a:ext cx="3474720" cy="146304"/>
          </a:xfrm>
          <a:prstGeom prst="rect">
            <a:avLst/>
          </a:prstGeom>
          <a:noFill/>
          <a:ln/>
        </p:spPr>
        <p:txBody>
          <a:bodyPr wrap="square" lIns="0" tIns="0" rIns="0" bIns="0" rtlCol="0" anchor="ctr"/>
          <a:lstStyle/>
          <a:p>
            <a:pPr algn="ctr" indent="0" marL="0">
              <a:buNone/>
            </a:pPr>
            <a:r>
              <a:rPr lang="en-US" sz="800" i="1" dirty="0">
                <a:solidFill>
                  <a:schemeClr val="tx2"/>
                </a:solidFill>
                <a:latin typeface="Prompt" pitchFamily="34" charset="0"/>
                <a:ea typeface="Prompt" pitchFamily="34" charset="-122"/>
                <a:cs typeface="Prompt" pitchFamily="34" charset="-120"/>
              </a:rPr>
              <a:t>งานที่ดูยากในระดับใกล้เคียงกัน</a:t>
            </a:r>
            <a:endParaRPr lang="en-US" sz="8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rompt" pitchFamily="34" charset="0"/>
                <a:ea typeface="Prompt" pitchFamily="34" charset="-122"/>
                <a:cs typeface="Prompt" pitchFamily="34" charset="-120"/>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8"/>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latin typeface="Prompt" pitchFamily="34" charset="0"/>
                <a:ea typeface="Prompt" pitchFamily="34" charset="-122"/>
                <a:cs typeface="Prompt" pitchFamily="34" charset="-120"/>
              </a:rPr>
              <a:t>ถัดไป:  </a:t>
            </a:r>
            <a:pPr indent="0" marL="0">
              <a:buNone/>
            </a:pPr>
            <a:r>
              <a:rPr lang="en-US" sz="900" dirty="0">
                <a:solidFill>
                  <a:srgbClr val="1B2A4A"/>
                </a:solidFill>
                <a:latin typeface="Prompt" pitchFamily="34" charset="0"/>
                <a:ea typeface="Prompt" pitchFamily="34" charset="-122"/>
                <a:cs typeface="Prompt" pitchFamily="34" charset="-120"/>
              </a:rPr>
              <a:t>แล้วเมื่อที่ปรึกษา 758 คนใช้ GPT-4 จริง เกิดอะไรขึ้น?</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rompt" pitchFamily="34" charset="0"/>
                <a:ea typeface="Prompt" pitchFamily="34" charset="-122"/>
                <a:cs typeface="Prompt" pitchFamily="34" charset="-120"/>
              </a:rPr>
              <a:t>บทความที่ 2  |  ผลการศึกษาที่สำคัญ</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ช่วยเพิ่มประสิทธิภาพ แต่มีข้อจำกัด</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2E8B86"/>
          </a:solidFill>
          <a:ln w="12700">
            <a:solidFill>
              <a:srgbClr val="2E8B8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latin typeface="Prompt" pitchFamily="34" charset="0"/>
                <a:ea typeface="Prompt" pitchFamily="34" charset="-122"/>
                <a:cs typeface="Prompt" pitchFamily="34" charset="-120"/>
              </a:rPr>
              <a:t>บทความ 2: ผลการศึกษา</a:t>
            </a:r>
            <a:endParaRPr lang="en-US" sz="900" dirty="0"/>
          </a:p>
        </p:txBody>
      </p:sp>
      <p:sp>
        <p:nvSpPr>
          <p:cNvPr id="10" name="tag finding"/>
          <p:cNvSpPr/>
          <p:nvPr/>
        </p:nvSpPr>
        <p:spPr>
          <a:xfrm>
            <a:off x="457200" y="1133856"/>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33856"/>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Prompt" pitchFamily="34" charset="0"/>
                <a:ea typeface="Prompt" pitchFamily="34" charset="-122"/>
                <a:cs typeface="Prompt" pitchFamily="34" charset="-120"/>
              </a:rPr>
              <a:t>ผลการวิจัย (รายงานในบทความ)</a:t>
            </a:r>
            <a:endParaRPr lang="en-US" sz="900" dirty="0"/>
          </a:p>
        </p:txBody>
      </p:sp>
      <p:graphicFrame>
        <p:nvGraphicFramePr>
          <p:cNvPr id="12" name="findings chart" descr=""/>
          <p:cNvGraphicFramePr/>
          <p:nvPr/>
        </p:nvGraphicFramePr>
        <p:xfrm>
          <a:off x="457200" y="1371600"/>
          <a:ext cx="484632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457200" y="3419856"/>
            <a:ext cx="4846320" cy="365760"/>
          </a:xfrm>
          <a:prstGeom prst="rect">
            <a:avLst/>
          </a:prstGeom>
          <a:noFill/>
          <a:ln/>
        </p:spPr>
        <p:txBody>
          <a:bodyPr wrap="square" lIns="0" tIns="0" rIns="0" bIns="0" rtlCol="0" anchor="t"/>
          <a:lstStyle/>
          <a:p>
            <a:pPr indent="0" marL="0">
              <a:buNone/>
            </a:pPr>
            <a:r>
              <a:rPr lang="en-US" sz="850" i="1" dirty="0">
                <a:solidFill>
                  <a:schemeClr val="tx2"/>
                </a:solidFill>
                <a:latin typeface="Prompt" pitchFamily="34" charset="0"/>
                <a:ea typeface="Prompt" pitchFamily="34" charset="-122"/>
                <a:cs typeface="Prompt" pitchFamily="34" charset="-120"/>
              </a:rPr>
              <a:t>คุณภาพรายงานว่าสูงขึ้น "มากกว่า 40%" แท่งกราฟจึงแสดงที่ 40 ส่วนตัวเลขของแต่ละกลุ่มคือการพัฒนาเทียบกับคะแนนเดิมของกลุ่มนั้นเอง</a:t>
            </a:r>
            <a:endParaRPr lang="en-US" sz="850" dirty="0"/>
          </a:p>
        </p:txBody>
      </p:sp>
      <p:sp>
        <p:nvSpPr>
          <p:cNvPr id="14" name="outside callout"/>
          <p:cNvSpPr/>
          <p:nvPr/>
        </p:nvSpPr>
        <p:spPr>
          <a:xfrm>
            <a:off x="5577840" y="1133856"/>
            <a:ext cx="3108960" cy="1755648"/>
          </a:xfrm>
          <a:prstGeom prst="roundRect">
            <a:avLst>
              <a:gd name="adj" fmla="val 5208"/>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15" name="outside head"/>
          <p:cNvSpPr txBox="1"/>
          <p:nvPr/>
        </p:nvSpPr>
        <p:spPr>
          <a:xfrm>
            <a:off x="5760720" y="1225296"/>
            <a:ext cx="2743200" cy="237744"/>
          </a:xfrm>
          <a:prstGeom prst="rect">
            <a:avLst/>
          </a:prstGeom>
          <a:noFill/>
          <a:ln/>
        </p:spPr>
        <p:txBody>
          <a:bodyPr wrap="square" lIns="0" tIns="0" rIns="0" bIns="0" rtlCol="0" anchor="ctr"/>
          <a:lstStyle/>
          <a:p>
            <a:pPr indent="0" marL="0">
              <a:buNone/>
            </a:pPr>
            <a:r>
              <a:rPr lang="en-US" sz="1100" b="1" spc="100" kern="0" dirty="0">
                <a:solidFill>
                  <a:srgbClr val="BFE6E0"/>
                </a:solidFill>
                <a:latin typeface="Prompt" pitchFamily="34" charset="0"/>
                <a:ea typeface="Prompt" pitchFamily="34" charset="-122"/>
                <a:cs typeface="Prompt" pitchFamily="34" charset="-120"/>
              </a:rPr>
              <a:t>งานภายนอกพรมแดน</a:t>
            </a:r>
            <a:endParaRPr lang="en-US" sz="1100" dirty="0"/>
          </a:p>
        </p:txBody>
      </p:sp>
      <p:sp>
        <p:nvSpPr>
          <p:cNvPr id="16" name="outside stat"/>
          <p:cNvSpPr txBox="1"/>
          <p:nvPr/>
        </p:nvSpPr>
        <p:spPr>
          <a:xfrm>
            <a:off x="5760720" y="1426464"/>
            <a:ext cx="1463040" cy="457200"/>
          </a:xfrm>
          <a:prstGeom prst="rect">
            <a:avLst/>
          </a:prstGeom>
          <a:noFill/>
          <a:ln/>
        </p:spPr>
        <p:txBody>
          <a:bodyPr wrap="square" lIns="0" tIns="0" rIns="0" bIns="0" rtlCol="0" anchor="ctr"/>
          <a:lstStyle/>
          <a:p>
            <a:pPr indent="0" marL="0">
              <a:buNone/>
            </a:pPr>
            <a:r>
              <a:rPr lang="en-US" sz="4000" b="1" dirty="0">
                <a:solidFill>
                  <a:srgbClr val="FFFFFF"/>
                </a:solidFill>
                <a:latin typeface="Prompt" pitchFamily="34" charset="0"/>
                <a:ea typeface="Prompt" pitchFamily="34" charset="-122"/>
                <a:cs typeface="Prompt" pitchFamily="34" charset="-120"/>
              </a:rPr>
              <a:t>−19</a:t>
            </a:r>
            <a:endParaRPr lang="en-US" sz="4000" dirty="0"/>
          </a:p>
        </p:txBody>
      </p:sp>
      <p:sp>
        <p:nvSpPr>
          <p:cNvPr id="17" name="outside unit"/>
          <p:cNvSpPr txBox="1"/>
          <p:nvPr/>
        </p:nvSpPr>
        <p:spPr>
          <a:xfrm>
            <a:off x="5760720" y="1883664"/>
            <a:ext cx="1920240" cy="201168"/>
          </a:xfrm>
          <a:prstGeom prst="rect">
            <a:avLst/>
          </a:prstGeom>
          <a:noFill/>
          <a:ln/>
        </p:spPr>
        <p:txBody>
          <a:bodyPr wrap="square" lIns="0" tIns="0" rIns="0" bIns="0" rtlCol="0" anchor="ctr"/>
          <a:lstStyle/>
          <a:p>
            <a:pPr indent="0" marL="0">
              <a:buNone/>
            </a:pPr>
            <a:r>
              <a:rPr lang="en-US" sz="950" dirty="0">
                <a:solidFill>
                  <a:srgbClr val="BFE6E0"/>
                </a:solidFill>
                <a:latin typeface="Prompt" pitchFamily="34" charset="0"/>
                <a:ea typeface="Prompt" pitchFamily="34" charset="-122"/>
                <a:cs typeface="Prompt" pitchFamily="34" charset="-120"/>
              </a:rPr>
              <a:t>จุดร้อยละ (percentage points)</a:t>
            </a:r>
            <a:endParaRPr lang="en-US" sz="950" dirty="0"/>
          </a:p>
        </p:txBody>
      </p:sp>
      <p:pic>
        <p:nvPicPr>
          <p:cNvPr id="18" name="mascot confused" descr="preencoded.png">    </p:cNvPr>
          <p:cNvPicPr>
            <a:picLocks noChangeAspect="1"/>
          </p:cNvPicPr>
          <p:nvPr/>
        </p:nvPicPr>
        <p:blipFill>
          <a:blip r:embed="rId2"/>
          <a:stretch>
            <a:fillRect/>
          </a:stretch>
        </p:blipFill>
        <p:spPr>
          <a:xfrm>
            <a:off x="7571232" y="1316736"/>
            <a:ext cx="1005840" cy="868680"/>
          </a:xfrm>
          <a:prstGeom prst="rect">
            <a:avLst/>
          </a:prstGeom>
        </p:spPr>
      </p:pic>
      <p:sp>
        <p:nvSpPr>
          <p:cNvPr id="19" name="outside body"/>
          <p:cNvSpPr txBox="1"/>
          <p:nvPr/>
        </p:nvSpPr>
        <p:spPr>
          <a:xfrm>
            <a:off x="5760720" y="2139696"/>
            <a:ext cx="2743200" cy="694944"/>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สำหรับงานที่เลือกให้อยู่นอกพรมแดน ผู้ใช้ AI มีโอกาสได้คำตอบที่ถูกต้องน้อยกว่าผู้ไม่ใช้ AI อยู่ 19 จุดร้อยละ</a:t>
            </a:r>
            <a:endParaRPr lang="en-US" sz="1000" dirty="0"/>
          </a:p>
        </p:txBody>
      </p:sp>
      <p:sp>
        <p:nvSpPr>
          <p:cNvPr id="20" name="unit note card"/>
          <p:cNvSpPr/>
          <p:nvPr/>
        </p:nvSpPr>
        <p:spPr>
          <a:xfrm>
            <a:off x="5577840" y="2980944"/>
            <a:ext cx="3108960" cy="804672"/>
          </a:xfrm>
          <a:prstGeom prst="roundRect">
            <a:avLst>
              <a:gd name="adj" fmla="val 11364"/>
            </a:avLst>
          </a:prstGeom>
          <a:solidFill>
            <a:srgbClr val="EEF1F5"/>
          </a:solidFill>
          <a:ln w="12700">
            <a:solidFill>
              <a:srgbClr val="EEF1F5"/>
            </a:solidFill>
            <a:prstDash val="solid"/>
          </a:ln>
        </p:spPr>
      </p:sp>
      <p:sp>
        <p:nvSpPr>
          <p:cNvPr id="21" name="unit note"/>
          <p:cNvSpPr txBox="1"/>
          <p:nvPr/>
        </p:nvSpPr>
        <p:spPr>
          <a:xfrm>
            <a:off x="5715000" y="3017520"/>
            <a:ext cx="2834640" cy="731520"/>
          </a:xfrm>
          <a:prstGeom prst="rect">
            <a:avLst/>
          </a:prstGeom>
          <a:noFill/>
          <a:ln/>
        </p:spPr>
        <p:txBody>
          <a:bodyPr wrap="square" lIns="0" tIns="0" rIns="0" bIns="0" rtlCol="0" anchor="ctr"/>
          <a:lstStyle/>
          <a:p>
            <a:pPr indent="0" marL="0">
              <a:buNone/>
            </a:pPr>
            <a:r>
              <a:rPr lang="en-US" sz="900" dirty="0">
                <a:solidFill>
                  <a:schemeClr val="tx2"/>
                </a:solidFill>
                <a:latin typeface="Prompt" pitchFamily="34" charset="0"/>
                <a:ea typeface="Prompt" pitchFamily="34" charset="-122"/>
                <a:cs typeface="Prompt" pitchFamily="34" charset="-120"/>
              </a:rPr>
              <a:t>ร้อยละการเปลี่ยนแปลง (เช่น +12.2%) เทียบกับค่าฐานเดิม ส่วนจุดร้อยละ (−19) คือส่วนต่างระหว่างอัตราความถูกต้องของสองกลุ่ม</a:t>
            </a:r>
            <a:endParaRPr lang="en-US" sz="900" dirty="0"/>
          </a:p>
        </p:txBody>
      </p:sp>
      <p:sp>
        <p:nvSpPr>
          <p:cNvPr id="22" name="approach head"/>
          <p:cNvSpPr txBox="1"/>
          <p:nvPr/>
        </p:nvSpPr>
        <p:spPr>
          <a:xfrm>
            <a:off x="457200" y="3840480"/>
            <a:ext cx="4572000" cy="201168"/>
          </a:xfrm>
          <a:prstGeom prst="rect">
            <a:avLst/>
          </a:prstGeom>
          <a:noFill/>
          <a:ln/>
        </p:spPr>
        <p:txBody>
          <a:bodyPr wrap="square" lIns="0" tIns="0" rIns="0" bIns="0" rtlCol="0" anchor="ctr"/>
          <a:lstStyle/>
          <a:p>
            <a:pPr indent="0" marL="0">
              <a:buNone/>
            </a:pPr>
            <a:r>
              <a:rPr lang="en-US" sz="1150" b="1" dirty="0">
                <a:solidFill>
                  <a:schemeClr val="tx1"/>
                </a:solidFill>
                <a:latin typeface="Prompt" pitchFamily="34" charset="0"/>
                <a:ea typeface="Prompt" pitchFamily="34" charset="-122"/>
                <a:cs typeface="Prompt" pitchFamily="34" charset="-120"/>
              </a:rPr>
              <a:t>รูปแบบการใช้ AI ที่ประสบความสำเร็จสองแบบ</a:t>
            </a:r>
            <a:endParaRPr lang="en-US" sz="1150" dirty="0"/>
          </a:p>
        </p:txBody>
      </p:sp>
      <p:sp>
        <p:nvSpPr>
          <p:cNvPr id="23" name="approach Centaurs (เซนทอร์)"/>
          <p:cNvSpPr/>
          <p:nvPr/>
        </p:nvSpPr>
        <p:spPr>
          <a:xfrm>
            <a:off x="457200" y="4059936"/>
            <a:ext cx="3977640" cy="365760"/>
          </a:xfrm>
          <a:prstGeom prst="roundRect">
            <a:avLst>
              <a:gd name="adj" fmla="val 25000"/>
            </a:avLst>
          </a:prstGeom>
          <a:solidFill>
            <a:srgbClr val="EEF1F5"/>
          </a:solidFill>
          <a:ln w="12700">
            <a:solidFill>
              <a:srgbClr val="EEF1F5"/>
            </a:solidFill>
            <a:prstDash val="solid"/>
          </a:ln>
        </p:spPr>
      </p:sp>
      <p:pic>
        <p:nvPicPr>
          <p:cNvPr id="24" name="glyph Centaurs (เซนทอร์)" descr="preencoded.png">    </p:cNvPr>
          <p:cNvPicPr>
            <a:picLocks noChangeAspect="1"/>
          </p:cNvPicPr>
          <p:nvPr/>
        </p:nvPicPr>
        <p:blipFill>
          <a:blip r:embed="rId3"/>
          <a:stretch>
            <a:fillRect/>
          </a:stretch>
        </p:blipFill>
        <p:spPr>
          <a:xfrm>
            <a:off x="530352" y="4105656"/>
            <a:ext cx="411480" cy="274320"/>
          </a:xfrm>
          <a:prstGeom prst="rect">
            <a:avLst/>
          </a:prstGeom>
        </p:spPr>
      </p:pic>
      <p:sp>
        <p:nvSpPr>
          <p:cNvPr id="25" name="approach text"/>
          <p:cNvSpPr txBox="1"/>
          <p:nvPr/>
        </p:nvSpPr>
        <p:spPr>
          <a:xfrm>
            <a:off x="1024128" y="4059936"/>
            <a:ext cx="3337560" cy="365760"/>
          </a:xfrm>
          <a:prstGeom prst="rect">
            <a:avLst/>
          </a:prstGeom>
          <a:noFill/>
          <a:ln/>
        </p:spPr>
        <p:txBody>
          <a:bodyPr wrap="square" lIns="0" tIns="0" rIns="0" bIns="0" rtlCol="0" anchor="ctr"/>
          <a:lstStyle/>
          <a:p>
            <a:pPr indent="0" marL="0">
              <a:buNone/>
            </a:pPr>
            <a:r>
              <a:rPr lang="en-US" sz="1050" b="1" dirty="0">
                <a:solidFill>
                  <a:schemeClr val="tx1"/>
                </a:solidFill>
                <a:latin typeface="Prompt" pitchFamily="34" charset="0"/>
                <a:ea typeface="Prompt" pitchFamily="34" charset="-122"/>
                <a:cs typeface="Prompt" pitchFamily="34" charset="-120"/>
              </a:rPr>
              <a:t>Centaurs (เซนทอร์)  </a:t>
            </a:r>
            <a:pPr indent="0" marL="0">
              <a:buNone/>
            </a:pPr>
            <a:r>
              <a:rPr lang="en-US" sz="950" dirty="0">
                <a:solidFill>
                  <a:schemeClr val="tx2"/>
                </a:solidFill>
                <a:latin typeface="Prompt" pitchFamily="34" charset="0"/>
                <a:ea typeface="Prompt" pitchFamily="34" charset="-122"/>
                <a:cs typeface="Prompt" pitchFamily="34" charset="-120"/>
              </a:rPr>
              <a:t>แบ่งงานระหว่างคนกับ AI โดยมอบงานย่อยให้ฝ่ายที่เหมาะสมกว่า</a:t>
            </a:r>
            <a:endParaRPr lang="en-US" sz="1050" dirty="0"/>
          </a:p>
        </p:txBody>
      </p:sp>
      <p:sp>
        <p:nvSpPr>
          <p:cNvPr id="26" name="approach Cyborgs (ไซบอร์ก)"/>
          <p:cNvSpPr/>
          <p:nvPr/>
        </p:nvSpPr>
        <p:spPr>
          <a:xfrm>
            <a:off x="4709160" y="4059936"/>
            <a:ext cx="3977640" cy="365760"/>
          </a:xfrm>
          <a:prstGeom prst="roundRect">
            <a:avLst>
              <a:gd name="adj" fmla="val 25000"/>
            </a:avLst>
          </a:prstGeom>
          <a:solidFill>
            <a:srgbClr val="EEF1F5"/>
          </a:solidFill>
          <a:ln w="12700">
            <a:solidFill>
              <a:srgbClr val="EEF1F5"/>
            </a:solidFill>
            <a:prstDash val="solid"/>
          </a:ln>
        </p:spPr>
      </p:sp>
      <p:pic>
        <p:nvPicPr>
          <p:cNvPr id="27" name="glyph Cyborgs (ไซบอร์ก)" descr="preencoded.png">    </p:cNvPr>
          <p:cNvPicPr>
            <a:picLocks noChangeAspect="1"/>
          </p:cNvPicPr>
          <p:nvPr/>
        </p:nvPicPr>
        <p:blipFill>
          <a:blip r:embed="rId4"/>
          <a:stretch>
            <a:fillRect/>
          </a:stretch>
        </p:blipFill>
        <p:spPr>
          <a:xfrm>
            <a:off x="4782312" y="4105656"/>
            <a:ext cx="411480" cy="274320"/>
          </a:xfrm>
          <a:prstGeom prst="rect">
            <a:avLst/>
          </a:prstGeom>
        </p:spPr>
      </p:pic>
      <p:sp>
        <p:nvSpPr>
          <p:cNvPr id="28" name="approach text"/>
          <p:cNvSpPr txBox="1"/>
          <p:nvPr/>
        </p:nvSpPr>
        <p:spPr>
          <a:xfrm>
            <a:off x="5276088" y="4059936"/>
            <a:ext cx="3337560" cy="365760"/>
          </a:xfrm>
          <a:prstGeom prst="rect">
            <a:avLst/>
          </a:prstGeom>
          <a:noFill/>
          <a:ln/>
        </p:spPr>
        <p:txBody>
          <a:bodyPr wrap="square" lIns="0" tIns="0" rIns="0" bIns="0" rtlCol="0" anchor="ctr"/>
          <a:lstStyle/>
          <a:p>
            <a:pPr indent="0" marL="0">
              <a:buNone/>
            </a:pPr>
            <a:r>
              <a:rPr lang="en-US" sz="1050" b="1" dirty="0">
                <a:solidFill>
                  <a:schemeClr val="tx1"/>
                </a:solidFill>
                <a:latin typeface="Prompt" pitchFamily="34" charset="0"/>
                <a:ea typeface="Prompt" pitchFamily="34" charset="-122"/>
                <a:cs typeface="Prompt" pitchFamily="34" charset="-120"/>
              </a:rPr>
              <a:t>Cyborgs (ไซบอร์ก)  </a:t>
            </a:r>
            <a:pPr indent="0" marL="0">
              <a:buNone/>
            </a:pPr>
            <a:r>
              <a:rPr lang="en-US" sz="950" dirty="0">
                <a:solidFill>
                  <a:schemeClr val="tx2"/>
                </a:solidFill>
                <a:latin typeface="Prompt" pitchFamily="34" charset="0"/>
                <a:ea typeface="Prompt" pitchFamily="34" charset="-122"/>
                <a:cs typeface="Prompt" pitchFamily="34" charset="-120"/>
              </a:rPr>
              <a:t>ผสาน AI เข้ากับขั้นตอนการทำงานอย่างต่อเนื่อง สลับไปมากับเครื่องมือตลอดเวลา</a:t>
            </a:r>
            <a:endParaRPr lang="en-US" sz="1050" dirty="0"/>
          </a:p>
        </p:txBody>
      </p:sp>
      <p:sp>
        <p:nvSpPr>
          <p:cNvPr id="29"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rompt" pitchFamily="34" charset="0"/>
                <a:ea typeface="Prompt" pitchFamily="34" charset="-122"/>
                <a:cs typeface="Prompt" pitchFamily="34" charset="-120"/>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30"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31" name="icon FiArrowRight" descr="preencoded.png">    </p:cNvPr>
          <p:cNvPicPr>
            <a:picLocks noChangeAspect="1"/>
          </p:cNvPicPr>
          <p:nvPr/>
        </p:nvPicPr>
        <p:blipFill>
          <a:blip r:embed="rId5"/>
          <a:stretch>
            <a:fillRect/>
          </a:stretch>
        </p:blipFill>
        <p:spPr>
          <a:xfrm>
            <a:off x="8412480" y="4480560"/>
            <a:ext cx="182880" cy="182880"/>
          </a:xfrm>
          <a:prstGeom prst="rect">
            <a:avLst/>
          </a:prstGeom>
        </p:spPr>
      </p:pic>
      <p:sp>
        <p:nvSpPr>
          <p:cNvPr id="32"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latin typeface="Prompt" pitchFamily="34" charset="0"/>
                <a:ea typeface="Prompt" pitchFamily="34" charset="-122"/>
                <a:cs typeface="Prompt" pitchFamily="34" charset="-120"/>
              </a:rPr>
              <a:t>ถัดไป:  </a:t>
            </a:r>
            <a:pPr indent="0" marL="0">
              <a:buNone/>
            </a:pPr>
            <a:r>
              <a:rPr lang="en-US" sz="900" dirty="0">
                <a:solidFill>
                  <a:srgbClr val="1B2A4A"/>
                </a:solidFill>
                <a:latin typeface="Prompt" pitchFamily="34" charset="0"/>
                <a:ea typeface="Prompt" pitchFamily="34" charset="-122"/>
                <a:cs typeface="Prompt" pitchFamily="34" charset="-120"/>
              </a:rPr>
              <a:t>ผลแบบนี้จะยังเป็นจริงนอกสำนักงาน กับธุรกิจขนาดเล็กจริงหรือไม่?</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rompt" pitchFamily="34" charset="0"/>
                <a:ea typeface="Prompt" pitchFamily="34" charset="-122"/>
                <a:cs typeface="Prompt" pitchFamily="34" charset="-120"/>
              </a:rPr>
              <a:t>บทความที่ 5  |  วัตถุประสงค์และผลการศึกษา</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ผลกระทบของ AI ต่อผู้ประกอบการที่แตกต่างกัน</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2E8B86"/>
          </a:solidFill>
          <a:ln w="12700">
            <a:solidFill>
              <a:srgbClr val="2E8B8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latin typeface="Prompt" pitchFamily="34" charset="0"/>
                <a:ea typeface="Prompt" pitchFamily="34" charset="-122"/>
                <a:cs typeface="Prompt" pitchFamily="34" charset="-120"/>
              </a:rPr>
              <a:t>บทความ 5: ผู้ประกอบการ</a:t>
            </a:r>
            <a:endParaRPr lang="en-US" sz="9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1000" dirty="0">
                <a:solidFill>
                  <a:schemeClr val="tx2"/>
                </a:solidFill>
                <a:latin typeface="Prompt" pitchFamily="34" charset="0"/>
                <a:ea typeface="Prompt" pitchFamily="34" charset="-122"/>
                <a:cs typeface="Prompt" pitchFamily="34" charset="-120"/>
              </a:rPr>
              <a:t>Nicholas G. Otis et al.  |  Management Science, Vol. 72, No. 7, 2026  |  DOI 10.1287/mnsc.2024.06909</a:t>
            </a:r>
            <a:endParaRPr lang="en-US" sz="10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MapPin"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บริบทการศึกษา"/>
          <p:cNvSpPr txBox="1"/>
          <p:nvPr/>
        </p:nvSpPr>
        <p:spPr>
          <a:xfrm>
            <a:off x="969264" y="1389888"/>
            <a:ext cx="3328416" cy="530352"/>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บริบทการศึกษา</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การทดลองภาคสนามกับผู้ประกอบการธุรกิจขนาดเล็กในประเทศเคนยา</a:t>
            </a:r>
            <a:endParaRPr lang="en-US" sz="1250" dirty="0"/>
          </a:p>
        </p:txBody>
      </p:sp>
      <p:sp>
        <p:nvSpPr>
          <p:cNvPr id="14" name="icon circle"/>
          <p:cNvSpPr/>
          <p:nvPr/>
        </p:nvSpPr>
        <p:spPr>
          <a:xfrm>
            <a:off x="457200" y="2011680"/>
            <a:ext cx="384048" cy="384048"/>
          </a:xfrm>
          <a:prstGeom prst="ellipse">
            <a:avLst/>
          </a:prstGeom>
          <a:solidFill>
            <a:srgbClr val="2E8B86"/>
          </a:solidFill>
          <a:ln w="12700">
            <a:solidFill>
              <a:srgbClr val="2E8B86"/>
            </a:solidFill>
            <a:prstDash val="solid"/>
          </a:ln>
        </p:spPr>
      </p:sp>
      <p:pic>
        <p:nvPicPr>
          <p:cNvPr id="15" name="icon FiMessageSquare" descr="preencoded.png">    </p:cNvPr>
          <p:cNvPicPr>
            <a:picLocks noChangeAspect="1"/>
          </p:cNvPicPr>
          <p:nvPr/>
        </p:nvPicPr>
        <p:blipFill>
          <a:blip r:embed="rId2"/>
          <a:stretch>
            <a:fillRect/>
          </a:stretch>
        </p:blipFill>
        <p:spPr>
          <a:xfrm>
            <a:off x="539496" y="2093976"/>
            <a:ext cx="219456" cy="219456"/>
          </a:xfrm>
          <a:prstGeom prst="rect">
            <a:avLst/>
          </a:prstGeom>
        </p:spPr>
      </p:pic>
      <p:sp>
        <p:nvSpPr>
          <p:cNvPr id="16" name="fact สิ่งที่ทดลอง"/>
          <p:cNvSpPr txBox="1"/>
          <p:nvPr/>
        </p:nvSpPr>
        <p:spPr>
          <a:xfrm>
            <a:off x="969264" y="1975104"/>
            <a:ext cx="3328416" cy="530352"/>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สิ่งที่ทดลอง</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การเข้าถึงผู้ช่วยธุรกิจ AI ที่ขับเคลื่อนด้วย GPT-4 ซึ่งให้คำแนะนำทางธุรกิจ</a:t>
            </a:r>
            <a:endParaRPr lang="en-US" sz="1250" dirty="0"/>
          </a:p>
        </p:txBody>
      </p:sp>
      <p:sp>
        <p:nvSpPr>
          <p:cNvPr id="17" name="icon circle"/>
          <p:cNvSpPr/>
          <p:nvPr/>
        </p:nvSpPr>
        <p:spPr>
          <a:xfrm>
            <a:off x="457200" y="2596896"/>
            <a:ext cx="384048" cy="384048"/>
          </a:xfrm>
          <a:prstGeom prst="ellipse">
            <a:avLst/>
          </a:prstGeom>
          <a:solidFill>
            <a:srgbClr val="2E8B86"/>
          </a:solidFill>
          <a:ln w="12700">
            <a:solidFill>
              <a:srgbClr val="2E8B86"/>
            </a:solidFill>
            <a:prstDash val="solid"/>
          </a:ln>
        </p:spPr>
      </p:sp>
      <p:pic>
        <p:nvPicPr>
          <p:cNvPr id="18" name="icon FiDollarSign" descr="preencoded.png">    </p:cNvPr>
          <p:cNvPicPr>
            <a:picLocks noChangeAspect="1"/>
          </p:cNvPicPr>
          <p:nvPr/>
        </p:nvPicPr>
        <p:blipFill>
          <a:blip r:embed="rId3"/>
          <a:stretch>
            <a:fillRect/>
          </a:stretch>
        </p:blipFill>
        <p:spPr>
          <a:xfrm>
            <a:off x="539496" y="2679192"/>
            <a:ext cx="219456" cy="219456"/>
          </a:xfrm>
          <a:prstGeom prst="rect">
            <a:avLst/>
          </a:prstGeom>
        </p:spPr>
      </p:pic>
      <p:sp>
        <p:nvSpPr>
          <p:cNvPr id="19" name="fact ตัวแปรผลลัพธ์"/>
          <p:cNvSpPr txBox="1"/>
          <p:nvPr/>
        </p:nvSpPr>
        <p:spPr>
          <a:xfrm>
            <a:off x="969264" y="2560320"/>
            <a:ext cx="3328416" cy="530352"/>
          </a:xfrm>
          <a:prstGeom prst="rect">
            <a:avLst/>
          </a:prstGeom>
          <a:noFill/>
          <a:ln/>
        </p:spPr>
        <p:txBody>
          <a:bodyPr wrap="square" lIns="0" tIns="0" rIns="0" bIns="0" rtlCol="0" anchor="t"/>
          <a:lstStyle/>
          <a:p>
            <a:pPr indent="0" marL="0">
              <a:buNone/>
            </a:pPr>
            <a:r>
              <a:rPr lang="en-US" sz="1250" b="1" dirty="0">
                <a:solidFill>
                  <a:schemeClr val="tx1"/>
                </a:solidFill>
                <a:latin typeface="Prompt" pitchFamily="34" charset="0"/>
                <a:ea typeface="Prompt" pitchFamily="34" charset="-122"/>
                <a:cs typeface="Prompt" pitchFamily="34" charset="-120"/>
              </a:rPr>
              <a:t>ตัวแปรผลลัพธ์</a:t>
            </a:r>
            <a:endParaRPr lang="en-US" sz="1250" dirty="0"/>
          </a:p>
          <a:p>
            <a:pPr indent="0" marL="0">
              <a:buNone/>
            </a:pPr>
            <a:r>
              <a:rPr lang="en-US" sz="1150" dirty="0">
                <a:solidFill>
                  <a:schemeClr val="tx2"/>
                </a:solidFill>
                <a:latin typeface="Prompt" pitchFamily="34" charset="0"/>
                <a:ea typeface="Prompt" pitchFamily="34" charset="-122"/>
                <a:cs typeface="Prompt" pitchFamily="34" charset="-120"/>
              </a:rPr>
              <a:t>รายได้และกำไรของธุรกิจขนาดเล็ก</a:t>
            </a:r>
            <a:endParaRPr lang="en-US" sz="1250" dirty="0"/>
          </a:p>
        </p:txBody>
      </p:sp>
      <p:sp>
        <p:nvSpPr>
          <p:cNvPr id="20" name="main effect card"/>
          <p:cNvSpPr/>
          <p:nvPr/>
        </p:nvSpPr>
        <p:spPr>
          <a:xfrm>
            <a:off x="457200" y="3200400"/>
            <a:ext cx="3840480" cy="1152144"/>
          </a:xfrm>
          <a:prstGeom prst="roundRect">
            <a:avLst>
              <a:gd name="adj" fmla="val 793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1" name="tag finding"/>
          <p:cNvSpPr/>
          <p:nvPr/>
        </p:nvSpPr>
        <p:spPr>
          <a:xfrm>
            <a:off x="621792" y="3310128"/>
            <a:ext cx="2286000" cy="219456"/>
          </a:xfrm>
          <a:prstGeom prst="roundRect">
            <a:avLst>
              <a:gd name="adj" fmla="val 50000"/>
            </a:avLst>
          </a:prstGeom>
          <a:solidFill>
            <a:srgbClr val="2E8B86"/>
          </a:solidFill>
          <a:ln w="12700">
            <a:solidFill>
              <a:srgbClr val="2E8B86"/>
            </a:solidFill>
            <a:prstDash val="solid"/>
          </a:ln>
        </p:spPr>
      </p:sp>
      <p:sp>
        <p:nvSpPr>
          <p:cNvPr id="22" name="tag text"/>
          <p:cNvSpPr txBox="1"/>
          <p:nvPr/>
        </p:nvSpPr>
        <p:spPr>
          <a:xfrm>
            <a:off x="621792" y="331012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Prompt" pitchFamily="34" charset="0"/>
                <a:ea typeface="Prompt" pitchFamily="34" charset="-122"/>
                <a:cs typeface="Prompt" pitchFamily="34" charset="-120"/>
              </a:rPr>
              <a:t>ผลการวิจัย (รายงานในบทความ)</a:t>
            </a:r>
            <a:endParaRPr lang="en-US" sz="900" dirty="0"/>
          </a:p>
        </p:txBody>
      </p:sp>
      <p:sp>
        <p:nvSpPr>
          <p:cNvPr id="23" name="main head"/>
          <p:cNvSpPr txBox="1"/>
          <p:nvPr/>
        </p:nvSpPr>
        <p:spPr>
          <a:xfrm>
            <a:off x="621792" y="3566160"/>
            <a:ext cx="2651760" cy="219456"/>
          </a:xfrm>
          <a:prstGeom prst="rect">
            <a:avLst/>
          </a:prstGeom>
          <a:noFill/>
          <a:ln/>
        </p:spPr>
        <p:txBody>
          <a:bodyPr wrap="square" lIns="0" tIns="0" rIns="0" bIns="0" rtlCol="0" anchor="ctr"/>
          <a:lstStyle/>
          <a:p>
            <a:pPr indent="0" marL="0">
              <a:buNone/>
            </a:pPr>
            <a:r>
              <a:rPr lang="en-US" sz="1150" b="1" dirty="0">
                <a:solidFill>
                  <a:srgbClr val="BFE6E0"/>
                </a:solidFill>
                <a:latin typeface="Prompt" pitchFamily="34" charset="0"/>
                <a:ea typeface="Prompt" pitchFamily="34" charset="-122"/>
                <a:cs typeface="Prompt" pitchFamily="34" charset="-120"/>
              </a:rPr>
              <a:t>ผลโดยเฉลี่ย</a:t>
            </a:r>
            <a:endParaRPr lang="en-US" sz="1150" dirty="0"/>
          </a:p>
        </p:txBody>
      </p:sp>
      <p:sp>
        <p:nvSpPr>
          <p:cNvPr id="24" name="main body"/>
          <p:cNvSpPr txBox="1"/>
          <p:nvPr/>
        </p:nvSpPr>
        <p:spPr>
          <a:xfrm>
            <a:off x="621792" y="3785616"/>
            <a:ext cx="2651760" cy="548640"/>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ผู้วิจัยไม่สามารถปฏิเสธสมมติฐานว่าง (null hypothesis) ที่ว่าไม่มีผลเฉลี่ยของการทดลองต่อรายได้และกำไร</a:t>
            </a:r>
            <a:endParaRPr lang="en-US" sz="1000" dirty="0"/>
          </a:p>
        </p:txBody>
      </p:sp>
      <p:pic>
        <p:nvPicPr>
          <p:cNvPr id="25" name="mascot with phone" descr="preencoded.png">    </p:cNvPr>
          <p:cNvPicPr>
            <a:picLocks noChangeAspect="1"/>
          </p:cNvPicPr>
          <p:nvPr/>
        </p:nvPicPr>
        <p:blipFill>
          <a:blip r:embed="rId4"/>
          <a:stretch>
            <a:fillRect/>
          </a:stretch>
        </p:blipFill>
        <p:spPr>
          <a:xfrm>
            <a:off x="3246120" y="3419856"/>
            <a:ext cx="960120" cy="822960"/>
          </a:xfrm>
          <a:prstGeom prst="rect">
            <a:avLst/>
          </a:prstGeom>
        </p:spPr>
      </p:pic>
      <p:sp>
        <p:nvSpPr>
          <p:cNvPr id="26" name="subgroup card"/>
          <p:cNvSpPr/>
          <p:nvPr/>
        </p:nvSpPr>
        <p:spPr>
          <a:xfrm>
            <a:off x="4617720" y="1371600"/>
            <a:ext cx="4069080" cy="1975104"/>
          </a:xfrm>
          <a:prstGeom prst="roundRect">
            <a:avLst>
              <a:gd name="adj" fmla="val 4630"/>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7" name="tag finding"/>
          <p:cNvSpPr/>
          <p:nvPr/>
        </p:nvSpPr>
        <p:spPr>
          <a:xfrm>
            <a:off x="4782312" y="1481328"/>
            <a:ext cx="2286000" cy="219456"/>
          </a:xfrm>
          <a:prstGeom prst="roundRect">
            <a:avLst>
              <a:gd name="adj" fmla="val 50000"/>
            </a:avLst>
          </a:prstGeom>
          <a:solidFill>
            <a:srgbClr val="2E8B86"/>
          </a:solidFill>
          <a:ln w="12700">
            <a:solidFill>
              <a:srgbClr val="2E8B86"/>
            </a:solidFill>
            <a:prstDash val="solid"/>
          </a:ln>
        </p:spPr>
      </p:sp>
      <p:sp>
        <p:nvSpPr>
          <p:cNvPr id="28" name="tag text"/>
          <p:cNvSpPr txBox="1"/>
          <p:nvPr/>
        </p:nvSpPr>
        <p:spPr>
          <a:xfrm>
            <a:off x="4782312" y="148132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Prompt" pitchFamily="34" charset="0"/>
                <a:ea typeface="Prompt" pitchFamily="34" charset="-122"/>
                <a:cs typeface="Prompt" pitchFamily="34" charset="-120"/>
              </a:rPr>
              <a:t>ผลการวิจัย (รายงานในบทความ)</a:t>
            </a:r>
            <a:endParaRPr lang="en-US" sz="900" dirty="0"/>
          </a:p>
        </p:txBody>
      </p:sp>
      <p:sp>
        <p:nvSpPr>
          <p:cNvPr id="29" name="subgroup head"/>
          <p:cNvSpPr txBox="1"/>
          <p:nvPr/>
        </p:nvSpPr>
        <p:spPr>
          <a:xfrm>
            <a:off x="4782312" y="1737360"/>
            <a:ext cx="2971800" cy="237744"/>
          </a:xfrm>
          <a:prstGeom prst="rect">
            <a:avLst/>
          </a:prstGeom>
          <a:noFill/>
          <a:ln/>
        </p:spPr>
        <p:txBody>
          <a:bodyPr wrap="square" lIns="0" tIns="0" rIns="0" bIns="0" rtlCol="0" anchor="ctr"/>
          <a:lstStyle/>
          <a:p>
            <a:pPr indent="0" marL="0">
              <a:buNone/>
            </a:pPr>
            <a:r>
              <a:rPr lang="en-US" sz="1100" b="1" dirty="0">
                <a:solidFill>
                  <a:schemeClr val="tx1"/>
                </a:solidFill>
                <a:latin typeface="Prompt" pitchFamily="34" charset="0"/>
                <a:ea typeface="Prompt" pitchFamily="34" charset="-122"/>
                <a:cs typeface="Prompt" pitchFamily="34" charset="-120"/>
              </a:rPr>
              <a:t>ผลแยกตามกลุ่มผลการดำเนินงานตั้งต้น</a:t>
            </a:r>
            <a:endParaRPr lang="en-US" sz="1100" dirty="0"/>
          </a:p>
        </p:txBody>
      </p:sp>
      <p:pic>
        <p:nvPicPr>
          <p:cNvPr id="30" name="entrepreneur with phone" descr="preencoded.png">    </p:cNvPr>
          <p:cNvPicPr>
            <a:picLocks noChangeAspect="1"/>
          </p:cNvPicPr>
          <p:nvPr/>
        </p:nvPicPr>
        <p:blipFill>
          <a:blip r:embed="rId5"/>
          <a:stretch>
            <a:fillRect/>
          </a:stretch>
        </p:blipFill>
        <p:spPr>
          <a:xfrm>
            <a:off x="7662672" y="1426464"/>
            <a:ext cx="914400" cy="960120"/>
          </a:xfrm>
          <a:prstGeom prst="rect">
            <a:avLst/>
          </a:prstGeom>
        </p:spPr>
      </p:pic>
      <p:sp>
        <p:nvSpPr>
          <p:cNvPr id="31" name="zero line"/>
          <p:cNvSpPr/>
          <p:nvPr/>
        </p:nvSpPr>
        <p:spPr>
          <a:xfrm>
            <a:off x="6245352" y="2194560"/>
            <a:ext cx="0" cy="1024128"/>
          </a:xfrm>
          <a:prstGeom prst="line">
            <a:avLst/>
          </a:prstGeom>
          <a:noFill/>
          <a:ln w="9525">
            <a:solidFill>
              <a:srgbClr val="9AA5B4"/>
            </a:solidFill>
            <a:prstDash val="dash"/>
          </a:ln>
        </p:spPr>
      </p:sp>
      <p:sp>
        <p:nvSpPr>
          <p:cNvPr id="32" name="bar label 0"/>
          <p:cNvSpPr txBox="1"/>
          <p:nvPr/>
        </p:nvSpPr>
        <p:spPr>
          <a:xfrm>
            <a:off x="4782312" y="2011680"/>
            <a:ext cx="3739896" cy="219456"/>
          </a:xfrm>
          <a:prstGeom prst="rect">
            <a:avLst/>
          </a:prstGeom>
          <a:noFill/>
          <a:ln/>
        </p:spPr>
        <p:txBody>
          <a:bodyPr wrap="square" lIns="0" tIns="0" rIns="0" bIns="0" rtlCol="0" anchor="ctr"/>
          <a:lstStyle/>
          <a:p>
            <a:pPr indent="0" marL="0">
              <a:buNone/>
            </a:pPr>
            <a:r>
              <a:rPr lang="en-US" sz="950" b="1" dirty="0">
                <a:solidFill>
                  <a:schemeClr val="tx1"/>
                </a:solidFill>
                <a:latin typeface="Prompt" pitchFamily="34" charset="0"/>
                <a:ea typeface="Prompt" pitchFamily="34" charset="-122"/>
                <a:cs typeface="Prompt" pitchFamily="34" charset="-120"/>
              </a:rPr>
              <a:t>กลุ่มผลงานต่ำตั้งแต่ต้น  </a:t>
            </a:r>
            <a:pPr indent="0" marL="0">
              <a:buNone/>
            </a:pPr>
            <a:r>
              <a:rPr lang="en-US" sz="950" b="1" dirty="0">
                <a:solidFill>
                  <a:srgbClr val="5A6472"/>
                </a:solidFill>
                <a:latin typeface="Prompt" pitchFamily="34" charset="0"/>
                <a:ea typeface="Prompt" pitchFamily="34" charset="-122"/>
                <a:cs typeface="Prompt" pitchFamily="34" charset="-120"/>
              </a:rPr>
              <a:t>แย่ลงเกือบ 10%</a:t>
            </a:r>
            <a:endParaRPr lang="en-US" sz="950" dirty="0"/>
          </a:p>
        </p:txBody>
      </p:sp>
      <p:sp>
        <p:nvSpPr>
          <p:cNvPr id="33" name="bar 0"/>
          <p:cNvSpPr/>
          <p:nvPr/>
        </p:nvSpPr>
        <p:spPr>
          <a:xfrm>
            <a:off x="5426050" y="2249424"/>
            <a:ext cx="819302" cy="237744"/>
          </a:xfrm>
          <a:prstGeom prst="rect">
            <a:avLst/>
          </a:prstGeom>
          <a:solidFill>
            <a:srgbClr val="9AA5B4"/>
          </a:solidFill>
          <a:ln w="12700">
            <a:solidFill>
              <a:srgbClr val="9AA5B4"/>
            </a:solidFill>
            <a:prstDash val="solid"/>
          </a:ln>
        </p:spPr>
      </p:sp>
      <p:sp>
        <p:nvSpPr>
          <p:cNvPr id="34" name="bar label 1"/>
          <p:cNvSpPr txBox="1"/>
          <p:nvPr/>
        </p:nvSpPr>
        <p:spPr>
          <a:xfrm>
            <a:off x="4782312" y="2560320"/>
            <a:ext cx="3739896" cy="219456"/>
          </a:xfrm>
          <a:prstGeom prst="rect">
            <a:avLst/>
          </a:prstGeom>
          <a:noFill/>
          <a:ln/>
        </p:spPr>
        <p:txBody>
          <a:bodyPr wrap="square" lIns="0" tIns="0" rIns="0" bIns="0" rtlCol="0" anchor="ctr"/>
          <a:lstStyle/>
          <a:p>
            <a:pPr indent="0" marL="0">
              <a:buNone/>
            </a:pPr>
            <a:r>
              <a:rPr lang="en-US" sz="950" b="1" dirty="0">
                <a:solidFill>
                  <a:schemeClr val="tx1"/>
                </a:solidFill>
                <a:latin typeface="Prompt" pitchFamily="34" charset="0"/>
                <a:ea typeface="Prompt" pitchFamily="34" charset="-122"/>
                <a:cs typeface="Prompt" pitchFamily="34" charset="-120"/>
              </a:rPr>
              <a:t>กลุ่มผลงานสูงตั้งแต่ต้น  </a:t>
            </a:r>
            <a:pPr indent="0" marL="0">
              <a:buNone/>
            </a:pPr>
            <a:r>
              <a:rPr lang="en-US" sz="950" b="1" dirty="0">
                <a:solidFill>
                  <a:srgbClr val="2E8B86"/>
                </a:solidFill>
                <a:latin typeface="Prompt" pitchFamily="34" charset="0"/>
                <a:ea typeface="Prompt" pitchFamily="34" charset="-122"/>
                <a:cs typeface="Prompt" pitchFamily="34" charset="-120"/>
              </a:rPr>
              <a:t>อาจได้ประโยชน์มากกว่า 15%</a:t>
            </a:r>
            <a:endParaRPr lang="en-US" sz="950" dirty="0"/>
          </a:p>
        </p:txBody>
      </p:sp>
      <p:sp>
        <p:nvSpPr>
          <p:cNvPr id="35" name="bar 1"/>
          <p:cNvSpPr/>
          <p:nvPr/>
        </p:nvSpPr>
        <p:spPr>
          <a:xfrm>
            <a:off x="6245352" y="2798064"/>
            <a:ext cx="1228954" cy="237744"/>
          </a:xfrm>
          <a:prstGeom prst="rect">
            <a:avLst/>
          </a:prstGeom>
          <a:solidFill>
            <a:srgbClr val="2E8B86"/>
          </a:solidFill>
          <a:ln w="12700">
            <a:solidFill>
              <a:srgbClr val="2E8B86"/>
            </a:solidFill>
            <a:prstDash val="solid"/>
          </a:ln>
        </p:spPr>
      </p:sp>
      <p:sp>
        <p:nvSpPr>
          <p:cNvPr id="36" name="bar note"/>
          <p:cNvSpPr txBox="1"/>
          <p:nvPr/>
        </p:nvSpPr>
        <p:spPr>
          <a:xfrm>
            <a:off x="4782312" y="3163824"/>
            <a:ext cx="3739896" cy="164592"/>
          </a:xfrm>
          <a:prstGeom prst="rect">
            <a:avLst/>
          </a:prstGeom>
          <a:noFill/>
          <a:ln/>
        </p:spPr>
        <p:txBody>
          <a:bodyPr wrap="square" lIns="0" tIns="0" rIns="0" bIns="0" rtlCol="0" anchor="ctr"/>
          <a:lstStyle/>
          <a:p>
            <a:pPr algn="r" indent="0" marL="0">
              <a:buNone/>
            </a:pPr>
            <a:r>
              <a:rPr lang="en-US" sz="850" i="1" dirty="0">
                <a:solidFill>
                  <a:schemeClr val="tx2"/>
                </a:solidFill>
                <a:latin typeface="Prompt" pitchFamily="34" charset="0"/>
                <a:ea typeface="Prompt" pitchFamily="34" charset="-122"/>
                <a:cs typeface="Prompt" pitchFamily="34" charset="-120"/>
              </a:rPr>
              <a:t>ความยาวแท่งเป็นเพียงภาพประกอบของตัวเลขที่รายงาน</a:t>
            </a:r>
            <a:endParaRPr lang="en-US" sz="850" dirty="0"/>
          </a:p>
        </p:txBody>
      </p:sp>
      <p:sp>
        <p:nvSpPr>
          <p:cNvPr id="37" name="mechanism card"/>
          <p:cNvSpPr/>
          <p:nvPr/>
        </p:nvSpPr>
        <p:spPr>
          <a:xfrm>
            <a:off x="4617720" y="3401568"/>
            <a:ext cx="4069080" cy="457200"/>
          </a:xfrm>
          <a:prstGeom prst="roundRect">
            <a:avLst>
              <a:gd name="adj" fmla="val 20000"/>
            </a:avLst>
          </a:prstGeom>
          <a:solidFill>
            <a:srgbClr val="EEF1F5"/>
          </a:solidFill>
          <a:ln w="12700">
            <a:solidFill>
              <a:srgbClr val="EEF1F5"/>
            </a:solidFill>
            <a:prstDash val="solid"/>
          </a:ln>
        </p:spPr>
      </p:sp>
      <p:sp>
        <p:nvSpPr>
          <p:cNvPr id="38" name="mechanism"/>
          <p:cNvSpPr txBox="1"/>
          <p:nvPr/>
        </p:nvSpPr>
        <p:spPr>
          <a:xfrm>
            <a:off x="4754880" y="3419856"/>
            <a:ext cx="3794760" cy="420624"/>
          </a:xfrm>
          <a:prstGeom prst="rect">
            <a:avLst/>
          </a:prstGeom>
          <a:noFill/>
          <a:ln/>
        </p:spPr>
        <p:txBody>
          <a:bodyPr wrap="square" lIns="0" tIns="0" rIns="0" bIns="0" rtlCol="0" anchor="ctr"/>
          <a:lstStyle/>
          <a:p>
            <a:pPr indent="0" marL="0">
              <a:buNone/>
            </a:pPr>
            <a:r>
              <a:rPr lang="en-US" sz="950" dirty="0">
                <a:solidFill>
                  <a:schemeClr val="tx1"/>
                </a:solidFill>
                <a:latin typeface="Prompt" pitchFamily="34" charset="0"/>
                <a:ea typeface="Prompt" pitchFamily="34" charset="-122"/>
                <a:cs typeface="Prompt" pitchFamily="34" charset="-120"/>
              </a:rPr>
              <a:t>ความแตกต่างนี้ไม่ได้มาจากคำถามที่ถามหรือคำแนะนำที่ AI ให้ แต่มาจากคำแนะนำที่ผู้ประกอบการเลือกนำไปปฏิบัติ</a:t>
            </a:r>
            <a:endParaRPr lang="en-US" sz="950" dirty="0"/>
          </a:p>
        </p:txBody>
      </p:sp>
      <p:sp>
        <p:nvSpPr>
          <p:cNvPr id="39" name="caution card"/>
          <p:cNvSpPr/>
          <p:nvPr/>
        </p:nvSpPr>
        <p:spPr>
          <a:xfrm>
            <a:off x="4617720" y="3931920"/>
            <a:ext cx="4069080" cy="420624"/>
          </a:xfrm>
          <a:prstGeom prst="roundRect">
            <a:avLst>
              <a:gd name="adj" fmla="val 21739"/>
            </a:avLst>
          </a:prstGeom>
          <a:solidFill>
            <a:srgbClr val="FFFFFF"/>
          </a:solidFill>
          <a:ln w="12700">
            <a:solidFill>
              <a:srgbClr val="2E8B86"/>
            </a:solidFill>
            <a:prstDash val="solid"/>
          </a:ln>
        </p:spPr>
      </p:sp>
      <p:pic>
        <p:nvPicPr>
          <p:cNvPr id="40" name="icon FiAlertTriangle" descr="preencoded.png">    </p:cNvPr>
          <p:cNvPicPr>
            <a:picLocks noChangeAspect="1"/>
          </p:cNvPicPr>
          <p:nvPr/>
        </p:nvPicPr>
        <p:blipFill>
          <a:blip r:embed="rId6"/>
          <a:stretch>
            <a:fillRect/>
          </a:stretch>
        </p:blipFill>
        <p:spPr>
          <a:xfrm>
            <a:off x="4727448" y="4032504"/>
            <a:ext cx="219456" cy="219456"/>
          </a:xfrm>
          <a:prstGeom prst="rect">
            <a:avLst/>
          </a:prstGeom>
        </p:spPr>
      </p:pic>
      <p:sp>
        <p:nvSpPr>
          <p:cNvPr id="41" name="caution"/>
          <p:cNvSpPr txBox="1"/>
          <p:nvPr/>
        </p:nvSpPr>
        <p:spPr>
          <a:xfrm>
            <a:off x="5020056" y="3950208"/>
            <a:ext cx="3557016" cy="384048"/>
          </a:xfrm>
          <a:prstGeom prst="rect">
            <a:avLst/>
          </a:prstGeom>
          <a:noFill/>
          <a:ln/>
        </p:spPr>
        <p:txBody>
          <a:bodyPr wrap="square" lIns="0" tIns="0" rIns="0" bIns="0" rtlCol="0" anchor="ctr"/>
          <a:lstStyle/>
          <a:p>
            <a:pPr indent="0" marL="0">
              <a:buNone/>
            </a:pPr>
            <a:r>
              <a:rPr lang="en-US" sz="900" dirty="0">
                <a:solidFill>
                  <a:schemeClr val="tx2"/>
                </a:solidFill>
                <a:latin typeface="Prompt" pitchFamily="34" charset="0"/>
                <a:ea typeface="Prompt" pitchFamily="34" charset="-122"/>
                <a:cs typeface="Prompt" pitchFamily="34" charset="-120"/>
              </a:rPr>
              <a:t>ข้อควรระวัง: ตัวเลขนี้เป็นค่าเฉลี่ยของกลุ่มย่อย ไม่ได้แสดงว่าผู้ประกอบการที่เก่งทุกคนจะได้ประโยชน์ หรือผู้ประกอบการที่อ่อนทุกคนจะเสียประโยชน์</a:t>
            </a:r>
            <a:endParaRPr lang="en-US" sz="9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rompt" pitchFamily="34" charset="0"/>
                <a:ea typeface="Prompt" pitchFamily="34" charset="-122"/>
                <a:cs typeface="Prompt" pitchFamily="34" charset="-120"/>
              </a:rPr>
              <a:t>Otis, N. G., Clarke, R., Delecourt, S., Holtz, D., &amp; Koning, R. (2026). The Uneven Impact of Generative Artificial Intelligence on Entrepreneurial Performance: Evidence from a Field Experiment in Kenya. Management Science, 72(7). https://doi.org/10.1287/mnsc.2024.06909</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7"/>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latin typeface="Prompt" pitchFamily="34" charset="0"/>
                <a:ea typeface="Prompt" pitchFamily="34" charset="-122"/>
                <a:cs typeface="Prompt" pitchFamily="34" charset="-120"/>
              </a:rPr>
              <a:t>ถัดไป:  </a:t>
            </a:r>
            <a:pPr indent="0" marL="0">
              <a:buNone/>
            </a:pPr>
            <a:r>
              <a:rPr lang="en-US" sz="900" dirty="0">
                <a:solidFill>
                  <a:srgbClr val="1B2A4A"/>
                </a:solidFill>
                <a:latin typeface="Prompt" pitchFamily="34" charset="0"/>
                <a:ea typeface="Prompt" pitchFamily="34" charset="-122"/>
                <a:cs typeface="Prompt" pitchFamily="34" charset="-120"/>
              </a:rPr>
              <a:t>สองงานวิจัย บทเรียนเดียว: เมื่อมองร่วมกันบอกอะไรเรา?</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latin typeface="Prompt" pitchFamily="34" charset="0"/>
                <a:ea typeface="Prompt" pitchFamily="34" charset="-122"/>
                <a:cs typeface="Prompt" pitchFamily="34" charset="-120"/>
              </a:rPr>
              <a:t>อภิปรายผลและเปรียบเทียบ</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เป็นเครื่องมือ ไม่ใช่หลักประกันความสำเร็จ</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BFE6E0"/>
          </a:solidFill>
          <a:ln w="12700">
            <a:solidFill>
              <a:srgbClr val="BFE6E0"/>
            </a:solidFill>
            <a:prstDash val="solid"/>
          </a:ln>
        </p:spPr>
      </p:sp>
      <p:sp>
        <p:nvSpPr>
          <p:cNvPr id="8" name="progress dot 5"/>
          <p:cNvSpPr/>
          <p:nvPr/>
        </p:nvSpPr>
        <p:spPr>
          <a:xfrm>
            <a:off x="8577072" y="228600"/>
            <a:ext cx="109728" cy="109728"/>
          </a:xfrm>
          <a:prstGeom prst="ellipse">
            <a:avLst/>
          </a:prstGeom>
          <a:solidFill>
            <a:srgbClr val="2E8B86"/>
          </a:solidFill>
          <a:ln w="12700">
            <a:solidFill>
              <a:srgbClr val="2E8B8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latin typeface="Prompt" pitchFamily="34" charset="0"/>
                <a:ea typeface="Prompt" pitchFamily="34" charset="-122"/>
                <a:cs typeface="Prompt" pitchFamily="34" charset="-120"/>
              </a:rPr>
              <a:t>อภิปรายผล</a:t>
            </a:r>
            <a:endParaRPr lang="en-US" sz="900" dirty="0"/>
          </a:p>
        </p:txBody>
      </p:sp>
      <p:sp>
        <p:nvSpPr>
          <p:cNvPr id="10" name="tag finding"/>
          <p:cNvSpPr/>
          <p:nvPr/>
        </p:nvSpPr>
        <p:spPr>
          <a:xfrm>
            <a:off x="457200" y="1115568"/>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1556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Prompt" pitchFamily="34" charset="0"/>
                <a:ea typeface="Prompt" pitchFamily="34" charset="-122"/>
                <a:cs typeface="Prompt" pitchFamily="34" charset="-120"/>
              </a:rPr>
              <a:t>ผลการวิจัย (รายงานในบทความ)</a:t>
            </a:r>
            <a:endParaRPr lang="en-US" sz="9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554480"/>
                <a:gridCol w="3337560"/>
                <a:gridCol w="3337560"/>
              </a:tblGrid>
              <a:tr h="310896">
                <a:tc>
                  <a:txBody>
                    <a:bodyPr/>
                    <a:lstStyle/>
                    <a:p>
                      <a:pPr indent="0" marL="0">
                        <a:buNone/>
                      </a:pP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1050" b="1" dirty="0">
                          <a:solidFill>
                            <a:srgbClr val="FFFFFF"/>
                          </a:solidFill>
                          <a:latin typeface="Prompt" pitchFamily="34" charset="0"/>
                          <a:ea typeface="Prompt" pitchFamily="34" charset="-122"/>
                          <a:cs typeface="Prompt" pitchFamily="34" charset="-120"/>
                        </a:rPr>
                        <a:t>บทความที่ 2  |  Dell'Acqua et al. (2023)</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1050" b="1" dirty="0">
                          <a:solidFill>
                            <a:srgbClr val="FFFFFF"/>
                          </a:solidFill>
                          <a:latin typeface="Prompt" pitchFamily="34" charset="0"/>
                          <a:ea typeface="Prompt" pitchFamily="34" charset="-122"/>
                          <a:cs typeface="Prompt" pitchFamily="34" charset="-120"/>
                        </a:rPr>
                        <a:t>บทความที่ 5  |  Otis et al. (2026)</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r>
              <a:tr h="457200">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กลุ่มที่ศึกษา</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พนักงานความรู้และที่ปรึกษา (BCG)</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ผู้ประกอบการในประเทศเคนยา</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ผลหลัก</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ผลิตภาพและคุณภาพงานสูงขึ้นสำหรับงานภายในพรมแดนความสามารถของ AI</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ไม่พบผลเฉลี่ยของการทดลองต่อรายได้และกำไรอย่างชัดเจน</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r>
              <a:tr h="512064">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ข้อจำกัดหรือข้อค้นพบสำคัญ</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ความถูกต้องลดลงในงานที่อยู่นอกพรมแดนนั้น</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Prompt" pitchFamily="34" charset="0"/>
                          <a:ea typeface="Prompt" pitchFamily="34" charset="-122"/>
                          <a:cs typeface="Prompt" pitchFamily="34" charset="-120"/>
                        </a:rPr>
                        <a:t>ผลลัพธ์ต่างกันตามผลการดำเนินงานตั้งต้น และตามคำแนะนำของ AI ที่เลือกนำไปปฏิบัติ</a:t>
                      </a:r>
                      <a:endParaRPr lang="en-US" sz="1050" dirty="0">
                        <a:latin typeface="Prompt" charset="0"/>
                        <a:ea typeface="Prompt" charset="0"/>
                        <a:cs typeface="Prompt"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457200" y="3310128"/>
            <a:ext cx="8229600" cy="1042416"/>
          </a:xfrm>
          <a:prstGeom prst="roundRect">
            <a:avLst>
              <a:gd name="adj" fmla="val 8772"/>
            </a:avLst>
          </a:prstGeom>
          <a:solidFill>
            <a:srgbClr val="2E8B86"/>
          </a:solidFill>
          <a:ln w="12700">
            <a:solidFill>
              <a:srgbClr val="2E8B86"/>
            </a:solidFill>
            <a:prstDash val="solid"/>
          </a:ln>
          <a:effectLst>
            <a:outerShdw sx="100000" sy="100000" kx="0" ky="0" algn="bl" rotWithShape="0" blurRad="101600" dist="25400" dir="5400000">
              <a:srgbClr val="1B2A4A">
                <a:alpha val="12000"/>
              </a:srgbClr>
            </a:outerShdw>
          </a:effectLst>
        </p:spPr>
      </p:sp>
      <p:sp>
        <p:nvSpPr>
          <p:cNvPr id="14" name="tag interp"/>
          <p:cNvSpPr/>
          <p:nvPr/>
        </p:nvSpPr>
        <p:spPr>
          <a:xfrm>
            <a:off x="640080" y="3419856"/>
            <a:ext cx="1371600" cy="219456"/>
          </a:xfrm>
          <a:prstGeom prst="roundRect">
            <a:avLst>
              <a:gd name="adj" fmla="val 50000"/>
            </a:avLst>
          </a:prstGeom>
          <a:solidFill>
            <a:srgbClr val="EEF1F5"/>
          </a:solidFill>
          <a:ln w="12700">
            <a:solidFill>
              <a:srgbClr val="EEF1F5"/>
            </a:solidFill>
            <a:prstDash val="solid"/>
          </a:ln>
        </p:spPr>
      </p:sp>
      <p:sp>
        <p:nvSpPr>
          <p:cNvPr id="15" name="tag text"/>
          <p:cNvSpPr txBox="1"/>
          <p:nvPr/>
        </p:nvSpPr>
        <p:spPr>
          <a:xfrm>
            <a:off x="640080" y="3419856"/>
            <a:ext cx="1371600" cy="219456"/>
          </a:xfrm>
          <a:prstGeom prst="rect">
            <a:avLst/>
          </a:prstGeom>
          <a:noFill/>
          <a:ln/>
        </p:spPr>
        <p:txBody>
          <a:bodyPr wrap="square" lIns="0" tIns="0" rIns="0" bIns="0" rtlCol="0" anchor="ctr"/>
          <a:lstStyle/>
          <a:p>
            <a:pPr algn="ctr" indent="0" marL="0">
              <a:buNone/>
            </a:pPr>
            <a:r>
              <a:rPr lang="en-US" sz="900" b="1" spc="100" kern="0" dirty="0">
                <a:solidFill>
                  <a:schemeClr val="tx2"/>
                </a:solidFill>
                <a:latin typeface="Prompt" pitchFamily="34" charset="0"/>
                <a:ea typeface="Prompt" pitchFamily="34" charset="-122"/>
                <a:cs typeface="Prompt" pitchFamily="34" charset="-120"/>
              </a:rPr>
              <a:t>การตีความ</a:t>
            </a:r>
            <a:endParaRPr lang="en-US" sz="900" dirty="0"/>
          </a:p>
        </p:txBody>
      </p:sp>
      <p:sp>
        <p:nvSpPr>
          <p:cNvPr id="16" name="conclusion head"/>
          <p:cNvSpPr txBox="1"/>
          <p:nvPr/>
        </p:nvSpPr>
        <p:spPr>
          <a:xfrm>
            <a:off x="640080" y="3675888"/>
            <a:ext cx="2011680" cy="237744"/>
          </a:xfrm>
          <a:prstGeom prst="rect">
            <a:avLst/>
          </a:prstGeom>
          <a:noFill/>
          <a:ln/>
        </p:spPr>
        <p:txBody>
          <a:bodyPr wrap="square" lIns="0" tIns="0" rIns="0" bIns="0" rtlCol="0" anchor="ctr"/>
          <a:lstStyle/>
          <a:p>
            <a:pPr indent="0" marL="0">
              <a:buNone/>
            </a:pPr>
            <a:r>
              <a:rPr lang="en-US" sz="1200" b="1" dirty="0">
                <a:solidFill>
                  <a:srgbClr val="FFFFFF"/>
                </a:solidFill>
                <a:latin typeface="Prompt" pitchFamily="34" charset="0"/>
                <a:ea typeface="Prompt" pitchFamily="34" charset="-122"/>
                <a:cs typeface="Prompt" pitchFamily="34" charset="-120"/>
              </a:rPr>
              <a:t>บทสรุป</a:t>
            </a:r>
            <a:endParaRPr lang="en-US" sz="1200" dirty="0"/>
          </a:p>
        </p:txBody>
      </p:sp>
      <p:sp>
        <p:nvSpPr>
          <p:cNvPr id="17" name="conclusion"/>
          <p:cNvSpPr txBox="1"/>
          <p:nvPr/>
        </p:nvSpPr>
        <p:spPr>
          <a:xfrm>
            <a:off x="640080" y="3895344"/>
            <a:ext cx="3794760" cy="438912"/>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และวิจารณญาณของมนุษย์</a:t>
            </a:r>
            <a:endParaRPr lang="en-US" sz="1000" dirty="0"/>
          </a:p>
        </p:txBody>
      </p:sp>
      <p:pic>
        <p:nvPicPr>
          <p:cNvPr id="18" name="icon check" descr="preencoded.png">    </p:cNvPr>
          <p:cNvPicPr>
            <a:picLocks noChangeAspect="1"/>
          </p:cNvPicPr>
          <p:nvPr/>
        </p:nvPicPr>
        <p:blipFill>
          <a:blip r:embed="rId1"/>
          <a:stretch>
            <a:fillRect/>
          </a:stretch>
        </p:blipFill>
        <p:spPr>
          <a:xfrm>
            <a:off x="4526280" y="3474720"/>
            <a:ext cx="182880" cy="182880"/>
          </a:xfrm>
          <a:prstGeom prst="rect">
            <a:avLst/>
          </a:prstGeom>
        </p:spPr>
      </p:pic>
      <p:sp>
        <p:nvSpPr>
          <p:cNvPr id="19" name="takeaway 1"/>
          <p:cNvSpPr txBox="1"/>
          <p:nvPr/>
        </p:nvSpPr>
        <p:spPr>
          <a:xfrm>
            <a:off x="4800600" y="3438144"/>
            <a:ext cx="2240280" cy="256032"/>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เลือกงานให้เหมาะกับสิ่งที่ AI ทำได้ดี</a:t>
            </a:r>
            <a:endParaRPr lang="en-US" sz="950" dirty="0"/>
          </a:p>
        </p:txBody>
      </p:sp>
      <p:pic>
        <p:nvPicPr>
          <p:cNvPr id="20" name="icon check" descr="preencoded.png">    </p:cNvPr>
          <p:cNvPicPr>
            <a:picLocks noChangeAspect="1"/>
          </p:cNvPicPr>
          <p:nvPr/>
        </p:nvPicPr>
        <p:blipFill>
          <a:blip r:embed="rId2"/>
          <a:stretch>
            <a:fillRect/>
          </a:stretch>
        </p:blipFill>
        <p:spPr>
          <a:xfrm>
            <a:off x="4526280" y="3767328"/>
            <a:ext cx="182880" cy="182880"/>
          </a:xfrm>
          <a:prstGeom prst="rect">
            <a:avLst/>
          </a:prstGeom>
        </p:spPr>
      </p:pic>
      <p:sp>
        <p:nvSpPr>
          <p:cNvPr id="21" name="takeaway 2"/>
          <p:cNvSpPr txBox="1"/>
          <p:nvPr/>
        </p:nvSpPr>
        <p:spPr>
          <a:xfrm>
            <a:off x="4800600" y="3730752"/>
            <a:ext cx="2240280" cy="256032"/>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ประเมินคำแนะนำของ AI อย่างมีวิจารณญาณก่อนนำไปใช้</a:t>
            </a:r>
            <a:endParaRPr lang="en-US" sz="950" dirty="0"/>
          </a:p>
        </p:txBody>
      </p:sp>
      <p:pic>
        <p:nvPicPr>
          <p:cNvPr id="22" name="icon check" descr="preencoded.png">    </p:cNvPr>
          <p:cNvPicPr>
            <a:picLocks noChangeAspect="1"/>
          </p:cNvPicPr>
          <p:nvPr/>
        </p:nvPicPr>
        <p:blipFill>
          <a:blip r:embed="rId3"/>
          <a:stretch>
            <a:fillRect/>
          </a:stretch>
        </p:blipFill>
        <p:spPr>
          <a:xfrm>
            <a:off x="4526280" y="4059936"/>
            <a:ext cx="182880" cy="182880"/>
          </a:xfrm>
          <a:prstGeom prst="rect">
            <a:avLst/>
          </a:prstGeom>
        </p:spPr>
      </p:pic>
      <p:sp>
        <p:nvSpPr>
          <p:cNvPr id="23" name="takeaway 3"/>
          <p:cNvSpPr txBox="1"/>
          <p:nvPr/>
        </p:nvSpPr>
        <p:spPr>
          <a:xfrm>
            <a:off x="4800600" y="4023360"/>
            <a:ext cx="2240280" cy="256032"/>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ให้มนุษย์เป็นผู้ตัดสินใจขั้นสุดท้าย</a:t>
            </a:r>
            <a:endParaRPr lang="en-US" sz="950" dirty="0"/>
          </a:p>
        </p:txBody>
      </p:sp>
      <p:pic>
        <p:nvPicPr>
          <p:cNvPr id="24" name="human handshake" descr="preencoded.png">    </p:cNvPr>
          <p:cNvPicPr>
            <a:picLocks noChangeAspect="1"/>
          </p:cNvPicPr>
          <p:nvPr/>
        </p:nvPicPr>
        <p:blipFill>
          <a:blip r:embed="rId4"/>
          <a:stretch>
            <a:fillRect/>
          </a:stretch>
        </p:blipFill>
        <p:spPr>
          <a:xfrm>
            <a:off x="6903720" y="3401568"/>
            <a:ext cx="868680" cy="914400"/>
          </a:xfrm>
          <a:prstGeom prst="rect">
            <a:avLst/>
          </a:prstGeom>
        </p:spPr>
      </p:pic>
      <p:pic>
        <p:nvPicPr>
          <p:cNvPr id="25" name="mascot handshake" descr="preencoded.png">    </p:cNvPr>
          <p:cNvPicPr>
            <a:picLocks noChangeAspect="1"/>
          </p:cNvPicPr>
          <p:nvPr/>
        </p:nvPicPr>
        <p:blipFill>
          <a:blip r:embed="rId5"/>
          <a:stretch>
            <a:fillRect/>
          </a:stretch>
        </p:blipFill>
        <p:spPr>
          <a:xfrm>
            <a:off x="7662672" y="3401568"/>
            <a:ext cx="932688" cy="914400"/>
          </a:xfrm>
          <a:prstGeom prst="rect">
            <a:avLst/>
          </a:prstGeom>
        </p:spPr>
      </p:pic>
      <p:sp>
        <p:nvSpPr>
          <p:cNvPr id="26"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latin typeface="Prompt" pitchFamily="34" charset="0"/>
                <a:ea typeface="Prompt" pitchFamily="34" charset="-122"/>
                <a:cs typeface="Prompt" pitchFamily="34" charset="-120"/>
              </a:rPr>
              <a:t>Dell'Acqua et al. (2023), Harvard Business School Working Paper 24-013   |   Otis et al. (2026), Management Science, 72(7), https://doi.org/10.1287/mnsc.2024.06909</a:t>
            </a:r>
            <a:endParaRPr lang="en-US" sz="750" dirty="0"/>
          </a:p>
        </p:txBody>
      </p:sp>
      <p:sp>
        <p:nvSpPr>
          <p:cNvPr id="27"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28" name="icon FiArrowRight" descr="preencoded.png">    </p:cNvPr>
          <p:cNvPicPr>
            <a:picLocks noChangeAspect="1"/>
          </p:cNvPicPr>
          <p:nvPr/>
        </p:nvPicPr>
        <p:blipFill>
          <a:blip r:embed="rId6"/>
          <a:stretch>
            <a:fillRect/>
          </a:stretch>
        </p:blipFill>
        <p:spPr>
          <a:xfrm>
            <a:off x="8412480" y="4480560"/>
            <a:ext cx="182880" cy="182880"/>
          </a:xfrm>
          <a:prstGeom prst="rect">
            <a:avLst/>
          </a:prstGeom>
        </p:spPr>
      </p:pic>
      <p:sp>
        <p:nvSpPr>
          <p:cNvPr id="29"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latin typeface="Prompt" pitchFamily="34" charset="0"/>
                <a:ea typeface="Prompt" pitchFamily="34" charset="-122"/>
                <a:cs typeface="Prompt" pitchFamily="34" charset="-120"/>
              </a:rPr>
              <a:t>ถัดไป:  </a:t>
            </a:r>
            <a:pPr indent="0" marL="0">
              <a:buNone/>
            </a:pPr>
            <a:r>
              <a:rPr lang="en-US" sz="900" dirty="0">
                <a:solidFill>
                  <a:srgbClr val="1B2A4A"/>
                </a:solidFill>
                <a:latin typeface="Prompt" pitchFamily="34" charset="0"/>
                <a:ea typeface="Prompt" pitchFamily="34" charset="-122"/>
                <a:cs typeface="Prompt" pitchFamily="34" charset="-120"/>
              </a:rPr>
              <a:t>ขอบคุณครับ ยินดีรับคำถาม</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latin typeface="Prompt"/>
                <a:ea typeface="Prompt"/>
                <a:cs typeface="Prompt"/>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 Navy Teal">
  <a:themeElements>
    <a:clrScheme name="AI Navy Teal">
      <a:dk1>
        <a:srgbClr val="1B2A4A"/>
      </a:dk1>
      <a:lt1>
        <a:srgbClr val="FFFFFF"/>
      </a:lt1>
      <a:dk2>
        <a:srgbClr val="5A6472"/>
      </a:dk2>
      <a:lt2>
        <a:srgbClr val="EEF1F5"/>
      </a:lt2>
      <a:accent1>
        <a:srgbClr val="2E8B86"/>
      </a:accent1>
      <a:accent2>
        <a:srgbClr val="1B2A4A"/>
      </a:accent2>
      <a:accent3>
        <a:srgbClr val="9AA5B4"/>
      </a:accent3>
      <a:accent4>
        <a:srgbClr val="BFE6E0"/>
      </a:accent4>
      <a:accent5>
        <a:srgbClr val="D8DEE6"/>
      </a:accent5>
      <a:accent6>
        <a:srgbClr val="2A3D63"/>
      </a:accent6>
      <a:hlink>
        <a:srgbClr val="2E8B86"/>
      </a:hlink>
      <a:folHlink>
        <a:srgbClr val="5A6472"/>
      </a:folHlink>
    </a:clrScheme>
    <a:fontScheme name="AI Navy Te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and Work Performance</dc:title>
  <dc:subject>ENG 501 English for Master's Degree</dc:subject>
  <dc:creator>Chayanun Sungsa-ard</dc:creator>
  <cp:lastModifiedBy>Chayanun Sungsa-ard</cp:lastModifiedBy>
  <cp:revision>1</cp:revision>
  <dcterms:created xsi:type="dcterms:W3CDTF">2026-10-09T15:25:15Z</dcterms:created>
  <dcterms:modified xsi:type="dcterms:W3CDTF">2026-10-09T15:25:15Z</dcterms:modified>
</cp:coreProperties>
</file>