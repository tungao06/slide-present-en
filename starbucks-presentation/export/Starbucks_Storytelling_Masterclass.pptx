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1: the foundation and origin of the brand in 1971 Seattle." id="{9e2040ac-476e-a6bd-8f17-bbe9258dfe93}">
          <p14:sldIdLst>
            <p14:sldId id="256"/>
            <p14:sldId id="257"/>
          </p14:sldIdLst>
        </p14:section>
        <p14:section name="Part 2: the Milan turning point and the Third Place concept." id="{14576113-f468-3328-4d6f-51d5a2ff05e1}">
          <p14:sldIdLst>
            <p14:sldId id="258"/>
            <p14:sldId id="259"/>
          </p14:sldIdLst>
        </p14:section>
        <p14:section name="Part 3: scaling the experience through touchpoints and digital." id="{9474f90e-4a25-f195-7953-cf84ce507926}">
          <p14:sldIdLst>
            <p14:sldId id="260"/>
            <p14:sldId id="261"/>
          </p14:sldIdLst>
        </p14:section>
        <p14:section name="Part 4: global impact and the MBA takeaways." id="{eaa3294e-95c0-b2c5-0d9f-9cfe26788148}">
          <p14:sldIdLst>
            <p14:sldId id="262"/>
            <p14:sldId id="263"/>
          </p14:sldIdLst>
        </p14:section>
        <p14:section name="Thai version: slides 9-16 repeat the whole story in Thai (ฉบับภาษาไทย)." id="{b05ef708-a55b-d61a-f7af-fd9ba4fc23a5}">
          <p14:sldIdLst>
            <p14:sldId id="264"/>
            <p14:sldId id="265"/>
            <p14:sldId id="266"/>
            <p14:sldId id="267"/>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Our topic is how Starbucks used storytelling to grow from a single bean store into a global cultural icon. Three things to hold onto from the start: the origin in 1971 at Pike Place Market in Seattle, the original product of whole-bean gourmet coffee, and the symbol, a Norse twin-tailed siren. Now, let's look at where it all began in 1971.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lattes, Starbucks was a high-end bean and spice retailer. It was founded by Jerry Baldwin, Zev Siegl and Gordon Bowker, and its mission was to teach Americans how to brew fine dark-roast coffee. The logo came from a 16th-century Norse woodcut of a twin-tailed siren, a nod to Seattle's nautical tradition and to the irresistible pull of fine coffee. The stage was set, but Starbucks was still missing its biggest magic ingredient, until 1983 and a trip to Milan.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1983 Howard Schultz visited the espresso bars of Milan. He noticed that they were not just selling drinks; they worked as vibrant community living rooms. His vision was that America needed an authentic espresso culture built around human connection, speed and craftsmanship. In 1987 he bought Starbucks for 3.8 million dollars and merged his Il Giornale cafe concept into it, launching the modern coffeehouse era. Schultz didn't just want to sell coffee; he wanted to create a new space in human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Schultz's answer was the Third Place. Home is the first place, work is the second, and Starbucks becomes the third: a comforting, pressure-free sanctuary between the two. The second pillar is emotional connection, captured in Schultz's line: we aren't in the coffee business serving people; we're in the people business serving coffee. The third pillar treats the atmosphere itself as a product: warm lighting, wooden textures, acoustic music and a welcoming aroma. Now that we understand the Third Place, how did Starbucks scale this human experience to thousands of stores?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you keep a human experience intact across thousands of stores? Through everyday touchpoints. First, personalization and connection: names on cups, eye contact from the barista, and drinks customized by hand. Second, sensory consistency: the same ambient design, signature scents and curated playlists in stores around the world. Third, community customization: store architecture that reflects the neighborhood's heritage while the core brand values stay the same. As customer lifestyles changed, Starbucks had to bring the Third Place into the digital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digital side extends the same idea. The Starbucks Rewards app is a gamified loyalty program with over 30 million active members. Mobile Order and Pay removes friction from the visit. Digital personalization uses an AI-driven recommendation engine to tailor offers to individual tastes. And the omnichannel model keeps human connection alive even through drive-thru and delivery. Having mastered both physical experience and digital innovation, what is the global business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story is told in more than 38,000 stores across more than 80 markets. Three moves made that scale possible. Strategic joint ventures with local partners opened new markets. Market customization adapted the menu, for example Teavana and matcha drinks in Asia. And the high-end Reserve Roasteries act as flagship storytellers for the whole brand. So what can business leaders learn from this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lessons for business leaders. First, product versus experience: products can be commoditized, but a brand experience builds a competitive moat. Second, authenticity and consistency: core brand values must stay the same even during rapid global expansion. Third, strategic adaptability: Starbucks merged the physical third-place atmosphere with a cutting-edge digital ecosystem. We close with this thought: in a world that is increasingly digital and isolated, the hunger for authentic human connection has never been greater. Thank you, and we welcome any questions from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สวัสดีทุกคน หัวข้อของเราคือสตาร์บัคส์ใช้การเล่าเรื่องอย่างไรในการเติบโตจากร้านเดียวในซีแอตเทิลสู่แบรนด์ระดับโลก เราจะเล่าเป็นสี่ตอน: จุดกำเนิด จุดเปลี่ยน การนำประสบการณ์ไปปฏิบัติจริง และผลกระทบระดับโลกพร้อมบทเรียนสำหรับผู้นำธุรกิจ สามสิ่งที่อยากให้จำไว้ตั้งแต่ต้น: จุดเริ่มต้นในปี 1971 ที่ตลาดไพก์เพลซ ผลิตภัณฑ์คือกาแฟเมล็ดคั่วระดับกูร์เมต์ และสัญลักษณ์คือไซเรนสองหาง ต่อไป เรามาดูกันว่าทุกอย่างเริ่มต้นที่ไหนในปี 1971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ก่อนยุคลาเต้ สตาร์บัคส์เป็นร้านค้าปลีกเมล็ดกาแฟและเครื่องเทศระดับไฮเอนด์ ก่อตั้งในปี 1971 โดย Jerry Baldwin, Zev Siegl และ Gordon Bowker ด้วยพันธกิจที่เรียบง่าย: สอนให้คนอเมริกันชงกาแฟคั่วเข้มชั้นดีได้เองที่บ้าน ชื่อและโลโก้ก็เป็นการเล่าเรื่องตั้งแต่แรก: ไซเรนสองหางมาจากภาพแกะไม้นอร์สสมัยศตวรรษที่ 16 สื่อถึงประเพณีการเดินเรือของซีแอตเทิลและเสน่ห์ของกาแฟชั้นดีที่ยากจะต้านทาน เวทีถูกจัดเตรียมไว้แล้ว แต่สตาร์บัคส์ยังขาดส่วนผสมวิเศษที่สำคัญที่สุด จนกระทั่งปี 1983 กับการเดินทางไปมิลาน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ในปี 1983 โฮเวิร์ด ชูลต์ซ ไปเยือนบาร์เอสเพรสโซในมิลาน เขาสังเกตว่าร้านเหล่านั้นไม่ได้แค่ขายเครื่องดื่ม แต่เป็นห้องนั่งเล่นของชุมชนที่มีชีวิตชีวา วิสัยทัศน์ของเขาคืออเมริกาต้องการวัฒนธรรมเอสเพรสโซแท้ ๆ ที่สร้างขึ้นจากการเชื่อมโยงระหว่างผู้คน ความรวดเร็ว และฝีมือ ในปี 1987 เขาซื้อสตาร์บัคส์ในราคา 3.8 ล้านดอลลาร์ และรวมแนวคิดร้าน Il Giornale ของเขาเข้าไป เปิดศักราชร้านกาแฟยุคใหม่ ชูลต์ซไม่ได้แค่อยากขายกาแฟ เขาอยากสร้างพื้นที่ใหม่ในชีวิตของผู้คน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คำตอบของชูลต์ซคือบ้านหลังที่สาม บ้านคือที่หนึ่ง ที่ทำงานคือที่สอง และสตาร์บัคส์คือที่สาม: ที่พักพิงอันอบอุ่น ปราศจากความกดดัน ระหว่างสองที่นั้น เสาหลักที่สองคือความผูกพันทางอารมณ์ ดังคำของชูลต์ซ: เราไม่ได้อยู่ในธุรกิจกาแฟที่ให้บริการผู้คน แต่เราอยู่ในธุรกิจผู้คนที่ให้บริการกาแฟ เสาหลักที่สามมองบรรยากาศเป็นผลิตภัณฑ์: แสงไฟอบอุ่น พื้นผิวไม้ ดนตรีอะคูสติก และกลิ่นหอมชวนต้อนรับ เมื่อเข้าใจบ้านหลังที่สามแล้ว สตาร์บัคส์ขยายประสบการณ์แบบมนุษย์นี้ไปสู่ร้านหลายพันสาขาได้อย่างไร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จะรักษาประสบการณ์แบบมนุษย์ไว้ในร้านหลายพันสาขาได้อย่างไร ผ่านจุดสัมผัสในชีวิตประจำวัน หนึ่ง ความเป็นส่วนตัวและการเชื่อมโยง: ชื่อบนแก้ว บาริสต้าสบตา และเครื่องดื่มที่ปรับแต่งด้วยมือ สอง ความสม่ำเสมอทางประสาทสัมผัส: การออกแบบบรรยากาศ กลิ่นเอกลักษณ์ และเพลย์ลิสต์เดียวกันในร้านทั่วโลก สาม ปรับให้เข้ากับชุมชน: สถาปัตยกรรมร้านสะท้อนมรดกของย่าน ขณะที่คุณค่าหลักของแบรนด์คงเดิม เมื่อไลฟ์สไตล์ของลูกค้าเปลี่ยนไป สตาร์บัคส์ต้องพาบ้านหลังที่สามเข้าสู่ยุคดิจิทัล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ฝั่งดิจิทัลต่อยอดแนวคิดเดียวกัน แอป Starbucks Rewards เป็นโปรแกรมสะสมคะแนนแบบเกมที่มีสมาชิกใช้งานกว่า 30 ล้านคน Mobile Order and Pay ตัดความยุ่งยากออกจากการมาร้าน การปรับแต่งเฉพาะบุคคลใช้ระบบแนะนำด้วย AI ปรับข้อเสนอให้ตรงรสนิยมแต่ละคน และโมเดลออมนิแชนแนลรักษาการเชื่อมโยงกับผู้คนไว้แม้ผ่านไดรฟ์ทรูและเดลิเวอรี เมื่อเชี่ยวชาญทั้งประสบการณ์หน้าร้านและนวัตกรรมดิจิทัลแล้ว ผลกระทบทางธุรกิจระดับโลกเป็นอย่างไร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วันนี้เรื่องราวนี้ถูกเล่าในร้านกว่า 38,000 สาขา ในกว่า 80 ตลาดทั่วโลก สามกลยุทธ์ที่ทำให้ขยายได้ขนาดนี้: การร่วมทุนเชิงกลยุทธ์กับพันธมิตรท้องถิ่นเปิดตลาดใหม่ การปรับให้เข้ากับแต่ละตลาดปรับเมนู เช่น Teavana และเครื่องดื่มมัทฉะในเอเชีย และ Reserve Roasteries ระดับไฮเอนด์ทำหน้าที่เป็นแฟล็กชิปนักเล่าเรื่องของทั้งแบรนด์ แล้วผู้นำธุรกิจเรียนรู้อะไรได้บ้างจากเรื่องราวนี้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สามบทเรียนสำหรับผู้นำธุรกิจ หนึ่ง ผลิตภัณฑ์กับประสบการณ์: ผลิตภัณฑ์ถูกทำให้เป็นสินค้าโภคภัณฑ์ได้ แต่ประสบการณ์แบรนด์สร้างคูเมืองทางการแข่งขัน สอง ความจริงใจและความสม่ำเสมอ: คุณค่าหลักของแบรนด์ต้องคงเดิมแม้ขยายตัวทั่วโลกอย่างรวดเร็ว สาม ความสามารถในการปรับตัวเชิงกลยุทธ์: สตาร์บัคส์ผสานบรรยากาศบ้านหลังที่สามเข้ากับระบบนิเวศดิจิทัลล้ำสมัย ขอปิดท้ายด้วยข้อคิดนี้: ในโลกที่เป็นดิจิทัลและโดดเดี่ยวมากขึ้นทุกที ความโหยหาการเชื่อมโยงที่แท้จริงระหว่างมนุษย์ไม่เคยยิ่งใหญ่เท่านี้มาก่อน ขอบคุณครับ/ค่ะ ยินดีรับทุกคำถามจากเพื่อน ๆ ในชั้นเรียน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6241"/>
        </a:solidFill>
      </p:bgPr>
    </p:bg>
    <p:spTree>
      <p:nvGrpSpPr>
        <p:cNvPr id="1" name=""/>
        <p:cNvGrpSpPr/>
        <p:nvPr/>
      </p:nvGrpSpPr>
      <p:grpSpPr>
        <a:xfrm>
          <a:off x="0" y="0"/>
          <a:ext cx="0" cy="0"/>
          <a:chOff x="0" y="0"/>
          <a:chExt cx="0" cy="0"/>
        </a:xfrm>
      </p:grpSpPr>
      <p:sp>
        <p:nvSpPr>
          <p:cNvPr id="2" name="static"/>
          <p:cNvSpPr txBox="1"/>
          <p:nvPr/>
        </p:nvSpPr>
        <p:spPr>
          <a:xfrm>
            <a:off x="609600" y="952500"/>
            <a:ext cx="637794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D4E9E2"/>
                </a:solidFill>
                <a:latin typeface="DM Sans" pitchFamily="34" charset="0"/>
                <a:ea typeface="DM Sans" pitchFamily="34" charset="-122"/>
                <a:cs typeface="DM Sans" pitchFamily="34" charset="-120"/>
              </a:rPr>
              <a:t>MBA BUSINESS CLASS · GROUP PRESENTATION</a:t>
            </a:r>
            <a:endParaRPr lang="en-US" sz="900" dirty="0"/>
          </a:p>
        </p:txBody>
      </p:sp>
      <p:sp>
        <p:nvSpPr>
          <p:cNvPr id="3" name="static"/>
          <p:cNvSpPr txBox="1"/>
          <p:nvPr/>
        </p:nvSpPr>
        <p:spPr>
          <a:xfrm>
            <a:off x="609600" y="1207740"/>
            <a:ext cx="6141720" cy="740569"/>
          </a:xfrm>
          <a:prstGeom prst="rect">
            <a:avLst/>
          </a:prstGeom>
          <a:noFill/>
          <a:ln/>
        </p:spPr>
        <p:txBody>
          <a:bodyPr wrap="square" lIns="0" tIns="0" rIns="0" bIns="0" rtlCol="0" anchor="t"/>
          <a:lstStyle/>
          <a:p>
            <a:pPr algn="l" indent="0" marL="0">
              <a:lnSpc>
                <a:spcPts val="2916"/>
              </a:lnSpc>
              <a:buNone/>
            </a:pPr>
            <a:r>
              <a:rPr lang="en-US" sz="2700" b="1" dirty="0">
                <a:solidFill>
                  <a:srgbClr val="F7F5F0"/>
                </a:solidFill>
                <a:latin typeface="Fraunces" pitchFamily="34" charset="0"/>
                <a:ea typeface="Fraunces" pitchFamily="34" charset="-122"/>
                <a:cs typeface="Fraunces" pitchFamily="34" charset="-120"/>
              </a:rPr>
              <a:t>Crafting a Global Culture: The Starbucks Storytelling Masterclass</a:t>
            </a:r>
            <a:endParaRPr lang="en-US" sz="2700" dirty="0"/>
          </a:p>
        </p:txBody>
      </p:sp>
      <p:sp>
        <p:nvSpPr>
          <p:cNvPr id="4" name="static"/>
          <p:cNvSpPr txBox="1"/>
          <p:nvPr/>
        </p:nvSpPr>
        <p:spPr>
          <a:xfrm>
            <a:off x="609600" y="2043559"/>
            <a:ext cx="6377940" cy="210443"/>
          </a:xfrm>
          <a:prstGeom prst="rect">
            <a:avLst/>
          </a:prstGeom>
          <a:noFill/>
          <a:ln/>
        </p:spPr>
        <p:txBody>
          <a:bodyPr wrap="none" lIns="0" tIns="0" rIns="0" bIns="0" rtlCol="0" anchor="ctr"/>
          <a:lstStyle/>
          <a:p>
            <a:pPr algn="l" indent="0" marL="0">
              <a:lnSpc>
                <a:spcPts val="1658"/>
              </a:lnSpc>
              <a:buNone/>
            </a:pPr>
            <a:r>
              <a:rPr lang="en-US" sz="1275" dirty="0">
                <a:solidFill>
                  <a:srgbClr val="D4E9E2"/>
                </a:solidFill>
                <a:latin typeface="DM Sans" pitchFamily="34" charset="0"/>
                <a:ea typeface="DM Sans" pitchFamily="34" charset="-122"/>
                <a:cs typeface="DM Sans" pitchFamily="34" charset="-120"/>
              </a:rPr>
              <a:t>How Narrative, Experience, and Identity Built a Multi-Billion Dollar Empire</a:t>
            </a:r>
            <a:endParaRPr lang="en-US" sz="1275" dirty="0"/>
          </a:p>
        </p:txBody>
      </p:sp>
      <p:sp>
        <p:nvSpPr>
          <p:cNvPr id="5" name="b1:pop"/>
          <p:cNvSpPr/>
          <p:nvPr/>
        </p:nvSpPr>
        <p:spPr>
          <a:xfrm>
            <a:off x="7105650" y="419100"/>
            <a:ext cx="1428750" cy="1428750"/>
          </a:xfrm>
          <a:prstGeom prst="roundRect">
            <a:avLst>
              <a:gd name="adj" fmla="val 16667"/>
            </a:avLst>
          </a:prstGeom>
          <a:solidFill>
            <a:srgbClr val="F7F5F0"/>
          </a:solidFill>
          <a:ln/>
          <a:effectLst>
            <a:outerShdw sx="100000" sy="100000" kx="0" ky="0" algn="bl" rotWithShape="0" blurRad="38100" dist="12700" dir="5400000">
              <a:srgbClr val="000000">
                <a:alpha val="12000"/>
              </a:srgbClr>
            </a:outerShdw>
          </a:effectLst>
        </p:spPr>
      </p:sp>
      <p:pic>
        <p:nvPicPr>
          <p:cNvPr id="6" name="b1:pop (Starbucks siren logo)" descr="/home/user/slide-present-en/starbucks-presentation/assets/starbucks-logo.png">    </p:cNvPr>
          <p:cNvPicPr>
            <a:picLocks noChangeAspect="1"/>
          </p:cNvPicPr>
          <p:nvPr/>
        </p:nvPicPr>
        <p:blipFill>
          <a:blip r:embed="rId1"/>
          <a:stretch>
            <a:fillRect/>
          </a:stretch>
        </p:blipFill>
        <p:spPr>
          <a:xfrm>
            <a:off x="7172325" y="485775"/>
            <a:ext cx="1295400" cy="1295400"/>
          </a:xfrm>
          <a:prstGeom prst="rect">
            <a:avLst/>
          </a:prstGeom>
        </p:spPr>
      </p:pic>
      <p:sp>
        <p:nvSpPr>
          <p:cNvPr id="7" name="b2:rise"/>
          <p:cNvSpPr/>
          <p:nvPr/>
        </p:nvSpPr>
        <p:spPr>
          <a:xfrm>
            <a:off x="609600" y="2667000"/>
            <a:ext cx="2538413" cy="1285875"/>
          </a:xfrm>
          <a:prstGeom prst="roundRect">
            <a:avLst>
              <a:gd name="adj" fmla="val 5926"/>
            </a:avLst>
          </a:prstGeom>
          <a:solidFill>
            <a:srgbClr val="FFFFFF"/>
          </a:solidFill>
          <a:ln/>
          <a:effectLst>
            <a:outerShdw sx="100000" sy="100000" kx="0" ky="0" algn="bl" rotWithShape="0" blurRad="38100" dist="12700" dir="5400000">
              <a:srgbClr val="000000">
                <a:alpha val="12000"/>
              </a:srgbClr>
            </a:outerShdw>
          </a:effectLst>
        </p:spPr>
      </p:sp>
      <p:sp>
        <p:nvSpPr>
          <p:cNvPr id="8" name="b2:rise"/>
          <p:cNvSpPr txBox="1"/>
          <p:nvPr/>
        </p:nvSpPr>
        <p:spPr>
          <a:xfrm>
            <a:off x="762000" y="2819400"/>
            <a:ext cx="2412301" cy="319980"/>
          </a:xfrm>
          <a:prstGeom prst="rect">
            <a:avLst/>
          </a:prstGeom>
          <a:noFill/>
          <a:ln/>
        </p:spPr>
        <p:txBody>
          <a:bodyPr wrap="none" lIns="0" tIns="0" rIns="0" bIns="0" rtlCol="0" anchor="ctr"/>
          <a:lstStyle/>
          <a:p>
            <a:pPr algn="l" indent="0" marL="0">
              <a:lnSpc>
                <a:spcPts val="2520"/>
              </a:lnSpc>
              <a:buNone/>
            </a:pPr>
            <a:r>
              <a:rPr lang="en-US" sz="2100" dirty="0">
                <a:solidFill>
                  <a:srgbClr val="F7F5F0"/>
                </a:solidFill>
                <a:latin typeface="DM Sans" pitchFamily="34" charset="0"/>
                <a:ea typeface="DM Sans" pitchFamily="34" charset="-122"/>
                <a:cs typeface="DM Sans" pitchFamily="34" charset="-120"/>
              </a:rPr>
              <a:t>🌿</a:t>
            </a:r>
            <a:endParaRPr lang="en-US" sz="2100" dirty="0"/>
          </a:p>
        </p:txBody>
      </p:sp>
      <p:sp>
        <p:nvSpPr>
          <p:cNvPr id="9" name="b2:rise"/>
          <p:cNvSpPr txBox="1"/>
          <p:nvPr/>
        </p:nvSpPr>
        <p:spPr>
          <a:xfrm>
            <a:off x="762000" y="3187005"/>
            <a:ext cx="2412301"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ORIGINS · 1971</a:t>
            </a:r>
            <a:endParaRPr lang="en-US" sz="900" dirty="0"/>
          </a:p>
        </p:txBody>
      </p:sp>
      <p:sp>
        <p:nvSpPr>
          <p:cNvPr id="10" name="b2:rise"/>
          <p:cNvSpPr txBox="1"/>
          <p:nvPr/>
        </p:nvSpPr>
        <p:spPr>
          <a:xfrm>
            <a:off x="762000" y="3394621"/>
            <a:ext cx="2412301" cy="205680"/>
          </a:xfrm>
          <a:prstGeom prst="rect">
            <a:avLst/>
          </a:prstGeom>
          <a:noFill/>
          <a:ln/>
        </p:spPr>
        <p:txBody>
          <a:bodyPr wrap="none" lIns="0" tIns="0" rIns="0" bIns="0" rtlCol="0" anchor="ctr"/>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Pike Place Market, Seattle</a:t>
            </a:r>
            <a:endParaRPr lang="en-US" sz="1350" dirty="0"/>
          </a:p>
        </p:txBody>
      </p:sp>
      <p:sp>
        <p:nvSpPr>
          <p:cNvPr id="11" name="b3:rise"/>
          <p:cNvSpPr/>
          <p:nvPr/>
        </p:nvSpPr>
        <p:spPr>
          <a:xfrm>
            <a:off x="3300413" y="2667000"/>
            <a:ext cx="2538413" cy="1285875"/>
          </a:xfrm>
          <a:prstGeom prst="roundRect">
            <a:avLst>
              <a:gd name="adj" fmla="val 5926"/>
            </a:avLst>
          </a:prstGeom>
          <a:solidFill>
            <a:srgbClr val="FFFFFF"/>
          </a:solidFill>
          <a:ln/>
          <a:effectLst>
            <a:outerShdw sx="100000" sy="100000" kx="0" ky="0" algn="bl" rotWithShape="0" blurRad="38100" dist="12700" dir="5400000">
              <a:srgbClr val="000000">
                <a:alpha val="12000"/>
              </a:srgbClr>
            </a:outerShdw>
          </a:effectLst>
        </p:spPr>
      </p:sp>
      <p:sp>
        <p:nvSpPr>
          <p:cNvPr id="12" name="b3:rise"/>
          <p:cNvSpPr txBox="1"/>
          <p:nvPr/>
        </p:nvSpPr>
        <p:spPr>
          <a:xfrm>
            <a:off x="3452813" y="2819400"/>
            <a:ext cx="2412301" cy="319980"/>
          </a:xfrm>
          <a:prstGeom prst="rect">
            <a:avLst/>
          </a:prstGeom>
          <a:noFill/>
          <a:ln/>
        </p:spPr>
        <p:txBody>
          <a:bodyPr wrap="none" lIns="0" tIns="0" rIns="0" bIns="0" rtlCol="0" anchor="ctr"/>
          <a:lstStyle/>
          <a:p>
            <a:pPr algn="l" indent="0" marL="0">
              <a:lnSpc>
                <a:spcPts val="2520"/>
              </a:lnSpc>
              <a:buNone/>
            </a:pPr>
            <a:r>
              <a:rPr lang="en-US" sz="2100" dirty="0">
                <a:solidFill>
                  <a:srgbClr val="F7F5F0"/>
                </a:solidFill>
                <a:latin typeface="DM Sans" pitchFamily="34" charset="0"/>
                <a:ea typeface="DM Sans" pitchFamily="34" charset="-122"/>
                <a:cs typeface="DM Sans" pitchFamily="34" charset="-120"/>
              </a:rPr>
              <a:t>☕</a:t>
            </a:r>
            <a:endParaRPr lang="en-US" sz="2100" dirty="0"/>
          </a:p>
        </p:txBody>
      </p:sp>
      <p:sp>
        <p:nvSpPr>
          <p:cNvPr id="13" name="b3:rise"/>
          <p:cNvSpPr txBox="1"/>
          <p:nvPr/>
        </p:nvSpPr>
        <p:spPr>
          <a:xfrm>
            <a:off x="3452813" y="3187005"/>
            <a:ext cx="2412301"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THE PRODUCT</a:t>
            </a:r>
            <a:endParaRPr lang="en-US" sz="900" dirty="0"/>
          </a:p>
        </p:txBody>
      </p:sp>
      <p:sp>
        <p:nvSpPr>
          <p:cNvPr id="14" name="b3:rise"/>
          <p:cNvSpPr txBox="1"/>
          <p:nvPr/>
        </p:nvSpPr>
        <p:spPr>
          <a:xfrm>
            <a:off x="3452813" y="3394621"/>
            <a:ext cx="2322957" cy="411361"/>
          </a:xfrm>
          <a:prstGeom prst="rect">
            <a:avLst/>
          </a:prstGeom>
          <a:noFill/>
          <a:ln/>
        </p:spPr>
        <p:txBody>
          <a:bodyPr wrap="square" lIns="0" tIns="0" rIns="0" bIns="0" rtlCol="0" anchor="t"/>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Whole-Bean Gourmet Coffee</a:t>
            </a:r>
            <a:endParaRPr lang="en-US" sz="1350" dirty="0"/>
          </a:p>
        </p:txBody>
      </p:sp>
      <p:sp>
        <p:nvSpPr>
          <p:cNvPr id="15" name="b4:rise"/>
          <p:cNvSpPr/>
          <p:nvPr/>
        </p:nvSpPr>
        <p:spPr>
          <a:xfrm>
            <a:off x="5991225" y="2667000"/>
            <a:ext cx="2543175" cy="1285875"/>
          </a:xfrm>
          <a:prstGeom prst="roundRect">
            <a:avLst>
              <a:gd name="adj" fmla="val 5926"/>
            </a:avLst>
          </a:prstGeom>
          <a:solidFill>
            <a:srgbClr val="FFFFFF"/>
          </a:solidFill>
          <a:ln/>
          <a:effectLst>
            <a:outerShdw sx="100000" sy="100000" kx="0" ky="0" algn="bl" rotWithShape="0" blurRad="38100" dist="12700" dir="5400000">
              <a:srgbClr val="000000">
                <a:alpha val="12000"/>
              </a:srgbClr>
            </a:outerShdw>
          </a:effectLst>
        </p:spPr>
      </p:sp>
      <p:sp>
        <p:nvSpPr>
          <p:cNvPr id="16" name="b4:rise"/>
          <p:cNvSpPr txBox="1"/>
          <p:nvPr/>
        </p:nvSpPr>
        <p:spPr>
          <a:xfrm>
            <a:off x="6143625" y="2819400"/>
            <a:ext cx="2417445" cy="319980"/>
          </a:xfrm>
          <a:prstGeom prst="rect">
            <a:avLst/>
          </a:prstGeom>
          <a:noFill/>
          <a:ln/>
        </p:spPr>
        <p:txBody>
          <a:bodyPr wrap="none" lIns="0" tIns="0" rIns="0" bIns="0" rtlCol="0" anchor="ctr"/>
          <a:lstStyle/>
          <a:p>
            <a:pPr algn="l" indent="0" marL="0">
              <a:lnSpc>
                <a:spcPts val="2520"/>
              </a:lnSpc>
              <a:buNone/>
            </a:pPr>
            <a:r>
              <a:rPr lang="en-US" sz="2100" dirty="0">
                <a:solidFill>
                  <a:srgbClr val="F7F5F0"/>
                </a:solidFill>
                <a:latin typeface="DM Sans" pitchFamily="34" charset="0"/>
                <a:ea typeface="DM Sans" pitchFamily="34" charset="-122"/>
                <a:cs typeface="DM Sans" pitchFamily="34" charset="-120"/>
              </a:rPr>
              <a:t>🧜‍♀️</a:t>
            </a:r>
            <a:endParaRPr lang="en-US" sz="2100" dirty="0"/>
          </a:p>
        </p:txBody>
      </p:sp>
      <p:sp>
        <p:nvSpPr>
          <p:cNvPr id="17" name="b4:rise"/>
          <p:cNvSpPr txBox="1"/>
          <p:nvPr/>
        </p:nvSpPr>
        <p:spPr>
          <a:xfrm>
            <a:off x="6143625" y="3187005"/>
            <a:ext cx="2417445"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THE SYMBOL</a:t>
            </a:r>
            <a:endParaRPr lang="en-US" sz="900" dirty="0"/>
          </a:p>
        </p:txBody>
      </p:sp>
      <p:sp>
        <p:nvSpPr>
          <p:cNvPr id="18" name="b4:rise"/>
          <p:cNvSpPr txBox="1"/>
          <p:nvPr/>
        </p:nvSpPr>
        <p:spPr>
          <a:xfrm>
            <a:off x="6143625" y="3394621"/>
            <a:ext cx="2327910" cy="411361"/>
          </a:xfrm>
          <a:prstGeom prst="rect">
            <a:avLst/>
          </a:prstGeom>
          <a:noFill/>
          <a:ln/>
        </p:spPr>
        <p:txBody>
          <a:bodyPr wrap="square" lIns="0" tIns="0" rIns="0" bIns="0" rtlCol="0" anchor="t"/>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The Norse Twin-Tailed Siren</a:t>
            </a:r>
            <a:endParaRPr lang="en-US" sz="1350" dirty="0"/>
          </a:p>
        </p:txBody>
      </p:sp>
      <p:sp>
        <p:nvSpPr>
          <p:cNvPr id="19" name="b5:fade"/>
          <p:cNvSpPr txBox="1"/>
          <p:nvPr/>
        </p:nvSpPr>
        <p:spPr>
          <a:xfrm>
            <a:off x="609600" y="4137645"/>
            <a:ext cx="379012"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CBA258"/>
                </a:solidFill>
                <a:latin typeface="DM Sans" pitchFamily="34" charset="0"/>
                <a:ea typeface="DM Sans" pitchFamily="34" charset="-122"/>
                <a:cs typeface="DM Sans" pitchFamily="34" charset="-120"/>
              </a:rPr>
              <a:t>NEXT</a:t>
            </a:r>
            <a:endParaRPr lang="en-US" sz="900" dirty="0"/>
          </a:p>
        </p:txBody>
      </p:sp>
      <p:sp>
        <p:nvSpPr>
          <p:cNvPr id="20" name="b5:fade"/>
          <p:cNvSpPr txBox="1"/>
          <p:nvPr/>
        </p:nvSpPr>
        <p:spPr>
          <a:xfrm>
            <a:off x="1055787" y="4124325"/>
            <a:ext cx="6204668" cy="186630"/>
          </a:xfrm>
          <a:prstGeom prst="rect">
            <a:avLst/>
          </a:prstGeom>
          <a:noFill/>
          <a:ln/>
        </p:spPr>
        <p:txBody>
          <a:bodyPr wrap="none" lIns="0" tIns="0" rIns="0" bIns="0" rtlCol="0" anchor="ctr"/>
          <a:lstStyle/>
          <a:p>
            <a:pPr algn="l" indent="0" marL="0">
              <a:lnSpc>
                <a:spcPts val="1470"/>
              </a:lnSpc>
              <a:buNone/>
            </a:pPr>
            <a:r>
              <a:rPr lang="en-US" sz="1050" i="1" dirty="0">
                <a:solidFill>
                  <a:srgbClr val="F7F5F0"/>
                </a:solidFill>
                <a:latin typeface="DM Sans" pitchFamily="34" charset="0"/>
                <a:ea typeface="DM Sans" pitchFamily="34" charset="-122"/>
                <a:cs typeface="DM Sans" pitchFamily="34" charset="-120"/>
              </a:rPr>
              <a:t>Now, let's look at where it all began in </a:t>
            </a:r>
            <a:pPr algn="l" indent="0" marL="0">
              <a:lnSpc>
                <a:spcPts val="1470"/>
              </a:lnSpc>
              <a:buNone/>
            </a:pPr>
            <a:r>
              <a:rPr lang="en-US" sz="1050" b="1" i="1" dirty="0">
                <a:solidFill>
                  <a:srgbClr val="CBA258"/>
                </a:solidFill>
                <a:latin typeface="DM Sans" pitchFamily="34" charset="0"/>
                <a:ea typeface="DM Sans" pitchFamily="34" charset="-122"/>
                <a:cs typeface="DM Sans" pitchFamily="34" charset="-120"/>
              </a:rPr>
              <a:t>1971</a:t>
            </a:r>
            <a:pPr algn="l" indent="0" marL="0">
              <a:lnSpc>
                <a:spcPts val="1470"/>
              </a:lnSpc>
              <a:buNone/>
            </a:pPr>
            <a:r>
              <a:rPr lang="en-US" sz="1050" i="1" dirty="0">
                <a:solidFill>
                  <a:srgbClr val="F7F5F0"/>
                </a:solidFill>
                <a:latin typeface="DM Sans" pitchFamily="34" charset="0"/>
                <a:ea typeface="DM Sans" pitchFamily="34" charset="-122"/>
                <a:cs typeface="DM Sans" pitchFamily="34" charset="-120"/>
              </a:rPr>
              <a:t>…</a:t>
            </a:r>
            <a:endParaRPr lang="en-US" sz="1050" dirty="0"/>
          </a:p>
        </p:txBody>
      </p:sp>
      <p:sp>
        <p:nvSpPr>
          <p:cNvPr id="21" name="!!key1-1"/>
          <p:cNvSpPr/>
          <p:nvPr/>
        </p:nvSpPr>
        <p:spPr>
          <a:xfrm>
            <a:off x="6438900" y="4572000"/>
            <a:ext cx="2095500" cy="255240"/>
          </a:xfrm>
          <a:prstGeom prst="roundRect">
            <a:avLst>
              <a:gd name="adj" fmla="val 50000"/>
            </a:avLst>
          </a:prstGeom>
          <a:solidFill>
            <a:srgbClr val="CBA258"/>
          </a:solidFill>
          <a:ln/>
        </p:spPr>
      </p:sp>
      <p:sp>
        <p:nvSpPr>
          <p:cNvPr id="22" name="!!key1-2"/>
          <p:cNvSpPr txBox="1"/>
          <p:nvPr/>
        </p:nvSpPr>
        <p:spPr>
          <a:xfrm>
            <a:off x="6438900" y="45720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1971 · Pike Place, Seattle</a:t>
            </a:r>
            <a:endParaRPr lang="en-US" sz="900" dirty="0"/>
          </a:p>
        </p:txBody>
      </p:sp>
      <p:sp>
        <p:nvSpPr>
          <p:cNvPr id="23" name="static"/>
          <p:cNvSpPr txBox="1"/>
          <p:nvPr/>
        </p:nvSpPr>
        <p:spPr>
          <a:xfrm>
            <a:off x="609600" y="4678710"/>
            <a:ext cx="2275433" cy="159990"/>
          </a:xfrm>
          <a:prstGeom prst="rect">
            <a:avLst/>
          </a:prstGeom>
          <a:noFill/>
          <a:ln/>
        </p:spPr>
        <p:txBody>
          <a:bodyPr wrap="none" lIns="0" tIns="0" rIns="0" bIns="0" rtlCol="0" anchor="ctr"/>
          <a:lstStyle/>
          <a:p>
            <a:pPr algn="l" indent="0" marL="0">
              <a:lnSpc>
                <a:spcPts val="1260"/>
              </a:lnSpc>
              <a:buNone/>
            </a:pPr>
            <a:r>
              <a:rPr lang="en-US" sz="900" dirty="0">
                <a:solidFill>
                  <a:srgbClr val="D4E9E2"/>
                </a:solidFill>
                <a:latin typeface="DM Sans" pitchFamily="34" charset="0"/>
                <a:ea typeface="DM Sans" pitchFamily="34" charset="-122"/>
                <a:cs typeface="DM Sans" pitchFamily="34" charset="-120"/>
              </a:rPr>
              <a:t>Slide 1 of 8 · Part 1 · The Foundation &amp; Origin</a:t>
            </a:r>
            <a:endParaRPr lang="en-US" sz="900" dirty="0"/>
          </a:p>
        </p:txBody>
      </p:sp>
      <p:sp>
        <p:nvSpPr>
          <p:cNvPr id="24" name="static"/>
          <p:cNvSpPr/>
          <p:nvPr/>
        </p:nvSpPr>
        <p:spPr>
          <a:xfrm>
            <a:off x="3075533" y="4730130"/>
            <a:ext cx="171450" cy="57150"/>
          </a:xfrm>
          <a:prstGeom prst="roundRect">
            <a:avLst>
              <a:gd name="adj" fmla="val 50000"/>
            </a:avLst>
          </a:prstGeom>
          <a:solidFill>
            <a:srgbClr val="CBA258"/>
          </a:solidFill>
          <a:ln/>
        </p:spPr>
      </p:sp>
      <p:sp>
        <p:nvSpPr>
          <p:cNvPr id="25" name="static"/>
          <p:cNvSpPr/>
          <p:nvPr/>
        </p:nvSpPr>
        <p:spPr>
          <a:xfrm>
            <a:off x="3294608" y="4730130"/>
            <a:ext cx="57150" cy="57150"/>
          </a:xfrm>
          <a:prstGeom prst="roundRect">
            <a:avLst>
              <a:gd name="adj" fmla="val 50000"/>
            </a:avLst>
          </a:prstGeom>
          <a:solidFill>
            <a:srgbClr val="2E7D5F"/>
          </a:solidFill>
          <a:ln/>
        </p:spPr>
      </p:sp>
      <p:sp>
        <p:nvSpPr>
          <p:cNvPr id="26" name="static"/>
          <p:cNvSpPr/>
          <p:nvPr/>
        </p:nvSpPr>
        <p:spPr>
          <a:xfrm>
            <a:off x="3399383" y="4730130"/>
            <a:ext cx="57150" cy="57150"/>
          </a:xfrm>
          <a:prstGeom prst="roundRect">
            <a:avLst>
              <a:gd name="adj" fmla="val 50000"/>
            </a:avLst>
          </a:prstGeom>
          <a:solidFill>
            <a:srgbClr val="2E7D5F"/>
          </a:solidFill>
          <a:ln/>
        </p:spPr>
      </p:sp>
      <p:sp>
        <p:nvSpPr>
          <p:cNvPr id="27" name="static"/>
          <p:cNvSpPr/>
          <p:nvPr/>
        </p:nvSpPr>
        <p:spPr>
          <a:xfrm>
            <a:off x="3504158" y="4730130"/>
            <a:ext cx="57150" cy="57150"/>
          </a:xfrm>
          <a:prstGeom prst="roundRect">
            <a:avLst>
              <a:gd name="adj" fmla="val 50000"/>
            </a:avLst>
          </a:prstGeom>
          <a:solidFill>
            <a:srgbClr val="2E7D5F"/>
          </a:solidFill>
          <a:ln/>
        </p:spPr>
      </p:sp>
      <p:sp>
        <p:nvSpPr>
          <p:cNvPr id="28" name="static"/>
          <p:cNvSpPr/>
          <p:nvPr/>
        </p:nvSpPr>
        <p:spPr>
          <a:xfrm>
            <a:off x="3608933" y="4730130"/>
            <a:ext cx="57150" cy="57150"/>
          </a:xfrm>
          <a:prstGeom prst="roundRect">
            <a:avLst>
              <a:gd name="adj" fmla="val 50000"/>
            </a:avLst>
          </a:prstGeom>
          <a:solidFill>
            <a:srgbClr val="2E7D5F"/>
          </a:solidFill>
          <a:ln/>
        </p:spPr>
      </p:sp>
      <p:sp>
        <p:nvSpPr>
          <p:cNvPr id="29" name="static"/>
          <p:cNvSpPr/>
          <p:nvPr/>
        </p:nvSpPr>
        <p:spPr>
          <a:xfrm>
            <a:off x="3713708" y="4730130"/>
            <a:ext cx="57150" cy="57150"/>
          </a:xfrm>
          <a:prstGeom prst="roundRect">
            <a:avLst>
              <a:gd name="adj" fmla="val 50000"/>
            </a:avLst>
          </a:prstGeom>
          <a:solidFill>
            <a:srgbClr val="2E7D5F"/>
          </a:solidFill>
          <a:ln/>
        </p:spPr>
      </p:sp>
      <p:sp>
        <p:nvSpPr>
          <p:cNvPr id="30" name="static"/>
          <p:cNvSpPr/>
          <p:nvPr/>
        </p:nvSpPr>
        <p:spPr>
          <a:xfrm>
            <a:off x="3818483" y="4730130"/>
            <a:ext cx="57150" cy="57150"/>
          </a:xfrm>
          <a:prstGeom prst="roundRect">
            <a:avLst>
              <a:gd name="adj" fmla="val 50000"/>
            </a:avLst>
          </a:prstGeom>
          <a:solidFill>
            <a:srgbClr val="2E7D5F"/>
          </a:solidFill>
          <a:ln/>
        </p:spPr>
      </p:sp>
      <p:sp>
        <p:nvSpPr>
          <p:cNvPr id="31" name="static"/>
          <p:cNvSpPr/>
          <p:nvPr/>
        </p:nvSpPr>
        <p:spPr>
          <a:xfrm>
            <a:off x="3923258" y="4730130"/>
            <a:ext cx="57150" cy="57150"/>
          </a:xfrm>
          <a:prstGeom prst="roundRect">
            <a:avLst>
              <a:gd name="adj" fmla="val 50000"/>
            </a:avLst>
          </a:prstGeom>
          <a:solidFill>
            <a:srgbClr val="2E7D5F"/>
          </a:solidFill>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11" fill="hold">
                      <p:stCondLst>
                        <p:cond delay="indefinite"/>
                      </p:stCondLst>
                      <p:childTnLst>
                        <p:par>
                          <p:cTn id="12" fill="hold">
                            <p:stCondLst>
                              <p:cond delay="0"/>
                            </p:stCondLst>
                            <p:childTnLst>
                              <p:par>
                                <p:cTn id="3" presetID="23" presetClass="entr" presetSubtype="16"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Scale>
                                      <p:cBhvr>
                                        <p:cTn id="5" dur="500" fill="hold"/>
                                        <p:tgtEl>
                                          <p:spTgt spid="5"/>
                                        </p:tgtEl>
                                      </p:cBhvr>
                                      <p:from x="0" y="0"/>
                                      <p:to x="100000" y="100000"/>
                                    </p:animScale>
                                    <p:animEffect transition="in" filter="fade">
                                      <p:cBhvr>
                                        <p:cTn id="6" dur="500"/>
                                        <p:tgtEl>
                                          <p:spTgt spid="5"/>
                                        </p:tgtEl>
                                      </p:cBhvr>
                                    </p:animEffect>
                                  </p:childTnLst>
                                </p:cTn>
                              </p:par>
                              <p:par>
                                <p:cTn id="7" presetID="23" presetClass="entr" presetSubtype="16"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animScale>
                                      <p:cBhvr>
                                        <p:cTn id="9" dur="500" fill="hold"/>
                                        <p:tgtEl>
                                          <p:spTgt spid="6"/>
                                        </p:tgtEl>
                                      </p:cBhvr>
                                      <p:from x="0" y="0"/>
                                      <p:to x="100000" y="100000"/>
                                    </p:animScale>
                                    <p:animEffect transition="in" filter="fade">
                                      <p:cBhvr>
                                        <p:cTn id="10" dur="500"/>
                                        <p:tgtEl>
                                          <p:spTgt spid="6"/>
                                        </p:tgtEl>
                                      </p:cBhvr>
                                    </p:animEffect>
                                  </p:childTnLst>
                                </p:cTn>
                              </p:par>
                            </p:childTnLst>
                          </p:cTn>
                        </p:par>
                      </p:childTnLst>
                    </p:cTn>
                  </p:par>
                  <p:par>
                    <p:cTn id="29" fill="hold">
                      <p:stCondLst>
                        <p:cond delay="indefinite"/>
                      </p:stCondLst>
                      <p:childTnLst>
                        <p:par>
                          <p:cTn id="30" fill="hold">
                            <p:stCondLst>
                              <p:cond delay="0"/>
                            </p:stCondLst>
                            <p:childTnLst>
                              <p:par>
                                <p:cTn id="13" presetID="42"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700"/>
                                        <p:tgtEl>
                                          <p:spTgt spid="7"/>
                                        </p:tgtEl>
                                      </p:cBhvr>
                                    </p:animEffect>
                                    <p:anim calcmode="lin" valueType="num">
                                      <p:cBhvr additive="base">
                                        <p:cTn id="16" dur="700" fill="hold"/>
                                        <p:tgtEl>
                                          <p:spTgt spid="7"/>
                                        </p:tgtEl>
                                        <p:attrNameLst>
                                          <p:attrName>ppt_y</p:attrName>
                                        </p:attrNameLst>
                                      </p:cBhvr>
                                      <p:tavLst>
                                        <p:tav tm="0">
                                          <p:val>
                                            <p:strVal val="#ppt_y+.0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700" fill="hold"/>
                                        <p:tgtEl>
                                          <p:spTgt spid="8"/>
                                        </p:tgtEl>
                                        <p:attrNameLst>
                                          <p:attrName>ppt_y</p:attrName>
                                        </p:attrNameLst>
                                      </p:cBhvr>
                                      <p:tavLst>
                                        <p:tav tm="0">
                                          <p:val>
                                            <p:strVal val="#ppt_y+.08"/>
                                          </p:val>
                                        </p:tav>
                                        <p:tav tm="100000">
                                          <p:val>
                                            <p:strVal val="#ppt_y"/>
                                          </p:val>
                                        </p:tav>
                                      </p:tavLst>
                                    </p:anim>
                                  </p:childTnLst>
                                </p:cTn>
                              </p:par>
                              <p:par>
                                <p:cTn id="21" presetID="42"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700"/>
                                        <p:tgtEl>
                                          <p:spTgt spid="9"/>
                                        </p:tgtEl>
                                      </p:cBhvr>
                                    </p:animEffect>
                                    <p:anim calcmode="lin" valueType="num">
                                      <p:cBhvr additive="base">
                                        <p:cTn id="24" dur="700" fill="hold"/>
                                        <p:tgtEl>
                                          <p:spTgt spid="9"/>
                                        </p:tgtEl>
                                        <p:attrNameLst>
                                          <p:attrName>ppt_y</p:attrName>
                                        </p:attrNameLst>
                                      </p:cBhvr>
                                      <p:tavLst>
                                        <p:tav tm="0">
                                          <p:val>
                                            <p:strVal val="#ppt_y+.08"/>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8"/>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8"/>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49" presetID="42" presetClass="entr" presetSubtype="0" fill="hold" grpId="0" nodeType="click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700"/>
                                        <p:tgtEl>
                                          <p:spTgt spid="15"/>
                                        </p:tgtEl>
                                      </p:cBhvr>
                                    </p:animEffect>
                                    <p:anim calcmode="lin" valueType="num">
                                      <p:cBhvr additive="base">
                                        <p:cTn id="52" dur="700" fill="hold"/>
                                        <p:tgtEl>
                                          <p:spTgt spid="15"/>
                                        </p:tgtEl>
                                        <p:attrNameLst>
                                          <p:attrName>ppt_y</p:attrName>
                                        </p:attrNameLst>
                                      </p:cBhvr>
                                      <p:tavLst>
                                        <p:tav tm="0">
                                          <p:val>
                                            <p:strVal val="#ppt_y+.08"/>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700"/>
                                        <p:tgtEl>
                                          <p:spTgt spid="16"/>
                                        </p:tgtEl>
                                      </p:cBhvr>
                                    </p:animEffect>
                                    <p:anim calcmode="lin" valueType="num">
                                      <p:cBhvr additive="base">
                                        <p:cTn id="56" dur="700" fill="hold"/>
                                        <p:tgtEl>
                                          <p:spTgt spid="16"/>
                                        </p:tgtEl>
                                        <p:attrNameLst>
                                          <p:attrName>ppt_y</p:attrName>
                                        </p:attrNameLst>
                                      </p:cBhvr>
                                      <p:tavLst>
                                        <p:tav tm="0">
                                          <p:val>
                                            <p:strVal val="#ppt_y+.08"/>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700"/>
                                        <p:tgtEl>
                                          <p:spTgt spid="17"/>
                                        </p:tgtEl>
                                      </p:cBhvr>
                                    </p:animEffect>
                                    <p:anim calcmode="lin" valueType="num">
                                      <p:cBhvr additive="base">
                                        <p:cTn id="60" dur="700" fill="hold"/>
                                        <p:tgtEl>
                                          <p:spTgt spid="17"/>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700"/>
                                        <p:tgtEl>
                                          <p:spTgt spid="18"/>
                                        </p:tgtEl>
                                      </p:cBhvr>
                                    </p:animEffect>
                                    <p:anim calcmode="lin" valueType="num">
                                      <p:cBhvr additive="base">
                                        <p:cTn id="64" dur="700" fill="hold"/>
                                        <p:tgtEl>
                                          <p:spTgt spid="18"/>
                                        </p:tgtEl>
                                        <p:attrNameLst>
                                          <p:attrName>ppt_y</p:attrName>
                                        </p:attrNameLst>
                                      </p:cBhvr>
                                      <p:tavLst>
                                        <p:tav tm="0">
                                          <p:val>
                                            <p:strVal val="#ppt_y+.08"/>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19"/>
                                        </p:tgtEl>
                                        <p:attrNameLst>
                                          <p:attrName>style.visibility</p:attrName>
                                        </p:attrNameLst>
                                      </p:cBhvr>
                                      <p:to>
                                        <p:strVal val="visible"/>
                                      </p:to>
                                    </p:set>
                                    <p:animEffect transition="in" filter="fade">
                                      <p:cBhvr>
                                        <p:cTn id="69" dur="500"/>
                                        <p:tgtEl>
                                          <p:spTgt spid="1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0"/>
                                        </p:tgtEl>
                                        <p:attrNameLst>
                                          <p:attrName>style.visibility</p:attrName>
                                        </p:attrNameLst>
                                      </p:cBhvr>
                                      <p:to>
                                        <p:strVal val="visible"/>
                                      </p:to>
                                    </p:set>
                                    <p:animEffect transition="in" filter="fade">
                                      <p:cBhvr>
                                        <p:cTn id="72" dur="500"/>
                                        <p:tgtEl>
                                          <p:spTgt spid="20"/>
                                        </p:tgtEl>
                                      </p:cBhvr>
                                    </p:animEffect>
                                  </p:childTnLst>
                                </p:cTn>
                              </p:par>
                            </p:childTnLst>
                          </p:cTn>
                        </p:par>
                      </p:childTnLst>
                    </p:cTn>
                  </p:par>
                  <p:par>
                    <p:cTn id="83" fill="hold">
                      <p:stCondLst>
                        <p:cond delay="indefinite"/>
                      </p:stCondLst>
                      <p:childTnLst>
                        <p:par>
                          <p:cTn id="84" fill="hold">
                            <p:stCondLst>
                              <p:cond delay="0"/>
                            </p:stCondLst>
                            <p:childTnLst>
                              <p:par>
                                <p:cTn id="75" presetID="23" presetClass="entr" presetSubtype="16" fill="hold" grpId="0" nodeType="clickEffect">
                                  <p:stCondLst>
                                    <p:cond delay="0"/>
                                  </p:stCondLst>
                                  <p:childTnLst>
                                    <p:set>
                                      <p:cBhvr>
                                        <p:cTn id="76" dur="1" fill="hold">
                                          <p:stCondLst>
                                            <p:cond delay="0"/>
                                          </p:stCondLst>
                                        </p:cTn>
                                        <p:tgtEl>
                                          <p:spTgt spid="21"/>
                                        </p:tgtEl>
                                        <p:attrNameLst>
                                          <p:attrName>style.visibility</p:attrName>
                                        </p:attrNameLst>
                                      </p:cBhvr>
                                      <p:to>
                                        <p:strVal val="visible"/>
                                      </p:to>
                                    </p:set>
                                    <p:animScale>
                                      <p:cBhvr>
                                        <p:cTn id="77" dur="500" fill="hold"/>
                                        <p:tgtEl>
                                          <p:spTgt spid="21"/>
                                        </p:tgtEl>
                                      </p:cBhvr>
                                      <p:from x="0" y="0"/>
                                      <p:to x="100000" y="100000"/>
                                    </p:animScale>
                                    <p:animEffect transition="in" filter="fade">
                                      <p:cBhvr>
                                        <p:cTn id="78" dur="500"/>
                                        <p:tgtEl>
                                          <p:spTgt spid="21"/>
                                        </p:tgtEl>
                                      </p:cBhvr>
                                    </p:animEffect>
                                  </p:childTnLst>
                                </p:cTn>
                              </p:par>
                              <p:par>
                                <p:cTn id="79" presetID="23" presetClass="entr" presetSubtype="16" fill="hold" grpId="0" nodeType="withEffect">
                                  <p:stCondLst>
                                    <p:cond delay="0"/>
                                  </p:stCondLst>
                                  <p:childTnLst>
                                    <p:set>
                                      <p:cBhvr>
                                        <p:cTn id="80" dur="1" fill="hold">
                                          <p:stCondLst>
                                            <p:cond delay="0"/>
                                          </p:stCondLst>
                                        </p:cTn>
                                        <p:tgtEl>
                                          <p:spTgt spid="22"/>
                                        </p:tgtEl>
                                        <p:attrNameLst>
                                          <p:attrName>style.visibility</p:attrName>
                                        </p:attrNameLst>
                                      </p:cBhvr>
                                      <p:to>
                                        <p:strVal val="visible"/>
                                      </p:to>
                                    </p:set>
                                    <p:animScale>
                                      <p:cBhvr>
                                        <p:cTn id="81" dur="500" fill="hold"/>
                                        <p:tgtEl>
                                          <p:spTgt spid="22"/>
                                        </p:tgtEl>
                                      </p:cBhvr>
                                      <p:from x="0" y="0"/>
                                      <p:to x="100000" y="100000"/>
                                    </p:animScale>
                                    <p:animEffect transition="in" filter="fade">
                                      <p:cBhvr>
                                        <p:cTn id="8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35235"/>
          </a:xfrm>
          <a:prstGeom prst="rect">
            <a:avLst/>
          </a:prstGeom>
          <a:noFill/>
          <a:ln/>
        </p:spPr>
        <p:txBody>
          <a:bodyPr wrap="none" lIns="0" tIns="0" rIns="0" bIns="0" rtlCol="0" anchor="ctr"/>
          <a:lstStyle/>
          <a:p>
            <a:pPr algn="l" indent="0" marL="0">
              <a:lnSpc>
                <a:spcPts val="2640"/>
              </a:lnSpc>
              <a:buNone/>
            </a:pPr>
            <a:r>
              <a:rPr lang="en-US" sz="2400" b="1" dirty="0">
                <a:solidFill>
                  <a:srgbClr val="191919"/>
                </a:solidFill>
                <a:latin typeface="Fraunces" pitchFamily="34" charset="0"/>
                <a:ea typeface="Fraunces" pitchFamily="34" charset="-122"/>
                <a:cs typeface="Fraunces" pitchFamily="34" charset="-120"/>
              </a:rPr>
              <a:t>Chapter 1: Coffee Beans &amp; Seattle Roots</a:t>
            </a:r>
            <a:endParaRPr lang="en-US" sz="2400" dirty="0"/>
          </a:p>
        </p:txBody>
      </p:sp>
      <p:sp>
        <p:nvSpPr>
          <p:cNvPr id="3" name="static"/>
          <p:cNvSpPr txBox="1"/>
          <p:nvPr/>
        </p:nvSpPr>
        <p:spPr>
          <a:xfrm>
            <a:off x="609600" y="1211535"/>
            <a:ext cx="6686550" cy="210443"/>
          </a:xfrm>
          <a:prstGeom prst="rect">
            <a:avLst/>
          </a:prstGeom>
          <a:noFill/>
          <a:ln/>
        </p:spPr>
        <p:txBody>
          <a:bodyPr wrap="none" lIns="0" tIns="0" rIns="0" bIns="0" rtlCol="0" anchor="ctr"/>
          <a:lstStyle/>
          <a:p>
            <a:pPr algn="l" indent="0" marL="0">
              <a:lnSpc>
                <a:spcPts val="1658"/>
              </a:lnSpc>
              <a:buNone/>
            </a:pPr>
            <a:r>
              <a:rPr lang="en-US" sz="1275" dirty="0">
                <a:solidFill>
                  <a:srgbClr val="3A3A36"/>
                </a:solidFill>
                <a:latin typeface="DM Sans" pitchFamily="34" charset="0"/>
                <a:ea typeface="DM Sans" pitchFamily="34" charset="-122"/>
                <a:cs typeface="DM Sans" pitchFamily="34" charset="-120"/>
              </a:rPr>
              <a:t>Before the Lattes: A High-End Bean &amp; Spice Retailer</a:t>
            </a:r>
            <a:endParaRPr lang="en-US" sz="1275" dirty="0"/>
          </a:p>
        </p:txBody>
      </p:sp>
      <p:sp>
        <p:nvSpPr>
          <p:cNvPr id="4" name="static"/>
          <p:cNvSpPr txBox="1"/>
          <p:nvPr/>
        </p:nvSpPr>
        <p:spPr>
          <a:xfrm>
            <a:off x="609600" y="457200"/>
            <a:ext cx="411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006241"/>
                </a:solidFill>
                <a:latin typeface="DM Sans" pitchFamily="34" charset="0"/>
                <a:ea typeface="DM Sans" pitchFamily="34" charset="-122"/>
                <a:cs typeface="DM Sans" pitchFamily="34" charset="-120"/>
              </a:rPr>
              <a:t>PART 1 · THE FOUNDATION &amp; ORIGIN</a:t>
            </a:r>
            <a:endParaRPr lang="en-US" sz="900" dirty="0"/>
          </a:p>
        </p:txBody>
      </p:sp>
      <p:sp>
        <p:nvSpPr>
          <p:cNvPr id="5" name="!!key1-1"/>
          <p:cNvSpPr/>
          <p:nvPr/>
        </p:nvSpPr>
        <p:spPr>
          <a:xfrm>
            <a:off x="6438900" y="419100"/>
            <a:ext cx="2095500" cy="255240"/>
          </a:xfrm>
          <a:prstGeom prst="roundRect">
            <a:avLst>
              <a:gd name="adj" fmla="val 50000"/>
            </a:avLst>
          </a:prstGeom>
          <a:solidFill>
            <a:srgbClr val="CBA258"/>
          </a:solidFill>
          <a:ln/>
        </p:spPr>
      </p:sp>
      <p:sp>
        <p:nvSpPr>
          <p:cNvPr id="6" name="!!key1-2"/>
          <p:cNvSpPr txBox="1"/>
          <p:nvPr/>
        </p:nvSpPr>
        <p:spPr>
          <a:xfrm>
            <a:off x="6438900" y="4191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1971 · Pike Place, Seattle</a:t>
            </a:r>
            <a:endParaRPr lang="en-US" sz="900" dirty="0"/>
          </a:p>
        </p:txBody>
      </p:sp>
      <p:sp>
        <p:nvSpPr>
          <p:cNvPr id="7" name="b1:rise"/>
          <p:cNvSpPr/>
          <p:nvPr/>
        </p:nvSpPr>
        <p:spPr>
          <a:xfrm>
            <a:off x="609600" y="1676400"/>
            <a:ext cx="3848100" cy="1952625"/>
          </a:xfrm>
          <a:prstGeom prst="roundRect">
            <a:avLst>
              <a:gd name="adj" fmla="val 3902"/>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8" name="b1:rise"/>
          <p:cNvSpPr/>
          <p:nvPr/>
        </p:nvSpPr>
        <p:spPr>
          <a:xfrm>
            <a:off x="804862" y="1871663"/>
            <a:ext cx="266700" cy="266700"/>
          </a:xfrm>
          <a:prstGeom prst="roundRect">
            <a:avLst>
              <a:gd name="adj" fmla="val 21429"/>
            </a:avLst>
          </a:prstGeom>
          <a:solidFill>
            <a:srgbClr val="D4E9E2"/>
          </a:solidFill>
          <a:ln/>
        </p:spPr>
      </p:sp>
      <p:pic>
        <p:nvPicPr>
          <p:cNvPr id="9" name="b1:rise icon Users" descr="preencoded.png">    </p:cNvPr>
          <p:cNvPicPr>
            <a:picLocks noChangeAspect="1"/>
          </p:cNvPicPr>
          <p:nvPr/>
        </p:nvPicPr>
        <p:blipFill>
          <a:blip r:embed="rId1"/>
          <a:stretch>
            <a:fillRect/>
          </a:stretch>
        </p:blipFill>
        <p:spPr>
          <a:xfrm>
            <a:off x="866775" y="1933575"/>
            <a:ext cx="142875" cy="142875"/>
          </a:xfrm>
          <a:prstGeom prst="rect">
            <a:avLst/>
          </a:prstGeom>
        </p:spPr>
      </p:pic>
      <p:sp>
        <p:nvSpPr>
          <p:cNvPr id="10" name="b1:rise"/>
          <p:cNvSpPr txBox="1"/>
          <p:nvPr/>
        </p:nvSpPr>
        <p:spPr>
          <a:xfrm>
            <a:off x="1147763" y="1925017"/>
            <a:ext cx="1805047"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THE FOUNDERS &amp; MISSION</a:t>
            </a:r>
            <a:endParaRPr lang="en-US" sz="900" dirty="0"/>
          </a:p>
        </p:txBody>
      </p:sp>
      <p:sp>
        <p:nvSpPr>
          <p:cNvPr id="11" name="b1:rise"/>
          <p:cNvSpPr txBox="1"/>
          <p:nvPr/>
        </p:nvSpPr>
        <p:spPr>
          <a:xfrm>
            <a:off x="804862" y="2233612"/>
            <a:ext cx="3734181" cy="159990"/>
          </a:xfrm>
          <a:prstGeom prst="rect">
            <a:avLst/>
          </a:prstGeom>
          <a:noFill/>
          <a:ln/>
        </p:spPr>
        <p:txBody>
          <a:bodyPr wrap="none" lIns="0" tIns="0" rIns="0" bIns="0" rtlCol="0" anchor="ctr"/>
          <a:lstStyle/>
          <a:p>
            <a:pPr algn="l" indent="0" marL="0">
              <a:lnSpc>
                <a:spcPts val="1260"/>
              </a:lnSpc>
              <a:buNone/>
            </a:pPr>
            <a:r>
              <a:rPr lang="en-US" sz="900" spc="75" kern="0" dirty="0">
                <a:solidFill>
                  <a:srgbClr val="6B6A63"/>
                </a:solidFill>
                <a:latin typeface="DM Sans" pitchFamily="34" charset="0"/>
                <a:ea typeface="DM Sans" pitchFamily="34" charset="-122"/>
                <a:cs typeface="DM Sans" pitchFamily="34" charset="-120"/>
              </a:rPr>
              <a:t>FOUNDED BY</a:t>
            </a:r>
            <a:endParaRPr lang="en-US" sz="900" dirty="0"/>
          </a:p>
        </p:txBody>
      </p:sp>
      <p:sp>
        <p:nvSpPr>
          <p:cNvPr id="12" name="b1:rise"/>
          <p:cNvSpPr/>
          <p:nvPr/>
        </p:nvSpPr>
        <p:spPr>
          <a:xfrm>
            <a:off x="804862" y="2431703"/>
            <a:ext cx="1023268" cy="272355"/>
          </a:xfrm>
          <a:prstGeom prst="roundRect">
            <a:avLst>
              <a:gd name="adj" fmla="val 50000"/>
            </a:avLst>
          </a:prstGeom>
          <a:solidFill>
            <a:srgbClr val="F7F5F0"/>
          </a:solidFill>
          <a:ln w="6350">
            <a:solidFill>
              <a:srgbClr val="E6E2D6"/>
            </a:solidFill>
            <a:prstDash val="solid"/>
          </a:ln>
        </p:spPr>
      </p:sp>
      <p:sp>
        <p:nvSpPr>
          <p:cNvPr id="13" name="b1:rise"/>
          <p:cNvSpPr txBox="1"/>
          <p:nvPr/>
        </p:nvSpPr>
        <p:spPr>
          <a:xfrm>
            <a:off x="804862" y="2431703"/>
            <a:ext cx="1105129" cy="272355"/>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DM Sans" pitchFamily="34" charset="0"/>
                <a:ea typeface="DM Sans" pitchFamily="34" charset="-122"/>
                <a:cs typeface="DM Sans" pitchFamily="34" charset="-120"/>
              </a:rPr>
              <a:t>Jerry Baldwin</a:t>
            </a:r>
            <a:endParaRPr lang="en-US" sz="1050" dirty="0"/>
          </a:p>
        </p:txBody>
      </p:sp>
      <p:sp>
        <p:nvSpPr>
          <p:cNvPr id="14" name="b1:rise"/>
          <p:cNvSpPr/>
          <p:nvPr/>
        </p:nvSpPr>
        <p:spPr>
          <a:xfrm>
            <a:off x="1885280" y="2431703"/>
            <a:ext cx="734690" cy="272355"/>
          </a:xfrm>
          <a:prstGeom prst="roundRect">
            <a:avLst>
              <a:gd name="adj" fmla="val 50000"/>
            </a:avLst>
          </a:prstGeom>
          <a:solidFill>
            <a:srgbClr val="F7F5F0"/>
          </a:solidFill>
          <a:ln w="6350">
            <a:solidFill>
              <a:srgbClr val="E6E2D6"/>
            </a:solidFill>
            <a:prstDash val="solid"/>
          </a:ln>
        </p:spPr>
      </p:sp>
      <p:sp>
        <p:nvSpPr>
          <p:cNvPr id="15" name="b1:rise"/>
          <p:cNvSpPr txBox="1"/>
          <p:nvPr/>
        </p:nvSpPr>
        <p:spPr>
          <a:xfrm>
            <a:off x="1885280" y="2431703"/>
            <a:ext cx="793465" cy="272355"/>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DM Sans" pitchFamily="34" charset="0"/>
                <a:ea typeface="DM Sans" pitchFamily="34" charset="-122"/>
                <a:cs typeface="DM Sans" pitchFamily="34" charset="-120"/>
              </a:rPr>
              <a:t>Zev Siegl</a:t>
            </a:r>
            <a:endParaRPr lang="en-US" sz="1050" dirty="0"/>
          </a:p>
        </p:txBody>
      </p:sp>
      <p:sp>
        <p:nvSpPr>
          <p:cNvPr id="16" name="b1:rise"/>
          <p:cNvSpPr/>
          <p:nvPr/>
        </p:nvSpPr>
        <p:spPr>
          <a:xfrm>
            <a:off x="2677120" y="2431703"/>
            <a:ext cx="1141140" cy="272355"/>
          </a:xfrm>
          <a:prstGeom prst="roundRect">
            <a:avLst>
              <a:gd name="adj" fmla="val 50000"/>
            </a:avLst>
          </a:prstGeom>
          <a:solidFill>
            <a:srgbClr val="F7F5F0"/>
          </a:solidFill>
          <a:ln w="6350">
            <a:solidFill>
              <a:srgbClr val="E6E2D6"/>
            </a:solidFill>
            <a:prstDash val="solid"/>
          </a:ln>
        </p:spPr>
      </p:sp>
      <p:sp>
        <p:nvSpPr>
          <p:cNvPr id="17" name="b1:rise"/>
          <p:cNvSpPr txBox="1"/>
          <p:nvPr/>
        </p:nvSpPr>
        <p:spPr>
          <a:xfrm>
            <a:off x="2677120" y="2431703"/>
            <a:ext cx="1232431" cy="272355"/>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DM Sans" pitchFamily="34" charset="0"/>
                <a:ea typeface="DM Sans" pitchFamily="34" charset="-122"/>
                <a:cs typeface="DM Sans" pitchFamily="34" charset="-120"/>
              </a:rPr>
              <a:t>Gordon Bowker</a:t>
            </a:r>
            <a:endParaRPr lang="en-US" sz="1050" dirty="0"/>
          </a:p>
        </p:txBody>
      </p:sp>
      <p:sp>
        <p:nvSpPr>
          <p:cNvPr id="18" name="b1:rise"/>
          <p:cNvSpPr txBox="1"/>
          <p:nvPr/>
        </p:nvSpPr>
        <p:spPr>
          <a:xfrm>
            <a:off x="804862" y="2799308"/>
            <a:ext cx="3734181" cy="159990"/>
          </a:xfrm>
          <a:prstGeom prst="rect">
            <a:avLst/>
          </a:prstGeom>
          <a:noFill/>
          <a:ln/>
        </p:spPr>
        <p:txBody>
          <a:bodyPr wrap="none" lIns="0" tIns="0" rIns="0" bIns="0" rtlCol="0" anchor="ctr"/>
          <a:lstStyle/>
          <a:p>
            <a:pPr algn="l" indent="0" marL="0">
              <a:lnSpc>
                <a:spcPts val="1260"/>
              </a:lnSpc>
              <a:buNone/>
            </a:pPr>
            <a:r>
              <a:rPr lang="en-US" sz="900" spc="75" kern="0" dirty="0">
                <a:solidFill>
                  <a:srgbClr val="6B6A63"/>
                </a:solidFill>
                <a:latin typeface="DM Sans" pitchFamily="34" charset="0"/>
                <a:ea typeface="DM Sans" pitchFamily="34" charset="-122"/>
                <a:cs typeface="DM Sans" pitchFamily="34" charset="-120"/>
              </a:rPr>
              <a:t>MISSION</a:t>
            </a:r>
            <a:endParaRPr lang="en-US" sz="900" dirty="0"/>
          </a:p>
        </p:txBody>
      </p:sp>
      <p:sp>
        <p:nvSpPr>
          <p:cNvPr id="19" name="b1:rise"/>
          <p:cNvSpPr txBox="1"/>
          <p:nvPr/>
        </p:nvSpPr>
        <p:spPr>
          <a:xfrm>
            <a:off x="804862" y="2997398"/>
            <a:ext cx="3595878" cy="373261"/>
          </a:xfrm>
          <a:prstGeom prst="rect">
            <a:avLst/>
          </a:prstGeom>
          <a:noFill/>
          <a:ln/>
        </p:spPr>
        <p:txBody>
          <a:bodyPr wrap="square" lIns="0" tIns="0" rIns="0" bIns="0" rtlCol="0" anchor="t"/>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Teach Americans how to brew fine </a:t>
            </a:r>
            <a:pPr algn="l" indent="0" marL="0">
              <a:lnSpc>
                <a:spcPts val="1470"/>
              </a:lnSpc>
              <a:buNone/>
            </a:pPr>
            <a:r>
              <a:rPr lang="en-US" sz="1050" b="1" dirty="0">
                <a:solidFill>
                  <a:srgbClr val="3A3A36"/>
                </a:solidFill>
                <a:latin typeface="DM Sans" pitchFamily="34" charset="0"/>
                <a:ea typeface="DM Sans" pitchFamily="34" charset="-122"/>
                <a:cs typeface="DM Sans" pitchFamily="34" charset="-120"/>
              </a:rPr>
              <a:t>dark-roast coffee</a:t>
            </a:r>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 at home.</a:t>
            </a:r>
            <a:endParaRPr lang="en-US" sz="1050" dirty="0"/>
          </a:p>
        </p:txBody>
      </p:sp>
      <p:sp>
        <p:nvSpPr>
          <p:cNvPr id="20" name="b2:rise"/>
          <p:cNvSpPr/>
          <p:nvPr/>
        </p:nvSpPr>
        <p:spPr>
          <a:xfrm>
            <a:off x="4686300" y="1676400"/>
            <a:ext cx="3848100" cy="1952625"/>
          </a:xfrm>
          <a:prstGeom prst="roundRect">
            <a:avLst>
              <a:gd name="adj" fmla="val 3902"/>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1" name="b2:rise"/>
          <p:cNvSpPr txBox="1"/>
          <p:nvPr/>
        </p:nvSpPr>
        <p:spPr>
          <a:xfrm>
            <a:off x="4881562" y="1871663"/>
            <a:ext cx="2355723"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THE SIREN MYTHOS</a:t>
            </a:r>
            <a:endParaRPr lang="en-US" sz="900" dirty="0"/>
          </a:p>
        </p:txBody>
      </p:sp>
      <p:sp>
        <p:nvSpPr>
          <p:cNvPr id="22" name="b2:rise"/>
          <p:cNvSpPr txBox="1"/>
          <p:nvPr/>
        </p:nvSpPr>
        <p:spPr>
          <a:xfrm>
            <a:off x="4881562" y="2126903"/>
            <a:ext cx="2355723" cy="159990"/>
          </a:xfrm>
          <a:prstGeom prst="rect">
            <a:avLst/>
          </a:prstGeom>
          <a:noFill/>
          <a:ln/>
        </p:spPr>
        <p:txBody>
          <a:bodyPr wrap="none" lIns="0" tIns="0" rIns="0" bIns="0" rtlCol="0" anchor="ctr"/>
          <a:lstStyle/>
          <a:p>
            <a:pPr algn="l" indent="0" marL="0">
              <a:lnSpc>
                <a:spcPts val="1260"/>
              </a:lnSpc>
              <a:buNone/>
            </a:pPr>
            <a:r>
              <a:rPr lang="en-US" sz="900" spc="75" kern="0" dirty="0">
                <a:solidFill>
                  <a:srgbClr val="6B6A63"/>
                </a:solidFill>
                <a:latin typeface="DM Sans" pitchFamily="34" charset="0"/>
                <a:ea typeface="DM Sans" pitchFamily="34" charset="-122"/>
                <a:cs typeface="DM Sans" pitchFamily="34" charset="-120"/>
              </a:rPr>
              <a:t>INSPIRED BY</a:t>
            </a:r>
            <a:endParaRPr lang="en-US" sz="900" dirty="0"/>
          </a:p>
        </p:txBody>
      </p:sp>
      <p:sp>
        <p:nvSpPr>
          <p:cNvPr id="23" name="b2:rise"/>
          <p:cNvSpPr txBox="1"/>
          <p:nvPr/>
        </p:nvSpPr>
        <p:spPr>
          <a:xfrm>
            <a:off x="4881562" y="2324993"/>
            <a:ext cx="2268474" cy="388590"/>
          </a:xfrm>
          <a:prstGeom prst="rect">
            <a:avLst/>
          </a:prstGeom>
          <a:noFill/>
          <a:ln/>
        </p:spPr>
        <p:txBody>
          <a:bodyPr wrap="square" lIns="0" tIns="0" rIns="0" bIns="0" rtlCol="0" anchor="t"/>
          <a:lstStyle/>
          <a:p>
            <a:pPr algn="l" indent="0" marL="0">
              <a:lnSpc>
                <a:spcPts val="1530"/>
              </a:lnSpc>
              <a:buNone/>
            </a:pPr>
            <a:r>
              <a:rPr lang="en-US" sz="1275" b="1" dirty="0">
                <a:solidFill>
                  <a:srgbClr val="191919"/>
                </a:solidFill>
                <a:latin typeface="Fraunces" pitchFamily="34" charset="0"/>
                <a:ea typeface="Fraunces" pitchFamily="34" charset="-122"/>
                <a:cs typeface="Fraunces" pitchFamily="34" charset="-120"/>
              </a:rPr>
              <a:t>A 16th-century Norse woodcut siren</a:t>
            </a:r>
            <a:endParaRPr lang="en-US" sz="1275" dirty="0"/>
          </a:p>
        </p:txBody>
      </p:sp>
      <p:sp>
        <p:nvSpPr>
          <p:cNvPr id="24" name="b2:rise"/>
          <p:cNvSpPr/>
          <p:nvPr/>
        </p:nvSpPr>
        <p:spPr>
          <a:xfrm>
            <a:off x="4881562" y="2873573"/>
            <a:ext cx="57150" cy="57150"/>
          </a:xfrm>
          <a:prstGeom prst="roundRect">
            <a:avLst>
              <a:gd name="adj" fmla="val 50000"/>
            </a:avLst>
          </a:prstGeom>
          <a:solidFill>
            <a:srgbClr val="CBA258"/>
          </a:solidFill>
          <a:ln/>
        </p:spPr>
      </p:sp>
      <p:sp>
        <p:nvSpPr>
          <p:cNvPr id="25" name="b2:rise"/>
          <p:cNvSpPr txBox="1"/>
          <p:nvPr/>
        </p:nvSpPr>
        <p:spPr>
          <a:xfrm>
            <a:off x="5005388" y="2808833"/>
            <a:ext cx="2221992" cy="186630"/>
          </a:xfrm>
          <a:prstGeom prst="rect">
            <a:avLst/>
          </a:prstGeom>
          <a:noFill/>
          <a:ln/>
        </p:spPr>
        <p:txBody>
          <a:bodyPr wrap="none" lIns="0" tIns="0" rIns="0" bIns="0" rtlCol="0" anchor="ctr"/>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Seattle's nautical tradition</a:t>
            </a:r>
            <a:endParaRPr lang="en-US" sz="1050" dirty="0"/>
          </a:p>
        </p:txBody>
      </p:sp>
      <p:sp>
        <p:nvSpPr>
          <p:cNvPr id="26" name="b2:rise"/>
          <p:cNvSpPr/>
          <p:nvPr/>
        </p:nvSpPr>
        <p:spPr>
          <a:xfrm>
            <a:off x="4881562" y="3107829"/>
            <a:ext cx="57150" cy="57150"/>
          </a:xfrm>
          <a:prstGeom prst="roundRect">
            <a:avLst>
              <a:gd name="adj" fmla="val 50000"/>
            </a:avLst>
          </a:prstGeom>
          <a:solidFill>
            <a:srgbClr val="CBA258"/>
          </a:solidFill>
          <a:ln/>
        </p:spPr>
      </p:sp>
      <p:sp>
        <p:nvSpPr>
          <p:cNvPr id="27" name="b2:rise"/>
          <p:cNvSpPr txBox="1"/>
          <p:nvPr/>
        </p:nvSpPr>
        <p:spPr>
          <a:xfrm>
            <a:off x="5005388" y="3043089"/>
            <a:ext cx="2221992" cy="186630"/>
          </a:xfrm>
          <a:prstGeom prst="rect">
            <a:avLst/>
          </a:prstGeom>
          <a:noFill/>
          <a:ln/>
        </p:spPr>
        <p:txBody>
          <a:bodyPr wrap="none" lIns="0" tIns="0" rIns="0" bIns="0" rtlCol="0" anchor="ctr"/>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The irresistible pull of fine coffee</a:t>
            </a:r>
            <a:endParaRPr lang="en-US" sz="1050" dirty="0"/>
          </a:p>
        </p:txBody>
      </p:sp>
      <p:pic>
        <p:nvPicPr>
          <p:cNvPr id="28" name="b2:rise (Starbucks siren logo)" descr="/home/user/slide-present-en/starbucks-presentation/assets/starbucks-logo.png">    </p:cNvPr>
          <p:cNvPicPr>
            <a:picLocks noChangeAspect="1"/>
          </p:cNvPicPr>
          <p:nvPr/>
        </p:nvPicPr>
        <p:blipFill>
          <a:blip r:embed="rId2"/>
          <a:stretch>
            <a:fillRect/>
          </a:stretch>
        </p:blipFill>
        <p:spPr>
          <a:xfrm>
            <a:off x="7219950" y="2105025"/>
            <a:ext cx="1095375" cy="1095375"/>
          </a:xfrm>
          <a:prstGeom prst="rect">
            <a:avLst/>
          </a:prstGeom>
        </p:spPr>
      </p:pic>
      <p:sp>
        <p:nvSpPr>
          <p:cNvPr id="29" name="b3:fade"/>
          <p:cNvSpPr/>
          <p:nvPr/>
        </p:nvSpPr>
        <p:spPr>
          <a:xfrm>
            <a:off x="609600" y="3790950"/>
            <a:ext cx="7924800" cy="389558"/>
          </a:xfrm>
          <a:prstGeom prst="roundRect">
            <a:avLst>
              <a:gd name="adj" fmla="val 19561"/>
            </a:avLst>
          </a:prstGeom>
          <a:solidFill>
            <a:srgbClr val="006241"/>
          </a:solidFill>
          <a:ln/>
        </p:spPr>
      </p:sp>
      <p:sp>
        <p:nvSpPr>
          <p:cNvPr id="30" name="b3:fade"/>
          <p:cNvSpPr txBox="1"/>
          <p:nvPr/>
        </p:nvSpPr>
        <p:spPr>
          <a:xfrm>
            <a:off x="762000" y="3905696"/>
            <a:ext cx="379012"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CBA258"/>
                </a:solidFill>
                <a:latin typeface="DM Sans" pitchFamily="34" charset="0"/>
                <a:ea typeface="DM Sans" pitchFamily="34" charset="-122"/>
                <a:cs typeface="DM Sans" pitchFamily="34" charset="-120"/>
              </a:rPr>
              <a:t>NEXT</a:t>
            </a:r>
            <a:endParaRPr lang="en-US" sz="900" dirty="0"/>
          </a:p>
        </p:txBody>
      </p:sp>
      <p:sp>
        <p:nvSpPr>
          <p:cNvPr id="31" name="b3:fade"/>
          <p:cNvSpPr txBox="1"/>
          <p:nvPr/>
        </p:nvSpPr>
        <p:spPr>
          <a:xfrm>
            <a:off x="1227237" y="3895725"/>
            <a:ext cx="7727144" cy="180008"/>
          </a:xfrm>
          <a:prstGeom prst="rect">
            <a:avLst/>
          </a:prstGeom>
          <a:noFill/>
          <a:ln/>
        </p:spPr>
        <p:txBody>
          <a:bodyPr wrap="none" lIns="0" tIns="0" rIns="0" bIns="0" rtlCol="0" anchor="ctr"/>
          <a:lstStyle/>
          <a:p>
            <a:pPr algn="l" indent="0" marL="0">
              <a:lnSpc>
                <a:spcPts val="1417"/>
              </a:lnSpc>
              <a:buNone/>
            </a:pPr>
            <a:r>
              <a:rPr lang="en-US" sz="1050" dirty="0">
                <a:solidFill>
                  <a:srgbClr val="F7F5F0"/>
                </a:solidFill>
                <a:latin typeface="DM Sans" pitchFamily="34" charset="0"/>
                <a:ea typeface="DM Sans" pitchFamily="34" charset="-122"/>
                <a:cs typeface="DM Sans" pitchFamily="34" charset="-120"/>
              </a:rPr>
              <a:t>The stage was set, but Starbucks was still missing its biggest magic ingredient… until </a:t>
            </a:r>
            <a:pPr algn="l" indent="0" marL="0">
              <a:lnSpc>
                <a:spcPts val="1417"/>
              </a:lnSpc>
              <a:buNone/>
            </a:pPr>
            <a:r>
              <a:rPr lang="en-US" sz="1050" b="1" dirty="0">
                <a:solidFill>
                  <a:srgbClr val="D4E9E2"/>
                </a:solidFill>
                <a:latin typeface="DM Sans" pitchFamily="34" charset="0"/>
                <a:ea typeface="DM Sans" pitchFamily="34" charset="-122"/>
                <a:cs typeface="DM Sans" pitchFamily="34" charset="-120"/>
              </a:rPr>
              <a:t>1983</a:t>
            </a:r>
            <a:pPr algn="l" indent="0" marL="0">
              <a:lnSpc>
                <a:spcPts val="1417"/>
              </a:lnSpc>
              <a:buNone/>
            </a:pPr>
            <a:r>
              <a:rPr lang="en-US" sz="1050" dirty="0">
                <a:solidFill>
                  <a:srgbClr val="F7F5F0"/>
                </a:solidFill>
                <a:latin typeface="DM Sans" pitchFamily="34" charset="0"/>
                <a:ea typeface="DM Sans" pitchFamily="34" charset="-122"/>
                <a:cs typeface="DM Sans" pitchFamily="34" charset="-120"/>
              </a:rPr>
              <a:t>, and a trip to </a:t>
            </a:r>
            <a:pPr algn="l" indent="0" marL="0">
              <a:lnSpc>
                <a:spcPts val="1417"/>
              </a:lnSpc>
              <a:buNone/>
            </a:pPr>
            <a:r>
              <a:rPr lang="en-US" sz="1050" b="1" dirty="0">
                <a:solidFill>
                  <a:srgbClr val="D4E9E2"/>
                </a:solidFill>
                <a:latin typeface="DM Sans" pitchFamily="34" charset="0"/>
                <a:ea typeface="DM Sans" pitchFamily="34" charset="-122"/>
                <a:cs typeface="DM Sans" pitchFamily="34" charset="-120"/>
              </a:rPr>
              <a:t>Milan</a:t>
            </a:r>
            <a:pPr algn="l" indent="0" marL="0">
              <a:lnSpc>
                <a:spcPts val="1417"/>
              </a:lnSpc>
              <a:buNone/>
            </a:pPr>
            <a:r>
              <a:rPr lang="en-US" sz="1050" dirty="0">
                <a:solidFill>
                  <a:srgbClr val="F7F5F0"/>
                </a:solidFill>
                <a:latin typeface="DM Sans" pitchFamily="34" charset="0"/>
                <a:ea typeface="DM Sans" pitchFamily="34" charset="-122"/>
                <a:cs typeface="DM Sans" pitchFamily="34" charset="-120"/>
              </a:rPr>
              <a:t>.</a:t>
            </a:r>
            <a:endParaRPr lang="en-US" sz="1050" dirty="0"/>
          </a:p>
        </p:txBody>
      </p:sp>
      <p:sp>
        <p:nvSpPr>
          <p:cNvPr id="32" name="!!key2-1"/>
          <p:cNvSpPr/>
          <p:nvPr/>
        </p:nvSpPr>
        <p:spPr>
          <a:xfrm>
            <a:off x="6438900" y="4572000"/>
            <a:ext cx="2095500" cy="255240"/>
          </a:xfrm>
          <a:prstGeom prst="roundRect">
            <a:avLst>
              <a:gd name="adj" fmla="val 50000"/>
            </a:avLst>
          </a:prstGeom>
          <a:solidFill>
            <a:srgbClr val="CBA258"/>
          </a:solidFill>
          <a:ln/>
        </p:spPr>
      </p:sp>
      <p:sp>
        <p:nvSpPr>
          <p:cNvPr id="33" name="!!key2-2"/>
          <p:cNvSpPr txBox="1"/>
          <p:nvPr/>
        </p:nvSpPr>
        <p:spPr>
          <a:xfrm>
            <a:off x="6438900" y="45720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1983 · The trip to Milan</a:t>
            </a:r>
            <a:endParaRPr lang="en-US" sz="900" dirty="0"/>
          </a:p>
        </p:txBody>
      </p:sp>
      <p:sp>
        <p:nvSpPr>
          <p:cNvPr id="34" name="static"/>
          <p:cNvSpPr txBox="1"/>
          <p:nvPr/>
        </p:nvSpPr>
        <p:spPr>
          <a:xfrm>
            <a:off x="609600" y="4678710"/>
            <a:ext cx="2306241" cy="159990"/>
          </a:xfrm>
          <a:prstGeom prst="rect">
            <a:avLst/>
          </a:prstGeom>
          <a:noFill/>
          <a:ln/>
        </p:spPr>
        <p:txBody>
          <a:bodyPr wrap="none" lIns="0" tIns="0" rIns="0" bIns="0" rtlCol="0" anchor="ctr"/>
          <a:lstStyle/>
          <a:p>
            <a:pPr algn="l" indent="0" marL="0">
              <a:lnSpc>
                <a:spcPts val="1260"/>
              </a:lnSpc>
              <a:buNone/>
            </a:pPr>
            <a:r>
              <a:rPr lang="en-US" sz="900" dirty="0">
                <a:solidFill>
                  <a:srgbClr val="6B6A63"/>
                </a:solidFill>
                <a:latin typeface="DM Sans" pitchFamily="34" charset="0"/>
                <a:ea typeface="DM Sans" pitchFamily="34" charset="-122"/>
                <a:cs typeface="DM Sans" pitchFamily="34" charset="-120"/>
              </a:rPr>
              <a:t>Slide 2 of 8 · Part 1 · The Foundation &amp; Origin</a:t>
            </a:r>
            <a:endParaRPr lang="en-US" sz="900" dirty="0"/>
          </a:p>
        </p:txBody>
      </p:sp>
      <p:sp>
        <p:nvSpPr>
          <p:cNvPr id="35" name="static"/>
          <p:cNvSpPr/>
          <p:nvPr/>
        </p:nvSpPr>
        <p:spPr>
          <a:xfrm>
            <a:off x="3106341" y="4730130"/>
            <a:ext cx="57150" cy="57150"/>
          </a:xfrm>
          <a:prstGeom prst="roundRect">
            <a:avLst>
              <a:gd name="adj" fmla="val 50000"/>
            </a:avLst>
          </a:prstGeom>
          <a:solidFill>
            <a:srgbClr val="006241"/>
          </a:solidFill>
          <a:ln/>
        </p:spPr>
      </p:sp>
      <p:sp>
        <p:nvSpPr>
          <p:cNvPr id="36" name="static"/>
          <p:cNvSpPr/>
          <p:nvPr/>
        </p:nvSpPr>
        <p:spPr>
          <a:xfrm>
            <a:off x="3211116" y="4730130"/>
            <a:ext cx="171450" cy="57150"/>
          </a:xfrm>
          <a:prstGeom prst="roundRect">
            <a:avLst>
              <a:gd name="adj" fmla="val 50000"/>
            </a:avLst>
          </a:prstGeom>
          <a:solidFill>
            <a:srgbClr val="CBA258"/>
          </a:solidFill>
          <a:ln/>
        </p:spPr>
      </p:sp>
      <p:sp>
        <p:nvSpPr>
          <p:cNvPr id="37" name="static"/>
          <p:cNvSpPr/>
          <p:nvPr/>
        </p:nvSpPr>
        <p:spPr>
          <a:xfrm>
            <a:off x="3430191" y="4730130"/>
            <a:ext cx="57150" cy="57150"/>
          </a:xfrm>
          <a:prstGeom prst="roundRect">
            <a:avLst>
              <a:gd name="adj" fmla="val 50000"/>
            </a:avLst>
          </a:prstGeom>
          <a:solidFill>
            <a:srgbClr val="C5D8D0"/>
          </a:solidFill>
          <a:ln/>
        </p:spPr>
      </p:sp>
      <p:sp>
        <p:nvSpPr>
          <p:cNvPr id="38" name="static"/>
          <p:cNvSpPr/>
          <p:nvPr/>
        </p:nvSpPr>
        <p:spPr>
          <a:xfrm>
            <a:off x="3534966" y="4730130"/>
            <a:ext cx="57150" cy="57150"/>
          </a:xfrm>
          <a:prstGeom prst="roundRect">
            <a:avLst>
              <a:gd name="adj" fmla="val 50000"/>
            </a:avLst>
          </a:prstGeom>
          <a:solidFill>
            <a:srgbClr val="C5D8D0"/>
          </a:solidFill>
          <a:ln/>
        </p:spPr>
      </p:sp>
      <p:sp>
        <p:nvSpPr>
          <p:cNvPr id="39" name="static"/>
          <p:cNvSpPr/>
          <p:nvPr/>
        </p:nvSpPr>
        <p:spPr>
          <a:xfrm>
            <a:off x="3639741" y="4730130"/>
            <a:ext cx="57150" cy="57150"/>
          </a:xfrm>
          <a:prstGeom prst="roundRect">
            <a:avLst>
              <a:gd name="adj" fmla="val 50000"/>
            </a:avLst>
          </a:prstGeom>
          <a:solidFill>
            <a:srgbClr val="C5D8D0"/>
          </a:solidFill>
          <a:ln/>
        </p:spPr>
      </p:sp>
      <p:sp>
        <p:nvSpPr>
          <p:cNvPr id="40" name="static"/>
          <p:cNvSpPr/>
          <p:nvPr/>
        </p:nvSpPr>
        <p:spPr>
          <a:xfrm>
            <a:off x="3744516" y="4730130"/>
            <a:ext cx="57150" cy="57150"/>
          </a:xfrm>
          <a:prstGeom prst="roundRect">
            <a:avLst>
              <a:gd name="adj" fmla="val 50000"/>
            </a:avLst>
          </a:prstGeom>
          <a:solidFill>
            <a:srgbClr val="C5D8D0"/>
          </a:solidFill>
          <a:ln/>
        </p:spPr>
      </p:sp>
      <p:sp>
        <p:nvSpPr>
          <p:cNvPr id="41" name="static"/>
          <p:cNvSpPr/>
          <p:nvPr/>
        </p:nvSpPr>
        <p:spPr>
          <a:xfrm>
            <a:off x="3849291" y="4730130"/>
            <a:ext cx="57150" cy="57150"/>
          </a:xfrm>
          <a:prstGeom prst="roundRect">
            <a:avLst>
              <a:gd name="adj" fmla="val 50000"/>
            </a:avLst>
          </a:prstGeom>
          <a:solidFill>
            <a:srgbClr val="C5D8D0"/>
          </a:solidFill>
          <a:ln/>
        </p:spPr>
      </p:sp>
      <p:sp>
        <p:nvSpPr>
          <p:cNvPr id="42" name="static"/>
          <p:cNvSpPr/>
          <p:nvPr/>
        </p:nvSpPr>
        <p:spPr>
          <a:xfrm>
            <a:off x="3954066" y="4730130"/>
            <a:ext cx="57150" cy="57150"/>
          </a:xfrm>
          <a:prstGeom prst="roundRect">
            <a:avLst>
              <a:gd name="adj" fmla="val 50000"/>
            </a:avLst>
          </a:prstGeom>
          <a:solidFill>
            <a:srgbClr val="C5D8D0"/>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55" fill="hold">
                      <p:stCondLst>
                        <p:cond delay="indefinite"/>
                      </p:stCondLst>
                      <p:childTnLst>
                        <p:par>
                          <p:cTn id="56"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700"/>
                                        <p:tgtEl>
                                          <p:spTgt spid="7"/>
                                        </p:tgtEl>
                                      </p:cBhvr>
                                    </p:animEffect>
                                    <p:anim calcmode="lin" valueType="num">
                                      <p:cBhvr additive="base">
                                        <p:cTn id="6" dur="700" fill="hold"/>
                                        <p:tgtEl>
                                          <p:spTgt spid="7"/>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700"/>
                                        <p:tgtEl>
                                          <p:spTgt spid="8"/>
                                        </p:tgtEl>
                                      </p:cBhvr>
                                    </p:animEffect>
                                    <p:anim calcmode="lin" valueType="num">
                                      <p:cBhvr additive="base">
                                        <p:cTn id="10" dur="700" fill="hold"/>
                                        <p:tgtEl>
                                          <p:spTgt spid="8"/>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700"/>
                                        <p:tgtEl>
                                          <p:spTgt spid="9"/>
                                        </p:tgtEl>
                                      </p:cBhvr>
                                    </p:animEffect>
                                    <p:anim calcmode="lin" valueType="num">
                                      <p:cBhvr additive="base">
                                        <p:cTn id="14" dur="700" fill="hold"/>
                                        <p:tgtEl>
                                          <p:spTgt spid="9"/>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700"/>
                                        <p:tgtEl>
                                          <p:spTgt spid="10"/>
                                        </p:tgtEl>
                                      </p:cBhvr>
                                    </p:animEffect>
                                    <p:anim calcmode="lin" valueType="num">
                                      <p:cBhvr additive="base">
                                        <p:cTn id="18" dur="700" fill="hold"/>
                                        <p:tgtEl>
                                          <p:spTgt spid="10"/>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700"/>
                                        <p:tgtEl>
                                          <p:spTgt spid="11"/>
                                        </p:tgtEl>
                                      </p:cBhvr>
                                    </p:animEffect>
                                    <p:anim calcmode="lin" valueType="num">
                                      <p:cBhvr additive="base">
                                        <p:cTn id="22" dur="700" fill="hold"/>
                                        <p:tgtEl>
                                          <p:spTgt spid="11"/>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700"/>
                                        <p:tgtEl>
                                          <p:spTgt spid="12"/>
                                        </p:tgtEl>
                                      </p:cBhvr>
                                    </p:animEffect>
                                    <p:anim calcmode="lin" valueType="num">
                                      <p:cBhvr additive="base">
                                        <p:cTn id="26" dur="700" fill="hold"/>
                                        <p:tgtEl>
                                          <p:spTgt spid="12"/>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700"/>
                                        <p:tgtEl>
                                          <p:spTgt spid="13"/>
                                        </p:tgtEl>
                                      </p:cBhvr>
                                    </p:animEffect>
                                    <p:anim calcmode="lin" valueType="num">
                                      <p:cBhvr additive="base">
                                        <p:cTn id="30" dur="700" fill="hold"/>
                                        <p:tgtEl>
                                          <p:spTgt spid="13"/>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700"/>
                                        <p:tgtEl>
                                          <p:spTgt spid="14"/>
                                        </p:tgtEl>
                                      </p:cBhvr>
                                    </p:animEffect>
                                    <p:anim calcmode="lin" valueType="num">
                                      <p:cBhvr additive="base">
                                        <p:cTn id="34" dur="700" fill="hold"/>
                                        <p:tgtEl>
                                          <p:spTgt spid="14"/>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700"/>
                                        <p:tgtEl>
                                          <p:spTgt spid="15"/>
                                        </p:tgtEl>
                                      </p:cBhvr>
                                    </p:animEffect>
                                    <p:anim calcmode="lin" valueType="num">
                                      <p:cBhvr additive="base">
                                        <p:cTn id="38" dur="700" fill="hold"/>
                                        <p:tgtEl>
                                          <p:spTgt spid="15"/>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700"/>
                                        <p:tgtEl>
                                          <p:spTgt spid="16"/>
                                        </p:tgtEl>
                                      </p:cBhvr>
                                    </p:animEffect>
                                    <p:anim calcmode="lin" valueType="num">
                                      <p:cBhvr additive="base">
                                        <p:cTn id="42" dur="700" fill="hold"/>
                                        <p:tgtEl>
                                          <p:spTgt spid="16"/>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700"/>
                                        <p:tgtEl>
                                          <p:spTgt spid="17"/>
                                        </p:tgtEl>
                                      </p:cBhvr>
                                    </p:animEffect>
                                    <p:anim calcmode="lin" valueType="num">
                                      <p:cBhvr additive="base">
                                        <p:cTn id="46" dur="700" fill="hold"/>
                                        <p:tgtEl>
                                          <p:spTgt spid="17"/>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700"/>
                                        <p:tgtEl>
                                          <p:spTgt spid="18"/>
                                        </p:tgtEl>
                                      </p:cBhvr>
                                    </p:animEffect>
                                    <p:anim calcmode="lin" valueType="num">
                                      <p:cBhvr additive="base">
                                        <p:cTn id="50" dur="700" fill="hold"/>
                                        <p:tgtEl>
                                          <p:spTgt spid="18"/>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700"/>
                                        <p:tgtEl>
                                          <p:spTgt spid="19"/>
                                        </p:tgtEl>
                                      </p:cBhvr>
                                    </p:animEffect>
                                    <p:anim calcmode="lin" valueType="num">
                                      <p:cBhvr additive="base">
                                        <p:cTn id="54" dur="700" fill="hold"/>
                                        <p:tgtEl>
                                          <p:spTgt spid="19"/>
                                        </p:tgtEl>
                                        <p:attrNameLst>
                                          <p:attrName>ppt_y</p:attrName>
                                        </p:attrNameLst>
                                      </p:cBhvr>
                                      <p:tavLst>
                                        <p:tav tm="0">
                                          <p:val>
                                            <p:strVal val="#ppt_y+.08"/>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57" presetID="42" presetClass="entr" presetSubtype="0"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8"/>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8"/>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8"/>
                                          </p:val>
                                        </p:tav>
                                        <p:tav tm="100000">
                                          <p:val>
                                            <p:strVal val="#ppt_y"/>
                                          </p:val>
                                        </p:tav>
                                      </p:tavLst>
                                    </p:anim>
                                  </p:childTnLst>
                                </p:cTn>
                              </p:par>
                              <p:par>
                                <p:cTn id="85" presetID="42" presetClass="entr" presetSubtype="0" fill="hold" grpId="0" nodeType="withEffect">
                                  <p:stCondLst>
                                    <p:cond delay="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700"/>
                                        <p:tgtEl>
                                          <p:spTgt spid="27"/>
                                        </p:tgtEl>
                                      </p:cBhvr>
                                    </p:animEffect>
                                    <p:anim calcmode="lin" valueType="num">
                                      <p:cBhvr additive="base">
                                        <p:cTn id="88" dur="700" fill="hold"/>
                                        <p:tgtEl>
                                          <p:spTgt spid="27"/>
                                        </p:tgtEl>
                                        <p:attrNameLst>
                                          <p:attrName>ppt_y</p:attrName>
                                        </p:attrNameLst>
                                      </p:cBhvr>
                                      <p:tavLst>
                                        <p:tav tm="0">
                                          <p:val>
                                            <p:strVal val="#ppt_y+.08"/>
                                          </p:val>
                                        </p:tav>
                                        <p:tav tm="100000">
                                          <p:val>
                                            <p:strVal val="#ppt_y"/>
                                          </p:val>
                                        </p:tav>
                                      </p:tavLst>
                                    </p:anim>
                                  </p:childTnLst>
                                </p:cTn>
                              </p:par>
                              <p:par>
                                <p:cTn id="89" presetID="42" presetClass="entr" presetSubtype="0" fill="hold" grpId="0" nodeType="withEffect">
                                  <p:stCondLst>
                                    <p:cond delay="0"/>
                                  </p:stCondLst>
                                  <p:childTnLst>
                                    <p:set>
                                      <p:cBhvr>
                                        <p:cTn id="90" dur="1" fill="hold">
                                          <p:stCondLst>
                                            <p:cond delay="0"/>
                                          </p:stCondLst>
                                        </p:cTn>
                                        <p:tgtEl>
                                          <p:spTgt spid="28"/>
                                        </p:tgtEl>
                                        <p:attrNameLst>
                                          <p:attrName>style.visibility</p:attrName>
                                        </p:attrNameLst>
                                      </p:cBhvr>
                                      <p:to>
                                        <p:strVal val="visible"/>
                                      </p:to>
                                    </p:set>
                                    <p:animEffect transition="in" filter="fade">
                                      <p:cBhvr>
                                        <p:cTn id="91" dur="700"/>
                                        <p:tgtEl>
                                          <p:spTgt spid="28"/>
                                        </p:tgtEl>
                                      </p:cBhvr>
                                    </p:animEffect>
                                    <p:anim calcmode="lin" valueType="num">
                                      <p:cBhvr additive="base">
                                        <p:cTn id="92" dur="700" fill="hold"/>
                                        <p:tgtEl>
                                          <p:spTgt spid="28"/>
                                        </p:tgtEl>
                                        <p:attrNameLst>
                                          <p:attrName>ppt_y</p:attrName>
                                        </p:attrNameLst>
                                      </p:cBhvr>
                                      <p:tavLst>
                                        <p:tav tm="0">
                                          <p:val>
                                            <p:strVal val="#ppt_y+.08"/>
                                          </p:val>
                                        </p:tav>
                                        <p:tav tm="100000">
                                          <p:val>
                                            <p:strVal val="#ppt_y"/>
                                          </p:val>
                                        </p:tav>
                                      </p:tavLst>
                                    </p:anim>
                                  </p:childTnLst>
                                </p:cTn>
                              </p:par>
                            </p:childTnLst>
                          </p:cTn>
                        </p:par>
                      </p:childTnLst>
                    </p:cTn>
                  </p:par>
                  <p:par>
                    <p:cTn id="104" fill="hold">
                      <p:stCondLst>
                        <p:cond delay="indefinite"/>
                      </p:stCondLst>
                      <p:childTnLst>
                        <p:par>
                          <p:cTn id="105" fill="hold">
                            <p:stCondLst>
                              <p:cond delay="0"/>
                            </p:stCondLst>
                            <p:childTnLst>
                              <p:par>
                                <p:cTn id="95" presetID="10" presetClass="entr" presetSubtype="0" fill="hold" grpId="0" nodeType="click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0"/>
                                        </p:tgtEl>
                                        <p:attrNameLst>
                                          <p:attrName>style.visibility</p:attrName>
                                        </p:attrNameLst>
                                      </p:cBhvr>
                                      <p:to>
                                        <p:strVal val="visible"/>
                                      </p:to>
                                    </p:set>
                                    <p:animEffect transition="in" filter="fade">
                                      <p:cBhvr>
                                        <p:cTn id="100" dur="500"/>
                                        <p:tgtEl>
                                          <p:spTgt spid="30"/>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3" dur="5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06" presetID="23" presetClass="entr" presetSubtype="16" fill="hold" grpId="0" nodeType="clickEffect">
                                  <p:stCondLst>
                                    <p:cond delay="0"/>
                                  </p:stCondLst>
                                  <p:childTnLst>
                                    <p:set>
                                      <p:cBhvr>
                                        <p:cTn id="107" dur="1" fill="hold">
                                          <p:stCondLst>
                                            <p:cond delay="0"/>
                                          </p:stCondLst>
                                        </p:cTn>
                                        <p:tgtEl>
                                          <p:spTgt spid="32"/>
                                        </p:tgtEl>
                                        <p:attrNameLst>
                                          <p:attrName>style.visibility</p:attrName>
                                        </p:attrNameLst>
                                      </p:cBhvr>
                                      <p:to>
                                        <p:strVal val="visible"/>
                                      </p:to>
                                    </p:set>
                                    <p:animScale>
                                      <p:cBhvr>
                                        <p:cTn id="108" dur="500" fill="hold"/>
                                        <p:tgtEl>
                                          <p:spTgt spid="32"/>
                                        </p:tgtEl>
                                      </p:cBhvr>
                                      <p:from x="0" y="0"/>
                                      <p:to x="100000" y="100000"/>
                                    </p:animScale>
                                    <p:animEffect transition="in" filter="fade">
                                      <p:cBhvr>
                                        <p:cTn id="109" dur="500"/>
                                        <p:tgtEl>
                                          <p:spTgt spid="32"/>
                                        </p:tgtEl>
                                      </p:cBhvr>
                                    </p:animEffect>
                                  </p:childTnLst>
                                </p:cTn>
                              </p:par>
                              <p:par>
                                <p:cTn id="110" presetID="23" presetClass="entr" presetSubtype="16" fill="hold" grpId="0" nodeType="withEffect">
                                  <p:stCondLst>
                                    <p:cond delay="0"/>
                                  </p:stCondLst>
                                  <p:childTnLst>
                                    <p:set>
                                      <p:cBhvr>
                                        <p:cTn id="111" dur="1" fill="hold">
                                          <p:stCondLst>
                                            <p:cond delay="0"/>
                                          </p:stCondLst>
                                        </p:cTn>
                                        <p:tgtEl>
                                          <p:spTgt spid="33"/>
                                        </p:tgtEl>
                                        <p:attrNameLst>
                                          <p:attrName>style.visibility</p:attrName>
                                        </p:attrNameLst>
                                      </p:cBhvr>
                                      <p:to>
                                        <p:strVal val="visible"/>
                                      </p:to>
                                    </p:set>
                                    <p:animScale>
                                      <p:cBhvr>
                                        <p:cTn id="112" dur="500" fill="hold"/>
                                        <p:tgtEl>
                                          <p:spTgt spid="33"/>
                                        </p:tgtEl>
                                      </p:cBhvr>
                                      <p:from x="0" y="0"/>
                                      <p:to x="100000" y="100000"/>
                                    </p:animScale>
                                    <p:animEffect transition="in" filter="fade">
                                      <p:cBhvr>
                                        <p:cTn id="113"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9" grpId="0" animBg="1"/>
      <p:bldP spid="30" grpId="0" animBg="1"/>
      <p:bldP spid="31" grpId="0" animBg="1"/>
      <p:bldP spid="32" grpId="0" animBg="1"/>
      <p:bldP spid="3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35235"/>
          </a:xfrm>
          <a:prstGeom prst="rect">
            <a:avLst/>
          </a:prstGeom>
          <a:noFill/>
          <a:ln/>
        </p:spPr>
        <p:txBody>
          <a:bodyPr wrap="none" lIns="0" tIns="0" rIns="0" bIns="0" rtlCol="0" anchor="ctr"/>
          <a:lstStyle/>
          <a:p>
            <a:pPr algn="l" indent="0" marL="0">
              <a:lnSpc>
                <a:spcPts val="2640"/>
              </a:lnSpc>
              <a:buNone/>
            </a:pPr>
            <a:r>
              <a:rPr lang="en-US" sz="2400" b="1" dirty="0">
                <a:solidFill>
                  <a:srgbClr val="191919"/>
                </a:solidFill>
                <a:latin typeface="Fraunces" pitchFamily="34" charset="0"/>
                <a:ea typeface="Fraunces" pitchFamily="34" charset="-122"/>
                <a:cs typeface="Fraunces" pitchFamily="34" charset="-120"/>
              </a:rPr>
              <a:t>Chapter 2: The Italian Inspiration</a:t>
            </a:r>
            <a:endParaRPr lang="en-US" sz="2400" dirty="0"/>
          </a:p>
        </p:txBody>
      </p:sp>
      <p:sp>
        <p:nvSpPr>
          <p:cNvPr id="3" name="static"/>
          <p:cNvSpPr txBox="1"/>
          <p:nvPr/>
        </p:nvSpPr>
        <p:spPr>
          <a:xfrm>
            <a:off x="609600" y="1211535"/>
            <a:ext cx="6686550" cy="210443"/>
          </a:xfrm>
          <a:prstGeom prst="rect">
            <a:avLst/>
          </a:prstGeom>
          <a:noFill/>
          <a:ln/>
        </p:spPr>
        <p:txBody>
          <a:bodyPr wrap="none" lIns="0" tIns="0" rIns="0" bIns="0" rtlCol="0" anchor="ctr"/>
          <a:lstStyle/>
          <a:p>
            <a:pPr algn="l" indent="0" marL="0">
              <a:lnSpc>
                <a:spcPts val="1658"/>
              </a:lnSpc>
              <a:buNone/>
            </a:pPr>
            <a:r>
              <a:rPr lang="en-US" sz="1275" dirty="0">
                <a:solidFill>
                  <a:srgbClr val="3A3A36"/>
                </a:solidFill>
                <a:latin typeface="DM Sans" pitchFamily="34" charset="0"/>
                <a:ea typeface="DM Sans" pitchFamily="34" charset="-122"/>
                <a:cs typeface="DM Sans" pitchFamily="34" charset="-120"/>
              </a:rPr>
              <a:t>How a Trip to Milan Changed Coffee History</a:t>
            </a:r>
            <a:endParaRPr lang="en-US" sz="1275" dirty="0"/>
          </a:p>
        </p:txBody>
      </p:sp>
      <p:sp>
        <p:nvSpPr>
          <p:cNvPr id="4" name="static"/>
          <p:cNvSpPr txBox="1"/>
          <p:nvPr/>
        </p:nvSpPr>
        <p:spPr>
          <a:xfrm>
            <a:off x="609600" y="457200"/>
            <a:ext cx="411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006241"/>
                </a:solidFill>
                <a:latin typeface="DM Sans" pitchFamily="34" charset="0"/>
                <a:ea typeface="DM Sans" pitchFamily="34" charset="-122"/>
                <a:cs typeface="DM Sans" pitchFamily="34" charset="-120"/>
              </a:rPr>
              <a:t>PART 2 · THE TURNING POINT</a:t>
            </a:r>
            <a:endParaRPr lang="en-US" sz="900" dirty="0"/>
          </a:p>
        </p:txBody>
      </p:sp>
      <p:sp>
        <p:nvSpPr>
          <p:cNvPr id="5" name="!!key2-1"/>
          <p:cNvSpPr/>
          <p:nvPr/>
        </p:nvSpPr>
        <p:spPr>
          <a:xfrm>
            <a:off x="6438900" y="419100"/>
            <a:ext cx="2095500" cy="255240"/>
          </a:xfrm>
          <a:prstGeom prst="roundRect">
            <a:avLst>
              <a:gd name="adj" fmla="val 50000"/>
            </a:avLst>
          </a:prstGeom>
          <a:solidFill>
            <a:srgbClr val="CBA258"/>
          </a:solidFill>
          <a:ln/>
        </p:spPr>
      </p:sp>
      <p:sp>
        <p:nvSpPr>
          <p:cNvPr id="6" name="!!key2-2"/>
          <p:cNvSpPr txBox="1"/>
          <p:nvPr/>
        </p:nvSpPr>
        <p:spPr>
          <a:xfrm>
            <a:off x="6438900" y="4191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1983 · The trip to Milan</a:t>
            </a:r>
            <a:endParaRPr lang="en-US" sz="900" dirty="0"/>
          </a:p>
        </p:txBody>
      </p:sp>
      <p:sp>
        <p:nvSpPr>
          <p:cNvPr id="7" name="static"/>
          <p:cNvSpPr/>
          <p:nvPr/>
        </p:nvSpPr>
        <p:spPr>
          <a:xfrm>
            <a:off x="1890712" y="1776413"/>
            <a:ext cx="5362575" cy="19050"/>
          </a:xfrm>
          <a:prstGeom prst="roundRect">
            <a:avLst>
              <a:gd name="adj" fmla="val 50000"/>
            </a:avLst>
          </a:prstGeom>
          <a:solidFill>
            <a:srgbClr val="CBA258"/>
          </a:solidFill>
          <a:ln/>
        </p:spPr>
      </p:sp>
      <p:sp>
        <p:nvSpPr>
          <p:cNvPr id="8" name="b1:rise"/>
          <p:cNvSpPr/>
          <p:nvPr/>
        </p:nvSpPr>
        <p:spPr>
          <a:xfrm>
            <a:off x="1643063" y="1676400"/>
            <a:ext cx="500063" cy="217140"/>
          </a:xfrm>
          <a:prstGeom prst="roundRect">
            <a:avLst>
              <a:gd name="adj" fmla="val 50000"/>
            </a:avLst>
          </a:prstGeom>
          <a:solidFill>
            <a:srgbClr val="006241"/>
          </a:solidFill>
          <a:ln/>
        </p:spPr>
      </p:sp>
      <p:sp>
        <p:nvSpPr>
          <p:cNvPr id="9" name="b1:rise"/>
          <p:cNvSpPr txBox="1"/>
          <p:nvPr/>
        </p:nvSpPr>
        <p:spPr>
          <a:xfrm>
            <a:off x="1643063" y="1676400"/>
            <a:ext cx="540068" cy="217140"/>
          </a:xfrm>
          <a:prstGeom prst="rect">
            <a:avLst/>
          </a:prstGeom>
          <a:noFill/>
          <a:ln/>
        </p:spPr>
        <p:txBody>
          <a:bodyPr wrap="none" lIns="104775" tIns="0" rIns="104775" bIns="0" rtlCol="0" anchor="ctr"/>
          <a:lstStyle/>
          <a:p>
            <a:pPr algn="l" indent="0" marL="0">
              <a:lnSpc>
                <a:spcPts val="1260"/>
              </a:lnSpc>
              <a:buNone/>
            </a:pPr>
            <a:r>
              <a:rPr lang="en-US" sz="900" b="1" spc="75" kern="0" dirty="0">
                <a:solidFill>
                  <a:srgbClr val="F7F5F0"/>
                </a:solidFill>
                <a:latin typeface="DM Sans" pitchFamily="34" charset="0"/>
                <a:ea typeface="DM Sans" pitchFamily="34" charset="-122"/>
                <a:cs typeface="DM Sans" pitchFamily="34" charset="-120"/>
              </a:rPr>
              <a:t>1983</a:t>
            </a:r>
            <a:endParaRPr lang="en-US" sz="900" dirty="0"/>
          </a:p>
        </p:txBody>
      </p:sp>
      <p:sp>
        <p:nvSpPr>
          <p:cNvPr id="10" name="b1:rise"/>
          <p:cNvSpPr/>
          <p:nvPr/>
        </p:nvSpPr>
        <p:spPr>
          <a:xfrm>
            <a:off x="609600" y="1988790"/>
            <a:ext cx="2566988" cy="1714500"/>
          </a:xfrm>
          <a:prstGeom prst="roundRect">
            <a:avLst>
              <a:gd name="adj" fmla="val 444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1" name="b1:rise"/>
          <p:cNvSpPr txBox="1"/>
          <p:nvPr/>
        </p:nvSpPr>
        <p:spPr>
          <a:xfrm>
            <a:off x="766763" y="2145953"/>
            <a:ext cx="2432876" cy="205680"/>
          </a:xfrm>
          <a:prstGeom prst="rect">
            <a:avLst/>
          </a:prstGeom>
          <a:noFill/>
          <a:ln/>
        </p:spPr>
        <p:txBody>
          <a:bodyPr wrap="none" lIns="0" tIns="0" rIns="0" bIns="0" rtlCol="0" anchor="ctr"/>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The Discovery</a:t>
            </a:r>
            <a:endParaRPr lang="en-US" sz="1350" dirty="0"/>
          </a:p>
        </p:txBody>
      </p:sp>
      <p:sp>
        <p:nvSpPr>
          <p:cNvPr id="12" name="b1:rise"/>
          <p:cNvSpPr txBox="1"/>
          <p:nvPr/>
        </p:nvSpPr>
        <p:spPr>
          <a:xfrm>
            <a:off x="766763" y="2408783"/>
            <a:ext cx="2342769" cy="746522"/>
          </a:xfrm>
          <a:prstGeom prst="rect">
            <a:avLst/>
          </a:prstGeom>
          <a:noFill/>
          <a:ln/>
        </p:spPr>
        <p:txBody>
          <a:bodyPr wrap="square" lIns="0" tIns="0" rIns="0" bIns="0" rtlCol="0" anchor="t"/>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Howard Schultz visits Milan's espresso bars. He notices they aren't just selling drinks: they serve as vibrant </a:t>
            </a:r>
            <a:pPr algn="l" indent="0" marL="0">
              <a:lnSpc>
                <a:spcPts val="1470"/>
              </a:lnSpc>
              <a:buNone/>
            </a:pPr>
            <a:r>
              <a:rPr lang="en-US" sz="1050" b="1" dirty="0">
                <a:solidFill>
                  <a:srgbClr val="3A3A36"/>
                </a:solidFill>
                <a:latin typeface="DM Sans" pitchFamily="34" charset="0"/>
                <a:ea typeface="DM Sans" pitchFamily="34" charset="-122"/>
                <a:cs typeface="DM Sans" pitchFamily="34" charset="-120"/>
              </a:rPr>
              <a:t>community living rooms</a:t>
            </a:r>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a:t>
            </a:r>
            <a:endParaRPr lang="en-US" sz="1050" dirty="0"/>
          </a:p>
        </p:txBody>
      </p:sp>
      <p:sp>
        <p:nvSpPr>
          <p:cNvPr id="13" name="b2:rise"/>
          <p:cNvSpPr/>
          <p:nvPr/>
        </p:nvSpPr>
        <p:spPr>
          <a:xfrm>
            <a:off x="4193977" y="1676400"/>
            <a:ext cx="760735" cy="217140"/>
          </a:xfrm>
          <a:prstGeom prst="roundRect">
            <a:avLst>
              <a:gd name="adj" fmla="val 50000"/>
            </a:avLst>
          </a:prstGeom>
          <a:solidFill>
            <a:srgbClr val="CBA258"/>
          </a:solidFill>
          <a:ln/>
        </p:spPr>
      </p:sp>
      <p:sp>
        <p:nvSpPr>
          <p:cNvPr id="14" name="b2:rise"/>
          <p:cNvSpPr txBox="1"/>
          <p:nvPr/>
        </p:nvSpPr>
        <p:spPr>
          <a:xfrm>
            <a:off x="4193977" y="1676400"/>
            <a:ext cx="821594" cy="217140"/>
          </a:xfrm>
          <a:prstGeom prst="rect">
            <a:avLst/>
          </a:prstGeom>
          <a:noFill/>
          <a:ln/>
        </p:spPr>
        <p:txBody>
          <a:bodyPr wrap="none" lIns="104775" tIns="0" rIns="104775" bIns="0" rtlCol="0" anchor="ctr"/>
          <a:lstStyle/>
          <a:p>
            <a:pPr algn="l" indent="0" marL="0">
              <a:lnSpc>
                <a:spcPts val="1260"/>
              </a:lnSpc>
              <a:buNone/>
            </a:pPr>
            <a:r>
              <a:rPr lang="en-US" sz="900" b="1" spc="75" kern="0" dirty="0">
                <a:solidFill>
                  <a:srgbClr val="191919"/>
                </a:solidFill>
                <a:latin typeface="DM Sans" pitchFamily="34" charset="0"/>
                <a:ea typeface="DM Sans" pitchFamily="34" charset="-122"/>
                <a:cs typeface="DM Sans" pitchFamily="34" charset="-120"/>
              </a:rPr>
              <a:t>The Idea</a:t>
            </a:r>
            <a:endParaRPr lang="en-US" sz="900" dirty="0"/>
          </a:p>
        </p:txBody>
      </p:sp>
      <p:sp>
        <p:nvSpPr>
          <p:cNvPr id="15" name="b2:rise"/>
          <p:cNvSpPr/>
          <p:nvPr/>
        </p:nvSpPr>
        <p:spPr>
          <a:xfrm>
            <a:off x="3290887" y="1988790"/>
            <a:ext cx="2566988" cy="1714500"/>
          </a:xfrm>
          <a:prstGeom prst="roundRect">
            <a:avLst>
              <a:gd name="adj" fmla="val 444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6" name="b2:rise"/>
          <p:cNvSpPr txBox="1"/>
          <p:nvPr/>
        </p:nvSpPr>
        <p:spPr>
          <a:xfrm>
            <a:off x="3448050" y="2145953"/>
            <a:ext cx="2432876" cy="205680"/>
          </a:xfrm>
          <a:prstGeom prst="rect">
            <a:avLst/>
          </a:prstGeom>
          <a:noFill/>
          <a:ln/>
        </p:spPr>
        <p:txBody>
          <a:bodyPr wrap="none" lIns="0" tIns="0" rIns="0" bIns="0" rtlCol="0" anchor="ctr"/>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The Vision</a:t>
            </a:r>
            <a:endParaRPr lang="en-US" sz="1350" dirty="0"/>
          </a:p>
        </p:txBody>
      </p:sp>
      <p:sp>
        <p:nvSpPr>
          <p:cNvPr id="17" name="b2:rise"/>
          <p:cNvSpPr txBox="1"/>
          <p:nvPr/>
        </p:nvSpPr>
        <p:spPr>
          <a:xfrm>
            <a:off x="3448050" y="2408783"/>
            <a:ext cx="2342769" cy="746522"/>
          </a:xfrm>
          <a:prstGeom prst="rect">
            <a:avLst/>
          </a:prstGeom>
          <a:noFill/>
          <a:ln/>
        </p:spPr>
        <p:txBody>
          <a:bodyPr wrap="square" lIns="0" tIns="0" rIns="0" bIns="0" rtlCol="0" anchor="t"/>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America needs an authentic espresso culture built around </a:t>
            </a:r>
            <a:pPr algn="l" indent="0" marL="0">
              <a:lnSpc>
                <a:spcPts val="1470"/>
              </a:lnSpc>
              <a:buNone/>
            </a:pPr>
            <a:r>
              <a:rPr lang="en-US" sz="1050" b="1" dirty="0">
                <a:solidFill>
                  <a:srgbClr val="3A3A36"/>
                </a:solidFill>
                <a:latin typeface="DM Sans" pitchFamily="34" charset="0"/>
                <a:ea typeface="DM Sans" pitchFamily="34" charset="-122"/>
                <a:cs typeface="DM Sans" pitchFamily="34" charset="-120"/>
              </a:rPr>
              <a:t>human connection, speed, and craftsmanship</a:t>
            </a:r>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a:t>
            </a:r>
            <a:endParaRPr lang="en-US" sz="1050" dirty="0"/>
          </a:p>
        </p:txBody>
      </p:sp>
      <p:sp>
        <p:nvSpPr>
          <p:cNvPr id="18" name="b3:rise"/>
          <p:cNvSpPr/>
          <p:nvPr/>
        </p:nvSpPr>
        <p:spPr>
          <a:xfrm>
            <a:off x="7007498" y="1676400"/>
            <a:ext cx="491505" cy="217140"/>
          </a:xfrm>
          <a:prstGeom prst="roundRect">
            <a:avLst>
              <a:gd name="adj" fmla="val 50000"/>
            </a:avLst>
          </a:prstGeom>
          <a:solidFill>
            <a:srgbClr val="006241"/>
          </a:solidFill>
          <a:ln/>
        </p:spPr>
      </p:sp>
      <p:sp>
        <p:nvSpPr>
          <p:cNvPr id="19" name="b3:rise"/>
          <p:cNvSpPr txBox="1"/>
          <p:nvPr/>
        </p:nvSpPr>
        <p:spPr>
          <a:xfrm>
            <a:off x="7007498" y="1676400"/>
            <a:ext cx="530825" cy="217140"/>
          </a:xfrm>
          <a:prstGeom prst="rect">
            <a:avLst/>
          </a:prstGeom>
          <a:noFill/>
          <a:ln/>
        </p:spPr>
        <p:txBody>
          <a:bodyPr wrap="none" lIns="104775" tIns="0" rIns="104775" bIns="0" rtlCol="0" anchor="ctr"/>
          <a:lstStyle/>
          <a:p>
            <a:pPr algn="l" indent="0" marL="0">
              <a:lnSpc>
                <a:spcPts val="1260"/>
              </a:lnSpc>
              <a:buNone/>
            </a:pPr>
            <a:r>
              <a:rPr lang="en-US" sz="900" b="1" spc="75" kern="0" dirty="0">
                <a:solidFill>
                  <a:srgbClr val="F7F5F0"/>
                </a:solidFill>
                <a:latin typeface="DM Sans" pitchFamily="34" charset="0"/>
                <a:ea typeface="DM Sans" pitchFamily="34" charset="-122"/>
                <a:cs typeface="DM Sans" pitchFamily="34" charset="-120"/>
              </a:rPr>
              <a:t>1987</a:t>
            </a:r>
            <a:endParaRPr lang="en-US" sz="900" dirty="0"/>
          </a:p>
        </p:txBody>
      </p:sp>
      <p:sp>
        <p:nvSpPr>
          <p:cNvPr id="20" name="b3:rise"/>
          <p:cNvSpPr/>
          <p:nvPr/>
        </p:nvSpPr>
        <p:spPr>
          <a:xfrm>
            <a:off x="5972175" y="1988790"/>
            <a:ext cx="2562225" cy="1714500"/>
          </a:xfrm>
          <a:prstGeom prst="roundRect">
            <a:avLst>
              <a:gd name="adj" fmla="val 444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1" name="b3:rise"/>
          <p:cNvSpPr txBox="1"/>
          <p:nvPr/>
        </p:nvSpPr>
        <p:spPr>
          <a:xfrm>
            <a:off x="6129338" y="2145953"/>
            <a:ext cx="2427732" cy="205680"/>
          </a:xfrm>
          <a:prstGeom prst="rect">
            <a:avLst/>
          </a:prstGeom>
          <a:noFill/>
          <a:ln/>
        </p:spPr>
        <p:txBody>
          <a:bodyPr wrap="none" lIns="0" tIns="0" rIns="0" bIns="0" rtlCol="0" anchor="ctr"/>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The Acquisition</a:t>
            </a:r>
            <a:endParaRPr lang="en-US" sz="1350" dirty="0"/>
          </a:p>
        </p:txBody>
      </p:sp>
      <p:sp>
        <p:nvSpPr>
          <p:cNvPr id="22" name="b3:rise"/>
          <p:cNvSpPr txBox="1"/>
          <p:nvPr/>
        </p:nvSpPr>
        <p:spPr>
          <a:xfrm>
            <a:off x="6129338" y="2408783"/>
            <a:ext cx="2337816" cy="746522"/>
          </a:xfrm>
          <a:prstGeom prst="rect">
            <a:avLst/>
          </a:prstGeom>
          <a:noFill/>
          <a:ln/>
        </p:spPr>
        <p:txBody>
          <a:bodyPr wrap="square" lIns="0" tIns="0" rIns="0" bIns="0" rtlCol="0" anchor="t"/>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Schultz buys Starbucks for </a:t>
            </a:r>
            <a:pPr algn="l" indent="0" marL="0">
              <a:lnSpc>
                <a:spcPts val="1470"/>
              </a:lnSpc>
              <a:buNone/>
            </a:pPr>
            <a:r>
              <a:rPr lang="en-US" sz="1050" b="1" dirty="0">
                <a:solidFill>
                  <a:srgbClr val="006241"/>
                </a:solidFill>
                <a:latin typeface="DM Sans" pitchFamily="34" charset="0"/>
                <a:ea typeface="DM Sans" pitchFamily="34" charset="-122"/>
                <a:cs typeface="DM Sans" pitchFamily="34" charset="-120"/>
              </a:rPr>
              <a:t>$3.8M</a:t>
            </a:r>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 merging his Il Giornale cafe concept into it to launch the modern coffeehouse era.</a:t>
            </a:r>
            <a:endParaRPr lang="en-US" sz="1050" dirty="0"/>
          </a:p>
        </p:txBody>
      </p:sp>
      <p:sp>
        <p:nvSpPr>
          <p:cNvPr id="23" name="b4:fade"/>
          <p:cNvSpPr txBox="1"/>
          <p:nvPr/>
        </p:nvSpPr>
        <p:spPr>
          <a:xfrm>
            <a:off x="609600" y="4137645"/>
            <a:ext cx="379012"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006241"/>
                </a:solidFill>
                <a:latin typeface="DM Sans" pitchFamily="34" charset="0"/>
                <a:ea typeface="DM Sans" pitchFamily="34" charset="-122"/>
                <a:cs typeface="DM Sans" pitchFamily="34" charset="-120"/>
              </a:rPr>
              <a:t>NEXT</a:t>
            </a:r>
            <a:endParaRPr lang="en-US" sz="900" dirty="0"/>
          </a:p>
        </p:txBody>
      </p:sp>
      <p:sp>
        <p:nvSpPr>
          <p:cNvPr id="24" name="b4:fade"/>
          <p:cNvSpPr txBox="1"/>
          <p:nvPr/>
        </p:nvSpPr>
        <p:spPr>
          <a:xfrm>
            <a:off x="1055787" y="4124325"/>
            <a:ext cx="6204668" cy="186630"/>
          </a:xfrm>
          <a:prstGeom prst="rect">
            <a:avLst/>
          </a:prstGeom>
          <a:noFill/>
          <a:ln/>
        </p:spPr>
        <p:txBody>
          <a:bodyPr wrap="none" lIns="0" tIns="0" rIns="0" bIns="0" rtlCol="0" anchor="ctr"/>
          <a:lstStyle/>
          <a:p>
            <a:pPr algn="l" indent="0" marL="0">
              <a:lnSpc>
                <a:spcPts val="1470"/>
              </a:lnSpc>
              <a:buNone/>
            </a:pPr>
            <a:r>
              <a:rPr lang="en-US" sz="1050" i="1" dirty="0">
                <a:solidFill>
                  <a:srgbClr val="3A3A36"/>
                </a:solidFill>
                <a:latin typeface="DM Sans" pitchFamily="34" charset="0"/>
                <a:ea typeface="DM Sans" pitchFamily="34" charset="-122"/>
                <a:cs typeface="DM Sans" pitchFamily="34" charset="-120"/>
              </a:rPr>
              <a:t>Schultz didn't just want to sell coffee; he wanted to create </a:t>
            </a:r>
            <a:pPr algn="l" indent="0" marL="0">
              <a:lnSpc>
                <a:spcPts val="1470"/>
              </a:lnSpc>
              <a:buNone/>
            </a:pPr>
            <a:r>
              <a:rPr lang="en-US" sz="1050" b="1" i="1" dirty="0">
                <a:solidFill>
                  <a:srgbClr val="006241"/>
                </a:solidFill>
                <a:latin typeface="DM Sans" pitchFamily="34" charset="0"/>
                <a:ea typeface="DM Sans" pitchFamily="34" charset="-122"/>
                <a:cs typeface="DM Sans" pitchFamily="34" charset="-120"/>
              </a:rPr>
              <a:t>a new space in human life</a:t>
            </a:r>
            <a:pPr algn="l" indent="0" marL="0">
              <a:lnSpc>
                <a:spcPts val="1470"/>
              </a:lnSpc>
              <a:buNone/>
            </a:pPr>
            <a:r>
              <a:rPr lang="en-US" sz="1050" i="1" dirty="0">
                <a:solidFill>
                  <a:srgbClr val="3A3A36"/>
                </a:solidFill>
                <a:latin typeface="DM Sans" pitchFamily="34" charset="0"/>
                <a:ea typeface="DM Sans" pitchFamily="34" charset="-122"/>
                <a:cs typeface="DM Sans" pitchFamily="34" charset="-120"/>
              </a:rPr>
              <a:t>…</a:t>
            </a:r>
            <a:endParaRPr lang="en-US" sz="1050" dirty="0"/>
          </a:p>
        </p:txBody>
      </p:sp>
      <p:sp>
        <p:nvSpPr>
          <p:cNvPr id="25" name="!!key3-1"/>
          <p:cNvSpPr/>
          <p:nvPr/>
        </p:nvSpPr>
        <p:spPr>
          <a:xfrm>
            <a:off x="6438900" y="4572000"/>
            <a:ext cx="2095500" cy="255240"/>
          </a:xfrm>
          <a:prstGeom prst="roundRect">
            <a:avLst>
              <a:gd name="adj" fmla="val 50000"/>
            </a:avLst>
          </a:prstGeom>
          <a:solidFill>
            <a:srgbClr val="CBA258"/>
          </a:solidFill>
          <a:ln/>
        </p:spPr>
      </p:sp>
      <p:sp>
        <p:nvSpPr>
          <p:cNvPr id="26" name="!!key3-2"/>
          <p:cNvSpPr txBox="1"/>
          <p:nvPr/>
        </p:nvSpPr>
        <p:spPr>
          <a:xfrm>
            <a:off x="6438900" y="45720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The Third Place</a:t>
            </a:r>
            <a:endParaRPr lang="en-US" sz="900" dirty="0"/>
          </a:p>
        </p:txBody>
      </p:sp>
      <p:sp>
        <p:nvSpPr>
          <p:cNvPr id="27" name="static"/>
          <p:cNvSpPr txBox="1"/>
          <p:nvPr/>
        </p:nvSpPr>
        <p:spPr>
          <a:xfrm>
            <a:off x="609600" y="4678710"/>
            <a:ext cx="1970708" cy="159990"/>
          </a:xfrm>
          <a:prstGeom prst="rect">
            <a:avLst/>
          </a:prstGeom>
          <a:noFill/>
          <a:ln/>
        </p:spPr>
        <p:txBody>
          <a:bodyPr wrap="none" lIns="0" tIns="0" rIns="0" bIns="0" rtlCol="0" anchor="ctr"/>
          <a:lstStyle/>
          <a:p>
            <a:pPr algn="l" indent="0" marL="0">
              <a:lnSpc>
                <a:spcPts val="1260"/>
              </a:lnSpc>
              <a:buNone/>
            </a:pPr>
            <a:r>
              <a:rPr lang="en-US" sz="900" dirty="0">
                <a:solidFill>
                  <a:srgbClr val="6B6A63"/>
                </a:solidFill>
                <a:latin typeface="DM Sans" pitchFamily="34" charset="0"/>
                <a:ea typeface="DM Sans" pitchFamily="34" charset="-122"/>
                <a:cs typeface="DM Sans" pitchFamily="34" charset="-120"/>
              </a:rPr>
              <a:t>Slide 3 of 8 · Part 2 · The Turning Point</a:t>
            </a:r>
            <a:endParaRPr lang="en-US" sz="900" dirty="0"/>
          </a:p>
        </p:txBody>
      </p:sp>
      <p:sp>
        <p:nvSpPr>
          <p:cNvPr id="28" name="static"/>
          <p:cNvSpPr/>
          <p:nvPr/>
        </p:nvSpPr>
        <p:spPr>
          <a:xfrm>
            <a:off x="2770808" y="4730130"/>
            <a:ext cx="57150" cy="57150"/>
          </a:xfrm>
          <a:prstGeom prst="roundRect">
            <a:avLst>
              <a:gd name="adj" fmla="val 50000"/>
            </a:avLst>
          </a:prstGeom>
          <a:solidFill>
            <a:srgbClr val="006241"/>
          </a:solidFill>
          <a:ln/>
        </p:spPr>
      </p:sp>
      <p:sp>
        <p:nvSpPr>
          <p:cNvPr id="29" name="static"/>
          <p:cNvSpPr/>
          <p:nvPr/>
        </p:nvSpPr>
        <p:spPr>
          <a:xfrm>
            <a:off x="2875583" y="4730130"/>
            <a:ext cx="57150" cy="57150"/>
          </a:xfrm>
          <a:prstGeom prst="roundRect">
            <a:avLst>
              <a:gd name="adj" fmla="val 50000"/>
            </a:avLst>
          </a:prstGeom>
          <a:solidFill>
            <a:srgbClr val="006241"/>
          </a:solidFill>
          <a:ln/>
        </p:spPr>
      </p:sp>
      <p:sp>
        <p:nvSpPr>
          <p:cNvPr id="30" name="static"/>
          <p:cNvSpPr/>
          <p:nvPr/>
        </p:nvSpPr>
        <p:spPr>
          <a:xfrm>
            <a:off x="2980358" y="4730130"/>
            <a:ext cx="171450" cy="57150"/>
          </a:xfrm>
          <a:prstGeom prst="roundRect">
            <a:avLst>
              <a:gd name="adj" fmla="val 50000"/>
            </a:avLst>
          </a:prstGeom>
          <a:solidFill>
            <a:srgbClr val="CBA258"/>
          </a:solidFill>
          <a:ln/>
        </p:spPr>
      </p:sp>
      <p:sp>
        <p:nvSpPr>
          <p:cNvPr id="31" name="static"/>
          <p:cNvSpPr/>
          <p:nvPr/>
        </p:nvSpPr>
        <p:spPr>
          <a:xfrm>
            <a:off x="3199433" y="4730130"/>
            <a:ext cx="57150" cy="57150"/>
          </a:xfrm>
          <a:prstGeom prst="roundRect">
            <a:avLst>
              <a:gd name="adj" fmla="val 50000"/>
            </a:avLst>
          </a:prstGeom>
          <a:solidFill>
            <a:srgbClr val="C5D8D0"/>
          </a:solidFill>
          <a:ln/>
        </p:spPr>
      </p:sp>
      <p:sp>
        <p:nvSpPr>
          <p:cNvPr id="32" name="static"/>
          <p:cNvSpPr/>
          <p:nvPr/>
        </p:nvSpPr>
        <p:spPr>
          <a:xfrm>
            <a:off x="3304208" y="4730130"/>
            <a:ext cx="57150" cy="57150"/>
          </a:xfrm>
          <a:prstGeom prst="roundRect">
            <a:avLst>
              <a:gd name="adj" fmla="val 50000"/>
            </a:avLst>
          </a:prstGeom>
          <a:solidFill>
            <a:srgbClr val="C5D8D0"/>
          </a:solidFill>
          <a:ln/>
        </p:spPr>
      </p:sp>
      <p:sp>
        <p:nvSpPr>
          <p:cNvPr id="33" name="static"/>
          <p:cNvSpPr/>
          <p:nvPr/>
        </p:nvSpPr>
        <p:spPr>
          <a:xfrm>
            <a:off x="3408983" y="4730130"/>
            <a:ext cx="57150" cy="57150"/>
          </a:xfrm>
          <a:prstGeom prst="roundRect">
            <a:avLst>
              <a:gd name="adj" fmla="val 50000"/>
            </a:avLst>
          </a:prstGeom>
          <a:solidFill>
            <a:srgbClr val="C5D8D0"/>
          </a:solidFill>
          <a:ln/>
        </p:spPr>
      </p:sp>
      <p:sp>
        <p:nvSpPr>
          <p:cNvPr id="34" name="static"/>
          <p:cNvSpPr/>
          <p:nvPr/>
        </p:nvSpPr>
        <p:spPr>
          <a:xfrm>
            <a:off x="3513758" y="4730130"/>
            <a:ext cx="57150" cy="57150"/>
          </a:xfrm>
          <a:prstGeom prst="roundRect">
            <a:avLst>
              <a:gd name="adj" fmla="val 50000"/>
            </a:avLst>
          </a:prstGeom>
          <a:solidFill>
            <a:srgbClr val="C5D8D0"/>
          </a:solidFill>
          <a:ln/>
        </p:spPr>
      </p:sp>
      <p:sp>
        <p:nvSpPr>
          <p:cNvPr id="35" name="static"/>
          <p:cNvSpPr/>
          <p:nvPr/>
        </p:nvSpPr>
        <p:spPr>
          <a:xfrm>
            <a:off x="3618533" y="4730130"/>
            <a:ext cx="57150" cy="57150"/>
          </a:xfrm>
          <a:prstGeom prst="roundRect">
            <a:avLst>
              <a:gd name="adj" fmla="val 50000"/>
            </a:avLst>
          </a:prstGeom>
          <a:solidFill>
            <a:srgbClr val="C5D8D0"/>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700"/>
                                        <p:tgtEl>
                                          <p:spTgt spid="8"/>
                                        </p:tgtEl>
                                      </p:cBhvr>
                                    </p:animEffect>
                                    <p:anim calcmode="lin" valueType="num">
                                      <p:cBhvr additive="base">
                                        <p:cTn id="6" dur="700" fill="hold"/>
                                        <p:tgtEl>
                                          <p:spTgt spid="8"/>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700"/>
                                        <p:tgtEl>
                                          <p:spTgt spid="9"/>
                                        </p:tgtEl>
                                      </p:cBhvr>
                                    </p:animEffect>
                                    <p:anim calcmode="lin" valueType="num">
                                      <p:cBhvr additive="base">
                                        <p:cTn id="10" dur="700" fill="hold"/>
                                        <p:tgtEl>
                                          <p:spTgt spid="9"/>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700"/>
                                        <p:tgtEl>
                                          <p:spTgt spid="10"/>
                                        </p:tgtEl>
                                      </p:cBhvr>
                                    </p:animEffect>
                                    <p:anim calcmode="lin" valueType="num">
                                      <p:cBhvr additive="base">
                                        <p:cTn id="14" dur="700" fill="hold"/>
                                        <p:tgtEl>
                                          <p:spTgt spid="10"/>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700"/>
                                        <p:tgtEl>
                                          <p:spTgt spid="11"/>
                                        </p:tgtEl>
                                      </p:cBhvr>
                                    </p:animEffect>
                                    <p:anim calcmode="lin" valueType="num">
                                      <p:cBhvr additive="base">
                                        <p:cTn id="18" dur="700" fill="hold"/>
                                        <p:tgtEl>
                                          <p:spTgt spid="11"/>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700"/>
                                        <p:tgtEl>
                                          <p:spTgt spid="12"/>
                                        </p:tgtEl>
                                      </p:cBhvr>
                                    </p:animEffect>
                                    <p:anim calcmode="lin" valueType="num">
                                      <p:cBhvr additive="base">
                                        <p:cTn id="22" dur="700" fill="hold"/>
                                        <p:tgtEl>
                                          <p:spTgt spid="12"/>
                                        </p:tgtEl>
                                        <p:attrNameLst>
                                          <p:attrName>ppt_y</p:attrName>
                                        </p:attrNameLst>
                                      </p:cBhvr>
                                      <p:tavLst>
                                        <p:tav tm="0">
                                          <p:val>
                                            <p:strVal val="#ppt_y+.08"/>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700"/>
                                        <p:tgtEl>
                                          <p:spTgt spid="13"/>
                                        </p:tgtEl>
                                      </p:cBhvr>
                                    </p:animEffect>
                                    <p:anim calcmode="lin" valueType="num">
                                      <p:cBhvr additive="base">
                                        <p:cTn id="28" dur="700" fill="hold"/>
                                        <p:tgtEl>
                                          <p:spTgt spid="13"/>
                                        </p:tgtEl>
                                        <p:attrNameLst>
                                          <p:attrName>ppt_y</p:attrName>
                                        </p:attrNameLst>
                                      </p:cBhvr>
                                      <p:tavLst>
                                        <p:tav tm="0">
                                          <p:val>
                                            <p:strVal val="#ppt_y+.08"/>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700"/>
                                        <p:tgtEl>
                                          <p:spTgt spid="14"/>
                                        </p:tgtEl>
                                      </p:cBhvr>
                                    </p:animEffect>
                                    <p:anim calcmode="lin" valueType="num">
                                      <p:cBhvr additive="base">
                                        <p:cTn id="32" dur="700" fill="hold"/>
                                        <p:tgtEl>
                                          <p:spTgt spid="14"/>
                                        </p:tgtEl>
                                        <p:attrNameLst>
                                          <p:attrName>ppt_y</p:attrName>
                                        </p:attrNameLst>
                                      </p:cBhvr>
                                      <p:tavLst>
                                        <p:tav tm="0">
                                          <p:val>
                                            <p:strVal val="#ppt_y+.0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700"/>
                                        <p:tgtEl>
                                          <p:spTgt spid="15"/>
                                        </p:tgtEl>
                                      </p:cBhvr>
                                    </p:animEffect>
                                    <p:anim calcmode="lin" valueType="num">
                                      <p:cBhvr additive="base">
                                        <p:cTn id="36" dur="700" fill="hold"/>
                                        <p:tgtEl>
                                          <p:spTgt spid="15"/>
                                        </p:tgtEl>
                                        <p:attrNameLst>
                                          <p:attrName>ppt_y</p:attrName>
                                        </p:attrNameLst>
                                      </p:cBhvr>
                                      <p:tavLst>
                                        <p:tav tm="0">
                                          <p:val>
                                            <p:strVal val="#ppt_y+.08"/>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700"/>
                                        <p:tgtEl>
                                          <p:spTgt spid="16"/>
                                        </p:tgtEl>
                                      </p:cBhvr>
                                    </p:animEffect>
                                    <p:anim calcmode="lin" valueType="num">
                                      <p:cBhvr additive="base">
                                        <p:cTn id="40" dur="700" fill="hold"/>
                                        <p:tgtEl>
                                          <p:spTgt spid="16"/>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700"/>
                                        <p:tgtEl>
                                          <p:spTgt spid="17"/>
                                        </p:tgtEl>
                                      </p:cBhvr>
                                    </p:animEffect>
                                    <p:anim calcmode="lin" valueType="num">
                                      <p:cBhvr additive="base">
                                        <p:cTn id="44" dur="700" fill="hold"/>
                                        <p:tgtEl>
                                          <p:spTgt spid="17"/>
                                        </p:tgtEl>
                                        <p:attrNameLst>
                                          <p:attrName>ppt_y</p:attrName>
                                        </p:attrNameLst>
                                      </p:cBhvr>
                                      <p:tavLst>
                                        <p:tav tm="0">
                                          <p:val>
                                            <p:strVal val="#ppt_y+.08"/>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700"/>
                                        <p:tgtEl>
                                          <p:spTgt spid="18"/>
                                        </p:tgtEl>
                                      </p:cBhvr>
                                    </p:animEffect>
                                    <p:anim calcmode="lin" valueType="num">
                                      <p:cBhvr additive="base">
                                        <p:cTn id="50" dur="700" fill="hold"/>
                                        <p:tgtEl>
                                          <p:spTgt spid="18"/>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700"/>
                                        <p:tgtEl>
                                          <p:spTgt spid="19"/>
                                        </p:tgtEl>
                                      </p:cBhvr>
                                    </p:animEffect>
                                    <p:anim calcmode="lin" valueType="num">
                                      <p:cBhvr additive="base">
                                        <p:cTn id="54" dur="700" fill="hold"/>
                                        <p:tgtEl>
                                          <p:spTgt spid="19"/>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700"/>
                                        <p:tgtEl>
                                          <p:spTgt spid="20"/>
                                        </p:tgtEl>
                                      </p:cBhvr>
                                    </p:animEffect>
                                    <p:anim calcmode="lin" valueType="num">
                                      <p:cBhvr additive="base">
                                        <p:cTn id="58" dur="700" fill="hold"/>
                                        <p:tgtEl>
                                          <p:spTgt spid="20"/>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700"/>
                                        <p:tgtEl>
                                          <p:spTgt spid="21"/>
                                        </p:tgtEl>
                                      </p:cBhvr>
                                    </p:animEffect>
                                    <p:anim calcmode="lin" valueType="num">
                                      <p:cBhvr additive="base">
                                        <p:cTn id="62" dur="700" fill="hold"/>
                                        <p:tgtEl>
                                          <p:spTgt spid="21"/>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700"/>
                                        <p:tgtEl>
                                          <p:spTgt spid="22"/>
                                        </p:tgtEl>
                                      </p:cBhvr>
                                    </p:animEffect>
                                    <p:anim calcmode="lin" valueType="num">
                                      <p:cBhvr additive="base">
                                        <p:cTn id="66" dur="700" fill="hold"/>
                                        <p:tgtEl>
                                          <p:spTgt spid="22"/>
                                        </p:tgtEl>
                                        <p:attrNameLst>
                                          <p:attrName>ppt_y</p:attrName>
                                        </p:attrNameLst>
                                      </p:cBhvr>
                                      <p:tavLst>
                                        <p:tav tm="0">
                                          <p:val>
                                            <p:strVal val="#ppt_y+.08"/>
                                          </p:val>
                                        </p:tav>
                                        <p:tav tm="100000">
                                          <p:val>
                                            <p:strVal val="#ppt_y"/>
                                          </p:val>
                                        </p:tav>
                                      </p:tavLst>
                                    </p:anim>
                                  </p:childTnLst>
                                </p:cTn>
                              </p:par>
                            </p:childTnLst>
                          </p:cTn>
                        </p:par>
                      </p:childTnLst>
                    </p:cTn>
                  </p:par>
                  <p:par>
                    <p:cTn id="75" fill="hold">
                      <p:stCondLst>
                        <p:cond delay="indefinite"/>
                      </p:stCondLst>
                      <p:childTnLst>
                        <p:par>
                          <p:cTn id="76"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5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500"/>
                                        <p:tgtEl>
                                          <p:spTgt spid="24"/>
                                        </p:tgtEl>
                                      </p:cBhvr>
                                    </p:animEffect>
                                  </p:childTnLst>
                                </p:cTn>
                              </p:par>
                            </p:childTnLst>
                          </p:cTn>
                        </p:par>
                      </p:childTnLst>
                    </p:cTn>
                  </p:par>
                  <p:par>
                    <p:cTn id="85" fill="hold">
                      <p:stCondLst>
                        <p:cond delay="indefinite"/>
                      </p:stCondLst>
                      <p:childTnLst>
                        <p:par>
                          <p:cTn id="86" fill="hold">
                            <p:stCondLst>
                              <p:cond delay="0"/>
                            </p:stCondLst>
                            <p:childTnLst>
                              <p:par>
                                <p:cTn id="77" presetID="23" presetClass="entr" presetSubtype="16" fill="hold" grpId="0" nodeType="clickEffect">
                                  <p:stCondLst>
                                    <p:cond delay="0"/>
                                  </p:stCondLst>
                                  <p:childTnLst>
                                    <p:set>
                                      <p:cBhvr>
                                        <p:cTn id="78" dur="1" fill="hold">
                                          <p:stCondLst>
                                            <p:cond delay="0"/>
                                          </p:stCondLst>
                                        </p:cTn>
                                        <p:tgtEl>
                                          <p:spTgt spid="25"/>
                                        </p:tgtEl>
                                        <p:attrNameLst>
                                          <p:attrName>style.visibility</p:attrName>
                                        </p:attrNameLst>
                                      </p:cBhvr>
                                      <p:to>
                                        <p:strVal val="visible"/>
                                      </p:to>
                                    </p:set>
                                    <p:animScale>
                                      <p:cBhvr>
                                        <p:cTn id="79" dur="500" fill="hold"/>
                                        <p:tgtEl>
                                          <p:spTgt spid="25"/>
                                        </p:tgtEl>
                                      </p:cBhvr>
                                      <p:from x="0" y="0"/>
                                      <p:to x="100000" y="100000"/>
                                    </p:animScale>
                                    <p:animEffect transition="in" filter="fade">
                                      <p:cBhvr>
                                        <p:cTn id="80" dur="500"/>
                                        <p:tgtEl>
                                          <p:spTgt spid="25"/>
                                        </p:tgtEl>
                                      </p:cBhvr>
                                    </p:animEffect>
                                  </p:childTnLst>
                                </p:cTn>
                              </p:par>
                              <p:par>
                                <p:cTn id="81" presetID="23" presetClass="entr" presetSubtype="16" fill="hold" grpId="0" nodeType="withEffect">
                                  <p:stCondLst>
                                    <p:cond delay="0"/>
                                  </p:stCondLst>
                                  <p:childTnLst>
                                    <p:set>
                                      <p:cBhvr>
                                        <p:cTn id="82" dur="1" fill="hold">
                                          <p:stCondLst>
                                            <p:cond delay="0"/>
                                          </p:stCondLst>
                                        </p:cTn>
                                        <p:tgtEl>
                                          <p:spTgt spid="26"/>
                                        </p:tgtEl>
                                        <p:attrNameLst>
                                          <p:attrName>style.visibility</p:attrName>
                                        </p:attrNameLst>
                                      </p:cBhvr>
                                      <p:to>
                                        <p:strVal val="visible"/>
                                      </p:to>
                                    </p:set>
                                    <p:animScale>
                                      <p:cBhvr>
                                        <p:cTn id="83" dur="500" fill="hold"/>
                                        <p:tgtEl>
                                          <p:spTgt spid="26"/>
                                        </p:tgtEl>
                                      </p:cBhvr>
                                      <p:from x="0" y="0"/>
                                      <p:to x="100000" y="100000"/>
                                    </p:animScale>
                                    <p:animEffect transition="in" filter="fade">
                                      <p:cBhvr>
                                        <p:cTn id="84"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35235"/>
          </a:xfrm>
          <a:prstGeom prst="rect">
            <a:avLst/>
          </a:prstGeom>
          <a:noFill/>
          <a:ln/>
        </p:spPr>
        <p:txBody>
          <a:bodyPr wrap="none" lIns="0" tIns="0" rIns="0" bIns="0" rtlCol="0" anchor="ctr"/>
          <a:lstStyle/>
          <a:p>
            <a:pPr algn="l" indent="0" marL="0">
              <a:lnSpc>
                <a:spcPts val="2640"/>
              </a:lnSpc>
              <a:buNone/>
            </a:pPr>
            <a:r>
              <a:rPr lang="en-US" sz="2400" b="1" dirty="0">
                <a:solidFill>
                  <a:srgbClr val="191919"/>
                </a:solidFill>
                <a:latin typeface="Fraunces" pitchFamily="34" charset="0"/>
                <a:ea typeface="Fraunces" pitchFamily="34" charset="-122"/>
                <a:cs typeface="Fraunces" pitchFamily="34" charset="-120"/>
              </a:rPr>
              <a:t>Chapter 3: "The Third Place" Framework</a:t>
            </a:r>
            <a:endParaRPr lang="en-US" sz="2400" dirty="0"/>
          </a:p>
        </p:txBody>
      </p:sp>
      <p:sp>
        <p:nvSpPr>
          <p:cNvPr id="3" name="static"/>
          <p:cNvSpPr txBox="1"/>
          <p:nvPr/>
        </p:nvSpPr>
        <p:spPr>
          <a:xfrm>
            <a:off x="609600" y="1211535"/>
            <a:ext cx="6686550" cy="210443"/>
          </a:xfrm>
          <a:prstGeom prst="rect">
            <a:avLst/>
          </a:prstGeom>
          <a:noFill/>
          <a:ln/>
        </p:spPr>
        <p:txBody>
          <a:bodyPr wrap="none" lIns="0" tIns="0" rIns="0" bIns="0" rtlCol="0" anchor="ctr"/>
          <a:lstStyle/>
          <a:p>
            <a:pPr algn="l" indent="0" marL="0">
              <a:lnSpc>
                <a:spcPts val="1658"/>
              </a:lnSpc>
              <a:buNone/>
            </a:pPr>
            <a:r>
              <a:rPr lang="en-US" sz="1275" dirty="0">
                <a:solidFill>
                  <a:srgbClr val="3A3A36"/>
                </a:solidFill>
                <a:latin typeface="DM Sans" pitchFamily="34" charset="0"/>
                <a:ea typeface="DM Sans" pitchFamily="34" charset="-122"/>
                <a:cs typeface="DM Sans" pitchFamily="34" charset="-120"/>
              </a:rPr>
              <a:t>The Core Brand Philosophy</a:t>
            </a:r>
            <a:endParaRPr lang="en-US" sz="1275" dirty="0"/>
          </a:p>
        </p:txBody>
      </p:sp>
      <p:sp>
        <p:nvSpPr>
          <p:cNvPr id="4" name="static"/>
          <p:cNvSpPr txBox="1"/>
          <p:nvPr/>
        </p:nvSpPr>
        <p:spPr>
          <a:xfrm>
            <a:off x="609600" y="457200"/>
            <a:ext cx="411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006241"/>
                </a:solidFill>
                <a:latin typeface="DM Sans" pitchFamily="34" charset="0"/>
                <a:ea typeface="DM Sans" pitchFamily="34" charset="-122"/>
                <a:cs typeface="DM Sans" pitchFamily="34" charset="-120"/>
              </a:rPr>
              <a:t>PART 2 · CONCEPT DEVELOPMENT</a:t>
            </a:r>
            <a:endParaRPr lang="en-US" sz="900" dirty="0"/>
          </a:p>
        </p:txBody>
      </p:sp>
      <p:sp>
        <p:nvSpPr>
          <p:cNvPr id="5" name="!!key3-1"/>
          <p:cNvSpPr/>
          <p:nvPr/>
        </p:nvSpPr>
        <p:spPr>
          <a:xfrm>
            <a:off x="6438900" y="419100"/>
            <a:ext cx="2095500" cy="255240"/>
          </a:xfrm>
          <a:prstGeom prst="roundRect">
            <a:avLst>
              <a:gd name="adj" fmla="val 50000"/>
            </a:avLst>
          </a:prstGeom>
          <a:solidFill>
            <a:srgbClr val="CBA258"/>
          </a:solidFill>
          <a:ln/>
        </p:spPr>
      </p:sp>
      <p:sp>
        <p:nvSpPr>
          <p:cNvPr id="6" name="!!key3-2"/>
          <p:cNvSpPr txBox="1"/>
          <p:nvPr/>
        </p:nvSpPr>
        <p:spPr>
          <a:xfrm>
            <a:off x="6438900" y="4191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The Third Place</a:t>
            </a:r>
            <a:endParaRPr lang="en-US" sz="900" dirty="0"/>
          </a:p>
        </p:txBody>
      </p:sp>
      <p:sp>
        <p:nvSpPr>
          <p:cNvPr id="7" name="b1:rise"/>
          <p:cNvSpPr/>
          <p:nvPr/>
        </p:nvSpPr>
        <p:spPr>
          <a:xfrm>
            <a:off x="609600" y="1676400"/>
            <a:ext cx="7924800" cy="761851"/>
          </a:xfrm>
          <a:prstGeom prst="roundRect">
            <a:avLst>
              <a:gd name="adj" fmla="val 10002"/>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8" name="b1:rise"/>
          <p:cNvSpPr/>
          <p:nvPr/>
        </p:nvSpPr>
        <p:spPr>
          <a:xfrm>
            <a:off x="766763" y="1788765"/>
            <a:ext cx="1143000" cy="537121"/>
          </a:xfrm>
          <a:prstGeom prst="roundRect">
            <a:avLst>
              <a:gd name="adj" fmla="val 10640"/>
            </a:avLst>
          </a:prstGeom>
          <a:solidFill>
            <a:srgbClr val="F7F5F0"/>
          </a:solidFill>
          <a:ln/>
        </p:spPr>
      </p:sp>
      <p:sp>
        <p:nvSpPr>
          <p:cNvPr id="9" name="b1:rise"/>
          <p:cNvSpPr txBox="1"/>
          <p:nvPr/>
        </p:nvSpPr>
        <p:spPr>
          <a:xfrm>
            <a:off x="881063" y="1864965"/>
            <a:ext cx="987552"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1ST PLACE</a:t>
            </a:r>
            <a:endParaRPr lang="en-US" sz="900" dirty="0"/>
          </a:p>
        </p:txBody>
      </p:sp>
      <p:sp>
        <p:nvSpPr>
          <p:cNvPr id="10" name="b1:rise"/>
          <p:cNvSpPr txBox="1"/>
          <p:nvPr/>
        </p:nvSpPr>
        <p:spPr>
          <a:xfrm>
            <a:off x="881063" y="2044005"/>
            <a:ext cx="987552" cy="205680"/>
          </a:xfrm>
          <a:prstGeom prst="rect">
            <a:avLst/>
          </a:prstGeom>
          <a:noFill/>
          <a:ln/>
        </p:spPr>
        <p:txBody>
          <a:bodyPr wrap="none" lIns="0" tIns="0" rIns="0" bIns="0" rtlCol="0" anchor="ctr"/>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Home</a:t>
            </a:r>
            <a:endParaRPr lang="en-US" sz="1350" dirty="0"/>
          </a:p>
        </p:txBody>
      </p:sp>
      <p:sp>
        <p:nvSpPr>
          <p:cNvPr id="11" name="b1:rise"/>
          <p:cNvSpPr/>
          <p:nvPr/>
        </p:nvSpPr>
        <p:spPr>
          <a:xfrm>
            <a:off x="1985963" y="2000176"/>
            <a:ext cx="228600" cy="114300"/>
          </a:xfrm>
          <a:prstGeom prst="rightArrow">
            <a:avLst/>
          </a:prstGeom>
          <a:solidFill>
            <a:srgbClr val="CBA258"/>
          </a:solidFill>
          <a:ln/>
        </p:spPr>
      </p:sp>
      <p:sp>
        <p:nvSpPr>
          <p:cNvPr id="12" name="b1:rise"/>
          <p:cNvSpPr/>
          <p:nvPr/>
        </p:nvSpPr>
        <p:spPr>
          <a:xfrm>
            <a:off x="2290762" y="1788765"/>
            <a:ext cx="1143000" cy="537121"/>
          </a:xfrm>
          <a:prstGeom prst="roundRect">
            <a:avLst>
              <a:gd name="adj" fmla="val 10640"/>
            </a:avLst>
          </a:prstGeom>
          <a:solidFill>
            <a:srgbClr val="F7F5F0"/>
          </a:solidFill>
          <a:ln/>
        </p:spPr>
      </p:sp>
      <p:sp>
        <p:nvSpPr>
          <p:cNvPr id="13" name="b1:rise"/>
          <p:cNvSpPr txBox="1"/>
          <p:nvPr/>
        </p:nvSpPr>
        <p:spPr>
          <a:xfrm>
            <a:off x="2405062" y="1864965"/>
            <a:ext cx="987552"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2ND PLACE</a:t>
            </a:r>
            <a:endParaRPr lang="en-US" sz="900" dirty="0"/>
          </a:p>
        </p:txBody>
      </p:sp>
      <p:sp>
        <p:nvSpPr>
          <p:cNvPr id="14" name="b1:rise"/>
          <p:cNvSpPr txBox="1"/>
          <p:nvPr/>
        </p:nvSpPr>
        <p:spPr>
          <a:xfrm>
            <a:off x="2405062" y="2044005"/>
            <a:ext cx="987552" cy="205680"/>
          </a:xfrm>
          <a:prstGeom prst="rect">
            <a:avLst/>
          </a:prstGeom>
          <a:noFill/>
          <a:ln/>
        </p:spPr>
        <p:txBody>
          <a:bodyPr wrap="none" lIns="0" tIns="0" rIns="0" bIns="0" rtlCol="0" anchor="ctr"/>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Work</a:t>
            </a:r>
            <a:endParaRPr lang="en-US" sz="1350" dirty="0"/>
          </a:p>
        </p:txBody>
      </p:sp>
      <p:sp>
        <p:nvSpPr>
          <p:cNvPr id="15" name="b1:rise"/>
          <p:cNvSpPr/>
          <p:nvPr/>
        </p:nvSpPr>
        <p:spPr>
          <a:xfrm>
            <a:off x="3509963" y="2000176"/>
            <a:ext cx="228600" cy="114300"/>
          </a:xfrm>
          <a:prstGeom prst="rightArrow">
            <a:avLst/>
          </a:prstGeom>
          <a:solidFill>
            <a:srgbClr val="CBA258"/>
          </a:solidFill>
          <a:ln/>
        </p:spPr>
      </p:sp>
      <p:sp>
        <p:nvSpPr>
          <p:cNvPr id="16" name="b1:rise"/>
          <p:cNvSpPr/>
          <p:nvPr/>
        </p:nvSpPr>
        <p:spPr>
          <a:xfrm>
            <a:off x="3814763" y="1788765"/>
            <a:ext cx="1143000" cy="537121"/>
          </a:xfrm>
          <a:prstGeom prst="roundRect">
            <a:avLst>
              <a:gd name="adj" fmla="val 10640"/>
            </a:avLst>
          </a:prstGeom>
          <a:solidFill>
            <a:srgbClr val="006241"/>
          </a:solidFill>
          <a:ln/>
        </p:spPr>
      </p:sp>
      <p:sp>
        <p:nvSpPr>
          <p:cNvPr id="17" name="b1:rise"/>
          <p:cNvSpPr txBox="1"/>
          <p:nvPr/>
        </p:nvSpPr>
        <p:spPr>
          <a:xfrm>
            <a:off x="3929063" y="1864965"/>
            <a:ext cx="987552"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D4E9E2"/>
                </a:solidFill>
                <a:latin typeface="DM Sans" pitchFamily="34" charset="0"/>
                <a:ea typeface="DM Sans" pitchFamily="34" charset="-122"/>
                <a:cs typeface="DM Sans" pitchFamily="34" charset="-120"/>
              </a:rPr>
              <a:t>3RD PLACE</a:t>
            </a:r>
            <a:endParaRPr lang="en-US" sz="900" dirty="0"/>
          </a:p>
        </p:txBody>
      </p:sp>
      <p:sp>
        <p:nvSpPr>
          <p:cNvPr id="18" name="b1:rise"/>
          <p:cNvSpPr txBox="1"/>
          <p:nvPr/>
        </p:nvSpPr>
        <p:spPr>
          <a:xfrm>
            <a:off x="3929063" y="2044005"/>
            <a:ext cx="987552" cy="205680"/>
          </a:xfrm>
          <a:prstGeom prst="rect">
            <a:avLst/>
          </a:prstGeom>
          <a:noFill/>
          <a:ln/>
        </p:spPr>
        <p:txBody>
          <a:bodyPr wrap="none" lIns="0" tIns="0" rIns="0" bIns="0" rtlCol="0" anchor="ctr"/>
          <a:lstStyle/>
          <a:p>
            <a:pPr algn="l" indent="0" marL="0">
              <a:lnSpc>
                <a:spcPts val="1620"/>
              </a:lnSpc>
              <a:buNone/>
            </a:pPr>
            <a:r>
              <a:rPr lang="en-US" sz="1350" b="1" dirty="0">
                <a:solidFill>
                  <a:srgbClr val="F7F5F0"/>
                </a:solidFill>
                <a:latin typeface="Fraunces" pitchFamily="34" charset="0"/>
                <a:ea typeface="Fraunces" pitchFamily="34" charset="-122"/>
                <a:cs typeface="Fraunces" pitchFamily="34" charset="-120"/>
              </a:rPr>
              <a:t>Starbucks</a:t>
            </a:r>
            <a:endParaRPr lang="en-US" sz="1350" dirty="0"/>
          </a:p>
        </p:txBody>
      </p:sp>
      <p:sp>
        <p:nvSpPr>
          <p:cNvPr id="19" name="b1:rise"/>
          <p:cNvSpPr txBox="1"/>
          <p:nvPr/>
        </p:nvSpPr>
        <p:spPr>
          <a:xfrm>
            <a:off x="5110162" y="1776413"/>
            <a:ext cx="3528441"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PILLAR 1 · THE THIRD PLACE</a:t>
            </a:r>
            <a:endParaRPr lang="en-US" sz="900" dirty="0"/>
          </a:p>
        </p:txBody>
      </p:sp>
      <p:sp>
        <p:nvSpPr>
          <p:cNvPr id="20" name="b1:rise"/>
          <p:cNvSpPr txBox="1"/>
          <p:nvPr/>
        </p:nvSpPr>
        <p:spPr>
          <a:xfrm>
            <a:off x="5110162" y="1964978"/>
            <a:ext cx="3397758" cy="373261"/>
          </a:xfrm>
          <a:prstGeom prst="rect">
            <a:avLst/>
          </a:prstGeom>
          <a:noFill/>
          <a:ln/>
        </p:spPr>
        <p:txBody>
          <a:bodyPr wrap="square" lIns="0" tIns="0" rIns="0" bIns="0" rtlCol="0" anchor="t"/>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A comforting, pressure-free sanctuary between home and work.</a:t>
            </a:r>
            <a:endParaRPr lang="en-US" sz="1050" dirty="0"/>
          </a:p>
        </p:txBody>
      </p:sp>
      <p:sp>
        <p:nvSpPr>
          <p:cNvPr id="21" name="b2:rise"/>
          <p:cNvSpPr/>
          <p:nvPr/>
        </p:nvSpPr>
        <p:spPr>
          <a:xfrm>
            <a:off x="609600" y="2486025"/>
            <a:ext cx="3905250" cy="1190625"/>
          </a:xfrm>
          <a:prstGeom prst="roundRect">
            <a:avLst>
              <a:gd name="adj" fmla="val 6400"/>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2" name="b2:rise"/>
          <p:cNvSpPr txBox="1"/>
          <p:nvPr/>
        </p:nvSpPr>
        <p:spPr>
          <a:xfrm>
            <a:off x="766763" y="2643188"/>
            <a:ext cx="3878199"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PILLAR 2 · EMOTIONAL CONNECTION</a:t>
            </a:r>
            <a:endParaRPr lang="en-US" sz="900" dirty="0"/>
          </a:p>
        </p:txBody>
      </p:sp>
      <p:sp>
        <p:nvSpPr>
          <p:cNvPr id="23" name="b2:rise"/>
          <p:cNvSpPr txBox="1"/>
          <p:nvPr/>
        </p:nvSpPr>
        <p:spPr>
          <a:xfrm>
            <a:off x="766763" y="2879378"/>
            <a:ext cx="3734562" cy="373261"/>
          </a:xfrm>
          <a:prstGeom prst="rect">
            <a:avLst/>
          </a:prstGeom>
          <a:noFill/>
          <a:ln/>
        </p:spPr>
        <p:txBody>
          <a:bodyPr wrap="square" lIns="0" tIns="0" rIns="0" bIns="0" rtlCol="0" anchor="t"/>
          <a:lstStyle/>
          <a:p>
            <a:pPr algn="l" indent="0" marL="0">
              <a:lnSpc>
                <a:spcPts val="1470"/>
              </a:lnSpc>
              <a:buNone/>
            </a:pPr>
            <a:r>
              <a:rPr lang="en-US" sz="1050" i="1" dirty="0">
                <a:solidFill>
                  <a:srgbClr val="191919"/>
                </a:solidFill>
                <a:latin typeface="Fraunces" pitchFamily="34" charset="0"/>
                <a:ea typeface="Fraunces" pitchFamily="34" charset="-122"/>
                <a:cs typeface="Fraunces" pitchFamily="34" charset="-120"/>
              </a:rPr>
              <a:t>"We aren't in the coffee business serving people; we're in the people business serving coffee."</a:t>
            </a:r>
            <a:endParaRPr lang="en-US" sz="1050" dirty="0"/>
          </a:p>
        </p:txBody>
      </p:sp>
      <p:sp>
        <p:nvSpPr>
          <p:cNvPr id="24" name="b2:rise"/>
          <p:cNvSpPr txBox="1"/>
          <p:nvPr/>
        </p:nvSpPr>
        <p:spPr>
          <a:xfrm>
            <a:off x="766763" y="3328839"/>
            <a:ext cx="3878199" cy="159990"/>
          </a:xfrm>
          <a:prstGeom prst="rect">
            <a:avLst/>
          </a:prstGeom>
          <a:noFill/>
          <a:ln/>
        </p:spPr>
        <p:txBody>
          <a:bodyPr wrap="none" lIns="0" tIns="0" rIns="0" bIns="0" rtlCol="0" anchor="ctr"/>
          <a:lstStyle/>
          <a:p>
            <a:pPr algn="l" indent="0" marL="0">
              <a:lnSpc>
                <a:spcPts val="1260"/>
              </a:lnSpc>
              <a:buNone/>
            </a:pPr>
            <a:r>
              <a:rPr lang="en-US" sz="900" dirty="0">
                <a:solidFill>
                  <a:srgbClr val="6B6A63"/>
                </a:solidFill>
                <a:latin typeface="DM Sans" pitchFamily="34" charset="0"/>
                <a:ea typeface="DM Sans" pitchFamily="34" charset="-122"/>
                <a:cs typeface="DM Sans" pitchFamily="34" charset="-120"/>
              </a:rPr>
              <a:t>Howard Schultz</a:t>
            </a:r>
            <a:endParaRPr lang="en-US" sz="900" dirty="0"/>
          </a:p>
        </p:txBody>
      </p:sp>
      <p:sp>
        <p:nvSpPr>
          <p:cNvPr id="25" name="b3:rise"/>
          <p:cNvSpPr/>
          <p:nvPr/>
        </p:nvSpPr>
        <p:spPr>
          <a:xfrm>
            <a:off x="4629150" y="2486025"/>
            <a:ext cx="3905250" cy="1190625"/>
          </a:xfrm>
          <a:prstGeom prst="roundRect">
            <a:avLst>
              <a:gd name="adj" fmla="val 6400"/>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6" name="b3:rise"/>
          <p:cNvSpPr txBox="1"/>
          <p:nvPr/>
        </p:nvSpPr>
        <p:spPr>
          <a:xfrm>
            <a:off x="4786313" y="2643188"/>
            <a:ext cx="3878199"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PILLAR 3 · ATMOSPHERE AS A PRODUCT</a:t>
            </a:r>
            <a:endParaRPr lang="en-US" sz="900" dirty="0"/>
          </a:p>
        </p:txBody>
      </p:sp>
      <p:sp>
        <p:nvSpPr>
          <p:cNvPr id="27" name="b3:rise"/>
          <p:cNvSpPr/>
          <p:nvPr/>
        </p:nvSpPr>
        <p:spPr>
          <a:xfrm>
            <a:off x="4786313" y="2898428"/>
            <a:ext cx="1016496" cy="262830"/>
          </a:xfrm>
          <a:prstGeom prst="roundRect">
            <a:avLst>
              <a:gd name="adj" fmla="val 50000"/>
            </a:avLst>
          </a:prstGeom>
          <a:solidFill>
            <a:srgbClr val="D4E9E2"/>
          </a:solidFill>
          <a:ln/>
        </p:spPr>
      </p:sp>
      <p:sp>
        <p:nvSpPr>
          <p:cNvPr id="28" name="b3:rise"/>
          <p:cNvSpPr txBox="1"/>
          <p:nvPr/>
        </p:nvSpPr>
        <p:spPr>
          <a:xfrm>
            <a:off x="4786313" y="2898428"/>
            <a:ext cx="1097816" cy="262830"/>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DM Sans" pitchFamily="34" charset="0"/>
                <a:ea typeface="DM Sans" pitchFamily="34" charset="-122"/>
                <a:cs typeface="DM Sans" pitchFamily="34" charset="-120"/>
              </a:rPr>
              <a:t>Warm lighting</a:t>
            </a:r>
            <a:endParaRPr lang="en-US" sz="1050" dirty="0"/>
          </a:p>
        </p:txBody>
      </p:sp>
      <p:sp>
        <p:nvSpPr>
          <p:cNvPr id="29" name="b3:rise"/>
          <p:cNvSpPr/>
          <p:nvPr/>
        </p:nvSpPr>
        <p:spPr>
          <a:xfrm>
            <a:off x="5859959" y="2898428"/>
            <a:ext cx="1225004" cy="262830"/>
          </a:xfrm>
          <a:prstGeom prst="roundRect">
            <a:avLst>
              <a:gd name="adj" fmla="val 50000"/>
            </a:avLst>
          </a:prstGeom>
          <a:solidFill>
            <a:srgbClr val="D4E9E2"/>
          </a:solidFill>
          <a:ln/>
        </p:spPr>
      </p:sp>
      <p:sp>
        <p:nvSpPr>
          <p:cNvPr id="30" name="b3:rise"/>
          <p:cNvSpPr txBox="1"/>
          <p:nvPr/>
        </p:nvSpPr>
        <p:spPr>
          <a:xfrm>
            <a:off x="5859959" y="2898428"/>
            <a:ext cx="1323005" cy="262830"/>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DM Sans" pitchFamily="34" charset="0"/>
                <a:ea typeface="DM Sans" pitchFamily="34" charset="-122"/>
                <a:cs typeface="DM Sans" pitchFamily="34" charset="-120"/>
              </a:rPr>
              <a:t>Wooden textures</a:t>
            </a:r>
            <a:endParaRPr lang="en-US" sz="1050" dirty="0"/>
          </a:p>
        </p:txBody>
      </p:sp>
      <p:sp>
        <p:nvSpPr>
          <p:cNvPr id="31" name="b3:rise"/>
          <p:cNvSpPr/>
          <p:nvPr/>
        </p:nvSpPr>
        <p:spPr>
          <a:xfrm>
            <a:off x="7142113" y="2898428"/>
            <a:ext cx="1112788" cy="262830"/>
          </a:xfrm>
          <a:prstGeom prst="roundRect">
            <a:avLst>
              <a:gd name="adj" fmla="val 50000"/>
            </a:avLst>
          </a:prstGeom>
          <a:solidFill>
            <a:srgbClr val="D4E9E2"/>
          </a:solidFill>
          <a:ln/>
        </p:spPr>
      </p:sp>
      <p:sp>
        <p:nvSpPr>
          <p:cNvPr id="32" name="b3:rise"/>
          <p:cNvSpPr txBox="1"/>
          <p:nvPr/>
        </p:nvSpPr>
        <p:spPr>
          <a:xfrm>
            <a:off x="7142113" y="2898428"/>
            <a:ext cx="1201811" cy="262830"/>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DM Sans" pitchFamily="34" charset="0"/>
                <a:ea typeface="DM Sans" pitchFamily="34" charset="-122"/>
                <a:cs typeface="DM Sans" pitchFamily="34" charset="-120"/>
              </a:rPr>
              <a:t>Acoustic music</a:t>
            </a:r>
            <a:endParaRPr lang="en-US" sz="1050" dirty="0"/>
          </a:p>
        </p:txBody>
      </p:sp>
      <p:sp>
        <p:nvSpPr>
          <p:cNvPr id="33" name="b3:rise"/>
          <p:cNvSpPr/>
          <p:nvPr/>
        </p:nvSpPr>
        <p:spPr>
          <a:xfrm>
            <a:off x="4786313" y="3218408"/>
            <a:ext cx="1277615" cy="262830"/>
          </a:xfrm>
          <a:prstGeom prst="roundRect">
            <a:avLst>
              <a:gd name="adj" fmla="val 50000"/>
            </a:avLst>
          </a:prstGeom>
          <a:solidFill>
            <a:srgbClr val="D4E9E2"/>
          </a:solidFill>
          <a:ln/>
        </p:spPr>
      </p:sp>
      <p:sp>
        <p:nvSpPr>
          <p:cNvPr id="34" name="b3:rise"/>
          <p:cNvSpPr txBox="1"/>
          <p:nvPr/>
        </p:nvSpPr>
        <p:spPr>
          <a:xfrm>
            <a:off x="4786313" y="3218408"/>
            <a:ext cx="1379824" cy="262830"/>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DM Sans" pitchFamily="34" charset="0"/>
                <a:ea typeface="DM Sans" pitchFamily="34" charset="-122"/>
                <a:cs typeface="DM Sans" pitchFamily="34" charset="-120"/>
              </a:rPr>
              <a:t>Welcoming aroma</a:t>
            </a:r>
            <a:endParaRPr lang="en-US" sz="1050" dirty="0"/>
          </a:p>
        </p:txBody>
      </p:sp>
      <p:sp>
        <p:nvSpPr>
          <p:cNvPr id="35" name="b4:fade"/>
          <p:cNvSpPr/>
          <p:nvPr/>
        </p:nvSpPr>
        <p:spPr>
          <a:xfrm>
            <a:off x="609600" y="3790950"/>
            <a:ext cx="7924800" cy="569565"/>
          </a:xfrm>
          <a:prstGeom prst="roundRect">
            <a:avLst>
              <a:gd name="adj" fmla="val 13379"/>
            </a:avLst>
          </a:prstGeom>
          <a:solidFill>
            <a:srgbClr val="006241"/>
          </a:solidFill>
          <a:ln/>
        </p:spPr>
      </p:sp>
      <p:sp>
        <p:nvSpPr>
          <p:cNvPr id="36" name="b4:fade"/>
          <p:cNvSpPr txBox="1"/>
          <p:nvPr/>
        </p:nvSpPr>
        <p:spPr>
          <a:xfrm>
            <a:off x="762000" y="3995737"/>
            <a:ext cx="379012"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CBA258"/>
                </a:solidFill>
                <a:latin typeface="DM Sans" pitchFamily="34" charset="0"/>
                <a:ea typeface="DM Sans" pitchFamily="34" charset="-122"/>
                <a:cs typeface="DM Sans" pitchFamily="34" charset="-120"/>
              </a:rPr>
              <a:t>NEXT</a:t>
            </a:r>
            <a:endParaRPr lang="en-US" sz="900" dirty="0"/>
          </a:p>
        </p:txBody>
      </p:sp>
      <p:sp>
        <p:nvSpPr>
          <p:cNvPr id="37" name="b4:fade"/>
          <p:cNvSpPr txBox="1"/>
          <p:nvPr/>
        </p:nvSpPr>
        <p:spPr>
          <a:xfrm>
            <a:off x="1227237" y="3895725"/>
            <a:ext cx="7440954" cy="360015"/>
          </a:xfrm>
          <a:prstGeom prst="rect">
            <a:avLst/>
          </a:prstGeom>
          <a:noFill/>
          <a:ln/>
        </p:spPr>
        <p:txBody>
          <a:bodyPr wrap="square" lIns="0" tIns="0" rIns="0" bIns="0" rtlCol="0" anchor="t"/>
          <a:lstStyle/>
          <a:p>
            <a:pPr algn="l" indent="0" marL="0">
              <a:lnSpc>
                <a:spcPts val="1417"/>
              </a:lnSpc>
              <a:buNone/>
            </a:pPr>
            <a:r>
              <a:rPr lang="en-US" sz="1050" dirty="0">
                <a:solidFill>
                  <a:srgbClr val="F7F5F0"/>
                </a:solidFill>
                <a:latin typeface="DM Sans" pitchFamily="34" charset="0"/>
                <a:ea typeface="DM Sans" pitchFamily="34" charset="-122"/>
                <a:cs typeface="DM Sans" pitchFamily="34" charset="-120"/>
              </a:rPr>
              <a:t>Now that we understand the strategic concept of the Third Place, how did Starbucks </a:t>
            </a:r>
            <a:pPr algn="l" indent="0" marL="0">
              <a:lnSpc>
                <a:spcPts val="1417"/>
              </a:lnSpc>
              <a:buNone/>
            </a:pPr>
            <a:r>
              <a:rPr lang="en-US" sz="1050" b="1" dirty="0">
                <a:solidFill>
                  <a:srgbClr val="D4E9E2"/>
                </a:solidFill>
                <a:latin typeface="DM Sans" pitchFamily="34" charset="0"/>
                <a:ea typeface="DM Sans" pitchFamily="34" charset="-122"/>
                <a:cs typeface="DM Sans" pitchFamily="34" charset="-120"/>
              </a:rPr>
              <a:t>scale this human experience</a:t>
            </a:r>
            <a:pPr algn="l" indent="0" marL="0">
              <a:lnSpc>
                <a:spcPts val="1417"/>
              </a:lnSpc>
              <a:buNone/>
            </a:pPr>
            <a:r>
              <a:rPr lang="en-US" sz="1050" dirty="0">
                <a:solidFill>
                  <a:srgbClr val="F7F5F0"/>
                </a:solidFill>
                <a:latin typeface="DM Sans" pitchFamily="34" charset="0"/>
                <a:ea typeface="DM Sans" pitchFamily="34" charset="-122"/>
                <a:cs typeface="DM Sans" pitchFamily="34" charset="-120"/>
              </a:rPr>
              <a:t> to thousands of stores?</a:t>
            </a:r>
            <a:endParaRPr lang="en-US" sz="1050" dirty="0"/>
          </a:p>
        </p:txBody>
      </p:sp>
      <p:sp>
        <p:nvSpPr>
          <p:cNvPr id="38" name="!!key4-1"/>
          <p:cNvSpPr/>
          <p:nvPr/>
        </p:nvSpPr>
        <p:spPr>
          <a:xfrm>
            <a:off x="6438900" y="4572000"/>
            <a:ext cx="2095500" cy="255240"/>
          </a:xfrm>
          <a:prstGeom prst="roundRect">
            <a:avLst>
              <a:gd name="adj" fmla="val 50000"/>
            </a:avLst>
          </a:prstGeom>
          <a:solidFill>
            <a:srgbClr val="CBA258"/>
          </a:solidFill>
          <a:ln/>
        </p:spPr>
      </p:sp>
      <p:sp>
        <p:nvSpPr>
          <p:cNvPr id="39" name="!!key4-2"/>
          <p:cNvSpPr txBox="1"/>
          <p:nvPr/>
        </p:nvSpPr>
        <p:spPr>
          <a:xfrm>
            <a:off x="6438900" y="45720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Human experience, at scale</a:t>
            </a:r>
            <a:endParaRPr lang="en-US" sz="900" dirty="0"/>
          </a:p>
        </p:txBody>
      </p:sp>
      <p:sp>
        <p:nvSpPr>
          <p:cNvPr id="40" name="static"/>
          <p:cNvSpPr txBox="1"/>
          <p:nvPr/>
        </p:nvSpPr>
        <p:spPr>
          <a:xfrm>
            <a:off x="609600" y="4678710"/>
            <a:ext cx="2259137" cy="159990"/>
          </a:xfrm>
          <a:prstGeom prst="rect">
            <a:avLst/>
          </a:prstGeom>
          <a:noFill/>
          <a:ln/>
        </p:spPr>
        <p:txBody>
          <a:bodyPr wrap="none" lIns="0" tIns="0" rIns="0" bIns="0" rtlCol="0" anchor="ctr"/>
          <a:lstStyle/>
          <a:p>
            <a:pPr algn="l" indent="0" marL="0">
              <a:lnSpc>
                <a:spcPts val="1260"/>
              </a:lnSpc>
              <a:buNone/>
            </a:pPr>
            <a:r>
              <a:rPr lang="en-US" sz="900" dirty="0">
                <a:solidFill>
                  <a:srgbClr val="6B6A63"/>
                </a:solidFill>
                <a:latin typeface="DM Sans" pitchFamily="34" charset="0"/>
                <a:ea typeface="DM Sans" pitchFamily="34" charset="-122"/>
                <a:cs typeface="DM Sans" pitchFamily="34" charset="-120"/>
              </a:rPr>
              <a:t>Slide 4 of 8 · Part 2 · Concept Development</a:t>
            </a:r>
            <a:endParaRPr lang="en-US" sz="900" dirty="0"/>
          </a:p>
        </p:txBody>
      </p:sp>
      <p:sp>
        <p:nvSpPr>
          <p:cNvPr id="41" name="static"/>
          <p:cNvSpPr/>
          <p:nvPr/>
        </p:nvSpPr>
        <p:spPr>
          <a:xfrm>
            <a:off x="3059237" y="4730130"/>
            <a:ext cx="57150" cy="57150"/>
          </a:xfrm>
          <a:prstGeom prst="roundRect">
            <a:avLst>
              <a:gd name="adj" fmla="val 50000"/>
            </a:avLst>
          </a:prstGeom>
          <a:solidFill>
            <a:srgbClr val="006241"/>
          </a:solidFill>
          <a:ln/>
        </p:spPr>
      </p:sp>
      <p:sp>
        <p:nvSpPr>
          <p:cNvPr id="42" name="static"/>
          <p:cNvSpPr/>
          <p:nvPr/>
        </p:nvSpPr>
        <p:spPr>
          <a:xfrm>
            <a:off x="3164012" y="4730130"/>
            <a:ext cx="57150" cy="57150"/>
          </a:xfrm>
          <a:prstGeom prst="roundRect">
            <a:avLst>
              <a:gd name="adj" fmla="val 50000"/>
            </a:avLst>
          </a:prstGeom>
          <a:solidFill>
            <a:srgbClr val="006241"/>
          </a:solidFill>
          <a:ln/>
        </p:spPr>
      </p:sp>
      <p:sp>
        <p:nvSpPr>
          <p:cNvPr id="43" name="static"/>
          <p:cNvSpPr/>
          <p:nvPr/>
        </p:nvSpPr>
        <p:spPr>
          <a:xfrm>
            <a:off x="3268787" y="4730130"/>
            <a:ext cx="57150" cy="57150"/>
          </a:xfrm>
          <a:prstGeom prst="roundRect">
            <a:avLst>
              <a:gd name="adj" fmla="val 50000"/>
            </a:avLst>
          </a:prstGeom>
          <a:solidFill>
            <a:srgbClr val="006241"/>
          </a:solidFill>
          <a:ln/>
        </p:spPr>
      </p:sp>
      <p:sp>
        <p:nvSpPr>
          <p:cNvPr id="44" name="static"/>
          <p:cNvSpPr/>
          <p:nvPr/>
        </p:nvSpPr>
        <p:spPr>
          <a:xfrm>
            <a:off x="3373562" y="4730130"/>
            <a:ext cx="171450" cy="57150"/>
          </a:xfrm>
          <a:prstGeom prst="roundRect">
            <a:avLst>
              <a:gd name="adj" fmla="val 50000"/>
            </a:avLst>
          </a:prstGeom>
          <a:solidFill>
            <a:srgbClr val="CBA258"/>
          </a:solidFill>
          <a:ln/>
        </p:spPr>
      </p:sp>
      <p:sp>
        <p:nvSpPr>
          <p:cNvPr id="45" name="static"/>
          <p:cNvSpPr/>
          <p:nvPr/>
        </p:nvSpPr>
        <p:spPr>
          <a:xfrm>
            <a:off x="3592637" y="4730130"/>
            <a:ext cx="57150" cy="57150"/>
          </a:xfrm>
          <a:prstGeom prst="roundRect">
            <a:avLst>
              <a:gd name="adj" fmla="val 50000"/>
            </a:avLst>
          </a:prstGeom>
          <a:solidFill>
            <a:srgbClr val="C5D8D0"/>
          </a:solidFill>
          <a:ln/>
        </p:spPr>
      </p:sp>
      <p:sp>
        <p:nvSpPr>
          <p:cNvPr id="46" name="static"/>
          <p:cNvSpPr/>
          <p:nvPr/>
        </p:nvSpPr>
        <p:spPr>
          <a:xfrm>
            <a:off x="3697412" y="4730130"/>
            <a:ext cx="57150" cy="57150"/>
          </a:xfrm>
          <a:prstGeom prst="roundRect">
            <a:avLst>
              <a:gd name="adj" fmla="val 50000"/>
            </a:avLst>
          </a:prstGeom>
          <a:solidFill>
            <a:srgbClr val="C5D8D0"/>
          </a:solidFill>
          <a:ln/>
        </p:spPr>
      </p:sp>
      <p:sp>
        <p:nvSpPr>
          <p:cNvPr id="47" name="static"/>
          <p:cNvSpPr/>
          <p:nvPr/>
        </p:nvSpPr>
        <p:spPr>
          <a:xfrm>
            <a:off x="3802187" y="4730130"/>
            <a:ext cx="57150" cy="57150"/>
          </a:xfrm>
          <a:prstGeom prst="roundRect">
            <a:avLst>
              <a:gd name="adj" fmla="val 50000"/>
            </a:avLst>
          </a:prstGeom>
          <a:solidFill>
            <a:srgbClr val="C5D8D0"/>
          </a:solidFill>
          <a:ln/>
        </p:spPr>
      </p:sp>
      <p:sp>
        <p:nvSpPr>
          <p:cNvPr id="48" name="static"/>
          <p:cNvSpPr/>
          <p:nvPr/>
        </p:nvSpPr>
        <p:spPr>
          <a:xfrm>
            <a:off x="3906962" y="4730130"/>
            <a:ext cx="57150" cy="57150"/>
          </a:xfrm>
          <a:prstGeom prst="roundRect">
            <a:avLst>
              <a:gd name="adj" fmla="val 50000"/>
            </a:avLst>
          </a:prstGeom>
          <a:solidFill>
            <a:srgbClr val="C5D8D0"/>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59" fill="hold">
                      <p:stCondLst>
                        <p:cond delay="indefinite"/>
                      </p:stCondLst>
                      <p:childTnLst>
                        <p:par>
                          <p:cTn id="60"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700"/>
                                        <p:tgtEl>
                                          <p:spTgt spid="7"/>
                                        </p:tgtEl>
                                      </p:cBhvr>
                                    </p:animEffect>
                                    <p:anim calcmode="lin" valueType="num">
                                      <p:cBhvr additive="base">
                                        <p:cTn id="6" dur="700" fill="hold"/>
                                        <p:tgtEl>
                                          <p:spTgt spid="7"/>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700"/>
                                        <p:tgtEl>
                                          <p:spTgt spid="8"/>
                                        </p:tgtEl>
                                      </p:cBhvr>
                                    </p:animEffect>
                                    <p:anim calcmode="lin" valueType="num">
                                      <p:cBhvr additive="base">
                                        <p:cTn id="10" dur="700" fill="hold"/>
                                        <p:tgtEl>
                                          <p:spTgt spid="8"/>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700"/>
                                        <p:tgtEl>
                                          <p:spTgt spid="9"/>
                                        </p:tgtEl>
                                      </p:cBhvr>
                                    </p:animEffect>
                                    <p:anim calcmode="lin" valueType="num">
                                      <p:cBhvr additive="base">
                                        <p:cTn id="14" dur="700" fill="hold"/>
                                        <p:tgtEl>
                                          <p:spTgt spid="9"/>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700"/>
                                        <p:tgtEl>
                                          <p:spTgt spid="10"/>
                                        </p:tgtEl>
                                      </p:cBhvr>
                                    </p:animEffect>
                                    <p:anim calcmode="lin" valueType="num">
                                      <p:cBhvr additive="base">
                                        <p:cTn id="18" dur="700" fill="hold"/>
                                        <p:tgtEl>
                                          <p:spTgt spid="10"/>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700"/>
                                        <p:tgtEl>
                                          <p:spTgt spid="11"/>
                                        </p:tgtEl>
                                      </p:cBhvr>
                                    </p:animEffect>
                                    <p:anim calcmode="lin" valueType="num">
                                      <p:cBhvr additive="base">
                                        <p:cTn id="22" dur="700" fill="hold"/>
                                        <p:tgtEl>
                                          <p:spTgt spid="11"/>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700"/>
                                        <p:tgtEl>
                                          <p:spTgt spid="12"/>
                                        </p:tgtEl>
                                      </p:cBhvr>
                                    </p:animEffect>
                                    <p:anim calcmode="lin" valueType="num">
                                      <p:cBhvr additive="base">
                                        <p:cTn id="26" dur="700" fill="hold"/>
                                        <p:tgtEl>
                                          <p:spTgt spid="12"/>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700"/>
                                        <p:tgtEl>
                                          <p:spTgt spid="13"/>
                                        </p:tgtEl>
                                      </p:cBhvr>
                                    </p:animEffect>
                                    <p:anim calcmode="lin" valueType="num">
                                      <p:cBhvr additive="base">
                                        <p:cTn id="30" dur="700" fill="hold"/>
                                        <p:tgtEl>
                                          <p:spTgt spid="13"/>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700"/>
                                        <p:tgtEl>
                                          <p:spTgt spid="14"/>
                                        </p:tgtEl>
                                      </p:cBhvr>
                                    </p:animEffect>
                                    <p:anim calcmode="lin" valueType="num">
                                      <p:cBhvr additive="base">
                                        <p:cTn id="34" dur="700" fill="hold"/>
                                        <p:tgtEl>
                                          <p:spTgt spid="14"/>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700"/>
                                        <p:tgtEl>
                                          <p:spTgt spid="15"/>
                                        </p:tgtEl>
                                      </p:cBhvr>
                                    </p:animEffect>
                                    <p:anim calcmode="lin" valueType="num">
                                      <p:cBhvr additive="base">
                                        <p:cTn id="38" dur="700" fill="hold"/>
                                        <p:tgtEl>
                                          <p:spTgt spid="15"/>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700"/>
                                        <p:tgtEl>
                                          <p:spTgt spid="16"/>
                                        </p:tgtEl>
                                      </p:cBhvr>
                                    </p:animEffect>
                                    <p:anim calcmode="lin" valueType="num">
                                      <p:cBhvr additive="base">
                                        <p:cTn id="42" dur="700" fill="hold"/>
                                        <p:tgtEl>
                                          <p:spTgt spid="16"/>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700"/>
                                        <p:tgtEl>
                                          <p:spTgt spid="17"/>
                                        </p:tgtEl>
                                      </p:cBhvr>
                                    </p:animEffect>
                                    <p:anim calcmode="lin" valueType="num">
                                      <p:cBhvr additive="base">
                                        <p:cTn id="46" dur="700" fill="hold"/>
                                        <p:tgtEl>
                                          <p:spTgt spid="17"/>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700"/>
                                        <p:tgtEl>
                                          <p:spTgt spid="18"/>
                                        </p:tgtEl>
                                      </p:cBhvr>
                                    </p:animEffect>
                                    <p:anim calcmode="lin" valueType="num">
                                      <p:cBhvr additive="base">
                                        <p:cTn id="50" dur="700" fill="hold"/>
                                        <p:tgtEl>
                                          <p:spTgt spid="18"/>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700"/>
                                        <p:tgtEl>
                                          <p:spTgt spid="19"/>
                                        </p:tgtEl>
                                      </p:cBhvr>
                                    </p:animEffect>
                                    <p:anim calcmode="lin" valueType="num">
                                      <p:cBhvr additive="base">
                                        <p:cTn id="54" dur="700" fill="hold"/>
                                        <p:tgtEl>
                                          <p:spTgt spid="19"/>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700"/>
                                        <p:tgtEl>
                                          <p:spTgt spid="20"/>
                                        </p:tgtEl>
                                      </p:cBhvr>
                                    </p:animEffect>
                                    <p:anim calcmode="lin" valueType="num">
                                      <p:cBhvr additive="base">
                                        <p:cTn id="58" dur="700" fill="hold"/>
                                        <p:tgtEl>
                                          <p:spTgt spid="20"/>
                                        </p:tgtEl>
                                        <p:attrNameLst>
                                          <p:attrName>ppt_y</p:attrName>
                                        </p:attrNameLst>
                                      </p:cBhvr>
                                      <p:tavLst>
                                        <p:tav tm="0">
                                          <p:val>
                                            <p:strVal val="#ppt_y+.08"/>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8"/>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8"/>
                                          </p:val>
                                        </p:tav>
                                        <p:tav tm="100000">
                                          <p:val>
                                            <p:strVal val="#ppt_y"/>
                                          </p:val>
                                        </p:tav>
                                      </p:tavLst>
                                    </p:anim>
                                  </p:childTnLst>
                                </p:cTn>
                              </p:par>
                            </p:childTnLst>
                          </p:cTn>
                        </p:par>
                      </p:childTnLst>
                    </p:cTn>
                  </p:par>
                  <p:par>
                    <p:cTn id="119" fill="hold">
                      <p:stCondLst>
                        <p:cond delay="indefinite"/>
                      </p:stCondLst>
                      <p:childTnLst>
                        <p:par>
                          <p:cTn id="120" fill="hold">
                            <p:stCondLst>
                              <p:cond delay="0"/>
                            </p:stCondLst>
                            <p:childTnLst>
                              <p:par>
                                <p:cTn id="79" presetID="42" presetClass="entr" presetSubtype="0" fill="hold" grpId="0" nodeType="clickEffect">
                                  <p:stCondLst>
                                    <p:cond delay="0"/>
                                  </p:stCondLst>
                                  <p:childTnLst>
                                    <p:set>
                                      <p:cBhvr>
                                        <p:cTn id="80" dur="1" fill="hold">
                                          <p:stCondLst>
                                            <p:cond delay="0"/>
                                          </p:stCondLst>
                                        </p:cTn>
                                        <p:tgtEl>
                                          <p:spTgt spid="25"/>
                                        </p:tgtEl>
                                        <p:attrNameLst>
                                          <p:attrName>style.visibility</p:attrName>
                                        </p:attrNameLst>
                                      </p:cBhvr>
                                      <p:to>
                                        <p:strVal val="visible"/>
                                      </p:to>
                                    </p:set>
                                    <p:animEffect transition="in" filter="fade">
                                      <p:cBhvr>
                                        <p:cTn id="81" dur="700"/>
                                        <p:tgtEl>
                                          <p:spTgt spid="25"/>
                                        </p:tgtEl>
                                      </p:cBhvr>
                                    </p:animEffect>
                                    <p:anim calcmode="lin" valueType="num">
                                      <p:cBhvr additive="base">
                                        <p:cTn id="82" dur="700" fill="hold"/>
                                        <p:tgtEl>
                                          <p:spTgt spid="25"/>
                                        </p:tgtEl>
                                        <p:attrNameLst>
                                          <p:attrName>ppt_y</p:attrName>
                                        </p:attrNameLst>
                                      </p:cBhvr>
                                      <p:tavLst>
                                        <p:tav tm="0">
                                          <p:val>
                                            <p:strVal val="#ppt_y+.08"/>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700"/>
                                        <p:tgtEl>
                                          <p:spTgt spid="26"/>
                                        </p:tgtEl>
                                      </p:cBhvr>
                                    </p:animEffect>
                                    <p:anim calcmode="lin" valueType="num">
                                      <p:cBhvr additive="base">
                                        <p:cTn id="86" dur="700" fill="hold"/>
                                        <p:tgtEl>
                                          <p:spTgt spid="26"/>
                                        </p:tgtEl>
                                        <p:attrNameLst>
                                          <p:attrName>ppt_y</p:attrName>
                                        </p:attrNameLst>
                                      </p:cBhvr>
                                      <p:tavLst>
                                        <p:tav tm="0">
                                          <p:val>
                                            <p:strVal val="#ppt_y+.0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27"/>
                                        </p:tgtEl>
                                        <p:attrNameLst>
                                          <p:attrName>style.visibility</p:attrName>
                                        </p:attrNameLst>
                                      </p:cBhvr>
                                      <p:to>
                                        <p:strVal val="visible"/>
                                      </p:to>
                                    </p:set>
                                    <p:animEffect transition="in" filter="fade">
                                      <p:cBhvr>
                                        <p:cTn id="89" dur="700"/>
                                        <p:tgtEl>
                                          <p:spTgt spid="27"/>
                                        </p:tgtEl>
                                      </p:cBhvr>
                                    </p:animEffect>
                                    <p:anim calcmode="lin" valueType="num">
                                      <p:cBhvr additive="base">
                                        <p:cTn id="90" dur="700" fill="hold"/>
                                        <p:tgtEl>
                                          <p:spTgt spid="27"/>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0"/>
                                  </p:stCondLst>
                                  <p:childTnLst>
                                    <p:set>
                                      <p:cBhvr>
                                        <p:cTn id="92" dur="1" fill="hold">
                                          <p:stCondLst>
                                            <p:cond delay="0"/>
                                          </p:stCondLst>
                                        </p:cTn>
                                        <p:tgtEl>
                                          <p:spTgt spid="28"/>
                                        </p:tgtEl>
                                        <p:attrNameLst>
                                          <p:attrName>style.visibility</p:attrName>
                                        </p:attrNameLst>
                                      </p:cBhvr>
                                      <p:to>
                                        <p:strVal val="visible"/>
                                      </p:to>
                                    </p:set>
                                    <p:animEffect transition="in" filter="fade">
                                      <p:cBhvr>
                                        <p:cTn id="93" dur="700"/>
                                        <p:tgtEl>
                                          <p:spTgt spid="28"/>
                                        </p:tgtEl>
                                      </p:cBhvr>
                                    </p:animEffect>
                                    <p:anim calcmode="lin" valueType="num">
                                      <p:cBhvr additive="base">
                                        <p:cTn id="94" dur="700" fill="hold"/>
                                        <p:tgtEl>
                                          <p:spTgt spid="28"/>
                                        </p:tgtEl>
                                        <p:attrNameLst>
                                          <p:attrName>ppt_y</p:attrName>
                                        </p:attrNameLst>
                                      </p:cBhvr>
                                      <p:tavLst>
                                        <p:tav tm="0">
                                          <p:val>
                                            <p:strVal val="#ppt_y+.08"/>
                                          </p:val>
                                        </p:tav>
                                        <p:tav tm="100000">
                                          <p:val>
                                            <p:strVal val="#ppt_y"/>
                                          </p:val>
                                        </p:tav>
                                      </p:tavLst>
                                    </p:anim>
                                  </p:childTnLst>
                                </p:cTn>
                              </p:par>
                              <p:par>
                                <p:cTn id="95" presetID="42" presetClass="entr" presetSubtype="0" fill="hold" grpId="0" nodeType="with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700"/>
                                        <p:tgtEl>
                                          <p:spTgt spid="29"/>
                                        </p:tgtEl>
                                      </p:cBhvr>
                                    </p:animEffect>
                                    <p:anim calcmode="lin" valueType="num">
                                      <p:cBhvr additive="base">
                                        <p:cTn id="98" dur="700" fill="hold"/>
                                        <p:tgtEl>
                                          <p:spTgt spid="29"/>
                                        </p:tgtEl>
                                        <p:attrNameLst>
                                          <p:attrName>ppt_y</p:attrName>
                                        </p:attrNameLst>
                                      </p:cBhvr>
                                      <p:tavLst>
                                        <p:tav tm="0">
                                          <p:val>
                                            <p:strVal val="#ppt_y+.08"/>
                                          </p:val>
                                        </p:tav>
                                        <p:tav tm="100000">
                                          <p:val>
                                            <p:strVal val="#ppt_y"/>
                                          </p:val>
                                        </p:tav>
                                      </p:tavLst>
                                    </p:anim>
                                  </p:childTnLst>
                                </p:cTn>
                              </p:par>
                              <p:par>
                                <p:cTn id="99" presetID="42" presetClass="entr" presetSubtype="0" fill="hold" grpId="0" nodeType="withEffect">
                                  <p:stCondLst>
                                    <p:cond delay="0"/>
                                  </p:stCondLst>
                                  <p:childTnLst>
                                    <p:set>
                                      <p:cBhvr>
                                        <p:cTn id="100" dur="1" fill="hold">
                                          <p:stCondLst>
                                            <p:cond delay="0"/>
                                          </p:stCondLst>
                                        </p:cTn>
                                        <p:tgtEl>
                                          <p:spTgt spid="30"/>
                                        </p:tgtEl>
                                        <p:attrNameLst>
                                          <p:attrName>style.visibility</p:attrName>
                                        </p:attrNameLst>
                                      </p:cBhvr>
                                      <p:to>
                                        <p:strVal val="visible"/>
                                      </p:to>
                                    </p:set>
                                    <p:animEffect transition="in" filter="fade">
                                      <p:cBhvr>
                                        <p:cTn id="101" dur="700"/>
                                        <p:tgtEl>
                                          <p:spTgt spid="30"/>
                                        </p:tgtEl>
                                      </p:cBhvr>
                                    </p:animEffect>
                                    <p:anim calcmode="lin" valueType="num">
                                      <p:cBhvr additive="base">
                                        <p:cTn id="102" dur="700" fill="hold"/>
                                        <p:tgtEl>
                                          <p:spTgt spid="30"/>
                                        </p:tgtEl>
                                        <p:attrNameLst>
                                          <p:attrName>ppt_y</p:attrName>
                                        </p:attrNameLst>
                                      </p:cBhvr>
                                      <p:tavLst>
                                        <p:tav tm="0">
                                          <p:val>
                                            <p:strVal val="#ppt_y+.08"/>
                                          </p:val>
                                        </p:tav>
                                        <p:tav tm="100000">
                                          <p:val>
                                            <p:strVal val="#ppt_y"/>
                                          </p:val>
                                        </p:tav>
                                      </p:tavLst>
                                    </p:anim>
                                  </p:childTnLst>
                                </p:cTn>
                              </p:par>
                              <p:par>
                                <p:cTn id="103" presetID="42" presetClass="entr" presetSubtype="0" fill="hold" grpId="0" nodeType="withEffect">
                                  <p:stCondLst>
                                    <p:cond delay="0"/>
                                  </p:stCondLst>
                                  <p:childTnLst>
                                    <p:set>
                                      <p:cBhvr>
                                        <p:cTn id="104" dur="1" fill="hold">
                                          <p:stCondLst>
                                            <p:cond delay="0"/>
                                          </p:stCondLst>
                                        </p:cTn>
                                        <p:tgtEl>
                                          <p:spTgt spid="31"/>
                                        </p:tgtEl>
                                        <p:attrNameLst>
                                          <p:attrName>style.visibility</p:attrName>
                                        </p:attrNameLst>
                                      </p:cBhvr>
                                      <p:to>
                                        <p:strVal val="visible"/>
                                      </p:to>
                                    </p:set>
                                    <p:animEffect transition="in" filter="fade">
                                      <p:cBhvr>
                                        <p:cTn id="105" dur="700"/>
                                        <p:tgtEl>
                                          <p:spTgt spid="31"/>
                                        </p:tgtEl>
                                      </p:cBhvr>
                                    </p:animEffect>
                                    <p:anim calcmode="lin" valueType="num">
                                      <p:cBhvr additive="base">
                                        <p:cTn id="106" dur="700" fill="hold"/>
                                        <p:tgtEl>
                                          <p:spTgt spid="31"/>
                                        </p:tgtEl>
                                        <p:attrNameLst>
                                          <p:attrName>ppt_y</p:attrName>
                                        </p:attrNameLst>
                                      </p:cBhvr>
                                      <p:tavLst>
                                        <p:tav tm="0">
                                          <p:val>
                                            <p:strVal val="#ppt_y+.08"/>
                                          </p:val>
                                        </p:tav>
                                        <p:tav tm="100000">
                                          <p:val>
                                            <p:strVal val="#ppt_y"/>
                                          </p:val>
                                        </p:tav>
                                      </p:tavLst>
                                    </p:anim>
                                  </p:childTnLst>
                                </p:cTn>
                              </p:par>
                              <p:par>
                                <p:cTn id="107" presetID="42" presetClass="entr" presetSubtype="0" fill="hold" grpId="0" nodeType="withEffect">
                                  <p:stCondLst>
                                    <p:cond delay="0"/>
                                  </p:stCondLst>
                                  <p:childTnLst>
                                    <p:set>
                                      <p:cBhvr>
                                        <p:cTn id="108" dur="1" fill="hold">
                                          <p:stCondLst>
                                            <p:cond delay="0"/>
                                          </p:stCondLst>
                                        </p:cTn>
                                        <p:tgtEl>
                                          <p:spTgt spid="32"/>
                                        </p:tgtEl>
                                        <p:attrNameLst>
                                          <p:attrName>style.visibility</p:attrName>
                                        </p:attrNameLst>
                                      </p:cBhvr>
                                      <p:to>
                                        <p:strVal val="visible"/>
                                      </p:to>
                                    </p:set>
                                    <p:animEffect transition="in" filter="fade">
                                      <p:cBhvr>
                                        <p:cTn id="109" dur="700"/>
                                        <p:tgtEl>
                                          <p:spTgt spid="32"/>
                                        </p:tgtEl>
                                      </p:cBhvr>
                                    </p:animEffect>
                                    <p:anim calcmode="lin" valueType="num">
                                      <p:cBhvr additive="base">
                                        <p:cTn id="110" dur="700" fill="hold"/>
                                        <p:tgtEl>
                                          <p:spTgt spid="32"/>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0"/>
                                  </p:stCondLst>
                                  <p:childTnLst>
                                    <p:set>
                                      <p:cBhvr>
                                        <p:cTn id="112" dur="1" fill="hold">
                                          <p:stCondLst>
                                            <p:cond delay="0"/>
                                          </p:stCondLst>
                                        </p:cTn>
                                        <p:tgtEl>
                                          <p:spTgt spid="33"/>
                                        </p:tgtEl>
                                        <p:attrNameLst>
                                          <p:attrName>style.visibility</p:attrName>
                                        </p:attrNameLst>
                                      </p:cBhvr>
                                      <p:to>
                                        <p:strVal val="visible"/>
                                      </p:to>
                                    </p:set>
                                    <p:animEffect transition="in" filter="fade">
                                      <p:cBhvr>
                                        <p:cTn id="113" dur="700"/>
                                        <p:tgtEl>
                                          <p:spTgt spid="33"/>
                                        </p:tgtEl>
                                      </p:cBhvr>
                                    </p:animEffect>
                                    <p:anim calcmode="lin" valueType="num">
                                      <p:cBhvr additive="base">
                                        <p:cTn id="114" dur="700" fill="hold"/>
                                        <p:tgtEl>
                                          <p:spTgt spid="33"/>
                                        </p:tgtEl>
                                        <p:attrNameLst>
                                          <p:attrName>ppt_y</p:attrName>
                                        </p:attrNameLst>
                                      </p:cBhvr>
                                      <p:tavLst>
                                        <p:tav tm="0">
                                          <p:val>
                                            <p:strVal val="#ppt_y+.08"/>
                                          </p:val>
                                        </p:tav>
                                        <p:tav tm="100000">
                                          <p:val>
                                            <p:strVal val="#ppt_y"/>
                                          </p:val>
                                        </p:tav>
                                      </p:tavLst>
                                    </p:anim>
                                  </p:childTnLst>
                                </p:cTn>
                              </p:par>
                              <p:par>
                                <p:cTn id="115" presetID="42" presetClass="entr" presetSubtype="0" fill="hold" grpId="0" nodeType="withEffect">
                                  <p:stCondLst>
                                    <p:cond delay="0"/>
                                  </p:stCondLst>
                                  <p:childTnLst>
                                    <p:set>
                                      <p:cBhvr>
                                        <p:cTn id="116" dur="1" fill="hold">
                                          <p:stCondLst>
                                            <p:cond delay="0"/>
                                          </p:stCondLst>
                                        </p:cTn>
                                        <p:tgtEl>
                                          <p:spTgt spid="34"/>
                                        </p:tgtEl>
                                        <p:attrNameLst>
                                          <p:attrName>style.visibility</p:attrName>
                                        </p:attrNameLst>
                                      </p:cBhvr>
                                      <p:to>
                                        <p:strVal val="visible"/>
                                      </p:to>
                                    </p:set>
                                    <p:animEffect transition="in" filter="fade">
                                      <p:cBhvr>
                                        <p:cTn id="117" dur="700"/>
                                        <p:tgtEl>
                                          <p:spTgt spid="34"/>
                                        </p:tgtEl>
                                      </p:cBhvr>
                                    </p:animEffect>
                                    <p:anim calcmode="lin" valueType="num">
                                      <p:cBhvr additive="base">
                                        <p:cTn id="118" dur="700" fill="hold"/>
                                        <p:tgtEl>
                                          <p:spTgt spid="34"/>
                                        </p:tgtEl>
                                        <p:attrNameLst>
                                          <p:attrName>ppt_y</p:attrName>
                                        </p:attrNameLst>
                                      </p:cBhvr>
                                      <p:tavLst>
                                        <p:tav tm="0">
                                          <p:val>
                                            <p:strVal val="#ppt_y+.08"/>
                                          </p:val>
                                        </p:tav>
                                        <p:tav tm="100000">
                                          <p:val>
                                            <p:strVal val="#ppt_y"/>
                                          </p:val>
                                        </p:tav>
                                      </p:tavLst>
                                    </p:anim>
                                  </p:childTnLst>
                                </p:cTn>
                              </p:par>
                            </p:childTnLst>
                          </p:cTn>
                        </p:par>
                      </p:childTnLst>
                    </p:cTn>
                  </p:par>
                  <p:par>
                    <p:cTn id="130" fill="hold">
                      <p:stCondLst>
                        <p:cond delay="indefinite"/>
                      </p:stCondLst>
                      <p:childTnLst>
                        <p:par>
                          <p:cTn id="131" fill="hold">
                            <p:stCondLst>
                              <p:cond delay="0"/>
                            </p:stCondLst>
                            <p:childTnLst>
                              <p:par>
                                <p:cTn id="121" presetID="10" presetClass="entr" presetSubtype="0" fill="hold" grpId="0" nodeType="clickEffect">
                                  <p:stCondLst>
                                    <p:cond delay="0"/>
                                  </p:stCondLst>
                                  <p:childTnLst>
                                    <p:set>
                                      <p:cBhvr>
                                        <p:cTn id="122" dur="1" fill="hold">
                                          <p:stCondLst>
                                            <p:cond delay="0"/>
                                          </p:stCondLst>
                                        </p:cTn>
                                        <p:tgtEl>
                                          <p:spTgt spid="35"/>
                                        </p:tgtEl>
                                        <p:attrNameLst>
                                          <p:attrName>style.visibility</p:attrName>
                                        </p:attrNameLst>
                                      </p:cBhvr>
                                      <p:to>
                                        <p:strVal val="visible"/>
                                      </p:to>
                                    </p:set>
                                    <p:animEffect transition="in" filter="fade">
                                      <p:cBhvr>
                                        <p:cTn id="123" dur="500"/>
                                        <p:tgtEl>
                                          <p:spTgt spid="35"/>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36"/>
                                        </p:tgtEl>
                                        <p:attrNameLst>
                                          <p:attrName>style.visibility</p:attrName>
                                        </p:attrNameLst>
                                      </p:cBhvr>
                                      <p:to>
                                        <p:strVal val="visible"/>
                                      </p:to>
                                    </p:set>
                                    <p:animEffect transition="in" filter="fade">
                                      <p:cBhvr>
                                        <p:cTn id="126" dur="500"/>
                                        <p:tgtEl>
                                          <p:spTgt spid="36"/>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37"/>
                                        </p:tgtEl>
                                        <p:attrNameLst>
                                          <p:attrName>style.visibility</p:attrName>
                                        </p:attrNameLst>
                                      </p:cBhvr>
                                      <p:to>
                                        <p:strVal val="visible"/>
                                      </p:to>
                                    </p:set>
                                    <p:animEffect transition="in" filter="fade">
                                      <p:cBhvr>
                                        <p:cTn id="129" dur="500"/>
                                        <p:tgtEl>
                                          <p:spTgt spid="37"/>
                                        </p:tgtEl>
                                      </p:cBhvr>
                                    </p:animEffect>
                                  </p:childTnLst>
                                </p:cTn>
                              </p:par>
                            </p:childTnLst>
                          </p:cTn>
                        </p:par>
                      </p:childTnLst>
                    </p:cTn>
                  </p:par>
                  <p:par>
                    <p:cTn id="140" fill="hold">
                      <p:stCondLst>
                        <p:cond delay="indefinite"/>
                      </p:stCondLst>
                      <p:childTnLst>
                        <p:par>
                          <p:cTn id="141" fill="hold">
                            <p:stCondLst>
                              <p:cond delay="0"/>
                            </p:stCondLst>
                            <p:childTnLst>
                              <p:par>
                                <p:cTn id="132" presetID="23" presetClass="entr" presetSubtype="16" fill="hold" grpId="0" nodeType="clickEffect">
                                  <p:stCondLst>
                                    <p:cond delay="0"/>
                                  </p:stCondLst>
                                  <p:childTnLst>
                                    <p:set>
                                      <p:cBhvr>
                                        <p:cTn id="133" dur="1" fill="hold">
                                          <p:stCondLst>
                                            <p:cond delay="0"/>
                                          </p:stCondLst>
                                        </p:cTn>
                                        <p:tgtEl>
                                          <p:spTgt spid="38"/>
                                        </p:tgtEl>
                                        <p:attrNameLst>
                                          <p:attrName>style.visibility</p:attrName>
                                        </p:attrNameLst>
                                      </p:cBhvr>
                                      <p:to>
                                        <p:strVal val="visible"/>
                                      </p:to>
                                    </p:set>
                                    <p:animScale>
                                      <p:cBhvr>
                                        <p:cTn id="134" dur="500" fill="hold"/>
                                        <p:tgtEl>
                                          <p:spTgt spid="38"/>
                                        </p:tgtEl>
                                      </p:cBhvr>
                                      <p:from x="0" y="0"/>
                                      <p:to x="100000" y="100000"/>
                                    </p:animScale>
                                    <p:animEffect transition="in" filter="fade">
                                      <p:cBhvr>
                                        <p:cTn id="135" dur="500"/>
                                        <p:tgtEl>
                                          <p:spTgt spid="38"/>
                                        </p:tgtEl>
                                      </p:cBhvr>
                                    </p:animEffect>
                                  </p:childTnLst>
                                </p:cTn>
                              </p:par>
                              <p:par>
                                <p:cTn id="136" presetID="23" presetClass="entr" presetSubtype="16" fill="hold" grpId="0" nodeType="withEffect">
                                  <p:stCondLst>
                                    <p:cond delay="0"/>
                                  </p:stCondLst>
                                  <p:childTnLst>
                                    <p:set>
                                      <p:cBhvr>
                                        <p:cTn id="137" dur="1" fill="hold">
                                          <p:stCondLst>
                                            <p:cond delay="0"/>
                                          </p:stCondLst>
                                        </p:cTn>
                                        <p:tgtEl>
                                          <p:spTgt spid="39"/>
                                        </p:tgtEl>
                                        <p:attrNameLst>
                                          <p:attrName>style.visibility</p:attrName>
                                        </p:attrNameLst>
                                      </p:cBhvr>
                                      <p:to>
                                        <p:strVal val="visible"/>
                                      </p:to>
                                    </p:set>
                                    <p:animScale>
                                      <p:cBhvr>
                                        <p:cTn id="138" dur="500" fill="hold"/>
                                        <p:tgtEl>
                                          <p:spTgt spid="39"/>
                                        </p:tgtEl>
                                      </p:cBhvr>
                                      <p:from x="0" y="0"/>
                                      <p:to x="100000" y="100000"/>
                                    </p:animScale>
                                    <p:animEffect transition="in" filter="fade">
                                      <p:cBhvr>
                                        <p:cTn id="139"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8023860" cy="335235"/>
          </a:xfrm>
          <a:prstGeom prst="rect">
            <a:avLst/>
          </a:prstGeom>
          <a:noFill/>
          <a:ln/>
        </p:spPr>
        <p:txBody>
          <a:bodyPr wrap="none" lIns="0" tIns="0" rIns="0" bIns="0" rtlCol="0" anchor="ctr"/>
          <a:lstStyle/>
          <a:p>
            <a:pPr algn="l" indent="0" marL="0">
              <a:lnSpc>
                <a:spcPts val="2640"/>
              </a:lnSpc>
              <a:buNone/>
            </a:pPr>
            <a:r>
              <a:rPr lang="en-US" sz="2400" b="1" dirty="0">
                <a:solidFill>
                  <a:srgbClr val="191919"/>
                </a:solidFill>
                <a:latin typeface="Fraunces" pitchFamily="34" charset="0"/>
                <a:ea typeface="Fraunces" pitchFamily="34" charset="-122"/>
                <a:cs typeface="Fraunces" pitchFamily="34" charset="-120"/>
              </a:rPr>
              <a:t>Chapter 4: Storytelling Through Touchpoints</a:t>
            </a:r>
            <a:endParaRPr lang="en-US" sz="2400" dirty="0"/>
          </a:p>
        </p:txBody>
      </p:sp>
      <p:sp>
        <p:nvSpPr>
          <p:cNvPr id="3" name="static"/>
          <p:cNvSpPr txBox="1"/>
          <p:nvPr/>
        </p:nvSpPr>
        <p:spPr>
          <a:xfrm>
            <a:off x="609600" y="1211535"/>
            <a:ext cx="6686550" cy="210443"/>
          </a:xfrm>
          <a:prstGeom prst="rect">
            <a:avLst/>
          </a:prstGeom>
          <a:noFill/>
          <a:ln/>
        </p:spPr>
        <p:txBody>
          <a:bodyPr wrap="none" lIns="0" tIns="0" rIns="0" bIns="0" rtlCol="0" anchor="ctr"/>
          <a:lstStyle/>
          <a:p>
            <a:pPr algn="l" indent="0" marL="0">
              <a:lnSpc>
                <a:spcPts val="1658"/>
              </a:lnSpc>
              <a:buNone/>
            </a:pPr>
            <a:r>
              <a:rPr lang="en-US" sz="1275" dirty="0">
                <a:solidFill>
                  <a:srgbClr val="3A3A36"/>
                </a:solidFill>
                <a:latin typeface="DM Sans" pitchFamily="34" charset="0"/>
                <a:ea typeface="DM Sans" pitchFamily="34" charset="-122"/>
                <a:cs typeface="DM Sans" pitchFamily="34" charset="-120"/>
              </a:rPr>
              <a:t>Turning Everyday Rituals into Brand Loyalty</a:t>
            </a:r>
            <a:endParaRPr lang="en-US" sz="1275" dirty="0"/>
          </a:p>
        </p:txBody>
      </p:sp>
      <p:sp>
        <p:nvSpPr>
          <p:cNvPr id="4" name="static"/>
          <p:cNvSpPr txBox="1"/>
          <p:nvPr/>
        </p:nvSpPr>
        <p:spPr>
          <a:xfrm>
            <a:off x="609600" y="457200"/>
            <a:ext cx="411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006241"/>
                </a:solidFill>
                <a:latin typeface="DM Sans" pitchFamily="34" charset="0"/>
                <a:ea typeface="DM Sans" pitchFamily="34" charset="-122"/>
                <a:cs typeface="DM Sans" pitchFamily="34" charset="-120"/>
              </a:rPr>
              <a:t>PART 3 · OPERATIONALIZING EXPERIENCE</a:t>
            </a:r>
            <a:endParaRPr lang="en-US" sz="900" dirty="0"/>
          </a:p>
        </p:txBody>
      </p:sp>
      <p:sp>
        <p:nvSpPr>
          <p:cNvPr id="5" name="!!key4-1"/>
          <p:cNvSpPr/>
          <p:nvPr/>
        </p:nvSpPr>
        <p:spPr>
          <a:xfrm>
            <a:off x="6438900" y="419100"/>
            <a:ext cx="2095500" cy="255240"/>
          </a:xfrm>
          <a:prstGeom prst="roundRect">
            <a:avLst>
              <a:gd name="adj" fmla="val 50000"/>
            </a:avLst>
          </a:prstGeom>
          <a:solidFill>
            <a:srgbClr val="CBA258"/>
          </a:solidFill>
          <a:ln/>
        </p:spPr>
      </p:sp>
      <p:sp>
        <p:nvSpPr>
          <p:cNvPr id="6" name="!!key4-2"/>
          <p:cNvSpPr txBox="1"/>
          <p:nvPr/>
        </p:nvSpPr>
        <p:spPr>
          <a:xfrm>
            <a:off x="6438900" y="4191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Human experience, at scale</a:t>
            </a:r>
            <a:endParaRPr lang="en-US" sz="900" dirty="0"/>
          </a:p>
        </p:txBody>
      </p:sp>
      <p:sp>
        <p:nvSpPr>
          <p:cNvPr id="7" name="b1:rise"/>
          <p:cNvSpPr/>
          <p:nvPr/>
        </p:nvSpPr>
        <p:spPr>
          <a:xfrm>
            <a:off x="609600" y="1676400"/>
            <a:ext cx="2566988" cy="1857375"/>
          </a:xfrm>
          <a:prstGeom prst="roundRect">
            <a:avLst>
              <a:gd name="adj" fmla="val 4103"/>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8" name="b1:rise"/>
          <p:cNvSpPr/>
          <p:nvPr/>
        </p:nvSpPr>
        <p:spPr>
          <a:xfrm>
            <a:off x="766763" y="1833562"/>
            <a:ext cx="304800" cy="304800"/>
          </a:xfrm>
          <a:prstGeom prst="roundRect">
            <a:avLst>
              <a:gd name="adj" fmla="val 21875"/>
            </a:avLst>
          </a:prstGeom>
          <a:solidFill>
            <a:srgbClr val="D4E9E2"/>
          </a:solidFill>
          <a:ln/>
        </p:spPr>
      </p:sp>
      <p:pic>
        <p:nvPicPr>
          <p:cNvPr id="9" name="b1:rise icon Users" descr="preencoded.png">    </p:cNvPr>
          <p:cNvPicPr>
            <a:picLocks noChangeAspect="1"/>
          </p:cNvPicPr>
          <p:nvPr/>
        </p:nvPicPr>
        <p:blipFill>
          <a:blip r:embed="rId1"/>
          <a:stretch>
            <a:fillRect/>
          </a:stretch>
        </p:blipFill>
        <p:spPr>
          <a:xfrm>
            <a:off x="838200" y="1905000"/>
            <a:ext cx="161925" cy="161925"/>
          </a:xfrm>
          <a:prstGeom prst="rect">
            <a:avLst/>
          </a:prstGeom>
        </p:spPr>
      </p:pic>
      <p:sp>
        <p:nvSpPr>
          <p:cNvPr id="10" name="b1:rise"/>
          <p:cNvSpPr txBox="1"/>
          <p:nvPr/>
        </p:nvSpPr>
        <p:spPr>
          <a:xfrm>
            <a:off x="1147763" y="1905967"/>
            <a:ext cx="997357"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TOUCHPOINT 1</a:t>
            </a:r>
            <a:endParaRPr lang="en-US" sz="900" dirty="0"/>
          </a:p>
        </p:txBody>
      </p:sp>
      <p:sp>
        <p:nvSpPr>
          <p:cNvPr id="11" name="b1:rise"/>
          <p:cNvSpPr txBox="1"/>
          <p:nvPr/>
        </p:nvSpPr>
        <p:spPr>
          <a:xfrm>
            <a:off x="766763" y="2205037"/>
            <a:ext cx="2342769" cy="411361"/>
          </a:xfrm>
          <a:prstGeom prst="rect">
            <a:avLst/>
          </a:prstGeom>
          <a:noFill/>
          <a:ln/>
        </p:spPr>
        <p:txBody>
          <a:bodyPr wrap="square" lIns="0" tIns="0" rIns="0" bIns="0" rtlCol="0" anchor="t"/>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Personalization &amp; Connection</a:t>
            </a:r>
            <a:endParaRPr lang="en-US" sz="1350" dirty="0"/>
          </a:p>
        </p:txBody>
      </p:sp>
      <p:sp>
        <p:nvSpPr>
          <p:cNvPr id="12" name="b1:rise"/>
          <p:cNvSpPr txBox="1"/>
          <p:nvPr/>
        </p:nvSpPr>
        <p:spPr>
          <a:xfrm>
            <a:off x="766763" y="2683073"/>
            <a:ext cx="2342769" cy="746522"/>
          </a:xfrm>
          <a:prstGeom prst="rect">
            <a:avLst/>
          </a:prstGeom>
          <a:noFill/>
          <a:ln/>
        </p:spPr>
        <p:txBody>
          <a:bodyPr wrap="square" lIns="0" tIns="0" rIns="0" bIns="0" rtlCol="0" anchor="t"/>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Customer names on cups, eye-contact barista service, and customizable handcrafted beverages.</a:t>
            </a:r>
            <a:endParaRPr lang="en-US" sz="1050" dirty="0"/>
          </a:p>
        </p:txBody>
      </p:sp>
      <p:sp>
        <p:nvSpPr>
          <p:cNvPr id="13" name="b2:rise"/>
          <p:cNvSpPr/>
          <p:nvPr/>
        </p:nvSpPr>
        <p:spPr>
          <a:xfrm>
            <a:off x="3290887" y="1676400"/>
            <a:ext cx="2566988" cy="1857375"/>
          </a:xfrm>
          <a:prstGeom prst="roundRect">
            <a:avLst>
              <a:gd name="adj" fmla="val 4103"/>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4" name="b2:rise"/>
          <p:cNvSpPr/>
          <p:nvPr/>
        </p:nvSpPr>
        <p:spPr>
          <a:xfrm>
            <a:off x="3448050" y="1833562"/>
            <a:ext cx="304800" cy="304800"/>
          </a:xfrm>
          <a:prstGeom prst="roundRect">
            <a:avLst>
              <a:gd name="adj" fmla="val 21875"/>
            </a:avLst>
          </a:prstGeom>
          <a:solidFill>
            <a:srgbClr val="D4E9E2"/>
          </a:solidFill>
          <a:ln/>
        </p:spPr>
      </p:sp>
      <p:pic>
        <p:nvPicPr>
          <p:cNvPr id="15" name="b2:rise icon CheckCircle" descr="preencoded.png">    </p:cNvPr>
          <p:cNvPicPr>
            <a:picLocks noChangeAspect="1"/>
          </p:cNvPicPr>
          <p:nvPr/>
        </p:nvPicPr>
        <p:blipFill>
          <a:blip r:embed="rId2"/>
          <a:stretch>
            <a:fillRect/>
          </a:stretch>
        </p:blipFill>
        <p:spPr>
          <a:xfrm>
            <a:off x="3519487" y="1905000"/>
            <a:ext cx="161925" cy="161925"/>
          </a:xfrm>
          <a:prstGeom prst="rect">
            <a:avLst/>
          </a:prstGeom>
        </p:spPr>
      </p:pic>
      <p:sp>
        <p:nvSpPr>
          <p:cNvPr id="16" name="b2:rise"/>
          <p:cNvSpPr txBox="1"/>
          <p:nvPr/>
        </p:nvSpPr>
        <p:spPr>
          <a:xfrm>
            <a:off x="3829050" y="1905967"/>
            <a:ext cx="1024521"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TOUCHPOINT 2</a:t>
            </a:r>
            <a:endParaRPr lang="en-US" sz="900" dirty="0"/>
          </a:p>
        </p:txBody>
      </p:sp>
      <p:sp>
        <p:nvSpPr>
          <p:cNvPr id="17" name="b2:rise"/>
          <p:cNvSpPr txBox="1"/>
          <p:nvPr/>
        </p:nvSpPr>
        <p:spPr>
          <a:xfrm>
            <a:off x="3448050" y="2205037"/>
            <a:ext cx="2432876" cy="205680"/>
          </a:xfrm>
          <a:prstGeom prst="rect">
            <a:avLst/>
          </a:prstGeom>
          <a:noFill/>
          <a:ln/>
        </p:spPr>
        <p:txBody>
          <a:bodyPr wrap="none" lIns="0" tIns="0" rIns="0" bIns="0" rtlCol="0" anchor="ctr"/>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Sensory Consistency</a:t>
            </a:r>
            <a:endParaRPr lang="en-US" sz="1350" dirty="0"/>
          </a:p>
        </p:txBody>
      </p:sp>
      <p:sp>
        <p:nvSpPr>
          <p:cNvPr id="18" name="b2:rise"/>
          <p:cNvSpPr txBox="1"/>
          <p:nvPr/>
        </p:nvSpPr>
        <p:spPr>
          <a:xfrm>
            <a:off x="3448050" y="2477393"/>
            <a:ext cx="2342769" cy="559891"/>
          </a:xfrm>
          <a:prstGeom prst="rect">
            <a:avLst/>
          </a:prstGeom>
          <a:noFill/>
          <a:ln/>
        </p:spPr>
        <p:txBody>
          <a:bodyPr wrap="square" lIns="0" tIns="0" rIns="0" bIns="0" rtlCol="0" anchor="t"/>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Consistent ambient design, signature scents, and curated music playlists across global stores.</a:t>
            </a:r>
            <a:endParaRPr lang="en-US" sz="1050" dirty="0"/>
          </a:p>
        </p:txBody>
      </p:sp>
      <p:sp>
        <p:nvSpPr>
          <p:cNvPr id="19" name="b3:rise"/>
          <p:cNvSpPr/>
          <p:nvPr/>
        </p:nvSpPr>
        <p:spPr>
          <a:xfrm>
            <a:off x="5972175" y="1676400"/>
            <a:ext cx="2562225" cy="1857375"/>
          </a:xfrm>
          <a:prstGeom prst="roundRect">
            <a:avLst>
              <a:gd name="adj" fmla="val 4103"/>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0" name="b3:rise"/>
          <p:cNvSpPr/>
          <p:nvPr/>
        </p:nvSpPr>
        <p:spPr>
          <a:xfrm>
            <a:off x="6129338" y="1833562"/>
            <a:ext cx="304800" cy="304800"/>
          </a:xfrm>
          <a:prstGeom prst="roundRect">
            <a:avLst>
              <a:gd name="adj" fmla="val 21875"/>
            </a:avLst>
          </a:prstGeom>
          <a:solidFill>
            <a:srgbClr val="D4E9E2"/>
          </a:solidFill>
          <a:ln/>
        </p:spPr>
      </p:sp>
      <p:pic>
        <p:nvPicPr>
          <p:cNvPr id="21" name="b3:rise icon Home" descr="preencoded.png">    </p:cNvPr>
          <p:cNvPicPr>
            <a:picLocks noChangeAspect="1"/>
          </p:cNvPicPr>
          <p:nvPr/>
        </p:nvPicPr>
        <p:blipFill>
          <a:blip r:embed="rId3"/>
          <a:stretch>
            <a:fillRect/>
          </a:stretch>
        </p:blipFill>
        <p:spPr>
          <a:xfrm>
            <a:off x="6200775" y="1905000"/>
            <a:ext cx="161925" cy="161925"/>
          </a:xfrm>
          <a:prstGeom prst="rect">
            <a:avLst/>
          </a:prstGeom>
        </p:spPr>
      </p:pic>
      <p:sp>
        <p:nvSpPr>
          <p:cNvPr id="22" name="b3:rise"/>
          <p:cNvSpPr txBox="1"/>
          <p:nvPr/>
        </p:nvSpPr>
        <p:spPr>
          <a:xfrm>
            <a:off x="6510337" y="1905967"/>
            <a:ext cx="1027816"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TOUCHPOINT 3</a:t>
            </a:r>
            <a:endParaRPr lang="en-US" sz="900" dirty="0"/>
          </a:p>
        </p:txBody>
      </p:sp>
      <p:sp>
        <p:nvSpPr>
          <p:cNvPr id="23" name="b3:rise"/>
          <p:cNvSpPr txBox="1"/>
          <p:nvPr/>
        </p:nvSpPr>
        <p:spPr>
          <a:xfrm>
            <a:off x="6129338" y="2205037"/>
            <a:ext cx="2337816" cy="411361"/>
          </a:xfrm>
          <a:prstGeom prst="rect">
            <a:avLst/>
          </a:prstGeom>
          <a:noFill/>
          <a:ln/>
        </p:spPr>
        <p:txBody>
          <a:bodyPr wrap="square" lIns="0" tIns="0" rIns="0" bIns="0" rtlCol="0" anchor="t"/>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Community Customization</a:t>
            </a:r>
            <a:endParaRPr lang="en-US" sz="1350" dirty="0"/>
          </a:p>
        </p:txBody>
      </p:sp>
      <p:sp>
        <p:nvSpPr>
          <p:cNvPr id="24" name="b3:rise"/>
          <p:cNvSpPr txBox="1"/>
          <p:nvPr/>
        </p:nvSpPr>
        <p:spPr>
          <a:xfrm>
            <a:off x="6129338" y="2683073"/>
            <a:ext cx="2337816" cy="559891"/>
          </a:xfrm>
          <a:prstGeom prst="rect">
            <a:avLst/>
          </a:prstGeom>
          <a:noFill/>
          <a:ln/>
        </p:spPr>
        <p:txBody>
          <a:bodyPr wrap="square" lIns="0" tIns="0" rIns="0" bIns="0" rtlCol="0" anchor="t"/>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Store architecture that reflects neighborhood heritage while keeping core brand values.</a:t>
            </a:r>
            <a:endParaRPr lang="en-US" sz="1050" dirty="0"/>
          </a:p>
        </p:txBody>
      </p:sp>
      <p:sp>
        <p:nvSpPr>
          <p:cNvPr id="25" name="b4:fade"/>
          <p:cNvSpPr txBox="1"/>
          <p:nvPr/>
        </p:nvSpPr>
        <p:spPr>
          <a:xfrm>
            <a:off x="609600" y="4137645"/>
            <a:ext cx="379012"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006241"/>
                </a:solidFill>
                <a:latin typeface="DM Sans" pitchFamily="34" charset="0"/>
                <a:ea typeface="DM Sans" pitchFamily="34" charset="-122"/>
                <a:cs typeface="DM Sans" pitchFamily="34" charset="-120"/>
              </a:rPr>
              <a:t>NEXT</a:t>
            </a:r>
            <a:endParaRPr lang="en-US" sz="900" dirty="0"/>
          </a:p>
        </p:txBody>
      </p:sp>
      <p:sp>
        <p:nvSpPr>
          <p:cNvPr id="26" name="b4:fade"/>
          <p:cNvSpPr txBox="1"/>
          <p:nvPr/>
        </p:nvSpPr>
        <p:spPr>
          <a:xfrm>
            <a:off x="1055787" y="4124325"/>
            <a:ext cx="6204668" cy="186630"/>
          </a:xfrm>
          <a:prstGeom prst="rect">
            <a:avLst/>
          </a:prstGeom>
          <a:noFill/>
          <a:ln/>
        </p:spPr>
        <p:txBody>
          <a:bodyPr wrap="none" lIns="0" tIns="0" rIns="0" bIns="0" rtlCol="0" anchor="ctr"/>
          <a:lstStyle/>
          <a:p>
            <a:pPr algn="l" indent="0" marL="0">
              <a:lnSpc>
                <a:spcPts val="1470"/>
              </a:lnSpc>
              <a:buNone/>
            </a:pPr>
            <a:r>
              <a:rPr lang="en-US" sz="1050" i="1" dirty="0">
                <a:solidFill>
                  <a:srgbClr val="3A3A36"/>
                </a:solidFill>
                <a:latin typeface="DM Sans" pitchFamily="34" charset="0"/>
                <a:ea typeface="DM Sans" pitchFamily="34" charset="-122"/>
                <a:cs typeface="DM Sans" pitchFamily="34" charset="-120"/>
              </a:rPr>
              <a:t>As customer lifestyles changed, Starbucks had to bring "The Third Place" into the </a:t>
            </a:r>
            <a:pPr algn="l" indent="0" marL="0">
              <a:lnSpc>
                <a:spcPts val="1470"/>
              </a:lnSpc>
              <a:buNone/>
            </a:pPr>
            <a:r>
              <a:rPr lang="en-US" sz="1050" b="1" i="1" dirty="0">
                <a:solidFill>
                  <a:srgbClr val="006241"/>
                </a:solidFill>
                <a:latin typeface="DM Sans" pitchFamily="34" charset="0"/>
                <a:ea typeface="DM Sans" pitchFamily="34" charset="-122"/>
                <a:cs typeface="DM Sans" pitchFamily="34" charset="-120"/>
              </a:rPr>
              <a:t>digital age</a:t>
            </a:r>
            <a:pPr algn="l" indent="0" marL="0">
              <a:lnSpc>
                <a:spcPts val="1470"/>
              </a:lnSpc>
              <a:buNone/>
            </a:pPr>
            <a:r>
              <a:rPr lang="en-US" sz="1050" i="1" dirty="0">
                <a:solidFill>
                  <a:srgbClr val="3A3A36"/>
                </a:solidFill>
                <a:latin typeface="DM Sans" pitchFamily="34" charset="0"/>
                <a:ea typeface="DM Sans" pitchFamily="34" charset="-122"/>
                <a:cs typeface="DM Sans" pitchFamily="34" charset="-120"/>
              </a:rPr>
              <a:t>…</a:t>
            </a:r>
            <a:endParaRPr lang="en-US" sz="1050" dirty="0"/>
          </a:p>
        </p:txBody>
      </p:sp>
      <p:sp>
        <p:nvSpPr>
          <p:cNvPr id="27" name="!!key5-1"/>
          <p:cNvSpPr/>
          <p:nvPr/>
        </p:nvSpPr>
        <p:spPr>
          <a:xfrm>
            <a:off x="6438900" y="4572000"/>
            <a:ext cx="2095500" cy="255240"/>
          </a:xfrm>
          <a:prstGeom prst="roundRect">
            <a:avLst>
              <a:gd name="adj" fmla="val 50000"/>
            </a:avLst>
          </a:prstGeom>
          <a:solidFill>
            <a:srgbClr val="CBA258"/>
          </a:solidFill>
          <a:ln/>
        </p:spPr>
      </p:sp>
      <p:sp>
        <p:nvSpPr>
          <p:cNvPr id="28" name="!!key5-2"/>
          <p:cNvSpPr txBox="1"/>
          <p:nvPr/>
        </p:nvSpPr>
        <p:spPr>
          <a:xfrm>
            <a:off x="6438900" y="45720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The digital Third Place</a:t>
            </a:r>
            <a:endParaRPr lang="en-US" sz="900" dirty="0"/>
          </a:p>
        </p:txBody>
      </p:sp>
      <p:sp>
        <p:nvSpPr>
          <p:cNvPr id="29" name="static"/>
          <p:cNvSpPr txBox="1"/>
          <p:nvPr/>
        </p:nvSpPr>
        <p:spPr>
          <a:xfrm>
            <a:off x="609600" y="4678710"/>
            <a:ext cx="2539305" cy="159990"/>
          </a:xfrm>
          <a:prstGeom prst="rect">
            <a:avLst/>
          </a:prstGeom>
          <a:noFill/>
          <a:ln/>
        </p:spPr>
        <p:txBody>
          <a:bodyPr wrap="none" lIns="0" tIns="0" rIns="0" bIns="0" rtlCol="0" anchor="ctr"/>
          <a:lstStyle/>
          <a:p>
            <a:pPr algn="l" indent="0" marL="0">
              <a:lnSpc>
                <a:spcPts val="1260"/>
              </a:lnSpc>
              <a:buNone/>
            </a:pPr>
            <a:r>
              <a:rPr lang="en-US" sz="900" dirty="0">
                <a:solidFill>
                  <a:srgbClr val="6B6A63"/>
                </a:solidFill>
                <a:latin typeface="DM Sans" pitchFamily="34" charset="0"/>
                <a:ea typeface="DM Sans" pitchFamily="34" charset="-122"/>
                <a:cs typeface="DM Sans" pitchFamily="34" charset="-120"/>
              </a:rPr>
              <a:t>Slide 5 of 8 · Part 3 · Operationalizing Experience</a:t>
            </a:r>
            <a:endParaRPr lang="en-US" sz="900" dirty="0"/>
          </a:p>
        </p:txBody>
      </p:sp>
      <p:sp>
        <p:nvSpPr>
          <p:cNvPr id="30" name="static"/>
          <p:cNvSpPr/>
          <p:nvPr/>
        </p:nvSpPr>
        <p:spPr>
          <a:xfrm>
            <a:off x="3339405" y="4730130"/>
            <a:ext cx="57150" cy="57150"/>
          </a:xfrm>
          <a:prstGeom prst="roundRect">
            <a:avLst>
              <a:gd name="adj" fmla="val 50000"/>
            </a:avLst>
          </a:prstGeom>
          <a:solidFill>
            <a:srgbClr val="006241"/>
          </a:solidFill>
          <a:ln/>
        </p:spPr>
      </p:sp>
      <p:sp>
        <p:nvSpPr>
          <p:cNvPr id="31" name="static"/>
          <p:cNvSpPr/>
          <p:nvPr/>
        </p:nvSpPr>
        <p:spPr>
          <a:xfrm>
            <a:off x="3444180" y="4730130"/>
            <a:ext cx="57150" cy="57150"/>
          </a:xfrm>
          <a:prstGeom prst="roundRect">
            <a:avLst>
              <a:gd name="adj" fmla="val 50000"/>
            </a:avLst>
          </a:prstGeom>
          <a:solidFill>
            <a:srgbClr val="006241"/>
          </a:solidFill>
          <a:ln/>
        </p:spPr>
      </p:sp>
      <p:sp>
        <p:nvSpPr>
          <p:cNvPr id="32" name="static"/>
          <p:cNvSpPr/>
          <p:nvPr/>
        </p:nvSpPr>
        <p:spPr>
          <a:xfrm>
            <a:off x="3548955" y="4730130"/>
            <a:ext cx="57150" cy="57150"/>
          </a:xfrm>
          <a:prstGeom prst="roundRect">
            <a:avLst>
              <a:gd name="adj" fmla="val 50000"/>
            </a:avLst>
          </a:prstGeom>
          <a:solidFill>
            <a:srgbClr val="006241"/>
          </a:solidFill>
          <a:ln/>
        </p:spPr>
      </p:sp>
      <p:sp>
        <p:nvSpPr>
          <p:cNvPr id="33" name="static"/>
          <p:cNvSpPr/>
          <p:nvPr/>
        </p:nvSpPr>
        <p:spPr>
          <a:xfrm>
            <a:off x="3653730" y="4730130"/>
            <a:ext cx="57150" cy="57150"/>
          </a:xfrm>
          <a:prstGeom prst="roundRect">
            <a:avLst>
              <a:gd name="adj" fmla="val 50000"/>
            </a:avLst>
          </a:prstGeom>
          <a:solidFill>
            <a:srgbClr val="006241"/>
          </a:solidFill>
          <a:ln/>
        </p:spPr>
      </p:sp>
      <p:sp>
        <p:nvSpPr>
          <p:cNvPr id="34" name="static"/>
          <p:cNvSpPr/>
          <p:nvPr/>
        </p:nvSpPr>
        <p:spPr>
          <a:xfrm>
            <a:off x="3758505" y="4730130"/>
            <a:ext cx="171450" cy="57150"/>
          </a:xfrm>
          <a:prstGeom prst="roundRect">
            <a:avLst>
              <a:gd name="adj" fmla="val 50000"/>
            </a:avLst>
          </a:prstGeom>
          <a:solidFill>
            <a:srgbClr val="CBA258"/>
          </a:solidFill>
          <a:ln/>
        </p:spPr>
      </p:sp>
      <p:sp>
        <p:nvSpPr>
          <p:cNvPr id="35" name="static"/>
          <p:cNvSpPr/>
          <p:nvPr/>
        </p:nvSpPr>
        <p:spPr>
          <a:xfrm>
            <a:off x="3977580" y="4730130"/>
            <a:ext cx="57150" cy="57150"/>
          </a:xfrm>
          <a:prstGeom prst="roundRect">
            <a:avLst>
              <a:gd name="adj" fmla="val 50000"/>
            </a:avLst>
          </a:prstGeom>
          <a:solidFill>
            <a:srgbClr val="C5D8D0"/>
          </a:solidFill>
          <a:ln/>
        </p:spPr>
      </p:sp>
      <p:sp>
        <p:nvSpPr>
          <p:cNvPr id="36" name="static"/>
          <p:cNvSpPr/>
          <p:nvPr/>
        </p:nvSpPr>
        <p:spPr>
          <a:xfrm>
            <a:off x="4082355" y="4730130"/>
            <a:ext cx="57150" cy="57150"/>
          </a:xfrm>
          <a:prstGeom prst="roundRect">
            <a:avLst>
              <a:gd name="adj" fmla="val 50000"/>
            </a:avLst>
          </a:prstGeom>
          <a:solidFill>
            <a:srgbClr val="C5D8D0"/>
          </a:solidFill>
          <a:ln/>
        </p:spPr>
      </p:sp>
      <p:sp>
        <p:nvSpPr>
          <p:cNvPr id="37" name="static"/>
          <p:cNvSpPr/>
          <p:nvPr/>
        </p:nvSpPr>
        <p:spPr>
          <a:xfrm>
            <a:off x="4187130" y="4730130"/>
            <a:ext cx="57150" cy="57150"/>
          </a:xfrm>
          <a:prstGeom prst="roundRect">
            <a:avLst>
              <a:gd name="adj" fmla="val 50000"/>
            </a:avLst>
          </a:prstGeom>
          <a:solidFill>
            <a:srgbClr val="C5D8D0"/>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700"/>
                                        <p:tgtEl>
                                          <p:spTgt spid="7"/>
                                        </p:tgtEl>
                                      </p:cBhvr>
                                    </p:animEffect>
                                    <p:anim calcmode="lin" valueType="num">
                                      <p:cBhvr additive="base">
                                        <p:cTn id="6" dur="700" fill="hold"/>
                                        <p:tgtEl>
                                          <p:spTgt spid="7"/>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700"/>
                                        <p:tgtEl>
                                          <p:spTgt spid="8"/>
                                        </p:tgtEl>
                                      </p:cBhvr>
                                    </p:animEffect>
                                    <p:anim calcmode="lin" valueType="num">
                                      <p:cBhvr additive="base">
                                        <p:cTn id="10" dur="700" fill="hold"/>
                                        <p:tgtEl>
                                          <p:spTgt spid="8"/>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700"/>
                                        <p:tgtEl>
                                          <p:spTgt spid="9"/>
                                        </p:tgtEl>
                                      </p:cBhvr>
                                    </p:animEffect>
                                    <p:anim calcmode="lin" valueType="num">
                                      <p:cBhvr additive="base">
                                        <p:cTn id="14" dur="700" fill="hold"/>
                                        <p:tgtEl>
                                          <p:spTgt spid="9"/>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700"/>
                                        <p:tgtEl>
                                          <p:spTgt spid="10"/>
                                        </p:tgtEl>
                                      </p:cBhvr>
                                    </p:animEffect>
                                    <p:anim calcmode="lin" valueType="num">
                                      <p:cBhvr additive="base">
                                        <p:cTn id="18" dur="700" fill="hold"/>
                                        <p:tgtEl>
                                          <p:spTgt spid="10"/>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700"/>
                                        <p:tgtEl>
                                          <p:spTgt spid="11"/>
                                        </p:tgtEl>
                                      </p:cBhvr>
                                    </p:animEffect>
                                    <p:anim calcmode="lin" valueType="num">
                                      <p:cBhvr additive="base">
                                        <p:cTn id="22" dur="700" fill="hold"/>
                                        <p:tgtEl>
                                          <p:spTgt spid="11"/>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700"/>
                                        <p:tgtEl>
                                          <p:spTgt spid="12"/>
                                        </p:tgtEl>
                                      </p:cBhvr>
                                    </p:animEffect>
                                    <p:anim calcmode="lin" valueType="num">
                                      <p:cBhvr additive="base">
                                        <p:cTn id="26" dur="700" fill="hold"/>
                                        <p:tgtEl>
                                          <p:spTgt spid="12"/>
                                        </p:tgtEl>
                                        <p:attrNameLst>
                                          <p:attrName>ppt_y</p:attrName>
                                        </p:attrNameLst>
                                      </p:cBhvr>
                                      <p:tavLst>
                                        <p:tav tm="0">
                                          <p:val>
                                            <p:strVal val="#ppt_y+.08"/>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700"/>
                                        <p:tgtEl>
                                          <p:spTgt spid="13"/>
                                        </p:tgtEl>
                                      </p:cBhvr>
                                    </p:animEffect>
                                    <p:anim calcmode="lin" valueType="num">
                                      <p:cBhvr additive="base">
                                        <p:cTn id="32" dur="700" fill="hold"/>
                                        <p:tgtEl>
                                          <p:spTgt spid="13"/>
                                        </p:tgtEl>
                                        <p:attrNameLst>
                                          <p:attrName>ppt_y</p:attrName>
                                        </p:attrNameLst>
                                      </p:cBhvr>
                                      <p:tavLst>
                                        <p:tav tm="0">
                                          <p:val>
                                            <p:strVal val="#ppt_y+.0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700"/>
                                        <p:tgtEl>
                                          <p:spTgt spid="14"/>
                                        </p:tgtEl>
                                      </p:cBhvr>
                                    </p:animEffect>
                                    <p:anim calcmode="lin" valueType="num">
                                      <p:cBhvr additive="base">
                                        <p:cTn id="36" dur="700" fill="hold"/>
                                        <p:tgtEl>
                                          <p:spTgt spid="14"/>
                                        </p:tgtEl>
                                        <p:attrNameLst>
                                          <p:attrName>ppt_y</p:attrName>
                                        </p:attrNameLst>
                                      </p:cBhvr>
                                      <p:tavLst>
                                        <p:tav tm="0">
                                          <p:val>
                                            <p:strVal val="#ppt_y+.08"/>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8"/>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8"/>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55" presetID="42"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700"/>
                                        <p:tgtEl>
                                          <p:spTgt spid="19"/>
                                        </p:tgtEl>
                                      </p:cBhvr>
                                    </p:animEffect>
                                    <p:anim calcmode="lin" valueType="num">
                                      <p:cBhvr additive="base">
                                        <p:cTn id="58" dur="700" fill="hold"/>
                                        <p:tgtEl>
                                          <p:spTgt spid="19"/>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700"/>
                                        <p:tgtEl>
                                          <p:spTgt spid="20"/>
                                        </p:tgtEl>
                                      </p:cBhvr>
                                    </p:animEffect>
                                    <p:anim calcmode="lin" valueType="num">
                                      <p:cBhvr additive="base">
                                        <p:cTn id="62" dur="700" fill="hold"/>
                                        <p:tgtEl>
                                          <p:spTgt spid="20"/>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700"/>
                                        <p:tgtEl>
                                          <p:spTgt spid="21"/>
                                        </p:tgtEl>
                                      </p:cBhvr>
                                    </p:animEffect>
                                    <p:anim calcmode="lin" valueType="num">
                                      <p:cBhvr additive="base">
                                        <p:cTn id="66" dur="700" fill="hold"/>
                                        <p:tgtEl>
                                          <p:spTgt spid="21"/>
                                        </p:tgtEl>
                                        <p:attrNameLst>
                                          <p:attrName>ppt_y</p:attrName>
                                        </p:attrNameLst>
                                      </p:cBhvr>
                                      <p:tavLst>
                                        <p:tav tm="0">
                                          <p:val>
                                            <p:strVal val="#ppt_y+.08"/>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700"/>
                                        <p:tgtEl>
                                          <p:spTgt spid="22"/>
                                        </p:tgtEl>
                                      </p:cBhvr>
                                    </p:animEffect>
                                    <p:anim calcmode="lin" valueType="num">
                                      <p:cBhvr additive="base">
                                        <p:cTn id="70" dur="700" fill="hold"/>
                                        <p:tgtEl>
                                          <p:spTgt spid="22"/>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23"/>
                                        </p:tgtEl>
                                        <p:attrNameLst>
                                          <p:attrName>style.visibility</p:attrName>
                                        </p:attrNameLst>
                                      </p:cBhvr>
                                      <p:to>
                                        <p:strVal val="visible"/>
                                      </p:to>
                                    </p:set>
                                    <p:animEffect transition="in" filter="fade">
                                      <p:cBhvr>
                                        <p:cTn id="73" dur="700"/>
                                        <p:tgtEl>
                                          <p:spTgt spid="23"/>
                                        </p:tgtEl>
                                      </p:cBhvr>
                                    </p:animEffect>
                                    <p:anim calcmode="lin" valueType="num">
                                      <p:cBhvr additive="base">
                                        <p:cTn id="74" dur="700" fill="hold"/>
                                        <p:tgtEl>
                                          <p:spTgt spid="23"/>
                                        </p:tgtEl>
                                        <p:attrNameLst>
                                          <p:attrName>ppt_y</p:attrName>
                                        </p:attrNameLst>
                                      </p:cBhvr>
                                      <p:tavLst>
                                        <p:tav tm="0">
                                          <p:val>
                                            <p:strVal val="#ppt_y+.08"/>
                                          </p:val>
                                        </p:tav>
                                        <p:tav tm="100000">
                                          <p:val>
                                            <p:strVal val="#ppt_y"/>
                                          </p:val>
                                        </p:tav>
                                      </p:tavLst>
                                    </p:anim>
                                  </p:childTnLst>
                                </p:cTn>
                              </p:par>
                              <p:par>
                                <p:cTn id="75" presetID="42" presetClass="entr" presetSubtype="0" fill="hold" grpId="0" nodeType="withEffect">
                                  <p:stCondLst>
                                    <p:cond delay="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700"/>
                                        <p:tgtEl>
                                          <p:spTgt spid="24"/>
                                        </p:tgtEl>
                                      </p:cBhvr>
                                    </p:animEffect>
                                    <p:anim calcmode="lin" valueType="num">
                                      <p:cBhvr additive="base">
                                        <p:cTn id="78" dur="700" fill="hold"/>
                                        <p:tgtEl>
                                          <p:spTgt spid="24"/>
                                        </p:tgtEl>
                                        <p:attrNameLst>
                                          <p:attrName>ppt_y</p:attrName>
                                        </p:attrNameLst>
                                      </p:cBhvr>
                                      <p:tavLst>
                                        <p:tav tm="0">
                                          <p:val>
                                            <p:strVal val="#ppt_y+.08"/>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500"/>
                                        <p:tgtEl>
                                          <p:spTgt spid="25"/>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6"/>
                                        </p:tgtEl>
                                        <p:attrNameLst>
                                          <p:attrName>style.visibility</p:attrName>
                                        </p:attrNameLst>
                                      </p:cBhvr>
                                      <p:to>
                                        <p:strVal val="visible"/>
                                      </p:to>
                                    </p:set>
                                    <p:animEffect transition="in" filter="fade">
                                      <p:cBhvr>
                                        <p:cTn id="86" dur="500"/>
                                        <p:tgtEl>
                                          <p:spTgt spid="26"/>
                                        </p:tgtEl>
                                      </p:cBhvr>
                                    </p:animEffect>
                                  </p:childTnLst>
                                </p:cTn>
                              </p:par>
                            </p:childTnLst>
                          </p:cTn>
                        </p:par>
                      </p:childTnLst>
                    </p:cTn>
                  </p:par>
                  <p:par>
                    <p:cTn id="97" fill="hold">
                      <p:stCondLst>
                        <p:cond delay="indefinite"/>
                      </p:stCondLst>
                      <p:childTnLst>
                        <p:par>
                          <p:cTn id="98" fill="hold">
                            <p:stCondLst>
                              <p:cond delay="0"/>
                            </p:stCondLst>
                            <p:childTnLst>
                              <p:par>
                                <p:cTn id="89" presetID="23" presetClass="entr" presetSubtype="16" fill="hold" grpId="0" nodeType="clickEffect">
                                  <p:stCondLst>
                                    <p:cond delay="0"/>
                                  </p:stCondLst>
                                  <p:childTnLst>
                                    <p:set>
                                      <p:cBhvr>
                                        <p:cTn id="90" dur="1" fill="hold">
                                          <p:stCondLst>
                                            <p:cond delay="0"/>
                                          </p:stCondLst>
                                        </p:cTn>
                                        <p:tgtEl>
                                          <p:spTgt spid="27"/>
                                        </p:tgtEl>
                                        <p:attrNameLst>
                                          <p:attrName>style.visibility</p:attrName>
                                        </p:attrNameLst>
                                      </p:cBhvr>
                                      <p:to>
                                        <p:strVal val="visible"/>
                                      </p:to>
                                    </p:set>
                                    <p:animScale>
                                      <p:cBhvr>
                                        <p:cTn id="91" dur="500" fill="hold"/>
                                        <p:tgtEl>
                                          <p:spTgt spid="27"/>
                                        </p:tgtEl>
                                      </p:cBhvr>
                                      <p:from x="0" y="0"/>
                                      <p:to x="100000" y="100000"/>
                                    </p:animScale>
                                    <p:animEffect transition="in" filter="fade">
                                      <p:cBhvr>
                                        <p:cTn id="92" dur="500"/>
                                        <p:tgtEl>
                                          <p:spTgt spid="27"/>
                                        </p:tgtEl>
                                      </p:cBhvr>
                                    </p:animEffect>
                                  </p:childTnLst>
                                </p:cTn>
                              </p:par>
                              <p:par>
                                <p:cTn id="93" presetID="23" presetClass="entr" presetSubtype="16" fill="hold" grpId="0" nodeType="withEffect">
                                  <p:stCondLst>
                                    <p:cond delay="0"/>
                                  </p:stCondLst>
                                  <p:childTnLst>
                                    <p:set>
                                      <p:cBhvr>
                                        <p:cTn id="94" dur="1" fill="hold">
                                          <p:stCondLst>
                                            <p:cond delay="0"/>
                                          </p:stCondLst>
                                        </p:cTn>
                                        <p:tgtEl>
                                          <p:spTgt spid="28"/>
                                        </p:tgtEl>
                                        <p:attrNameLst>
                                          <p:attrName>style.visibility</p:attrName>
                                        </p:attrNameLst>
                                      </p:cBhvr>
                                      <p:to>
                                        <p:strVal val="visible"/>
                                      </p:to>
                                    </p:set>
                                    <p:animScale>
                                      <p:cBhvr>
                                        <p:cTn id="95" dur="500" fill="hold"/>
                                        <p:tgtEl>
                                          <p:spTgt spid="28"/>
                                        </p:tgtEl>
                                      </p:cBhvr>
                                      <p:from x="0" y="0"/>
                                      <p:to x="100000" y="100000"/>
                                    </p:animScale>
                                    <p:animEffect transition="in" filter="fade">
                                      <p:cBhvr>
                                        <p:cTn id="96"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2" grpId="0" animBg="1"/>
      <p:bldP spid="13" grpId="0" animBg="1"/>
      <p:bldP spid="14" grpId="0" animBg="1"/>
      <p:bldP spid="16" grpId="0" animBg="1"/>
      <p:bldP spid="17" grpId="0" animBg="1"/>
      <p:bldP spid="18" grpId="0" animBg="1"/>
      <p:bldP spid="19" grpId="0" animBg="1"/>
      <p:bldP spid="20" grpId="0" animBg="1"/>
      <p:bldP spid="22" grpId="0" animBg="1"/>
      <p:bldP spid="23" grpId="0" animBg="1"/>
      <p:bldP spid="24" grpId="0" animBg="1"/>
      <p:bldP spid="25" grpId="0" animBg="1"/>
      <p:bldP spid="26" grpId="0" animBg="1"/>
      <p:bldP spid="27" grpId="0" animBg="1"/>
      <p:bldP spid="2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35235"/>
          </a:xfrm>
          <a:prstGeom prst="rect">
            <a:avLst/>
          </a:prstGeom>
          <a:noFill/>
          <a:ln/>
        </p:spPr>
        <p:txBody>
          <a:bodyPr wrap="none" lIns="0" tIns="0" rIns="0" bIns="0" rtlCol="0" anchor="ctr"/>
          <a:lstStyle/>
          <a:p>
            <a:pPr algn="l" indent="0" marL="0">
              <a:lnSpc>
                <a:spcPts val="2640"/>
              </a:lnSpc>
              <a:buNone/>
            </a:pPr>
            <a:r>
              <a:rPr lang="en-US" sz="2400" b="1" dirty="0">
                <a:solidFill>
                  <a:srgbClr val="191919"/>
                </a:solidFill>
                <a:latin typeface="Fraunces" pitchFamily="34" charset="0"/>
                <a:ea typeface="Fraunces" pitchFamily="34" charset="-122"/>
                <a:cs typeface="Fraunces" pitchFamily="34" charset="-120"/>
              </a:rPr>
              <a:t>Chapter 5: The Digital "Third Place"</a:t>
            </a:r>
            <a:endParaRPr lang="en-US" sz="2400" dirty="0"/>
          </a:p>
        </p:txBody>
      </p:sp>
      <p:sp>
        <p:nvSpPr>
          <p:cNvPr id="3" name="static"/>
          <p:cNvSpPr txBox="1"/>
          <p:nvPr/>
        </p:nvSpPr>
        <p:spPr>
          <a:xfrm>
            <a:off x="609600" y="1211535"/>
            <a:ext cx="6686550" cy="210443"/>
          </a:xfrm>
          <a:prstGeom prst="rect">
            <a:avLst/>
          </a:prstGeom>
          <a:noFill/>
          <a:ln/>
        </p:spPr>
        <p:txBody>
          <a:bodyPr wrap="none" lIns="0" tIns="0" rIns="0" bIns="0" rtlCol="0" anchor="ctr"/>
          <a:lstStyle/>
          <a:p>
            <a:pPr algn="l" indent="0" marL="0">
              <a:lnSpc>
                <a:spcPts val="1658"/>
              </a:lnSpc>
              <a:buNone/>
            </a:pPr>
            <a:r>
              <a:rPr lang="en-US" sz="1275" dirty="0">
                <a:solidFill>
                  <a:srgbClr val="3A3A36"/>
                </a:solidFill>
                <a:latin typeface="DM Sans" pitchFamily="34" charset="0"/>
                <a:ea typeface="DM Sans" pitchFamily="34" charset="-122"/>
                <a:cs typeface="DM Sans" pitchFamily="34" charset="-120"/>
              </a:rPr>
              <a:t>Blending Physical Hospitality with Digital Convenience</a:t>
            </a:r>
            <a:endParaRPr lang="en-US" sz="1275" dirty="0"/>
          </a:p>
        </p:txBody>
      </p:sp>
      <p:sp>
        <p:nvSpPr>
          <p:cNvPr id="4" name="static"/>
          <p:cNvSpPr txBox="1"/>
          <p:nvPr/>
        </p:nvSpPr>
        <p:spPr>
          <a:xfrm>
            <a:off x="609600" y="457200"/>
            <a:ext cx="411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006241"/>
                </a:solidFill>
                <a:latin typeface="DM Sans" pitchFamily="34" charset="0"/>
                <a:ea typeface="DM Sans" pitchFamily="34" charset="-122"/>
                <a:cs typeface="DM Sans" pitchFamily="34" charset="-120"/>
              </a:rPr>
              <a:t>PART 3 · MODERN EVOLUTION</a:t>
            </a:r>
            <a:endParaRPr lang="en-US" sz="900" dirty="0"/>
          </a:p>
        </p:txBody>
      </p:sp>
      <p:sp>
        <p:nvSpPr>
          <p:cNvPr id="5" name="!!key5-1"/>
          <p:cNvSpPr/>
          <p:nvPr/>
        </p:nvSpPr>
        <p:spPr>
          <a:xfrm>
            <a:off x="6438900" y="419100"/>
            <a:ext cx="2095500" cy="255240"/>
          </a:xfrm>
          <a:prstGeom prst="roundRect">
            <a:avLst>
              <a:gd name="adj" fmla="val 50000"/>
            </a:avLst>
          </a:prstGeom>
          <a:solidFill>
            <a:srgbClr val="CBA258"/>
          </a:solidFill>
          <a:ln/>
        </p:spPr>
      </p:sp>
      <p:sp>
        <p:nvSpPr>
          <p:cNvPr id="6" name="!!key5-2"/>
          <p:cNvSpPr txBox="1"/>
          <p:nvPr/>
        </p:nvSpPr>
        <p:spPr>
          <a:xfrm>
            <a:off x="6438900" y="4191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The digital Third Place</a:t>
            </a:r>
            <a:endParaRPr lang="en-US" sz="900" dirty="0"/>
          </a:p>
        </p:txBody>
      </p:sp>
      <p:sp>
        <p:nvSpPr>
          <p:cNvPr id="7" name="b1:rise"/>
          <p:cNvSpPr/>
          <p:nvPr/>
        </p:nvSpPr>
        <p:spPr>
          <a:xfrm>
            <a:off x="609600" y="1676400"/>
            <a:ext cx="3286125" cy="942975"/>
          </a:xfrm>
          <a:prstGeom prst="roundRect">
            <a:avLst>
              <a:gd name="adj" fmla="val 8081"/>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8" name="b1:rise"/>
          <p:cNvSpPr/>
          <p:nvPr/>
        </p:nvSpPr>
        <p:spPr>
          <a:xfrm>
            <a:off x="766763" y="1814513"/>
            <a:ext cx="266700" cy="266700"/>
          </a:xfrm>
          <a:prstGeom prst="roundRect">
            <a:avLst>
              <a:gd name="adj" fmla="val 21429"/>
            </a:avLst>
          </a:prstGeom>
          <a:solidFill>
            <a:srgbClr val="D4E9E2"/>
          </a:solidFill>
          <a:ln/>
        </p:spPr>
      </p:sp>
      <p:pic>
        <p:nvPicPr>
          <p:cNvPr id="9" name="b1:rise icon Star" descr="preencoded.png">    </p:cNvPr>
          <p:cNvPicPr>
            <a:picLocks noChangeAspect="1"/>
          </p:cNvPicPr>
          <p:nvPr/>
        </p:nvPicPr>
        <p:blipFill>
          <a:blip r:embed="rId1"/>
          <a:stretch>
            <a:fillRect/>
          </a:stretch>
        </p:blipFill>
        <p:spPr>
          <a:xfrm>
            <a:off x="828675" y="1876425"/>
            <a:ext cx="142875" cy="142875"/>
          </a:xfrm>
          <a:prstGeom prst="rect">
            <a:avLst/>
          </a:prstGeom>
        </p:spPr>
      </p:pic>
      <p:sp>
        <p:nvSpPr>
          <p:cNvPr id="10" name="b1:rise"/>
          <p:cNvSpPr txBox="1"/>
          <p:nvPr/>
        </p:nvSpPr>
        <p:spPr>
          <a:xfrm>
            <a:off x="1128713" y="1814513"/>
            <a:ext cx="2818638" cy="194295"/>
          </a:xfrm>
          <a:prstGeom prst="rect">
            <a:avLst/>
          </a:prstGeom>
          <a:noFill/>
          <a:ln/>
        </p:spPr>
        <p:txBody>
          <a:bodyPr wrap="none" lIns="0" tIns="0" rIns="0" bIns="0" rtlCol="0" anchor="ctr"/>
          <a:lstStyle/>
          <a:p>
            <a:pPr algn="l" indent="0" marL="0">
              <a:lnSpc>
                <a:spcPts val="1530"/>
              </a:lnSpc>
              <a:buNone/>
            </a:pPr>
            <a:r>
              <a:rPr lang="en-US" sz="1275" b="1" dirty="0">
                <a:solidFill>
                  <a:srgbClr val="191919"/>
                </a:solidFill>
                <a:latin typeface="Fraunces" pitchFamily="34" charset="0"/>
                <a:ea typeface="Fraunces" pitchFamily="34" charset="-122"/>
                <a:cs typeface="Fraunces" pitchFamily="34" charset="-120"/>
              </a:rPr>
              <a:t>Starbucks Rewards App</a:t>
            </a:r>
            <a:endParaRPr lang="en-US" sz="1275" dirty="0"/>
          </a:p>
        </p:txBody>
      </p:sp>
      <p:sp>
        <p:nvSpPr>
          <p:cNvPr id="11" name="b1:rise"/>
          <p:cNvSpPr txBox="1"/>
          <p:nvPr/>
        </p:nvSpPr>
        <p:spPr>
          <a:xfrm>
            <a:off x="1128713" y="2046908"/>
            <a:ext cx="2714244" cy="360015"/>
          </a:xfrm>
          <a:prstGeom prst="rect">
            <a:avLst/>
          </a:prstGeom>
          <a:noFill/>
          <a:ln/>
        </p:spPr>
        <p:txBody>
          <a:bodyPr wrap="square" lIns="0" tIns="0" rIns="0" bIns="0" rtlCol="0" anchor="t"/>
          <a:lstStyle/>
          <a:p>
            <a:pPr algn="l" indent="0" marL="0">
              <a:lnSpc>
                <a:spcPts val="1417"/>
              </a:lnSpc>
              <a:buNone/>
            </a:pPr>
            <a:r>
              <a:rPr lang="en-US" sz="1013" dirty="0">
                <a:solidFill>
                  <a:srgbClr val="3A3A36"/>
                </a:solidFill>
                <a:latin typeface="DM Sans" pitchFamily="34" charset="0"/>
                <a:ea typeface="DM Sans" pitchFamily="34" charset="-122"/>
                <a:cs typeface="DM Sans" pitchFamily="34" charset="-120"/>
              </a:rPr>
              <a:t>Gamified loyalty program driving </a:t>
            </a:r>
            <a:pPr algn="l" indent="0" marL="0">
              <a:lnSpc>
                <a:spcPts val="1417"/>
              </a:lnSpc>
              <a:buNone/>
            </a:pPr>
            <a:r>
              <a:rPr lang="en-US" sz="1013" b="1" dirty="0">
                <a:solidFill>
                  <a:srgbClr val="006241"/>
                </a:solidFill>
                <a:latin typeface="DM Sans" pitchFamily="34" charset="0"/>
                <a:ea typeface="DM Sans" pitchFamily="34" charset="-122"/>
                <a:cs typeface="DM Sans" pitchFamily="34" charset="-120"/>
              </a:rPr>
              <a:t>over 30M active members</a:t>
            </a:r>
            <a:pPr algn="l" indent="0" marL="0">
              <a:lnSpc>
                <a:spcPts val="1417"/>
              </a:lnSpc>
              <a:buNone/>
            </a:pPr>
            <a:r>
              <a:rPr lang="en-US" sz="1013" dirty="0">
                <a:solidFill>
                  <a:srgbClr val="3A3A36"/>
                </a:solidFill>
                <a:latin typeface="DM Sans" pitchFamily="34" charset="0"/>
                <a:ea typeface="DM Sans" pitchFamily="34" charset="-122"/>
                <a:cs typeface="DM Sans" pitchFamily="34" charset="-120"/>
              </a:rPr>
              <a:t>.</a:t>
            </a:r>
            <a:endParaRPr lang="en-US" sz="1013" dirty="0"/>
          </a:p>
        </p:txBody>
      </p:sp>
      <p:sp>
        <p:nvSpPr>
          <p:cNvPr id="12" name="b2:rise"/>
          <p:cNvSpPr/>
          <p:nvPr/>
        </p:nvSpPr>
        <p:spPr>
          <a:xfrm>
            <a:off x="4010025" y="1676400"/>
            <a:ext cx="3286125" cy="942975"/>
          </a:xfrm>
          <a:prstGeom prst="roundRect">
            <a:avLst>
              <a:gd name="adj" fmla="val 8081"/>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3" name="b2:rise"/>
          <p:cNvSpPr/>
          <p:nvPr/>
        </p:nvSpPr>
        <p:spPr>
          <a:xfrm>
            <a:off x="4167187" y="1814513"/>
            <a:ext cx="266700" cy="266700"/>
          </a:xfrm>
          <a:prstGeom prst="roundRect">
            <a:avLst>
              <a:gd name="adj" fmla="val 21429"/>
            </a:avLst>
          </a:prstGeom>
          <a:solidFill>
            <a:srgbClr val="D4E9E2"/>
          </a:solidFill>
          <a:ln/>
        </p:spPr>
      </p:sp>
      <p:pic>
        <p:nvPicPr>
          <p:cNvPr id="14" name="b2:rise icon Lightning" descr="preencoded.png">    </p:cNvPr>
          <p:cNvPicPr>
            <a:picLocks noChangeAspect="1"/>
          </p:cNvPicPr>
          <p:nvPr/>
        </p:nvPicPr>
        <p:blipFill>
          <a:blip r:embed="rId2"/>
          <a:stretch>
            <a:fillRect/>
          </a:stretch>
        </p:blipFill>
        <p:spPr>
          <a:xfrm>
            <a:off x="4229100" y="1876425"/>
            <a:ext cx="142875" cy="142875"/>
          </a:xfrm>
          <a:prstGeom prst="rect">
            <a:avLst/>
          </a:prstGeom>
        </p:spPr>
      </p:pic>
      <p:sp>
        <p:nvSpPr>
          <p:cNvPr id="15" name="b2:rise"/>
          <p:cNvSpPr txBox="1"/>
          <p:nvPr/>
        </p:nvSpPr>
        <p:spPr>
          <a:xfrm>
            <a:off x="4529138" y="1814513"/>
            <a:ext cx="2818638" cy="194295"/>
          </a:xfrm>
          <a:prstGeom prst="rect">
            <a:avLst/>
          </a:prstGeom>
          <a:noFill/>
          <a:ln/>
        </p:spPr>
        <p:txBody>
          <a:bodyPr wrap="none" lIns="0" tIns="0" rIns="0" bIns="0" rtlCol="0" anchor="ctr"/>
          <a:lstStyle/>
          <a:p>
            <a:pPr algn="l" indent="0" marL="0">
              <a:lnSpc>
                <a:spcPts val="1530"/>
              </a:lnSpc>
              <a:buNone/>
            </a:pPr>
            <a:r>
              <a:rPr lang="en-US" sz="1275" b="1" dirty="0">
                <a:solidFill>
                  <a:srgbClr val="191919"/>
                </a:solidFill>
                <a:latin typeface="Fraunces" pitchFamily="34" charset="0"/>
                <a:ea typeface="Fraunces" pitchFamily="34" charset="-122"/>
                <a:cs typeface="Fraunces" pitchFamily="34" charset="-120"/>
              </a:rPr>
              <a:t>Mobile Order &amp; Pay</a:t>
            </a:r>
            <a:endParaRPr lang="en-US" sz="1275" dirty="0"/>
          </a:p>
        </p:txBody>
      </p:sp>
      <p:sp>
        <p:nvSpPr>
          <p:cNvPr id="16" name="b2:rise"/>
          <p:cNvSpPr txBox="1"/>
          <p:nvPr/>
        </p:nvSpPr>
        <p:spPr>
          <a:xfrm>
            <a:off x="4529138" y="2046908"/>
            <a:ext cx="2714244" cy="360015"/>
          </a:xfrm>
          <a:prstGeom prst="rect">
            <a:avLst/>
          </a:prstGeom>
          <a:noFill/>
          <a:ln/>
        </p:spPr>
        <p:txBody>
          <a:bodyPr wrap="square" lIns="0" tIns="0" rIns="0" bIns="0" rtlCol="0" anchor="t"/>
          <a:lstStyle/>
          <a:p>
            <a:pPr algn="l" indent="0" marL="0">
              <a:lnSpc>
                <a:spcPts val="1417"/>
              </a:lnSpc>
              <a:buNone/>
            </a:pPr>
            <a:r>
              <a:rPr lang="en-US" sz="1013" dirty="0">
                <a:solidFill>
                  <a:srgbClr val="3A3A36"/>
                </a:solidFill>
                <a:latin typeface="DM Sans" pitchFamily="34" charset="0"/>
                <a:ea typeface="DM Sans" pitchFamily="34" charset="-122"/>
                <a:cs typeface="DM Sans" pitchFamily="34" charset="-120"/>
              </a:rPr>
              <a:t>Seamless, friction-free customer convenience.</a:t>
            </a:r>
            <a:endParaRPr lang="en-US" sz="1013" dirty="0"/>
          </a:p>
        </p:txBody>
      </p:sp>
      <p:sp>
        <p:nvSpPr>
          <p:cNvPr id="17" name="b3:rise"/>
          <p:cNvSpPr/>
          <p:nvPr/>
        </p:nvSpPr>
        <p:spPr>
          <a:xfrm>
            <a:off x="609600" y="2733675"/>
            <a:ext cx="3286125" cy="942975"/>
          </a:xfrm>
          <a:prstGeom prst="roundRect">
            <a:avLst>
              <a:gd name="adj" fmla="val 8081"/>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8" name="b3:rise"/>
          <p:cNvSpPr/>
          <p:nvPr/>
        </p:nvSpPr>
        <p:spPr>
          <a:xfrm>
            <a:off x="766763" y="2871788"/>
            <a:ext cx="266700" cy="266700"/>
          </a:xfrm>
          <a:prstGeom prst="roundRect">
            <a:avLst>
              <a:gd name="adj" fmla="val 21429"/>
            </a:avLst>
          </a:prstGeom>
          <a:solidFill>
            <a:srgbClr val="D4E9E2"/>
          </a:solidFill>
          <a:ln/>
        </p:spPr>
      </p:sp>
      <p:pic>
        <p:nvPicPr>
          <p:cNvPr id="19" name="b3:rise icon Lightbulb" descr="preencoded.png">    </p:cNvPr>
          <p:cNvPicPr>
            <a:picLocks noChangeAspect="1"/>
          </p:cNvPicPr>
          <p:nvPr/>
        </p:nvPicPr>
        <p:blipFill>
          <a:blip r:embed="rId3"/>
          <a:stretch>
            <a:fillRect/>
          </a:stretch>
        </p:blipFill>
        <p:spPr>
          <a:xfrm>
            <a:off x="828675" y="2933700"/>
            <a:ext cx="142875" cy="142875"/>
          </a:xfrm>
          <a:prstGeom prst="rect">
            <a:avLst/>
          </a:prstGeom>
        </p:spPr>
      </p:pic>
      <p:sp>
        <p:nvSpPr>
          <p:cNvPr id="20" name="b3:rise"/>
          <p:cNvSpPr txBox="1"/>
          <p:nvPr/>
        </p:nvSpPr>
        <p:spPr>
          <a:xfrm>
            <a:off x="1128713" y="2871788"/>
            <a:ext cx="2818638" cy="194295"/>
          </a:xfrm>
          <a:prstGeom prst="rect">
            <a:avLst/>
          </a:prstGeom>
          <a:noFill/>
          <a:ln/>
        </p:spPr>
        <p:txBody>
          <a:bodyPr wrap="none" lIns="0" tIns="0" rIns="0" bIns="0" rtlCol="0" anchor="ctr"/>
          <a:lstStyle/>
          <a:p>
            <a:pPr algn="l" indent="0" marL="0">
              <a:lnSpc>
                <a:spcPts val="1530"/>
              </a:lnSpc>
              <a:buNone/>
            </a:pPr>
            <a:r>
              <a:rPr lang="en-US" sz="1275" b="1" dirty="0">
                <a:solidFill>
                  <a:srgbClr val="191919"/>
                </a:solidFill>
                <a:latin typeface="Fraunces" pitchFamily="34" charset="0"/>
                <a:ea typeface="Fraunces" pitchFamily="34" charset="-122"/>
                <a:cs typeface="Fraunces" pitchFamily="34" charset="-120"/>
              </a:rPr>
              <a:t>Digital Personalization</a:t>
            </a:r>
            <a:endParaRPr lang="en-US" sz="1275" dirty="0"/>
          </a:p>
        </p:txBody>
      </p:sp>
      <p:sp>
        <p:nvSpPr>
          <p:cNvPr id="21" name="b3:rise"/>
          <p:cNvSpPr txBox="1"/>
          <p:nvPr/>
        </p:nvSpPr>
        <p:spPr>
          <a:xfrm>
            <a:off x="1128713" y="3104183"/>
            <a:ext cx="2714244" cy="360015"/>
          </a:xfrm>
          <a:prstGeom prst="rect">
            <a:avLst/>
          </a:prstGeom>
          <a:noFill/>
          <a:ln/>
        </p:spPr>
        <p:txBody>
          <a:bodyPr wrap="square" lIns="0" tIns="0" rIns="0" bIns="0" rtlCol="0" anchor="t"/>
          <a:lstStyle/>
          <a:p>
            <a:pPr algn="l" indent="0" marL="0">
              <a:lnSpc>
                <a:spcPts val="1417"/>
              </a:lnSpc>
              <a:buNone/>
            </a:pPr>
            <a:r>
              <a:rPr lang="en-US" sz="1013" dirty="0">
                <a:solidFill>
                  <a:srgbClr val="3A3A36"/>
                </a:solidFill>
                <a:latin typeface="DM Sans" pitchFamily="34" charset="0"/>
                <a:ea typeface="DM Sans" pitchFamily="34" charset="-122"/>
                <a:cs typeface="DM Sans" pitchFamily="34" charset="-120"/>
              </a:rPr>
              <a:t>AI-driven recommendation engine tailoring offers to individual tastes.</a:t>
            </a:r>
            <a:endParaRPr lang="en-US" sz="1013" dirty="0"/>
          </a:p>
        </p:txBody>
      </p:sp>
      <p:sp>
        <p:nvSpPr>
          <p:cNvPr id="22" name="b4:rise"/>
          <p:cNvSpPr/>
          <p:nvPr/>
        </p:nvSpPr>
        <p:spPr>
          <a:xfrm>
            <a:off x="4010025" y="2733675"/>
            <a:ext cx="3286125" cy="942975"/>
          </a:xfrm>
          <a:prstGeom prst="roundRect">
            <a:avLst>
              <a:gd name="adj" fmla="val 8081"/>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3" name="b4:rise"/>
          <p:cNvSpPr/>
          <p:nvPr/>
        </p:nvSpPr>
        <p:spPr>
          <a:xfrm>
            <a:off x="4167187" y="2871788"/>
            <a:ext cx="266700" cy="266700"/>
          </a:xfrm>
          <a:prstGeom prst="roundRect">
            <a:avLst>
              <a:gd name="adj" fmla="val 21429"/>
            </a:avLst>
          </a:prstGeom>
          <a:solidFill>
            <a:srgbClr val="D4E9E2"/>
          </a:solidFill>
          <a:ln/>
        </p:spPr>
      </p:sp>
      <p:pic>
        <p:nvPicPr>
          <p:cNvPr id="24" name="b4:rise icon Globe" descr="preencoded.png">    </p:cNvPr>
          <p:cNvPicPr>
            <a:picLocks noChangeAspect="1"/>
          </p:cNvPicPr>
          <p:nvPr/>
        </p:nvPicPr>
        <p:blipFill>
          <a:blip r:embed="rId4"/>
          <a:stretch>
            <a:fillRect/>
          </a:stretch>
        </p:blipFill>
        <p:spPr>
          <a:xfrm>
            <a:off x="4229100" y="2933700"/>
            <a:ext cx="142875" cy="142875"/>
          </a:xfrm>
          <a:prstGeom prst="rect">
            <a:avLst/>
          </a:prstGeom>
        </p:spPr>
      </p:pic>
      <p:sp>
        <p:nvSpPr>
          <p:cNvPr id="25" name="b4:rise"/>
          <p:cNvSpPr txBox="1"/>
          <p:nvPr/>
        </p:nvSpPr>
        <p:spPr>
          <a:xfrm>
            <a:off x="4529138" y="2871788"/>
            <a:ext cx="2818638" cy="194295"/>
          </a:xfrm>
          <a:prstGeom prst="rect">
            <a:avLst/>
          </a:prstGeom>
          <a:noFill/>
          <a:ln/>
        </p:spPr>
        <p:txBody>
          <a:bodyPr wrap="none" lIns="0" tIns="0" rIns="0" bIns="0" rtlCol="0" anchor="ctr"/>
          <a:lstStyle/>
          <a:p>
            <a:pPr algn="l" indent="0" marL="0">
              <a:lnSpc>
                <a:spcPts val="1530"/>
              </a:lnSpc>
              <a:buNone/>
            </a:pPr>
            <a:r>
              <a:rPr lang="en-US" sz="1275" b="1" dirty="0">
                <a:solidFill>
                  <a:srgbClr val="191919"/>
                </a:solidFill>
                <a:latin typeface="Fraunces" pitchFamily="34" charset="0"/>
                <a:ea typeface="Fraunces" pitchFamily="34" charset="-122"/>
                <a:cs typeface="Fraunces" pitchFamily="34" charset="-120"/>
              </a:rPr>
              <a:t>Modern Omnichannel</a:t>
            </a:r>
            <a:endParaRPr lang="en-US" sz="1275" dirty="0"/>
          </a:p>
        </p:txBody>
      </p:sp>
      <p:sp>
        <p:nvSpPr>
          <p:cNvPr id="26" name="b4:rise"/>
          <p:cNvSpPr txBox="1"/>
          <p:nvPr/>
        </p:nvSpPr>
        <p:spPr>
          <a:xfrm>
            <a:off x="4529138" y="3104183"/>
            <a:ext cx="2714244" cy="360015"/>
          </a:xfrm>
          <a:prstGeom prst="rect">
            <a:avLst/>
          </a:prstGeom>
          <a:noFill/>
          <a:ln/>
        </p:spPr>
        <p:txBody>
          <a:bodyPr wrap="square" lIns="0" tIns="0" rIns="0" bIns="0" rtlCol="0" anchor="t"/>
          <a:lstStyle/>
          <a:p>
            <a:pPr algn="l" indent="0" marL="0">
              <a:lnSpc>
                <a:spcPts val="1417"/>
              </a:lnSpc>
              <a:buNone/>
            </a:pPr>
            <a:r>
              <a:rPr lang="en-US" sz="1013" dirty="0">
                <a:solidFill>
                  <a:srgbClr val="3A3A36"/>
                </a:solidFill>
                <a:latin typeface="DM Sans" pitchFamily="34" charset="0"/>
                <a:ea typeface="DM Sans" pitchFamily="34" charset="-122"/>
                <a:cs typeface="DM Sans" pitchFamily="34" charset="-120"/>
              </a:rPr>
              <a:t>Human connection preserved through drive-thru and delivery channels.</a:t>
            </a:r>
            <a:endParaRPr lang="en-US" sz="1013" dirty="0"/>
          </a:p>
        </p:txBody>
      </p:sp>
      <p:pic>
        <p:nvPicPr>
          <p:cNvPr id="27" name="b5:pop (Phone showing the Starbucks Rewards app with order ahead, pay in store and a recommended drink)" descr="/home/user/slide-present-en/starbucks-presentation/assets/phone-app.png">    </p:cNvPr>
          <p:cNvPicPr>
            <a:picLocks noChangeAspect="1"/>
          </p:cNvPicPr>
          <p:nvPr/>
        </p:nvPicPr>
        <p:blipFill>
          <a:blip r:embed="rId5"/>
          <a:stretch>
            <a:fillRect/>
          </a:stretch>
        </p:blipFill>
        <p:spPr>
          <a:xfrm>
            <a:off x="7410450" y="1714500"/>
            <a:ext cx="1123950" cy="1685925"/>
          </a:xfrm>
          <a:prstGeom prst="rect">
            <a:avLst/>
          </a:prstGeom>
        </p:spPr>
      </p:pic>
      <p:sp>
        <p:nvSpPr>
          <p:cNvPr id="28" name="b6:fade"/>
          <p:cNvSpPr/>
          <p:nvPr/>
        </p:nvSpPr>
        <p:spPr>
          <a:xfrm>
            <a:off x="609600" y="3790950"/>
            <a:ext cx="7924800" cy="389558"/>
          </a:xfrm>
          <a:prstGeom prst="roundRect">
            <a:avLst>
              <a:gd name="adj" fmla="val 19561"/>
            </a:avLst>
          </a:prstGeom>
          <a:solidFill>
            <a:srgbClr val="006241"/>
          </a:solidFill>
          <a:ln/>
        </p:spPr>
      </p:sp>
      <p:sp>
        <p:nvSpPr>
          <p:cNvPr id="29" name="b6:fade"/>
          <p:cNvSpPr txBox="1"/>
          <p:nvPr/>
        </p:nvSpPr>
        <p:spPr>
          <a:xfrm>
            <a:off x="762000" y="3905696"/>
            <a:ext cx="379012"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CBA258"/>
                </a:solidFill>
                <a:latin typeface="DM Sans" pitchFamily="34" charset="0"/>
                <a:ea typeface="DM Sans" pitchFamily="34" charset="-122"/>
                <a:cs typeface="DM Sans" pitchFamily="34" charset="-120"/>
              </a:rPr>
              <a:t>NEXT</a:t>
            </a:r>
            <a:endParaRPr lang="en-US" sz="900" dirty="0"/>
          </a:p>
        </p:txBody>
      </p:sp>
      <p:sp>
        <p:nvSpPr>
          <p:cNvPr id="30" name="b6:fade"/>
          <p:cNvSpPr txBox="1"/>
          <p:nvPr/>
        </p:nvSpPr>
        <p:spPr>
          <a:xfrm>
            <a:off x="1227237" y="3895725"/>
            <a:ext cx="7727144" cy="180008"/>
          </a:xfrm>
          <a:prstGeom prst="rect">
            <a:avLst/>
          </a:prstGeom>
          <a:noFill/>
          <a:ln/>
        </p:spPr>
        <p:txBody>
          <a:bodyPr wrap="none" lIns="0" tIns="0" rIns="0" bIns="0" rtlCol="0" anchor="ctr"/>
          <a:lstStyle/>
          <a:p>
            <a:pPr algn="l" indent="0" marL="0">
              <a:lnSpc>
                <a:spcPts val="1417"/>
              </a:lnSpc>
              <a:buNone/>
            </a:pPr>
            <a:r>
              <a:rPr lang="en-US" sz="1050" dirty="0">
                <a:solidFill>
                  <a:srgbClr val="F7F5F0"/>
                </a:solidFill>
                <a:latin typeface="DM Sans" pitchFamily="34" charset="0"/>
                <a:ea typeface="DM Sans" pitchFamily="34" charset="-122"/>
                <a:cs typeface="DM Sans" pitchFamily="34" charset="-120"/>
              </a:rPr>
              <a:t>Having mastered both physical experience and digital innovation, what is the </a:t>
            </a:r>
            <a:pPr algn="l" indent="0" marL="0">
              <a:lnSpc>
                <a:spcPts val="1417"/>
              </a:lnSpc>
              <a:buNone/>
            </a:pPr>
            <a:r>
              <a:rPr lang="en-US" sz="1050" b="1" dirty="0">
                <a:solidFill>
                  <a:srgbClr val="D4E9E2"/>
                </a:solidFill>
                <a:latin typeface="DM Sans" pitchFamily="34" charset="0"/>
                <a:ea typeface="DM Sans" pitchFamily="34" charset="-122"/>
                <a:cs typeface="DM Sans" pitchFamily="34" charset="-120"/>
              </a:rPr>
              <a:t>global business impact</a:t>
            </a:r>
            <a:pPr algn="l" indent="0" marL="0">
              <a:lnSpc>
                <a:spcPts val="1417"/>
              </a:lnSpc>
              <a:buNone/>
            </a:pPr>
            <a:r>
              <a:rPr lang="en-US" sz="1050" dirty="0">
                <a:solidFill>
                  <a:srgbClr val="F7F5F0"/>
                </a:solidFill>
                <a:latin typeface="DM Sans" pitchFamily="34" charset="0"/>
                <a:ea typeface="DM Sans" pitchFamily="34" charset="-122"/>
                <a:cs typeface="DM Sans" pitchFamily="34" charset="-120"/>
              </a:rPr>
              <a:t>?</a:t>
            </a:r>
            <a:endParaRPr lang="en-US" sz="1050" dirty="0"/>
          </a:p>
        </p:txBody>
      </p:sp>
      <p:sp>
        <p:nvSpPr>
          <p:cNvPr id="31" name="!!key6-1"/>
          <p:cNvSpPr/>
          <p:nvPr/>
        </p:nvSpPr>
        <p:spPr>
          <a:xfrm>
            <a:off x="6438900" y="4572000"/>
            <a:ext cx="2095500" cy="255240"/>
          </a:xfrm>
          <a:prstGeom prst="roundRect">
            <a:avLst>
              <a:gd name="adj" fmla="val 50000"/>
            </a:avLst>
          </a:prstGeom>
          <a:solidFill>
            <a:srgbClr val="CBA258"/>
          </a:solidFill>
          <a:ln/>
        </p:spPr>
      </p:sp>
      <p:sp>
        <p:nvSpPr>
          <p:cNvPr id="32" name="!!key6-2"/>
          <p:cNvSpPr txBox="1"/>
          <p:nvPr/>
        </p:nvSpPr>
        <p:spPr>
          <a:xfrm>
            <a:off x="6438900" y="45720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Global reach &amp; scale</a:t>
            </a:r>
            <a:endParaRPr lang="en-US" sz="900" dirty="0"/>
          </a:p>
        </p:txBody>
      </p:sp>
      <p:sp>
        <p:nvSpPr>
          <p:cNvPr id="33" name="static"/>
          <p:cNvSpPr txBox="1"/>
          <p:nvPr/>
        </p:nvSpPr>
        <p:spPr>
          <a:xfrm>
            <a:off x="609600" y="4678710"/>
            <a:ext cx="1991246" cy="159990"/>
          </a:xfrm>
          <a:prstGeom prst="rect">
            <a:avLst/>
          </a:prstGeom>
          <a:noFill/>
          <a:ln/>
        </p:spPr>
        <p:txBody>
          <a:bodyPr wrap="none" lIns="0" tIns="0" rIns="0" bIns="0" rtlCol="0" anchor="ctr"/>
          <a:lstStyle/>
          <a:p>
            <a:pPr algn="l" indent="0" marL="0">
              <a:lnSpc>
                <a:spcPts val="1260"/>
              </a:lnSpc>
              <a:buNone/>
            </a:pPr>
            <a:r>
              <a:rPr lang="en-US" sz="900" dirty="0">
                <a:solidFill>
                  <a:srgbClr val="6B6A63"/>
                </a:solidFill>
                <a:latin typeface="DM Sans" pitchFamily="34" charset="0"/>
                <a:ea typeface="DM Sans" pitchFamily="34" charset="-122"/>
                <a:cs typeface="DM Sans" pitchFamily="34" charset="-120"/>
              </a:rPr>
              <a:t>Slide 6 of 8 · Part 3 · Modern Evolution</a:t>
            </a:r>
            <a:endParaRPr lang="en-US" sz="900" dirty="0"/>
          </a:p>
        </p:txBody>
      </p:sp>
      <p:sp>
        <p:nvSpPr>
          <p:cNvPr id="34" name="static"/>
          <p:cNvSpPr/>
          <p:nvPr/>
        </p:nvSpPr>
        <p:spPr>
          <a:xfrm>
            <a:off x="2791346" y="4730130"/>
            <a:ext cx="57150" cy="57150"/>
          </a:xfrm>
          <a:prstGeom prst="roundRect">
            <a:avLst>
              <a:gd name="adj" fmla="val 50000"/>
            </a:avLst>
          </a:prstGeom>
          <a:solidFill>
            <a:srgbClr val="006241"/>
          </a:solidFill>
          <a:ln/>
        </p:spPr>
      </p:sp>
      <p:sp>
        <p:nvSpPr>
          <p:cNvPr id="35" name="static"/>
          <p:cNvSpPr/>
          <p:nvPr/>
        </p:nvSpPr>
        <p:spPr>
          <a:xfrm>
            <a:off x="2896121" y="4730130"/>
            <a:ext cx="57150" cy="57150"/>
          </a:xfrm>
          <a:prstGeom prst="roundRect">
            <a:avLst>
              <a:gd name="adj" fmla="val 50000"/>
            </a:avLst>
          </a:prstGeom>
          <a:solidFill>
            <a:srgbClr val="006241"/>
          </a:solidFill>
          <a:ln/>
        </p:spPr>
      </p:sp>
      <p:sp>
        <p:nvSpPr>
          <p:cNvPr id="36" name="static"/>
          <p:cNvSpPr/>
          <p:nvPr/>
        </p:nvSpPr>
        <p:spPr>
          <a:xfrm>
            <a:off x="3000896" y="4730130"/>
            <a:ext cx="57150" cy="57150"/>
          </a:xfrm>
          <a:prstGeom prst="roundRect">
            <a:avLst>
              <a:gd name="adj" fmla="val 50000"/>
            </a:avLst>
          </a:prstGeom>
          <a:solidFill>
            <a:srgbClr val="006241"/>
          </a:solidFill>
          <a:ln/>
        </p:spPr>
      </p:sp>
      <p:sp>
        <p:nvSpPr>
          <p:cNvPr id="37" name="static"/>
          <p:cNvSpPr/>
          <p:nvPr/>
        </p:nvSpPr>
        <p:spPr>
          <a:xfrm>
            <a:off x="3105671" y="4730130"/>
            <a:ext cx="57150" cy="57150"/>
          </a:xfrm>
          <a:prstGeom prst="roundRect">
            <a:avLst>
              <a:gd name="adj" fmla="val 50000"/>
            </a:avLst>
          </a:prstGeom>
          <a:solidFill>
            <a:srgbClr val="006241"/>
          </a:solidFill>
          <a:ln/>
        </p:spPr>
      </p:sp>
      <p:sp>
        <p:nvSpPr>
          <p:cNvPr id="38" name="static"/>
          <p:cNvSpPr/>
          <p:nvPr/>
        </p:nvSpPr>
        <p:spPr>
          <a:xfrm>
            <a:off x="3210446" y="4730130"/>
            <a:ext cx="57150" cy="57150"/>
          </a:xfrm>
          <a:prstGeom prst="roundRect">
            <a:avLst>
              <a:gd name="adj" fmla="val 50000"/>
            </a:avLst>
          </a:prstGeom>
          <a:solidFill>
            <a:srgbClr val="006241"/>
          </a:solidFill>
          <a:ln/>
        </p:spPr>
      </p:sp>
      <p:sp>
        <p:nvSpPr>
          <p:cNvPr id="39" name="static"/>
          <p:cNvSpPr/>
          <p:nvPr/>
        </p:nvSpPr>
        <p:spPr>
          <a:xfrm>
            <a:off x="3315221" y="4730130"/>
            <a:ext cx="171450" cy="57150"/>
          </a:xfrm>
          <a:prstGeom prst="roundRect">
            <a:avLst>
              <a:gd name="adj" fmla="val 50000"/>
            </a:avLst>
          </a:prstGeom>
          <a:solidFill>
            <a:srgbClr val="CBA258"/>
          </a:solidFill>
          <a:ln/>
        </p:spPr>
      </p:sp>
      <p:sp>
        <p:nvSpPr>
          <p:cNvPr id="40" name="static"/>
          <p:cNvSpPr/>
          <p:nvPr/>
        </p:nvSpPr>
        <p:spPr>
          <a:xfrm>
            <a:off x="3534296" y="4730130"/>
            <a:ext cx="57150" cy="57150"/>
          </a:xfrm>
          <a:prstGeom prst="roundRect">
            <a:avLst>
              <a:gd name="adj" fmla="val 50000"/>
            </a:avLst>
          </a:prstGeom>
          <a:solidFill>
            <a:srgbClr val="C5D8D0"/>
          </a:solidFill>
          <a:ln/>
        </p:spPr>
      </p:sp>
      <p:sp>
        <p:nvSpPr>
          <p:cNvPr id="41" name="static"/>
          <p:cNvSpPr/>
          <p:nvPr/>
        </p:nvSpPr>
        <p:spPr>
          <a:xfrm>
            <a:off x="3639071" y="4730130"/>
            <a:ext cx="57150" cy="57150"/>
          </a:xfrm>
          <a:prstGeom prst="roundRect">
            <a:avLst>
              <a:gd name="adj" fmla="val 50000"/>
            </a:avLst>
          </a:prstGeom>
          <a:solidFill>
            <a:srgbClr val="C5D8D0"/>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700"/>
                                        <p:tgtEl>
                                          <p:spTgt spid="7"/>
                                        </p:tgtEl>
                                      </p:cBhvr>
                                    </p:animEffect>
                                    <p:anim calcmode="lin" valueType="num">
                                      <p:cBhvr additive="base">
                                        <p:cTn id="6" dur="700" fill="hold"/>
                                        <p:tgtEl>
                                          <p:spTgt spid="7"/>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700"/>
                                        <p:tgtEl>
                                          <p:spTgt spid="8"/>
                                        </p:tgtEl>
                                      </p:cBhvr>
                                    </p:animEffect>
                                    <p:anim calcmode="lin" valueType="num">
                                      <p:cBhvr additive="base">
                                        <p:cTn id="10" dur="700" fill="hold"/>
                                        <p:tgtEl>
                                          <p:spTgt spid="8"/>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700"/>
                                        <p:tgtEl>
                                          <p:spTgt spid="9"/>
                                        </p:tgtEl>
                                      </p:cBhvr>
                                    </p:animEffect>
                                    <p:anim calcmode="lin" valueType="num">
                                      <p:cBhvr additive="base">
                                        <p:cTn id="14" dur="700" fill="hold"/>
                                        <p:tgtEl>
                                          <p:spTgt spid="9"/>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700"/>
                                        <p:tgtEl>
                                          <p:spTgt spid="10"/>
                                        </p:tgtEl>
                                      </p:cBhvr>
                                    </p:animEffect>
                                    <p:anim calcmode="lin" valueType="num">
                                      <p:cBhvr additive="base">
                                        <p:cTn id="18" dur="700" fill="hold"/>
                                        <p:tgtEl>
                                          <p:spTgt spid="10"/>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700"/>
                                        <p:tgtEl>
                                          <p:spTgt spid="11"/>
                                        </p:tgtEl>
                                      </p:cBhvr>
                                    </p:animEffect>
                                    <p:anim calcmode="lin" valueType="num">
                                      <p:cBhvr additive="base">
                                        <p:cTn id="22" dur="700" fill="hold"/>
                                        <p:tgtEl>
                                          <p:spTgt spid="11"/>
                                        </p:tgtEl>
                                        <p:attrNameLst>
                                          <p:attrName>ppt_y</p:attrName>
                                        </p:attrNameLst>
                                      </p:cBhvr>
                                      <p:tavLst>
                                        <p:tav tm="0">
                                          <p:val>
                                            <p:strVal val="#ppt_y+.08"/>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700"/>
                                        <p:tgtEl>
                                          <p:spTgt spid="12"/>
                                        </p:tgtEl>
                                      </p:cBhvr>
                                    </p:animEffect>
                                    <p:anim calcmode="lin" valueType="num">
                                      <p:cBhvr additive="base">
                                        <p:cTn id="28" dur="700" fill="hold"/>
                                        <p:tgtEl>
                                          <p:spTgt spid="12"/>
                                        </p:tgtEl>
                                        <p:attrNameLst>
                                          <p:attrName>ppt_y</p:attrName>
                                        </p:attrNameLst>
                                      </p:cBhvr>
                                      <p:tavLst>
                                        <p:tav tm="0">
                                          <p:val>
                                            <p:strVal val="#ppt_y+.08"/>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700"/>
                                        <p:tgtEl>
                                          <p:spTgt spid="13"/>
                                        </p:tgtEl>
                                      </p:cBhvr>
                                    </p:animEffect>
                                    <p:anim calcmode="lin" valueType="num">
                                      <p:cBhvr additive="base">
                                        <p:cTn id="32" dur="700" fill="hold"/>
                                        <p:tgtEl>
                                          <p:spTgt spid="13"/>
                                        </p:tgtEl>
                                        <p:attrNameLst>
                                          <p:attrName>ppt_y</p:attrName>
                                        </p:attrNameLst>
                                      </p:cBhvr>
                                      <p:tavLst>
                                        <p:tav tm="0">
                                          <p:val>
                                            <p:strVal val="#ppt_y+.0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700"/>
                                        <p:tgtEl>
                                          <p:spTgt spid="14"/>
                                        </p:tgtEl>
                                      </p:cBhvr>
                                    </p:animEffect>
                                    <p:anim calcmode="lin" valueType="num">
                                      <p:cBhvr additive="base">
                                        <p:cTn id="36" dur="700" fill="hold"/>
                                        <p:tgtEl>
                                          <p:spTgt spid="14"/>
                                        </p:tgtEl>
                                        <p:attrNameLst>
                                          <p:attrName>ppt_y</p:attrName>
                                        </p:attrNameLst>
                                      </p:cBhvr>
                                      <p:tavLst>
                                        <p:tav tm="0">
                                          <p:val>
                                            <p:strVal val="#ppt_y+.08"/>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8"/>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700"/>
                                        <p:tgtEl>
                                          <p:spTgt spid="17"/>
                                        </p:tgtEl>
                                      </p:cBhvr>
                                    </p:animEffect>
                                    <p:anim calcmode="lin" valueType="num">
                                      <p:cBhvr additive="base">
                                        <p:cTn id="50" dur="700" fill="hold"/>
                                        <p:tgtEl>
                                          <p:spTgt spid="17"/>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700"/>
                                        <p:tgtEl>
                                          <p:spTgt spid="18"/>
                                        </p:tgtEl>
                                      </p:cBhvr>
                                    </p:animEffect>
                                    <p:anim calcmode="lin" valueType="num">
                                      <p:cBhvr additive="base">
                                        <p:cTn id="54" dur="700" fill="hold"/>
                                        <p:tgtEl>
                                          <p:spTgt spid="18"/>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700"/>
                                        <p:tgtEl>
                                          <p:spTgt spid="19"/>
                                        </p:tgtEl>
                                      </p:cBhvr>
                                    </p:animEffect>
                                    <p:anim calcmode="lin" valueType="num">
                                      <p:cBhvr additive="base">
                                        <p:cTn id="58" dur="700" fill="hold"/>
                                        <p:tgtEl>
                                          <p:spTgt spid="19"/>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700"/>
                                        <p:tgtEl>
                                          <p:spTgt spid="20"/>
                                        </p:tgtEl>
                                      </p:cBhvr>
                                    </p:animEffect>
                                    <p:anim calcmode="lin" valueType="num">
                                      <p:cBhvr additive="base">
                                        <p:cTn id="62" dur="700" fill="hold"/>
                                        <p:tgtEl>
                                          <p:spTgt spid="20"/>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700"/>
                                        <p:tgtEl>
                                          <p:spTgt spid="21"/>
                                        </p:tgtEl>
                                      </p:cBhvr>
                                    </p:animEffect>
                                    <p:anim calcmode="lin" valueType="num">
                                      <p:cBhvr additive="base">
                                        <p:cTn id="66" dur="700" fill="hold"/>
                                        <p:tgtEl>
                                          <p:spTgt spid="21"/>
                                        </p:tgtEl>
                                        <p:attrNameLst>
                                          <p:attrName>ppt_y</p:attrName>
                                        </p:attrNameLst>
                                      </p:cBhvr>
                                      <p:tavLst>
                                        <p:tav tm="0">
                                          <p:val>
                                            <p:strVal val="#ppt_y+.08"/>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69" presetID="42" presetClass="entr" presetSubtype="0" fill="hold" grpId="0" nodeType="click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700"/>
                                        <p:tgtEl>
                                          <p:spTgt spid="22"/>
                                        </p:tgtEl>
                                      </p:cBhvr>
                                    </p:animEffect>
                                    <p:anim calcmode="lin" valueType="num">
                                      <p:cBhvr additive="base">
                                        <p:cTn id="72" dur="700" fill="hold"/>
                                        <p:tgtEl>
                                          <p:spTgt spid="22"/>
                                        </p:tgtEl>
                                        <p:attrNameLst>
                                          <p:attrName>ppt_y</p:attrName>
                                        </p:attrNameLst>
                                      </p:cBhvr>
                                      <p:tavLst>
                                        <p:tav tm="0">
                                          <p:val>
                                            <p:strVal val="#ppt_y+.0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700"/>
                                        <p:tgtEl>
                                          <p:spTgt spid="23"/>
                                        </p:tgtEl>
                                      </p:cBhvr>
                                    </p:animEffect>
                                    <p:anim calcmode="lin" valueType="num">
                                      <p:cBhvr additive="base">
                                        <p:cTn id="76" dur="700" fill="hold"/>
                                        <p:tgtEl>
                                          <p:spTgt spid="23"/>
                                        </p:tgtEl>
                                        <p:attrNameLst>
                                          <p:attrName>ppt_y</p:attrName>
                                        </p:attrNameLst>
                                      </p:cBhvr>
                                      <p:tavLst>
                                        <p:tav tm="0">
                                          <p:val>
                                            <p:strVal val="#ppt_y+.08"/>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700"/>
                                        <p:tgtEl>
                                          <p:spTgt spid="24"/>
                                        </p:tgtEl>
                                      </p:cBhvr>
                                    </p:animEffect>
                                    <p:anim calcmode="lin" valueType="num">
                                      <p:cBhvr additive="base">
                                        <p:cTn id="80" dur="700" fill="hold"/>
                                        <p:tgtEl>
                                          <p:spTgt spid="24"/>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700"/>
                                        <p:tgtEl>
                                          <p:spTgt spid="25"/>
                                        </p:tgtEl>
                                      </p:cBhvr>
                                    </p:animEffect>
                                    <p:anim calcmode="lin" valueType="num">
                                      <p:cBhvr additive="base">
                                        <p:cTn id="84" dur="700" fill="hold"/>
                                        <p:tgtEl>
                                          <p:spTgt spid="25"/>
                                        </p:tgtEl>
                                        <p:attrNameLst>
                                          <p:attrName>ppt_y</p:attrName>
                                        </p:attrNameLst>
                                      </p:cBhvr>
                                      <p:tavLst>
                                        <p:tav tm="0">
                                          <p:val>
                                            <p:strVal val="#ppt_y+.08"/>
                                          </p:val>
                                        </p:tav>
                                        <p:tav tm="100000">
                                          <p:val>
                                            <p:strVal val="#ppt_y"/>
                                          </p:val>
                                        </p:tav>
                                      </p:tavLst>
                                    </p:anim>
                                  </p:childTnLst>
                                </p:cTn>
                              </p:par>
                              <p:par>
                                <p:cTn id="85" presetID="42" presetClass="entr" presetSubtype="0" fill="hold" grpId="0" nodeType="withEffect">
                                  <p:stCondLst>
                                    <p:cond delay="0"/>
                                  </p:stCondLst>
                                  <p:childTnLst>
                                    <p:set>
                                      <p:cBhvr>
                                        <p:cTn id="86" dur="1" fill="hold">
                                          <p:stCondLst>
                                            <p:cond delay="0"/>
                                          </p:stCondLst>
                                        </p:cTn>
                                        <p:tgtEl>
                                          <p:spTgt spid="26"/>
                                        </p:tgtEl>
                                        <p:attrNameLst>
                                          <p:attrName>style.visibility</p:attrName>
                                        </p:attrNameLst>
                                      </p:cBhvr>
                                      <p:to>
                                        <p:strVal val="visible"/>
                                      </p:to>
                                    </p:set>
                                    <p:animEffect transition="in" filter="fade">
                                      <p:cBhvr>
                                        <p:cTn id="87" dur="700"/>
                                        <p:tgtEl>
                                          <p:spTgt spid="26"/>
                                        </p:tgtEl>
                                      </p:cBhvr>
                                    </p:animEffect>
                                    <p:anim calcmode="lin" valueType="num">
                                      <p:cBhvr additive="base">
                                        <p:cTn id="88" dur="700" fill="hold"/>
                                        <p:tgtEl>
                                          <p:spTgt spid="26"/>
                                        </p:tgtEl>
                                        <p:attrNameLst>
                                          <p:attrName>ppt_y</p:attrName>
                                        </p:attrNameLst>
                                      </p:cBhvr>
                                      <p:tavLst>
                                        <p:tav tm="0">
                                          <p:val>
                                            <p:strVal val="#ppt_y+.08"/>
                                          </p:val>
                                        </p:tav>
                                        <p:tav tm="100000">
                                          <p:val>
                                            <p:strVal val="#ppt_y"/>
                                          </p:val>
                                        </p:tav>
                                      </p:tavLst>
                                    </p:anim>
                                  </p:childTnLst>
                                </p:cTn>
                              </p:par>
                            </p:childTnLst>
                          </p:cTn>
                        </p:par>
                      </p:childTnLst>
                    </p:cTn>
                  </p:par>
                  <p:par>
                    <p:cTn id="95" fill="hold">
                      <p:stCondLst>
                        <p:cond delay="indefinite"/>
                      </p:stCondLst>
                      <p:childTnLst>
                        <p:par>
                          <p:cTn id="96" fill="hold">
                            <p:stCondLst>
                              <p:cond delay="0"/>
                            </p:stCondLst>
                            <p:childTnLst>
                              <p:par>
                                <p:cTn id="91" presetID="23" presetClass="entr" presetSubtype="16" fill="hold" grpId="0" nodeType="clickEffect">
                                  <p:stCondLst>
                                    <p:cond delay="0"/>
                                  </p:stCondLst>
                                  <p:childTnLst>
                                    <p:set>
                                      <p:cBhvr>
                                        <p:cTn id="92" dur="1" fill="hold">
                                          <p:stCondLst>
                                            <p:cond delay="0"/>
                                          </p:stCondLst>
                                        </p:cTn>
                                        <p:tgtEl>
                                          <p:spTgt spid="27"/>
                                        </p:tgtEl>
                                        <p:attrNameLst>
                                          <p:attrName>style.visibility</p:attrName>
                                        </p:attrNameLst>
                                      </p:cBhvr>
                                      <p:to>
                                        <p:strVal val="visible"/>
                                      </p:to>
                                    </p:set>
                                    <p:animScale>
                                      <p:cBhvr>
                                        <p:cTn id="93" dur="500" fill="hold"/>
                                        <p:tgtEl>
                                          <p:spTgt spid="27"/>
                                        </p:tgtEl>
                                      </p:cBhvr>
                                      <p:from x="0" y="0"/>
                                      <p:to x="100000" y="100000"/>
                                    </p:animScale>
                                    <p:animEffect transition="in" filter="fade">
                                      <p:cBhvr>
                                        <p:cTn id="94" dur="500"/>
                                        <p:tgtEl>
                                          <p:spTgt spid="27"/>
                                        </p:tgtEl>
                                      </p:cBhvr>
                                    </p:animEffect>
                                  </p:childTnLst>
                                </p:cTn>
                              </p:par>
                            </p:childTnLst>
                          </p:cTn>
                        </p:par>
                      </p:childTnLst>
                    </p:cTn>
                  </p:par>
                  <p:par>
                    <p:cTn id="106" fill="hold">
                      <p:stCondLst>
                        <p:cond delay="indefinite"/>
                      </p:stCondLst>
                      <p:childTnLst>
                        <p:par>
                          <p:cTn id="107" fill="hold">
                            <p:stCondLst>
                              <p:cond delay="0"/>
                            </p:stCondLst>
                            <p:childTnLst>
                              <p:par>
                                <p:cTn id="97" presetID="10" presetClass="entr" presetSubtype="0" fill="hold" grpId="0" nodeType="click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500"/>
                                        <p:tgtEl>
                                          <p:spTgt spid="28"/>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500"/>
                                        <p:tgtEl>
                                          <p:spTgt spid="29"/>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0"/>
                                        </p:tgtEl>
                                        <p:attrNameLst>
                                          <p:attrName>style.visibility</p:attrName>
                                        </p:attrNameLst>
                                      </p:cBhvr>
                                      <p:to>
                                        <p:strVal val="visible"/>
                                      </p:to>
                                    </p:set>
                                    <p:animEffect transition="in" filter="fade">
                                      <p:cBhvr>
                                        <p:cTn id="105" dur="500"/>
                                        <p:tgtEl>
                                          <p:spTgt spid="30"/>
                                        </p:tgtEl>
                                      </p:cBhvr>
                                    </p:animEffect>
                                  </p:childTnLst>
                                </p:cTn>
                              </p:par>
                            </p:childTnLst>
                          </p:cTn>
                        </p:par>
                      </p:childTnLst>
                    </p:cTn>
                  </p:par>
                  <p:par>
                    <p:cTn id="116" fill="hold">
                      <p:stCondLst>
                        <p:cond delay="indefinite"/>
                      </p:stCondLst>
                      <p:childTnLst>
                        <p:par>
                          <p:cTn id="117" fill="hold">
                            <p:stCondLst>
                              <p:cond delay="0"/>
                            </p:stCondLst>
                            <p:childTnLst>
                              <p:par>
                                <p:cTn id="108" presetID="23" presetClass="entr" presetSubtype="16" fill="hold" grpId="0" nodeType="clickEffect">
                                  <p:stCondLst>
                                    <p:cond delay="0"/>
                                  </p:stCondLst>
                                  <p:childTnLst>
                                    <p:set>
                                      <p:cBhvr>
                                        <p:cTn id="109" dur="1" fill="hold">
                                          <p:stCondLst>
                                            <p:cond delay="0"/>
                                          </p:stCondLst>
                                        </p:cTn>
                                        <p:tgtEl>
                                          <p:spTgt spid="31"/>
                                        </p:tgtEl>
                                        <p:attrNameLst>
                                          <p:attrName>style.visibility</p:attrName>
                                        </p:attrNameLst>
                                      </p:cBhvr>
                                      <p:to>
                                        <p:strVal val="visible"/>
                                      </p:to>
                                    </p:set>
                                    <p:animScale>
                                      <p:cBhvr>
                                        <p:cTn id="110" dur="500" fill="hold"/>
                                        <p:tgtEl>
                                          <p:spTgt spid="31"/>
                                        </p:tgtEl>
                                      </p:cBhvr>
                                      <p:from x="0" y="0"/>
                                      <p:to x="100000" y="100000"/>
                                    </p:animScale>
                                    <p:animEffect transition="in" filter="fade">
                                      <p:cBhvr>
                                        <p:cTn id="111" dur="500"/>
                                        <p:tgtEl>
                                          <p:spTgt spid="31"/>
                                        </p:tgtEl>
                                      </p:cBhvr>
                                    </p:animEffect>
                                  </p:childTnLst>
                                </p:cTn>
                              </p:par>
                              <p:par>
                                <p:cTn id="112" presetID="23" presetClass="entr" presetSubtype="16" fill="hold" grpId="0" nodeType="withEffect">
                                  <p:stCondLst>
                                    <p:cond delay="0"/>
                                  </p:stCondLst>
                                  <p:childTnLst>
                                    <p:set>
                                      <p:cBhvr>
                                        <p:cTn id="113" dur="1" fill="hold">
                                          <p:stCondLst>
                                            <p:cond delay="0"/>
                                          </p:stCondLst>
                                        </p:cTn>
                                        <p:tgtEl>
                                          <p:spTgt spid="32"/>
                                        </p:tgtEl>
                                        <p:attrNameLst>
                                          <p:attrName>style.visibility</p:attrName>
                                        </p:attrNameLst>
                                      </p:cBhvr>
                                      <p:to>
                                        <p:strVal val="visible"/>
                                      </p:to>
                                    </p:set>
                                    <p:animScale>
                                      <p:cBhvr>
                                        <p:cTn id="114" dur="500" fill="hold"/>
                                        <p:tgtEl>
                                          <p:spTgt spid="32"/>
                                        </p:tgtEl>
                                      </p:cBhvr>
                                      <p:from x="0" y="0"/>
                                      <p:to x="100000" y="100000"/>
                                    </p:animScale>
                                    <p:animEffect transition="in" filter="fade">
                                      <p:cBhvr>
                                        <p:cTn id="11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2" grpId="0" animBg="1"/>
      <p:bldP spid="13" grpId="0" animBg="1"/>
      <p:bldP spid="15" grpId="0" animBg="1"/>
      <p:bldP spid="16" grpId="0" animBg="1"/>
      <p:bldP spid="17" grpId="0" animBg="1"/>
      <p:bldP spid="18" grpId="0" animBg="1"/>
      <p:bldP spid="20" grpId="0" animBg="1"/>
      <p:bldP spid="21" grpId="0" animBg="1"/>
      <p:bldP spid="22" grpId="0" animBg="1"/>
      <p:bldP spid="23" grpId="0" animBg="1"/>
      <p:bldP spid="25" grpId="0" animBg="1"/>
      <p:bldP spid="26" grpId="0" animBg="1"/>
      <p:bldP spid="28" grpId="0" animBg="1"/>
      <p:bldP spid="29" grpId="0" animBg="1"/>
      <p:bldP spid="30" grpId="0" animBg="1"/>
      <p:bldP spid="31" grpId="0" animBg="1"/>
      <p:bldP spid="3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35235"/>
          </a:xfrm>
          <a:prstGeom prst="rect">
            <a:avLst/>
          </a:prstGeom>
          <a:noFill/>
          <a:ln/>
        </p:spPr>
        <p:txBody>
          <a:bodyPr wrap="none" lIns="0" tIns="0" rIns="0" bIns="0" rtlCol="0" anchor="ctr"/>
          <a:lstStyle/>
          <a:p>
            <a:pPr algn="l" indent="0" marL="0">
              <a:lnSpc>
                <a:spcPts val="2640"/>
              </a:lnSpc>
              <a:buNone/>
            </a:pPr>
            <a:r>
              <a:rPr lang="en-US" sz="2400" b="1" dirty="0">
                <a:solidFill>
                  <a:srgbClr val="191919"/>
                </a:solidFill>
                <a:latin typeface="Fraunces" pitchFamily="34" charset="0"/>
                <a:ea typeface="Fraunces" pitchFamily="34" charset="-122"/>
                <a:cs typeface="Fraunces" pitchFamily="34" charset="-120"/>
              </a:rPr>
              <a:t>Chapter 6: Global Reach &amp; Scale</a:t>
            </a:r>
            <a:endParaRPr lang="en-US" sz="2400" dirty="0"/>
          </a:p>
        </p:txBody>
      </p:sp>
      <p:sp>
        <p:nvSpPr>
          <p:cNvPr id="3" name="static"/>
          <p:cNvSpPr txBox="1"/>
          <p:nvPr/>
        </p:nvSpPr>
        <p:spPr>
          <a:xfrm>
            <a:off x="609600" y="1211535"/>
            <a:ext cx="6686550" cy="210443"/>
          </a:xfrm>
          <a:prstGeom prst="rect">
            <a:avLst/>
          </a:prstGeom>
          <a:noFill/>
          <a:ln/>
        </p:spPr>
        <p:txBody>
          <a:bodyPr wrap="none" lIns="0" tIns="0" rIns="0" bIns="0" rtlCol="0" anchor="ctr"/>
          <a:lstStyle/>
          <a:p>
            <a:pPr algn="l" indent="0" marL="0">
              <a:lnSpc>
                <a:spcPts val="1658"/>
              </a:lnSpc>
              <a:buNone/>
            </a:pPr>
            <a:r>
              <a:rPr lang="en-US" sz="1275" dirty="0">
                <a:solidFill>
                  <a:srgbClr val="3A3A36"/>
                </a:solidFill>
                <a:latin typeface="DM Sans" pitchFamily="34" charset="0"/>
                <a:ea typeface="DM Sans" pitchFamily="34" charset="-122"/>
                <a:cs typeface="DM Sans" pitchFamily="34" charset="-120"/>
              </a:rPr>
              <a:t>Expanding the Narrative Across Borders</a:t>
            </a:r>
            <a:endParaRPr lang="en-US" sz="1275" dirty="0"/>
          </a:p>
        </p:txBody>
      </p:sp>
      <p:sp>
        <p:nvSpPr>
          <p:cNvPr id="4" name="static"/>
          <p:cNvSpPr txBox="1"/>
          <p:nvPr/>
        </p:nvSpPr>
        <p:spPr>
          <a:xfrm>
            <a:off x="609600" y="457200"/>
            <a:ext cx="411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006241"/>
                </a:solidFill>
                <a:latin typeface="DM Sans" pitchFamily="34" charset="0"/>
                <a:ea typeface="DM Sans" pitchFamily="34" charset="-122"/>
                <a:cs typeface="DM Sans" pitchFamily="34" charset="-120"/>
              </a:rPr>
              <a:t>PART 4 · GLOBAL IMPACT</a:t>
            </a:r>
            <a:endParaRPr lang="en-US" sz="900" dirty="0"/>
          </a:p>
        </p:txBody>
      </p:sp>
      <p:sp>
        <p:nvSpPr>
          <p:cNvPr id="5" name="!!key6-1"/>
          <p:cNvSpPr/>
          <p:nvPr/>
        </p:nvSpPr>
        <p:spPr>
          <a:xfrm>
            <a:off x="6438900" y="419100"/>
            <a:ext cx="2095500" cy="255240"/>
          </a:xfrm>
          <a:prstGeom prst="roundRect">
            <a:avLst>
              <a:gd name="adj" fmla="val 50000"/>
            </a:avLst>
          </a:prstGeom>
          <a:solidFill>
            <a:srgbClr val="CBA258"/>
          </a:solidFill>
          <a:ln/>
        </p:spPr>
      </p:sp>
      <p:sp>
        <p:nvSpPr>
          <p:cNvPr id="6" name="!!key6-2"/>
          <p:cNvSpPr txBox="1"/>
          <p:nvPr/>
        </p:nvSpPr>
        <p:spPr>
          <a:xfrm>
            <a:off x="6438900" y="4191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Global reach &amp; scale</a:t>
            </a:r>
            <a:endParaRPr lang="en-US" sz="900" dirty="0"/>
          </a:p>
        </p:txBody>
      </p:sp>
      <p:sp>
        <p:nvSpPr>
          <p:cNvPr id="7" name="b1:pop"/>
          <p:cNvSpPr/>
          <p:nvPr/>
        </p:nvSpPr>
        <p:spPr>
          <a:xfrm>
            <a:off x="609600" y="1676400"/>
            <a:ext cx="2952750" cy="1085850"/>
          </a:xfrm>
          <a:prstGeom prst="roundRect">
            <a:avLst>
              <a:gd name="adj" fmla="val 7018"/>
            </a:avLst>
          </a:prstGeom>
          <a:solidFill>
            <a:srgbClr val="006241"/>
          </a:solidFill>
          <a:ln/>
        </p:spPr>
      </p:sp>
      <p:sp>
        <p:nvSpPr>
          <p:cNvPr id="8" name="b1:pop"/>
          <p:cNvSpPr txBox="1"/>
          <p:nvPr/>
        </p:nvSpPr>
        <p:spPr>
          <a:xfrm>
            <a:off x="800100" y="1845022"/>
            <a:ext cx="2777490" cy="533400"/>
          </a:xfrm>
          <a:prstGeom prst="rect">
            <a:avLst/>
          </a:prstGeom>
          <a:noFill/>
          <a:ln/>
        </p:spPr>
        <p:txBody>
          <a:bodyPr wrap="none" lIns="0" tIns="0" rIns="0" bIns="0" rtlCol="0" anchor="ctr"/>
          <a:lstStyle/>
          <a:p>
            <a:pPr algn="l" indent="0" marL="0">
              <a:lnSpc>
                <a:spcPts val="4200"/>
              </a:lnSpc>
              <a:buNone/>
            </a:pPr>
            <a:r>
              <a:rPr lang="en-US" sz="4200" b="1" dirty="0">
                <a:solidFill>
                  <a:srgbClr val="F7F5F0"/>
                </a:solidFill>
                <a:latin typeface="Fraunces" pitchFamily="34" charset="0"/>
                <a:ea typeface="Fraunces" pitchFamily="34" charset="-122"/>
                <a:cs typeface="Fraunces" pitchFamily="34" charset="-120"/>
              </a:rPr>
              <a:t>38,000+</a:t>
            </a:r>
            <a:endParaRPr lang="en-US" sz="4200" dirty="0"/>
          </a:p>
        </p:txBody>
      </p:sp>
      <p:sp>
        <p:nvSpPr>
          <p:cNvPr id="9" name="b1:pop"/>
          <p:cNvSpPr txBox="1"/>
          <p:nvPr/>
        </p:nvSpPr>
        <p:spPr>
          <a:xfrm>
            <a:off x="800100" y="2406997"/>
            <a:ext cx="2777490" cy="186630"/>
          </a:xfrm>
          <a:prstGeom prst="rect">
            <a:avLst/>
          </a:prstGeom>
          <a:noFill/>
          <a:ln/>
        </p:spPr>
        <p:txBody>
          <a:bodyPr wrap="none" lIns="0" tIns="0" rIns="0" bIns="0" rtlCol="0" anchor="ctr"/>
          <a:lstStyle/>
          <a:p>
            <a:pPr algn="l" indent="0" marL="0">
              <a:lnSpc>
                <a:spcPts val="1470"/>
              </a:lnSpc>
              <a:buNone/>
            </a:pPr>
            <a:r>
              <a:rPr lang="en-US" sz="1050" dirty="0">
                <a:solidFill>
                  <a:srgbClr val="D4E9E2"/>
                </a:solidFill>
                <a:latin typeface="DM Sans" pitchFamily="34" charset="0"/>
                <a:ea typeface="DM Sans" pitchFamily="34" charset="-122"/>
                <a:cs typeface="DM Sans" pitchFamily="34" charset="-120"/>
              </a:rPr>
              <a:t>Stores worldwide</a:t>
            </a:r>
            <a:endParaRPr lang="en-US" sz="1050" dirty="0"/>
          </a:p>
        </p:txBody>
      </p:sp>
      <p:sp>
        <p:nvSpPr>
          <p:cNvPr id="10" name="b2:pop"/>
          <p:cNvSpPr/>
          <p:nvPr/>
        </p:nvSpPr>
        <p:spPr>
          <a:xfrm>
            <a:off x="609600" y="2876550"/>
            <a:ext cx="2952750" cy="1085850"/>
          </a:xfrm>
          <a:prstGeom prst="roundRect">
            <a:avLst>
              <a:gd name="adj" fmla="val 7018"/>
            </a:avLst>
          </a:prstGeom>
          <a:solidFill>
            <a:srgbClr val="006241"/>
          </a:solidFill>
          <a:ln/>
        </p:spPr>
      </p:sp>
      <p:sp>
        <p:nvSpPr>
          <p:cNvPr id="11" name="b2:pop"/>
          <p:cNvSpPr txBox="1"/>
          <p:nvPr/>
        </p:nvSpPr>
        <p:spPr>
          <a:xfrm>
            <a:off x="800100" y="3045172"/>
            <a:ext cx="1800225" cy="533400"/>
          </a:xfrm>
          <a:prstGeom prst="rect">
            <a:avLst/>
          </a:prstGeom>
          <a:noFill/>
          <a:ln/>
        </p:spPr>
        <p:txBody>
          <a:bodyPr wrap="none" lIns="0" tIns="0" rIns="0" bIns="0" rtlCol="0" anchor="ctr"/>
          <a:lstStyle/>
          <a:p>
            <a:pPr algn="l" indent="0" marL="0">
              <a:lnSpc>
                <a:spcPts val="4200"/>
              </a:lnSpc>
              <a:buNone/>
            </a:pPr>
            <a:r>
              <a:rPr lang="en-US" sz="4200" b="1" dirty="0">
                <a:solidFill>
                  <a:srgbClr val="F7F5F0"/>
                </a:solidFill>
                <a:latin typeface="Fraunces" pitchFamily="34" charset="0"/>
                <a:ea typeface="Fraunces" pitchFamily="34" charset="-122"/>
                <a:cs typeface="Fraunces" pitchFamily="34" charset="-120"/>
              </a:rPr>
              <a:t>80+</a:t>
            </a:r>
            <a:endParaRPr lang="en-US" sz="4200" dirty="0"/>
          </a:p>
        </p:txBody>
      </p:sp>
      <p:sp>
        <p:nvSpPr>
          <p:cNvPr id="12" name="b2:pop"/>
          <p:cNvSpPr txBox="1"/>
          <p:nvPr/>
        </p:nvSpPr>
        <p:spPr>
          <a:xfrm>
            <a:off x="800100" y="3607147"/>
            <a:ext cx="1800225" cy="186630"/>
          </a:xfrm>
          <a:prstGeom prst="rect">
            <a:avLst/>
          </a:prstGeom>
          <a:noFill/>
          <a:ln/>
        </p:spPr>
        <p:txBody>
          <a:bodyPr wrap="none" lIns="0" tIns="0" rIns="0" bIns="0" rtlCol="0" anchor="ctr"/>
          <a:lstStyle/>
          <a:p>
            <a:pPr algn="l" indent="0" marL="0">
              <a:lnSpc>
                <a:spcPts val="1470"/>
              </a:lnSpc>
              <a:buNone/>
            </a:pPr>
            <a:r>
              <a:rPr lang="en-US" sz="1050" dirty="0">
                <a:solidFill>
                  <a:srgbClr val="D4E9E2"/>
                </a:solidFill>
                <a:latin typeface="DM Sans" pitchFamily="34" charset="0"/>
                <a:ea typeface="DM Sans" pitchFamily="34" charset="-122"/>
                <a:cs typeface="DM Sans" pitchFamily="34" charset="-120"/>
              </a:rPr>
              <a:t>Global markets</a:t>
            </a:r>
            <a:endParaRPr lang="en-US" sz="1050" dirty="0"/>
          </a:p>
        </p:txBody>
      </p:sp>
      <p:pic>
        <p:nvPicPr>
          <p:cNvPr id="13" name="b2:pop (Globe with gold dots marking Starbucks markets)" descr="/home/user/slide-present-en/starbucks-presentation/assets/globe.png">    </p:cNvPr>
          <p:cNvPicPr>
            <a:picLocks noChangeAspect="1"/>
          </p:cNvPicPr>
          <p:nvPr/>
        </p:nvPicPr>
        <p:blipFill>
          <a:blip r:embed="rId1"/>
          <a:stretch>
            <a:fillRect/>
          </a:stretch>
        </p:blipFill>
        <p:spPr>
          <a:xfrm>
            <a:off x="2562225" y="3014663"/>
            <a:ext cx="809625" cy="809625"/>
          </a:xfrm>
          <a:prstGeom prst="rect">
            <a:avLst/>
          </a:prstGeom>
        </p:spPr>
      </p:pic>
      <p:sp>
        <p:nvSpPr>
          <p:cNvPr id="14" name="b3:rise"/>
          <p:cNvSpPr/>
          <p:nvPr/>
        </p:nvSpPr>
        <p:spPr>
          <a:xfrm>
            <a:off x="3714750" y="1676400"/>
            <a:ext cx="4819650" cy="2286000"/>
          </a:xfrm>
          <a:prstGeom prst="roundRect">
            <a:avLst>
              <a:gd name="adj" fmla="val 3333"/>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5" name="b3:rise"/>
          <p:cNvSpPr txBox="1"/>
          <p:nvPr/>
        </p:nvSpPr>
        <p:spPr>
          <a:xfrm>
            <a:off x="3910012" y="1852612"/>
            <a:ext cx="4783455"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KEY GROWTH STRATEGY</a:t>
            </a:r>
            <a:endParaRPr lang="en-US" sz="900" dirty="0"/>
          </a:p>
        </p:txBody>
      </p:sp>
      <p:sp>
        <p:nvSpPr>
          <p:cNvPr id="16" name="b3:rise"/>
          <p:cNvSpPr/>
          <p:nvPr/>
        </p:nvSpPr>
        <p:spPr>
          <a:xfrm>
            <a:off x="3910012" y="2136428"/>
            <a:ext cx="266700" cy="266700"/>
          </a:xfrm>
          <a:prstGeom prst="roundRect">
            <a:avLst>
              <a:gd name="adj" fmla="val 21429"/>
            </a:avLst>
          </a:prstGeom>
          <a:solidFill>
            <a:srgbClr val="D4E9E2"/>
          </a:solidFill>
          <a:ln/>
        </p:spPr>
      </p:sp>
      <p:pic>
        <p:nvPicPr>
          <p:cNvPr id="17" name="b3:rise icon Users" descr="preencoded.png">    </p:cNvPr>
          <p:cNvPicPr>
            <a:picLocks noChangeAspect="1"/>
          </p:cNvPicPr>
          <p:nvPr/>
        </p:nvPicPr>
        <p:blipFill>
          <a:blip r:embed="rId2"/>
          <a:stretch>
            <a:fillRect/>
          </a:stretch>
        </p:blipFill>
        <p:spPr>
          <a:xfrm>
            <a:off x="3971925" y="2198340"/>
            <a:ext cx="142875" cy="142875"/>
          </a:xfrm>
          <a:prstGeom prst="rect">
            <a:avLst/>
          </a:prstGeom>
        </p:spPr>
      </p:pic>
      <p:sp>
        <p:nvSpPr>
          <p:cNvPr id="18" name="b3:rise"/>
          <p:cNvSpPr txBox="1"/>
          <p:nvPr/>
        </p:nvSpPr>
        <p:spPr>
          <a:xfrm>
            <a:off x="4271963" y="2136428"/>
            <a:ext cx="4392549" cy="194295"/>
          </a:xfrm>
          <a:prstGeom prst="rect">
            <a:avLst/>
          </a:prstGeom>
          <a:noFill/>
          <a:ln/>
        </p:spPr>
        <p:txBody>
          <a:bodyPr wrap="none" lIns="0" tIns="0" rIns="0" bIns="0" rtlCol="0" anchor="ctr"/>
          <a:lstStyle/>
          <a:p>
            <a:pPr algn="l" indent="0" marL="0">
              <a:lnSpc>
                <a:spcPts val="1530"/>
              </a:lnSpc>
              <a:buNone/>
            </a:pPr>
            <a:r>
              <a:rPr lang="en-US" sz="1275" b="1" dirty="0">
                <a:solidFill>
                  <a:srgbClr val="191919"/>
                </a:solidFill>
                <a:latin typeface="Fraunces" pitchFamily="34" charset="0"/>
                <a:ea typeface="Fraunces" pitchFamily="34" charset="-122"/>
                <a:cs typeface="Fraunces" pitchFamily="34" charset="-120"/>
              </a:rPr>
              <a:t>Strategic joint ventures</a:t>
            </a:r>
            <a:endParaRPr lang="en-US" sz="1275" dirty="0"/>
          </a:p>
        </p:txBody>
      </p:sp>
      <p:sp>
        <p:nvSpPr>
          <p:cNvPr id="19" name="b3:rise"/>
          <p:cNvSpPr txBox="1"/>
          <p:nvPr/>
        </p:nvSpPr>
        <p:spPr>
          <a:xfrm>
            <a:off x="4271963" y="2349773"/>
            <a:ext cx="4392549" cy="180008"/>
          </a:xfrm>
          <a:prstGeom prst="rect">
            <a:avLst/>
          </a:prstGeom>
          <a:noFill/>
          <a:ln/>
        </p:spPr>
        <p:txBody>
          <a:bodyPr wrap="none" lIns="0" tIns="0" rIns="0" bIns="0" rtlCol="0" anchor="ctr"/>
          <a:lstStyle/>
          <a:p>
            <a:pPr algn="l" indent="0" marL="0">
              <a:lnSpc>
                <a:spcPts val="1417"/>
              </a:lnSpc>
              <a:buNone/>
            </a:pPr>
            <a:r>
              <a:rPr lang="en-US" sz="1013" dirty="0">
                <a:solidFill>
                  <a:srgbClr val="3A3A36"/>
                </a:solidFill>
                <a:latin typeface="DM Sans" pitchFamily="34" charset="0"/>
                <a:ea typeface="DM Sans" pitchFamily="34" charset="-122"/>
                <a:cs typeface="DM Sans" pitchFamily="34" charset="-120"/>
              </a:rPr>
              <a:t>Local partners to enter and grow in new markets.</a:t>
            </a:r>
            <a:endParaRPr lang="en-US" sz="1013" dirty="0"/>
          </a:p>
        </p:txBody>
      </p:sp>
      <p:sp>
        <p:nvSpPr>
          <p:cNvPr id="20" name="b3:rise"/>
          <p:cNvSpPr/>
          <p:nvPr/>
        </p:nvSpPr>
        <p:spPr>
          <a:xfrm>
            <a:off x="3910012" y="2653605"/>
            <a:ext cx="266700" cy="266700"/>
          </a:xfrm>
          <a:prstGeom prst="roundRect">
            <a:avLst>
              <a:gd name="adj" fmla="val 21429"/>
            </a:avLst>
          </a:prstGeom>
          <a:solidFill>
            <a:srgbClr val="D4E9E2"/>
          </a:solidFill>
          <a:ln/>
        </p:spPr>
      </p:sp>
      <p:pic>
        <p:nvPicPr>
          <p:cNvPr id="21" name="b3:rise icon Globe" descr="preencoded.png">    </p:cNvPr>
          <p:cNvPicPr>
            <a:picLocks noChangeAspect="1"/>
          </p:cNvPicPr>
          <p:nvPr/>
        </p:nvPicPr>
        <p:blipFill>
          <a:blip r:embed="rId3"/>
          <a:stretch>
            <a:fillRect/>
          </a:stretch>
        </p:blipFill>
        <p:spPr>
          <a:xfrm>
            <a:off x="3971925" y="2715518"/>
            <a:ext cx="142875" cy="142875"/>
          </a:xfrm>
          <a:prstGeom prst="rect">
            <a:avLst/>
          </a:prstGeom>
        </p:spPr>
      </p:pic>
      <p:sp>
        <p:nvSpPr>
          <p:cNvPr id="22" name="b3:rise"/>
          <p:cNvSpPr txBox="1"/>
          <p:nvPr/>
        </p:nvSpPr>
        <p:spPr>
          <a:xfrm>
            <a:off x="4271963" y="2653605"/>
            <a:ext cx="4392549" cy="194295"/>
          </a:xfrm>
          <a:prstGeom prst="rect">
            <a:avLst/>
          </a:prstGeom>
          <a:noFill/>
          <a:ln/>
        </p:spPr>
        <p:txBody>
          <a:bodyPr wrap="none" lIns="0" tIns="0" rIns="0" bIns="0" rtlCol="0" anchor="ctr"/>
          <a:lstStyle/>
          <a:p>
            <a:pPr algn="l" indent="0" marL="0">
              <a:lnSpc>
                <a:spcPts val="1530"/>
              </a:lnSpc>
              <a:buNone/>
            </a:pPr>
            <a:r>
              <a:rPr lang="en-US" sz="1275" b="1" dirty="0">
                <a:solidFill>
                  <a:srgbClr val="191919"/>
                </a:solidFill>
                <a:latin typeface="Fraunces" pitchFamily="34" charset="0"/>
                <a:ea typeface="Fraunces" pitchFamily="34" charset="-122"/>
                <a:cs typeface="Fraunces" pitchFamily="34" charset="-120"/>
              </a:rPr>
              <a:t>Market customization</a:t>
            </a:r>
            <a:endParaRPr lang="en-US" sz="1275" dirty="0"/>
          </a:p>
        </p:txBody>
      </p:sp>
      <p:sp>
        <p:nvSpPr>
          <p:cNvPr id="23" name="b3:rise"/>
          <p:cNvSpPr txBox="1"/>
          <p:nvPr/>
        </p:nvSpPr>
        <p:spPr>
          <a:xfrm>
            <a:off x="4271963" y="2866951"/>
            <a:ext cx="4392549" cy="180008"/>
          </a:xfrm>
          <a:prstGeom prst="rect">
            <a:avLst/>
          </a:prstGeom>
          <a:noFill/>
          <a:ln/>
        </p:spPr>
        <p:txBody>
          <a:bodyPr wrap="none" lIns="0" tIns="0" rIns="0" bIns="0" rtlCol="0" anchor="ctr"/>
          <a:lstStyle/>
          <a:p>
            <a:pPr algn="l" indent="0" marL="0">
              <a:lnSpc>
                <a:spcPts val="1417"/>
              </a:lnSpc>
              <a:buNone/>
            </a:pPr>
            <a:r>
              <a:rPr lang="en-US" sz="1013" dirty="0">
                <a:solidFill>
                  <a:srgbClr val="3A3A36"/>
                </a:solidFill>
                <a:latin typeface="DM Sans" pitchFamily="34" charset="0"/>
                <a:ea typeface="DM Sans" pitchFamily="34" charset="-122"/>
                <a:cs typeface="DM Sans" pitchFamily="34" charset="-120"/>
              </a:rPr>
              <a:t>Local menus, for example Teavana and matcha drinks in Asia.</a:t>
            </a:r>
            <a:endParaRPr lang="en-US" sz="1013" dirty="0"/>
          </a:p>
        </p:txBody>
      </p:sp>
      <p:sp>
        <p:nvSpPr>
          <p:cNvPr id="24" name="b3:rise"/>
          <p:cNvSpPr/>
          <p:nvPr/>
        </p:nvSpPr>
        <p:spPr>
          <a:xfrm>
            <a:off x="3910012" y="3170783"/>
            <a:ext cx="266700" cy="266700"/>
          </a:xfrm>
          <a:prstGeom prst="roundRect">
            <a:avLst>
              <a:gd name="adj" fmla="val 21429"/>
            </a:avLst>
          </a:prstGeom>
          <a:solidFill>
            <a:srgbClr val="D4E9E2"/>
          </a:solidFill>
          <a:ln/>
        </p:spPr>
      </p:sp>
      <p:pic>
        <p:nvPicPr>
          <p:cNvPr id="25" name="b3:rise icon Star" descr="preencoded.png">    </p:cNvPr>
          <p:cNvPicPr>
            <a:picLocks noChangeAspect="1"/>
          </p:cNvPicPr>
          <p:nvPr/>
        </p:nvPicPr>
        <p:blipFill>
          <a:blip r:embed="rId4"/>
          <a:stretch>
            <a:fillRect/>
          </a:stretch>
        </p:blipFill>
        <p:spPr>
          <a:xfrm>
            <a:off x="3971925" y="3232696"/>
            <a:ext cx="142875" cy="142875"/>
          </a:xfrm>
          <a:prstGeom prst="rect">
            <a:avLst/>
          </a:prstGeom>
        </p:spPr>
      </p:pic>
      <p:sp>
        <p:nvSpPr>
          <p:cNvPr id="26" name="b3:rise"/>
          <p:cNvSpPr txBox="1"/>
          <p:nvPr/>
        </p:nvSpPr>
        <p:spPr>
          <a:xfrm>
            <a:off x="4271963" y="3170783"/>
            <a:ext cx="4392549" cy="194295"/>
          </a:xfrm>
          <a:prstGeom prst="rect">
            <a:avLst/>
          </a:prstGeom>
          <a:noFill/>
          <a:ln/>
        </p:spPr>
        <p:txBody>
          <a:bodyPr wrap="none" lIns="0" tIns="0" rIns="0" bIns="0" rtlCol="0" anchor="ctr"/>
          <a:lstStyle/>
          <a:p>
            <a:pPr algn="l" indent="0" marL="0">
              <a:lnSpc>
                <a:spcPts val="1530"/>
              </a:lnSpc>
              <a:buNone/>
            </a:pPr>
            <a:r>
              <a:rPr lang="en-US" sz="1275" b="1" dirty="0">
                <a:solidFill>
                  <a:srgbClr val="191919"/>
                </a:solidFill>
                <a:latin typeface="Fraunces" pitchFamily="34" charset="0"/>
                <a:ea typeface="Fraunces" pitchFamily="34" charset="-122"/>
                <a:cs typeface="Fraunces" pitchFamily="34" charset="-120"/>
              </a:rPr>
              <a:t>Reserve Roasteries</a:t>
            </a:r>
            <a:endParaRPr lang="en-US" sz="1275" dirty="0"/>
          </a:p>
        </p:txBody>
      </p:sp>
      <p:sp>
        <p:nvSpPr>
          <p:cNvPr id="27" name="b3:rise"/>
          <p:cNvSpPr txBox="1"/>
          <p:nvPr/>
        </p:nvSpPr>
        <p:spPr>
          <a:xfrm>
            <a:off x="4271963" y="3384128"/>
            <a:ext cx="4392549" cy="180008"/>
          </a:xfrm>
          <a:prstGeom prst="rect">
            <a:avLst/>
          </a:prstGeom>
          <a:noFill/>
          <a:ln/>
        </p:spPr>
        <p:txBody>
          <a:bodyPr wrap="none" lIns="0" tIns="0" rIns="0" bIns="0" rtlCol="0" anchor="ctr"/>
          <a:lstStyle/>
          <a:p>
            <a:pPr algn="l" indent="0" marL="0">
              <a:lnSpc>
                <a:spcPts val="1417"/>
              </a:lnSpc>
              <a:buNone/>
            </a:pPr>
            <a:r>
              <a:rPr lang="en-US" sz="1013" dirty="0">
                <a:solidFill>
                  <a:srgbClr val="3A3A36"/>
                </a:solidFill>
                <a:latin typeface="DM Sans" pitchFamily="34" charset="0"/>
                <a:ea typeface="DM Sans" pitchFamily="34" charset="-122"/>
                <a:cs typeface="DM Sans" pitchFamily="34" charset="-120"/>
              </a:rPr>
              <a:t>High-end flagships that act as the brand's storytellers.</a:t>
            </a:r>
            <a:endParaRPr lang="en-US" sz="1013" dirty="0"/>
          </a:p>
        </p:txBody>
      </p:sp>
      <p:sp>
        <p:nvSpPr>
          <p:cNvPr id="28" name="b4:fade"/>
          <p:cNvSpPr txBox="1"/>
          <p:nvPr/>
        </p:nvSpPr>
        <p:spPr>
          <a:xfrm>
            <a:off x="609600" y="4137645"/>
            <a:ext cx="379012"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006241"/>
                </a:solidFill>
                <a:latin typeface="DM Sans" pitchFamily="34" charset="0"/>
                <a:ea typeface="DM Sans" pitchFamily="34" charset="-122"/>
                <a:cs typeface="DM Sans" pitchFamily="34" charset="-120"/>
              </a:rPr>
              <a:t>NEXT</a:t>
            </a:r>
            <a:endParaRPr lang="en-US" sz="900" dirty="0"/>
          </a:p>
        </p:txBody>
      </p:sp>
      <p:sp>
        <p:nvSpPr>
          <p:cNvPr id="29" name="b4:fade"/>
          <p:cNvSpPr txBox="1"/>
          <p:nvPr/>
        </p:nvSpPr>
        <p:spPr>
          <a:xfrm>
            <a:off x="1055787" y="4124325"/>
            <a:ext cx="6204668" cy="186630"/>
          </a:xfrm>
          <a:prstGeom prst="rect">
            <a:avLst/>
          </a:prstGeom>
          <a:noFill/>
          <a:ln/>
        </p:spPr>
        <p:txBody>
          <a:bodyPr wrap="none" lIns="0" tIns="0" rIns="0" bIns="0" rtlCol="0" anchor="ctr"/>
          <a:lstStyle/>
          <a:p>
            <a:pPr algn="l" indent="0" marL="0">
              <a:lnSpc>
                <a:spcPts val="1470"/>
              </a:lnSpc>
              <a:buNone/>
            </a:pPr>
            <a:r>
              <a:rPr lang="en-US" sz="1050" i="1" dirty="0">
                <a:solidFill>
                  <a:srgbClr val="3A3A36"/>
                </a:solidFill>
                <a:latin typeface="DM Sans" pitchFamily="34" charset="0"/>
                <a:ea typeface="DM Sans" pitchFamily="34" charset="-122"/>
                <a:cs typeface="DM Sans" pitchFamily="34" charset="-120"/>
              </a:rPr>
              <a:t>So what can </a:t>
            </a:r>
            <a:pPr algn="l" indent="0" marL="0">
              <a:lnSpc>
                <a:spcPts val="1470"/>
              </a:lnSpc>
              <a:buNone/>
            </a:pPr>
            <a:r>
              <a:rPr lang="en-US" sz="1050" b="1" i="1" dirty="0">
                <a:solidFill>
                  <a:srgbClr val="006241"/>
                </a:solidFill>
                <a:latin typeface="DM Sans" pitchFamily="34" charset="0"/>
                <a:ea typeface="DM Sans" pitchFamily="34" charset="-122"/>
                <a:cs typeface="DM Sans" pitchFamily="34" charset="-120"/>
              </a:rPr>
              <a:t>business leaders</a:t>
            </a:r>
            <a:pPr algn="l" indent="0" marL="0">
              <a:lnSpc>
                <a:spcPts val="1470"/>
              </a:lnSpc>
              <a:buNone/>
            </a:pPr>
            <a:r>
              <a:rPr lang="en-US" sz="1050" i="1" dirty="0">
                <a:solidFill>
                  <a:srgbClr val="3A3A36"/>
                </a:solidFill>
                <a:latin typeface="DM Sans" pitchFamily="34" charset="0"/>
                <a:ea typeface="DM Sans" pitchFamily="34" charset="-122"/>
                <a:cs typeface="DM Sans" pitchFamily="34" charset="-120"/>
              </a:rPr>
              <a:t> learn from this story?</a:t>
            </a:r>
            <a:endParaRPr lang="en-US" sz="1050" dirty="0"/>
          </a:p>
        </p:txBody>
      </p:sp>
      <p:sp>
        <p:nvSpPr>
          <p:cNvPr id="30" name="!!key7-1"/>
          <p:cNvSpPr/>
          <p:nvPr/>
        </p:nvSpPr>
        <p:spPr>
          <a:xfrm>
            <a:off x="6438900" y="4572000"/>
            <a:ext cx="2095500" cy="255240"/>
          </a:xfrm>
          <a:prstGeom prst="roundRect">
            <a:avLst>
              <a:gd name="adj" fmla="val 50000"/>
            </a:avLst>
          </a:prstGeom>
          <a:solidFill>
            <a:srgbClr val="CBA258"/>
          </a:solidFill>
          <a:ln/>
        </p:spPr>
      </p:sp>
      <p:sp>
        <p:nvSpPr>
          <p:cNvPr id="31" name="!!key7-2"/>
          <p:cNvSpPr txBox="1"/>
          <p:nvPr/>
        </p:nvSpPr>
        <p:spPr>
          <a:xfrm>
            <a:off x="6438900" y="45720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Lessons for business leaders</a:t>
            </a:r>
            <a:endParaRPr lang="en-US" sz="900" dirty="0"/>
          </a:p>
        </p:txBody>
      </p:sp>
      <p:sp>
        <p:nvSpPr>
          <p:cNvPr id="32" name="static"/>
          <p:cNvSpPr txBox="1"/>
          <p:nvPr/>
        </p:nvSpPr>
        <p:spPr>
          <a:xfrm>
            <a:off x="609600" y="4678710"/>
            <a:ext cx="1798662" cy="159990"/>
          </a:xfrm>
          <a:prstGeom prst="rect">
            <a:avLst/>
          </a:prstGeom>
          <a:noFill/>
          <a:ln/>
        </p:spPr>
        <p:txBody>
          <a:bodyPr wrap="none" lIns="0" tIns="0" rIns="0" bIns="0" rtlCol="0" anchor="ctr"/>
          <a:lstStyle/>
          <a:p>
            <a:pPr algn="l" indent="0" marL="0">
              <a:lnSpc>
                <a:spcPts val="1260"/>
              </a:lnSpc>
              <a:buNone/>
            </a:pPr>
            <a:r>
              <a:rPr lang="en-US" sz="900" dirty="0">
                <a:solidFill>
                  <a:srgbClr val="6B6A63"/>
                </a:solidFill>
                <a:latin typeface="DM Sans" pitchFamily="34" charset="0"/>
                <a:ea typeface="DM Sans" pitchFamily="34" charset="-122"/>
                <a:cs typeface="DM Sans" pitchFamily="34" charset="-120"/>
              </a:rPr>
              <a:t>Slide 7 of 8 · Part 4 · Global Impact</a:t>
            </a:r>
            <a:endParaRPr lang="en-US" sz="900" dirty="0"/>
          </a:p>
        </p:txBody>
      </p:sp>
      <p:sp>
        <p:nvSpPr>
          <p:cNvPr id="33" name="static"/>
          <p:cNvSpPr/>
          <p:nvPr/>
        </p:nvSpPr>
        <p:spPr>
          <a:xfrm>
            <a:off x="2598762" y="4730130"/>
            <a:ext cx="57150" cy="57150"/>
          </a:xfrm>
          <a:prstGeom prst="roundRect">
            <a:avLst>
              <a:gd name="adj" fmla="val 50000"/>
            </a:avLst>
          </a:prstGeom>
          <a:solidFill>
            <a:srgbClr val="006241"/>
          </a:solidFill>
          <a:ln/>
        </p:spPr>
      </p:sp>
      <p:sp>
        <p:nvSpPr>
          <p:cNvPr id="34" name="static"/>
          <p:cNvSpPr/>
          <p:nvPr/>
        </p:nvSpPr>
        <p:spPr>
          <a:xfrm>
            <a:off x="2703537" y="4730130"/>
            <a:ext cx="57150" cy="57150"/>
          </a:xfrm>
          <a:prstGeom prst="roundRect">
            <a:avLst>
              <a:gd name="adj" fmla="val 50000"/>
            </a:avLst>
          </a:prstGeom>
          <a:solidFill>
            <a:srgbClr val="006241"/>
          </a:solidFill>
          <a:ln/>
        </p:spPr>
      </p:sp>
      <p:sp>
        <p:nvSpPr>
          <p:cNvPr id="35" name="static"/>
          <p:cNvSpPr/>
          <p:nvPr/>
        </p:nvSpPr>
        <p:spPr>
          <a:xfrm>
            <a:off x="2808312" y="4730130"/>
            <a:ext cx="57150" cy="57150"/>
          </a:xfrm>
          <a:prstGeom prst="roundRect">
            <a:avLst>
              <a:gd name="adj" fmla="val 50000"/>
            </a:avLst>
          </a:prstGeom>
          <a:solidFill>
            <a:srgbClr val="006241"/>
          </a:solidFill>
          <a:ln/>
        </p:spPr>
      </p:sp>
      <p:sp>
        <p:nvSpPr>
          <p:cNvPr id="36" name="static"/>
          <p:cNvSpPr/>
          <p:nvPr/>
        </p:nvSpPr>
        <p:spPr>
          <a:xfrm>
            <a:off x="2913087" y="4730130"/>
            <a:ext cx="57150" cy="57150"/>
          </a:xfrm>
          <a:prstGeom prst="roundRect">
            <a:avLst>
              <a:gd name="adj" fmla="val 50000"/>
            </a:avLst>
          </a:prstGeom>
          <a:solidFill>
            <a:srgbClr val="006241"/>
          </a:solidFill>
          <a:ln/>
        </p:spPr>
      </p:sp>
      <p:sp>
        <p:nvSpPr>
          <p:cNvPr id="37" name="static"/>
          <p:cNvSpPr/>
          <p:nvPr/>
        </p:nvSpPr>
        <p:spPr>
          <a:xfrm>
            <a:off x="3017862" y="4730130"/>
            <a:ext cx="57150" cy="57150"/>
          </a:xfrm>
          <a:prstGeom prst="roundRect">
            <a:avLst>
              <a:gd name="adj" fmla="val 50000"/>
            </a:avLst>
          </a:prstGeom>
          <a:solidFill>
            <a:srgbClr val="006241"/>
          </a:solidFill>
          <a:ln/>
        </p:spPr>
      </p:sp>
      <p:sp>
        <p:nvSpPr>
          <p:cNvPr id="38" name="static"/>
          <p:cNvSpPr/>
          <p:nvPr/>
        </p:nvSpPr>
        <p:spPr>
          <a:xfrm>
            <a:off x="3122637" y="4730130"/>
            <a:ext cx="57150" cy="57150"/>
          </a:xfrm>
          <a:prstGeom prst="roundRect">
            <a:avLst>
              <a:gd name="adj" fmla="val 50000"/>
            </a:avLst>
          </a:prstGeom>
          <a:solidFill>
            <a:srgbClr val="006241"/>
          </a:solidFill>
          <a:ln/>
        </p:spPr>
      </p:sp>
      <p:sp>
        <p:nvSpPr>
          <p:cNvPr id="39" name="static"/>
          <p:cNvSpPr/>
          <p:nvPr/>
        </p:nvSpPr>
        <p:spPr>
          <a:xfrm>
            <a:off x="3227412" y="4730130"/>
            <a:ext cx="171450" cy="57150"/>
          </a:xfrm>
          <a:prstGeom prst="roundRect">
            <a:avLst>
              <a:gd name="adj" fmla="val 50000"/>
            </a:avLst>
          </a:prstGeom>
          <a:solidFill>
            <a:srgbClr val="CBA258"/>
          </a:solidFill>
          <a:ln/>
        </p:spPr>
      </p:sp>
      <p:sp>
        <p:nvSpPr>
          <p:cNvPr id="40" name="static"/>
          <p:cNvSpPr/>
          <p:nvPr/>
        </p:nvSpPr>
        <p:spPr>
          <a:xfrm>
            <a:off x="3446487" y="4730130"/>
            <a:ext cx="57150" cy="57150"/>
          </a:xfrm>
          <a:prstGeom prst="roundRect">
            <a:avLst>
              <a:gd name="adj" fmla="val 50000"/>
            </a:avLst>
          </a:prstGeom>
          <a:solidFill>
            <a:srgbClr val="C5D8D0"/>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23" presetClass="entr" presetSubtype="16"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Scale>
                                      <p:cBhvr>
                                        <p:cTn id="5" dur="500" fill="hold"/>
                                        <p:tgtEl>
                                          <p:spTgt spid="7"/>
                                        </p:tgtEl>
                                      </p:cBhvr>
                                      <p:from x="0" y="0"/>
                                      <p:to x="100000" y="100000"/>
                                    </p:animScale>
                                    <p:animEffect transition="in" filter="fade">
                                      <p:cBhvr>
                                        <p:cTn id="6" dur="500"/>
                                        <p:tgtEl>
                                          <p:spTgt spid="7"/>
                                        </p:tgtEl>
                                      </p:cBhvr>
                                    </p:animEffect>
                                  </p:childTnLst>
                                </p:cTn>
                              </p:par>
                              <p:par>
                                <p:cTn id="7" presetID="23" presetClass="entr" presetSubtype="16"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Scale>
                                      <p:cBhvr>
                                        <p:cTn id="9" dur="500" fill="hold"/>
                                        <p:tgtEl>
                                          <p:spTgt spid="8"/>
                                        </p:tgtEl>
                                      </p:cBhvr>
                                      <p:from x="0" y="0"/>
                                      <p:to x="100000" y="100000"/>
                                    </p:animScale>
                                    <p:animEffect transition="in" filter="fade">
                                      <p:cBhvr>
                                        <p:cTn id="10" dur="500"/>
                                        <p:tgtEl>
                                          <p:spTgt spid="8"/>
                                        </p:tgtEl>
                                      </p:cBhvr>
                                    </p:animEffect>
                                  </p:childTnLst>
                                </p:cTn>
                              </p:par>
                              <p:par>
                                <p:cTn id="11" presetID="23" presetClass="entr" presetSubtype="16"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Scale>
                                      <p:cBhvr>
                                        <p:cTn id="13" dur="500" fill="hold"/>
                                        <p:tgtEl>
                                          <p:spTgt spid="9"/>
                                        </p:tgtEl>
                                      </p:cBhvr>
                                      <p:from x="0" y="0"/>
                                      <p:to x="100000" y="100000"/>
                                    </p:animScale>
                                    <p:animEffect transition="in" filter="fade">
                                      <p:cBhvr>
                                        <p:cTn id="14"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Scale>
                                      <p:cBhvr>
                                        <p:cTn id="19" dur="500" fill="hold"/>
                                        <p:tgtEl>
                                          <p:spTgt spid="10"/>
                                        </p:tgtEl>
                                      </p:cBhvr>
                                      <p:from x="0" y="0"/>
                                      <p:to x="100000" y="100000"/>
                                    </p:animScale>
                                    <p:animEffect transition="in" filter="fade">
                                      <p:cBhvr>
                                        <p:cTn id="20" dur="500"/>
                                        <p:tgtEl>
                                          <p:spTgt spid="10"/>
                                        </p:tgtEl>
                                      </p:cBhvr>
                                    </p:animEffect>
                                  </p:childTnLst>
                                </p:cTn>
                              </p:par>
                              <p:par>
                                <p:cTn id="21" presetID="23" presetClass="entr" presetSubtype="16"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animScale>
                                      <p:cBhvr>
                                        <p:cTn id="23" dur="500" fill="hold"/>
                                        <p:tgtEl>
                                          <p:spTgt spid="11"/>
                                        </p:tgtEl>
                                      </p:cBhvr>
                                      <p:from x="0" y="0"/>
                                      <p:to x="100000" y="100000"/>
                                    </p:animScale>
                                    <p:animEffect transition="in" filter="fade">
                                      <p:cBhvr>
                                        <p:cTn id="24" dur="500"/>
                                        <p:tgtEl>
                                          <p:spTgt spid="11"/>
                                        </p:tgtEl>
                                      </p:cBhvr>
                                    </p:animEffect>
                                  </p:childTnLst>
                                </p:cTn>
                              </p:par>
                              <p:par>
                                <p:cTn id="25" presetID="23" presetClass="entr" presetSubtype="16"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Scale>
                                      <p:cBhvr>
                                        <p:cTn id="27" dur="500" fill="hold"/>
                                        <p:tgtEl>
                                          <p:spTgt spid="12"/>
                                        </p:tgtEl>
                                      </p:cBhvr>
                                      <p:from x="0" y="0"/>
                                      <p:to x="100000" y="100000"/>
                                    </p:animScale>
                                    <p:animEffect transition="in" filter="fade">
                                      <p:cBhvr>
                                        <p:cTn id="28" dur="500"/>
                                        <p:tgtEl>
                                          <p:spTgt spid="12"/>
                                        </p:tgtEl>
                                      </p:cBhvr>
                                    </p:animEffect>
                                  </p:childTnLst>
                                </p:cTn>
                              </p:par>
                              <p:par>
                                <p:cTn id="29" presetID="23" presetClass="entr" presetSubtype="16"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Scale>
                                      <p:cBhvr>
                                        <p:cTn id="31" dur="500" fill="hold"/>
                                        <p:tgtEl>
                                          <p:spTgt spid="13"/>
                                        </p:tgtEl>
                                      </p:cBhvr>
                                      <p:from x="0" y="0"/>
                                      <p:to x="100000" y="100000"/>
                                    </p:animScale>
                                    <p:animEffect transition="in" filter="fade">
                                      <p:cBhvr>
                                        <p:cTn id="32" dur="500"/>
                                        <p:tgtEl>
                                          <p:spTgt spid="13"/>
                                        </p:tgtEl>
                                      </p:cBhvr>
                                    </p:animEffect>
                                  </p:childTnLst>
                                </p:cTn>
                              </p:par>
                            </p:childTnLst>
                          </p:cTn>
                        </p:par>
                      </p:childTnLst>
                    </p:cTn>
                  </p:par>
                  <p:par>
                    <p:cTn id="91" fill="hold">
                      <p:stCondLst>
                        <p:cond delay="indefinite"/>
                      </p:stCondLst>
                      <p:childTnLst>
                        <p:par>
                          <p:cTn id="92" fill="hold">
                            <p:stCondLst>
                              <p:cond delay="0"/>
                            </p:stCondLst>
                            <p:childTnLst>
                              <p:par>
                                <p:cTn id="35" presetID="42" presetClass="entr" presetSubtype="0" fill="hold" grpId="0" nodeType="click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700"/>
                                        <p:tgtEl>
                                          <p:spTgt spid="14"/>
                                        </p:tgtEl>
                                      </p:cBhvr>
                                    </p:animEffect>
                                    <p:anim calcmode="lin" valueType="num">
                                      <p:cBhvr additive="base">
                                        <p:cTn id="38" dur="700" fill="hold"/>
                                        <p:tgtEl>
                                          <p:spTgt spid="14"/>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700"/>
                                        <p:tgtEl>
                                          <p:spTgt spid="15"/>
                                        </p:tgtEl>
                                      </p:cBhvr>
                                    </p:animEffect>
                                    <p:anim calcmode="lin" valueType="num">
                                      <p:cBhvr additive="base">
                                        <p:cTn id="42" dur="700" fill="hold"/>
                                        <p:tgtEl>
                                          <p:spTgt spid="15"/>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700"/>
                                        <p:tgtEl>
                                          <p:spTgt spid="16"/>
                                        </p:tgtEl>
                                      </p:cBhvr>
                                    </p:animEffect>
                                    <p:anim calcmode="lin" valueType="num">
                                      <p:cBhvr additive="base">
                                        <p:cTn id="46" dur="700" fill="hold"/>
                                        <p:tgtEl>
                                          <p:spTgt spid="16"/>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700"/>
                                        <p:tgtEl>
                                          <p:spTgt spid="17"/>
                                        </p:tgtEl>
                                      </p:cBhvr>
                                    </p:animEffect>
                                    <p:anim calcmode="lin" valueType="num">
                                      <p:cBhvr additive="base">
                                        <p:cTn id="50" dur="700" fill="hold"/>
                                        <p:tgtEl>
                                          <p:spTgt spid="17"/>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700"/>
                                        <p:tgtEl>
                                          <p:spTgt spid="18"/>
                                        </p:tgtEl>
                                      </p:cBhvr>
                                    </p:animEffect>
                                    <p:anim calcmode="lin" valueType="num">
                                      <p:cBhvr additive="base">
                                        <p:cTn id="54" dur="700" fill="hold"/>
                                        <p:tgtEl>
                                          <p:spTgt spid="18"/>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700"/>
                                        <p:tgtEl>
                                          <p:spTgt spid="19"/>
                                        </p:tgtEl>
                                      </p:cBhvr>
                                    </p:animEffect>
                                    <p:anim calcmode="lin" valueType="num">
                                      <p:cBhvr additive="base">
                                        <p:cTn id="58" dur="700" fill="hold"/>
                                        <p:tgtEl>
                                          <p:spTgt spid="19"/>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700"/>
                                        <p:tgtEl>
                                          <p:spTgt spid="20"/>
                                        </p:tgtEl>
                                      </p:cBhvr>
                                    </p:animEffect>
                                    <p:anim calcmode="lin" valueType="num">
                                      <p:cBhvr additive="base">
                                        <p:cTn id="62" dur="700" fill="hold"/>
                                        <p:tgtEl>
                                          <p:spTgt spid="20"/>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700"/>
                                        <p:tgtEl>
                                          <p:spTgt spid="21"/>
                                        </p:tgtEl>
                                      </p:cBhvr>
                                    </p:animEffect>
                                    <p:anim calcmode="lin" valueType="num">
                                      <p:cBhvr additive="base">
                                        <p:cTn id="66" dur="700" fill="hold"/>
                                        <p:tgtEl>
                                          <p:spTgt spid="21"/>
                                        </p:tgtEl>
                                        <p:attrNameLst>
                                          <p:attrName>ppt_y</p:attrName>
                                        </p:attrNameLst>
                                      </p:cBhvr>
                                      <p:tavLst>
                                        <p:tav tm="0">
                                          <p:val>
                                            <p:strVal val="#ppt_y+.08"/>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700"/>
                                        <p:tgtEl>
                                          <p:spTgt spid="22"/>
                                        </p:tgtEl>
                                      </p:cBhvr>
                                    </p:animEffect>
                                    <p:anim calcmode="lin" valueType="num">
                                      <p:cBhvr additive="base">
                                        <p:cTn id="70" dur="700" fill="hold"/>
                                        <p:tgtEl>
                                          <p:spTgt spid="22"/>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23"/>
                                        </p:tgtEl>
                                        <p:attrNameLst>
                                          <p:attrName>style.visibility</p:attrName>
                                        </p:attrNameLst>
                                      </p:cBhvr>
                                      <p:to>
                                        <p:strVal val="visible"/>
                                      </p:to>
                                    </p:set>
                                    <p:animEffect transition="in" filter="fade">
                                      <p:cBhvr>
                                        <p:cTn id="73" dur="700"/>
                                        <p:tgtEl>
                                          <p:spTgt spid="23"/>
                                        </p:tgtEl>
                                      </p:cBhvr>
                                    </p:animEffect>
                                    <p:anim calcmode="lin" valueType="num">
                                      <p:cBhvr additive="base">
                                        <p:cTn id="74" dur="700" fill="hold"/>
                                        <p:tgtEl>
                                          <p:spTgt spid="23"/>
                                        </p:tgtEl>
                                        <p:attrNameLst>
                                          <p:attrName>ppt_y</p:attrName>
                                        </p:attrNameLst>
                                      </p:cBhvr>
                                      <p:tavLst>
                                        <p:tav tm="0">
                                          <p:val>
                                            <p:strVal val="#ppt_y+.08"/>
                                          </p:val>
                                        </p:tav>
                                        <p:tav tm="100000">
                                          <p:val>
                                            <p:strVal val="#ppt_y"/>
                                          </p:val>
                                        </p:tav>
                                      </p:tavLst>
                                    </p:anim>
                                  </p:childTnLst>
                                </p:cTn>
                              </p:par>
                              <p:par>
                                <p:cTn id="75" presetID="42" presetClass="entr" presetSubtype="0" fill="hold" grpId="0" nodeType="withEffect">
                                  <p:stCondLst>
                                    <p:cond delay="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700"/>
                                        <p:tgtEl>
                                          <p:spTgt spid="24"/>
                                        </p:tgtEl>
                                      </p:cBhvr>
                                    </p:animEffect>
                                    <p:anim calcmode="lin" valueType="num">
                                      <p:cBhvr additive="base">
                                        <p:cTn id="78" dur="700" fill="hold"/>
                                        <p:tgtEl>
                                          <p:spTgt spid="24"/>
                                        </p:tgtEl>
                                        <p:attrNameLst>
                                          <p:attrName>ppt_y</p:attrName>
                                        </p:attrNameLst>
                                      </p:cBhvr>
                                      <p:tavLst>
                                        <p:tav tm="0">
                                          <p:val>
                                            <p:strVal val="#ppt_y+.08"/>
                                          </p:val>
                                        </p:tav>
                                        <p:tav tm="100000">
                                          <p:val>
                                            <p:strVal val="#ppt_y"/>
                                          </p:val>
                                        </p:tav>
                                      </p:tavLst>
                                    </p:anim>
                                  </p:childTnLst>
                                </p:cTn>
                              </p:par>
                              <p:par>
                                <p:cTn id="79" presetID="42" presetClass="entr" presetSubtype="0" fill="hold" grpId="0" nodeType="withEffect">
                                  <p:stCondLst>
                                    <p:cond delay="0"/>
                                  </p:stCondLst>
                                  <p:childTnLst>
                                    <p:set>
                                      <p:cBhvr>
                                        <p:cTn id="80" dur="1" fill="hold">
                                          <p:stCondLst>
                                            <p:cond delay="0"/>
                                          </p:stCondLst>
                                        </p:cTn>
                                        <p:tgtEl>
                                          <p:spTgt spid="25"/>
                                        </p:tgtEl>
                                        <p:attrNameLst>
                                          <p:attrName>style.visibility</p:attrName>
                                        </p:attrNameLst>
                                      </p:cBhvr>
                                      <p:to>
                                        <p:strVal val="visible"/>
                                      </p:to>
                                    </p:set>
                                    <p:animEffect transition="in" filter="fade">
                                      <p:cBhvr>
                                        <p:cTn id="81" dur="700"/>
                                        <p:tgtEl>
                                          <p:spTgt spid="25"/>
                                        </p:tgtEl>
                                      </p:cBhvr>
                                    </p:animEffect>
                                    <p:anim calcmode="lin" valueType="num">
                                      <p:cBhvr additive="base">
                                        <p:cTn id="82" dur="700" fill="hold"/>
                                        <p:tgtEl>
                                          <p:spTgt spid="25"/>
                                        </p:tgtEl>
                                        <p:attrNameLst>
                                          <p:attrName>ppt_y</p:attrName>
                                        </p:attrNameLst>
                                      </p:cBhvr>
                                      <p:tavLst>
                                        <p:tav tm="0">
                                          <p:val>
                                            <p:strVal val="#ppt_y+.08"/>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700"/>
                                        <p:tgtEl>
                                          <p:spTgt spid="26"/>
                                        </p:tgtEl>
                                      </p:cBhvr>
                                    </p:animEffect>
                                    <p:anim calcmode="lin" valueType="num">
                                      <p:cBhvr additive="base">
                                        <p:cTn id="86" dur="700" fill="hold"/>
                                        <p:tgtEl>
                                          <p:spTgt spid="26"/>
                                        </p:tgtEl>
                                        <p:attrNameLst>
                                          <p:attrName>ppt_y</p:attrName>
                                        </p:attrNameLst>
                                      </p:cBhvr>
                                      <p:tavLst>
                                        <p:tav tm="0">
                                          <p:val>
                                            <p:strVal val="#ppt_y+.0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27"/>
                                        </p:tgtEl>
                                        <p:attrNameLst>
                                          <p:attrName>style.visibility</p:attrName>
                                        </p:attrNameLst>
                                      </p:cBhvr>
                                      <p:to>
                                        <p:strVal val="visible"/>
                                      </p:to>
                                    </p:set>
                                    <p:animEffect transition="in" filter="fade">
                                      <p:cBhvr>
                                        <p:cTn id="89" dur="700"/>
                                        <p:tgtEl>
                                          <p:spTgt spid="27"/>
                                        </p:tgtEl>
                                      </p:cBhvr>
                                    </p:animEffect>
                                    <p:anim calcmode="lin" valueType="num">
                                      <p:cBhvr additive="base">
                                        <p:cTn id="90" dur="700" fill="hold"/>
                                        <p:tgtEl>
                                          <p:spTgt spid="27"/>
                                        </p:tgtEl>
                                        <p:attrNameLst>
                                          <p:attrName>ppt_y</p:attrName>
                                        </p:attrNameLst>
                                      </p:cBhvr>
                                      <p:tavLst>
                                        <p:tav tm="0">
                                          <p:val>
                                            <p:strVal val="#ppt_y+.08"/>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3" presetID="10" presetClass="entr" presetSubtype="0" fill="hold" grpId="0" nodeType="click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fade">
                                      <p:cBhvr>
                                        <p:cTn id="95" dur="500"/>
                                        <p:tgtEl>
                                          <p:spTgt spid="28"/>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29"/>
                                        </p:tgtEl>
                                        <p:attrNameLst>
                                          <p:attrName>style.visibility</p:attrName>
                                        </p:attrNameLst>
                                      </p:cBhvr>
                                      <p:to>
                                        <p:strVal val="visible"/>
                                      </p:to>
                                    </p:set>
                                    <p:animEffect transition="in" filter="fade">
                                      <p:cBhvr>
                                        <p:cTn id="98" dur="500"/>
                                        <p:tgtEl>
                                          <p:spTgt spid="29"/>
                                        </p:tgtEl>
                                      </p:cBhvr>
                                    </p:animEffect>
                                  </p:childTnLst>
                                </p:cTn>
                              </p:par>
                            </p:childTnLst>
                          </p:cTn>
                        </p:par>
                      </p:childTnLst>
                    </p:cTn>
                  </p:par>
                  <p:par>
                    <p:cTn id="109" fill="hold">
                      <p:stCondLst>
                        <p:cond delay="indefinite"/>
                      </p:stCondLst>
                      <p:childTnLst>
                        <p:par>
                          <p:cTn id="110" fill="hold">
                            <p:stCondLst>
                              <p:cond delay="0"/>
                            </p:stCondLst>
                            <p:childTnLst>
                              <p:par>
                                <p:cTn id="101" presetID="23" presetClass="entr" presetSubtype="16" fill="hold" grpId="0" nodeType="clickEffect">
                                  <p:stCondLst>
                                    <p:cond delay="0"/>
                                  </p:stCondLst>
                                  <p:childTnLst>
                                    <p:set>
                                      <p:cBhvr>
                                        <p:cTn id="102" dur="1" fill="hold">
                                          <p:stCondLst>
                                            <p:cond delay="0"/>
                                          </p:stCondLst>
                                        </p:cTn>
                                        <p:tgtEl>
                                          <p:spTgt spid="30"/>
                                        </p:tgtEl>
                                        <p:attrNameLst>
                                          <p:attrName>style.visibility</p:attrName>
                                        </p:attrNameLst>
                                      </p:cBhvr>
                                      <p:to>
                                        <p:strVal val="visible"/>
                                      </p:to>
                                    </p:set>
                                    <p:animScale>
                                      <p:cBhvr>
                                        <p:cTn id="103" dur="500" fill="hold"/>
                                        <p:tgtEl>
                                          <p:spTgt spid="30"/>
                                        </p:tgtEl>
                                      </p:cBhvr>
                                      <p:from x="0" y="0"/>
                                      <p:to x="100000" y="100000"/>
                                    </p:animScale>
                                    <p:animEffect transition="in" filter="fade">
                                      <p:cBhvr>
                                        <p:cTn id="104" dur="500"/>
                                        <p:tgtEl>
                                          <p:spTgt spid="30"/>
                                        </p:tgtEl>
                                      </p:cBhvr>
                                    </p:animEffect>
                                  </p:childTnLst>
                                </p:cTn>
                              </p:par>
                              <p:par>
                                <p:cTn id="105" presetID="23" presetClass="entr" presetSubtype="16" fill="hold" grpId="0" nodeType="withEffect">
                                  <p:stCondLst>
                                    <p:cond delay="0"/>
                                  </p:stCondLst>
                                  <p:childTnLst>
                                    <p:set>
                                      <p:cBhvr>
                                        <p:cTn id="106" dur="1" fill="hold">
                                          <p:stCondLst>
                                            <p:cond delay="0"/>
                                          </p:stCondLst>
                                        </p:cTn>
                                        <p:tgtEl>
                                          <p:spTgt spid="31"/>
                                        </p:tgtEl>
                                        <p:attrNameLst>
                                          <p:attrName>style.visibility</p:attrName>
                                        </p:attrNameLst>
                                      </p:cBhvr>
                                      <p:to>
                                        <p:strVal val="visible"/>
                                      </p:to>
                                    </p:set>
                                    <p:animScale>
                                      <p:cBhvr>
                                        <p:cTn id="107" dur="500" fill="hold"/>
                                        <p:tgtEl>
                                          <p:spTgt spid="31"/>
                                        </p:tgtEl>
                                      </p:cBhvr>
                                      <p:from x="0" y="0"/>
                                      <p:to x="100000" y="100000"/>
                                    </p:animScale>
                                    <p:animEffect transition="in" filter="fade">
                                      <p:cBhvr>
                                        <p:cTn id="108"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4" grpId="0" animBg="1"/>
      <p:bldP spid="15" grpId="0" animBg="1"/>
      <p:bldP spid="16" grpId="0" animBg="1"/>
      <p:bldP spid="18" grpId="0" animBg="1"/>
      <p:bldP spid="19" grpId="0" animBg="1"/>
      <p:bldP spid="20" grpId="0" animBg="1"/>
      <p:bldP spid="22" grpId="0" animBg="1"/>
      <p:bldP spid="23" grpId="0" animBg="1"/>
      <p:bldP spid="24" grpId="0" animBg="1"/>
      <p:bldP spid="26" grpId="0" animBg="1"/>
      <p:bldP spid="27" grpId="0" animBg="1"/>
      <p:bldP spid="28" grpId="0" animBg="1"/>
      <p:bldP spid="29" grpId="0" animBg="1"/>
      <p:bldP spid="30" grpId="0" animBg="1"/>
      <p:bldP spid="3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35235"/>
          </a:xfrm>
          <a:prstGeom prst="rect">
            <a:avLst/>
          </a:prstGeom>
          <a:noFill/>
          <a:ln/>
        </p:spPr>
        <p:txBody>
          <a:bodyPr wrap="none" lIns="0" tIns="0" rIns="0" bIns="0" rtlCol="0" anchor="ctr"/>
          <a:lstStyle/>
          <a:p>
            <a:pPr algn="l" indent="0" marL="0">
              <a:lnSpc>
                <a:spcPts val="2640"/>
              </a:lnSpc>
              <a:buNone/>
            </a:pPr>
            <a:r>
              <a:rPr lang="en-US" sz="2400" b="1" dirty="0">
                <a:solidFill>
                  <a:srgbClr val="191919"/>
                </a:solidFill>
                <a:latin typeface="Fraunces" pitchFamily="34" charset="0"/>
                <a:ea typeface="Fraunces" pitchFamily="34" charset="-122"/>
                <a:cs typeface="Fraunces" pitchFamily="34" charset="-120"/>
              </a:rPr>
              <a:t>Key Business Lessons &amp; Summary</a:t>
            </a:r>
            <a:endParaRPr lang="en-US" sz="2400" dirty="0"/>
          </a:p>
        </p:txBody>
      </p:sp>
      <p:sp>
        <p:nvSpPr>
          <p:cNvPr id="3" name="static"/>
          <p:cNvSpPr txBox="1"/>
          <p:nvPr/>
        </p:nvSpPr>
        <p:spPr>
          <a:xfrm>
            <a:off x="609600" y="1211535"/>
            <a:ext cx="6686550" cy="210443"/>
          </a:xfrm>
          <a:prstGeom prst="rect">
            <a:avLst/>
          </a:prstGeom>
          <a:noFill/>
          <a:ln/>
        </p:spPr>
        <p:txBody>
          <a:bodyPr wrap="none" lIns="0" tIns="0" rIns="0" bIns="0" rtlCol="0" anchor="ctr"/>
          <a:lstStyle/>
          <a:p>
            <a:pPr algn="l" indent="0" marL="0">
              <a:lnSpc>
                <a:spcPts val="1658"/>
              </a:lnSpc>
              <a:buNone/>
            </a:pPr>
            <a:r>
              <a:rPr lang="en-US" sz="1275" dirty="0">
                <a:solidFill>
                  <a:srgbClr val="3A3A36"/>
                </a:solidFill>
                <a:latin typeface="DM Sans" pitchFamily="34" charset="0"/>
                <a:ea typeface="DM Sans" pitchFamily="34" charset="-122"/>
                <a:cs typeface="DM Sans" pitchFamily="34" charset="-120"/>
              </a:rPr>
              <a:t>What Business Leaders Can Learn from Starbucks</a:t>
            </a:r>
            <a:endParaRPr lang="en-US" sz="1275" dirty="0"/>
          </a:p>
        </p:txBody>
      </p:sp>
      <p:sp>
        <p:nvSpPr>
          <p:cNvPr id="4" name="static"/>
          <p:cNvSpPr txBox="1"/>
          <p:nvPr/>
        </p:nvSpPr>
        <p:spPr>
          <a:xfrm>
            <a:off x="609600" y="457200"/>
            <a:ext cx="411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006241"/>
                </a:solidFill>
                <a:latin typeface="DM Sans" pitchFamily="34" charset="0"/>
                <a:ea typeface="DM Sans" pitchFamily="34" charset="-122"/>
                <a:cs typeface="DM Sans" pitchFamily="34" charset="-120"/>
              </a:rPr>
              <a:t>PART 4 · CONCLUSION &amp; MBA TAKEAWAYS</a:t>
            </a:r>
            <a:endParaRPr lang="en-US" sz="900" dirty="0"/>
          </a:p>
        </p:txBody>
      </p:sp>
      <p:sp>
        <p:nvSpPr>
          <p:cNvPr id="5" name="!!key7-1"/>
          <p:cNvSpPr/>
          <p:nvPr/>
        </p:nvSpPr>
        <p:spPr>
          <a:xfrm>
            <a:off x="6438900" y="419100"/>
            <a:ext cx="2095500" cy="255240"/>
          </a:xfrm>
          <a:prstGeom prst="roundRect">
            <a:avLst>
              <a:gd name="adj" fmla="val 50000"/>
            </a:avLst>
          </a:prstGeom>
          <a:solidFill>
            <a:srgbClr val="CBA258"/>
          </a:solidFill>
          <a:ln/>
        </p:spPr>
      </p:sp>
      <p:sp>
        <p:nvSpPr>
          <p:cNvPr id="6" name="!!key7-2"/>
          <p:cNvSpPr txBox="1"/>
          <p:nvPr/>
        </p:nvSpPr>
        <p:spPr>
          <a:xfrm>
            <a:off x="6438900" y="4191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Lessons for business leaders</a:t>
            </a:r>
            <a:endParaRPr lang="en-US" sz="900" dirty="0"/>
          </a:p>
        </p:txBody>
      </p:sp>
      <p:sp>
        <p:nvSpPr>
          <p:cNvPr id="7" name="b1:rise"/>
          <p:cNvSpPr/>
          <p:nvPr/>
        </p:nvSpPr>
        <p:spPr>
          <a:xfrm>
            <a:off x="609600" y="1676400"/>
            <a:ext cx="2566988" cy="1333500"/>
          </a:xfrm>
          <a:prstGeom prst="roundRect">
            <a:avLst>
              <a:gd name="adj" fmla="val 571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8" name="b1:rise"/>
          <p:cNvSpPr txBox="1"/>
          <p:nvPr/>
        </p:nvSpPr>
        <p:spPr>
          <a:xfrm>
            <a:off x="766763" y="1833562"/>
            <a:ext cx="2432876"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LESSON 1</a:t>
            </a:r>
            <a:endParaRPr lang="en-US" sz="900" dirty="0"/>
          </a:p>
        </p:txBody>
      </p:sp>
      <p:sp>
        <p:nvSpPr>
          <p:cNvPr id="9" name="b1:rise"/>
          <p:cNvSpPr txBox="1"/>
          <p:nvPr/>
        </p:nvSpPr>
        <p:spPr>
          <a:xfrm>
            <a:off x="766763" y="2041178"/>
            <a:ext cx="2432876" cy="205680"/>
          </a:xfrm>
          <a:prstGeom prst="rect">
            <a:avLst/>
          </a:prstGeom>
          <a:noFill/>
          <a:ln/>
        </p:spPr>
        <p:txBody>
          <a:bodyPr wrap="none" lIns="0" tIns="0" rIns="0" bIns="0" rtlCol="0" anchor="ctr"/>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Product vs. Experience</a:t>
            </a:r>
            <a:endParaRPr lang="en-US" sz="1350" dirty="0"/>
          </a:p>
        </p:txBody>
      </p:sp>
      <p:sp>
        <p:nvSpPr>
          <p:cNvPr id="10" name="b1:rise"/>
          <p:cNvSpPr txBox="1"/>
          <p:nvPr/>
        </p:nvSpPr>
        <p:spPr>
          <a:xfrm>
            <a:off x="766763" y="2294483"/>
            <a:ext cx="2342769" cy="559891"/>
          </a:xfrm>
          <a:prstGeom prst="rect">
            <a:avLst/>
          </a:prstGeom>
          <a:noFill/>
          <a:ln/>
        </p:spPr>
        <p:txBody>
          <a:bodyPr wrap="square" lIns="0" tIns="0" rIns="0" bIns="0" rtlCol="0" anchor="t"/>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Products can be commoditized; brand experience builds competitive moats.</a:t>
            </a:r>
            <a:endParaRPr lang="en-US" sz="1050" dirty="0"/>
          </a:p>
        </p:txBody>
      </p:sp>
      <p:sp>
        <p:nvSpPr>
          <p:cNvPr id="11" name="b2:rise"/>
          <p:cNvSpPr/>
          <p:nvPr/>
        </p:nvSpPr>
        <p:spPr>
          <a:xfrm>
            <a:off x="3290887" y="1676400"/>
            <a:ext cx="2566988" cy="1333500"/>
          </a:xfrm>
          <a:prstGeom prst="roundRect">
            <a:avLst>
              <a:gd name="adj" fmla="val 571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2" name="b2:rise"/>
          <p:cNvSpPr txBox="1"/>
          <p:nvPr/>
        </p:nvSpPr>
        <p:spPr>
          <a:xfrm>
            <a:off x="3448050" y="1833562"/>
            <a:ext cx="2432876"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LESSON 2</a:t>
            </a:r>
            <a:endParaRPr lang="en-US" sz="900" dirty="0"/>
          </a:p>
        </p:txBody>
      </p:sp>
      <p:sp>
        <p:nvSpPr>
          <p:cNvPr id="13" name="b2:rise"/>
          <p:cNvSpPr txBox="1"/>
          <p:nvPr/>
        </p:nvSpPr>
        <p:spPr>
          <a:xfrm>
            <a:off x="3448050" y="2041178"/>
            <a:ext cx="2342769" cy="411361"/>
          </a:xfrm>
          <a:prstGeom prst="rect">
            <a:avLst/>
          </a:prstGeom>
          <a:noFill/>
          <a:ln/>
        </p:spPr>
        <p:txBody>
          <a:bodyPr wrap="square" lIns="0" tIns="0" rIns="0" bIns="0" rtlCol="0" anchor="t"/>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Authenticity &amp; Consistency</a:t>
            </a:r>
            <a:endParaRPr lang="en-US" sz="1350" dirty="0"/>
          </a:p>
        </p:txBody>
      </p:sp>
      <p:sp>
        <p:nvSpPr>
          <p:cNvPr id="14" name="b2:rise"/>
          <p:cNvSpPr txBox="1"/>
          <p:nvPr/>
        </p:nvSpPr>
        <p:spPr>
          <a:xfrm>
            <a:off x="3448050" y="2500164"/>
            <a:ext cx="2342769" cy="559891"/>
          </a:xfrm>
          <a:prstGeom prst="rect">
            <a:avLst/>
          </a:prstGeom>
          <a:noFill/>
          <a:ln/>
        </p:spPr>
        <p:txBody>
          <a:bodyPr wrap="square" lIns="0" tIns="0" rIns="0" bIns="0" rtlCol="0" anchor="t"/>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Core brand values must stay consistent, even during rapid global expansion.</a:t>
            </a:r>
            <a:endParaRPr lang="en-US" sz="1050" dirty="0"/>
          </a:p>
        </p:txBody>
      </p:sp>
      <p:sp>
        <p:nvSpPr>
          <p:cNvPr id="15" name="b3:rise"/>
          <p:cNvSpPr/>
          <p:nvPr/>
        </p:nvSpPr>
        <p:spPr>
          <a:xfrm>
            <a:off x="5972175" y="1676400"/>
            <a:ext cx="2562225" cy="1333500"/>
          </a:xfrm>
          <a:prstGeom prst="roundRect">
            <a:avLst>
              <a:gd name="adj" fmla="val 571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6" name="b3:rise"/>
          <p:cNvSpPr txBox="1"/>
          <p:nvPr/>
        </p:nvSpPr>
        <p:spPr>
          <a:xfrm>
            <a:off x="6129338" y="1833562"/>
            <a:ext cx="2427732"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LESSON 3</a:t>
            </a:r>
            <a:endParaRPr lang="en-US" sz="900" dirty="0"/>
          </a:p>
        </p:txBody>
      </p:sp>
      <p:sp>
        <p:nvSpPr>
          <p:cNvPr id="17" name="b3:rise"/>
          <p:cNvSpPr txBox="1"/>
          <p:nvPr/>
        </p:nvSpPr>
        <p:spPr>
          <a:xfrm>
            <a:off x="6129338" y="2041178"/>
            <a:ext cx="2427732" cy="205680"/>
          </a:xfrm>
          <a:prstGeom prst="rect">
            <a:avLst/>
          </a:prstGeom>
          <a:noFill/>
          <a:ln/>
        </p:spPr>
        <p:txBody>
          <a:bodyPr wrap="none" lIns="0" tIns="0" rIns="0" bIns="0" rtlCol="0" anchor="ctr"/>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Strategic Adaptability</a:t>
            </a:r>
            <a:endParaRPr lang="en-US" sz="1350" dirty="0"/>
          </a:p>
        </p:txBody>
      </p:sp>
      <p:sp>
        <p:nvSpPr>
          <p:cNvPr id="18" name="b3:rise"/>
          <p:cNvSpPr txBox="1"/>
          <p:nvPr/>
        </p:nvSpPr>
        <p:spPr>
          <a:xfrm>
            <a:off x="6129338" y="2294483"/>
            <a:ext cx="2337816" cy="559891"/>
          </a:xfrm>
          <a:prstGeom prst="rect">
            <a:avLst/>
          </a:prstGeom>
          <a:noFill/>
          <a:ln/>
        </p:spPr>
        <p:txBody>
          <a:bodyPr wrap="square" lIns="0" tIns="0" rIns="0" bIns="0" rtlCol="0" anchor="t"/>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Merge the physical third-place atmosphere with a cutting-edge digital ecosystem.</a:t>
            </a:r>
            <a:endParaRPr lang="en-US" sz="1050" dirty="0"/>
          </a:p>
        </p:txBody>
      </p:sp>
      <p:sp>
        <p:nvSpPr>
          <p:cNvPr id="19" name="b4:fade"/>
          <p:cNvSpPr/>
          <p:nvPr/>
        </p:nvSpPr>
        <p:spPr>
          <a:xfrm>
            <a:off x="609600" y="3143250"/>
            <a:ext cx="7924800" cy="838200"/>
          </a:xfrm>
          <a:prstGeom prst="roundRect">
            <a:avLst>
              <a:gd name="adj" fmla="val 9091"/>
            </a:avLst>
          </a:prstGeom>
          <a:solidFill>
            <a:srgbClr val="006241"/>
          </a:solidFill>
          <a:ln/>
        </p:spPr>
      </p:sp>
      <p:sp>
        <p:nvSpPr>
          <p:cNvPr id="20" name="b4:fade"/>
          <p:cNvSpPr txBox="1"/>
          <p:nvPr/>
        </p:nvSpPr>
        <p:spPr>
          <a:xfrm>
            <a:off x="838200" y="3276600"/>
            <a:ext cx="242307" cy="571500"/>
          </a:xfrm>
          <a:prstGeom prst="rect">
            <a:avLst/>
          </a:prstGeom>
          <a:noFill/>
          <a:ln/>
        </p:spPr>
        <p:txBody>
          <a:bodyPr wrap="none" lIns="0" tIns="0" rIns="0" bIns="0" rtlCol="0" anchor="ctr"/>
          <a:lstStyle/>
          <a:p>
            <a:pPr algn="l" indent="0" marL="0">
              <a:lnSpc>
                <a:spcPts val="4500"/>
              </a:lnSpc>
              <a:buNone/>
            </a:pPr>
            <a:r>
              <a:rPr lang="en-US" sz="4500" b="1" dirty="0">
                <a:solidFill>
                  <a:srgbClr val="CBA258"/>
                </a:solidFill>
                <a:latin typeface="Fraunces" pitchFamily="34" charset="0"/>
                <a:ea typeface="Fraunces" pitchFamily="34" charset="-122"/>
                <a:cs typeface="Fraunces" pitchFamily="34" charset="-120"/>
              </a:rPr>
              <a:t>“</a:t>
            </a:r>
            <a:endParaRPr lang="en-US" sz="4500" dirty="0"/>
          </a:p>
        </p:txBody>
      </p:sp>
      <p:sp>
        <p:nvSpPr>
          <p:cNvPr id="21" name="b4:fade"/>
          <p:cNvSpPr txBox="1"/>
          <p:nvPr/>
        </p:nvSpPr>
        <p:spPr>
          <a:xfrm>
            <a:off x="1195908" y="3330922"/>
            <a:ext cx="7394287" cy="462855"/>
          </a:xfrm>
          <a:prstGeom prst="rect">
            <a:avLst/>
          </a:prstGeom>
          <a:noFill/>
          <a:ln/>
        </p:spPr>
        <p:txBody>
          <a:bodyPr wrap="square" lIns="0" tIns="0" rIns="0" bIns="0" rtlCol="0" anchor="t"/>
          <a:lstStyle/>
          <a:p>
            <a:pPr algn="l" indent="0" marL="0">
              <a:lnSpc>
                <a:spcPts val="1823"/>
              </a:lnSpc>
              <a:buNone/>
            </a:pPr>
            <a:r>
              <a:rPr lang="en-US" sz="1350" i="1" dirty="0">
                <a:solidFill>
                  <a:srgbClr val="F7F5F0"/>
                </a:solidFill>
                <a:latin typeface="Fraunces" pitchFamily="34" charset="0"/>
                <a:ea typeface="Fraunces" pitchFamily="34" charset="-122"/>
                <a:cs typeface="Fraunces" pitchFamily="34" charset="-120"/>
              </a:rPr>
              <a:t>In a world that is increasingly digital and isolated, the hunger for authentic human connection has never been greater.</a:t>
            </a:r>
            <a:endParaRPr lang="en-US" sz="1350" dirty="0"/>
          </a:p>
        </p:txBody>
      </p:sp>
      <p:pic>
        <p:nvPicPr>
          <p:cNvPr id="22" name="b5:pop icon Chat" descr="preencoded.png">    </p:cNvPr>
          <p:cNvPicPr>
            <a:picLocks noChangeAspect="1"/>
          </p:cNvPicPr>
          <p:nvPr/>
        </p:nvPicPr>
        <p:blipFill>
          <a:blip r:embed="rId1"/>
          <a:stretch>
            <a:fillRect/>
          </a:stretch>
        </p:blipFill>
        <p:spPr>
          <a:xfrm>
            <a:off x="609600" y="4167187"/>
            <a:ext cx="171450" cy="171450"/>
          </a:xfrm>
          <a:prstGeom prst="rect">
            <a:avLst/>
          </a:prstGeom>
        </p:spPr>
      </p:pic>
      <p:sp>
        <p:nvSpPr>
          <p:cNvPr id="23" name="b5:pop"/>
          <p:cNvSpPr txBox="1"/>
          <p:nvPr/>
        </p:nvSpPr>
        <p:spPr>
          <a:xfrm>
            <a:off x="857250" y="4152900"/>
            <a:ext cx="8291322" cy="200025"/>
          </a:xfrm>
          <a:prstGeom prst="rect">
            <a:avLst/>
          </a:prstGeom>
          <a:noFill/>
          <a:ln/>
        </p:spPr>
        <p:txBody>
          <a:bodyPr wrap="none" lIns="0" tIns="0" rIns="0" bIns="0" rtlCol="0" anchor="ctr"/>
          <a:lstStyle/>
          <a:p>
            <a:pPr algn="l" indent="0" marL="0">
              <a:lnSpc>
                <a:spcPts val="1575"/>
              </a:lnSpc>
              <a:buNone/>
            </a:pPr>
            <a:r>
              <a:rPr lang="en-US" sz="1125" b="1" dirty="0">
                <a:solidFill>
                  <a:srgbClr val="006241"/>
                </a:solidFill>
                <a:latin typeface="DM Sans" pitchFamily="34" charset="0"/>
                <a:ea typeface="DM Sans" pitchFamily="34" charset="-122"/>
                <a:cs typeface="DM Sans" pitchFamily="34" charset="-120"/>
              </a:rPr>
              <a:t>Thank you! We welcome any questions from the class.</a:t>
            </a:r>
            <a:endParaRPr lang="en-US" sz="1125" dirty="0"/>
          </a:p>
        </p:txBody>
      </p:sp>
      <p:sp>
        <p:nvSpPr>
          <p:cNvPr id="24" name="static"/>
          <p:cNvSpPr txBox="1"/>
          <p:nvPr/>
        </p:nvSpPr>
        <p:spPr>
          <a:xfrm>
            <a:off x="609600" y="4678710"/>
            <a:ext cx="1765771" cy="159990"/>
          </a:xfrm>
          <a:prstGeom prst="rect">
            <a:avLst/>
          </a:prstGeom>
          <a:noFill/>
          <a:ln/>
        </p:spPr>
        <p:txBody>
          <a:bodyPr wrap="none" lIns="0" tIns="0" rIns="0" bIns="0" rtlCol="0" anchor="ctr"/>
          <a:lstStyle/>
          <a:p>
            <a:pPr algn="l" indent="0" marL="0">
              <a:lnSpc>
                <a:spcPts val="1260"/>
              </a:lnSpc>
              <a:buNone/>
            </a:pPr>
            <a:r>
              <a:rPr lang="en-US" sz="900" dirty="0">
                <a:solidFill>
                  <a:srgbClr val="6B6A63"/>
                </a:solidFill>
                <a:latin typeface="DM Sans" pitchFamily="34" charset="0"/>
                <a:ea typeface="DM Sans" pitchFamily="34" charset="-122"/>
                <a:cs typeface="DM Sans" pitchFamily="34" charset="-120"/>
              </a:rPr>
              <a:t>Slide 8 of 8 · Part 4 · MBA Lessons</a:t>
            </a:r>
            <a:endParaRPr lang="en-US" sz="900" dirty="0"/>
          </a:p>
        </p:txBody>
      </p:sp>
      <p:sp>
        <p:nvSpPr>
          <p:cNvPr id="25" name="static"/>
          <p:cNvSpPr/>
          <p:nvPr/>
        </p:nvSpPr>
        <p:spPr>
          <a:xfrm>
            <a:off x="2565871" y="4730130"/>
            <a:ext cx="57150" cy="57150"/>
          </a:xfrm>
          <a:prstGeom prst="roundRect">
            <a:avLst>
              <a:gd name="adj" fmla="val 50000"/>
            </a:avLst>
          </a:prstGeom>
          <a:solidFill>
            <a:srgbClr val="006241"/>
          </a:solidFill>
          <a:ln/>
        </p:spPr>
      </p:sp>
      <p:sp>
        <p:nvSpPr>
          <p:cNvPr id="26" name="static"/>
          <p:cNvSpPr/>
          <p:nvPr/>
        </p:nvSpPr>
        <p:spPr>
          <a:xfrm>
            <a:off x="2670646" y="4730130"/>
            <a:ext cx="57150" cy="57150"/>
          </a:xfrm>
          <a:prstGeom prst="roundRect">
            <a:avLst>
              <a:gd name="adj" fmla="val 50000"/>
            </a:avLst>
          </a:prstGeom>
          <a:solidFill>
            <a:srgbClr val="006241"/>
          </a:solidFill>
          <a:ln/>
        </p:spPr>
      </p:sp>
      <p:sp>
        <p:nvSpPr>
          <p:cNvPr id="27" name="static"/>
          <p:cNvSpPr/>
          <p:nvPr/>
        </p:nvSpPr>
        <p:spPr>
          <a:xfrm>
            <a:off x="2775421" y="4730130"/>
            <a:ext cx="57150" cy="57150"/>
          </a:xfrm>
          <a:prstGeom prst="roundRect">
            <a:avLst>
              <a:gd name="adj" fmla="val 50000"/>
            </a:avLst>
          </a:prstGeom>
          <a:solidFill>
            <a:srgbClr val="006241"/>
          </a:solidFill>
          <a:ln/>
        </p:spPr>
      </p:sp>
      <p:sp>
        <p:nvSpPr>
          <p:cNvPr id="28" name="static"/>
          <p:cNvSpPr/>
          <p:nvPr/>
        </p:nvSpPr>
        <p:spPr>
          <a:xfrm>
            <a:off x="2880196" y="4730130"/>
            <a:ext cx="57150" cy="57150"/>
          </a:xfrm>
          <a:prstGeom prst="roundRect">
            <a:avLst>
              <a:gd name="adj" fmla="val 50000"/>
            </a:avLst>
          </a:prstGeom>
          <a:solidFill>
            <a:srgbClr val="006241"/>
          </a:solidFill>
          <a:ln/>
        </p:spPr>
      </p:sp>
      <p:sp>
        <p:nvSpPr>
          <p:cNvPr id="29" name="static"/>
          <p:cNvSpPr/>
          <p:nvPr/>
        </p:nvSpPr>
        <p:spPr>
          <a:xfrm>
            <a:off x="2984971" y="4730130"/>
            <a:ext cx="57150" cy="57150"/>
          </a:xfrm>
          <a:prstGeom prst="roundRect">
            <a:avLst>
              <a:gd name="adj" fmla="val 50000"/>
            </a:avLst>
          </a:prstGeom>
          <a:solidFill>
            <a:srgbClr val="006241"/>
          </a:solidFill>
          <a:ln/>
        </p:spPr>
      </p:sp>
      <p:sp>
        <p:nvSpPr>
          <p:cNvPr id="30" name="static"/>
          <p:cNvSpPr/>
          <p:nvPr/>
        </p:nvSpPr>
        <p:spPr>
          <a:xfrm>
            <a:off x="3089746" y="4730130"/>
            <a:ext cx="57150" cy="57150"/>
          </a:xfrm>
          <a:prstGeom prst="roundRect">
            <a:avLst>
              <a:gd name="adj" fmla="val 50000"/>
            </a:avLst>
          </a:prstGeom>
          <a:solidFill>
            <a:srgbClr val="006241"/>
          </a:solidFill>
          <a:ln/>
        </p:spPr>
      </p:sp>
      <p:sp>
        <p:nvSpPr>
          <p:cNvPr id="31" name="static"/>
          <p:cNvSpPr/>
          <p:nvPr/>
        </p:nvSpPr>
        <p:spPr>
          <a:xfrm>
            <a:off x="3194521" y="4730130"/>
            <a:ext cx="57150" cy="57150"/>
          </a:xfrm>
          <a:prstGeom prst="roundRect">
            <a:avLst>
              <a:gd name="adj" fmla="val 50000"/>
            </a:avLst>
          </a:prstGeom>
          <a:solidFill>
            <a:srgbClr val="006241"/>
          </a:solidFill>
          <a:ln/>
        </p:spPr>
      </p:sp>
      <p:sp>
        <p:nvSpPr>
          <p:cNvPr id="32" name="static"/>
          <p:cNvSpPr/>
          <p:nvPr/>
        </p:nvSpPr>
        <p:spPr>
          <a:xfrm>
            <a:off x="3299296" y="4730130"/>
            <a:ext cx="171450" cy="57150"/>
          </a:xfrm>
          <a:prstGeom prst="roundRect">
            <a:avLst>
              <a:gd name="adj" fmla="val 50000"/>
            </a:avLst>
          </a:prstGeom>
          <a:solidFill>
            <a:srgbClr val="CBA258"/>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700"/>
                                        <p:tgtEl>
                                          <p:spTgt spid="7"/>
                                        </p:tgtEl>
                                      </p:cBhvr>
                                    </p:animEffect>
                                    <p:anim calcmode="lin" valueType="num">
                                      <p:cBhvr additive="base">
                                        <p:cTn id="6" dur="700" fill="hold"/>
                                        <p:tgtEl>
                                          <p:spTgt spid="7"/>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700"/>
                                        <p:tgtEl>
                                          <p:spTgt spid="8"/>
                                        </p:tgtEl>
                                      </p:cBhvr>
                                    </p:animEffect>
                                    <p:anim calcmode="lin" valueType="num">
                                      <p:cBhvr additive="base">
                                        <p:cTn id="10" dur="700" fill="hold"/>
                                        <p:tgtEl>
                                          <p:spTgt spid="8"/>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700"/>
                                        <p:tgtEl>
                                          <p:spTgt spid="9"/>
                                        </p:tgtEl>
                                      </p:cBhvr>
                                    </p:animEffect>
                                    <p:anim calcmode="lin" valueType="num">
                                      <p:cBhvr additive="base">
                                        <p:cTn id="14" dur="700" fill="hold"/>
                                        <p:tgtEl>
                                          <p:spTgt spid="9"/>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700"/>
                                        <p:tgtEl>
                                          <p:spTgt spid="10"/>
                                        </p:tgtEl>
                                      </p:cBhvr>
                                    </p:animEffect>
                                    <p:anim calcmode="lin" valueType="num">
                                      <p:cBhvr additive="base">
                                        <p:cTn id="18" dur="700" fill="hold"/>
                                        <p:tgtEl>
                                          <p:spTgt spid="10"/>
                                        </p:tgtEl>
                                        <p:attrNameLst>
                                          <p:attrName>ppt_y</p:attrName>
                                        </p:attrNameLst>
                                      </p:cBhvr>
                                      <p:tavLst>
                                        <p:tav tm="0">
                                          <p:val>
                                            <p:strVal val="#ppt_y+.08"/>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700"/>
                                        <p:tgtEl>
                                          <p:spTgt spid="11"/>
                                        </p:tgtEl>
                                      </p:cBhvr>
                                    </p:animEffect>
                                    <p:anim calcmode="lin" valueType="num">
                                      <p:cBhvr additive="base">
                                        <p:cTn id="24" dur="700" fill="hold"/>
                                        <p:tgtEl>
                                          <p:spTgt spid="11"/>
                                        </p:tgtEl>
                                        <p:attrNameLst>
                                          <p:attrName>ppt_y</p:attrName>
                                        </p:attrNameLst>
                                      </p:cBhvr>
                                      <p:tavLst>
                                        <p:tav tm="0">
                                          <p:val>
                                            <p:strVal val="#ppt_y+.08"/>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700"/>
                                        <p:tgtEl>
                                          <p:spTgt spid="12"/>
                                        </p:tgtEl>
                                      </p:cBhvr>
                                    </p:animEffect>
                                    <p:anim calcmode="lin" valueType="num">
                                      <p:cBhvr additive="base">
                                        <p:cTn id="28" dur="700" fill="hold"/>
                                        <p:tgtEl>
                                          <p:spTgt spid="12"/>
                                        </p:tgtEl>
                                        <p:attrNameLst>
                                          <p:attrName>ppt_y</p:attrName>
                                        </p:attrNameLst>
                                      </p:cBhvr>
                                      <p:tavLst>
                                        <p:tav tm="0">
                                          <p:val>
                                            <p:strVal val="#ppt_y+.08"/>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700"/>
                                        <p:tgtEl>
                                          <p:spTgt spid="13"/>
                                        </p:tgtEl>
                                      </p:cBhvr>
                                    </p:animEffect>
                                    <p:anim calcmode="lin" valueType="num">
                                      <p:cBhvr additive="base">
                                        <p:cTn id="32" dur="700" fill="hold"/>
                                        <p:tgtEl>
                                          <p:spTgt spid="13"/>
                                        </p:tgtEl>
                                        <p:attrNameLst>
                                          <p:attrName>ppt_y</p:attrName>
                                        </p:attrNameLst>
                                      </p:cBhvr>
                                      <p:tavLst>
                                        <p:tav tm="0">
                                          <p:val>
                                            <p:strVal val="#ppt_y+.0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700"/>
                                        <p:tgtEl>
                                          <p:spTgt spid="14"/>
                                        </p:tgtEl>
                                      </p:cBhvr>
                                    </p:animEffect>
                                    <p:anim calcmode="lin" valueType="num">
                                      <p:cBhvr additive="base">
                                        <p:cTn id="36" dur="700" fill="hold"/>
                                        <p:tgtEl>
                                          <p:spTgt spid="14"/>
                                        </p:tgtEl>
                                        <p:attrNameLst>
                                          <p:attrName>ppt_y</p:attrName>
                                        </p:attrNameLst>
                                      </p:cBhvr>
                                      <p:tavLst>
                                        <p:tav tm="0">
                                          <p:val>
                                            <p:strVal val="#ppt_y+.08"/>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700"/>
                                        <p:tgtEl>
                                          <p:spTgt spid="15"/>
                                        </p:tgtEl>
                                      </p:cBhvr>
                                    </p:animEffect>
                                    <p:anim calcmode="lin" valueType="num">
                                      <p:cBhvr additive="base">
                                        <p:cTn id="42" dur="700" fill="hold"/>
                                        <p:tgtEl>
                                          <p:spTgt spid="15"/>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700"/>
                                        <p:tgtEl>
                                          <p:spTgt spid="16"/>
                                        </p:tgtEl>
                                      </p:cBhvr>
                                    </p:animEffect>
                                    <p:anim calcmode="lin" valueType="num">
                                      <p:cBhvr additive="base">
                                        <p:cTn id="46" dur="700" fill="hold"/>
                                        <p:tgtEl>
                                          <p:spTgt spid="16"/>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700"/>
                                        <p:tgtEl>
                                          <p:spTgt spid="17"/>
                                        </p:tgtEl>
                                      </p:cBhvr>
                                    </p:animEffect>
                                    <p:anim calcmode="lin" valueType="num">
                                      <p:cBhvr additive="base">
                                        <p:cTn id="50" dur="700" fill="hold"/>
                                        <p:tgtEl>
                                          <p:spTgt spid="17"/>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700"/>
                                        <p:tgtEl>
                                          <p:spTgt spid="18"/>
                                        </p:tgtEl>
                                      </p:cBhvr>
                                    </p:animEffect>
                                    <p:anim calcmode="lin" valueType="num">
                                      <p:cBhvr additive="base">
                                        <p:cTn id="54" dur="700" fill="hold"/>
                                        <p:tgtEl>
                                          <p:spTgt spid="18"/>
                                        </p:tgtEl>
                                        <p:attrNameLst>
                                          <p:attrName>ppt_y</p:attrName>
                                        </p:attrNameLst>
                                      </p:cBhvr>
                                      <p:tavLst>
                                        <p:tav tm="0">
                                          <p:val>
                                            <p:strVal val="#ppt_y+.08"/>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500"/>
                                        <p:tgtEl>
                                          <p:spTgt spid="21"/>
                                        </p:tgtEl>
                                      </p:cBhvr>
                                    </p:animEffect>
                                  </p:childTnLst>
                                </p:cTn>
                              </p:par>
                            </p:childTnLst>
                          </p:cTn>
                        </p:par>
                      </p:childTnLst>
                    </p:cTn>
                  </p:par>
                  <p:par>
                    <p:cTn id="76" fill="hold">
                      <p:stCondLst>
                        <p:cond delay="indefinite"/>
                      </p:stCondLst>
                      <p:childTnLst>
                        <p:par>
                          <p:cTn id="77" fill="hold">
                            <p:stCondLst>
                              <p:cond delay="0"/>
                            </p:stCondLst>
                            <p:childTnLst>
                              <p:par>
                                <p:cTn id="68" presetID="23" presetClass="entr" presetSubtype="16" fill="hold" grpId="0" nodeType="clickEffect">
                                  <p:stCondLst>
                                    <p:cond delay="0"/>
                                  </p:stCondLst>
                                  <p:childTnLst>
                                    <p:set>
                                      <p:cBhvr>
                                        <p:cTn id="69" dur="1" fill="hold">
                                          <p:stCondLst>
                                            <p:cond delay="0"/>
                                          </p:stCondLst>
                                        </p:cTn>
                                        <p:tgtEl>
                                          <p:spTgt spid="22"/>
                                        </p:tgtEl>
                                        <p:attrNameLst>
                                          <p:attrName>style.visibility</p:attrName>
                                        </p:attrNameLst>
                                      </p:cBhvr>
                                      <p:to>
                                        <p:strVal val="visible"/>
                                      </p:to>
                                    </p:set>
                                    <p:animScale>
                                      <p:cBhvr>
                                        <p:cTn id="70" dur="500" fill="hold"/>
                                        <p:tgtEl>
                                          <p:spTgt spid="22"/>
                                        </p:tgtEl>
                                      </p:cBhvr>
                                      <p:from x="0" y="0"/>
                                      <p:to x="100000" y="100000"/>
                                    </p:animScale>
                                    <p:animEffect transition="in" filter="fade">
                                      <p:cBhvr>
                                        <p:cTn id="71" dur="500"/>
                                        <p:tgtEl>
                                          <p:spTgt spid="22"/>
                                        </p:tgtEl>
                                      </p:cBhvr>
                                    </p:animEffect>
                                  </p:childTnLst>
                                </p:cTn>
                              </p:par>
                              <p:par>
                                <p:cTn id="72" presetID="23" presetClass="entr" presetSubtype="16" fill="hold" grpId="0" nodeType="withEffect">
                                  <p:stCondLst>
                                    <p:cond delay="0"/>
                                  </p:stCondLst>
                                  <p:childTnLst>
                                    <p:set>
                                      <p:cBhvr>
                                        <p:cTn id="73" dur="1" fill="hold">
                                          <p:stCondLst>
                                            <p:cond delay="0"/>
                                          </p:stCondLst>
                                        </p:cTn>
                                        <p:tgtEl>
                                          <p:spTgt spid="23"/>
                                        </p:tgtEl>
                                        <p:attrNameLst>
                                          <p:attrName>style.visibility</p:attrName>
                                        </p:attrNameLst>
                                      </p:cBhvr>
                                      <p:to>
                                        <p:strVal val="visible"/>
                                      </p:to>
                                    </p:set>
                                    <p:animScale>
                                      <p:cBhvr>
                                        <p:cTn id="74" dur="500" fill="hold"/>
                                        <p:tgtEl>
                                          <p:spTgt spid="23"/>
                                        </p:tgtEl>
                                      </p:cBhvr>
                                      <p:from x="0" y="0"/>
                                      <p:to x="100000" y="100000"/>
                                    </p:animScale>
                                    <p:animEffect transition="in" filter="fade">
                                      <p:cBhvr>
                                        <p:cTn id="75"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6241"/>
        </a:solidFill>
      </p:bgPr>
    </p:bg>
    <p:spTree>
      <p:nvGrpSpPr>
        <p:cNvPr id="1" name=""/>
        <p:cNvGrpSpPr/>
        <p:nvPr/>
      </p:nvGrpSpPr>
      <p:grpSpPr>
        <a:xfrm>
          <a:off x="0" y="0"/>
          <a:ext cx="0" cy="0"/>
          <a:chOff x="0" y="0"/>
          <a:chExt cx="0" cy="0"/>
        </a:xfrm>
      </p:grpSpPr>
      <p:sp>
        <p:nvSpPr>
          <p:cNvPr id="2" name="static"/>
          <p:cNvSpPr txBox="1"/>
          <p:nvPr/>
        </p:nvSpPr>
        <p:spPr>
          <a:xfrm>
            <a:off x="609600" y="952500"/>
            <a:ext cx="6377940" cy="171450"/>
          </a:xfrm>
          <a:prstGeom prst="rect">
            <a:avLst/>
          </a:prstGeom>
          <a:noFill/>
          <a:ln/>
        </p:spPr>
        <p:txBody>
          <a:bodyPr wrap="none" lIns="0" tIns="0" rIns="0" bIns="0" rtlCol="0" anchor="ctr"/>
          <a:lstStyle/>
          <a:p>
            <a:pPr algn="l" indent="0" marL="0">
              <a:lnSpc>
                <a:spcPts val="1350"/>
              </a:lnSpc>
              <a:buNone/>
            </a:pPr>
            <a:r>
              <a:rPr lang="en-US" sz="900" b="1" dirty="0">
                <a:solidFill>
                  <a:srgbClr val="D4E9E2"/>
                </a:solidFill>
                <a:latin typeface="Sarabun" pitchFamily="34" charset="0"/>
                <a:ea typeface="Sarabun" pitchFamily="34" charset="-122"/>
                <a:cs typeface="Sarabun" pitchFamily="34" charset="-120"/>
              </a:rPr>
              <a:t>วิชาธุรกิจ MBA · การนำเสนอกลุ่ม</a:t>
            </a:r>
            <a:endParaRPr lang="en-US" sz="900" dirty="0"/>
          </a:p>
        </p:txBody>
      </p:sp>
      <p:sp>
        <p:nvSpPr>
          <p:cNvPr id="3" name="static"/>
          <p:cNvSpPr txBox="1"/>
          <p:nvPr/>
        </p:nvSpPr>
        <p:spPr>
          <a:xfrm>
            <a:off x="609600" y="1219200"/>
            <a:ext cx="6141720" cy="817215"/>
          </a:xfrm>
          <a:prstGeom prst="rect">
            <a:avLst/>
          </a:prstGeom>
          <a:noFill/>
          <a:ln/>
        </p:spPr>
        <p:txBody>
          <a:bodyPr wrap="square" lIns="0" tIns="0" rIns="0" bIns="0" rtlCol="0" anchor="t"/>
          <a:lstStyle/>
          <a:p>
            <a:pPr algn="l" indent="0" marL="0">
              <a:lnSpc>
                <a:spcPts val="3217"/>
              </a:lnSpc>
              <a:buNone/>
            </a:pPr>
            <a:r>
              <a:rPr lang="en-US" sz="2475" b="1" dirty="0">
                <a:solidFill>
                  <a:srgbClr val="F7F5F0"/>
                </a:solidFill>
                <a:latin typeface="Pridi" pitchFamily="34" charset="0"/>
                <a:ea typeface="Pridi" pitchFamily="34" charset="-122"/>
                <a:cs typeface="Pridi" pitchFamily="34" charset="-120"/>
              </a:rPr>
              <a:t>สร้างวัฒนธรรมระดับโลก: มาสเตอร์คลาสการเล่าเรื่องของสตาร์บัคส์</a:t>
            </a:r>
            <a:endParaRPr lang="en-US" sz="2475" dirty="0"/>
          </a:p>
        </p:txBody>
      </p:sp>
      <p:sp>
        <p:nvSpPr>
          <p:cNvPr id="4" name="static"/>
          <p:cNvSpPr txBox="1"/>
          <p:nvPr/>
        </p:nvSpPr>
        <p:spPr>
          <a:xfrm>
            <a:off x="609600" y="2131665"/>
            <a:ext cx="6377940" cy="228600"/>
          </a:xfrm>
          <a:prstGeom prst="rect">
            <a:avLst/>
          </a:prstGeom>
          <a:noFill/>
          <a:ln/>
        </p:spPr>
        <p:txBody>
          <a:bodyPr wrap="none" lIns="0" tIns="0" rIns="0" bIns="0" rtlCol="0" anchor="ctr"/>
          <a:lstStyle/>
          <a:p>
            <a:pPr algn="l" indent="0" marL="0">
              <a:lnSpc>
                <a:spcPts val="1800"/>
              </a:lnSpc>
              <a:buNone/>
            </a:pPr>
            <a:r>
              <a:rPr lang="en-US" sz="1200" dirty="0">
                <a:solidFill>
                  <a:srgbClr val="D4E9E2"/>
                </a:solidFill>
                <a:latin typeface="Sarabun" pitchFamily="34" charset="0"/>
                <a:ea typeface="Sarabun" pitchFamily="34" charset="-122"/>
                <a:cs typeface="Sarabun" pitchFamily="34" charset="-120"/>
              </a:rPr>
              <a:t>เรื่องเล่า ประสบการณ์ และอัตลักษณ์ สร้างอาณาจักรมูลค่าหลายพันล้านดอลลาร์ได้อย่างไร</a:t>
            </a:r>
            <a:endParaRPr lang="en-US" sz="1200" dirty="0"/>
          </a:p>
        </p:txBody>
      </p:sp>
      <p:sp>
        <p:nvSpPr>
          <p:cNvPr id="5" name="b1:pop"/>
          <p:cNvSpPr/>
          <p:nvPr/>
        </p:nvSpPr>
        <p:spPr>
          <a:xfrm>
            <a:off x="7105650" y="419100"/>
            <a:ext cx="1428750" cy="1428750"/>
          </a:xfrm>
          <a:prstGeom prst="roundRect">
            <a:avLst>
              <a:gd name="adj" fmla="val 16667"/>
            </a:avLst>
          </a:prstGeom>
          <a:solidFill>
            <a:srgbClr val="F7F5F0"/>
          </a:solidFill>
          <a:ln/>
          <a:effectLst>
            <a:outerShdw sx="100000" sy="100000" kx="0" ky="0" algn="bl" rotWithShape="0" blurRad="38100" dist="12700" dir="5400000">
              <a:srgbClr val="000000">
                <a:alpha val="12000"/>
              </a:srgbClr>
            </a:outerShdw>
          </a:effectLst>
        </p:spPr>
      </p:sp>
      <p:pic>
        <p:nvPicPr>
          <p:cNvPr id="6" name="b1:pop (Starbucks siren logo)" descr="/home/user/slide-present-en/starbucks-presentation/assets/starbucks-logo.png">    </p:cNvPr>
          <p:cNvPicPr>
            <a:picLocks noChangeAspect="1"/>
          </p:cNvPicPr>
          <p:nvPr/>
        </p:nvPicPr>
        <p:blipFill>
          <a:blip r:embed="rId1"/>
          <a:stretch>
            <a:fillRect/>
          </a:stretch>
        </p:blipFill>
        <p:spPr>
          <a:xfrm>
            <a:off x="7172325" y="485775"/>
            <a:ext cx="1295400" cy="1295400"/>
          </a:xfrm>
          <a:prstGeom prst="rect">
            <a:avLst/>
          </a:prstGeom>
        </p:spPr>
      </p:pic>
      <p:sp>
        <p:nvSpPr>
          <p:cNvPr id="7" name="b2:rise"/>
          <p:cNvSpPr/>
          <p:nvPr/>
        </p:nvSpPr>
        <p:spPr>
          <a:xfrm>
            <a:off x="609600" y="2667000"/>
            <a:ext cx="2538413" cy="1285875"/>
          </a:xfrm>
          <a:prstGeom prst="roundRect">
            <a:avLst>
              <a:gd name="adj" fmla="val 5926"/>
            </a:avLst>
          </a:prstGeom>
          <a:solidFill>
            <a:srgbClr val="FFFFFF"/>
          </a:solidFill>
          <a:ln/>
          <a:effectLst>
            <a:outerShdw sx="100000" sy="100000" kx="0" ky="0" algn="bl" rotWithShape="0" blurRad="38100" dist="12700" dir="5400000">
              <a:srgbClr val="000000">
                <a:alpha val="12000"/>
              </a:srgbClr>
            </a:outerShdw>
          </a:effectLst>
        </p:spPr>
      </p:sp>
      <p:sp>
        <p:nvSpPr>
          <p:cNvPr id="8" name="b2:rise"/>
          <p:cNvSpPr txBox="1"/>
          <p:nvPr/>
        </p:nvSpPr>
        <p:spPr>
          <a:xfrm>
            <a:off x="762000" y="2819400"/>
            <a:ext cx="2412301" cy="319980"/>
          </a:xfrm>
          <a:prstGeom prst="rect">
            <a:avLst/>
          </a:prstGeom>
          <a:noFill/>
          <a:ln/>
        </p:spPr>
        <p:txBody>
          <a:bodyPr wrap="none" lIns="0" tIns="0" rIns="0" bIns="0" rtlCol="0" anchor="ctr"/>
          <a:lstStyle/>
          <a:p>
            <a:pPr algn="l" indent="0" marL="0">
              <a:lnSpc>
                <a:spcPts val="2520"/>
              </a:lnSpc>
              <a:buNone/>
            </a:pPr>
            <a:r>
              <a:rPr lang="en-US" sz="2100" dirty="0">
                <a:solidFill>
                  <a:srgbClr val="F7F5F0"/>
                </a:solidFill>
                <a:latin typeface="Sarabun" pitchFamily="34" charset="0"/>
                <a:ea typeface="Sarabun" pitchFamily="34" charset="-122"/>
                <a:cs typeface="Sarabun" pitchFamily="34" charset="-120"/>
              </a:rPr>
              <a:t>🌿</a:t>
            </a:r>
            <a:endParaRPr lang="en-US" sz="2100" dirty="0"/>
          </a:p>
        </p:txBody>
      </p:sp>
      <p:sp>
        <p:nvSpPr>
          <p:cNvPr id="9" name="b2:rise"/>
          <p:cNvSpPr txBox="1"/>
          <p:nvPr/>
        </p:nvSpPr>
        <p:spPr>
          <a:xfrm>
            <a:off x="762000" y="3187005"/>
            <a:ext cx="2412301"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จุดเริ่มต้น · 1971</a:t>
            </a:r>
            <a:endParaRPr lang="en-US" sz="900" dirty="0"/>
          </a:p>
        </p:txBody>
      </p:sp>
      <p:sp>
        <p:nvSpPr>
          <p:cNvPr id="10" name="b2:rise"/>
          <p:cNvSpPr txBox="1"/>
          <p:nvPr/>
        </p:nvSpPr>
        <p:spPr>
          <a:xfrm>
            <a:off x="762000" y="3406080"/>
            <a:ext cx="2412301"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ตลาดไพก์เพลซ ซีแอตเทิล</a:t>
            </a:r>
            <a:endParaRPr lang="en-US" sz="1275" dirty="0"/>
          </a:p>
        </p:txBody>
      </p:sp>
      <p:sp>
        <p:nvSpPr>
          <p:cNvPr id="11" name="b3:rise"/>
          <p:cNvSpPr/>
          <p:nvPr/>
        </p:nvSpPr>
        <p:spPr>
          <a:xfrm>
            <a:off x="3300413" y="2667000"/>
            <a:ext cx="2538413" cy="1285875"/>
          </a:xfrm>
          <a:prstGeom prst="roundRect">
            <a:avLst>
              <a:gd name="adj" fmla="val 5926"/>
            </a:avLst>
          </a:prstGeom>
          <a:solidFill>
            <a:srgbClr val="FFFFFF"/>
          </a:solidFill>
          <a:ln/>
          <a:effectLst>
            <a:outerShdw sx="100000" sy="100000" kx="0" ky="0" algn="bl" rotWithShape="0" blurRad="38100" dist="12700" dir="5400000">
              <a:srgbClr val="000000">
                <a:alpha val="12000"/>
              </a:srgbClr>
            </a:outerShdw>
          </a:effectLst>
        </p:spPr>
      </p:sp>
      <p:sp>
        <p:nvSpPr>
          <p:cNvPr id="12" name="b3:rise"/>
          <p:cNvSpPr txBox="1"/>
          <p:nvPr/>
        </p:nvSpPr>
        <p:spPr>
          <a:xfrm>
            <a:off x="3452813" y="2819400"/>
            <a:ext cx="2412301" cy="319980"/>
          </a:xfrm>
          <a:prstGeom prst="rect">
            <a:avLst/>
          </a:prstGeom>
          <a:noFill/>
          <a:ln/>
        </p:spPr>
        <p:txBody>
          <a:bodyPr wrap="none" lIns="0" tIns="0" rIns="0" bIns="0" rtlCol="0" anchor="ctr"/>
          <a:lstStyle/>
          <a:p>
            <a:pPr algn="l" indent="0" marL="0">
              <a:lnSpc>
                <a:spcPts val="2520"/>
              </a:lnSpc>
              <a:buNone/>
            </a:pPr>
            <a:r>
              <a:rPr lang="en-US" sz="2100" dirty="0">
                <a:solidFill>
                  <a:srgbClr val="F7F5F0"/>
                </a:solidFill>
                <a:latin typeface="Sarabun" pitchFamily="34" charset="0"/>
                <a:ea typeface="Sarabun" pitchFamily="34" charset="-122"/>
                <a:cs typeface="Sarabun" pitchFamily="34" charset="-120"/>
              </a:rPr>
              <a:t>☕</a:t>
            </a:r>
            <a:endParaRPr lang="en-US" sz="2100" dirty="0"/>
          </a:p>
        </p:txBody>
      </p:sp>
      <p:sp>
        <p:nvSpPr>
          <p:cNvPr id="13" name="b3:rise"/>
          <p:cNvSpPr txBox="1"/>
          <p:nvPr/>
        </p:nvSpPr>
        <p:spPr>
          <a:xfrm>
            <a:off x="3452813" y="3187005"/>
            <a:ext cx="2412301"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ผลิตภัณฑ์</a:t>
            </a:r>
            <a:endParaRPr lang="en-US" sz="900" dirty="0"/>
          </a:p>
        </p:txBody>
      </p:sp>
      <p:sp>
        <p:nvSpPr>
          <p:cNvPr id="14" name="b3:rise"/>
          <p:cNvSpPr txBox="1"/>
          <p:nvPr/>
        </p:nvSpPr>
        <p:spPr>
          <a:xfrm>
            <a:off x="3452813" y="3406080"/>
            <a:ext cx="2412301"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กาแฟเมล็ดคั่วระดับกูร์เมต์</a:t>
            </a:r>
            <a:endParaRPr lang="en-US" sz="1275" dirty="0"/>
          </a:p>
        </p:txBody>
      </p:sp>
      <p:sp>
        <p:nvSpPr>
          <p:cNvPr id="15" name="b4:rise"/>
          <p:cNvSpPr/>
          <p:nvPr/>
        </p:nvSpPr>
        <p:spPr>
          <a:xfrm>
            <a:off x="5991225" y="2667000"/>
            <a:ext cx="2543175" cy="1285875"/>
          </a:xfrm>
          <a:prstGeom prst="roundRect">
            <a:avLst>
              <a:gd name="adj" fmla="val 5926"/>
            </a:avLst>
          </a:prstGeom>
          <a:solidFill>
            <a:srgbClr val="FFFFFF"/>
          </a:solidFill>
          <a:ln/>
          <a:effectLst>
            <a:outerShdw sx="100000" sy="100000" kx="0" ky="0" algn="bl" rotWithShape="0" blurRad="38100" dist="12700" dir="5400000">
              <a:srgbClr val="000000">
                <a:alpha val="12000"/>
              </a:srgbClr>
            </a:outerShdw>
          </a:effectLst>
        </p:spPr>
      </p:sp>
      <p:sp>
        <p:nvSpPr>
          <p:cNvPr id="16" name="b4:rise"/>
          <p:cNvSpPr txBox="1"/>
          <p:nvPr/>
        </p:nvSpPr>
        <p:spPr>
          <a:xfrm>
            <a:off x="6143625" y="2819400"/>
            <a:ext cx="2417445" cy="319980"/>
          </a:xfrm>
          <a:prstGeom prst="rect">
            <a:avLst/>
          </a:prstGeom>
          <a:noFill/>
          <a:ln/>
        </p:spPr>
        <p:txBody>
          <a:bodyPr wrap="none" lIns="0" tIns="0" rIns="0" bIns="0" rtlCol="0" anchor="ctr"/>
          <a:lstStyle/>
          <a:p>
            <a:pPr algn="l" indent="0" marL="0">
              <a:lnSpc>
                <a:spcPts val="2520"/>
              </a:lnSpc>
              <a:buNone/>
            </a:pPr>
            <a:r>
              <a:rPr lang="en-US" sz="2100" dirty="0">
                <a:solidFill>
                  <a:srgbClr val="F7F5F0"/>
                </a:solidFill>
                <a:latin typeface="Sarabun" pitchFamily="34" charset="0"/>
                <a:ea typeface="Sarabun" pitchFamily="34" charset="-122"/>
                <a:cs typeface="Sarabun" pitchFamily="34" charset="-120"/>
              </a:rPr>
              <a:t>🧜‍♀️</a:t>
            </a:r>
            <a:endParaRPr lang="en-US" sz="2100" dirty="0"/>
          </a:p>
        </p:txBody>
      </p:sp>
      <p:sp>
        <p:nvSpPr>
          <p:cNvPr id="17" name="b4:rise"/>
          <p:cNvSpPr txBox="1"/>
          <p:nvPr/>
        </p:nvSpPr>
        <p:spPr>
          <a:xfrm>
            <a:off x="6143625" y="3187005"/>
            <a:ext cx="2417445"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สัญลักษณ์</a:t>
            </a:r>
            <a:endParaRPr lang="en-US" sz="900" dirty="0"/>
          </a:p>
        </p:txBody>
      </p:sp>
      <p:sp>
        <p:nvSpPr>
          <p:cNvPr id="18" name="b4:rise"/>
          <p:cNvSpPr txBox="1"/>
          <p:nvPr/>
        </p:nvSpPr>
        <p:spPr>
          <a:xfrm>
            <a:off x="6143625" y="3406080"/>
            <a:ext cx="2417445"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ไซเรนสองหางจากตำนานนอร์ส</a:t>
            </a:r>
            <a:endParaRPr lang="en-US" sz="1275" dirty="0"/>
          </a:p>
        </p:txBody>
      </p:sp>
      <p:sp>
        <p:nvSpPr>
          <p:cNvPr id="19" name="b5:fade"/>
          <p:cNvSpPr txBox="1"/>
          <p:nvPr/>
        </p:nvSpPr>
        <p:spPr>
          <a:xfrm>
            <a:off x="609600" y="4135041"/>
            <a:ext cx="287634" cy="171450"/>
          </a:xfrm>
          <a:prstGeom prst="rect">
            <a:avLst/>
          </a:prstGeom>
          <a:noFill/>
          <a:ln/>
        </p:spPr>
        <p:txBody>
          <a:bodyPr wrap="none" lIns="0" tIns="0" rIns="0" bIns="0" rtlCol="0" anchor="ctr"/>
          <a:lstStyle/>
          <a:p>
            <a:pPr algn="l" indent="0" marL="0">
              <a:lnSpc>
                <a:spcPts val="1350"/>
              </a:lnSpc>
              <a:buNone/>
            </a:pPr>
            <a:r>
              <a:rPr lang="en-US" sz="900" b="1" dirty="0">
                <a:solidFill>
                  <a:srgbClr val="CBA258"/>
                </a:solidFill>
                <a:latin typeface="Sarabun" pitchFamily="34" charset="0"/>
                <a:ea typeface="Sarabun" pitchFamily="34" charset="-122"/>
                <a:cs typeface="Sarabun" pitchFamily="34" charset="-120"/>
              </a:rPr>
              <a:t>ถัดไป</a:t>
            </a:r>
            <a:endParaRPr lang="en-US" sz="900" dirty="0"/>
          </a:p>
        </p:txBody>
      </p:sp>
      <p:sp>
        <p:nvSpPr>
          <p:cNvPr id="20" name="b5:fade"/>
          <p:cNvSpPr txBox="1"/>
          <p:nvPr/>
        </p:nvSpPr>
        <p:spPr>
          <a:xfrm>
            <a:off x="971178" y="4124325"/>
            <a:ext cx="6296046" cy="192881"/>
          </a:xfrm>
          <a:prstGeom prst="rect">
            <a:avLst/>
          </a:prstGeom>
          <a:noFill/>
          <a:ln/>
        </p:spPr>
        <p:txBody>
          <a:bodyPr wrap="none" lIns="0" tIns="0" rIns="0" bIns="0" rtlCol="0" anchor="ctr"/>
          <a:lstStyle/>
          <a:p>
            <a:pPr algn="l" indent="0" marL="0">
              <a:lnSpc>
                <a:spcPts val="1519"/>
              </a:lnSpc>
              <a:buNone/>
            </a:pPr>
            <a:r>
              <a:rPr lang="en-US" sz="1013" dirty="0">
                <a:solidFill>
                  <a:srgbClr val="F7F5F0"/>
                </a:solidFill>
                <a:latin typeface="Sarabun" pitchFamily="34" charset="0"/>
                <a:ea typeface="Sarabun" pitchFamily="34" charset="-122"/>
                <a:cs typeface="Sarabun" pitchFamily="34" charset="-120"/>
              </a:rPr>
              <a:t>ต่อไป เรามาดูกันว่าทุกอย่างเริ่มต้นที่ไหนในปี </a:t>
            </a:r>
            <a:pPr algn="l" indent="0" marL="0">
              <a:lnSpc>
                <a:spcPts val="1519"/>
              </a:lnSpc>
              <a:buNone/>
            </a:pPr>
            <a:r>
              <a:rPr lang="en-US" sz="1013" b="1" dirty="0">
                <a:solidFill>
                  <a:srgbClr val="CBA258"/>
                </a:solidFill>
                <a:latin typeface="Sarabun" pitchFamily="34" charset="0"/>
                <a:ea typeface="Sarabun" pitchFamily="34" charset="-122"/>
                <a:cs typeface="Sarabun" pitchFamily="34" charset="-120"/>
              </a:rPr>
              <a:t>1971</a:t>
            </a:r>
            <a:pPr algn="l" indent="0" marL="0">
              <a:lnSpc>
                <a:spcPts val="1519"/>
              </a:lnSpc>
              <a:buNone/>
            </a:pPr>
            <a:r>
              <a:rPr lang="en-US" sz="1013" dirty="0">
                <a:solidFill>
                  <a:srgbClr val="F7F5F0"/>
                </a:solidFill>
                <a:latin typeface="Sarabun" pitchFamily="34" charset="0"/>
                <a:ea typeface="Sarabun" pitchFamily="34" charset="-122"/>
                <a:cs typeface="Sarabun" pitchFamily="34" charset="-120"/>
              </a:rPr>
              <a:t>…</a:t>
            </a:r>
            <a:endParaRPr lang="en-US" sz="1013" dirty="0"/>
          </a:p>
        </p:txBody>
      </p:sp>
      <p:sp>
        <p:nvSpPr>
          <p:cNvPr id="21" name="!!tkey1-1"/>
          <p:cNvSpPr/>
          <p:nvPr/>
        </p:nvSpPr>
        <p:spPr>
          <a:xfrm>
            <a:off x="6438900" y="4572000"/>
            <a:ext cx="2095500" cy="266700"/>
          </a:xfrm>
          <a:prstGeom prst="roundRect">
            <a:avLst>
              <a:gd name="adj" fmla="val 50000"/>
            </a:avLst>
          </a:prstGeom>
          <a:solidFill>
            <a:srgbClr val="CBA258"/>
          </a:solidFill>
          <a:ln/>
        </p:spPr>
      </p:sp>
      <p:sp>
        <p:nvSpPr>
          <p:cNvPr id="22" name="!!tkey1-2"/>
          <p:cNvSpPr txBox="1"/>
          <p:nvPr/>
        </p:nvSpPr>
        <p:spPr>
          <a:xfrm>
            <a:off x="6438900" y="45720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1971 · ไพก์เพลซ ซีแอตเทิล</a:t>
            </a:r>
            <a:endParaRPr lang="en-US" sz="900" dirty="0"/>
          </a:p>
        </p:txBody>
      </p:sp>
      <p:sp>
        <p:nvSpPr>
          <p:cNvPr id="23" name="static"/>
          <p:cNvSpPr txBox="1"/>
          <p:nvPr/>
        </p:nvSpPr>
        <p:spPr>
          <a:xfrm>
            <a:off x="609600" y="4667250"/>
            <a:ext cx="2170584" cy="171450"/>
          </a:xfrm>
          <a:prstGeom prst="rect">
            <a:avLst/>
          </a:prstGeom>
          <a:noFill/>
          <a:ln/>
        </p:spPr>
        <p:txBody>
          <a:bodyPr wrap="none" lIns="0" tIns="0" rIns="0" bIns="0" rtlCol="0" anchor="ctr"/>
          <a:lstStyle/>
          <a:p>
            <a:pPr algn="l" indent="0" marL="0">
              <a:lnSpc>
                <a:spcPts val="1350"/>
              </a:lnSpc>
              <a:buNone/>
            </a:pPr>
            <a:r>
              <a:rPr lang="en-US" sz="900" dirty="0">
                <a:solidFill>
                  <a:srgbClr val="D4E9E2"/>
                </a:solidFill>
                <a:latin typeface="Sarabun" pitchFamily="34" charset="0"/>
                <a:ea typeface="Sarabun" pitchFamily="34" charset="-122"/>
                <a:cs typeface="Sarabun" pitchFamily="34" charset="-120"/>
              </a:rPr>
              <a:t>สไลด์ 1 จาก 8 · ตอนที่ 1 · รากฐานและจุดกำเนิด</a:t>
            </a:r>
            <a:endParaRPr lang="en-US" sz="900" dirty="0"/>
          </a:p>
        </p:txBody>
      </p:sp>
      <p:sp>
        <p:nvSpPr>
          <p:cNvPr id="24" name="static"/>
          <p:cNvSpPr/>
          <p:nvPr/>
        </p:nvSpPr>
        <p:spPr>
          <a:xfrm>
            <a:off x="2970684" y="4724400"/>
            <a:ext cx="171450" cy="57150"/>
          </a:xfrm>
          <a:prstGeom prst="roundRect">
            <a:avLst>
              <a:gd name="adj" fmla="val 50000"/>
            </a:avLst>
          </a:prstGeom>
          <a:solidFill>
            <a:srgbClr val="CBA258"/>
          </a:solidFill>
          <a:ln/>
        </p:spPr>
      </p:sp>
      <p:sp>
        <p:nvSpPr>
          <p:cNvPr id="25" name="static"/>
          <p:cNvSpPr/>
          <p:nvPr/>
        </p:nvSpPr>
        <p:spPr>
          <a:xfrm>
            <a:off x="3189759" y="4724400"/>
            <a:ext cx="57150" cy="57150"/>
          </a:xfrm>
          <a:prstGeom prst="roundRect">
            <a:avLst>
              <a:gd name="adj" fmla="val 50000"/>
            </a:avLst>
          </a:prstGeom>
          <a:solidFill>
            <a:srgbClr val="2E7D5F"/>
          </a:solidFill>
          <a:ln/>
        </p:spPr>
      </p:sp>
      <p:sp>
        <p:nvSpPr>
          <p:cNvPr id="26" name="static"/>
          <p:cNvSpPr/>
          <p:nvPr/>
        </p:nvSpPr>
        <p:spPr>
          <a:xfrm>
            <a:off x="3294534" y="4724400"/>
            <a:ext cx="57150" cy="57150"/>
          </a:xfrm>
          <a:prstGeom prst="roundRect">
            <a:avLst>
              <a:gd name="adj" fmla="val 50000"/>
            </a:avLst>
          </a:prstGeom>
          <a:solidFill>
            <a:srgbClr val="2E7D5F"/>
          </a:solidFill>
          <a:ln/>
        </p:spPr>
      </p:sp>
      <p:sp>
        <p:nvSpPr>
          <p:cNvPr id="27" name="static"/>
          <p:cNvSpPr/>
          <p:nvPr/>
        </p:nvSpPr>
        <p:spPr>
          <a:xfrm>
            <a:off x="3399309" y="4724400"/>
            <a:ext cx="57150" cy="57150"/>
          </a:xfrm>
          <a:prstGeom prst="roundRect">
            <a:avLst>
              <a:gd name="adj" fmla="val 50000"/>
            </a:avLst>
          </a:prstGeom>
          <a:solidFill>
            <a:srgbClr val="2E7D5F"/>
          </a:solidFill>
          <a:ln/>
        </p:spPr>
      </p:sp>
      <p:sp>
        <p:nvSpPr>
          <p:cNvPr id="28" name="static"/>
          <p:cNvSpPr/>
          <p:nvPr/>
        </p:nvSpPr>
        <p:spPr>
          <a:xfrm>
            <a:off x="3504084" y="4724400"/>
            <a:ext cx="57150" cy="57150"/>
          </a:xfrm>
          <a:prstGeom prst="roundRect">
            <a:avLst>
              <a:gd name="adj" fmla="val 50000"/>
            </a:avLst>
          </a:prstGeom>
          <a:solidFill>
            <a:srgbClr val="2E7D5F"/>
          </a:solidFill>
          <a:ln/>
        </p:spPr>
      </p:sp>
      <p:sp>
        <p:nvSpPr>
          <p:cNvPr id="29" name="static"/>
          <p:cNvSpPr/>
          <p:nvPr/>
        </p:nvSpPr>
        <p:spPr>
          <a:xfrm>
            <a:off x="3608859" y="4724400"/>
            <a:ext cx="57150" cy="57150"/>
          </a:xfrm>
          <a:prstGeom prst="roundRect">
            <a:avLst>
              <a:gd name="adj" fmla="val 50000"/>
            </a:avLst>
          </a:prstGeom>
          <a:solidFill>
            <a:srgbClr val="2E7D5F"/>
          </a:solidFill>
          <a:ln/>
        </p:spPr>
      </p:sp>
      <p:sp>
        <p:nvSpPr>
          <p:cNvPr id="30" name="static"/>
          <p:cNvSpPr/>
          <p:nvPr/>
        </p:nvSpPr>
        <p:spPr>
          <a:xfrm>
            <a:off x="3713634" y="4724400"/>
            <a:ext cx="57150" cy="57150"/>
          </a:xfrm>
          <a:prstGeom prst="roundRect">
            <a:avLst>
              <a:gd name="adj" fmla="val 50000"/>
            </a:avLst>
          </a:prstGeom>
          <a:solidFill>
            <a:srgbClr val="2E7D5F"/>
          </a:solidFill>
          <a:ln/>
        </p:spPr>
      </p:sp>
      <p:sp>
        <p:nvSpPr>
          <p:cNvPr id="31" name="static"/>
          <p:cNvSpPr/>
          <p:nvPr/>
        </p:nvSpPr>
        <p:spPr>
          <a:xfrm>
            <a:off x="3818409" y="4724400"/>
            <a:ext cx="57150" cy="57150"/>
          </a:xfrm>
          <a:prstGeom prst="roundRect">
            <a:avLst>
              <a:gd name="adj" fmla="val 50000"/>
            </a:avLst>
          </a:prstGeom>
          <a:solidFill>
            <a:srgbClr val="2E7D5F"/>
          </a:solidFill>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11" fill="hold">
                      <p:stCondLst>
                        <p:cond delay="indefinite"/>
                      </p:stCondLst>
                      <p:childTnLst>
                        <p:par>
                          <p:cTn id="12" fill="hold">
                            <p:stCondLst>
                              <p:cond delay="0"/>
                            </p:stCondLst>
                            <p:childTnLst>
                              <p:par>
                                <p:cTn id="3" presetID="23" presetClass="entr" presetSubtype="16"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Scale>
                                      <p:cBhvr>
                                        <p:cTn id="5" dur="500" fill="hold"/>
                                        <p:tgtEl>
                                          <p:spTgt spid="5"/>
                                        </p:tgtEl>
                                      </p:cBhvr>
                                      <p:from x="0" y="0"/>
                                      <p:to x="100000" y="100000"/>
                                    </p:animScale>
                                    <p:animEffect transition="in" filter="fade">
                                      <p:cBhvr>
                                        <p:cTn id="6" dur="500"/>
                                        <p:tgtEl>
                                          <p:spTgt spid="5"/>
                                        </p:tgtEl>
                                      </p:cBhvr>
                                    </p:animEffect>
                                  </p:childTnLst>
                                </p:cTn>
                              </p:par>
                              <p:par>
                                <p:cTn id="7" presetID="23" presetClass="entr" presetSubtype="16"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animScale>
                                      <p:cBhvr>
                                        <p:cTn id="9" dur="500" fill="hold"/>
                                        <p:tgtEl>
                                          <p:spTgt spid="6"/>
                                        </p:tgtEl>
                                      </p:cBhvr>
                                      <p:from x="0" y="0"/>
                                      <p:to x="100000" y="100000"/>
                                    </p:animScale>
                                    <p:animEffect transition="in" filter="fade">
                                      <p:cBhvr>
                                        <p:cTn id="10" dur="500"/>
                                        <p:tgtEl>
                                          <p:spTgt spid="6"/>
                                        </p:tgtEl>
                                      </p:cBhvr>
                                    </p:animEffect>
                                  </p:childTnLst>
                                </p:cTn>
                              </p:par>
                            </p:childTnLst>
                          </p:cTn>
                        </p:par>
                      </p:childTnLst>
                    </p:cTn>
                  </p:par>
                  <p:par>
                    <p:cTn id="29" fill="hold">
                      <p:stCondLst>
                        <p:cond delay="indefinite"/>
                      </p:stCondLst>
                      <p:childTnLst>
                        <p:par>
                          <p:cTn id="30" fill="hold">
                            <p:stCondLst>
                              <p:cond delay="0"/>
                            </p:stCondLst>
                            <p:childTnLst>
                              <p:par>
                                <p:cTn id="13" presetID="42"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700"/>
                                        <p:tgtEl>
                                          <p:spTgt spid="7"/>
                                        </p:tgtEl>
                                      </p:cBhvr>
                                    </p:animEffect>
                                    <p:anim calcmode="lin" valueType="num">
                                      <p:cBhvr additive="base">
                                        <p:cTn id="16" dur="700" fill="hold"/>
                                        <p:tgtEl>
                                          <p:spTgt spid="7"/>
                                        </p:tgtEl>
                                        <p:attrNameLst>
                                          <p:attrName>ppt_y</p:attrName>
                                        </p:attrNameLst>
                                      </p:cBhvr>
                                      <p:tavLst>
                                        <p:tav tm="0">
                                          <p:val>
                                            <p:strVal val="#ppt_y+.0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700" fill="hold"/>
                                        <p:tgtEl>
                                          <p:spTgt spid="8"/>
                                        </p:tgtEl>
                                        <p:attrNameLst>
                                          <p:attrName>ppt_y</p:attrName>
                                        </p:attrNameLst>
                                      </p:cBhvr>
                                      <p:tavLst>
                                        <p:tav tm="0">
                                          <p:val>
                                            <p:strVal val="#ppt_y+.08"/>
                                          </p:val>
                                        </p:tav>
                                        <p:tav tm="100000">
                                          <p:val>
                                            <p:strVal val="#ppt_y"/>
                                          </p:val>
                                        </p:tav>
                                      </p:tavLst>
                                    </p:anim>
                                  </p:childTnLst>
                                </p:cTn>
                              </p:par>
                              <p:par>
                                <p:cTn id="21" presetID="42"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700"/>
                                        <p:tgtEl>
                                          <p:spTgt spid="9"/>
                                        </p:tgtEl>
                                      </p:cBhvr>
                                    </p:animEffect>
                                    <p:anim calcmode="lin" valueType="num">
                                      <p:cBhvr additive="base">
                                        <p:cTn id="24" dur="700" fill="hold"/>
                                        <p:tgtEl>
                                          <p:spTgt spid="9"/>
                                        </p:tgtEl>
                                        <p:attrNameLst>
                                          <p:attrName>ppt_y</p:attrName>
                                        </p:attrNameLst>
                                      </p:cBhvr>
                                      <p:tavLst>
                                        <p:tav tm="0">
                                          <p:val>
                                            <p:strVal val="#ppt_y+.08"/>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8"/>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8"/>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49" presetID="42" presetClass="entr" presetSubtype="0" fill="hold" grpId="0" nodeType="click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700"/>
                                        <p:tgtEl>
                                          <p:spTgt spid="15"/>
                                        </p:tgtEl>
                                      </p:cBhvr>
                                    </p:animEffect>
                                    <p:anim calcmode="lin" valueType="num">
                                      <p:cBhvr additive="base">
                                        <p:cTn id="52" dur="700" fill="hold"/>
                                        <p:tgtEl>
                                          <p:spTgt spid="15"/>
                                        </p:tgtEl>
                                        <p:attrNameLst>
                                          <p:attrName>ppt_y</p:attrName>
                                        </p:attrNameLst>
                                      </p:cBhvr>
                                      <p:tavLst>
                                        <p:tav tm="0">
                                          <p:val>
                                            <p:strVal val="#ppt_y+.08"/>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700"/>
                                        <p:tgtEl>
                                          <p:spTgt spid="16"/>
                                        </p:tgtEl>
                                      </p:cBhvr>
                                    </p:animEffect>
                                    <p:anim calcmode="lin" valueType="num">
                                      <p:cBhvr additive="base">
                                        <p:cTn id="56" dur="700" fill="hold"/>
                                        <p:tgtEl>
                                          <p:spTgt spid="16"/>
                                        </p:tgtEl>
                                        <p:attrNameLst>
                                          <p:attrName>ppt_y</p:attrName>
                                        </p:attrNameLst>
                                      </p:cBhvr>
                                      <p:tavLst>
                                        <p:tav tm="0">
                                          <p:val>
                                            <p:strVal val="#ppt_y+.08"/>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700"/>
                                        <p:tgtEl>
                                          <p:spTgt spid="17"/>
                                        </p:tgtEl>
                                      </p:cBhvr>
                                    </p:animEffect>
                                    <p:anim calcmode="lin" valueType="num">
                                      <p:cBhvr additive="base">
                                        <p:cTn id="60" dur="700" fill="hold"/>
                                        <p:tgtEl>
                                          <p:spTgt spid="17"/>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700"/>
                                        <p:tgtEl>
                                          <p:spTgt spid="18"/>
                                        </p:tgtEl>
                                      </p:cBhvr>
                                    </p:animEffect>
                                    <p:anim calcmode="lin" valueType="num">
                                      <p:cBhvr additive="base">
                                        <p:cTn id="64" dur="700" fill="hold"/>
                                        <p:tgtEl>
                                          <p:spTgt spid="18"/>
                                        </p:tgtEl>
                                        <p:attrNameLst>
                                          <p:attrName>ppt_y</p:attrName>
                                        </p:attrNameLst>
                                      </p:cBhvr>
                                      <p:tavLst>
                                        <p:tav tm="0">
                                          <p:val>
                                            <p:strVal val="#ppt_y+.08"/>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19"/>
                                        </p:tgtEl>
                                        <p:attrNameLst>
                                          <p:attrName>style.visibility</p:attrName>
                                        </p:attrNameLst>
                                      </p:cBhvr>
                                      <p:to>
                                        <p:strVal val="visible"/>
                                      </p:to>
                                    </p:set>
                                    <p:animEffect transition="in" filter="fade">
                                      <p:cBhvr>
                                        <p:cTn id="69" dur="500"/>
                                        <p:tgtEl>
                                          <p:spTgt spid="1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0"/>
                                        </p:tgtEl>
                                        <p:attrNameLst>
                                          <p:attrName>style.visibility</p:attrName>
                                        </p:attrNameLst>
                                      </p:cBhvr>
                                      <p:to>
                                        <p:strVal val="visible"/>
                                      </p:to>
                                    </p:set>
                                    <p:animEffect transition="in" filter="fade">
                                      <p:cBhvr>
                                        <p:cTn id="72" dur="500"/>
                                        <p:tgtEl>
                                          <p:spTgt spid="20"/>
                                        </p:tgtEl>
                                      </p:cBhvr>
                                    </p:animEffect>
                                  </p:childTnLst>
                                </p:cTn>
                              </p:par>
                            </p:childTnLst>
                          </p:cTn>
                        </p:par>
                      </p:childTnLst>
                    </p:cTn>
                  </p:par>
                  <p:par>
                    <p:cTn id="83" fill="hold">
                      <p:stCondLst>
                        <p:cond delay="indefinite"/>
                      </p:stCondLst>
                      <p:childTnLst>
                        <p:par>
                          <p:cTn id="84" fill="hold">
                            <p:stCondLst>
                              <p:cond delay="0"/>
                            </p:stCondLst>
                            <p:childTnLst>
                              <p:par>
                                <p:cTn id="75" presetID="23" presetClass="entr" presetSubtype="16" fill="hold" grpId="0" nodeType="clickEffect">
                                  <p:stCondLst>
                                    <p:cond delay="0"/>
                                  </p:stCondLst>
                                  <p:childTnLst>
                                    <p:set>
                                      <p:cBhvr>
                                        <p:cTn id="76" dur="1" fill="hold">
                                          <p:stCondLst>
                                            <p:cond delay="0"/>
                                          </p:stCondLst>
                                        </p:cTn>
                                        <p:tgtEl>
                                          <p:spTgt spid="21"/>
                                        </p:tgtEl>
                                        <p:attrNameLst>
                                          <p:attrName>style.visibility</p:attrName>
                                        </p:attrNameLst>
                                      </p:cBhvr>
                                      <p:to>
                                        <p:strVal val="visible"/>
                                      </p:to>
                                    </p:set>
                                    <p:animScale>
                                      <p:cBhvr>
                                        <p:cTn id="77" dur="500" fill="hold"/>
                                        <p:tgtEl>
                                          <p:spTgt spid="21"/>
                                        </p:tgtEl>
                                      </p:cBhvr>
                                      <p:from x="0" y="0"/>
                                      <p:to x="100000" y="100000"/>
                                    </p:animScale>
                                    <p:animEffect transition="in" filter="fade">
                                      <p:cBhvr>
                                        <p:cTn id="78" dur="500"/>
                                        <p:tgtEl>
                                          <p:spTgt spid="21"/>
                                        </p:tgtEl>
                                      </p:cBhvr>
                                    </p:animEffect>
                                  </p:childTnLst>
                                </p:cTn>
                              </p:par>
                              <p:par>
                                <p:cTn id="79" presetID="23" presetClass="entr" presetSubtype="16" fill="hold" grpId="0" nodeType="withEffect">
                                  <p:stCondLst>
                                    <p:cond delay="0"/>
                                  </p:stCondLst>
                                  <p:childTnLst>
                                    <p:set>
                                      <p:cBhvr>
                                        <p:cTn id="80" dur="1" fill="hold">
                                          <p:stCondLst>
                                            <p:cond delay="0"/>
                                          </p:stCondLst>
                                        </p:cTn>
                                        <p:tgtEl>
                                          <p:spTgt spid="22"/>
                                        </p:tgtEl>
                                        <p:attrNameLst>
                                          <p:attrName>style.visibility</p:attrName>
                                        </p:attrNameLst>
                                      </p:cBhvr>
                                      <p:to>
                                        <p:strVal val="visible"/>
                                      </p:to>
                                    </p:set>
                                    <p:animScale>
                                      <p:cBhvr>
                                        <p:cTn id="81" dur="500" fill="hold"/>
                                        <p:tgtEl>
                                          <p:spTgt spid="22"/>
                                        </p:tgtEl>
                                      </p:cBhvr>
                                      <p:from x="0" y="0"/>
                                      <p:to x="100000" y="100000"/>
                                    </p:animScale>
                                    <p:animEffect transition="in" filter="fade">
                                      <p:cBhvr>
                                        <p:cTn id="8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59048"/>
          </a:xfrm>
          <a:prstGeom prst="rect">
            <a:avLst/>
          </a:prstGeom>
          <a:noFill/>
          <a:ln/>
        </p:spPr>
        <p:txBody>
          <a:bodyPr wrap="none" lIns="0" tIns="0" rIns="0" bIns="0" rtlCol="0" anchor="ctr"/>
          <a:lstStyle/>
          <a:p>
            <a:pPr algn="l" indent="0" marL="0">
              <a:lnSpc>
                <a:spcPts val="2828"/>
              </a:lnSpc>
              <a:buNone/>
            </a:pPr>
            <a:r>
              <a:rPr lang="en-US" sz="2175" b="1" dirty="0">
                <a:solidFill>
                  <a:srgbClr val="191919"/>
                </a:solidFill>
                <a:latin typeface="Pridi" pitchFamily="34" charset="0"/>
                <a:ea typeface="Pridi" pitchFamily="34" charset="-122"/>
                <a:cs typeface="Pridi" pitchFamily="34" charset="-120"/>
              </a:rPr>
              <a:t>บทที่ 1: เมล็ดกาแฟและรากเหง้าในซีแอตเทิล</a:t>
            </a:r>
            <a:endParaRPr lang="en-US" sz="2175" dirty="0"/>
          </a:p>
        </p:txBody>
      </p:sp>
      <p:sp>
        <p:nvSpPr>
          <p:cNvPr id="3" name="static"/>
          <p:cNvSpPr txBox="1"/>
          <p:nvPr/>
        </p:nvSpPr>
        <p:spPr>
          <a:xfrm>
            <a:off x="609600" y="1235348"/>
            <a:ext cx="6686550" cy="228600"/>
          </a:xfrm>
          <a:prstGeom prst="rect">
            <a:avLst/>
          </a:prstGeom>
          <a:noFill/>
          <a:ln/>
        </p:spPr>
        <p:txBody>
          <a:bodyPr wrap="none" lIns="0" tIns="0" rIns="0" bIns="0" rtlCol="0" anchor="ctr"/>
          <a:lstStyle/>
          <a:p>
            <a:pPr algn="l" indent="0" marL="0">
              <a:lnSpc>
                <a:spcPts val="1800"/>
              </a:lnSpc>
              <a:buNone/>
            </a:pPr>
            <a:r>
              <a:rPr lang="en-US" sz="1200" dirty="0">
                <a:solidFill>
                  <a:srgbClr val="3A3A36"/>
                </a:solidFill>
                <a:latin typeface="Sarabun" pitchFamily="34" charset="0"/>
                <a:ea typeface="Sarabun" pitchFamily="34" charset="-122"/>
                <a:cs typeface="Sarabun" pitchFamily="34" charset="-120"/>
              </a:rPr>
              <a:t>ก่อนยุคลาเต้: ร้านค้าปลีกเมล็ดกาแฟและเครื่องเทศระดับไฮเอนด์</a:t>
            </a:r>
            <a:endParaRPr lang="en-US" sz="1200" dirty="0"/>
          </a:p>
        </p:txBody>
      </p:sp>
      <p:sp>
        <p:nvSpPr>
          <p:cNvPr id="4" name="static"/>
          <p:cNvSpPr txBox="1"/>
          <p:nvPr/>
        </p:nvSpPr>
        <p:spPr>
          <a:xfrm>
            <a:off x="609600" y="457200"/>
            <a:ext cx="4114800"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ตอนที่ 1 · รากฐานและจุดกำเนิด</a:t>
            </a:r>
            <a:endParaRPr lang="en-US" sz="900" dirty="0"/>
          </a:p>
        </p:txBody>
      </p:sp>
      <p:sp>
        <p:nvSpPr>
          <p:cNvPr id="5" name="!!tkey1-1"/>
          <p:cNvSpPr/>
          <p:nvPr/>
        </p:nvSpPr>
        <p:spPr>
          <a:xfrm>
            <a:off x="6438900" y="419100"/>
            <a:ext cx="2095500" cy="266700"/>
          </a:xfrm>
          <a:prstGeom prst="roundRect">
            <a:avLst>
              <a:gd name="adj" fmla="val 50000"/>
            </a:avLst>
          </a:prstGeom>
          <a:solidFill>
            <a:srgbClr val="CBA258"/>
          </a:solidFill>
          <a:ln/>
        </p:spPr>
      </p:sp>
      <p:sp>
        <p:nvSpPr>
          <p:cNvPr id="6" name="!!tkey1-2"/>
          <p:cNvSpPr txBox="1"/>
          <p:nvPr/>
        </p:nvSpPr>
        <p:spPr>
          <a:xfrm>
            <a:off x="6438900" y="4191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1971 · ไพก์เพลซ ซีแอตเทิล</a:t>
            </a:r>
            <a:endParaRPr lang="en-US" sz="900" dirty="0"/>
          </a:p>
        </p:txBody>
      </p:sp>
      <p:sp>
        <p:nvSpPr>
          <p:cNvPr id="7" name="b1:rise"/>
          <p:cNvSpPr/>
          <p:nvPr/>
        </p:nvSpPr>
        <p:spPr>
          <a:xfrm>
            <a:off x="609600" y="1676400"/>
            <a:ext cx="3848100" cy="1952625"/>
          </a:xfrm>
          <a:prstGeom prst="roundRect">
            <a:avLst>
              <a:gd name="adj" fmla="val 3902"/>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8" name="b1:rise"/>
          <p:cNvSpPr/>
          <p:nvPr/>
        </p:nvSpPr>
        <p:spPr>
          <a:xfrm>
            <a:off x="804862" y="1871663"/>
            <a:ext cx="266700" cy="266700"/>
          </a:xfrm>
          <a:prstGeom prst="roundRect">
            <a:avLst>
              <a:gd name="adj" fmla="val 21429"/>
            </a:avLst>
          </a:prstGeom>
          <a:solidFill>
            <a:srgbClr val="D4E9E2"/>
          </a:solidFill>
          <a:ln/>
        </p:spPr>
      </p:sp>
      <p:pic>
        <p:nvPicPr>
          <p:cNvPr id="9" name="b1:rise icon Users" descr="preencoded.png">    </p:cNvPr>
          <p:cNvPicPr>
            <a:picLocks noChangeAspect="1"/>
          </p:cNvPicPr>
          <p:nvPr/>
        </p:nvPicPr>
        <p:blipFill>
          <a:blip r:embed="rId1"/>
          <a:stretch>
            <a:fillRect/>
          </a:stretch>
        </p:blipFill>
        <p:spPr>
          <a:xfrm>
            <a:off x="866775" y="1933575"/>
            <a:ext cx="142875" cy="142875"/>
          </a:xfrm>
          <a:prstGeom prst="rect">
            <a:avLst/>
          </a:prstGeom>
        </p:spPr>
      </p:pic>
      <p:sp>
        <p:nvSpPr>
          <p:cNvPr id="10" name="b1:rise"/>
          <p:cNvSpPr txBox="1"/>
          <p:nvPr/>
        </p:nvSpPr>
        <p:spPr>
          <a:xfrm>
            <a:off x="1147763" y="1919287"/>
            <a:ext cx="970514"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ผู้ก่อตั้งและพันธกิจ</a:t>
            </a:r>
            <a:endParaRPr lang="en-US" sz="900" dirty="0"/>
          </a:p>
        </p:txBody>
      </p:sp>
      <p:sp>
        <p:nvSpPr>
          <p:cNvPr id="11" name="b1:rise"/>
          <p:cNvSpPr txBox="1"/>
          <p:nvPr/>
        </p:nvSpPr>
        <p:spPr>
          <a:xfrm>
            <a:off x="804862" y="2233612"/>
            <a:ext cx="3734181" cy="171450"/>
          </a:xfrm>
          <a:prstGeom prst="rect">
            <a:avLst/>
          </a:prstGeom>
          <a:noFill/>
          <a:ln/>
        </p:spPr>
        <p:txBody>
          <a:bodyPr wrap="none" lIns="0" tIns="0" rIns="0" bIns="0" rtlCol="0" anchor="ctr"/>
          <a:lstStyle/>
          <a:p>
            <a:pPr algn="l" indent="0" marL="0">
              <a:lnSpc>
                <a:spcPts val="1350"/>
              </a:lnSpc>
              <a:buNone/>
            </a:pPr>
            <a:r>
              <a:rPr lang="en-US" sz="900" dirty="0">
                <a:solidFill>
                  <a:srgbClr val="6B6A63"/>
                </a:solidFill>
                <a:latin typeface="Sarabun" pitchFamily="34" charset="0"/>
                <a:ea typeface="Sarabun" pitchFamily="34" charset="-122"/>
                <a:cs typeface="Sarabun" pitchFamily="34" charset="-120"/>
              </a:rPr>
              <a:t>ก่อตั้งโดย</a:t>
            </a:r>
            <a:endParaRPr lang="en-US" sz="900" dirty="0"/>
          </a:p>
        </p:txBody>
      </p:sp>
      <p:sp>
        <p:nvSpPr>
          <p:cNvPr id="12" name="b1:rise"/>
          <p:cNvSpPr/>
          <p:nvPr/>
        </p:nvSpPr>
        <p:spPr>
          <a:xfrm>
            <a:off x="804862" y="2443163"/>
            <a:ext cx="965597" cy="272355"/>
          </a:xfrm>
          <a:prstGeom prst="roundRect">
            <a:avLst>
              <a:gd name="adj" fmla="val 50000"/>
            </a:avLst>
          </a:prstGeom>
          <a:solidFill>
            <a:srgbClr val="F7F5F0"/>
          </a:solidFill>
          <a:ln w="6350">
            <a:solidFill>
              <a:srgbClr val="E6E2D6"/>
            </a:solidFill>
            <a:prstDash val="solid"/>
          </a:ln>
        </p:spPr>
      </p:sp>
      <p:sp>
        <p:nvSpPr>
          <p:cNvPr id="13" name="b1:rise"/>
          <p:cNvSpPr txBox="1"/>
          <p:nvPr/>
        </p:nvSpPr>
        <p:spPr>
          <a:xfrm>
            <a:off x="804862" y="2443163"/>
            <a:ext cx="1042845" cy="272355"/>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Sarabun" pitchFamily="34" charset="0"/>
                <a:ea typeface="Sarabun" pitchFamily="34" charset="-122"/>
                <a:cs typeface="Sarabun" pitchFamily="34" charset="-120"/>
              </a:rPr>
              <a:t>Jerry Baldwin</a:t>
            </a:r>
            <a:endParaRPr lang="en-US" sz="1050" dirty="0"/>
          </a:p>
        </p:txBody>
      </p:sp>
      <p:sp>
        <p:nvSpPr>
          <p:cNvPr id="14" name="b1:rise"/>
          <p:cNvSpPr/>
          <p:nvPr/>
        </p:nvSpPr>
        <p:spPr>
          <a:xfrm>
            <a:off x="1827609" y="2443163"/>
            <a:ext cx="717575" cy="272355"/>
          </a:xfrm>
          <a:prstGeom prst="roundRect">
            <a:avLst>
              <a:gd name="adj" fmla="val 50000"/>
            </a:avLst>
          </a:prstGeom>
          <a:solidFill>
            <a:srgbClr val="F7F5F0"/>
          </a:solidFill>
          <a:ln w="6350">
            <a:solidFill>
              <a:srgbClr val="E6E2D6"/>
            </a:solidFill>
            <a:prstDash val="solid"/>
          </a:ln>
        </p:spPr>
      </p:sp>
      <p:sp>
        <p:nvSpPr>
          <p:cNvPr id="15" name="b1:rise"/>
          <p:cNvSpPr txBox="1"/>
          <p:nvPr/>
        </p:nvSpPr>
        <p:spPr>
          <a:xfrm>
            <a:off x="1827609" y="2443163"/>
            <a:ext cx="774981" cy="272355"/>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Sarabun" pitchFamily="34" charset="0"/>
                <a:ea typeface="Sarabun" pitchFamily="34" charset="-122"/>
                <a:cs typeface="Sarabun" pitchFamily="34" charset="-120"/>
              </a:rPr>
              <a:t>Zev Siegl</a:t>
            </a:r>
            <a:endParaRPr lang="en-US" sz="1050" dirty="0"/>
          </a:p>
        </p:txBody>
      </p:sp>
      <p:sp>
        <p:nvSpPr>
          <p:cNvPr id="16" name="b1:rise"/>
          <p:cNvSpPr/>
          <p:nvPr/>
        </p:nvSpPr>
        <p:spPr>
          <a:xfrm>
            <a:off x="2602334" y="2443163"/>
            <a:ext cx="1077888" cy="272355"/>
          </a:xfrm>
          <a:prstGeom prst="roundRect">
            <a:avLst>
              <a:gd name="adj" fmla="val 50000"/>
            </a:avLst>
          </a:prstGeom>
          <a:solidFill>
            <a:srgbClr val="F7F5F0"/>
          </a:solidFill>
          <a:ln w="6350">
            <a:solidFill>
              <a:srgbClr val="E6E2D6"/>
            </a:solidFill>
            <a:prstDash val="solid"/>
          </a:ln>
        </p:spPr>
      </p:sp>
      <p:sp>
        <p:nvSpPr>
          <p:cNvPr id="17" name="b1:rise"/>
          <p:cNvSpPr txBox="1"/>
          <p:nvPr/>
        </p:nvSpPr>
        <p:spPr>
          <a:xfrm>
            <a:off x="2602334" y="2443163"/>
            <a:ext cx="1164119" cy="272355"/>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Sarabun" pitchFamily="34" charset="0"/>
                <a:ea typeface="Sarabun" pitchFamily="34" charset="-122"/>
                <a:cs typeface="Sarabun" pitchFamily="34" charset="-120"/>
              </a:rPr>
              <a:t>Gordon Bowker</a:t>
            </a:r>
            <a:endParaRPr lang="en-US" sz="1050" dirty="0"/>
          </a:p>
        </p:txBody>
      </p:sp>
      <p:sp>
        <p:nvSpPr>
          <p:cNvPr id="18" name="b1:rise"/>
          <p:cNvSpPr txBox="1"/>
          <p:nvPr/>
        </p:nvSpPr>
        <p:spPr>
          <a:xfrm>
            <a:off x="804862" y="2810768"/>
            <a:ext cx="3734181" cy="171450"/>
          </a:xfrm>
          <a:prstGeom prst="rect">
            <a:avLst/>
          </a:prstGeom>
          <a:noFill/>
          <a:ln/>
        </p:spPr>
        <p:txBody>
          <a:bodyPr wrap="none" lIns="0" tIns="0" rIns="0" bIns="0" rtlCol="0" anchor="ctr"/>
          <a:lstStyle/>
          <a:p>
            <a:pPr algn="l" indent="0" marL="0">
              <a:lnSpc>
                <a:spcPts val="1350"/>
              </a:lnSpc>
              <a:buNone/>
            </a:pPr>
            <a:r>
              <a:rPr lang="en-US" sz="900" dirty="0">
                <a:solidFill>
                  <a:srgbClr val="6B6A63"/>
                </a:solidFill>
                <a:latin typeface="Sarabun" pitchFamily="34" charset="0"/>
                <a:ea typeface="Sarabun" pitchFamily="34" charset="-122"/>
                <a:cs typeface="Sarabun" pitchFamily="34" charset="-120"/>
              </a:rPr>
              <a:t>พันธกิจ</a:t>
            </a:r>
            <a:endParaRPr lang="en-US" sz="900" dirty="0"/>
          </a:p>
        </p:txBody>
      </p:sp>
      <p:sp>
        <p:nvSpPr>
          <p:cNvPr id="19" name="b1:rise"/>
          <p:cNvSpPr txBox="1"/>
          <p:nvPr/>
        </p:nvSpPr>
        <p:spPr>
          <a:xfrm>
            <a:off x="804862" y="3020318"/>
            <a:ext cx="3734181" cy="199281"/>
          </a:xfrm>
          <a:prstGeom prst="rect">
            <a:avLst/>
          </a:prstGeom>
          <a:noFill/>
          <a:ln/>
        </p:spPr>
        <p:txBody>
          <a:bodyPr wrap="none" lIns="0" tIns="0" rIns="0" bIns="0" rtlCol="0" anchor="ctr"/>
          <a:lstStyle/>
          <a:p>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สอนให้คนอเมริกันชงกาแฟ</a:t>
            </a:r>
            <a:pPr algn="l" indent="0" marL="0">
              <a:lnSpc>
                <a:spcPts val="1569"/>
              </a:lnSpc>
              <a:buNone/>
            </a:pPr>
            <a:r>
              <a:rPr lang="en-US" sz="1013" b="1" dirty="0">
                <a:solidFill>
                  <a:srgbClr val="3A3A36"/>
                </a:solidFill>
                <a:latin typeface="Sarabun" pitchFamily="34" charset="0"/>
                <a:ea typeface="Sarabun" pitchFamily="34" charset="-122"/>
                <a:cs typeface="Sarabun" pitchFamily="34" charset="-120"/>
              </a:rPr>
              <a:t>คั่วเข้ม</a:t>
            </a:r>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ชั้นดีได้เองที่บ้าน</a:t>
            </a:r>
            <a:endParaRPr lang="en-US" sz="1013" dirty="0"/>
          </a:p>
        </p:txBody>
      </p:sp>
      <p:sp>
        <p:nvSpPr>
          <p:cNvPr id="20" name="b2:rise"/>
          <p:cNvSpPr/>
          <p:nvPr/>
        </p:nvSpPr>
        <p:spPr>
          <a:xfrm>
            <a:off x="4686300" y="1676400"/>
            <a:ext cx="3848100" cy="1952625"/>
          </a:xfrm>
          <a:prstGeom prst="roundRect">
            <a:avLst>
              <a:gd name="adj" fmla="val 3902"/>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1" name="b2:rise"/>
          <p:cNvSpPr txBox="1"/>
          <p:nvPr/>
        </p:nvSpPr>
        <p:spPr>
          <a:xfrm>
            <a:off x="4881562" y="1871663"/>
            <a:ext cx="2355723"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ตำนานไซเรน</a:t>
            </a:r>
            <a:endParaRPr lang="en-US" sz="900" dirty="0"/>
          </a:p>
        </p:txBody>
      </p:sp>
      <p:sp>
        <p:nvSpPr>
          <p:cNvPr id="22" name="b2:rise"/>
          <p:cNvSpPr txBox="1"/>
          <p:nvPr/>
        </p:nvSpPr>
        <p:spPr>
          <a:xfrm>
            <a:off x="4881562" y="2138363"/>
            <a:ext cx="2355723" cy="171450"/>
          </a:xfrm>
          <a:prstGeom prst="rect">
            <a:avLst/>
          </a:prstGeom>
          <a:noFill/>
          <a:ln/>
        </p:spPr>
        <p:txBody>
          <a:bodyPr wrap="none" lIns="0" tIns="0" rIns="0" bIns="0" rtlCol="0" anchor="ctr"/>
          <a:lstStyle/>
          <a:p>
            <a:pPr algn="l" indent="0" marL="0">
              <a:lnSpc>
                <a:spcPts val="1350"/>
              </a:lnSpc>
              <a:buNone/>
            </a:pPr>
            <a:r>
              <a:rPr lang="en-US" sz="900" dirty="0">
                <a:solidFill>
                  <a:srgbClr val="6B6A63"/>
                </a:solidFill>
                <a:latin typeface="Sarabun" pitchFamily="34" charset="0"/>
                <a:ea typeface="Sarabun" pitchFamily="34" charset="-122"/>
                <a:cs typeface="Sarabun" pitchFamily="34" charset="-120"/>
              </a:rPr>
              <a:t>แรงบันดาลใจจาก</a:t>
            </a:r>
            <a:endParaRPr lang="en-US" sz="900" dirty="0"/>
          </a:p>
        </p:txBody>
      </p:sp>
      <p:sp>
        <p:nvSpPr>
          <p:cNvPr id="23" name="b2:rise"/>
          <p:cNvSpPr txBox="1"/>
          <p:nvPr/>
        </p:nvSpPr>
        <p:spPr>
          <a:xfrm>
            <a:off x="4881562" y="2347912"/>
            <a:ext cx="2268474" cy="426690"/>
          </a:xfrm>
          <a:prstGeom prst="rect">
            <a:avLst/>
          </a:prstGeom>
          <a:noFill/>
          <a:ln/>
        </p:spPr>
        <p:txBody>
          <a:bodyPr wrap="square" lIns="0" tIns="0" rIns="0" bIns="0" rtlCol="0" anchor="t"/>
          <a:lstStyle/>
          <a:p>
            <a:pPr algn="l" indent="0" marL="0">
              <a:lnSpc>
                <a:spcPts val="1680"/>
              </a:lnSpc>
              <a:buNone/>
            </a:pPr>
            <a:r>
              <a:rPr lang="en-US" sz="1200" b="1" dirty="0">
                <a:solidFill>
                  <a:srgbClr val="191919"/>
                </a:solidFill>
                <a:latin typeface="Pridi" pitchFamily="34" charset="0"/>
                <a:ea typeface="Pridi" pitchFamily="34" charset="-122"/>
                <a:cs typeface="Pridi" pitchFamily="34" charset="-120"/>
              </a:rPr>
              <a:t>ภาพแกะไม้ไซเรนนอร์สสมัยศตวรรษที่ 16</a:t>
            </a:r>
            <a:endParaRPr lang="en-US" sz="1200" dirty="0"/>
          </a:p>
        </p:txBody>
      </p:sp>
      <p:sp>
        <p:nvSpPr>
          <p:cNvPr id="24" name="b2:rise"/>
          <p:cNvSpPr/>
          <p:nvPr/>
        </p:nvSpPr>
        <p:spPr>
          <a:xfrm>
            <a:off x="4881562" y="2934593"/>
            <a:ext cx="57150" cy="57150"/>
          </a:xfrm>
          <a:prstGeom prst="roundRect">
            <a:avLst>
              <a:gd name="adj" fmla="val 50000"/>
            </a:avLst>
          </a:prstGeom>
          <a:solidFill>
            <a:srgbClr val="CBA258"/>
          </a:solidFill>
          <a:ln/>
        </p:spPr>
      </p:sp>
      <p:sp>
        <p:nvSpPr>
          <p:cNvPr id="25" name="b2:rise"/>
          <p:cNvSpPr txBox="1"/>
          <p:nvPr/>
        </p:nvSpPr>
        <p:spPr>
          <a:xfrm>
            <a:off x="5005388" y="2869853"/>
            <a:ext cx="2221992" cy="186630"/>
          </a:xfrm>
          <a:prstGeom prst="rect">
            <a:avLst/>
          </a:prstGeom>
          <a:noFill/>
          <a:ln/>
        </p:spPr>
        <p:txBody>
          <a:bodyPr wrap="none" lIns="0" tIns="0" rIns="0" bIns="0" rtlCol="0" anchor="ctr"/>
          <a:lstStyle/>
          <a:p>
            <a:pPr algn="l" indent="0" marL="0">
              <a:lnSpc>
                <a:spcPts val="1470"/>
              </a:lnSpc>
              <a:buNone/>
            </a:pPr>
            <a:r>
              <a:rPr lang="en-US" sz="1050" dirty="0">
                <a:solidFill>
                  <a:srgbClr val="3A3A36"/>
                </a:solidFill>
                <a:latin typeface="Sarabun" pitchFamily="34" charset="0"/>
                <a:ea typeface="Sarabun" pitchFamily="34" charset="-122"/>
                <a:cs typeface="Sarabun" pitchFamily="34" charset="-120"/>
              </a:rPr>
              <a:t>ประเพณีการเดินเรือของซีแอตเทิล</a:t>
            </a:r>
            <a:endParaRPr lang="en-US" sz="1050" dirty="0"/>
          </a:p>
        </p:txBody>
      </p:sp>
      <p:sp>
        <p:nvSpPr>
          <p:cNvPr id="26" name="b2:rise"/>
          <p:cNvSpPr/>
          <p:nvPr/>
        </p:nvSpPr>
        <p:spPr>
          <a:xfrm>
            <a:off x="4881562" y="3168848"/>
            <a:ext cx="57150" cy="57150"/>
          </a:xfrm>
          <a:prstGeom prst="roundRect">
            <a:avLst>
              <a:gd name="adj" fmla="val 50000"/>
            </a:avLst>
          </a:prstGeom>
          <a:solidFill>
            <a:srgbClr val="CBA258"/>
          </a:solidFill>
          <a:ln/>
        </p:spPr>
      </p:sp>
      <p:sp>
        <p:nvSpPr>
          <p:cNvPr id="27" name="b2:rise"/>
          <p:cNvSpPr txBox="1"/>
          <p:nvPr/>
        </p:nvSpPr>
        <p:spPr>
          <a:xfrm>
            <a:off x="5005388" y="3104108"/>
            <a:ext cx="2221992" cy="186630"/>
          </a:xfrm>
          <a:prstGeom prst="rect">
            <a:avLst/>
          </a:prstGeom>
          <a:noFill/>
          <a:ln/>
        </p:spPr>
        <p:txBody>
          <a:bodyPr wrap="none" lIns="0" tIns="0" rIns="0" bIns="0" rtlCol="0" anchor="ctr"/>
          <a:lstStyle/>
          <a:p>
            <a:pPr algn="l" indent="0" marL="0">
              <a:lnSpc>
                <a:spcPts val="1470"/>
              </a:lnSpc>
              <a:buNone/>
            </a:pPr>
            <a:r>
              <a:rPr lang="en-US" sz="1050" dirty="0">
                <a:solidFill>
                  <a:srgbClr val="3A3A36"/>
                </a:solidFill>
                <a:latin typeface="Sarabun" pitchFamily="34" charset="0"/>
                <a:ea typeface="Sarabun" pitchFamily="34" charset="-122"/>
                <a:cs typeface="Sarabun" pitchFamily="34" charset="-120"/>
              </a:rPr>
              <a:t>เสน่ห์ของกาแฟชั้นดีที่ยากจะต้านทาน</a:t>
            </a:r>
            <a:endParaRPr lang="en-US" sz="1050" dirty="0"/>
          </a:p>
        </p:txBody>
      </p:sp>
      <p:pic>
        <p:nvPicPr>
          <p:cNvPr id="28" name="b2:rise (Starbucks siren logo)" descr="/home/user/slide-present-en/starbucks-presentation/assets/starbucks-logo.png">    </p:cNvPr>
          <p:cNvPicPr>
            <a:picLocks noChangeAspect="1"/>
          </p:cNvPicPr>
          <p:nvPr/>
        </p:nvPicPr>
        <p:blipFill>
          <a:blip r:embed="rId2"/>
          <a:stretch>
            <a:fillRect/>
          </a:stretch>
        </p:blipFill>
        <p:spPr>
          <a:xfrm>
            <a:off x="7219950" y="2105025"/>
            <a:ext cx="1095375" cy="1095375"/>
          </a:xfrm>
          <a:prstGeom prst="rect">
            <a:avLst/>
          </a:prstGeom>
        </p:spPr>
      </p:pic>
      <p:sp>
        <p:nvSpPr>
          <p:cNvPr id="29" name="b3:fade"/>
          <p:cNvSpPr/>
          <p:nvPr/>
        </p:nvSpPr>
        <p:spPr>
          <a:xfrm>
            <a:off x="609600" y="3790950"/>
            <a:ext cx="7924800" cy="402431"/>
          </a:xfrm>
          <a:prstGeom prst="roundRect">
            <a:avLst>
              <a:gd name="adj" fmla="val 18935"/>
            </a:avLst>
          </a:prstGeom>
          <a:solidFill>
            <a:srgbClr val="006241"/>
          </a:solidFill>
          <a:ln/>
        </p:spPr>
      </p:sp>
      <p:sp>
        <p:nvSpPr>
          <p:cNvPr id="30" name="b3:fade"/>
          <p:cNvSpPr txBox="1"/>
          <p:nvPr/>
        </p:nvSpPr>
        <p:spPr>
          <a:xfrm>
            <a:off x="762000" y="3906441"/>
            <a:ext cx="287634" cy="171450"/>
          </a:xfrm>
          <a:prstGeom prst="rect">
            <a:avLst/>
          </a:prstGeom>
          <a:noFill/>
          <a:ln/>
        </p:spPr>
        <p:txBody>
          <a:bodyPr wrap="none" lIns="0" tIns="0" rIns="0" bIns="0" rtlCol="0" anchor="ctr"/>
          <a:lstStyle/>
          <a:p>
            <a:pPr algn="l" indent="0" marL="0">
              <a:lnSpc>
                <a:spcPts val="1350"/>
              </a:lnSpc>
              <a:buNone/>
            </a:pPr>
            <a:r>
              <a:rPr lang="en-US" sz="900" b="1" dirty="0">
                <a:solidFill>
                  <a:srgbClr val="CBA258"/>
                </a:solidFill>
                <a:latin typeface="Sarabun" pitchFamily="34" charset="0"/>
                <a:ea typeface="Sarabun" pitchFamily="34" charset="-122"/>
                <a:cs typeface="Sarabun" pitchFamily="34" charset="-120"/>
              </a:rPr>
              <a:t>ถัดไป</a:t>
            </a:r>
            <a:endParaRPr lang="en-US" sz="900" dirty="0"/>
          </a:p>
        </p:txBody>
      </p:sp>
      <p:sp>
        <p:nvSpPr>
          <p:cNvPr id="31" name="b3:fade"/>
          <p:cNvSpPr txBox="1"/>
          <p:nvPr/>
        </p:nvSpPr>
        <p:spPr>
          <a:xfrm>
            <a:off x="1142628" y="3895725"/>
            <a:ext cx="7818522" cy="192881"/>
          </a:xfrm>
          <a:prstGeom prst="rect">
            <a:avLst/>
          </a:prstGeom>
          <a:noFill/>
          <a:ln/>
        </p:spPr>
        <p:txBody>
          <a:bodyPr wrap="none" lIns="0" tIns="0" rIns="0" bIns="0" rtlCol="0" anchor="ctr"/>
          <a:lstStyle/>
          <a:p>
            <a:pPr algn="l" indent="0" marL="0">
              <a:lnSpc>
                <a:spcPts val="1519"/>
              </a:lnSpc>
              <a:buNone/>
            </a:pPr>
            <a:r>
              <a:rPr lang="en-US" sz="1013" dirty="0">
                <a:solidFill>
                  <a:srgbClr val="F7F5F0"/>
                </a:solidFill>
                <a:latin typeface="Sarabun" pitchFamily="34" charset="0"/>
                <a:ea typeface="Sarabun" pitchFamily="34" charset="-122"/>
                <a:cs typeface="Sarabun" pitchFamily="34" charset="-120"/>
              </a:rPr>
              <a:t>เวทีถูกจัดเตรียมไว้แล้ว แต่สตาร์บัคส์ยังขาดส่วนผสมวิเศษที่สำคัญที่สุด… จนกระทั่งปี </a:t>
            </a:r>
            <a:pPr algn="l" indent="0" marL="0">
              <a:lnSpc>
                <a:spcPts val="1519"/>
              </a:lnSpc>
              <a:buNone/>
            </a:pPr>
            <a:r>
              <a:rPr lang="en-US" sz="1013" b="1" dirty="0">
                <a:solidFill>
                  <a:srgbClr val="D4E9E2"/>
                </a:solidFill>
                <a:latin typeface="Sarabun" pitchFamily="34" charset="0"/>
                <a:ea typeface="Sarabun" pitchFamily="34" charset="-122"/>
                <a:cs typeface="Sarabun" pitchFamily="34" charset="-120"/>
              </a:rPr>
              <a:t>1983</a:t>
            </a:r>
            <a:pPr algn="l" indent="0" marL="0">
              <a:lnSpc>
                <a:spcPts val="1519"/>
              </a:lnSpc>
              <a:buNone/>
            </a:pPr>
            <a:r>
              <a:rPr lang="en-US" sz="1013" dirty="0">
                <a:solidFill>
                  <a:srgbClr val="F7F5F0"/>
                </a:solidFill>
                <a:latin typeface="Sarabun" pitchFamily="34" charset="0"/>
                <a:ea typeface="Sarabun" pitchFamily="34" charset="-122"/>
                <a:cs typeface="Sarabun" pitchFamily="34" charset="-120"/>
              </a:rPr>
              <a:t> กับการเดินทางไป</a:t>
            </a:r>
            <a:pPr algn="l" indent="0" marL="0">
              <a:lnSpc>
                <a:spcPts val="1519"/>
              </a:lnSpc>
              <a:buNone/>
            </a:pPr>
            <a:r>
              <a:rPr lang="en-US" sz="1013" b="1" dirty="0">
                <a:solidFill>
                  <a:srgbClr val="D4E9E2"/>
                </a:solidFill>
                <a:latin typeface="Sarabun" pitchFamily="34" charset="0"/>
                <a:ea typeface="Sarabun" pitchFamily="34" charset="-122"/>
                <a:cs typeface="Sarabun" pitchFamily="34" charset="-120"/>
              </a:rPr>
              <a:t>มิลาน</a:t>
            </a:r>
            <a:endParaRPr lang="en-US" sz="1013" dirty="0"/>
          </a:p>
        </p:txBody>
      </p:sp>
      <p:sp>
        <p:nvSpPr>
          <p:cNvPr id="32" name="!!tkey2-1"/>
          <p:cNvSpPr/>
          <p:nvPr/>
        </p:nvSpPr>
        <p:spPr>
          <a:xfrm>
            <a:off x="6438900" y="4572000"/>
            <a:ext cx="2095500" cy="266700"/>
          </a:xfrm>
          <a:prstGeom prst="roundRect">
            <a:avLst>
              <a:gd name="adj" fmla="val 50000"/>
            </a:avLst>
          </a:prstGeom>
          <a:solidFill>
            <a:srgbClr val="CBA258"/>
          </a:solidFill>
          <a:ln/>
        </p:spPr>
      </p:sp>
      <p:sp>
        <p:nvSpPr>
          <p:cNvPr id="33" name="!!tkey2-2"/>
          <p:cNvSpPr txBox="1"/>
          <p:nvPr/>
        </p:nvSpPr>
        <p:spPr>
          <a:xfrm>
            <a:off x="6438900" y="45720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1983 · การเดินทางไปมิลาน</a:t>
            </a:r>
            <a:endParaRPr lang="en-US" sz="900" dirty="0"/>
          </a:p>
        </p:txBody>
      </p:sp>
      <p:sp>
        <p:nvSpPr>
          <p:cNvPr id="34" name="static"/>
          <p:cNvSpPr txBox="1"/>
          <p:nvPr/>
        </p:nvSpPr>
        <p:spPr>
          <a:xfrm>
            <a:off x="609600" y="4667250"/>
            <a:ext cx="2170584" cy="171450"/>
          </a:xfrm>
          <a:prstGeom prst="rect">
            <a:avLst/>
          </a:prstGeom>
          <a:noFill/>
          <a:ln/>
        </p:spPr>
        <p:txBody>
          <a:bodyPr wrap="none" lIns="0" tIns="0" rIns="0" bIns="0" rtlCol="0" anchor="ctr"/>
          <a:lstStyle/>
          <a:p>
            <a:pPr algn="l" indent="0" marL="0">
              <a:lnSpc>
                <a:spcPts val="1350"/>
              </a:lnSpc>
              <a:buNone/>
            </a:pPr>
            <a:r>
              <a:rPr lang="en-US" sz="900" dirty="0">
                <a:solidFill>
                  <a:srgbClr val="6B6A63"/>
                </a:solidFill>
                <a:latin typeface="Sarabun" pitchFamily="34" charset="0"/>
                <a:ea typeface="Sarabun" pitchFamily="34" charset="-122"/>
                <a:cs typeface="Sarabun" pitchFamily="34" charset="-120"/>
              </a:rPr>
              <a:t>สไลด์ 2 จาก 8 · ตอนที่ 1 · รากฐานและจุดกำเนิด</a:t>
            </a:r>
            <a:endParaRPr lang="en-US" sz="900" dirty="0"/>
          </a:p>
        </p:txBody>
      </p:sp>
      <p:sp>
        <p:nvSpPr>
          <p:cNvPr id="35" name="static"/>
          <p:cNvSpPr/>
          <p:nvPr/>
        </p:nvSpPr>
        <p:spPr>
          <a:xfrm>
            <a:off x="2970684" y="4724400"/>
            <a:ext cx="57150" cy="57150"/>
          </a:xfrm>
          <a:prstGeom prst="roundRect">
            <a:avLst>
              <a:gd name="adj" fmla="val 50000"/>
            </a:avLst>
          </a:prstGeom>
          <a:solidFill>
            <a:srgbClr val="006241"/>
          </a:solidFill>
          <a:ln/>
        </p:spPr>
      </p:sp>
      <p:sp>
        <p:nvSpPr>
          <p:cNvPr id="36" name="static"/>
          <p:cNvSpPr/>
          <p:nvPr/>
        </p:nvSpPr>
        <p:spPr>
          <a:xfrm>
            <a:off x="3075459" y="4724400"/>
            <a:ext cx="171450" cy="57150"/>
          </a:xfrm>
          <a:prstGeom prst="roundRect">
            <a:avLst>
              <a:gd name="adj" fmla="val 50000"/>
            </a:avLst>
          </a:prstGeom>
          <a:solidFill>
            <a:srgbClr val="CBA258"/>
          </a:solidFill>
          <a:ln/>
        </p:spPr>
      </p:sp>
      <p:sp>
        <p:nvSpPr>
          <p:cNvPr id="37" name="static"/>
          <p:cNvSpPr/>
          <p:nvPr/>
        </p:nvSpPr>
        <p:spPr>
          <a:xfrm>
            <a:off x="3294534" y="4724400"/>
            <a:ext cx="57150" cy="57150"/>
          </a:xfrm>
          <a:prstGeom prst="roundRect">
            <a:avLst>
              <a:gd name="adj" fmla="val 50000"/>
            </a:avLst>
          </a:prstGeom>
          <a:solidFill>
            <a:srgbClr val="C5D8D0"/>
          </a:solidFill>
          <a:ln/>
        </p:spPr>
      </p:sp>
      <p:sp>
        <p:nvSpPr>
          <p:cNvPr id="38" name="static"/>
          <p:cNvSpPr/>
          <p:nvPr/>
        </p:nvSpPr>
        <p:spPr>
          <a:xfrm>
            <a:off x="3399309" y="4724400"/>
            <a:ext cx="57150" cy="57150"/>
          </a:xfrm>
          <a:prstGeom prst="roundRect">
            <a:avLst>
              <a:gd name="adj" fmla="val 50000"/>
            </a:avLst>
          </a:prstGeom>
          <a:solidFill>
            <a:srgbClr val="C5D8D0"/>
          </a:solidFill>
          <a:ln/>
        </p:spPr>
      </p:sp>
      <p:sp>
        <p:nvSpPr>
          <p:cNvPr id="39" name="static"/>
          <p:cNvSpPr/>
          <p:nvPr/>
        </p:nvSpPr>
        <p:spPr>
          <a:xfrm>
            <a:off x="3504084" y="4724400"/>
            <a:ext cx="57150" cy="57150"/>
          </a:xfrm>
          <a:prstGeom prst="roundRect">
            <a:avLst>
              <a:gd name="adj" fmla="val 50000"/>
            </a:avLst>
          </a:prstGeom>
          <a:solidFill>
            <a:srgbClr val="C5D8D0"/>
          </a:solidFill>
          <a:ln/>
        </p:spPr>
      </p:sp>
      <p:sp>
        <p:nvSpPr>
          <p:cNvPr id="40" name="static"/>
          <p:cNvSpPr/>
          <p:nvPr/>
        </p:nvSpPr>
        <p:spPr>
          <a:xfrm>
            <a:off x="3608859" y="4724400"/>
            <a:ext cx="57150" cy="57150"/>
          </a:xfrm>
          <a:prstGeom prst="roundRect">
            <a:avLst>
              <a:gd name="adj" fmla="val 50000"/>
            </a:avLst>
          </a:prstGeom>
          <a:solidFill>
            <a:srgbClr val="C5D8D0"/>
          </a:solidFill>
          <a:ln/>
        </p:spPr>
      </p:sp>
      <p:sp>
        <p:nvSpPr>
          <p:cNvPr id="41" name="static"/>
          <p:cNvSpPr/>
          <p:nvPr/>
        </p:nvSpPr>
        <p:spPr>
          <a:xfrm>
            <a:off x="3713634" y="4724400"/>
            <a:ext cx="57150" cy="57150"/>
          </a:xfrm>
          <a:prstGeom prst="roundRect">
            <a:avLst>
              <a:gd name="adj" fmla="val 50000"/>
            </a:avLst>
          </a:prstGeom>
          <a:solidFill>
            <a:srgbClr val="C5D8D0"/>
          </a:solidFill>
          <a:ln/>
        </p:spPr>
      </p:sp>
      <p:sp>
        <p:nvSpPr>
          <p:cNvPr id="42" name="static"/>
          <p:cNvSpPr/>
          <p:nvPr/>
        </p:nvSpPr>
        <p:spPr>
          <a:xfrm>
            <a:off x="3818409" y="4724400"/>
            <a:ext cx="57150" cy="57150"/>
          </a:xfrm>
          <a:prstGeom prst="roundRect">
            <a:avLst>
              <a:gd name="adj" fmla="val 50000"/>
            </a:avLst>
          </a:prstGeom>
          <a:solidFill>
            <a:srgbClr val="C5D8D0"/>
          </a:solidFill>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stCondLst>
                      <p:childTnLst>
                        <p:par>
                          <p:cTn id="56"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700"/>
                                        <p:tgtEl>
                                          <p:spTgt spid="7"/>
                                        </p:tgtEl>
                                      </p:cBhvr>
                                    </p:animEffect>
                                    <p:anim calcmode="lin" valueType="num">
                                      <p:cBhvr additive="base">
                                        <p:cTn id="6" dur="700" fill="hold"/>
                                        <p:tgtEl>
                                          <p:spTgt spid="7"/>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700"/>
                                        <p:tgtEl>
                                          <p:spTgt spid="8"/>
                                        </p:tgtEl>
                                      </p:cBhvr>
                                    </p:animEffect>
                                    <p:anim calcmode="lin" valueType="num">
                                      <p:cBhvr additive="base">
                                        <p:cTn id="10" dur="700" fill="hold"/>
                                        <p:tgtEl>
                                          <p:spTgt spid="8"/>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700"/>
                                        <p:tgtEl>
                                          <p:spTgt spid="9"/>
                                        </p:tgtEl>
                                      </p:cBhvr>
                                    </p:animEffect>
                                    <p:anim calcmode="lin" valueType="num">
                                      <p:cBhvr additive="base">
                                        <p:cTn id="14" dur="700" fill="hold"/>
                                        <p:tgtEl>
                                          <p:spTgt spid="9"/>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700"/>
                                        <p:tgtEl>
                                          <p:spTgt spid="10"/>
                                        </p:tgtEl>
                                      </p:cBhvr>
                                    </p:animEffect>
                                    <p:anim calcmode="lin" valueType="num">
                                      <p:cBhvr additive="base">
                                        <p:cTn id="18" dur="700" fill="hold"/>
                                        <p:tgtEl>
                                          <p:spTgt spid="10"/>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700"/>
                                        <p:tgtEl>
                                          <p:spTgt spid="11"/>
                                        </p:tgtEl>
                                      </p:cBhvr>
                                    </p:animEffect>
                                    <p:anim calcmode="lin" valueType="num">
                                      <p:cBhvr additive="base">
                                        <p:cTn id="22" dur="700" fill="hold"/>
                                        <p:tgtEl>
                                          <p:spTgt spid="11"/>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700"/>
                                        <p:tgtEl>
                                          <p:spTgt spid="12"/>
                                        </p:tgtEl>
                                      </p:cBhvr>
                                    </p:animEffect>
                                    <p:anim calcmode="lin" valueType="num">
                                      <p:cBhvr additive="base">
                                        <p:cTn id="26" dur="700" fill="hold"/>
                                        <p:tgtEl>
                                          <p:spTgt spid="12"/>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700"/>
                                        <p:tgtEl>
                                          <p:spTgt spid="13"/>
                                        </p:tgtEl>
                                      </p:cBhvr>
                                    </p:animEffect>
                                    <p:anim calcmode="lin" valueType="num">
                                      <p:cBhvr additive="base">
                                        <p:cTn id="30" dur="700" fill="hold"/>
                                        <p:tgtEl>
                                          <p:spTgt spid="13"/>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700"/>
                                        <p:tgtEl>
                                          <p:spTgt spid="14"/>
                                        </p:tgtEl>
                                      </p:cBhvr>
                                    </p:animEffect>
                                    <p:anim calcmode="lin" valueType="num">
                                      <p:cBhvr additive="base">
                                        <p:cTn id="34" dur="700" fill="hold"/>
                                        <p:tgtEl>
                                          <p:spTgt spid="14"/>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700"/>
                                        <p:tgtEl>
                                          <p:spTgt spid="15"/>
                                        </p:tgtEl>
                                      </p:cBhvr>
                                    </p:animEffect>
                                    <p:anim calcmode="lin" valueType="num">
                                      <p:cBhvr additive="base">
                                        <p:cTn id="38" dur="700" fill="hold"/>
                                        <p:tgtEl>
                                          <p:spTgt spid="15"/>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700"/>
                                        <p:tgtEl>
                                          <p:spTgt spid="16"/>
                                        </p:tgtEl>
                                      </p:cBhvr>
                                    </p:animEffect>
                                    <p:anim calcmode="lin" valueType="num">
                                      <p:cBhvr additive="base">
                                        <p:cTn id="42" dur="700" fill="hold"/>
                                        <p:tgtEl>
                                          <p:spTgt spid="16"/>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700"/>
                                        <p:tgtEl>
                                          <p:spTgt spid="17"/>
                                        </p:tgtEl>
                                      </p:cBhvr>
                                    </p:animEffect>
                                    <p:anim calcmode="lin" valueType="num">
                                      <p:cBhvr additive="base">
                                        <p:cTn id="46" dur="700" fill="hold"/>
                                        <p:tgtEl>
                                          <p:spTgt spid="17"/>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700"/>
                                        <p:tgtEl>
                                          <p:spTgt spid="18"/>
                                        </p:tgtEl>
                                      </p:cBhvr>
                                    </p:animEffect>
                                    <p:anim calcmode="lin" valueType="num">
                                      <p:cBhvr additive="base">
                                        <p:cTn id="50" dur="700" fill="hold"/>
                                        <p:tgtEl>
                                          <p:spTgt spid="18"/>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700"/>
                                        <p:tgtEl>
                                          <p:spTgt spid="19"/>
                                        </p:tgtEl>
                                      </p:cBhvr>
                                    </p:animEffect>
                                    <p:anim calcmode="lin" valueType="num">
                                      <p:cBhvr additive="base">
                                        <p:cTn id="54" dur="700" fill="hold"/>
                                        <p:tgtEl>
                                          <p:spTgt spid="19"/>
                                        </p:tgtEl>
                                        <p:attrNameLst>
                                          <p:attrName>ppt_y</p:attrName>
                                        </p:attrNameLst>
                                      </p:cBhvr>
                                      <p:tavLst>
                                        <p:tav tm="0">
                                          <p:val>
                                            <p:strVal val="#ppt_y+.08"/>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57" presetID="42" presetClass="entr" presetSubtype="0"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8"/>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8"/>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8"/>
                                          </p:val>
                                        </p:tav>
                                        <p:tav tm="100000">
                                          <p:val>
                                            <p:strVal val="#ppt_y"/>
                                          </p:val>
                                        </p:tav>
                                      </p:tavLst>
                                    </p:anim>
                                  </p:childTnLst>
                                </p:cTn>
                              </p:par>
                              <p:par>
                                <p:cTn id="85" presetID="42" presetClass="entr" presetSubtype="0" fill="hold" grpId="0" nodeType="withEffect">
                                  <p:stCondLst>
                                    <p:cond delay="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700"/>
                                        <p:tgtEl>
                                          <p:spTgt spid="27"/>
                                        </p:tgtEl>
                                      </p:cBhvr>
                                    </p:animEffect>
                                    <p:anim calcmode="lin" valueType="num">
                                      <p:cBhvr additive="base">
                                        <p:cTn id="88" dur="700" fill="hold"/>
                                        <p:tgtEl>
                                          <p:spTgt spid="27"/>
                                        </p:tgtEl>
                                        <p:attrNameLst>
                                          <p:attrName>ppt_y</p:attrName>
                                        </p:attrNameLst>
                                      </p:cBhvr>
                                      <p:tavLst>
                                        <p:tav tm="0">
                                          <p:val>
                                            <p:strVal val="#ppt_y+.08"/>
                                          </p:val>
                                        </p:tav>
                                        <p:tav tm="100000">
                                          <p:val>
                                            <p:strVal val="#ppt_y"/>
                                          </p:val>
                                        </p:tav>
                                      </p:tavLst>
                                    </p:anim>
                                  </p:childTnLst>
                                </p:cTn>
                              </p:par>
                              <p:par>
                                <p:cTn id="89" presetID="42" presetClass="entr" presetSubtype="0" fill="hold" grpId="0" nodeType="withEffect">
                                  <p:stCondLst>
                                    <p:cond delay="0"/>
                                  </p:stCondLst>
                                  <p:childTnLst>
                                    <p:set>
                                      <p:cBhvr>
                                        <p:cTn id="90" dur="1" fill="hold">
                                          <p:stCondLst>
                                            <p:cond delay="0"/>
                                          </p:stCondLst>
                                        </p:cTn>
                                        <p:tgtEl>
                                          <p:spTgt spid="28"/>
                                        </p:tgtEl>
                                        <p:attrNameLst>
                                          <p:attrName>style.visibility</p:attrName>
                                        </p:attrNameLst>
                                      </p:cBhvr>
                                      <p:to>
                                        <p:strVal val="visible"/>
                                      </p:to>
                                    </p:set>
                                    <p:animEffect transition="in" filter="fade">
                                      <p:cBhvr>
                                        <p:cTn id="91" dur="700"/>
                                        <p:tgtEl>
                                          <p:spTgt spid="28"/>
                                        </p:tgtEl>
                                      </p:cBhvr>
                                    </p:animEffect>
                                    <p:anim calcmode="lin" valueType="num">
                                      <p:cBhvr additive="base">
                                        <p:cTn id="92" dur="700" fill="hold"/>
                                        <p:tgtEl>
                                          <p:spTgt spid="28"/>
                                        </p:tgtEl>
                                        <p:attrNameLst>
                                          <p:attrName>ppt_y</p:attrName>
                                        </p:attrNameLst>
                                      </p:cBhvr>
                                      <p:tavLst>
                                        <p:tav tm="0">
                                          <p:val>
                                            <p:strVal val="#ppt_y+.08"/>
                                          </p:val>
                                        </p:tav>
                                        <p:tav tm="100000">
                                          <p:val>
                                            <p:strVal val="#ppt_y"/>
                                          </p:val>
                                        </p:tav>
                                      </p:tavLst>
                                    </p:anim>
                                  </p:childTnLst>
                                </p:cTn>
                              </p:par>
                            </p:childTnLst>
                          </p:cTn>
                        </p:par>
                      </p:childTnLst>
                    </p:cTn>
                  </p:par>
                  <p:par>
                    <p:cTn id="104" fill="hold">
                      <p:stCondLst>
                        <p:cond delay="indefinite"/>
                      </p:stCondLst>
                      <p:childTnLst>
                        <p:par>
                          <p:cTn id="105" fill="hold">
                            <p:stCondLst>
                              <p:cond delay="0"/>
                            </p:stCondLst>
                            <p:childTnLst>
                              <p:par>
                                <p:cTn id="95" presetID="10" presetClass="entr" presetSubtype="0" fill="hold" grpId="0" nodeType="click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0"/>
                                        </p:tgtEl>
                                        <p:attrNameLst>
                                          <p:attrName>style.visibility</p:attrName>
                                        </p:attrNameLst>
                                      </p:cBhvr>
                                      <p:to>
                                        <p:strVal val="visible"/>
                                      </p:to>
                                    </p:set>
                                    <p:animEffect transition="in" filter="fade">
                                      <p:cBhvr>
                                        <p:cTn id="100" dur="500"/>
                                        <p:tgtEl>
                                          <p:spTgt spid="30"/>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3" dur="5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06" presetID="23" presetClass="entr" presetSubtype="16" fill="hold" grpId="0" nodeType="clickEffect">
                                  <p:stCondLst>
                                    <p:cond delay="0"/>
                                  </p:stCondLst>
                                  <p:childTnLst>
                                    <p:set>
                                      <p:cBhvr>
                                        <p:cTn id="107" dur="1" fill="hold">
                                          <p:stCondLst>
                                            <p:cond delay="0"/>
                                          </p:stCondLst>
                                        </p:cTn>
                                        <p:tgtEl>
                                          <p:spTgt spid="32"/>
                                        </p:tgtEl>
                                        <p:attrNameLst>
                                          <p:attrName>style.visibility</p:attrName>
                                        </p:attrNameLst>
                                      </p:cBhvr>
                                      <p:to>
                                        <p:strVal val="visible"/>
                                      </p:to>
                                    </p:set>
                                    <p:animScale>
                                      <p:cBhvr>
                                        <p:cTn id="108" dur="500" fill="hold"/>
                                        <p:tgtEl>
                                          <p:spTgt spid="32"/>
                                        </p:tgtEl>
                                      </p:cBhvr>
                                      <p:from x="0" y="0"/>
                                      <p:to x="100000" y="100000"/>
                                    </p:animScale>
                                    <p:animEffect transition="in" filter="fade">
                                      <p:cBhvr>
                                        <p:cTn id="109" dur="500"/>
                                        <p:tgtEl>
                                          <p:spTgt spid="32"/>
                                        </p:tgtEl>
                                      </p:cBhvr>
                                    </p:animEffect>
                                  </p:childTnLst>
                                </p:cTn>
                              </p:par>
                              <p:par>
                                <p:cTn id="110" presetID="23" presetClass="entr" presetSubtype="16" fill="hold" grpId="0" nodeType="withEffect">
                                  <p:stCondLst>
                                    <p:cond delay="0"/>
                                  </p:stCondLst>
                                  <p:childTnLst>
                                    <p:set>
                                      <p:cBhvr>
                                        <p:cTn id="111" dur="1" fill="hold">
                                          <p:stCondLst>
                                            <p:cond delay="0"/>
                                          </p:stCondLst>
                                        </p:cTn>
                                        <p:tgtEl>
                                          <p:spTgt spid="33"/>
                                        </p:tgtEl>
                                        <p:attrNameLst>
                                          <p:attrName>style.visibility</p:attrName>
                                        </p:attrNameLst>
                                      </p:cBhvr>
                                      <p:to>
                                        <p:strVal val="visible"/>
                                      </p:to>
                                    </p:set>
                                    <p:animScale>
                                      <p:cBhvr>
                                        <p:cTn id="112" dur="500" fill="hold"/>
                                        <p:tgtEl>
                                          <p:spTgt spid="33"/>
                                        </p:tgtEl>
                                      </p:cBhvr>
                                      <p:from x="0" y="0"/>
                                      <p:to x="100000" y="100000"/>
                                    </p:animScale>
                                    <p:animEffect transition="in" filter="fade">
                                      <p:cBhvr>
                                        <p:cTn id="113"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9" grpId="0" animBg="1"/>
      <p:bldP spid="30" grpId="0" animBg="1"/>
      <p:bldP spid="31" grpId="0" animBg="1"/>
      <p:bldP spid="32" grpId="0" animBg="1"/>
      <p:bldP spid="3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59048"/>
          </a:xfrm>
          <a:prstGeom prst="rect">
            <a:avLst/>
          </a:prstGeom>
          <a:noFill/>
          <a:ln/>
        </p:spPr>
        <p:txBody>
          <a:bodyPr wrap="none" lIns="0" tIns="0" rIns="0" bIns="0" rtlCol="0" anchor="ctr"/>
          <a:lstStyle/>
          <a:p>
            <a:pPr algn="l" indent="0" marL="0">
              <a:lnSpc>
                <a:spcPts val="2828"/>
              </a:lnSpc>
              <a:buNone/>
            </a:pPr>
            <a:r>
              <a:rPr lang="en-US" sz="2175" b="1" dirty="0">
                <a:solidFill>
                  <a:srgbClr val="191919"/>
                </a:solidFill>
                <a:latin typeface="Pridi" pitchFamily="34" charset="0"/>
                <a:ea typeface="Pridi" pitchFamily="34" charset="-122"/>
                <a:cs typeface="Pridi" pitchFamily="34" charset="-120"/>
              </a:rPr>
              <a:t>บทที่ 2: แรงบันดาลใจจากอิตาลี</a:t>
            </a:r>
            <a:endParaRPr lang="en-US" sz="2175" dirty="0"/>
          </a:p>
        </p:txBody>
      </p:sp>
      <p:sp>
        <p:nvSpPr>
          <p:cNvPr id="3" name="static"/>
          <p:cNvSpPr txBox="1"/>
          <p:nvPr/>
        </p:nvSpPr>
        <p:spPr>
          <a:xfrm>
            <a:off x="609600" y="1235348"/>
            <a:ext cx="6686550" cy="228600"/>
          </a:xfrm>
          <a:prstGeom prst="rect">
            <a:avLst/>
          </a:prstGeom>
          <a:noFill/>
          <a:ln/>
        </p:spPr>
        <p:txBody>
          <a:bodyPr wrap="none" lIns="0" tIns="0" rIns="0" bIns="0" rtlCol="0" anchor="ctr"/>
          <a:lstStyle/>
          <a:p>
            <a:pPr algn="l" indent="0" marL="0">
              <a:lnSpc>
                <a:spcPts val="1800"/>
              </a:lnSpc>
              <a:buNone/>
            </a:pPr>
            <a:r>
              <a:rPr lang="en-US" sz="1200" dirty="0">
                <a:solidFill>
                  <a:srgbClr val="3A3A36"/>
                </a:solidFill>
                <a:latin typeface="Sarabun" pitchFamily="34" charset="0"/>
                <a:ea typeface="Sarabun" pitchFamily="34" charset="-122"/>
                <a:cs typeface="Sarabun" pitchFamily="34" charset="-120"/>
              </a:rPr>
              <a:t>การเดินทางไปมิลานเปลี่ยนประวัติศาสตร์กาแฟได้อย่างไร</a:t>
            </a:r>
            <a:endParaRPr lang="en-US" sz="1200" dirty="0"/>
          </a:p>
        </p:txBody>
      </p:sp>
      <p:sp>
        <p:nvSpPr>
          <p:cNvPr id="4" name="static"/>
          <p:cNvSpPr txBox="1"/>
          <p:nvPr/>
        </p:nvSpPr>
        <p:spPr>
          <a:xfrm>
            <a:off x="609600" y="457200"/>
            <a:ext cx="4114800"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ตอนที่ 2 · จุดเปลี่ยน</a:t>
            </a:r>
            <a:endParaRPr lang="en-US" sz="900" dirty="0"/>
          </a:p>
        </p:txBody>
      </p:sp>
      <p:sp>
        <p:nvSpPr>
          <p:cNvPr id="5" name="!!tkey2-1"/>
          <p:cNvSpPr/>
          <p:nvPr/>
        </p:nvSpPr>
        <p:spPr>
          <a:xfrm>
            <a:off x="6438900" y="419100"/>
            <a:ext cx="2095500" cy="266700"/>
          </a:xfrm>
          <a:prstGeom prst="roundRect">
            <a:avLst>
              <a:gd name="adj" fmla="val 50000"/>
            </a:avLst>
          </a:prstGeom>
          <a:solidFill>
            <a:srgbClr val="CBA258"/>
          </a:solidFill>
          <a:ln/>
        </p:spPr>
      </p:sp>
      <p:sp>
        <p:nvSpPr>
          <p:cNvPr id="6" name="!!tkey2-2"/>
          <p:cNvSpPr txBox="1"/>
          <p:nvPr/>
        </p:nvSpPr>
        <p:spPr>
          <a:xfrm>
            <a:off x="6438900" y="4191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1983 · การเดินทางไปมิลาน</a:t>
            </a:r>
            <a:endParaRPr lang="en-US" sz="900" dirty="0"/>
          </a:p>
        </p:txBody>
      </p:sp>
      <p:sp>
        <p:nvSpPr>
          <p:cNvPr id="7" name="static"/>
          <p:cNvSpPr/>
          <p:nvPr/>
        </p:nvSpPr>
        <p:spPr>
          <a:xfrm>
            <a:off x="1890712" y="1776413"/>
            <a:ext cx="5362575" cy="19050"/>
          </a:xfrm>
          <a:prstGeom prst="roundRect">
            <a:avLst>
              <a:gd name="adj" fmla="val 50000"/>
            </a:avLst>
          </a:prstGeom>
          <a:solidFill>
            <a:srgbClr val="CBA258"/>
          </a:solidFill>
          <a:ln/>
        </p:spPr>
      </p:sp>
      <p:sp>
        <p:nvSpPr>
          <p:cNvPr id="8" name="b1:rise"/>
          <p:cNvSpPr/>
          <p:nvPr/>
        </p:nvSpPr>
        <p:spPr>
          <a:xfrm>
            <a:off x="1659136" y="1676400"/>
            <a:ext cx="467916" cy="228600"/>
          </a:xfrm>
          <a:prstGeom prst="roundRect">
            <a:avLst>
              <a:gd name="adj" fmla="val 50000"/>
            </a:avLst>
          </a:prstGeom>
          <a:solidFill>
            <a:srgbClr val="006241"/>
          </a:solidFill>
          <a:ln/>
        </p:spPr>
      </p:sp>
      <p:sp>
        <p:nvSpPr>
          <p:cNvPr id="9" name="b1:rise"/>
          <p:cNvSpPr txBox="1"/>
          <p:nvPr/>
        </p:nvSpPr>
        <p:spPr>
          <a:xfrm>
            <a:off x="1659136" y="1676400"/>
            <a:ext cx="505349" cy="228600"/>
          </a:xfrm>
          <a:prstGeom prst="rect">
            <a:avLst/>
          </a:prstGeom>
          <a:noFill/>
          <a:ln/>
        </p:spPr>
        <p:txBody>
          <a:bodyPr wrap="none" lIns="104775" tIns="0" rIns="104775" bIns="0" rtlCol="0" anchor="ctr"/>
          <a:lstStyle/>
          <a:p>
            <a:pPr algn="l" indent="0" marL="0">
              <a:lnSpc>
                <a:spcPts val="1350"/>
              </a:lnSpc>
              <a:buNone/>
            </a:pPr>
            <a:r>
              <a:rPr lang="en-US" sz="900" b="1" dirty="0">
                <a:solidFill>
                  <a:srgbClr val="F7F5F0"/>
                </a:solidFill>
                <a:latin typeface="Sarabun" pitchFamily="34" charset="0"/>
                <a:ea typeface="Sarabun" pitchFamily="34" charset="-122"/>
                <a:cs typeface="Sarabun" pitchFamily="34" charset="-120"/>
              </a:rPr>
              <a:t>1983</a:t>
            </a:r>
            <a:endParaRPr lang="en-US" sz="900" dirty="0"/>
          </a:p>
        </p:txBody>
      </p:sp>
      <p:sp>
        <p:nvSpPr>
          <p:cNvPr id="10" name="b1:rise"/>
          <p:cNvSpPr/>
          <p:nvPr/>
        </p:nvSpPr>
        <p:spPr>
          <a:xfrm>
            <a:off x="609600" y="2000250"/>
            <a:ext cx="2566988" cy="1714500"/>
          </a:xfrm>
          <a:prstGeom prst="roundRect">
            <a:avLst>
              <a:gd name="adj" fmla="val 444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1" name="b1:rise"/>
          <p:cNvSpPr txBox="1"/>
          <p:nvPr/>
        </p:nvSpPr>
        <p:spPr>
          <a:xfrm>
            <a:off x="766763" y="2157413"/>
            <a:ext cx="2432876"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การค้นพบ</a:t>
            </a:r>
            <a:endParaRPr lang="en-US" sz="1275" dirty="0"/>
          </a:p>
        </p:txBody>
      </p:sp>
      <p:sp>
        <p:nvSpPr>
          <p:cNvPr id="12" name="b1:rise"/>
          <p:cNvSpPr txBox="1"/>
          <p:nvPr/>
        </p:nvSpPr>
        <p:spPr>
          <a:xfrm>
            <a:off x="766763" y="2441228"/>
            <a:ext cx="2342769" cy="797123"/>
          </a:xfrm>
          <a:prstGeom prst="rect">
            <a:avLst/>
          </a:prstGeom>
          <a:noFill/>
          <a:ln/>
        </p:spPr>
        <p:txBody>
          <a:bodyPr wrap="square" lIns="0" tIns="0" rIns="0" bIns="0" rtlCol="0" anchor="t"/>
          <a:lstStyle/>
          <a:p>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โฮเวิร์ด ชูลต์ซ ไปเยือนบาร์เอสเพรสโซในมิลาน และสังเกตว่าร้านเหล่านั้นไม่ได้แค่ขายเครื่องดื่ม แต่เป็น</a:t>
            </a:r>
            <a:pPr algn="l" indent="0" marL="0">
              <a:lnSpc>
                <a:spcPts val="1569"/>
              </a:lnSpc>
              <a:buNone/>
            </a:pPr>
            <a:r>
              <a:rPr lang="en-US" sz="1013" b="1" dirty="0">
                <a:solidFill>
                  <a:srgbClr val="3A3A36"/>
                </a:solidFill>
                <a:latin typeface="Sarabun" pitchFamily="34" charset="0"/>
                <a:ea typeface="Sarabun" pitchFamily="34" charset="-122"/>
                <a:cs typeface="Sarabun" pitchFamily="34" charset="-120"/>
              </a:rPr>
              <a:t>ห้องนั่งเล่นของชุมชน</a:t>
            </a:r>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ที่มีชีวิตชีวา</a:t>
            </a:r>
            <a:endParaRPr lang="en-US" sz="1013" dirty="0"/>
          </a:p>
        </p:txBody>
      </p:sp>
      <p:sp>
        <p:nvSpPr>
          <p:cNvPr id="13" name="b2:rise"/>
          <p:cNvSpPr/>
          <p:nvPr/>
        </p:nvSpPr>
        <p:spPr>
          <a:xfrm>
            <a:off x="4295924" y="1676400"/>
            <a:ext cx="556915" cy="228600"/>
          </a:xfrm>
          <a:prstGeom prst="roundRect">
            <a:avLst>
              <a:gd name="adj" fmla="val 50000"/>
            </a:avLst>
          </a:prstGeom>
          <a:solidFill>
            <a:srgbClr val="CBA258"/>
          </a:solidFill>
          <a:ln/>
        </p:spPr>
      </p:sp>
      <p:sp>
        <p:nvSpPr>
          <p:cNvPr id="14" name="b2:rise"/>
          <p:cNvSpPr txBox="1"/>
          <p:nvPr/>
        </p:nvSpPr>
        <p:spPr>
          <a:xfrm>
            <a:off x="4295924" y="1676400"/>
            <a:ext cx="601468" cy="228600"/>
          </a:xfrm>
          <a:prstGeom prst="rect">
            <a:avLst/>
          </a:prstGeom>
          <a:noFill/>
          <a:ln/>
        </p:spPr>
        <p:txBody>
          <a:bodyPr wrap="none" lIns="104775" tIns="0" rIns="104775" bIns="0" rtlCol="0" anchor="ctr"/>
          <a:lstStyle/>
          <a:p>
            <a:pPr algn="l" indent="0" marL="0">
              <a:lnSpc>
                <a:spcPts val="1350"/>
              </a:lnSpc>
              <a:buNone/>
            </a:pPr>
            <a:r>
              <a:rPr lang="en-US" sz="900" b="1" dirty="0">
                <a:solidFill>
                  <a:srgbClr val="191919"/>
                </a:solidFill>
                <a:latin typeface="Sarabun" pitchFamily="34" charset="0"/>
                <a:ea typeface="Sarabun" pitchFamily="34" charset="-122"/>
                <a:cs typeface="Sarabun" pitchFamily="34" charset="-120"/>
              </a:rPr>
              <a:t>แนวคิด</a:t>
            </a:r>
            <a:endParaRPr lang="en-US" sz="900" dirty="0"/>
          </a:p>
        </p:txBody>
      </p:sp>
      <p:sp>
        <p:nvSpPr>
          <p:cNvPr id="15" name="b2:rise"/>
          <p:cNvSpPr/>
          <p:nvPr/>
        </p:nvSpPr>
        <p:spPr>
          <a:xfrm>
            <a:off x="3290887" y="2000250"/>
            <a:ext cx="2566988" cy="1714500"/>
          </a:xfrm>
          <a:prstGeom prst="roundRect">
            <a:avLst>
              <a:gd name="adj" fmla="val 444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6" name="b2:rise"/>
          <p:cNvSpPr txBox="1"/>
          <p:nvPr/>
        </p:nvSpPr>
        <p:spPr>
          <a:xfrm>
            <a:off x="3448050" y="2157413"/>
            <a:ext cx="2432876"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วิสัยทัศน์</a:t>
            </a:r>
            <a:endParaRPr lang="en-US" sz="1275" dirty="0"/>
          </a:p>
        </p:txBody>
      </p:sp>
      <p:sp>
        <p:nvSpPr>
          <p:cNvPr id="17" name="b2:rise"/>
          <p:cNvSpPr txBox="1"/>
          <p:nvPr/>
        </p:nvSpPr>
        <p:spPr>
          <a:xfrm>
            <a:off x="3448050" y="2441228"/>
            <a:ext cx="2342769" cy="597843"/>
          </a:xfrm>
          <a:prstGeom prst="rect">
            <a:avLst/>
          </a:prstGeom>
          <a:noFill/>
          <a:ln/>
        </p:spPr>
        <p:txBody>
          <a:bodyPr wrap="square" lIns="0" tIns="0" rIns="0" bIns="0" rtlCol="0" anchor="t"/>
          <a:lstStyle/>
          <a:p>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อเมริกาต้องการวัฒนธรรมเอสเพรสโซแท้ ๆ ที่สร้างขึ้นจาก</a:t>
            </a:r>
            <a:pPr algn="l" indent="0" marL="0">
              <a:lnSpc>
                <a:spcPts val="1569"/>
              </a:lnSpc>
              <a:buNone/>
            </a:pPr>
            <a:r>
              <a:rPr lang="en-US" sz="1013" b="1" dirty="0">
                <a:solidFill>
                  <a:srgbClr val="3A3A36"/>
                </a:solidFill>
                <a:latin typeface="Sarabun" pitchFamily="34" charset="0"/>
                <a:ea typeface="Sarabun" pitchFamily="34" charset="-122"/>
                <a:cs typeface="Sarabun" pitchFamily="34" charset="-120"/>
              </a:rPr>
              <a:t>การเชื่อมโยงระหว่างผู้คน ความรวดเร็ว และฝีมือ</a:t>
            </a:r>
            <a:endParaRPr lang="en-US" sz="1013" dirty="0"/>
          </a:p>
        </p:txBody>
      </p:sp>
      <p:sp>
        <p:nvSpPr>
          <p:cNvPr id="18" name="b3:rise"/>
          <p:cNvSpPr/>
          <p:nvPr/>
        </p:nvSpPr>
        <p:spPr>
          <a:xfrm>
            <a:off x="7019330" y="1676400"/>
            <a:ext cx="467916" cy="228600"/>
          </a:xfrm>
          <a:prstGeom prst="roundRect">
            <a:avLst>
              <a:gd name="adj" fmla="val 50000"/>
            </a:avLst>
          </a:prstGeom>
          <a:solidFill>
            <a:srgbClr val="006241"/>
          </a:solidFill>
          <a:ln/>
        </p:spPr>
      </p:sp>
      <p:sp>
        <p:nvSpPr>
          <p:cNvPr id="19" name="b3:rise"/>
          <p:cNvSpPr txBox="1"/>
          <p:nvPr/>
        </p:nvSpPr>
        <p:spPr>
          <a:xfrm>
            <a:off x="7019330" y="1676400"/>
            <a:ext cx="505349" cy="228600"/>
          </a:xfrm>
          <a:prstGeom prst="rect">
            <a:avLst/>
          </a:prstGeom>
          <a:noFill/>
          <a:ln/>
        </p:spPr>
        <p:txBody>
          <a:bodyPr wrap="none" lIns="104775" tIns="0" rIns="104775" bIns="0" rtlCol="0" anchor="ctr"/>
          <a:lstStyle/>
          <a:p>
            <a:pPr algn="l" indent="0" marL="0">
              <a:lnSpc>
                <a:spcPts val="1350"/>
              </a:lnSpc>
              <a:buNone/>
            </a:pPr>
            <a:r>
              <a:rPr lang="en-US" sz="900" b="1" dirty="0">
                <a:solidFill>
                  <a:srgbClr val="F7F5F0"/>
                </a:solidFill>
                <a:latin typeface="Sarabun" pitchFamily="34" charset="0"/>
                <a:ea typeface="Sarabun" pitchFamily="34" charset="-122"/>
                <a:cs typeface="Sarabun" pitchFamily="34" charset="-120"/>
              </a:rPr>
              <a:t>1987</a:t>
            </a:r>
            <a:endParaRPr lang="en-US" sz="900" dirty="0"/>
          </a:p>
        </p:txBody>
      </p:sp>
      <p:sp>
        <p:nvSpPr>
          <p:cNvPr id="20" name="b3:rise"/>
          <p:cNvSpPr/>
          <p:nvPr/>
        </p:nvSpPr>
        <p:spPr>
          <a:xfrm>
            <a:off x="5972175" y="2000250"/>
            <a:ext cx="2562225" cy="1714500"/>
          </a:xfrm>
          <a:prstGeom prst="roundRect">
            <a:avLst>
              <a:gd name="adj" fmla="val 444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1" name="b3:rise"/>
          <p:cNvSpPr txBox="1"/>
          <p:nvPr/>
        </p:nvSpPr>
        <p:spPr>
          <a:xfrm>
            <a:off x="6129338" y="2157413"/>
            <a:ext cx="2427732"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การเข้าซื้อกิจการ</a:t>
            </a:r>
            <a:endParaRPr lang="en-US" sz="1275" dirty="0"/>
          </a:p>
        </p:txBody>
      </p:sp>
      <p:sp>
        <p:nvSpPr>
          <p:cNvPr id="22" name="b3:rise"/>
          <p:cNvSpPr txBox="1"/>
          <p:nvPr/>
        </p:nvSpPr>
        <p:spPr>
          <a:xfrm>
            <a:off x="6129338" y="2441228"/>
            <a:ext cx="2337816" cy="597843"/>
          </a:xfrm>
          <a:prstGeom prst="rect">
            <a:avLst/>
          </a:prstGeom>
          <a:noFill/>
          <a:ln/>
        </p:spPr>
        <p:txBody>
          <a:bodyPr wrap="square" lIns="0" tIns="0" rIns="0" bIns="0" rtlCol="0" anchor="t"/>
          <a:lstStyle/>
          <a:p>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ชูลต์ซซื้อสตาร์บัคส์ในราคา </a:t>
            </a:r>
            <a:pPr algn="l" indent="0" marL="0">
              <a:lnSpc>
                <a:spcPts val="1569"/>
              </a:lnSpc>
              <a:buNone/>
            </a:pPr>
            <a:r>
              <a:rPr lang="en-US" sz="1013" b="1" dirty="0">
                <a:solidFill>
                  <a:srgbClr val="006241"/>
                </a:solidFill>
                <a:latin typeface="Sarabun" pitchFamily="34" charset="0"/>
                <a:ea typeface="Sarabun" pitchFamily="34" charset="-122"/>
                <a:cs typeface="Sarabun" pitchFamily="34" charset="-120"/>
              </a:rPr>
              <a:t>3.8 ล้านดอลลาร์</a:t>
            </a:r>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 และรวมแนวคิดร้าน Il Giornale ของเขาเข้าไป เปิดศักราชร้านกาแฟยุคใหม่</a:t>
            </a:r>
            <a:endParaRPr lang="en-US" sz="1013" dirty="0"/>
          </a:p>
        </p:txBody>
      </p:sp>
      <p:sp>
        <p:nvSpPr>
          <p:cNvPr id="23" name="b4:fade"/>
          <p:cNvSpPr txBox="1"/>
          <p:nvPr/>
        </p:nvSpPr>
        <p:spPr>
          <a:xfrm>
            <a:off x="609600" y="4135041"/>
            <a:ext cx="287634"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ถัดไป</a:t>
            </a:r>
            <a:endParaRPr lang="en-US" sz="900" dirty="0"/>
          </a:p>
        </p:txBody>
      </p:sp>
      <p:sp>
        <p:nvSpPr>
          <p:cNvPr id="24" name="b4:fade"/>
          <p:cNvSpPr txBox="1"/>
          <p:nvPr/>
        </p:nvSpPr>
        <p:spPr>
          <a:xfrm>
            <a:off x="971178" y="4124325"/>
            <a:ext cx="6296046" cy="192881"/>
          </a:xfrm>
          <a:prstGeom prst="rect">
            <a:avLst/>
          </a:prstGeom>
          <a:noFill/>
          <a:ln/>
        </p:spPr>
        <p:txBody>
          <a:bodyPr wrap="none" lIns="0" tIns="0" rIns="0" bIns="0" rtlCol="0" anchor="ctr"/>
          <a:lstStyle/>
          <a:p>
            <a:pPr algn="l" indent="0" marL="0">
              <a:lnSpc>
                <a:spcPts val="1519"/>
              </a:lnSpc>
              <a:buNone/>
            </a:pPr>
            <a:r>
              <a:rPr lang="en-US" sz="1013" dirty="0">
                <a:solidFill>
                  <a:srgbClr val="3A3A36"/>
                </a:solidFill>
                <a:latin typeface="Sarabun" pitchFamily="34" charset="0"/>
                <a:ea typeface="Sarabun" pitchFamily="34" charset="-122"/>
                <a:cs typeface="Sarabun" pitchFamily="34" charset="-120"/>
              </a:rPr>
              <a:t>ชูลต์ซไม่ได้แค่อยากขายกาแฟ เขาอยากสร้าง</a:t>
            </a:r>
            <a:pPr algn="l" indent="0" marL="0">
              <a:lnSpc>
                <a:spcPts val="1519"/>
              </a:lnSpc>
              <a:buNone/>
            </a:pPr>
            <a:r>
              <a:rPr lang="en-US" sz="1013" b="1" dirty="0">
                <a:solidFill>
                  <a:srgbClr val="006241"/>
                </a:solidFill>
                <a:latin typeface="Sarabun" pitchFamily="34" charset="0"/>
                <a:ea typeface="Sarabun" pitchFamily="34" charset="-122"/>
                <a:cs typeface="Sarabun" pitchFamily="34" charset="-120"/>
              </a:rPr>
              <a:t>พื้นที่ใหม่ในชีวิตของผู้คน</a:t>
            </a:r>
            <a:pPr algn="l" indent="0" marL="0">
              <a:lnSpc>
                <a:spcPts val="1519"/>
              </a:lnSpc>
              <a:buNone/>
            </a:pPr>
            <a:r>
              <a:rPr lang="en-US" sz="1013" dirty="0">
                <a:solidFill>
                  <a:srgbClr val="3A3A36"/>
                </a:solidFill>
                <a:latin typeface="Sarabun" pitchFamily="34" charset="0"/>
                <a:ea typeface="Sarabun" pitchFamily="34" charset="-122"/>
                <a:cs typeface="Sarabun" pitchFamily="34" charset="-120"/>
              </a:rPr>
              <a:t>…</a:t>
            </a:r>
            <a:endParaRPr lang="en-US" sz="1013" dirty="0"/>
          </a:p>
        </p:txBody>
      </p:sp>
      <p:sp>
        <p:nvSpPr>
          <p:cNvPr id="25" name="!!tkey3-1"/>
          <p:cNvSpPr/>
          <p:nvPr/>
        </p:nvSpPr>
        <p:spPr>
          <a:xfrm>
            <a:off x="6438900" y="4572000"/>
            <a:ext cx="2095500" cy="266700"/>
          </a:xfrm>
          <a:prstGeom prst="roundRect">
            <a:avLst>
              <a:gd name="adj" fmla="val 50000"/>
            </a:avLst>
          </a:prstGeom>
          <a:solidFill>
            <a:srgbClr val="CBA258"/>
          </a:solidFill>
          <a:ln/>
        </p:spPr>
      </p:sp>
      <p:sp>
        <p:nvSpPr>
          <p:cNvPr id="26" name="!!tkey3-2"/>
          <p:cNvSpPr txBox="1"/>
          <p:nvPr/>
        </p:nvSpPr>
        <p:spPr>
          <a:xfrm>
            <a:off x="6438900" y="45720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Third Place · บ้านหลังที่สาม</a:t>
            </a:r>
            <a:endParaRPr lang="en-US" sz="900" dirty="0"/>
          </a:p>
        </p:txBody>
      </p:sp>
      <p:sp>
        <p:nvSpPr>
          <p:cNvPr id="27" name="static"/>
          <p:cNvSpPr txBox="1"/>
          <p:nvPr/>
        </p:nvSpPr>
        <p:spPr>
          <a:xfrm>
            <a:off x="609600" y="4667250"/>
            <a:ext cx="1628254" cy="171450"/>
          </a:xfrm>
          <a:prstGeom prst="rect">
            <a:avLst/>
          </a:prstGeom>
          <a:noFill/>
          <a:ln/>
        </p:spPr>
        <p:txBody>
          <a:bodyPr wrap="none" lIns="0" tIns="0" rIns="0" bIns="0" rtlCol="0" anchor="ctr"/>
          <a:lstStyle/>
          <a:p>
            <a:pPr algn="l" indent="0" marL="0">
              <a:lnSpc>
                <a:spcPts val="1350"/>
              </a:lnSpc>
              <a:buNone/>
            </a:pPr>
            <a:r>
              <a:rPr lang="en-US" sz="900" dirty="0">
                <a:solidFill>
                  <a:srgbClr val="6B6A63"/>
                </a:solidFill>
                <a:latin typeface="Sarabun" pitchFamily="34" charset="0"/>
                <a:ea typeface="Sarabun" pitchFamily="34" charset="-122"/>
                <a:cs typeface="Sarabun" pitchFamily="34" charset="-120"/>
              </a:rPr>
              <a:t>สไลด์ 3 จาก 8 · ตอนที่ 2 · จุดเปลี่ยน</a:t>
            </a:r>
            <a:endParaRPr lang="en-US" sz="900" dirty="0"/>
          </a:p>
        </p:txBody>
      </p:sp>
      <p:sp>
        <p:nvSpPr>
          <p:cNvPr id="28" name="static"/>
          <p:cNvSpPr/>
          <p:nvPr/>
        </p:nvSpPr>
        <p:spPr>
          <a:xfrm>
            <a:off x="2428354" y="4724400"/>
            <a:ext cx="57150" cy="57150"/>
          </a:xfrm>
          <a:prstGeom prst="roundRect">
            <a:avLst>
              <a:gd name="adj" fmla="val 50000"/>
            </a:avLst>
          </a:prstGeom>
          <a:solidFill>
            <a:srgbClr val="006241"/>
          </a:solidFill>
          <a:ln/>
        </p:spPr>
      </p:sp>
      <p:sp>
        <p:nvSpPr>
          <p:cNvPr id="29" name="static"/>
          <p:cNvSpPr/>
          <p:nvPr/>
        </p:nvSpPr>
        <p:spPr>
          <a:xfrm>
            <a:off x="2533129" y="4724400"/>
            <a:ext cx="57150" cy="57150"/>
          </a:xfrm>
          <a:prstGeom prst="roundRect">
            <a:avLst>
              <a:gd name="adj" fmla="val 50000"/>
            </a:avLst>
          </a:prstGeom>
          <a:solidFill>
            <a:srgbClr val="006241"/>
          </a:solidFill>
          <a:ln/>
        </p:spPr>
      </p:sp>
      <p:sp>
        <p:nvSpPr>
          <p:cNvPr id="30" name="static"/>
          <p:cNvSpPr/>
          <p:nvPr/>
        </p:nvSpPr>
        <p:spPr>
          <a:xfrm>
            <a:off x="2637904" y="4724400"/>
            <a:ext cx="171450" cy="57150"/>
          </a:xfrm>
          <a:prstGeom prst="roundRect">
            <a:avLst>
              <a:gd name="adj" fmla="val 50000"/>
            </a:avLst>
          </a:prstGeom>
          <a:solidFill>
            <a:srgbClr val="CBA258"/>
          </a:solidFill>
          <a:ln/>
        </p:spPr>
      </p:sp>
      <p:sp>
        <p:nvSpPr>
          <p:cNvPr id="31" name="static"/>
          <p:cNvSpPr/>
          <p:nvPr/>
        </p:nvSpPr>
        <p:spPr>
          <a:xfrm>
            <a:off x="2856979" y="4724400"/>
            <a:ext cx="57150" cy="57150"/>
          </a:xfrm>
          <a:prstGeom prst="roundRect">
            <a:avLst>
              <a:gd name="adj" fmla="val 50000"/>
            </a:avLst>
          </a:prstGeom>
          <a:solidFill>
            <a:srgbClr val="C5D8D0"/>
          </a:solidFill>
          <a:ln/>
        </p:spPr>
      </p:sp>
      <p:sp>
        <p:nvSpPr>
          <p:cNvPr id="32" name="static"/>
          <p:cNvSpPr/>
          <p:nvPr/>
        </p:nvSpPr>
        <p:spPr>
          <a:xfrm>
            <a:off x="2961754" y="4724400"/>
            <a:ext cx="57150" cy="57150"/>
          </a:xfrm>
          <a:prstGeom prst="roundRect">
            <a:avLst>
              <a:gd name="adj" fmla="val 50000"/>
            </a:avLst>
          </a:prstGeom>
          <a:solidFill>
            <a:srgbClr val="C5D8D0"/>
          </a:solidFill>
          <a:ln/>
        </p:spPr>
      </p:sp>
      <p:sp>
        <p:nvSpPr>
          <p:cNvPr id="33" name="static"/>
          <p:cNvSpPr/>
          <p:nvPr/>
        </p:nvSpPr>
        <p:spPr>
          <a:xfrm>
            <a:off x="3066529" y="4724400"/>
            <a:ext cx="57150" cy="57150"/>
          </a:xfrm>
          <a:prstGeom prst="roundRect">
            <a:avLst>
              <a:gd name="adj" fmla="val 50000"/>
            </a:avLst>
          </a:prstGeom>
          <a:solidFill>
            <a:srgbClr val="C5D8D0"/>
          </a:solidFill>
          <a:ln/>
        </p:spPr>
      </p:sp>
      <p:sp>
        <p:nvSpPr>
          <p:cNvPr id="34" name="static"/>
          <p:cNvSpPr/>
          <p:nvPr/>
        </p:nvSpPr>
        <p:spPr>
          <a:xfrm>
            <a:off x="3171304" y="4724400"/>
            <a:ext cx="57150" cy="57150"/>
          </a:xfrm>
          <a:prstGeom prst="roundRect">
            <a:avLst>
              <a:gd name="adj" fmla="val 50000"/>
            </a:avLst>
          </a:prstGeom>
          <a:solidFill>
            <a:srgbClr val="C5D8D0"/>
          </a:solidFill>
          <a:ln/>
        </p:spPr>
      </p:sp>
      <p:sp>
        <p:nvSpPr>
          <p:cNvPr id="35" name="static"/>
          <p:cNvSpPr/>
          <p:nvPr/>
        </p:nvSpPr>
        <p:spPr>
          <a:xfrm>
            <a:off x="3276079" y="4724400"/>
            <a:ext cx="57150" cy="57150"/>
          </a:xfrm>
          <a:prstGeom prst="roundRect">
            <a:avLst>
              <a:gd name="adj" fmla="val 50000"/>
            </a:avLst>
          </a:prstGeom>
          <a:solidFill>
            <a:srgbClr val="C5D8D0"/>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700"/>
                                        <p:tgtEl>
                                          <p:spTgt spid="8"/>
                                        </p:tgtEl>
                                      </p:cBhvr>
                                    </p:animEffect>
                                    <p:anim calcmode="lin" valueType="num">
                                      <p:cBhvr additive="base">
                                        <p:cTn id="6" dur="700" fill="hold"/>
                                        <p:tgtEl>
                                          <p:spTgt spid="8"/>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700"/>
                                        <p:tgtEl>
                                          <p:spTgt spid="9"/>
                                        </p:tgtEl>
                                      </p:cBhvr>
                                    </p:animEffect>
                                    <p:anim calcmode="lin" valueType="num">
                                      <p:cBhvr additive="base">
                                        <p:cTn id="10" dur="700" fill="hold"/>
                                        <p:tgtEl>
                                          <p:spTgt spid="9"/>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700"/>
                                        <p:tgtEl>
                                          <p:spTgt spid="10"/>
                                        </p:tgtEl>
                                      </p:cBhvr>
                                    </p:animEffect>
                                    <p:anim calcmode="lin" valueType="num">
                                      <p:cBhvr additive="base">
                                        <p:cTn id="14" dur="700" fill="hold"/>
                                        <p:tgtEl>
                                          <p:spTgt spid="10"/>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700"/>
                                        <p:tgtEl>
                                          <p:spTgt spid="11"/>
                                        </p:tgtEl>
                                      </p:cBhvr>
                                    </p:animEffect>
                                    <p:anim calcmode="lin" valueType="num">
                                      <p:cBhvr additive="base">
                                        <p:cTn id="18" dur="700" fill="hold"/>
                                        <p:tgtEl>
                                          <p:spTgt spid="11"/>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700"/>
                                        <p:tgtEl>
                                          <p:spTgt spid="12"/>
                                        </p:tgtEl>
                                      </p:cBhvr>
                                    </p:animEffect>
                                    <p:anim calcmode="lin" valueType="num">
                                      <p:cBhvr additive="base">
                                        <p:cTn id="22" dur="700" fill="hold"/>
                                        <p:tgtEl>
                                          <p:spTgt spid="12"/>
                                        </p:tgtEl>
                                        <p:attrNameLst>
                                          <p:attrName>ppt_y</p:attrName>
                                        </p:attrNameLst>
                                      </p:cBhvr>
                                      <p:tavLst>
                                        <p:tav tm="0">
                                          <p:val>
                                            <p:strVal val="#ppt_y+.08"/>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700"/>
                                        <p:tgtEl>
                                          <p:spTgt spid="13"/>
                                        </p:tgtEl>
                                      </p:cBhvr>
                                    </p:animEffect>
                                    <p:anim calcmode="lin" valueType="num">
                                      <p:cBhvr additive="base">
                                        <p:cTn id="28" dur="700" fill="hold"/>
                                        <p:tgtEl>
                                          <p:spTgt spid="13"/>
                                        </p:tgtEl>
                                        <p:attrNameLst>
                                          <p:attrName>ppt_y</p:attrName>
                                        </p:attrNameLst>
                                      </p:cBhvr>
                                      <p:tavLst>
                                        <p:tav tm="0">
                                          <p:val>
                                            <p:strVal val="#ppt_y+.08"/>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700"/>
                                        <p:tgtEl>
                                          <p:spTgt spid="14"/>
                                        </p:tgtEl>
                                      </p:cBhvr>
                                    </p:animEffect>
                                    <p:anim calcmode="lin" valueType="num">
                                      <p:cBhvr additive="base">
                                        <p:cTn id="32" dur="700" fill="hold"/>
                                        <p:tgtEl>
                                          <p:spTgt spid="14"/>
                                        </p:tgtEl>
                                        <p:attrNameLst>
                                          <p:attrName>ppt_y</p:attrName>
                                        </p:attrNameLst>
                                      </p:cBhvr>
                                      <p:tavLst>
                                        <p:tav tm="0">
                                          <p:val>
                                            <p:strVal val="#ppt_y+.0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700"/>
                                        <p:tgtEl>
                                          <p:spTgt spid="15"/>
                                        </p:tgtEl>
                                      </p:cBhvr>
                                    </p:animEffect>
                                    <p:anim calcmode="lin" valueType="num">
                                      <p:cBhvr additive="base">
                                        <p:cTn id="36" dur="700" fill="hold"/>
                                        <p:tgtEl>
                                          <p:spTgt spid="15"/>
                                        </p:tgtEl>
                                        <p:attrNameLst>
                                          <p:attrName>ppt_y</p:attrName>
                                        </p:attrNameLst>
                                      </p:cBhvr>
                                      <p:tavLst>
                                        <p:tav tm="0">
                                          <p:val>
                                            <p:strVal val="#ppt_y+.08"/>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700"/>
                                        <p:tgtEl>
                                          <p:spTgt spid="16"/>
                                        </p:tgtEl>
                                      </p:cBhvr>
                                    </p:animEffect>
                                    <p:anim calcmode="lin" valueType="num">
                                      <p:cBhvr additive="base">
                                        <p:cTn id="40" dur="700" fill="hold"/>
                                        <p:tgtEl>
                                          <p:spTgt spid="16"/>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700"/>
                                        <p:tgtEl>
                                          <p:spTgt spid="17"/>
                                        </p:tgtEl>
                                      </p:cBhvr>
                                    </p:animEffect>
                                    <p:anim calcmode="lin" valueType="num">
                                      <p:cBhvr additive="base">
                                        <p:cTn id="44" dur="700" fill="hold"/>
                                        <p:tgtEl>
                                          <p:spTgt spid="17"/>
                                        </p:tgtEl>
                                        <p:attrNameLst>
                                          <p:attrName>ppt_y</p:attrName>
                                        </p:attrNameLst>
                                      </p:cBhvr>
                                      <p:tavLst>
                                        <p:tav tm="0">
                                          <p:val>
                                            <p:strVal val="#ppt_y+.08"/>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700"/>
                                        <p:tgtEl>
                                          <p:spTgt spid="18"/>
                                        </p:tgtEl>
                                      </p:cBhvr>
                                    </p:animEffect>
                                    <p:anim calcmode="lin" valueType="num">
                                      <p:cBhvr additive="base">
                                        <p:cTn id="50" dur="700" fill="hold"/>
                                        <p:tgtEl>
                                          <p:spTgt spid="18"/>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700"/>
                                        <p:tgtEl>
                                          <p:spTgt spid="19"/>
                                        </p:tgtEl>
                                      </p:cBhvr>
                                    </p:animEffect>
                                    <p:anim calcmode="lin" valueType="num">
                                      <p:cBhvr additive="base">
                                        <p:cTn id="54" dur="700" fill="hold"/>
                                        <p:tgtEl>
                                          <p:spTgt spid="19"/>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700"/>
                                        <p:tgtEl>
                                          <p:spTgt spid="20"/>
                                        </p:tgtEl>
                                      </p:cBhvr>
                                    </p:animEffect>
                                    <p:anim calcmode="lin" valueType="num">
                                      <p:cBhvr additive="base">
                                        <p:cTn id="58" dur="700" fill="hold"/>
                                        <p:tgtEl>
                                          <p:spTgt spid="20"/>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700"/>
                                        <p:tgtEl>
                                          <p:spTgt spid="21"/>
                                        </p:tgtEl>
                                      </p:cBhvr>
                                    </p:animEffect>
                                    <p:anim calcmode="lin" valueType="num">
                                      <p:cBhvr additive="base">
                                        <p:cTn id="62" dur="700" fill="hold"/>
                                        <p:tgtEl>
                                          <p:spTgt spid="21"/>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700"/>
                                        <p:tgtEl>
                                          <p:spTgt spid="22"/>
                                        </p:tgtEl>
                                      </p:cBhvr>
                                    </p:animEffect>
                                    <p:anim calcmode="lin" valueType="num">
                                      <p:cBhvr additive="base">
                                        <p:cTn id="66" dur="700" fill="hold"/>
                                        <p:tgtEl>
                                          <p:spTgt spid="22"/>
                                        </p:tgtEl>
                                        <p:attrNameLst>
                                          <p:attrName>ppt_y</p:attrName>
                                        </p:attrNameLst>
                                      </p:cBhvr>
                                      <p:tavLst>
                                        <p:tav tm="0">
                                          <p:val>
                                            <p:strVal val="#ppt_y+.08"/>
                                          </p:val>
                                        </p:tav>
                                        <p:tav tm="100000">
                                          <p:val>
                                            <p:strVal val="#ppt_y"/>
                                          </p:val>
                                        </p:tav>
                                      </p:tavLst>
                                    </p:anim>
                                  </p:childTnLst>
                                </p:cTn>
                              </p:par>
                            </p:childTnLst>
                          </p:cTn>
                        </p:par>
                      </p:childTnLst>
                    </p:cTn>
                  </p:par>
                  <p:par>
                    <p:cTn id="75" fill="hold">
                      <p:stCondLst>
                        <p:cond delay="indefinite"/>
                      </p:stCondLst>
                      <p:childTnLst>
                        <p:par>
                          <p:cTn id="76"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5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500"/>
                                        <p:tgtEl>
                                          <p:spTgt spid="24"/>
                                        </p:tgtEl>
                                      </p:cBhvr>
                                    </p:animEffect>
                                  </p:childTnLst>
                                </p:cTn>
                              </p:par>
                            </p:childTnLst>
                          </p:cTn>
                        </p:par>
                      </p:childTnLst>
                    </p:cTn>
                  </p:par>
                  <p:par>
                    <p:cTn id="85" fill="hold">
                      <p:stCondLst>
                        <p:cond delay="indefinite"/>
                      </p:stCondLst>
                      <p:childTnLst>
                        <p:par>
                          <p:cTn id="86" fill="hold">
                            <p:stCondLst>
                              <p:cond delay="0"/>
                            </p:stCondLst>
                            <p:childTnLst>
                              <p:par>
                                <p:cTn id="77" presetID="23" presetClass="entr" presetSubtype="16" fill="hold" grpId="0" nodeType="clickEffect">
                                  <p:stCondLst>
                                    <p:cond delay="0"/>
                                  </p:stCondLst>
                                  <p:childTnLst>
                                    <p:set>
                                      <p:cBhvr>
                                        <p:cTn id="78" dur="1" fill="hold">
                                          <p:stCondLst>
                                            <p:cond delay="0"/>
                                          </p:stCondLst>
                                        </p:cTn>
                                        <p:tgtEl>
                                          <p:spTgt spid="25"/>
                                        </p:tgtEl>
                                        <p:attrNameLst>
                                          <p:attrName>style.visibility</p:attrName>
                                        </p:attrNameLst>
                                      </p:cBhvr>
                                      <p:to>
                                        <p:strVal val="visible"/>
                                      </p:to>
                                    </p:set>
                                    <p:animScale>
                                      <p:cBhvr>
                                        <p:cTn id="79" dur="500" fill="hold"/>
                                        <p:tgtEl>
                                          <p:spTgt spid="25"/>
                                        </p:tgtEl>
                                      </p:cBhvr>
                                      <p:from x="0" y="0"/>
                                      <p:to x="100000" y="100000"/>
                                    </p:animScale>
                                    <p:animEffect transition="in" filter="fade">
                                      <p:cBhvr>
                                        <p:cTn id="80" dur="500"/>
                                        <p:tgtEl>
                                          <p:spTgt spid="25"/>
                                        </p:tgtEl>
                                      </p:cBhvr>
                                    </p:animEffect>
                                  </p:childTnLst>
                                </p:cTn>
                              </p:par>
                              <p:par>
                                <p:cTn id="81" presetID="23" presetClass="entr" presetSubtype="16" fill="hold" grpId="0" nodeType="withEffect">
                                  <p:stCondLst>
                                    <p:cond delay="0"/>
                                  </p:stCondLst>
                                  <p:childTnLst>
                                    <p:set>
                                      <p:cBhvr>
                                        <p:cTn id="82" dur="1" fill="hold">
                                          <p:stCondLst>
                                            <p:cond delay="0"/>
                                          </p:stCondLst>
                                        </p:cTn>
                                        <p:tgtEl>
                                          <p:spTgt spid="26"/>
                                        </p:tgtEl>
                                        <p:attrNameLst>
                                          <p:attrName>style.visibility</p:attrName>
                                        </p:attrNameLst>
                                      </p:cBhvr>
                                      <p:to>
                                        <p:strVal val="visible"/>
                                      </p:to>
                                    </p:set>
                                    <p:animScale>
                                      <p:cBhvr>
                                        <p:cTn id="83" dur="500" fill="hold"/>
                                        <p:tgtEl>
                                          <p:spTgt spid="26"/>
                                        </p:tgtEl>
                                      </p:cBhvr>
                                      <p:from x="0" y="0"/>
                                      <p:to x="100000" y="100000"/>
                                    </p:animScale>
                                    <p:animEffect transition="in" filter="fade">
                                      <p:cBhvr>
                                        <p:cTn id="84"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59048"/>
          </a:xfrm>
          <a:prstGeom prst="rect">
            <a:avLst/>
          </a:prstGeom>
          <a:noFill/>
          <a:ln/>
        </p:spPr>
        <p:txBody>
          <a:bodyPr wrap="none" lIns="0" tIns="0" rIns="0" bIns="0" rtlCol="0" anchor="ctr"/>
          <a:lstStyle/>
          <a:p>
            <a:pPr algn="l" indent="0" marL="0">
              <a:lnSpc>
                <a:spcPts val="2828"/>
              </a:lnSpc>
              <a:buNone/>
            </a:pPr>
            <a:r>
              <a:rPr lang="en-US" sz="2175" b="1" dirty="0">
                <a:solidFill>
                  <a:srgbClr val="191919"/>
                </a:solidFill>
                <a:latin typeface="Pridi" pitchFamily="34" charset="0"/>
                <a:ea typeface="Pridi" pitchFamily="34" charset="-122"/>
                <a:cs typeface="Pridi" pitchFamily="34" charset="-120"/>
              </a:rPr>
              <a:t>บทที่ 3: กรอบแนวคิด "บ้านหลังที่สาม"</a:t>
            </a:r>
            <a:endParaRPr lang="en-US" sz="2175" dirty="0"/>
          </a:p>
        </p:txBody>
      </p:sp>
      <p:sp>
        <p:nvSpPr>
          <p:cNvPr id="3" name="static"/>
          <p:cNvSpPr txBox="1"/>
          <p:nvPr/>
        </p:nvSpPr>
        <p:spPr>
          <a:xfrm>
            <a:off x="609600" y="1235348"/>
            <a:ext cx="6686550" cy="228600"/>
          </a:xfrm>
          <a:prstGeom prst="rect">
            <a:avLst/>
          </a:prstGeom>
          <a:noFill/>
          <a:ln/>
        </p:spPr>
        <p:txBody>
          <a:bodyPr wrap="none" lIns="0" tIns="0" rIns="0" bIns="0" rtlCol="0" anchor="ctr"/>
          <a:lstStyle/>
          <a:p>
            <a:pPr algn="l" indent="0" marL="0">
              <a:lnSpc>
                <a:spcPts val="1800"/>
              </a:lnSpc>
              <a:buNone/>
            </a:pPr>
            <a:r>
              <a:rPr lang="en-US" sz="1200" dirty="0">
                <a:solidFill>
                  <a:srgbClr val="3A3A36"/>
                </a:solidFill>
                <a:latin typeface="Sarabun" pitchFamily="34" charset="0"/>
                <a:ea typeface="Sarabun" pitchFamily="34" charset="-122"/>
                <a:cs typeface="Sarabun" pitchFamily="34" charset="-120"/>
              </a:rPr>
              <a:t>ปรัชญาหลักของแบรนด์</a:t>
            </a:r>
            <a:endParaRPr lang="en-US" sz="1200" dirty="0"/>
          </a:p>
        </p:txBody>
      </p:sp>
      <p:sp>
        <p:nvSpPr>
          <p:cNvPr id="4" name="static"/>
          <p:cNvSpPr txBox="1"/>
          <p:nvPr/>
        </p:nvSpPr>
        <p:spPr>
          <a:xfrm>
            <a:off x="609600" y="457200"/>
            <a:ext cx="4114800"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ตอนที่ 2 · การพัฒนาแนวคิด</a:t>
            </a:r>
            <a:endParaRPr lang="en-US" sz="900" dirty="0"/>
          </a:p>
        </p:txBody>
      </p:sp>
      <p:sp>
        <p:nvSpPr>
          <p:cNvPr id="5" name="!!tkey3-1"/>
          <p:cNvSpPr/>
          <p:nvPr/>
        </p:nvSpPr>
        <p:spPr>
          <a:xfrm>
            <a:off x="6438900" y="419100"/>
            <a:ext cx="2095500" cy="266700"/>
          </a:xfrm>
          <a:prstGeom prst="roundRect">
            <a:avLst>
              <a:gd name="adj" fmla="val 50000"/>
            </a:avLst>
          </a:prstGeom>
          <a:solidFill>
            <a:srgbClr val="CBA258"/>
          </a:solidFill>
          <a:ln/>
        </p:spPr>
      </p:sp>
      <p:sp>
        <p:nvSpPr>
          <p:cNvPr id="6" name="!!tkey3-2"/>
          <p:cNvSpPr txBox="1"/>
          <p:nvPr/>
        </p:nvSpPr>
        <p:spPr>
          <a:xfrm>
            <a:off x="6438900" y="4191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Third Place · บ้านหลังที่สาม</a:t>
            </a:r>
            <a:endParaRPr lang="en-US" sz="900" dirty="0"/>
          </a:p>
        </p:txBody>
      </p:sp>
      <p:sp>
        <p:nvSpPr>
          <p:cNvPr id="7" name="b1:rise"/>
          <p:cNvSpPr/>
          <p:nvPr/>
        </p:nvSpPr>
        <p:spPr>
          <a:xfrm>
            <a:off x="609600" y="1676400"/>
            <a:ext cx="7924800" cy="769590"/>
          </a:xfrm>
          <a:prstGeom prst="roundRect">
            <a:avLst>
              <a:gd name="adj" fmla="val 9901"/>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8" name="b1:rise"/>
          <p:cNvSpPr/>
          <p:nvPr/>
        </p:nvSpPr>
        <p:spPr>
          <a:xfrm>
            <a:off x="766763" y="1776413"/>
            <a:ext cx="1143000" cy="569565"/>
          </a:xfrm>
          <a:prstGeom prst="roundRect">
            <a:avLst>
              <a:gd name="adj" fmla="val 10034"/>
            </a:avLst>
          </a:prstGeom>
          <a:solidFill>
            <a:srgbClr val="F7F5F0"/>
          </a:solidFill>
          <a:ln/>
        </p:spPr>
      </p:sp>
      <p:sp>
        <p:nvSpPr>
          <p:cNvPr id="9" name="b1:rise"/>
          <p:cNvSpPr txBox="1"/>
          <p:nvPr/>
        </p:nvSpPr>
        <p:spPr>
          <a:xfrm>
            <a:off x="881063" y="1852612"/>
            <a:ext cx="987552"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ที่หนึ่ง</a:t>
            </a:r>
            <a:endParaRPr lang="en-US" sz="900" dirty="0"/>
          </a:p>
        </p:txBody>
      </p:sp>
      <p:sp>
        <p:nvSpPr>
          <p:cNvPr id="10" name="b1:rise"/>
          <p:cNvSpPr txBox="1"/>
          <p:nvPr/>
        </p:nvSpPr>
        <p:spPr>
          <a:xfrm>
            <a:off x="881063" y="2043113"/>
            <a:ext cx="987552"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บ้าน</a:t>
            </a:r>
            <a:endParaRPr lang="en-US" sz="1275" dirty="0"/>
          </a:p>
        </p:txBody>
      </p:sp>
      <p:sp>
        <p:nvSpPr>
          <p:cNvPr id="11" name="b1:rise"/>
          <p:cNvSpPr/>
          <p:nvPr/>
        </p:nvSpPr>
        <p:spPr>
          <a:xfrm>
            <a:off x="1985963" y="2004045"/>
            <a:ext cx="228600" cy="114300"/>
          </a:xfrm>
          <a:prstGeom prst="rightArrow">
            <a:avLst/>
          </a:prstGeom>
          <a:solidFill>
            <a:srgbClr val="CBA258"/>
          </a:solidFill>
          <a:ln/>
        </p:spPr>
      </p:sp>
      <p:sp>
        <p:nvSpPr>
          <p:cNvPr id="12" name="b1:rise"/>
          <p:cNvSpPr/>
          <p:nvPr/>
        </p:nvSpPr>
        <p:spPr>
          <a:xfrm>
            <a:off x="2290762" y="1776413"/>
            <a:ext cx="1143000" cy="569565"/>
          </a:xfrm>
          <a:prstGeom prst="roundRect">
            <a:avLst>
              <a:gd name="adj" fmla="val 10034"/>
            </a:avLst>
          </a:prstGeom>
          <a:solidFill>
            <a:srgbClr val="F7F5F0"/>
          </a:solidFill>
          <a:ln/>
        </p:spPr>
      </p:sp>
      <p:sp>
        <p:nvSpPr>
          <p:cNvPr id="13" name="b1:rise"/>
          <p:cNvSpPr txBox="1"/>
          <p:nvPr/>
        </p:nvSpPr>
        <p:spPr>
          <a:xfrm>
            <a:off x="2405062" y="1852612"/>
            <a:ext cx="987552"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ที่สอง</a:t>
            </a:r>
            <a:endParaRPr lang="en-US" sz="900" dirty="0"/>
          </a:p>
        </p:txBody>
      </p:sp>
      <p:sp>
        <p:nvSpPr>
          <p:cNvPr id="14" name="b1:rise"/>
          <p:cNvSpPr txBox="1"/>
          <p:nvPr/>
        </p:nvSpPr>
        <p:spPr>
          <a:xfrm>
            <a:off x="2405062" y="2043113"/>
            <a:ext cx="987552"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ที่ทำงาน</a:t>
            </a:r>
            <a:endParaRPr lang="en-US" sz="1275" dirty="0"/>
          </a:p>
        </p:txBody>
      </p:sp>
      <p:sp>
        <p:nvSpPr>
          <p:cNvPr id="15" name="b1:rise"/>
          <p:cNvSpPr/>
          <p:nvPr/>
        </p:nvSpPr>
        <p:spPr>
          <a:xfrm>
            <a:off x="3509963" y="2004045"/>
            <a:ext cx="228600" cy="114300"/>
          </a:xfrm>
          <a:prstGeom prst="rightArrow">
            <a:avLst/>
          </a:prstGeom>
          <a:solidFill>
            <a:srgbClr val="CBA258"/>
          </a:solidFill>
          <a:ln/>
        </p:spPr>
      </p:sp>
      <p:sp>
        <p:nvSpPr>
          <p:cNvPr id="16" name="b1:rise"/>
          <p:cNvSpPr/>
          <p:nvPr/>
        </p:nvSpPr>
        <p:spPr>
          <a:xfrm>
            <a:off x="3814763" y="1776413"/>
            <a:ext cx="1143000" cy="569565"/>
          </a:xfrm>
          <a:prstGeom prst="roundRect">
            <a:avLst>
              <a:gd name="adj" fmla="val 10034"/>
            </a:avLst>
          </a:prstGeom>
          <a:solidFill>
            <a:srgbClr val="006241"/>
          </a:solidFill>
          <a:ln/>
        </p:spPr>
      </p:sp>
      <p:sp>
        <p:nvSpPr>
          <p:cNvPr id="17" name="b1:rise"/>
          <p:cNvSpPr txBox="1"/>
          <p:nvPr/>
        </p:nvSpPr>
        <p:spPr>
          <a:xfrm>
            <a:off x="3929063" y="1852612"/>
            <a:ext cx="987552" cy="171450"/>
          </a:xfrm>
          <a:prstGeom prst="rect">
            <a:avLst/>
          </a:prstGeom>
          <a:noFill/>
          <a:ln/>
        </p:spPr>
        <p:txBody>
          <a:bodyPr wrap="none" lIns="0" tIns="0" rIns="0" bIns="0" rtlCol="0" anchor="ctr"/>
          <a:lstStyle/>
          <a:p>
            <a:pPr algn="l" indent="0" marL="0">
              <a:lnSpc>
                <a:spcPts val="1350"/>
              </a:lnSpc>
              <a:buNone/>
            </a:pPr>
            <a:r>
              <a:rPr lang="en-US" sz="900" b="1" dirty="0">
                <a:solidFill>
                  <a:srgbClr val="D4E9E2"/>
                </a:solidFill>
                <a:latin typeface="Sarabun" pitchFamily="34" charset="0"/>
                <a:ea typeface="Sarabun" pitchFamily="34" charset="-122"/>
                <a:cs typeface="Sarabun" pitchFamily="34" charset="-120"/>
              </a:rPr>
              <a:t>ที่สาม</a:t>
            </a:r>
            <a:endParaRPr lang="en-US" sz="900" dirty="0"/>
          </a:p>
        </p:txBody>
      </p:sp>
      <p:sp>
        <p:nvSpPr>
          <p:cNvPr id="18" name="b1:rise"/>
          <p:cNvSpPr txBox="1"/>
          <p:nvPr/>
        </p:nvSpPr>
        <p:spPr>
          <a:xfrm>
            <a:off x="3929063" y="2043113"/>
            <a:ext cx="987552" cy="226665"/>
          </a:xfrm>
          <a:prstGeom prst="rect">
            <a:avLst/>
          </a:prstGeom>
          <a:noFill/>
          <a:ln/>
        </p:spPr>
        <p:txBody>
          <a:bodyPr wrap="none" lIns="0" tIns="0" rIns="0" bIns="0" rtlCol="0" anchor="ctr"/>
          <a:lstStyle/>
          <a:p>
            <a:pPr algn="l" indent="0" marL="0">
              <a:lnSpc>
                <a:spcPts val="1785"/>
              </a:lnSpc>
              <a:buNone/>
            </a:pPr>
            <a:r>
              <a:rPr lang="en-US" sz="1275" b="1" dirty="0">
                <a:solidFill>
                  <a:srgbClr val="F7F5F0"/>
                </a:solidFill>
                <a:latin typeface="Pridi" pitchFamily="34" charset="0"/>
                <a:ea typeface="Pridi" pitchFamily="34" charset="-122"/>
                <a:cs typeface="Pridi" pitchFamily="34" charset="-120"/>
              </a:rPr>
              <a:t>สตาร์บัคส์</a:t>
            </a:r>
            <a:endParaRPr lang="en-US" sz="1275" dirty="0"/>
          </a:p>
        </p:txBody>
      </p:sp>
      <p:sp>
        <p:nvSpPr>
          <p:cNvPr id="19" name="b1:rise"/>
          <p:cNvSpPr txBox="1"/>
          <p:nvPr/>
        </p:nvSpPr>
        <p:spPr>
          <a:xfrm>
            <a:off x="5110162" y="1861542"/>
            <a:ext cx="3528441"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เสาหลักที่ 1 · บ้านหลังที่สาม</a:t>
            </a:r>
            <a:endParaRPr lang="en-US" sz="900" dirty="0"/>
          </a:p>
        </p:txBody>
      </p:sp>
      <p:sp>
        <p:nvSpPr>
          <p:cNvPr id="20" name="b1:rise"/>
          <p:cNvSpPr txBox="1"/>
          <p:nvPr/>
        </p:nvSpPr>
        <p:spPr>
          <a:xfrm>
            <a:off x="5110162" y="2061567"/>
            <a:ext cx="3528441" cy="199281"/>
          </a:xfrm>
          <a:prstGeom prst="rect">
            <a:avLst/>
          </a:prstGeom>
          <a:noFill/>
          <a:ln/>
        </p:spPr>
        <p:txBody>
          <a:bodyPr wrap="none" lIns="0" tIns="0" rIns="0" bIns="0" rtlCol="0" anchor="ctr"/>
          <a:lstStyle/>
          <a:p>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ที่พักพิงอันอบอุ่น ปราศจากความกดดัน ระหว่างบ้านกับที่ทำงาน</a:t>
            </a:r>
            <a:endParaRPr lang="en-US" sz="1013" dirty="0"/>
          </a:p>
        </p:txBody>
      </p:sp>
      <p:sp>
        <p:nvSpPr>
          <p:cNvPr id="21" name="b2:rise"/>
          <p:cNvSpPr/>
          <p:nvPr/>
        </p:nvSpPr>
        <p:spPr>
          <a:xfrm>
            <a:off x="609600" y="2486025"/>
            <a:ext cx="3905250" cy="1190625"/>
          </a:xfrm>
          <a:prstGeom prst="roundRect">
            <a:avLst>
              <a:gd name="adj" fmla="val 6400"/>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2" name="b2:rise"/>
          <p:cNvSpPr txBox="1"/>
          <p:nvPr/>
        </p:nvSpPr>
        <p:spPr>
          <a:xfrm>
            <a:off x="766763" y="2643188"/>
            <a:ext cx="3878199"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เสาหลักที่ 2 · ความผูกพันทางอารมณ์</a:t>
            </a:r>
            <a:endParaRPr lang="en-US" sz="900" dirty="0"/>
          </a:p>
        </p:txBody>
      </p:sp>
      <p:sp>
        <p:nvSpPr>
          <p:cNvPr id="23" name="b2:rise"/>
          <p:cNvSpPr txBox="1"/>
          <p:nvPr/>
        </p:nvSpPr>
        <p:spPr>
          <a:xfrm>
            <a:off x="766763" y="2890837"/>
            <a:ext cx="3734562" cy="398562"/>
          </a:xfrm>
          <a:prstGeom prst="rect">
            <a:avLst/>
          </a:prstGeom>
          <a:noFill/>
          <a:ln/>
        </p:spPr>
        <p:txBody>
          <a:bodyPr wrap="square" lIns="0" tIns="0" rIns="0" bIns="0" rtlCol="0" anchor="t"/>
          <a:lstStyle/>
          <a:p>
            <a:pPr algn="l" indent="0" marL="0">
              <a:lnSpc>
                <a:spcPts val="1569"/>
              </a:lnSpc>
              <a:buNone/>
            </a:pPr>
            <a:r>
              <a:rPr lang="en-US" sz="1013" i="1" dirty="0">
                <a:solidFill>
                  <a:srgbClr val="191919"/>
                </a:solidFill>
                <a:latin typeface="Pridi" pitchFamily="34" charset="0"/>
                <a:ea typeface="Pridi" pitchFamily="34" charset="-122"/>
                <a:cs typeface="Pridi" pitchFamily="34" charset="-120"/>
              </a:rPr>
              <a:t>"เราไม่ได้อยู่ในธุรกิจกาแฟที่ให้บริการผู้คน แต่เราอยู่ในธุรกิจผู้คนที่ให้บริการกาแฟ"</a:t>
            </a:r>
            <a:endParaRPr lang="en-US" sz="1013" dirty="0"/>
          </a:p>
        </p:txBody>
      </p:sp>
      <p:sp>
        <p:nvSpPr>
          <p:cNvPr id="24" name="b2:rise"/>
          <p:cNvSpPr txBox="1"/>
          <p:nvPr/>
        </p:nvSpPr>
        <p:spPr>
          <a:xfrm>
            <a:off x="766763" y="3365599"/>
            <a:ext cx="3878199" cy="171450"/>
          </a:xfrm>
          <a:prstGeom prst="rect">
            <a:avLst/>
          </a:prstGeom>
          <a:noFill/>
          <a:ln/>
        </p:spPr>
        <p:txBody>
          <a:bodyPr wrap="none" lIns="0" tIns="0" rIns="0" bIns="0" rtlCol="0" anchor="ctr"/>
          <a:lstStyle/>
          <a:p>
            <a:pPr algn="l" indent="0" marL="0">
              <a:lnSpc>
                <a:spcPts val="1350"/>
              </a:lnSpc>
              <a:buNone/>
            </a:pPr>
            <a:r>
              <a:rPr lang="en-US" sz="900" dirty="0">
                <a:solidFill>
                  <a:srgbClr val="6B6A63"/>
                </a:solidFill>
                <a:latin typeface="Sarabun" pitchFamily="34" charset="0"/>
                <a:ea typeface="Sarabun" pitchFamily="34" charset="-122"/>
                <a:cs typeface="Sarabun" pitchFamily="34" charset="-120"/>
              </a:rPr>
              <a:t>โฮเวิร์ด ชูลต์ซ</a:t>
            </a:r>
            <a:endParaRPr lang="en-US" sz="900" dirty="0"/>
          </a:p>
        </p:txBody>
      </p:sp>
      <p:sp>
        <p:nvSpPr>
          <p:cNvPr id="25" name="b3:rise"/>
          <p:cNvSpPr/>
          <p:nvPr/>
        </p:nvSpPr>
        <p:spPr>
          <a:xfrm>
            <a:off x="4629150" y="2486025"/>
            <a:ext cx="3905250" cy="1190625"/>
          </a:xfrm>
          <a:prstGeom prst="roundRect">
            <a:avLst>
              <a:gd name="adj" fmla="val 6400"/>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6" name="b3:rise"/>
          <p:cNvSpPr txBox="1"/>
          <p:nvPr/>
        </p:nvSpPr>
        <p:spPr>
          <a:xfrm>
            <a:off x="4786313" y="2643188"/>
            <a:ext cx="3878199"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เสาหลักที่ 3 · บรรยากาศคือผลิตภัณฑ์</a:t>
            </a:r>
            <a:endParaRPr lang="en-US" sz="900" dirty="0"/>
          </a:p>
        </p:txBody>
      </p:sp>
      <p:sp>
        <p:nvSpPr>
          <p:cNvPr id="27" name="b3:rise"/>
          <p:cNvSpPr/>
          <p:nvPr/>
        </p:nvSpPr>
        <p:spPr>
          <a:xfrm>
            <a:off x="4786313" y="2909888"/>
            <a:ext cx="881137" cy="262830"/>
          </a:xfrm>
          <a:prstGeom prst="roundRect">
            <a:avLst>
              <a:gd name="adj" fmla="val 50000"/>
            </a:avLst>
          </a:prstGeom>
          <a:solidFill>
            <a:srgbClr val="D4E9E2"/>
          </a:solidFill>
          <a:ln/>
        </p:spPr>
      </p:sp>
      <p:sp>
        <p:nvSpPr>
          <p:cNvPr id="28" name="b3:rise"/>
          <p:cNvSpPr txBox="1"/>
          <p:nvPr/>
        </p:nvSpPr>
        <p:spPr>
          <a:xfrm>
            <a:off x="4786313" y="2909888"/>
            <a:ext cx="951628" cy="262830"/>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Sarabun" pitchFamily="34" charset="0"/>
                <a:ea typeface="Sarabun" pitchFamily="34" charset="-122"/>
                <a:cs typeface="Sarabun" pitchFamily="34" charset="-120"/>
              </a:rPr>
              <a:t>แสงไฟอบอุ่น</a:t>
            </a:r>
            <a:endParaRPr lang="en-US" sz="1050" dirty="0"/>
          </a:p>
        </p:txBody>
      </p:sp>
      <p:sp>
        <p:nvSpPr>
          <p:cNvPr id="29" name="b3:rise"/>
          <p:cNvSpPr/>
          <p:nvPr/>
        </p:nvSpPr>
        <p:spPr>
          <a:xfrm>
            <a:off x="5724599" y="2909888"/>
            <a:ext cx="656630" cy="262830"/>
          </a:xfrm>
          <a:prstGeom prst="roundRect">
            <a:avLst>
              <a:gd name="adj" fmla="val 50000"/>
            </a:avLst>
          </a:prstGeom>
          <a:solidFill>
            <a:srgbClr val="D4E9E2"/>
          </a:solidFill>
          <a:ln/>
        </p:spPr>
      </p:sp>
      <p:sp>
        <p:nvSpPr>
          <p:cNvPr id="30" name="b3:rise"/>
          <p:cNvSpPr txBox="1"/>
          <p:nvPr/>
        </p:nvSpPr>
        <p:spPr>
          <a:xfrm>
            <a:off x="5724599" y="2909888"/>
            <a:ext cx="709160" cy="262830"/>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Sarabun" pitchFamily="34" charset="0"/>
                <a:ea typeface="Sarabun" pitchFamily="34" charset="-122"/>
                <a:cs typeface="Sarabun" pitchFamily="34" charset="-120"/>
              </a:rPr>
              <a:t>พื้นผิวไม้</a:t>
            </a:r>
            <a:endParaRPr lang="en-US" sz="1050" dirty="0"/>
          </a:p>
        </p:txBody>
      </p:sp>
      <p:sp>
        <p:nvSpPr>
          <p:cNvPr id="31" name="b3:rise"/>
          <p:cNvSpPr/>
          <p:nvPr/>
        </p:nvSpPr>
        <p:spPr>
          <a:xfrm>
            <a:off x="6438379" y="2909888"/>
            <a:ext cx="964927" cy="262830"/>
          </a:xfrm>
          <a:prstGeom prst="roundRect">
            <a:avLst>
              <a:gd name="adj" fmla="val 50000"/>
            </a:avLst>
          </a:prstGeom>
          <a:solidFill>
            <a:srgbClr val="D4E9E2"/>
          </a:solidFill>
          <a:ln/>
        </p:spPr>
      </p:sp>
      <p:sp>
        <p:nvSpPr>
          <p:cNvPr id="32" name="b3:rise"/>
          <p:cNvSpPr txBox="1"/>
          <p:nvPr/>
        </p:nvSpPr>
        <p:spPr>
          <a:xfrm>
            <a:off x="6438379" y="2909888"/>
            <a:ext cx="1042121" cy="262830"/>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Sarabun" pitchFamily="34" charset="0"/>
                <a:ea typeface="Sarabun" pitchFamily="34" charset="-122"/>
                <a:cs typeface="Sarabun" pitchFamily="34" charset="-120"/>
              </a:rPr>
              <a:t>ดนตรีอะคูสติก</a:t>
            </a:r>
            <a:endParaRPr lang="en-US" sz="1050" dirty="0"/>
          </a:p>
        </p:txBody>
      </p:sp>
      <p:sp>
        <p:nvSpPr>
          <p:cNvPr id="33" name="b3:rise"/>
          <p:cNvSpPr/>
          <p:nvPr/>
        </p:nvSpPr>
        <p:spPr>
          <a:xfrm>
            <a:off x="4786313" y="3229868"/>
            <a:ext cx="1303362" cy="262830"/>
          </a:xfrm>
          <a:prstGeom prst="roundRect">
            <a:avLst>
              <a:gd name="adj" fmla="val 50000"/>
            </a:avLst>
          </a:prstGeom>
          <a:solidFill>
            <a:srgbClr val="D4E9E2"/>
          </a:solidFill>
          <a:ln/>
        </p:spPr>
      </p:sp>
      <p:sp>
        <p:nvSpPr>
          <p:cNvPr id="34" name="b3:rise"/>
          <p:cNvSpPr txBox="1"/>
          <p:nvPr/>
        </p:nvSpPr>
        <p:spPr>
          <a:xfrm>
            <a:off x="4786313" y="3229868"/>
            <a:ext cx="1407631" cy="262830"/>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Sarabun" pitchFamily="34" charset="0"/>
                <a:ea typeface="Sarabun" pitchFamily="34" charset="-122"/>
                <a:cs typeface="Sarabun" pitchFamily="34" charset="-120"/>
              </a:rPr>
              <a:t>กลิ่นหอมชวนต้อนรับ</a:t>
            </a:r>
            <a:endParaRPr lang="en-US" sz="1050" dirty="0"/>
          </a:p>
        </p:txBody>
      </p:sp>
      <p:sp>
        <p:nvSpPr>
          <p:cNvPr id="35" name="b4:fade"/>
          <p:cNvSpPr/>
          <p:nvPr/>
        </p:nvSpPr>
        <p:spPr>
          <a:xfrm>
            <a:off x="609600" y="3790950"/>
            <a:ext cx="7924800" cy="402431"/>
          </a:xfrm>
          <a:prstGeom prst="roundRect">
            <a:avLst>
              <a:gd name="adj" fmla="val 18935"/>
            </a:avLst>
          </a:prstGeom>
          <a:solidFill>
            <a:srgbClr val="006241"/>
          </a:solidFill>
          <a:ln/>
        </p:spPr>
      </p:sp>
      <p:sp>
        <p:nvSpPr>
          <p:cNvPr id="36" name="b4:fade"/>
          <p:cNvSpPr txBox="1"/>
          <p:nvPr/>
        </p:nvSpPr>
        <p:spPr>
          <a:xfrm>
            <a:off x="762000" y="3906441"/>
            <a:ext cx="287634" cy="171450"/>
          </a:xfrm>
          <a:prstGeom prst="rect">
            <a:avLst/>
          </a:prstGeom>
          <a:noFill/>
          <a:ln/>
        </p:spPr>
        <p:txBody>
          <a:bodyPr wrap="none" lIns="0" tIns="0" rIns="0" bIns="0" rtlCol="0" anchor="ctr"/>
          <a:lstStyle/>
          <a:p>
            <a:pPr algn="l" indent="0" marL="0">
              <a:lnSpc>
                <a:spcPts val="1350"/>
              </a:lnSpc>
              <a:buNone/>
            </a:pPr>
            <a:r>
              <a:rPr lang="en-US" sz="900" b="1" dirty="0">
                <a:solidFill>
                  <a:srgbClr val="CBA258"/>
                </a:solidFill>
                <a:latin typeface="Sarabun" pitchFamily="34" charset="0"/>
                <a:ea typeface="Sarabun" pitchFamily="34" charset="-122"/>
                <a:cs typeface="Sarabun" pitchFamily="34" charset="-120"/>
              </a:rPr>
              <a:t>ถัดไป</a:t>
            </a:r>
            <a:endParaRPr lang="en-US" sz="900" dirty="0"/>
          </a:p>
        </p:txBody>
      </p:sp>
      <p:sp>
        <p:nvSpPr>
          <p:cNvPr id="37" name="b4:fade"/>
          <p:cNvSpPr txBox="1"/>
          <p:nvPr/>
        </p:nvSpPr>
        <p:spPr>
          <a:xfrm>
            <a:off x="1142628" y="3895725"/>
            <a:ext cx="7818522" cy="192881"/>
          </a:xfrm>
          <a:prstGeom prst="rect">
            <a:avLst/>
          </a:prstGeom>
          <a:noFill/>
          <a:ln/>
        </p:spPr>
        <p:txBody>
          <a:bodyPr wrap="none" lIns="0" tIns="0" rIns="0" bIns="0" rtlCol="0" anchor="ctr"/>
          <a:lstStyle/>
          <a:p>
            <a:pPr algn="l" indent="0" marL="0">
              <a:lnSpc>
                <a:spcPts val="1519"/>
              </a:lnSpc>
              <a:buNone/>
            </a:pPr>
            <a:r>
              <a:rPr lang="en-US" sz="1013" dirty="0">
                <a:solidFill>
                  <a:srgbClr val="F7F5F0"/>
                </a:solidFill>
                <a:latin typeface="Sarabun" pitchFamily="34" charset="0"/>
                <a:ea typeface="Sarabun" pitchFamily="34" charset="-122"/>
                <a:cs typeface="Sarabun" pitchFamily="34" charset="-120"/>
              </a:rPr>
              <a:t>เมื่อเข้าใจแนวคิดเชิงกลยุทธ์ของบ้านหลังที่สามแล้ว สตาร์บัคส์</a:t>
            </a:r>
            <a:pPr algn="l" indent="0" marL="0">
              <a:lnSpc>
                <a:spcPts val="1519"/>
              </a:lnSpc>
              <a:buNone/>
            </a:pPr>
            <a:r>
              <a:rPr lang="en-US" sz="1013" b="1" dirty="0">
                <a:solidFill>
                  <a:srgbClr val="D4E9E2"/>
                </a:solidFill>
                <a:latin typeface="Sarabun" pitchFamily="34" charset="0"/>
                <a:ea typeface="Sarabun" pitchFamily="34" charset="-122"/>
                <a:cs typeface="Sarabun" pitchFamily="34" charset="-120"/>
              </a:rPr>
              <a:t>ขยายประสบการณ์แบบมนุษย์นี้</a:t>
            </a:r>
            <a:pPr algn="l" indent="0" marL="0">
              <a:lnSpc>
                <a:spcPts val="1519"/>
              </a:lnSpc>
              <a:buNone/>
            </a:pPr>
            <a:r>
              <a:rPr lang="en-US" sz="1013" dirty="0">
                <a:solidFill>
                  <a:srgbClr val="F7F5F0"/>
                </a:solidFill>
                <a:latin typeface="Sarabun" pitchFamily="34" charset="0"/>
                <a:ea typeface="Sarabun" pitchFamily="34" charset="-122"/>
                <a:cs typeface="Sarabun" pitchFamily="34" charset="-120"/>
              </a:rPr>
              <a:t>ไปสู่ร้านหลายพันสาขาได้อย่างไร?</a:t>
            </a:r>
            <a:endParaRPr lang="en-US" sz="1013" dirty="0"/>
          </a:p>
        </p:txBody>
      </p:sp>
      <p:sp>
        <p:nvSpPr>
          <p:cNvPr id="38" name="!!tkey4-1"/>
          <p:cNvSpPr/>
          <p:nvPr/>
        </p:nvSpPr>
        <p:spPr>
          <a:xfrm>
            <a:off x="6438900" y="4572000"/>
            <a:ext cx="2095500" cy="266700"/>
          </a:xfrm>
          <a:prstGeom prst="roundRect">
            <a:avLst>
              <a:gd name="adj" fmla="val 50000"/>
            </a:avLst>
          </a:prstGeom>
          <a:solidFill>
            <a:srgbClr val="CBA258"/>
          </a:solidFill>
          <a:ln/>
        </p:spPr>
      </p:sp>
      <p:sp>
        <p:nvSpPr>
          <p:cNvPr id="39" name="!!tkey4-2"/>
          <p:cNvSpPr txBox="1"/>
          <p:nvPr/>
        </p:nvSpPr>
        <p:spPr>
          <a:xfrm>
            <a:off x="6438900" y="45720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ประสบการณ์แบบมนุษย์ ในสเกลใหญ่</a:t>
            </a:r>
            <a:endParaRPr lang="en-US" sz="900" dirty="0"/>
          </a:p>
        </p:txBody>
      </p:sp>
      <p:sp>
        <p:nvSpPr>
          <p:cNvPr id="40" name="static"/>
          <p:cNvSpPr txBox="1"/>
          <p:nvPr/>
        </p:nvSpPr>
        <p:spPr>
          <a:xfrm>
            <a:off x="609600" y="4667250"/>
            <a:ext cx="1998464" cy="171450"/>
          </a:xfrm>
          <a:prstGeom prst="rect">
            <a:avLst/>
          </a:prstGeom>
          <a:noFill/>
          <a:ln/>
        </p:spPr>
        <p:txBody>
          <a:bodyPr wrap="none" lIns="0" tIns="0" rIns="0" bIns="0" rtlCol="0" anchor="ctr"/>
          <a:lstStyle/>
          <a:p>
            <a:pPr algn="l" indent="0" marL="0">
              <a:lnSpc>
                <a:spcPts val="1350"/>
              </a:lnSpc>
              <a:buNone/>
            </a:pPr>
            <a:r>
              <a:rPr lang="en-US" sz="900" dirty="0">
                <a:solidFill>
                  <a:srgbClr val="6B6A63"/>
                </a:solidFill>
                <a:latin typeface="Sarabun" pitchFamily="34" charset="0"/>
                <a:ea typeface="Sarabun" pitchFamily="34" charset="-122"/>
                <a:cs typeface="Sarabun" pitchFamily="34" charset="-120"/>
              </a:rPr>
              <a:t>สไลด์ 4 จาก 8 · ตอนที่ 2 · การพัฒนาแนวคิด</a:t>
            </a:r>
            <a:endParaRPr lang="en-US" sz="900" dirty="0"/>
          </a:p>
        </p:txBody>
      </p:sp>
      <p:sp>
        <p:nvSpPr>
          <p:cNvPr id="41" name="static"/>
          <p:cNvSpPr/>
          <p:nvPr/>
        </p:nvSpPr>
        <p:spPr>
          <a:xfrm>
            <a:off x="2798564" y="4724400"/>
            <a:ext cx="57150" cy="57150"/>
          </a:xfrm>
          <a:prstGeom prst="roundRect">
            <a:avLst>
              <a:gd name="adj" fmla="val 50000"/>
            </a:avLst>
          </a:prstGeom>
          <a:solidFill>
            <a:srgbClr val="006241"/>
          </a:solidFill>
          <a:ln/>
        </p:spPr>
      </p:sp>
      <p:sp>
        <p:nvSpPr>
          <p:cNvPr id="42" name="static"/>
          <p:cNvSpPr/>
          <p:nvPr/>
        </p:nvSpPr>
        <p:spPr>
          <a:xfrm>
            <a:off x="2903339" y="4724400"/>
            <a:ext cx="57150" cy="57150"/>
          </a:xfrm>
          <a:prstGeom prst="roundRect">
            <a:avLst>
              <a:gd name="adj" fmla="val 50000"/>
            </a:avLst>
          </a:prstGeom>
          <a:solidFill>
            <a:srgbClr val="006241"/>
          </a:solidFill>
          <a:ln/>
        </p:spPr>
      </p:sp>
      <p:sp>
        <p:nvSpPr>
          <p:cNvPr id="43" name="static"/>
          <p:cNvSpPr/>
          <p:nvPr/>
        </p:nvSpPr>
        <p:spPr>
          <a:xfrm>
            <a:off x="3008114" y="4724400"/>
            <a:ext cx="57150" cy="57150"/>
          </a:xfrm>
          <a:prstGeom prst="roundRect">
            <a:avLst>
              <a:gd name="adj" fmla="val 50000"/>
            </a:avLst>
          </a:prstGeom>
          <a:solidFill>
            <a:srgbClr val="006241"/>
          </a:solidFill>
          <a:ln/>
        </p:spPr>
      </p:sp>
      <p:sp>
        <p:nvSpPr>
          <p:cNvPr id="44" name="static"/>
          <p:cNvSpPr/>
          <p:nvPr/>
        </p:nvSpPr>
        <p:spPr>
          <a:xfrm>
            <a:off x="3112889" y="4724400"/>
            <a:ext cx="171450" cy="57150"/>
          </a:xfrm>
          <a:prstGeom prst="roundRect">
            <a:avLst>
              <a:gd name="adj" fmla="val 50000"/>
            </a:avLst>
          </a:prstGeom>
          <a:solidFill>
            <a:srgbClr val="CBA258"/>
          </a:solidFill>
          <a:ln/>
        </p:spPr>
      </p:sp>
      <p:sp>
        <p:nvSpPr>
          <p:cNvPr id="45" name="static"/>
          <p:cNvSpPr/>
          <p:nvPr/>
        </p:nvSpPr>
        <p:spPr>
          <a:xfrm>
            <a:off x="3331964" y="4724400"/>
            <a:ext cx="57150" cy="57150"/>
          </a:xfrm>
          <a:prstGeom prst="roundRect">
            <a:avLst>
              <a:gd name="adj" fmla="val 50000"/>
            </a:avLst>
          </a:prstGeom>
          <a:solidFill>
            <a:srgbClr val="C5D8D0"/>
          </a:solidFill>
          <a:ln/>
        </p:spPr>
      </p:sp>
      <p:sp>
        <p:nvSpPr>
          <p:cNvPr id="46" name="static"/>
          <p:cNvSpPr/>
          <p:nvPr/>
        </p:nvSpPr>
        <p:spPr>
          <a:xfrm>
            <a:off x="3436739" y="4724400"/>
            <a:ext cx="57150" cy="57150"/>
          </a:xfrm>
          <a:prstGeom prst="roundRect">
            <a:avLst>
              <a:gd name="adj" fmla="val 50000"/>
            </a:avLst>
          </a:prstGeom>
          <a:solidFill>
            <a:srgbClr val="C5D8D0"/>
          </a:solidFill>
          <a:ln/>
        </p:spPr>
      </p:sp>
      <p:sp>
        <p:nvSpPr>
          <p:cNvPr id="47" name="static"/>
          <p:cNvSpPr/>
          <p:nvPr/>
        </p:nvSpPr>
        <p:spPr>
          <a:xfrm>
            <a:off x="3541514" y="4724400"/>
            <a:ext cx="57150" cy="57150"/>
          </a:xfrm>
          <a:prstGeom prst="roundRect">
            <a:avLst>
              <a:gd name="adj" fmla="val 50000"/>
            </a:avLst>
          </a:prstGeom>
          <a:solidFill>
            <a:srgbClr val="C5D8D0"/>
          </a:solidFill>
          <a:ln/>
        </p:spPr>
      </p:sp>
      <p:sp>
        <p:nvSpPr>
          <p:cNvPr id="48" name="static"/>
          <p:cNvSpPr/>
          <p:nvPr/>
        </p:nvSpPr>
        <p:spPr>
          <a:xfrm>
            <a:off x="3646289" y="4724400"/>
            <a:ext cx="57150" cy="57150"/>
          </a:xfrm>
          <a:prstGeom prst="roundRect">
            <a:avLst>
              <a:gd name="adj" fmla="val 50000"/>
            </a:avLst>
          </a:prstGeom>
          <a:solidFill>
            <a:srgbClr val="C5D8D0"/>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59" fill="hold">
                      <p:stCondLst>
                        <p:cond delay="indefinite"/>
                      </p:stCondLst>
                      <p:childTnLst>
                        <p:par>
                          <p:cTn id="60"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700"/>
                                        <p:tgtEl>
                                          <p:spTgt spid="7"/>
                                        </p:tgtEl>
                                      </p:cBhvr>
                                    </p:animEffect>
                                    <p:anim calcmode="lin" valueType="num">
                                      <p:cBhvr additive="base">
                                        <p:cTn id="6" dur="700" fill="hold"/>
                                        <p:tgtEl>
                                          <p:spTgt spid="7"/>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700"/>
                                        <p:tgtEl>
                                          <p:spTgt spid="8"/>
                                        </p:tgtEl>
                                      </p:cBhvr>
                                    </p:animEffect>
                                    <p:anim calcmode="lin" valueType="num">
                                      <p:cBhvr additive="base">
                                        <p:cTn id="10" dur="700" fill="hold"/>
                                        <p:tgtEl>
                                          <p:spTgt spid="8"/>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700"/>
                                        <p:tgtEl>
                                          <p:spTgt spid="9"/>
                                        </p:tgtEl>
                                      </p:cBhvr>
                                    </p:animEffect>
                                    <p:anim calcmode="lin" valueType="num">
                                      <p:cBhvr additive="base">
                                        <p:cTn id="14" dur="700" fill="hold"/>
                                        <p:tgtEl>
                                          <p:spTgt spid="9"/>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700"/>
                                        <p:tgtEl>
                                          <p:spTgt spid="10"/>
                                        </p:tgtEl>
                                      </p:cBhvr>
                                    </p:animEffect>
                                    <p:anim calcmode="lin" valueType="num">
                                      <p:cBhvr additive="base">
                                        <p:cTn id="18" dur="700" fill="hold"/>
                                        <p:tgtEl>
                                          <p:spTgt spid="10"/>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700"/>
                                        <p:tgtEl>
                                          <p:spTgt spid="11"/>
                                        </p:tgtEl>
                                      </p:cBhvr>
                                    </p:animEffect>
                                    <p:anim calcmode="lin" valueType="num">
                                      <p:cBhvr additive="base">
                                        <p:cTn id="22" dur="700" fill="hold"/>
                                        <p:tgtEl>
                                          <p:spTgt spid="11"/>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700"/>
                                        <p:tgtEl>
                                          <p:spTgt spid="12"/>
                                        </p:tgtEl>
                                      </p:cBhvr>
                                    </p:animEffect>
                                    <p:anim calcmode="lin" valueType="num">
                                      <p:cBhvr additive="base">
                                        <p:cTn id="26" dur="700" fill="hold"/>
                                        <p:tgtEl>
                                          <p:spTgt spid="12"/>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700"/>
                                        <p:tgtEl>
                                          <p:spTgt spid="13"/>
                                        </p:tgtEl>
                                      </p:cBhvr>
                                    </p:animEffect>
                                    <p:anim calcmode="lin" valueType="num">
                                      <p:cBhvr additive="base">
                                        <p:cTn id="30" dur="700" fill="hold"/>
                                        <p:tgtEl>
                                          <p:spTgt spid="13"/>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700"/>
                                        <p:tgtEl>
                                          <p:spTgt spid="14"/>
                                        </p:tgtEl>
                                      </p:cBhvr>
                                    </p:animEffect>
                                    <p:anim calcmode="lin" valueType="num">
                                      <p:cBhvr additive="base">
                                        <p:cTn id="34" dur="700" fill="hold"/>
                                        <p:tgtEl>
                                          <p:spTgt spid="14"/>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700"/>
                                        <p:tgtEl>
                                          <p:spTgt spid="15"/>
                                        </p:tgtEl>
                                      </p:cBhvr>
                                    </p:animEffect>
                                    <p:anim calcmode="lin" valueType="num">
                                      <p:cBhvr additive="base">
                                        <p:cTn id="38" dur="700" fill="hold"/>
                                        <p:tgtEl>
                                          <p:spTgt spid="15"/>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700"/>
                                        <p:tgtEl>
                                          <p:spTgt spid="16"/>
                                        </p:tgtEl>
                                      </p:cBhvr>
                                    </p:animEffect>
                                    <p:anim calcmode="lin" valueType="num">
                                      <p:cBhvr additive="base">
                                        <p:cTn id="42" dur="700" fill="hold"/>
                                        <p:tgtEl>
                                          <p:spTgt spid="16"/>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700"/>
                                        <p:tgtEl>
                                          <p:spTgt spid="17"/>
                                        </p:tgtEl>
                                      </p:cBhvr>
                                    </p:animEffect>
                                    <p:anim calcmode="lin" valueType="num">
                                      <p:cBhvr additive="base">
                                        <p:cTn id="46" dur="700" fill="hold"/>
                                        <p:tgtEl>
                                          <p:spTgt spid="17"/>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700"/>
                                        <p:tgtEl>
                                          <p:spTgt spid="18"/>
                                        </p:tgtEl>
                                      </p:cBhvr>
                                    </p:animEffect>
                                    <p:anim calcmode="lin" valueType="num">
                                      <p:cBhvr additive="base">
                                        <p:cTn id="50" dur="700" fill="hold"/>
                                        <p:tgtEl>
                                          <p:spTgt spid="18"/>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700"/>
                                        <p:tgtEl>
                                          <p:spTgt spid="19"/>
                                        </p:tgtEl>
                                      </p:cBhvr>
                                    </p:animEffect>
                                    <p:anim calcmode="lin" valueType="num">
                                      <p:cBhvr additive="base">
                                        <p:cTn id="54" dur="700" fill="hold"/>
                                        <p:tgtEl>
                                          <p:spTgt spid="19"/>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700"/>
                                        <p:tgtEl>
                                          <p:spTgt spid="20"/>
                                        </p:tgtEl>
                                      </p:cBhvr>
                                    </p:animEffect>
                                    <p:anim calcmode="lin" valueType="num">
                                      <p:cBhvr additive="base">
                                        <p:cTn id="58" dur="700" fill="hold"/>
                                        <p:tgtEl>
                                          <p:spTgt spid="20"/>
                                        </p:tgtEl>
                                        <p:attrNameLst>
                                          <p:attrName>ppt_y</p:attrName>
                                        </p:attrNameLst>
                                      </p:cBhvr>
                                      <p:tavLst>
                                        <p:tav tm="0">
                                          <p:val>
                                            <p:strVal val="#ppt_y+.08"/>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8"/>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8"/>
                                          </p:val>
                                        </p:tav>
                                        <p:tav tm="100000">
                                          <p:val>
                                            <p:strVal val="#ppt_y"/>
                                          </p:val>
                                        </p:tav>
                                      </p:tavLst>
                                    </p:anim>
                                  </p:childTnLst>
                                </p:cTn>
                              </p:par>
                            </p:childTnLst>
                          </p:cTn>
                        </p:par>
                      </p:childTnLst>
                    </p:cTn>
                  </p:par>
                  <p:par>
                    <p:cTn id="119" fill="hold">
                      <p:stCondLst>
                        <p:cond delay="indefinite"/>
                      </p:stCondLst>
                      <p:childTnLst>
                        <p:par>
                          <p:cTn id="120" fill="hold">
                            <p:stCondLst>
                              <p:cond delay="0"/>
                            </p:stCondLst>
                            <p:childTnLst>
                              <p:par>
                                <p:cTn id="79" presetID="42" presetClass="entr" presetSubtype="0" fill="hold" grpId="0" nodeType="clickEffect">
                                  <p:stCondLst>
                                    <p:cond delay="0"/>
                                  </p:stCondLst>
                                  <p:childTnLst>
                                    <p:set>
                                      <p:cBhvr>
                                        <p:cTn id="80" dur="1" fill="hold">
                                          <p:stCondLst>
                                            <p:cond delay="0"/>
                                          </p:stCondLst>
                                        </p:cTn>
                                        <p:tgtEl>
                                          <p:spTgt spid="25"/>
                                        </p:tgtEl>
                                        <p:attrNameLst>
                                          <p:attrName>style.visibility</p:attrName>
                                        </p:attrNameLst>
                                      </p:cBhvr>
                                      <p:to>
                                        <p:strVal val="visible"/>
                                      </p:to>
                                    </p:set>
                                    <p:animEffect transition="in" filter="fade">
                                      <p:cBhvr>
                                        <p:cTn id="81" dur="700"/>
                                        <p:tgtEl>
                                          <p:spTgt spid="25"/>
                                        </p:tgtEl>
                                      </p:cBhvr>
                                    </p:animEffect>
                                    <p:anim calcmode="lin" valueType="num">
                                      <p:cBhvr additive="base">
                                        <p:cTn id="82" dur="700" fill="hold"/>
                                        <p:tgtEl>
                                          <p:spTgt spid="25"/>
                                        </p:tgtEl>
                                        <p:attrNameLst>
                                          <p:attrName>ppt_y</p:attrName>
                                        </p:attrNameLst>
                                      </p:cBhvr>
                                      <p:tavLst>
                                        <p:tav tm="0">
                                          <p:val>
                                            <p:strVal val="#ppt_y+.08"/>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700"/>
                                        <p:tgtEl>
                                          <p:spTgt spid="26"/>
                                        </p:tgtEl>
                                      </p:cBhvr>
                                    </p:animEffect>
                                    <p:anim calcmode="lin" valueType="num">
                                      <p:cBhvr additive="base">
                                        <p:cTn id="86" dur="700" fill="hold"/>
                                        <p:tgtEl>
                                          <p:spTgt spid="26"/>
                                        </p:tgtEl>
                                        <p:attrNameLst>
                                          <p:attrName>ppt_y</p:attrName>
                                        </p:attrNameLst>
                                      </p:cBhvr>
                                      <p:tavLst>
                                        <p:tav tm="0">
                                          <p:val>
                                            <p:strVal val="#ppt_y+.0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27"/>
                                        </p:tgtEl>
                                        <p:attrNameLst>
                                          <p:attrName>style.visibility</p:attrName>
                                        </p:attrNameLst>
                                      </p:cBhvr>
                                      <p:to>
                                        <p:strVal val="visible"/>
                                      </p:to>
                                    </p:set>
                                    <p:animEffect transition="in" filter="fade">
                                      <p:cBhvr>
                                        <p:cTn id="89" dur="700"/>
                                        <p:tgtEl>
                                          <p:spTgt spid="27"/>
                                        </p:tgtEl>
                                      </p:cBhvr>
                                    </p:animEffect>
                                    <p:anim calcmode="lin" valueType="num">
                                      <p:cBhvr additive="base">
                                        <p:cTn id="90" dur="700" fill="hold"/>
                                        <p:tgtEl>
                                          <p:spTgt spid="27"/>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0"/>
                                  </p:stCondLst>
                                  <p:childTnLst>
                                    <p:set>
                                      <p:cBhvr>
                                        <p:cTn id="92" dur="1" fill="hold">
                                          <p:stCondLst>
                                            <p:cond delay="0"/>
                                          </p:stCondLst>
                                        </p:cTn>
                                        <p:tgtEl>
                                          <p:spTgt spid="28"/>
                                        </p:tgtEl>
                                        <p:attrNameLst>
                                          <p:attrName>style.visibility</p:attrName>
                                        </p:attrNameLst>
                                      </p:cBhvr>
                                      <p:to>
                                        <p:strVal val="visible"/>
                                      </p:to>
                                    </p:set>
                                    <p:animEffect transition="in" filter="fade">
                                      <p:cBhvr>
                                        <p:cTn id="93" dur="700"/>
                                        <p:tgtEl>
                                          <p:spTgt spid="28"/>
                                        </p:tgtEl>
                                      </p:cBhvr>
                                    </p:animEffect>
                                    <p:anim calcmode="lin" valueType="num">
                                      <p:cBhvr additive="base">
                                        <p:cTn id="94" dur="700" fill="hold"/>
                                        <p:tgtEl>
                                          <p:spTgt spid="28"/>
                                        </p:tgtEl>
                                        <p:attrNameLst>
                                          <p:attrName>ppt_y</p:attrName>
                                        </p:attrNameLst>
                                      </p:cBhvr>
                                      <p:tavLst>
                                        <p:tav tm="0">
                                          <p:val>
                                            <p:strVal val="#ppt_y+.08"/>
                                          </p:val>
                                        </p:tav>
                                        <p:tav tm="100000">
                                          <p:val>
                                            <p:strVal val="#ppt_y"/>
                                          </p:val>
                                        </p:tav>
                                      </p:tavLst>
                                    </p:anim>
                                  </p:childTnLst>
                                </p:cTn>
                              </p:par>
                              <p:par>
                                <p:cTn id="95" presetID="42" presetClass="entr" presetSubtype="0" fill="hold" grpId="0" nodeType="with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700"/>
                                        <p:tgtEl>
                                          <p:spTgt spid="29"/>
                                        </p:tgtEl>
                                      </p:cBhvr>
                                    </p:animEffect>
                                    <p:anim calcmode="lin" valueType="num">
                                      <p:cBhvr additive="base">
                                        <p:cTn id="98" dur="700" fill="hold"/>
                                        <p:tgtEl>
                                          <p:spTgt spid="29"/>
                                        </p:tgtEl>
                                        <p:attrNameLst>
                                          <p:attrName>ppt_y</p:attrName>
                                        </p:attrNameLst>
                                      </p:cBhvr>
                                      <p:tavLst>
                                        <p:tav tm="0">
                                          <p:val>
                                            <p:strVal val="#ppt_y+.08"/>
                                          </p:val>
                                        </p:tav>
                                        <p:tav tm="100000">
                                          <p:val>
                                            <p:strVal val="#ppt_y"/>
                                          </p:val>
                                        </p:tav>
                                      </p:tavLst>
                                    </p:anim>
                                  </p:childTnLst>
                                </p:cTn>
                              </p:par>
                              <p:par>
                                <p:cTn id="99" presetID="42" presetClass="entr" presetSubtype="0" fill="hold" grpId="0" nodeType="withEffect">
                                  <p:stCondLst>
                                    <p:cond delay="0"/>
                                  </p:stCondLst>
                                  <p:childTnLst>
                                    <p:set>
                                      <p:cBhvr>
                                        <p:cTn id="100" dur="1" fill="hold">
                                          <p:stCondLst>
                                            <p:cond delay="0"/>
                                          </p:stCondLst>
                                        </p:cTn>
                                        <p:tgtEl>
                                          <p:spTgt spid="30"/>
                                        </p:tgtEl>
                                        <p:attrNameLst>
                                          <p:attrName>style.visibility</p:attrName>
                                        </p:attrNameLst>
                                      </p:cBhvr>
                                      <p:to>
                                        <p:strVal val="visible"/>
                                      </p:to>
                                    </p:set>
                                    <p:animEffect transition="in" filter="fade">
                                      <p:cBhvr>
                                        <p:cTn id="101" dur="700"/>
                                        <p:tgtEl>
                                          <p:spTgt spid="30"/>
                                        </p:tgtEl>
                                      </p:cBhvr>
                                    </p:animEffect>
                                    <p:anim calcmode="lin" valueType="num">
                                      <p:cBhvr additive="base">
                                        <p:cTn id="102" dur="700" fill="hold"/>
                                        <p:tgtEl>
                                          <p:spTgt spid="30"/>
                                        </p:tgtEl>
                                        <p:attrNameLst>
                                          <p:attrName>ppt_y</p:attrName>
                                        </p:attrNameLst>
                                      </p:cBhvr>
                                      <p:tavLst>
                                        <p:tav tm="0">
                                          <p:val>
                                            <p:strVal val="#ppt_y+.08"/>
                                          </p:val>
                                        </p:tav>
                                        <p:tav tm="100000">
                                          <p:val>
                                            <p:strVal val="#ppt_y"/>
                                          </p:val>
                                        </p:tav>
                                      </p:tavLst>
                                    </p:anim>
                                  </p:childTnLst>
                                </p:cTn>
                              </p:par>
                              <p:par>
                                <p:cTn id="103" presetID="42" presetClass="entr" presetSubtype="0" fill="hold" grpId="0" nodeType="withEffect">
                                  <p:stCondLst>
                                    <p:cond delay="0"/>
                                  </p:stCondLst>
                                  <p:childTnLst>
                                    <p:set>
                                      <p:cBhvr>
                                        <p:cTn id="104" dur="1" fill="hold">
                                          <p:stCondLst>
                                            <p:cond delay="0"/>
                                          </p:stCondLst>
                                        </p:cTn>
                                        <p:tgtEl>
                                          <p:spTgt spid="31"/>
                                        </p:tgtEl>
                                        <p:attrNameLst>
                                          <p:attrName>style.visibility</p:attrName>
                                        </p:attrNameLst>
                                      </p:cBhvr>
                                      <p:to>
                                        <p:strVal val="visible"/>
                                      </p:to>
                                    </p:set>
                                    <p:animEffect transition="in" filter="fade">
                                      <p:cBhvr>
                                        <p:cTn id="105" dur="700"/>
                                        <p:tgtEl>
                                          <p:spTgt spid="31"/>
                                        </p:tgtEl>
                                      </p:cBhvr>
                                    </p:animEffect>
                                    <p:anim calcmode="lin" valueType="num">
                                      <p:cBhvr additive="base">
                                        <p:cTn id="106" dur="700" fill="hold"/>
                                        <p:tgtEl>
                                          <p:spTgt spid="31"/>
                                        </p:tgtEl>
                                        <p:attrNameLst>
                                          <p:attrName>ppt_y</p:attrName>
                                        </p:attrNameLst>
                                      </p:cBhvr>
                                      <p:tavLst>
                                        <p:tav tm="0">
                                          <p:val>
                                            <p:strVal val="#ppt_y+.08"/>
                                          </p:val>
                                        </p:tav>
                                        <p:tav tm="100000">
                                          <p:val>
                                            <p:strVal val="#ppt_y"/>
                                          </p:val>
                                        </p:tav>
                                      </p:tavLst>
                                    </p:anim>
                                  </p:childTnLst>
                                </p:cTn>
                              </p:par>
                              <p:par>
                                <p:cTn id="107" presetID="42" presetClass="entr" presetSubtype="0" fill="hold" grpId="0" nodeType="withEffect">
                                  <p:stCondLst>
                                    <p:cond delay="0"/>
                                  </p:stCondLst>
                                  <p:childTnLst>
                                    <p:set>
                                      <p:cBhvr>
                                        <p:cTn id="108" dur="1" fill="hold">
                                          <p:stCondLst>
                                            <p:cond delay="0"/>
                                          </p:stCondLst>
                                        </p:cTn>
                                        <p:tgtEl>
                                          <p:spTgt spid="32"/>
                                        </p:tgtEl>
                                        <p:attrNameLst>
                                          <p:attrName>style.visibility</p:attrName>
                                        </p:attrNameLst>
                                      </p:cBhvr>
                                      <p:to>
                                        <p:strVal val="visible"/>
                                      </p:to>
                                    </p:set>
                                    <p:animEffect transition="in" filter="fade">
                                      <p:cBhvr>
                                        <p:cTn id="109" dur="700"/>
                                        <p:tgtEl>
                                          <p:spTgt spid="32"/>
                                        </p:tgtEl>
                                      </p:cBhvr>
                                    </p:animEffect>
                                    <p:anim calcmode="lin" valueType="num">
                                      <p:cBhvr additive="base">
                                        <p:cTn id="110" dur="700" fill="hold"/>
                                        <p:tgtEl>
                                          <p:spTgt spid="32"/>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0"/>
                                  </p:stCondLst>
                                  <p:childTnLst>
                                    <p:set>
                                      <p:cBhvr>
                                        <p:cTn id="112" dur="1" fill="hold">
                                          <p:stCondLst>
                                            <p:cond delay="0"/>
                                          </p:stCondLst>
                                        </p:cTn>
                                        <p:tgtEl>
                                          <p:spTgt spid="33"/>
                                        </p:tgtEl>
                                        <p:attrNameLst>
                                          <p:attrName>style.visibility</p:attrName>
                                        </p:attrNameLst>
                                      </p:cBhvr>
                                      <p:to>
                                        <p:strVal val="visible"/>
                                      </p:to>
                                    </p:set>
                                    <p:animEffect transition="in" filter="fade">
                                      <p:cBhvr>
                                        <p:cTn id="113" dur="700"/>
                                        <p:tgtEl>
                                          <p:spTgt spid="33"/>
                                        </p:tgtEl>
                                      </p:cBhvr>
                                    </p:animEffect>
                                    <p:anim calcmode="lin" valueType="num">
                                      <p:cBhvr additive="base">
                                        <p:cTn id="114" dur="700" fill="hold"/>
                                        <p:tgtEl>
                                          <p:spTgt spid="33"/>
                                        </p:tgtEl>
                                        <p:attrNameLst>
                                          <p:attrName>ppt_y</p:attrName>
                                        </p:attrNameLst>
                                      </p:cBhvr>
                                      <p:tavLst>
                                        <p:tav tm="0">
                                          <p:val>
                                            <p:strVal val="#ppt_y+.08"/>
                                          </p:val>
                                        </p:tav>
                                        <p:tav tm="100000">
                                          <p:val>
                                            <p:strVal val="#ppt_y"/>
                                          </p:val>
                                        </p:tav>
                                      </p:tavLst>
                                    </p:anim>
                                  </p:childTnLst>
                                </p:cTn>
                              </p:par>
                              <p:par>
                                <p:cTn id="115" presetID="42" presetClass="entr" presetSubtype="0" fill="hold" grpId="0" nodeType="withEffect">
                                  <p:stCondLst>
                                    <p:cond delay="0"/>
                                  </p:stCondLst>
                                  <p:childTnLst>
                                    <p:set>
                                      <p:cBhvr>
                                        <p:cTn id="116" dur="1" fill="hold">
                                          <p:stCondLst>
                                            <p:cond delay="0"/>
                                          </p:stCondLst>
                                        </p:cTn>
                                        <p:tgtEl>
                                          <p:spTgt spid="34"/>
                                        </p:tgtEl>
                                        <p:attrNameLst>
                                          <p:attrName>style.visibility</p:attrName>
                                        </p:attrNameLst>
                                      </p:cBhvr>
                                      <p:to>
                                        <p:strVal val="visible"/>
                                      </p:to>
                                    </p:set>
                                    <p:animEffect transition="in" filter="fade">
                                      <p:cBhvr>
                                        <p:cTn id="117" dur="700"/>
                                        <p:tgtEl>
                                          <p:spTgt spid="34"/>
                                        </p:tgtEl>
                                      </p:cBhvr>
                                    </p:animEffect>
                                    <p:anim calcmode="lin" valueType="num">
                                      <p:cBhvr additive="base">
                                        <p:cTn id="118" dur="700" fill="hold"/>
                                        <p:tgtEl>
                                          <p:spTgt spid="34"/>
                                        </p:tgtEl>
                                        <p:attrNameLst>
                                          <p:attrName>ppt_y</p:attrName>
                                        </p:attrNameLst>
                                      </p:cBhvr>
                                      <p:tavLst>
                                        <p:tav tm="0">
                                          <p:val>
                                            <p:strVal val="#ppt_y+.08"/>
                                          </p:val>
                                        </p:tav>
                                        <p:tav tm="100000">
                                          <p:val>
                                            <p:strVal val="#ppt_y"/>
                                          </p:val>
                                        </p:tav>
                                      </p:tavLst>
                                    </p:anim>
                                  </p:childTnLst>
                                </p:cTn>
                              </p:par>
                            </p:childTnLst>
                          </p:cTn>
                        </p:par>
                      </p:childTnLst>
                    </p:cTn>
                  </p:par>
                  <p:par>
                    <p:cTn id="130" fill="hold">
                      <p:stCondLst>
                        <p:cond delay="indefinite"/>
                      </p:stCondLst>
                      <p:childTnLst>
                        <p:par>
                          <p:cTn id="131" fill="hold">
                            <p:stCondLst>
                              <p:cond delay="0"/>
                            </p:stCondLst>
                            <p:childTnLst>
                              <p:par>
                                <p:cTn id="121" presetID="10" presetClass="entr" presetSubtype="0" fill="hold" grpId="0" nodeType="clickEffect">
                                  <p:stCondLst>
                                    <p:cond delay="0"/>
                                  </p:stCondLst>
                                  <p:childTnLst>
                                    <p:set>
                                      <p:cBhvr>
                                        <p:cTn id="122" dur="1" fill="hold">
                                          <p:stCondLst>
                                            <p:cond delay="0"/>
                                          </p:stCondLst>
                                        </p:cTn>
                                        <p:tgtEl>
                                          <p:spTgt spid="35"/>
                                        </p:tgtEl>
                                        <p:attrNameLst>
                                          <p:attrName>style.visibility</p:attrName>
                                        </p:attrNameLst>
                                      </p:cBhvr>
                                      <p:to>
                                        <p:strVal val="visible"/>
                                      </p:to>
                                    </p:set>
                                    <p:animEffect transition="in" filter="fade">
                                      <p:cBhvr>
                                        <p:cTn id="123" dur="500"/>
                                        <p:tgtEl>
                                          <p:spTgt spid="35"/>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36"/>
                                        </p:tgtEl>
                                        <p:attrNameLst>
                                          <p:attrName>style.visibility</p:attrName>
                                        </p:attrNameLst>
                                      </p:cBhvr>
                                      <p:to>
                                        <p:strVal val="visible"/>
                                      </p:to>
                                    </p:set>
                                    <p:animEffect transition="in" filter="fade">
                                      <p:cBhvr>
                                        <p:cTn id="126" dur="500"/>
                                        <p:tgtEl>
                                          <p:spTgt spid="36"/>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37"/>
                                        </p:tgtEl>
                                        <p:attrNameLst>
                                          <p:attrName>style.visibility</p:attrName>
                                        </p:attrNameLst>
                                      </p:cBhvr>
                                      <p:to>
                                        <p:strVal val="visible"/>
                                      </p:to>
                                    </p:set>
                                    <p:animEffect transition="in" filter="fade">
                                      <p:cBhvr>
                                        <p:cTn id="129" dur="500"/>
                                        <p:tgtEl>
                                          <p:spTgt spid="37"/>
                                        </p:tgtEl>
                                      </p:cBhvr>
                                    </p:animEffect>
                                  </p:childTnLst>
                                </p:cTn>
                              </p:par>
                            </p:childTnLst>
                          </p:cTn>
                        </p:par>
                      </p:childTnLst>
                    </p:cTn>
                  </p:par>
                  <p:par>
                    <p:cTn id="140" fill="hold">
                      <p:stCondLst>
                        <p:cond delay="indefinite"/>
                      </p:stCondLst>
                      <p:childTnLst>
                        <p:par>
                          <p:cTn id="141" fill="hold">
                            <p:stCondLst>
                              <p:cond delay="0"/>
                            </p:stCondLst>
                            <p:childTnLst>
                              <p:par>
                                <p:cTn id="132" presetID="23" presetClass="entr" presetSubtype="16" fill="hold" grpId="0" nodeType="clickEffect">
                                  <p:stCondLst>
                                    <p:cond delay="0"/>
                                  </p:stCondLst>
                                  <p:childTnLst>
                                    <p:set>
                                      <p:cBhvr>
                                        <p:cTn id="133" dur="1" fill="hold">
                                          <p:stCondLst>
                                            <p:cond delay="0"/>
                                          </p:stCondLst>
                                        </p:cTn>
                                        <p:tgtEl>
                                          <p:spTgt spid="38"/>
                                        </p:tgtEl>
                                        <p:attrNameLst>
                                          <p:attrName>style.visibility</p:attrName>
                                        </p:attrNameLst>
                                      </p:cBhvr>
                                      <p:to>
                                        <p:strVal val="visible"/>
                                      </p:to>
                                    </p:set>
                                    <p:animScale>
                                      <p:cBhvr>
                                        <p:cTn id="134" dur="500" fill="hold"/>
                                        <p:tgtEl>
                                          <p:spTgt spid="38"/>
                                        </p:tgtEl>
                                      </p:cBhvr>
                                      <p:from x="0" y="0"/>
                                      <p:to x="100000" y="100000"/>
                                    </p:animScale>
                                    <p:animEffect transition="in" filter="fade">
                                      <p:cBhvr>
                                        <p:cTn id="135" dur="500"/>
                                        <p:tgtEl>
                                          <p:spTgt spid="38"/>
                                        </p:tgtEl>
                                      </p:cBhvr>
                                    </p:animEffect>
                                  </p:childTnLst>
                                </p:cTn>
                              </p:par>
                              <p:par>
                                <p:cTn id="136" presetID="23" presetClass="entr" presetSubtype="16" fill="hold" grpId="0" nodeType="withEffect">
                                  <p:stCondLst>
                                    <p:cond delay="0"/>
                                  </p:stCondLst>
                                  <p:childTnLst>
                                    <p:set>
                                      <p:cBhvr>
                                        <p:cTn id="137" dur="1" fill="hold">
                                          <p:stCondLst>
                                            <p:cond delay="0"/>
                                          </p:stCondLst>
                                        </p:cTn>
                                        <p:tgtEl>
                                          <p:spTgt spid="39"/>
                                        </p:tgtEl>
                                        <p:attrNameLst>
                                          <p:attrName>style.visibility</p:attrName>
                                        </p:attrNameLst>
                                      </p:cBhvr>
                                      <p:to>
                                        <p:strVal val="visible"/>
                                      </p:to>
                                    </p:set>
                                    <p:animScale>
                                      <p:cBhvr>
                                        <p:cTn id="138" dur="500" fill="hold"/>
                                        <p:tgtEl>
                                          <p:spTgt spid="39"/>
                                        </p:tgtEl>
                                      </p:cBhvr>
                                      <p:from x="0" y="0"/>
                                      <p:to x="100000" y="100000"/>
                                    </p:animScale>
                                    <p:animEffect transition="in" filter="fade">
                                      <p:cBhvr>
                                        <p:cTn id="139"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59048"/>
          </a:xfrm>
          <a:prstGeom prst="rect">
            <a:avLst/>
          </a:prstGeom>
          <a:noFill/>
          <a:ln/>
        </p:spPr>
        <p:txBody>
          <a:bodyPr wrap="none" lIns="0" tIns="0" rIns="0" bIns="0" rtlCol="0" anchor="ctr"/>
          <a:lstStyle/>
          <a:p>
            <a:pPr algn="l" indent="0" marL="0">
              <a:lnSpc>
                <a:spcPts val="2828"/>
              </a:lnSpc>
              <a:buNone/>
            </a:pPr>
            <a:r>
              <a:rPr lang="en-US" sz="2175" b="1" dirty="0">
                <a:solidFill>
                  <a:srgbClr val="191919"/>
                </a:solidFill>
                <a:latin typeface="Pridi" pitchFamily="34" charset="0"/>
                <a:ea typeface="Pridi" pitchFamily="34" charset="-122"/>
                <a:cs typeface="Pridi" pitchFamily="34" charset="-120"/>
              </a:rPr>
              <a:t>บทที่ 4: การเล่าเรื่องผ่านจุดสัมผัส</a:t>
            </a:r>
            <a:endParaRPr lang="en-US" sz="2175" dirty="0"/>
          </a:p>
        </p:txBody>
      </p:sp>
      <p:sp>
        <p:nvSpPr>
          <p:cNvPr id="3" name="static"/>
          <p:cNvSpPr txBox="1"/>
          <p:nvPr/>
        </p:nvSpPr>
        <p:spPr>
          <a:xfrm>
            <a:off x="609600" y="1235348"/>
            <a:ext cx="6686550" cy="228600"/>
          </a:xfrm>
          <a:prstGeom prst="rect">
            <a:avLst/>
          </a:prstGeom>
          <a:noFill/>
          <a:ln/>
        </p:spPr>
        <p:txBody>
          <a:bodyPr wrap="none" lIns="0" tIns="0" rIns="0" bIns="0" rtlCol="0" anchor="ctr"/>
          <a:lstStyle/>
          <a:p>
            <a:pPr algn="l" indent="0" marL="0">
              <a:lnSpc>
                <a:spcPts val="1800"/>
              </a:lnSpc>
              <a:buNone/>
            </a:pPr>
            <a:r>
              <a:rPr lang="en-US" sz="1200" dirty="0">
                <a:solidFill>
                  <a:srgbClr val="3A3A36"/>
                </a:solidFill>
                <a:latin typeface="Sarabun" pitchFamily="34" charset="0"/>
                <a:ea typeface="Sarabun" pitchFamily="34" charset="-122"/>
                <a:cs typeface="Sarabun" pitchFamily="34" charset="-120"/>
              </a:rPr>
              <a:t>เปลี่ยนกิจวัตรประจำวันให้เป็นความภักดีต่อแบรนด์</a:t>
            </a:r>
            <a:endParaRPr lang="en-US" sz="1200" dirty="0"/>
          </a:p>
        </p:txBody>
      </p:sp>
      <p:sp>
        <p:nvSpPr>
          <p:cNvPr id="4" name="static"/>
          <p:cNvSpPr txBox="1"/>
          <p:nvPr/>
        </p:nvSpPr>
        <p:spPr>
          <a:xfrm>
            <a:off x="609600" y="457200"/>
            <a:ext cx="4114800"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ตอนที่ 3 · การนำประสบการณ์ไปปฏิบัติจริง</a:t>
            </a:r>
            <a:endParaRPr lang="en-US" sz="900" dirty="0"/>
          </a:p>
        </p:txBody>
      </p:sp>
      <p:sp>
        <p:nvSpPr>
          <p:cNvPr id="5" name="!!tkey4-1"/>
          <p:cNvSpPr/>
          <p:nvPr/>
        </p:nvSpPr>
        <p:spPr>
          <a:xfrm>
            <a:off x="6438900" y="419100"/>
            <a:ext cx="2095500" cy="266700"/>
          </a:xfrm>
          <a:prstGeom prst="roundRect">
            <a:avLst>
              <a:gd name="adj" fmla="val 50000"/>
            </a:avLst>
          </a:prstGeom>
          <a:solidFill>
            <a:srgbClr val="CBA258"/>
          </a:solidFill>
          <a:ln/>
        </p:spPr>
      </p:sp>
      <p:sp>
        <p:nvSpPr>
          <p:cNvPr id="6" name="!!tkey4-2"/>
          <p:cNvSpPr txBox="1"/>
          <p:nvPr/>
        </p:nvSpPr>
        <p:spPr>
          <a:xfrm>
            <a:off x="6438900" y="4191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ประสบการณ์แบบมนุษย์ ในสเกลใหญ่</a:t>
            </a:r>
            <a:endParaRPr lang="en-US" sz="900" dirty="0"/>
          </a:p>
        </p:txBody>
      </p:sp>
      <p:sp>
        <p:nvSpPr>
          <p:cNvPr id="7" name="b1:rise"/>
          <p:cNvSpPr/>
          <p:nvPr/>
        </p:nvSpPr>
        <p:spPr>
          <a:xfrm>
            <a:off x="609600" y="1676400"/>
            <a:ext cx="2566988" cy="1857375"/>
          </a:xfrm>
          <a:prstGeom prst="roundRect">
            <a:avLst>
              <a:gd name="adj" fmla="val 4103"/>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8" name="b1:rise"/>
          <p:cNvSpPr/>
          <p:nvPr/>
        </p:nvSpPr>
        <p:spPr>
          <a:xfrm>
            <a:off x="766763" y="1833562"/>
            <a:ext cx="304800" cy="304800"/>
          </a:xfrm>
          <a:prstGeom prst="roundRect">
            <a:avLst>
              <a:gd name="adj" fmla="val 21875"/>
            </a:avLst>
          </a:prstGeom>
          <a:solidFill>
            <a:srgbClr val="D4E9E2"/>
          </a:solidFill>
          <a:ln/>
        </p:spPr>
      </p:sp>
      <p:pic>
        <p:nvPicPr>
          <p:cNvPr id="9" name="b1:rise icon Users" descr="preencoded.png">    </p:cNvPr>
          <p:cNvPicPr>
            <a:picLocks noChangeAspect="1"/>
          </p:cNvPicPr>
          <p:nvPr/>
        </p:nvPicPr>
        <p:blipFill>
          <a:blip r:embed="rId1"/>
          <a:stretch>
            <a:fillRect/>
          </a:stretch>
        </p:blipFill>
        <p:spPr>
          <a:xfrm>
            <a:off x="838200" y="1905000"/>
            <a:ext cx="161925" cy="161925"/>
          </a:xfrm>
          <a:prstGeom prst="rect">
            <a:avLst/>
          </a:prstGeom>
        </p:spPr>
      </p:pic>
      <p:sp>
        <p:nvSpPr>
          <p:cNvPr id="10" name="b1:rise"/>
          <p:cNvSpPr txBox="1"/>
          <p:nvPr/>
        </p:nvSpPr>
        <p:spPr>
          <a:xfrm>
            <a:off x="1147763" y="1900238"/>
            <a:ext cx="634579"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จุดสัมผัสที่ 1</a:t>
            </a:r>
            <a:endParaRPr lang="en-US" sz="900" dirty="0"/>
          </a:p>
        </p:txBody>
      </p:sp>
      <p:sp>
        <p:nvSpPr>
          <p:cNvPr id="11" name="b1:rise"/>
          <p:cNvSpPr txBox="1"/>
          <p:nvPr/>
        </p:nvSpPr>
        <p:spPr>
          <a:xfrm>
            <a:off x="766763" y="2205037"/>
            <a:ext cx="2432876"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ความเป็นส่วนตัวและการเชื่อมโยง</a:t>
            </a:r>
            <a:endParaRPr lang="en-US" sz="1275" dirty="0"/>
          </a:p>
        </p:txBody>
      </p:sp>
      <p:sp>
        <p:nvSpPr>
          <p:cNvPr id="12" name="b1:rise"/>
          <p:cNvSpPr txBox="1"/>
          <p:nvPr/>
        </p:nvSpPr>
        <p:spPr>
          <a:xfrm>
            <a:off x="766763" y="2498378"/>
            <a:ext cx="2342769" cy="398562"/>
          </a:xfrm>
          <a:prstGeom prst="rect">
            <a:avLst/>
          </a:prstGeom>
          <a:noFill/>
          <a:ln/>
        </p:spPr>
        <p:txBody>
          <a:bodyPr wrap="square" lIns="0" tIns="0" rIns="0" bIns="0" rtlCol="0" anchor="t"/>
          <a:lstStyle/>
          <a:p>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เขียนชื่อลูกค้าบนแก้ว บาริสต้าสบตาขณะให้บริการ และเครื่องดื่มที่ปรับแต่งได้ตามใจ</a:t>
            </a:r>
            <a:endParaRPr lang="en-US" sz="1013" dirty="0"/>
          </a:p>
        </p:txBody>
      </p:sp>
      <p:sp>
        <p:nvSpPr>
          <p:cNvPr id="13" name="b2:rise"/>
          <p:cNvSpPr/>
          <p:nvPr/>
        </p:nvSpPr>
        <p:spPr>
          <a:xfrm>
            <a:off x="3290887" y="1676400"/>
            <a:ext cx="2566988" cy="1857375"/>
          </a:xfrm>
          <a:prstGeom prst="roundRect">
            <a:avLst>
              <a:gd name="adj" fmla="val 4103"/>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4" name="b2:rise"/>
          <p:cNvSpPr/>
          <p:nvPr/>
        </p:nvSpPr>
        <p:spPr>
          <a:xfrm>
            <a:off x="3448050" y="1833562"/>
            <a:ext cx="304800" cy="304800"/>
          </a:xfrm>
          <a:prstGeom prst="roundRect">
            <a:avLst>
              <a:gd name="adj" fmla="val 21875"/>
            </a:avLst>
          </a:prstGeom>
          <a:solidFill>
            <a:srgbClr val="D4E9E2"/>
          </a:solidFill>
          <a:ln/>
        </p:spPr>
      </p:sp>
      <p:pic>
        <p:nvPicPr>
          <p:cNvPr id="15" name="b2:rise icon CheckCircle" descr="preencoded.png">    </p:cNvPr>
          <p:cNvPicPr>
            <a:picLocks noChangeAspect="1"/>
          </p:cNvPicPr>
          <p:nvPr/>
        </p:nvPicPr>
        <p:blipFill>
          <a:blip r:embed="rId2"/>
          <a:stretch>
            <a:fillRect/>
          </a:stretch>
        </p:blipFill>
        <p:spPr>
          <a:xfrm>
            <a:off x="3519487" y="1905000"/>
            <a:ext cx="161925" cy="161925"/>
          </a:xfrm>
          <a:prstGeom prst="rect">
            <a:avLst/>
          </a:prstGeom>
        </p:spPr>
      </p:pic>
      <p:sp>
        <p:nvSpPr>
          <p:cNvPr id="16" name="b2:rise"/>
          <p:cNvSpPr txBox="1"/>
          <p:nvPr/>
        </p:nvSpPr>
        <p:spPr>
          <a:xfrm>
            <a:off x="3829050" y="1900238"/>
            <a:ext cx="634579"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จุดสัมผัสที่ 2</a:t>
            </a:r>
            <a:endParaRPr lang="en-US" sz="900" dirty="0"/>
          </a:p>
        </p:txBody>
      </p:sp>
      <p:sp>
        <p:nvSpPr>
          <p:cNvPr id="17" name="b2:rise"/>
          <p:cNvSpPr txBox="1"/>
          <p:nvPr/>
        </p:nvSpPr>
        <p:spPr>
          <a:xfrm>
            <a:off x="3448050" y="2205037"/>
            <a:ext cx="2432876"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ความสม่ำเสมอทางประสาทสัมผัส</a:t>
            </a:r>
            <a:endParaRPr lang="en-US" sz="1275" dirty="0"/>
          </a:p>
        </p:txBody>
      </p:sp>
      <p:sp>
        <p:nvSpPr>
          <p:cNvPr id="18" name="b2:rise"/>
          <p:cNvSpPr txBox="1"/>
          <p:nvPr/>
        </p:nvSpPr>
        <p:spPr>
          <a:xfrm>
            <a:off x="3448050" y="2498378"/>
            <a:ext cx="2342769" cy="597843"/>
          </a:xfrm>
          <a:prstGeom prst="rect">
            <a:avLst/>
          </a:prstGeom>
          <a:noFill/>
          <a:ln/>
        </p:spPr>
        <p:txBody>
          <a:bodyPr wrap="square" lIns="0" tIns="0" rIns="0" bIns="0" rtlCol="0" anchor="t"/>
          <a:lstStyle/>
          <a:p>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การออกแบบบรรยากาศ กลิ่นเอกลักษณ์ และเพลย์ลิสต์ที่คัดสรร เหมือนกันทุกสาขาทั่วโลก</a:t>
            </a:r>
            <a:endParaRPr lang="en-US" sz="1013" dirty="0"/>
          </a:p>
        </p:txBody>
      </p:sp>
      <p:sp>
        <p:nvSpPr>
          <p:cNvPr id="19" name="b3:rise"/>
          <p:cNvSpPr/>
          <p:nvPr/>
        </p:nvSpPr>
        <p:spPr>
          <a:xfrm>
            <a:off x="5972175" y="1676400"/>
            <a:ext cx="2562225" cy="1857375"/>
          </a:xfrm>
          <a:prstGeom prst="roundRect">
            <a:avLst>
              <a:gd name="adj" fmla="val 4103"/>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0" name="b3:rise"/>
          <p:cNvSpPr/>
          <p:nvPr/>
        </p:nvSpPr>
        <p:spPr>
          <a:xfrm>
            <a:off x="6129338" y="1833562"/>
            <a:ext cx="304800" cy="304800"/>
          </a:xfrm>
          <a:prstGeom prst="roundRect">
            <a:avLst>
              <a:gd name="adj" fmla="val 21875"/>
            </a:avLst>
          </a:prstGeom>
          <a:solidFill>
            <a:srgbClr val="D4E9E2"/>
          </a:solidFill>
          <a:ln/>
        </p:spPr>
      </p:sp>
      <p:pic>
        <p:nvPicPr>
          <p:cNvPr id="21" name="b3:rise icon Home" descr="preencoded.png">    </p:cNvPr>
          <p:cNvPicPr>
            <a:picLocks noChangeAspect="1"/>
          </p:cNvPicPr>
          <p:nvPr/>
        </p:nvPicPr>
        <p:blipFill>
          <a:blip r:embed="rId3"/>
          <a:stretch>
            <a:fillRect/>
          </a:stretch>
        </p:blipFill>
        <p:spPr>
          <a:xfrm>
            <a:off x="6200775" y="1905000"/>
            <a:ext cx="161925" cy="161925"/>
          </a:xfrm>
          <a:prstGeom prst="rect">
            <a:avLst/>
          </a:prstGeom>
        </p:spPr>
      </p:pic>
      <p:sp>
        <p:nvSpPr>
          <p:cNvPr id="22" name="b3:rise"/>
          <p:cNvSpPr txBox="1"/>
          <p:nvPr/>
        </p:nvSpPr>
        <p:spPr>
          <a:xfrm>
            <a:off x="6510337" y="1900238"/>
            <a:ext cx="634579"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จุดสัมผัสที่ 3</a:t>
            </a:r>
            <a:endParaRPr lang="en-US" sz="900" dirty="0"/>
          </a:p>
        </p:txBody>
      </p:sp>
      <p:sp>
        <p:nvSpPr>
          <p:cNvPr id="23" name="b3:rise"/>
          <p:cNvSpPr txBox="1"/>
          <p:nvPr/>
        </p:nvSpPr>
        <p:spPr>
          <a:xfrm>
            <a:off x="6129338" y="2205037"/>
            <a:ext cx="2427732"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ปรับให้เข้ากับชุมชน</a:t>
            </a:r>
            <a:endParaRPr lang="en-US" sz="1275" dirty="0"/>
          </a:p>
        </p:txBody>
      </p:sp>
      <p:sp>
        <p:nvSpPr>
          <p:cNvPr id="24" name="b3:rise"/>
          <p:cNvSpPr txBox="1"/>
          <p:nvPr/>
        </p:nvSpPr>
        <p:spPr>
          <a:xfrm>
            <a:off x="6129338" y="2498378"/>
            <a:ext cx="2337816" cy="398562"/>
          </a:xfrm>
          <a:prstGeom prst="rect">
            <a:avLst/>
          </a:prstGeom>
          <a:noFill/>
          <a:ln/>
        </p:spPr>
        <p:txBody>
          <a:bodyPr wrap="square" lIns="0" tIns="0" rIns="0" bIns="0" rtlCol="0" anchor="t"/>
          <a:lstStyle/>
          <a:p>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สถาปัตยกรรมร้านที่สะท้อนมรดกของย่านนั้น ๆ โดยยังคงคุณค่าหลักของแบรนด์</a:t>
            </a:r>
            <a:endParaRPr lang="en-US" sz="1013" dirty="0"/>
          </a:p>
        </p:txBody>
      </p:sp>
      <p:sp>
        <p:nvSpPr>
          <p:cNvPr id="25" name="b4:fade"/>
          <p:cNvSpPr txBox="1"/>
          <p:nvPr/>
        </p:nvSpPr>
        <p:spPr>
          <a:xfrm>
            <a:off x="609600" y="4135041"/>
            <a:ext cx="287634"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ถัดไป</a:t>
            </a:r>
            <a:endParaRPr lang="en-US" sz="900" dirty="0"/>
          </a:p>
        </p:txBody>
      </p:sp>
      <p:sp>
        <p:nvSpPr>
          <p:cNvPr id="26" name="b4:fade"/>
          <p:cNvSpPr txBox="1"/>
          <p:nvPr/>
        </p:nvSpPr>
        <p:spPr>
          <a:xfrm>
            <a:off x="971178" y="4124325"/>
            <a:ext cx="6296046" cy="192881"/>
          </a:xfrm>
          <a:prstGeom prst="rect">
            <a:avLst/>
          </a:prstGeom>
          <a:noFill/>
          <a:ln/>
        </p:spPr>
        <p:txBody>
          <a:bodyPr wrap="none" lIns="0" tIns="0" rIns="0" bIns="0" rtlCol="0" anchor="ctr"/>
          <a:lstStyle/>
          <a:p>
            <a:pPr algn="l" indent="0" marL="0">
              <a:lnSpc>
                <a:spcPts val="1519"/>
              </a:lnSpc>
              <a:buNone/>
            </a:pPr>
            <a:r>
              <a:rPr lang="en-US" sz="1013" dirty="0">
                <a:solidFill>
                  <a:srgbClr val="3A3A36"/>
                </a:solidFill>
                <a:latin typeface="Sarabun" pitchFamily="34" charset="0"/>
                <a:ea typeface="Sarabun" pitchFamily="34" charset="-122"/>
                <a:cs typeface="Sarabun" pitchFamily="34" charset="-120"/>
              </a:rPr>
              <a:t>เมื่อไลฟ์สไตล์ของลูกค้าเปลี่ยนไป สตาร์บัคส์ต้องพา "บ้านหลังที่สาม" เข้าสู่</a:t>
            </a:r>
            <a:pPr algn="l" indent="0" marL="0">
              <a:lnSpc>
                <a:spcPts val="1519"/>
              </a:lnSpc>
              <a:buNone/>
            </a:pPr>
            <a:r>
              <a:rPr lang="en-US" sz="1013" b="1" dirty="0">
                <a:solidFill>
                  <a:srgbClr val="006241"/>
                </a:solidFill>
                <a:latin typeface="Sarabun" pitchFamily="34" charset="0"/>
                <a:ea typeface="Sarabun" pitchFamily="34" charset="-122"/>
                <a:cs typeface="Sarabun" pitchFamily="34" charset="-120"/>
              </a:rPr>
              <a:t>ยุคดิจิทัล</a:t>
            </a:r>
            <a:pPr algn="l" indent="0" marL="0">
              <a:lnSpc>
                <a:spcPts val="1519"/>
              </a:lnSpc>
              <a:buNone/>
            </a:pPr>
            <a:r>
              <a:rPr lang="en-US" sz="1013" dirty="0">
                <a:solidFill>
                  <a:srgbClr val="3A3A36"/>
                </a:solidFill>
                <a:latin typeface="Sarabun" pitchFamily="34" charset="0"/>
                <a:ea typeface="Sarabun" pitchFamily="34" charset="-122"/>
                <a:cs typeface="Sarabun" pitchFamily="34" charset="-120"/>
              </a:rPr>
              <a:t>…</a:t>
            </a:r>
            <a:endParaRPr lang="en-US" sz="1013" dirty="0"/>
          </a:p>
        </p:txBody>
      </p:sp>
      <p:sp>
        <p:nvSpPr>
          <p:cNvPr id="27" name="!!tkey5-1"/>
          <p:cNvSpPr/>
          <p:nvPr/>
        </p:nvSpPr>
        <p:spPr>
          <a:xfrm>
            <a:off x="6438900" y="4572000"/>
            <a:ext cx="2095500" cy="266700"/>
          </a:xfrm>
          <a:prstGeom prst="roundRect">
            <a:avLst>
              <a:gd name="adj" fmla="val 50000"/>
            </a:avLst>
          </a:prstGeom>
          <a:solidFill>
            <a:srgbClr val="CBA258"/>
          </a:solidFill>
          <a:ln/>
        </p:spPr>
      </p:sp>
      <p:sp>
        <p:nvSpPr>
          <p:cNvPr id="28" name="!!tkey5-2"/>
          <p:cNvSpPr txBox="1"/>
          <p:nvPr/>
        </p:nvSpPr>
        <p:spPr>
          <a:xfrm>
            <a:off x="6438900" y="45720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บ้านหลังที่สามแบบดิจิทัล</a:t>
            </a:r>
            <a:endParaRPr lang="en-US" sz="900" dirty="0"/>
          </a:p>
        </p:txBody>
      </p:sp>
      <p:sp>
        <p:nvSpPr>
          <p:cNvPr id="29" name="static"/>
          <p:cNvSpPr txBox="1"/>
          <p:nvPr/>
        </p:nvSpPr>
        <p:spPr>
          <a:xfrm>
            <a:off x="609600" y="4667250"/>
            <a:ext cx="2668042" cy="171450"/>
          </a:xfrm>
          <a:prstGeom prst="rect">
            <a:avLst/>
          </a:prstGeom>
          <a:noFill/>
          <a:ln/>
        </p:spPr>
        <p:txBody>
          <a:bodyPr wrap="none" lIns="0" tIns="0" rIns="0" bIns="0" rtlCol="0" anchor="ctr"/>
          <a:lstStyle/>
          <a:p>
            <a:pPr algn="l" indent="0" marL="0">
              <a:lnSpc>
                <a:spcPts val="1350"/>
              </a:lnSpc>
              <a:buNone/>
            </a:pPr>
            <a:r>
              <a:rPr lang="en-US" sz="900" dirty="0">
                <a:solidFill>
                  <a:srgbClr val="6B6A63"/>
                </a:solidFill>
                <a:latin typeface="Sarabun" pitchFamily="34" charset="0"/>
                <a:ea typeface="Sarabun" pitchFamily="34" charset="-122"/>
                <a:cs typeface="Sarabun" pitchFamily="34" charset="-120"/>
              </a:rPr>
              <a:t>สไลด์ 5 จาก 8 · ตอนที่ 3 · การนำประสบการณ์ไปปฏิบัติจริง</a:t>
            </a:r>
            <a:endParaRPr lang="en-US" sz="900" dirty="0"/>
          </a:p>
        </p:txBody>
      </p:sp>
      <p:sp>
        <p:nvSpPr>
          <p:cNvPr id="30" name="static"/>
          <p:cNvSpPr/>
          <p:nvPr/>
        </p:nvSpPr>
        <p:spPr>
          <a:xfrm>
            <a:off x="3468142" y="4724400"/>
            <a:ext cx="57150" cy="57150"/>
          </a:xfrm>
          <a:prstGeom prst="roundRect">
            <a:avLst>
              <a:gd name="adj" fmla="val 50000"/>
            </a:avLst>
          </a:prstGeom>
          <a:solidFill>
            <a:srgbClr val="006241"/>
          </a:solidFill>
          <a:ln/>
        </p:spPr>
      </p:sp>
      <p:sp>
        <p:nvSpPr>
          <p:cNvPr id="31" name="static"/>
          <p:cNvSpPr/>
          <p:nvPr/>
        </p:nvSpPr>
        <p:spPr>
          <a:xfrm>
            <a:off x="3572917" y="4724400"/>
            <a:ext cx="57150" cy="57150"/>
          </a:xfrm>
          <a:prstGeom prst="roundRect">
            <a:avLst>
              <a:gd name="adj" fmla="val 50000"/>
            </a:avLst>
          </a:prstGeom>
          <a:solidFill>
            <a:srgbClr val="006241"/>
          </a:solidFill>
          <a:ln/>
        </p:spPr>
      </p:sp>
      <p:sp>
        <p:nvSpPr>
          <p:cNvPr id="32" name="static"/>
          <p:cNvSpPr/>
          <p:nvPr/>
        </p:nvSpPr>
        <p:spPr>
          <a:xfrm>
            <a:off x="3677692" y="4724400"/>
            <a:ext cx="57150" cy="57150"/>
          </a:xfrm>
          <a:prstGeom prst="roundRect">
            <a:avLst>
              <a:gd name="adj" fmla="val 50000"/>
            </a:avLst>
          </a:prstGeom>
          <a:solidFill>
            <a:srgbClr val="006241"/>
          </a:solidFill>
          <a:ln/>
        </p:spPr>
      </p:sp>
      <p:sp>
        <p:nvSpPr>
          <p:cNvPr id="33" name="static"/>
          <p:cNvSpPr/>
          <p:nvPr/>
        </p:nvSpPr>
        <p:spPr>
          <a:xfrm>
            <a:off x="3782467" y="4724400"/>
            <a:ext cx="57150" cy="57150"/>
          </a:xfrm>
          <a:prstGeom prst="roundRect">
            <a:avLst>
              <a:gd name="adj" fmla="val 50000"/>
            </a:avLst>
          </a:prstGeom>
          <a:solidFill>
            <a:srgbClr val="006241"/>
          </a:solidFill>
          <a:ln/>
        </p:spPr>
      </p:sp>
      <p:sp>
        <p:nvSpPr>
          <p:cNvPr id="34" name="static"/>
          <p:cNvSpPr/>
          <p:nvPr/>
        </p:nvSpPr>
        <p:spPr>
          <a:xfrm>
            <a:off x="3887242" y="4724400"/>
            <a:ext cx="171450" cy="57150"/>
          </a:xfrm>
          <a:prstGeom prst="roundRect">
            <a:avLst>
              <a:gd name="adj" fmla="val 50000"/>
            </a:avLst>
          </a:prstGeom>
          <a:solidFill>
            <a:srgbClr val="CBA258"/>
          </a:solidFill>
          <a:ln/>
        </p:spPr>
      </p:sp>
      <p:sp>
        <p:nvSpPr>
          <p:cNvPr id="35" name="static"/>
          <p:cNvSpPr/>
          <p:nvPr/>
        </p:nvSpPr>
        <p:spPr>
          <a:xfrm>
            <a:off x="4106317" y="4724400"/>
            <a:ext cx="57150" cy="57150"/>
          </a:xfrm>
          <a:prstGeom prst="roundRect">
            <a:avLst>
              <a:gd name="adj" fmla="val 50000"/>
            </a:avLst>
          </a:prstGeom>
          <a:solidFill>
            <a:srgbClr val="C5D8D0"/>
          </a:solidFill>
          <a:ln/>
        </p:spPr>
      </p:sp>
      <p:sp>
        <p:nvSpPr>
          <p:cNvPr id="36" name="static"/>
          <p:cNvSpPr/>
          <p:nvPr/>
        </p:nvSpPr>
        <p:spPr>
          <a:xfrm>
            <a:off x="4211092" y="4724400"/>
            <a:ext cx="57150" cy="57150"/>
          </a:xfrm>
          <a:prstGeom prst="roundRect">
            <a:avLst>
              <a:gd name="adj" fmla="val 50000"/>
            </a:avLst>
          </a:prstGeom>
          <a:solidFill>
            <a:srgbClr val="C5D8D0"/>
          </a:solidFill>
          <a:ln/>
        </p:spPr>
      </p:sp>
      <p:sp>
        <p:nvSpPr>
          <p:cNvPr id="37" name="static"/>
          <p:cNvSpPr/>
          <p:nvPr/>
        </p:nvSpPr>
        <p:spPr>
          <a:xfrm>
            <a:off x="4315867" y="4724400"/>
            <a:ext cx="57150" cy="57150"/>
          </a:xfrm>
          <a:prstGeom prst="roundRect">
            <a:avLst>
              <a:gd name="adj" fmla="val 50000"/>
            </a:avLst>
          </a:prstGeom>
          <a:solidFill>
            <a:srgbClr val="C5D8D0"/>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700"/>
                                        <p:tgtEl>
                                          <p:spTgt spid="7"/>
                                        </p:tgtEl>
                                      </p:cBhvr>
                                    </p:animEffect>
                                    <p:anim calcmode="lin" valueType="num">
                                      <p:cBhvr additive="base">
                                        <p:cTn id="6" dur="700" fill="hold"/>
                                        <p:tgtEl>
                                          <p:spTgt spid="7"/>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700"/>
                                        <p:tgtEl>
                                          <p:spTgt spid="8"/>
                                        </p:tgtEl>
                                      </p:cBhvr>
                                    </p:animEffect>
                                    <p:anim calcmode="lin" valueType="num">
                                      <p:cBhvr additive="base">
                                        <p:cTn id="10" dur="700" fill="hold"/>
                                        <p:tgtEl>
                                          <p:spTgt spid="8"/>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700"/>
                                        <p:tgtEl>
                                          <p:spTgt spid="9"/>
                                        </p:tgtEl>
                                      </p:cBhvr>
                                    </p:animEffect>
                                    <p:anim calcmode="lin" valueType="num">
                                      <p:cBhvr additive="base">
                                        <p:cTn id="14" dur="700" fill="hold"/>
                                        <p:tgtEl>
                                          <p:spTgt spid="9"/>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700"/>
                                        <p:tgtEl>
                                          <p:spTgt spid="10"/>
                                        </p:tgtEl>
                                      </p:cBhvr>
                                    </p:animEffect>
                                    <p:anim calcmode="lin" valueType="num">
                                      <p:cBhvr additive="base">
                                        <p:cTn id="18" dur="700" fill="hold"/>
                                        <p:tgtEl>
                                          <p:spTgt spid="10"/>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700"/>
                                        <p:tgtEl>
                                          <p:spTgt spid="11"/>
                                        </p:tgtEl>
                                      </p:cBhvr>
                                    </p:animEffect>
                                    <p:anim calcmode="lin" valueType="num">
                                      <p:cBhvr additive="base">
                                        <p:cTn id="22" dur="700" fill="hold"/>
                                        <p:tgtEl>
                                          <p:spTgt spid="11"/>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700"/>
                                        <p:tgtEl>
                                          <p:spTgt spid="12"/>
                                        </p:tgtEl>
                                      </p:cBhvr>
                                    </p:animEffect>
                                    <p:anim calcmode="lin" valueType="num">
                                      <p:cBhvr additive="base">
                                        <p:cTn id="26" dur="700" fill="hold"/>
                                        <p:tgtEl>
                                          <p:spTgt spid="12"/>
                                        </p:tgtEl>
                                        <p:attrNameLst>
                                          <p:attrName>ppt_y</p:attrName>
                                        </p:attrNameLst>
                                      </p:cBhvr>
                                      <p:tavLst>
                                        <p:tav tm="0">
                                          <p:val>
                                            <p:strVal val="#ppt_y+.08"/>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700"/>
                                        <p:tgtEl>
                                          <p:spTgt spid="13"/>
                                        </p:tgtEl>
                                      </p:cBhvr>
                                    </p:animEffect>
                                    <p:anim calcmode="lin" valueType="num">
                                      <p:cBhvr additive="base">
                                        <p:cTn id="32" dur="700" fill="hold"/>
                                        <p:tgtEl>
                                          <p:spTgt spid="13"/>
                                        </p:tgtEl>
                                        <p:attrNameLst>
                                          <p:attrName>ppt_y</p:attrName>
                                        </p:attrNameLst>
                                      </p:cBhvr>
                                      <p:tavLst>
                                        <p:tav tm="0">
                                          <p:val>
                                            <p:strVal val="#ppt_y+.0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700"/>
                                        <p:tgtEl>
                                          <p:spTgt spid="14"/>
                                        </p:tgtEl>
                                      </p:cBhvr>
                                    </p:animEffect>
                                    <p:anim calcmode="lin" valueType="num">
                                      <p:cBhvr additive="base">
                                        <p:cTn id="36" dur="700" fill="hold"/>
                                        <p:tgtEl>
                                          <p:spTgt spid="14"/>
                                        </p:tgtEl>
                                        <p:attrNameLst>
                                          <p:attrName>ppt_y</p:attrName>
                                        </p:attrNameLst>
                                      </p:cBhvr>
                                      <p:tavLst>
                                        <p:tav tm="0">
                                          <p:val>
                                            <p:strVal val="#ppt_y+.08"/>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8"/>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8"/>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55" presetID="42"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700"/>
                                        <p:tgtEl>
                                          <p:spTgt spid="19"/>
                                        </p:tgtEl>
                                      </p:cBhvr>
                                    </p:animEffect>
                                    <p:anim calcmode="lin" valueType="num">
                                      <p:cBhvr additive="base">
                                        <p:cTn id="58" dur="700" fill="hold"/>
                                        <p:tgtEl>
                                          <p:spTgt spid="19"/>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700"/>
                                        <p:tgtEl>
                                          <p:spTgt spid="20"/>
                                        </p:tgtEl>
                                      </p:cBhvr>
                                    </p:animEffect>
                                    <p:anim calcmode="lin" valueType="num">
                                      <p:cBhvr additive="base">
                                        <p:cTn id="62" dur="700" fill="hold"/>
                                        <p:tgtEl>
                                          <p:spTgt spid="20"/>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700"/>
                                        <p:tgtEl>
                                          <p:spTgt spid="21"/>
                                        </p:tgtEl>
                                      </p:cBhvr>
                                    </p:animEffect>
                                    <p:anim calcmode="lin" valueType="num">
                                      <p:cBhvr additive="base">
                                        <p:cTn id="66" dur="700" fill="hold"/>
                                        <p:tgtEl>
                                          <p:spTgt spid="21"/>
                                        </p:tgtEl>
                                        <p:attrNameLst>
                                          <p:attrName>ppt_y</p:attrName>
                                        </p:attrNameLst>
                                      </p:cBhvr>
                                      <p:tavLst>
                                        <p:tav tm="0">
                                          <p:val>
                                            <p:strVal val="#ppt_y+.08"/>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700"/>
                                        <p:tgtEl>
                                          <p:spTgt spid="22"/>
                                        </p:tgtEl>
                                      </p:cBhvr>
                                    </p:animEffect>
                                    <p:anim calcmode="lin" valueType="num">
                                      <p:cBhvr additive="base">
                                        <p:cTn id="70" dur="700" fill="hold"/>
                                        <p:tgtEl>
                                          <p:spTgt spid="22"/>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23"/>
                                        </p:tgtEl>
                                        <p:attrNameLst>
                                          <p:attrName>style.visibility</p:attrName>
                                        </p:attrNameLst>
                                      </p:cBhvr>
                                      <p:to>
                                        <p:strVal val="visible"/>
                                      </p:to>
                                    </p:set>
                                    <p:animEffect transition="in" filter="fade">
                                      <p:cBhvr>
                                        <p:cTn id="73" dur="700"/>
                                        <p:tgtEl>
                                          <p:spTgt spid="23"/>
                                        </p:tgtEl>
                                      </p:cBhvr>
                                    </p:animEffect>
                                    <p:anim calcmode="lin" valueType="num">
                                      <p:cBhvr additive="base">
                                        <p:cTn id="74" dur="700" fill="hold"/>
                                        <p:tgtEl>
                                          <p:spTgt spid="23"/>
                                        </p:tgtEl>
                                        <p:attrNameLst>
                                          <p:attrName>ppt_y</p:attrName>
                                        </p:attrNameLst>
                                      </p:cBhvr>
                                      <p:tavLst>
                                        <p:tav tm="0">
                                          <p:val>
                                            <p:strVal val="#ppt_y+.08"/>
                                          </p:val>
                                        </p:tav>
                                        <p:tav tm="100000">
                                          <p:val>
                                            <p:strVal val="#ppt_y"/>
                                          </p:val>
                                        </p:tav>
                                      </p:tavLst>
                                    </p:anim>
                                  </p:childTnLst>
                                </p:cTn>
                              </p:par>
                              <p:par>
                                <p:cTn id="75" presetID="42" presetClass="entr" presetSubtype="0" fill="hold" grpId="0" nodeType="withEffect">
                                  <p:stCondLst>
                                    <p:cond delay="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700"/>
                                        <p:tgtEl>
                                          <p:spTgt spid="24"/>
                                        </p:tgtEl>
                                      </p:cBhvr>
                                    </p:animEffect>
                                    <p:anim calcmode="lin" valueType="num">
                                      <p:cBhvr additive="base">
                                        <p:cTn id="78" dur="700" fill="hold"/>
                                        <p:tgtEl>
                                          <p:spTgt spid="24"/>
                                        </p:tgtEl>
                                        <p:attrNameLst>
                                          <p:attrName>ppt_y</p:attrName>
                                        </p:attrNameLst>
                                      </p:cBhvr>
                                      <p:tavLst>
                                        <p:tav tm="0">
                                          <p:val>
                                            <p:strVal val="#ppt_y+.08"/>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500"/>
                                        <p:tgtEl>
                                          <p:spTgt spid="25"/>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6"/>
                                        </p:tgtEl>
                                        <p:attrNameLst>
                                          <p:attrName>style.visibility</p:attrName>
                                        </p:attrNameLst>
                                      </p:cBhvr>
                                      <p:to>
                                        <p:strVal val="visible"/>
                                      </p:to>
                                    </p:set>
                                    <p:animEffect transition="in" filter="fade">
                                      <p:cBhvr>
                                        <p:cTn id="86" dur="500"/>
                                        <p:tgtEl>
                                          <p:spTgt spid="26"/>
                                        </p:tgtEl>
                                      </p:cBhvr>
                                    </p:animEffect>
                                  </p:childTnLst>
                                </p:cTn>
                              </p:par>
                            </p:childTnLst>
                          </p:cTn>
                        </p:par>
                      </p:childTnLst>
                    </p:cTn>
                  </p:par>
                  <p:par>
                    <p:cTn id="97" fill="hold">
                      <p:stCondLst>
                        <p:cond delay="indefinite"/>
                      </p:stCondLst>
                      <p:childTnLst>
                        <p:par>
                          <p:cTn id="98" fill="hold">
                            <p:stCondLst>
                              <p:cond delay="0"/>
                            </p:stCondLst>
                            <p:childTnLst>
                              <p:par>
                                <p:cTn id="89" presetID="23" presetClass="entr" presetSubtype="16" fill="hold" grpId="0" nodeType="clickEffect">
                                  <p:stCondLst>
                                    <p:cond delay="0"/>
                                  </p:stCondLst>
                                  <p:childTnLst>
                                    <p:set>
                                      <p:cBhvr>
                                        <p:cTn id="90" dur="1" fill="hold">
                                          <p:stCondLst>
                                            <p:cond delay="0"/>
                                          </p:stCondLst>
                                        </p:cTn>
                                        <p:tgtEl>
                                          <p:spTgt spid="27"/>
                                        </p:tgtEl>
                                        <p:attrNameLst>
                                          <p:attrName>style.visibility</p:attrName>
                                        </p:attrNameLst>
                                      </p:cBhvr>
                                      <p:to>
                                        <p:strVal val="visible"/>
                                      </p:to>
                                    </p:set>
                                    <p:animScale>
                                      <p:cBhvr>
                                        <p:cTn id="91" dur="500" fill="hold"/>
                                        <p:tgtEl>
                                          <p:spTgt spid="27"/>
                                        </p:tgtEl>
                                      </p:cBhvr>
                                      <p:from x="0" y="0"/>
                                      <p:to x="100000" y="100000"/>
                                    </p:animScale>
                                    <p:animEffect transition="in" filter="fade">
                                      <p:cBhvr>
                                        <p:cTn id="92" dur="500"/>
                                        <p:tgtEl>
                                          <p:spTgt spid="27"/>
                                        </p:tgtEl>
                                      </p:cBhvr>
                                    </p:animEffect>
                                  </p:childTnLst>
                                </p:cTn>
                              </p:par>
                              <p:par>
                                <p:cTn id="93" presetID="23" presetClass="entr" presetSubtype="16" fill="hold" grpId="0" nodeType="withEffect">
                                  <p:stCondLst>
                                    <p:cond delay="0"/>
                                  </p:stCondLst>
                                  <p:childTnLst>
                                    <p:set>
                                      <p:cBhvr>
                                        <p:cTn id="94" dur="1" fill="hold">
                                          <p:stCondLst>
                                            <p:cond delay="0"/>
                                          </p:stCondLst>
                                        </p:cTn>
                                        <p:tgtEl>
                                          <p:spTgt spid="28"/>
                                        </p:tgtEl>
                                        <p:attrNameLst>
                                          <p:attrName>style.visibility</p:attrName>
                                        </p:attrNameLst>
                                      </p:cBhvr>
                                      <p:to>
                                        <p:strVal val="visible"/>
                                      </p:to>
                                    </p:set>
                                    <p:animScale>
                                      <p:cBhvr>
                                        <p:cTn id="95" dur="500" fill="hold"/>
                                        <p:tgtEl>
                                          <p:spTgt spid="28"/>
                                        </p:tgtEl>
                                      </p:cBhvr>
                                      <p:from x="0" y="0"/>
                                      <p:to x="100000" y="100000"/>
                                    </p:animScale>
                                    <p:animEffect transition="in" filter="fade">
                                      <p:cBhvr>
                                        <p:cTn id="96"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2" grpId="0" animBg="1"/>
      <p:bldP spid="13" grpId="0" animBg="1"/>
      <p:bldP spid="14" grpId="0" animBg="1"/>
      <p:bldP spid="16" grpId="0" animBg="1"/>
      <p:bldP spid="17" grpId="0" animBg="1"/>
      <p:bldP spid="18" grpId="0" animBg="1"/>
      <p:bldP spid="19" grpId="0" animBg="1"/>
      <p:bldP spid="20" grpId="0" animBg="1"/>
      <p:bldP spid="22" grpId="0" animBg="1"/>
      <p:bldP spid="23" grpId="0" animBg="1"/>
      <p:bldP spid="24" grpId="0" animBg="1"/>
      <p:bldP spid="25" grpId="0" animBg="1"/>
      <p:bldP spid="26" grpId="0" animBg="1"/>
      <p:bldP spid="27" grpId="0" animBg="1"/>
      <p:bldP spid="2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59048"/>
          </a:xfrm>
          <a:prstGeom prst="rect">
            <a:avLst/>
          </a:prstGeom>
          <a:noFill/>
          <a:ln/>
        </p:spPr>
        <p:txBody>
          <a:bodyPr wrap="none" lIns="0" tIns="0" rIns="0" bIns="0" rtlCol="0" anchor="ctr"/>
          <a:lstStyle/>
          <a:p>
            <a:pPr algn="l" indent="0" marL="0">
              <a:lnSpc>
                <a:spcPts val="2828"/>
              </a:lnSpc>
              <a:buNone/>
            </a:pPr>
            <a:r>
              <a:rPr lang="en-US" sz="2175" b="1" dirty="0">
                <a:solidFill>
                  <a:srgbClr val="191919"/>
                </a:solidFill>
                <a:latin typeface="Pridi" pitchFamily="34" charset="0"/>
                <a:ea typeface="Pridi" pitchFamily="34" charset="-122"/>
                <a:cs typeface="Pridi" pitchFamily="34" charset="-120"/>
              </a:rPr>
              <a:t>บทที่ 5: "บ้านหลังที่สาม" แบบดิจิทัล</a:t>
            </a:r>
            <a:endParaRPr lang="en-US" sz="2175" dirty="0"/>
          </a:p>
        </p:txBody>
      </p:sp>
      <p:sp>
        <p:nvSpPr>
          <p:cNvPr id="3" name="static"/>
          <p:cNvSpPr txBox="1"/>
          <p:nvPr/>
        </p:nvSpPr>
        <p:spPr>
          <a:xfrm>
            <a:off x="609600" y="1235348"/>
            <a:ext cx="6686550" cy="228600"/>
          </a:xfrm>
          <a:prstGeom prst="rect">
            <a:avLst/>
          </a:prstGeom>
          <a:noFill/>
          <a:ln/>
        </p:spPr>
        <p:txBody>
          <a:bodyPr wrap="none" lIns="0" tIns="0" rIns="0" bIns="0" rtlCol="0" anchor="ctr"/>
          <a:lstStyle/>
          <a:p>
            <a:pPr algn="l" indent="0" marL="0">
              <a:lnSpc>
                <a:spcPts val="1800"/>
              </a:lnSpc>
              <a:buNone/>
            </a:pPr>
            <a:r>
              <a:rPr lang="en-US" sz="1200" dirty="0">
                <a:solidFill>
                  <a:srgbClr val="3A3A36"/>
                </a:solidFill>
                <a:latin typeface="Sarabun" pitchFamily="34" charset="0"/>
                <a:ea typeface="Sarabun" pitchFamily="34" charset="-122"/>
                <a:cs typeface="Sarabun" pitchFamily="34" charset="-120"/>
              </a:rPr>
              <a:t>ผสานการต้อนรับที่หน้าร้านเข้ากับความสะดวกแบบดิจิทัล</a:t>
            </a:r>
            <a:endParaRPr lang="en-US" sz="1200" dirty="0"/>
          </a:p>
        </p:txBody>
      </p:sp>
      <p:sp>
        <p:nvSpPr>
          <p:cNvPr id="4" name="static"/>
          <p:cNvSpPr txBox="1"/>
          <p:nvPr/>
        </p:nvSpPr>
        <p:spPr>
          <a:xfrm>
            <a:off x="609600" y="457200"/>
            <a:ext cx="4114800"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ตอนที่ 3 · วิวัฒนาการยุคใหม่</a:t>
            </a:r>
            <a:endParaRPr lang="en-US" sz="900" dirty="0"/>
          </a:p>
        </p:txBody>
      </p:sp>
      <p:sp>
        <p:nvSpPr>
          <p:cNvPr id="5" name="!!tkey5-1"/>
          <p:cNvSpPr/>
          <p:nvPr/>
        </p:nvSpPr>
        <p:spPr>
          <a:xfrm>
            <a:off x="6438900" y="419100"/>
            <a:ext cx="2095500" cy="266700"/>
          </a:xfrm>
          <a:prstGeom prst="roundRect">
            <a:avLst>
              <a:gd name="adj" fmla="val 50000"/>
            </a:avLst>
          </a:prstGeom>
          <a:solidFill>
            <a:srgbClr val="CBA258"/>
          </a:solidFill>
          <a:ln/>
        </p:spPr>
      </p:sp>
      <p:sp>
        <p:nvSpPr>
          <p:cNvPr id="6" name="!!tkey5-2"/>
          <p:cNvSpPr txBox="1"/>
          <p:nvPr/>
        </p:nvSpPr>
        <p:spPr>
          <a:xfrm>
            <a:off x="6438900" y="4191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บ้านหลังที่สามแบบดิจิทัล</a:t>
            </a:r>
            <a:endParaRPr lang="en-US" sz="900" dirty="0"/>
          </a:p>
        </p:txBody>
      </p:sp>
      <p:sp>
        <p:nvSpPr>
          <p:cNvPr id="7" name="b1:rise"/>
          <p:cNvSpPr/>
          <p:nvPr/>
        </p:nvSpPr>
        <p:spPr>
          <a:xfrm>
            <a:off x="609600" y="1676400"/>
            <a:ext cx="3286125" cy="942975"/>
          </a:xfrm>
          <a:prstGeom prst="roundRect">
            <a:avLst>
              <a:gd name="adj" fmla="val 8081"/>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8" name="b1:rise"/>
          <p:cNvSpPr/>
          <p:nvPr/>
        </p:nvSpPr>
        <p:spPr>
          <a:xfrm>
            <a:off x="766763" y="1814513"/>
            <a:ext cx="266700" cy="266700"/>
          </a:xfrm>
          <a:prstGeom prst="roundRect">
            <a:avLst>
              <a:gd name="adj" fmla="val 21429"/>
            </a:avLst>
          </a:prstGeom>
          <a:solidFill>
            <a:srgbClr val="D4E9E2"/>
          </a:solidFill>
          <a:ln/>
        </p:spPr>
      </p:sp>
      <p:pic>
        <p:nvPicPr>
          <p:cNvPr id="9" name="b1:rise icon Star" descr="preencoded.png">    </p:cNvPr>
          <p:cNvPicPr>
            <a:picLocks noChangeAspect="1"/>
          </p:cNvPicPr>
          <p:nvPr/>
        </p:nvPicPr>
        <p:blipFill>
          <a:blip r:embed="rId1"/>
          <a:stretch>
            <a:fillRect/>
          </a:stretch>
        </p:blipFill>
        <p:spPr>
          <a:xfrm>
            <a:off x="828675" y="1876425"/>
            <a:ext cx="142875" cy="142875"/>
          </a:xfrm>
          <a:prstGeom prst="rect">
            <a:avLst/>
          </a:prstGeom>
        </p:spPr>
      </p:pic>
      <p:sp>
        <p:nvSpPr>
          <p:cNvPr id="10" name="b1:rise"/>
          <p:cNvSpPr txBox="1"/>
          <p:nvPr/>
        </p:nvSpPr>
        <p:spPr>
          <a:xfrm>
            <a:off x="1128713" y="1814513"/>
            <a:ext cx="2818638" cy="213345"/>
          </a:xfrm>
          <a:prstGeom prst="rect">
            <a:avLst/>
          </a:prstGeom>
          <a:noFill/>
          <a:ln/>
        </p:spPr>
        <p:txBody>
          <a:bodyPr wrap="none" lIns="0" tIns="0" rIns="0" bIns="0" rtlCol="0" anchor="ctr"/>
          <a:lstStyle/>
          <a:p>
            <a:pPr algn="l" indent="0" marL="0">
              <a:lnSpc>
                <a:spcPts val="1680"/>
              </a:lnSpc>
              <a:buNone/>
            </a:pPr>
            <a:r>
              <a:rPr lang="en-US" sz="1200" b="1" dirty="0">
                <a:solidFill>
                  <a:srgbClr val="191919"/>
                </a:solidFill>
                <a:latin typeface="Pridi" pitchFamily="34" charset="0"/>
                <a:ea typeface="Pridi" pitchFamily="34" charset="-122"/>
                <a:cs typeface="Pridi" pitchFamily="34" charset="-120"/>
              </a:rPr>
              <a:t>แอป Starbucks Rewards</a:t>
            </a:r>
            <a:endParaRPr lang="en-US" sz="1200" dirty="0"/>
          </a:p>
        </p:txBody>
      </p:sp>
      <p:sp>
        <p:nvSpPr>
          <p:cNvPr id="11" name="b1:rise"/>
          <p:cNvSpPr txBox="1"/>
          <p:nvPr/>
        </p:nvSpPr>
        <p:spPr>
          <a:xfrm>
            <a:off x="1128713" y="2065958"/>
            <a:ext cx="2714244" cy="383828"/>
          </a:xfrm>
          <a:prstGeom prst="rect">
            <a:avLst/>
          </a:prstGeom>
          <a:noFill/>
          <a:ln/>
        </p:spPr>
        <p:txBody>
          <a:bodyPr wrap="square" lIns="0" tIns="0" rIns="0" bIns="0" rtlCol="0" anchor="t"/>
          <a:lstStyle/>
          <a:p>
            <a:pPr algn="l" indent="0" marL="0">
              <a:lnSpc>
                <a:spcPts val="1511"/>
              </a:lnSpc>
              <a:buNone/>
            </a:pPr>
            <a:r>
              <a:rPr lang="en-US" sz="975" dirty="0">
                <a:solidFill>
                  <a:srgbClr val="3A3A36"/>
                </a:solidFill>
                <a:latin typeface="Sarabun" pitchFamily="34" charset="0"/>
                <a:ea typeface="Sarabun" pitchFamily="34" charset="-122"/>
                <a:cs typeface="Sarabun" pitchFamily="34" charset="-120"/>
              </a:rPr>
              <a:t>โปรแกรมสะสมคะแนนแบบเกม มีสมาชิกใช้งาน</a:t>
            </a:r>
            <a:pPr algn="l" indent="0" marL="0">
              <a:lnSpc>
                <a:spcPts val="1511"/>
              </a:lnSpc>
              <a:buNone/>
            </a:pPr>
            <a:r>
              <a:rPr lang="en-US" sz="975" b="1" dirty="0">
                <a:solidFill>
                  <a:srgbClr val="006241"/>
                </a:solidFill>
                <a:latin typeface="Sarabun" pitchFamily="34" charset="0"/>
                <a:ea typeface="Sarabun" pitchFamily="34" charset="-122"/>
                <a:cs typeface="Sarabun" pitchFamily="34" charset="-120"/>
              </a:rPr>
              <a:t>กว่า 30 ล้านคน</a:t>
            </a:r>
            <a:endParaRPr lang="en-US" sz="975" dirty="0"/>
          </a:p>
        </p:txBody>
      </p:sp>
      <p:sp>
        <p:nvSpPr>
          <p:cNvPr id="12" name="b2:rise"/>
          <p:cNvSpPr/>
          <p:nvPr/>
        </p:nvSpPr>
        <p:spPr>
          <a:xfrm>
            <a:off x="4010025" y="1676400"/>
            <a:ext cx="3286125" cy="942975"/>
          </a:xfrm>
          <a:prstGeom prst="roundRect">
            <a:avLst>
              <a:gd name="adj" fmla="val 8081"/>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3" name="b2:rise"/>
          <p:cNvSpPr/>
          <p:nvPr/>
        </p:nvSpPr>
        <p:spPr>
          <a:xfrm>
            <a:off x="4167187" y="1814513"/>
            <a:ext cx="266700" cy="266700"/>
          </a:xfrm>
          <a:prstGeom prst="roundRect">
            <a:avLst>
              <a:gd name="adj" fmla="val 21429"/>
            </a:avLst>
          </a:prstGeom>
          <a:solidFill>
            <a:srgbClr val="D4E9E2"/>
          </a:solidFill>
          <a:ln/>
        </p:spPr>
      </p:sp>
      <p:pic>
        <p:nvPicPr>
          <p:cNvPr id="14" name="b2:rise icon Lightning" descr="preencoded.png">    </p:cNvPr>
          <p:cNvPicPr>
            <a:picLocks noChangeAspect="1"/>
          </p:cNvPicPr>
          <p:nvPr/>
        </p:nvPicPr>
        <p:blipFill>
          <a:blip r:embed="rId2"/>
          <a:stretch>
            <a:fillRect/>
          </a:stretch>
        </p:blipFill>
        <p:spPr>
          <a:xfrm>
            <a:off x="4229100" y="1876425"/>
            <a:ext cx="142875" cy="142875"/>
          </a:xfrm>
          <a:prstGeom prst="rect">
            <a:avLst/>
          </a:prstGeom>
        </p:spPr>
      </p:pic>
      <p:sp>
        <p:nvSpPr>
          <p:cNvPr id="15" name="b2:rise"/>
          <p:cNvSpPr txBox="1"/>
          <p:nvPr/>
        </p:nvSpPr>
        <p:spPr>
          <a:xfrm>
            <a:off x="4529138" y="1814513"/>
            <a:ext cx="2818638" cy="213345"/>
          </a:xfrm>
          <a:prstGeom prst="rect">
            <a:avLst/>
          </a:prstGeom>
          <a:noFill/>
          <a:ln/>
        </p:spPr>
        <p:txBody>
          <a:bodyPr wrap="none" lIns="0" tIns="0" rIns="0" bIns="0" rtlCol="0" anchor="ctr"/>
          <a:lstStyle/>
          <a:p>
            <a:pPr algn="l" indent="0" marL="0">
              <a:lnSpc>
                <a:spcPts val="1680"/>
              </a:lnSpc>
              <a:buNone/>
            </a:pPr>
            <a:r>
              <a:rPr lang="en-US" sz="1200" b="1" dirty="0">
                <a:solidFill>
                  <a:srgbClr val="191919"/>
                </a:solidFill>
                <a:latin typeface="Pridi" pitchFamily="34" charset="0"/>
                <a:ea typeface="Pridi" pitchFamily="34" charset="-122"/>
                <a:cs typeface="Pridi" pitchFamily="34" charset="-120"/>
              </a:rPr>
              <a:t>Mobile Order &amp; Pay</a:t>
            </a:r>
            <a:endParaRPr lang="en-US" sz="1200" dirty="0"/>
          </a:p>
        </p:txBody>
      </p:sp>
      <p:sp>
        <p:nvSpPr>
          <p:cNvPr id="16" name="b2:rise"/>
          <p:cNvSpPr txBox="1"/>
          <p:nvPr/>
        </p:nvSpPr>
        <p:spPr>
          <a:xfrm>
            <a:off x="4529138" y="2065958"/>
            <a:ext cx="2818638" cy="191914"/>
          </a:xfrm>
          <a:prstGeom prst="rect">
            <a:avLst/>
          </a:prstGeom>
          <a:noFill/>
          <a:ln/>
        </p:spPr>
        <p:txBody>
          <a:bodyPr wrap="none" lIns="0" tIns="0" rIns="0" bIns="0" rtlCol="0" anchor="ctr"/>
          <a:lstStyle/>
          <a:p>
            <a:pPr algn="l" indent="0" marL="0">
              <a:lnSpc>
                <a:spcPts val="1511"/>
              </a:lnSpc>
              <a:buNone/>
            </a:pPr>
            <a:r>
              <a:rPr lang="en-US" sz="975" dirty="0">
                <a:solidFill>
                  <a:srgbClr val="3A3A36"/>
                </a:solidFill>
                <a:latin typeface="Sarabun" pitchFamily="34" charset="0"/>
                <a:ea typeface="Sarabun" pitchFamily="34" charset="-122"/>
                <a:cs typeface="Sarabun" pitchFamily="34" charset="-120"/>
              </a:rPr>
              <a:t>สั่งและจ่ายล่วงหน้า สะดวก ไร้รอยต่อ</a:t>
            </a:r>
            <a:endParaRPr lang="en-US" sz="975" dirty="0"/>
          </a:p>
        </p:txBody>
      </p:sp>
      <p:sp>
        <p:nvSpPr>
          <p:cNvPr id="17" name="b3:rise"/>
          <p:cNvSpPr/>
          <p:nvPr/>
        </p:nvSpPr>
        <p:spPr>
          <a:xfrm>
            <a:off x="609600" y="2733675"/>
            <a:ext cx="3286125" cy="942975"/>
          </a:xfrm>
          <a:prstGeom prst="roundRect">
            <a:avLst>
              <a:gd name="adj" fmla="val 8081"/>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8" name="b3:rise"/>
          <p:cNvSpPr/>
          <p:nvPr/>
        </p:nvSpPr>
        <p:spPr>
          <a:xfrm>
            <a:off x="766763" y="2871788"/>
            <a:ext cx="266700" cy="266700"/>
          </a:xfrm>
          <a:prstGeom prst="roundRect">
            <a:avLst>
              <a:gd name="adj" fmla="val 21429"/>
            </a:avLst>
          </a:prstGeom>
          <a:solidFill>
            <a:srgbClr val="D4E9E2"/>
          </a:solidFill>
          <a:ln/>
        </p:spPr>
      </p:sp>
      <p:pic>
        <p:nvPicPr>
          <p:cNvPr id="19" name="b3:rise icon Lightbulb" descr="preencoded.png">    </p:cNvPr>
          <p:cNvPicPr>
            <a:picLocks noChangeAspect="1"/>
          </p:cNvPicPr>
          <p:nvPr/>
        </p:nvPicPr>
        <p:blipFill>
          <a:blip r:embed="rId3"/>
          <a:stretch>
            <a:fillRect/>
          </a:stretch>
        </p:blipFill>
        <p:spPr>
          <a:xfrm>
            <a:off x="828675" y="2933700"/>
            <a:ext cx="142875" cy="142875"/>
          </a:xfrm>
          <a:prstGeom prst="rect">
            <a:avLst/>
          </a:prstGeom>
        </p:spPr>
      </p:pic>
      <p:sp>
        <p:nvSpPr>
          <p:cNvPr id="20" name="b3:rise"/>
          <p:cNvSpPr txBox="1"/>
          <p:nvPr/>
        </p:nvSpPr>
        <p:spPr>
          <a:xfrm>
            <a:off x="1128713" y="2871788"/>
            <a:ext cx="2818638" cy="213345"/>
          </a:xfrm>
          <a:prstGeom prst="rect">
            <a:avLst/>
          </a:prstGeom>
          <a:noFill/>
          <a:ln/>
        </p:spPr>
        <p:txBody>
          <a:bodyPr wrap="none" lIns="0" tIns="0" rIns="0" bIns="0" rtlCol="0" anchor="ctr"/>
          <a:lstStyle/>
          <a:p>
            <a:pPr algn="l" indent="0" marL="0">
              <a:lnSpc>
                <a:spcPts val="1680"/>
              </a:lnSpc>
              <a:buNone/>
            </a:pPr>
            <a:r>
              <a:rPr lang="en-US" sz="1200" b="1" dirty="0">
                <a:solidFill>
                  <a:srgbClr val="191919"/>
                </a:solidFill>
                <a:latin typeface="Pridi" pitchFamily="34" charset="0"/>
                <a:ea typeface="Pridi" pitchFamily="34" charset="-122"/>
                <a:cs typeface="Pridi" pitchFamily="34" charset="-120"/>
              </a:rPr>
              <a:t>การปรับแต่งเฉพาะบุคคลแบบดิจิทัล</a:t>
            </a:r>
            <a:endParaRPr lang="en-US" sz="1200" dirty="0"/>
          </a:p>
        </p:txBody>
      </p:sp>
      <p:sp>
        <p:nvSpPr>
          <p:cNvPr id="21" name="b3:rise"/>
          <p:cNvSpPr txBox="1"/>
          <p:nvPr/>
        </p:nvSpPr>
        <p:spPr>
          <a:xfrm>
            <a:off x="1128713" y="3123233"/>
            <a:ext cx="2714244" cy="383828"/>
          </a:xfrm>
          <a:prstGeom prst="rect">
            <a:avLst/>
          </a:prstGeom>
          <a:noFill/>
          <a:ln/>
        </p:spPr>
        <p:txBody>
          <a:bodyPr wrap="square" lIns="0" tIns="0" rIns="0" bIns="0" rtlCol="0" anchor="t"/>
          <a:lstStyle/>
          <a:p>
            <a:pPr algn="l" indent="0" marL="0">
              <a:lnSpc>
                <a:spcPts val="1511"/>
              </a:lnSpc>
              <a:buNone/>
            </a:pPr>
            <a:r>
              <a:rPr lang="en-US" sz="975" dirty="0">
                <a:solidFill>
                  <a:srgbClr val="3A3A36"/>
                </a:solidFill>
                <a:latin typeface="Sarabun" pitchFamily="34" charset="0"/>
                <a:ea typeface="Sarabun" pitchFamily="34" charset="-122"/>
                <a:cs typeface="Sarabun" pitchFamily="34" charset="-120"/>
              </a:rPr>
              <a:t>ระบบแนะนำด้วย AI ที่ปรับข้อเสนอให้ตรงรสนิยมของแต่ละคน</a:t>
            </a:r>
            <a:endParaRPr lang="en-US" sz="975" dirty="0"/>
          </a:p>
        </p:txBody>
      </p:sp>
      <p:sp>
        <p:nvSpPr>
          <p:cNvPr id="22" name="b4:rise"/>
          <p:cNvSpPr/>
          <p:nvPr/>
        </p:nvSpPr>
        <p:spPr>
          <a:xfrm>
            <a:off x="4010025" y="2733675"/>
            <a:ext cx="3286125" cy="942975"/>
          </a:xfrm>
          <a:prstGeom prst="roundRect">
            <a:avLst>
              <a:gd name="adj" fmla="val 8081"/>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3" name="b4:rise"/>
          <p:cNvSpPr/>
          <p:nvPr/>
        </p:nvSpPr>
        <p:spPr>
          <a:xfrm>
            <a:off x="4167187" y="2871788"/>
            <a:ext cx="266700" cy="266700"/>
          </a:xfrm>
          <a:prstGeom prst="roundRect">
            <a:avLst>
              <a:gd name="adj" fmla="val 21429"/>
            </a:avLst>
          </a:prstGeom>
          <a:solidFill>
            <a:srgbClr val="D4E9E2"/>
          </a:solidFill>
          <a:ln/>
        </p:spPr>
      </p:sp>
      <p:pic>
        <p:nvPicPr>
          <p:cNvPr id="24" name="b4:rise icon Globe" descr="preencoded.png">    </p:cNvPr>
          <p:cNvPicPr>
            <a:picLocks noChangeAspect="1"/>
          </p:cNvPicPr>
          <p:nvPr/>
        </p:nvPicPr>
        <p:blipFill>
          <a:blip r:embed="rId4"/>
          <a:stretch>
            <a:fillRect/>
          </a:stretch>
        </p:blipFill>
        <p:spPr>
          <a:xfrm>
            <a:off x="4229100" y="2933700"/>
            <a:ext cx="142875" cy="142875"/>
          </a:xfrm>
          <a:prstGeom prst="rect">
            <a:avLst/>
          </a:prstGeom>
        </p:spPr>
      </p:pic>
      <p:sp>
        <p:nvSpPr>
          <p:cNvPr id="25" name="b4:rise"/>
          <p:cNvSpPr txBox="1"/>
          <p:nvPr/>
        </p:nvSpPr>
        <p:spPr>
          <a:xfrm>
            <a:off x="4529138" y="2871788"/>
            <a:ext cx="2818638" cy="213345"/>
          </a:xfrm>
          <a:prstGeom prst="rect">
            <a:avLst/>
          </a:prstGeom>
          <a:noFill/>
          <a:ln/>
        </p:spPr>
        <p:txBody>
          <a:bodyPr wrap="none" lIns="0" tIns="0" rIns="0" bIns="0" rtlCol="0" anchor="ctr"/>
          <a:lstStyle/>
          <a:p>
            <a:pPr algn="l" indent="0" marL="0">
              <a:lnSpc>
                <a:spcPts val="1680"/>
              </a:lnSpc>
              <a:buNone/>
            </a:pPr>
            <a:r>
              <a:rPr lang="en-US" sz="1200" b="1" dirty="0">
                <a:solidFill>
                  <a:srgbClr val="191919"/>
                </a:solidFill>
                <a:latin typeface="Pridi" pitchFamily="34" charset="0"/>
                <a:ea typeface="Pridi" pitchFamily="34" charset="-122"/>
                <a:cs typeface="Pridi" pitchFamily="34" charset="-120"/>
              </a:rPr>
              <a:t>ออมนิแชนแนลยุคใหม่</a:t>
            </a:r>
            <a:endParaRPr lang="en-US" sz="1200" dirty="0"/>
          </a:p>
        </p:txBody>
      </p:sp>
      <p:sp>
        <p:nvSpPr>
          <p:cNvPr id="26" name="b4:rise"/>
          <p:cNvSpPr txBox="1"/>
          <p:nvPr/>
        </p:nvSpPr>
        <p:spPr>
          <a:xfrm>
            <a:off x="4529138" y="3123233"/>
            <a:ext cx="2714244" cy="383828"/>
          </a:xfrm>
          <a:prstGeom prst="rect">
            <a:avLst/>
          </a:prstGeom>
          <a:noFill/>
          <a:ln/>
        </p:spPr>
        <p:txBody>
          <a:bodyPr wrap="square" lIns="0" tIns="0" rIns="0" bIns="0" rtlCol="0" anchor="t"/>
          <a:lstStyle/>
          <a:p>
            <a:pPr algn="l" indent="0" marL="0">
              <a:lnSpc>
                <a:spcPts val="1511"/>
              </a:lnSpc>
              <a:buNone/>
            </a:pPr>
            <a:r>
              <a:rPr lang="en-US" sz="975" dirty="0">
                <a:solidFill>
                  <a:srgbClr val="3A3A36"/>
                </a:solidFill>
                <a:latin typeface="Sarabun" pitchFamily="34" charset="0"/>
                <a:ea typeface="Sarabun" pitchFamily="34" charset="-122"/>
                <a:cs typeface="Sarabun" pitchFamily="34" charset="-120"/>
              </a:rPr>
              <a:t>รักษาการเชื่อมโยงกับผู้คนไว้ ทั้งผ่านไดรฟ์ทรูและบริการเดลิเวอรี</a:t>
            </a:r>
            <a:endParaRPr lang="en-US" sz="975" dirty="0"/>
          </a:p>
        </p:txBody>
      </p:sp>
      <p:pic>
        <p:nvPicPr>
          <p:cNvPr id="27" name="b5:pop (Phone showing the Starbucks Rewards app with order ahead, pay in store and a recommended drink)" descr="/home/user/slide-present-en/starbucks-presentation/assets/phone-app.png">    </p:cNvPr>
          <p:cNvPicPr>
            <a:picLocks noChangeAspect="1"/>
          </p:cNvPicPr>
          <p:nvPr/>
        </p:nvPicPr>
        <p:blipFill>
          <a:blip r:embed="rId5"/>
          <a:stretch>
            <a:fillRect/>
          </a:stretch>
        </p:blipFill>
        <p:spPr>
          <a:xfrm>
            <a:off x="7410450" y="1714500"/>
            <a:ext cx="1123950" cy="1685925"/>
          </a:xfrm>
          <a:prstGeom prst="rect">
            <a:avLst/>
          </a:prstGeom>
        </p:spPr>
      </p:pic>
      <p:sp>
        <p:nvSpPr>
          <p:cNvPr id="28" name="b6:fade"/>
          <p:cNvSpPr/>
          <p:nvPr/>
        </p:nvSpPr>
        <p:spPr>
          <a:xfrm>
            <a:off x="609600" y="3790950"/>
            <a:ext cx="7924800" cy="402431"/>
          </a:xfrm>
          <a:prstGeom prst="roundRect">
            <a:avLst>
              <a:gd name="adj" fmla="val 18935"/>
            </a:avLst>
          </a:prstGeom>
          <a:solidFill>
            <a:srgbClr val="006241"/>
          </a:solidFill>
          <a:ln/>
        </p:spPr>
      </p:sp>
      <p:sp>
        <p:nvSpPr>
          <p:cNvPr id="29" name="b6:fade"/>
          <p:cNvSpPr txBox="1"/>
          <p:nvPr/>
        </p:nvSpPr>
        <p:spPr>
          <a:xfrm>
            <a:off x="762000" y="3906441"/>
            <a:ext cx="287634" cy="171450"/>
          </a:xfrm>
          <a:prstGeom prst="rect">
            <a:avLst/>
          </a:prstGeom>
          <a:noFill/>
          <a:ln/>
        </p:spPr>
        <p:txBody>
          <a:bodyPr wrap="none" lIns="0" tIns="0" rIns="0" bIns="0" rtlCol="0" anchor="ctr"/>
          <a:lstStyle/>
          <a:p>
            <a:pPr algn="l" indent="0" marL="0">
              <a:lnSpc>
                <a:spcPts val="1350"/>
              </a:lnSpc>
              <a:buNone/>
            </a:pPr>
            <a:r>
              <a:rPr lang="en-US" sz="900" b="1" dirty="0">
                <a:solidFill>
                  <a:srgbClr val="CBA258"/>
                </a:solidFill>
                <a:latin typeface="Sarabun" pitchFamily="34" charset="0"/>
                <a:ea typeface="Sarabun" pitchFamily="34" charset="-122"/>
                <a:cs typeface="Sarabun" pitchFamily="34" charset="-120"/>
              </a:rPr>
              <a:t>ถัดไป</a:t>
            </a:r>
            <a:endParaRPr lang="en-US" sz="900" dirty="0"/>
          </a:p>
        </p:txBody>
      </p:sp>
      <p:sp>
        <p:nvSpPr>
          <p:cNvPr id="30" name="b6:fade"/>
          <p:cNvSpPr txBox="1"/>
          <p:nvPr/>
        </p:nvSpPr>
        <p:spPr>
          <a:xfrm>
            <a:off x="1142628" y="3895725"/>
            <a:ext cx="7818522" cy="192881"/>
          </a:xfrm>
          <a:prstGeom prst="rect">
            <a:avLst/>
          </a:prstGeom>
          <a:noFill/>
          <a:ln/>
        </p:spPr>
        <p:txBody>
          <a:bodyPr wrap="none" lIns="0" tIns="0" rIns="0" bIns="0" rtlCol="0" anchor="ctr"/>
          <a:lstStyle/>
          <a:p>
            <a:pPr algn="l" indent="0" marL="0">
              <a:lnSpc>
                <a:spcPts val="1519"/>
              </a:lnSpc>
              <a:buNone/>
            </a:pPr>
            <a:r>
              <a:rPr lang="en-US" sz="1013" dirty="0">
                <a:solidFill>
                  <a:srgbClr val="F7F5F0"/>
                </a:solidFill>
                <a:latin typeface="Sarabun" pitchFamily="34" charset="0"/>
                <a:ea typeface="Sarabun" pitchFamily="34" charset="-122"/>
                <a:cs typeface="Sarabun" pitchFamily="34" charset="-120"/>
              </a:rPr>
              <a:t>เมื่อเชี่ยวชาญทั้งประสบการณ์หน้าร้านและนวัตกรรมดิจิทัลแล้ว </a:t>
            </a:r>
            <a:pPr algn="l" indent="0" marL="0">
              <a:lnSpc>
                <a:spcPts val="1519"/>
              </a:lnSpc>
              <a:buNone/>
            </a:pPr>
            <a:r>
              <a:rPr lang="en-US" sz="1013" b="1" dirty="0">
                <a:solidFill>
                  <a:srgbClr val="D4E9E2"/>
                </a:solidFill>
                <a:latin typeface="Sarabun" pitchFamily="34" charset="0"/>
                <a:ea typeface="Sarabun" pitchFamily="34" charset="-122"/>
                <a:cs typeface="Sarabun" pitchFamily="34" charset="-120"/>
              </a:rPr>
              <a:t>ผลกระทบทางธุรกิจระดับโลก</a:t>
            </a:r>
            <a:pPr algn="l" indent="0" marL="0">
              <a:lnSpc>
                <a:spcPts val="1519"/>
              </a:lnSpc>
              <a:buNone/>
            </a:pPr>
            <a:r>
              <a:rPr lang="en-US" sz="1013" dirty="0">
                <a:solidFill>
                  <a:srgbClr val="F7F5F0"/>
                </a:solidFill>
                <a:latin typeface="Sarabun" pitchFamily="34" charset="0"/>
                <a:ea typeface="Sarabun" pitchFamily="34" charset="-122"/>
                <a:cs typeface="Sarabun" pitchFamily="34" charset="-120"/>
              </a:rPr>
              <a:t>เป็นอย่างไร?</a:t>
            </a:r>
            <a:endParaRPr lang="en-US" sz="1013" dirty="0"/>
          </a:p>
        </p:txBody>
      </p:sp>
      <p:sp>
        <p:nvSpPr>
          <p:cNvPr id="31" name="!!tkey6-1"/>
          <p:cNvSpPr/>
          <p:nvPr/>
        </p:nvSpPr>
        <p:spPr>
          <a:xfrm>
            <a:off x="6438900" y="4572000"/>
            <a:ext cx="2095500" cy="266700"/>
          </a:xfrm>
          <a:prstGeom prst="roundRect">
            <a:avLst>
              <a:gd name="adj" fmla="val 50000"/>
            </a:avLst>
          </a:prstGeom>
          <a:solidFill>
            <a:srgbClr val="CBA258"/>
          </a:solidFill>
          <a:ln/>
        </p:spPr>
      </p:sp>
      <p:sp>
        <p:nvSpPr>
          <p:cNvPr id="32" name="!!tkey6-2"/>
          <p:cNvSpPr txBox="1"/>
          <p:nvPr/>
        </p:nvSpPr>
        <p:spPr>
          <a:xfrm>
            <a:off x="6438900" y="45720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การขยายสู่ระดับโลก</a:t>
            </a:r>
            <a:endParaRPr lang="en-US" sz="900" dirty="0"/>
          </a:p>
        </p:txBody>
      </p:sp>
      <p:sp>
        <p:nvSpPr>
          <p:cNvPr id="33" name="static"/>
          <p:cNvSpPr txBox="1"/>
          <p:nvPr/>
        </p:nvSpPr>
        <p:spPr>
          <a:xfrm>
            <a:off x="609600" y="4667250"/>
            <a:ext cx="2019449" cy="171450"/>
          </a:xfrm>
          <a:prstGeom prst="rect">
            <a:avLst/>
          </a:prstGeom>
          <a:noFill/>
          <a:ln/>
        </p:spPr>
        <p:txBody>
          <a:bodyPr wrap="none" lIns="0" tIns="0" rIns="0" bIns="0" rtlCol="0" anchor="ctr"/>
          <a:lstStyle/>
          <a:p>
            <a:pPr algn="l" indent="0" marL="0">
              <a:lnSpc>
                <a:spcPts val="1350"/>
              </a:lnSpc>
              <a:buNone/>
            </a:pPr>
            <a:r>
              <a:rPr lang="en-US" sz="900" dirty="0">
                <a:solidFill>
                  <a:srgbClr val="6B6A63"/>
                </a:solidFill>
                <a:latin typeface="Sarabun" pitchFamily="34" charset="0"/>
                <a:ea typeface="Sarabun" pitchFamily="34" charset="-122"/>
                <a:cs typeface="Sarabun" pitchFamily="34" charset="-120"/>
              </a:rPr>
              <a:t>สไลด์ 6 จาก 8 · ตอนที่ 3 · วิวัฒนาการยุคใหม่</a:t>
            </a:r>
            <a:endParaRPr lang="en-US" sz="900" dirty="0"/>
          </a:p>
        </p:txBody>
      </p:sp>
      <p:sp>
        <p:nvSpPr>
          <p:cNvPr id="34" name="static"/>
          <p:cNvSpPr/>
          <p:nvPr/>
        </p:nvSpPr>
        <p:spPr>
          <a:xfrm>
            <a:off x="2819549" y="4724400"/>
            <a:ext cx="57150" cy="57150"/>
          </a:xfrm>
          <a:prstGeom prst="roundRect">
            <a:avLst>
              <a:gd name="adj" fmla="val 50000"/>
            </a:avLst>
          </a:prstGeom>
          <a:solidFill>
            <a:srgbClr val="006241"/>
          </a:solidFill>
          <a:ln/>
        </p:spPr>
      </p:sp>
      <p:sp>
        <p:nvSpPr>
          <p:cNvPr id="35" name="static"/>
          <p:cNvSpPr/>
          <p:nvPr/>
        </p:nvSpPr>
        <p:spPr>
          <a:xfrm>
            <a:off x="2924324" y="4724400"/>
            <a:ext cx="57150" cy="57150"/>
          </a:xfrm>
          <a:prstGeom prst="roundRect">
            <a:avLst>
              <a:gd name="adj" fmla="val 50000"/>
            </a:avLst>
          </a:prstGeom>
          <a:solidFill>
            <a:srgbClr val="006241"/>
          </a:solidFill>
          <a:ln/>
        </p:spPr>
      </p:sp>
      <p:sp>
        <p:nvSpPr>
          <p:cNvPr id="36" name="static"/>
          <p:cNvSpPr/>
          <p:nvPr/>
        </p:nvSpPr>
        <p:spPr>
          <a:xfrm>
            <a:off x="3029099" y="4724400"/>
            <a:ext cx="57150" cy="57150"/>
          </a:xfrm>
          <a:prstGeom prst="roundRect">
            <a:avLst>
              <a:gd name="adj" fmla="val 50000"/>
            </a:avLst>
          </a:prstGeom>
          <a:solidFill>
            <a:srgbClr val="006241"/>
          </a:solidFill>
          <a:ln/>
        </p:spPr>
      </p:sp>
      <p:sp>
        <p:nvSpPr>
          <p:cNvPr id="37" name="static"/>
          <p:cNvSpPr/>
          <p:nvPr/>
        </p:nvSpPr>
        <p:spPr>
          <a:xfrm>
            <a:off x="3133874" y="4724400"/>
            <a:ext cx="57150" cy="57150"/>
          </a:xfrm>
          <a:prstGeom prst="roundRect">
            <a:avLst>
              <a:gd name="adj" fmla="val 50000"/>
            </a:avLst>
          </a:prstGeom>
          <a:solidFill>
            <a:srgbClr val="006241"/>
          </a:solidFill>
          <a:ln/>
        </p:spPr>
      </p:sp>
      <p:sp>
        <p:nvSpPr>
          <p:cNvPr id="38" name="static"/>
          <p:cNvSpPr/>
          <p:nvPr/>
        </p:nvSpPr>
        <p:spPr>
          <a:xfrm>
            <a:off x="3238649" y="4724400"/>
            <a:ext cx="57150" cy="57150"/>
          </a:xfrm>
          <a:prstGeom prst="roundRect">
            <a:avLst>
              <a:gd name="adj" fmla="val 50000"/>
            </a:avLst>
          </a:prstGeom>
          <a:solidFill>
            <a:srgbClr val="006241"/>
          </a:solidFill>
          <a:ln/>
        </p:spPr>
      </p:sp>
      <p:sp>
        <p:nvSpPr>
          <p:cNvPr id="39" name="static"/>
          <p:cNvSpPr/>
          <p:nvPr/>
        </p:nvSpPr>
        <p:spPr>
          <a:xfrm>
            <a:off x="3343424" y="4724400"/>
            <a:ext cx="171450" cy="57150"/>
          </a:xfrm>
          <a:prstGeom prst="roundRect">
            <a:avLst>
              <a:gd name="adj" fmla="val 50000"/>
            </a:avLst>
          </a:prstGeom>
          <a:solidFill>
            <a:srgbClr val="CBA258"/>
          </a:solidFill>
          <a:ln/>
        </p:spPr>
      </p:sp>
      <p:sp>
        <p:nvSpPr>
          <p:cNvPr id="40" name="static"/>
          <p:cNvSpPr/>
          <p:nvPr/>
        </p:nvSpPr>
        <p:spPr>
          <a:xfrm>
            <a:off x="3562499" y="4724400"/>
            <a:ext cx="57150" cy="57150"/>
          </a:xfrm>
          <a:prstGeom prst="roundRect">
            <a:avLst>
              <a:gd name="adj" fmla="val 50000"/>
            </a:avLst>
          </a:prstGeom>
          <a:solidFill>
            <a:srgbClr val="C5D8D0"/>
          </a:solidFill>
          <a:ln/>
        </p:spPr>
      </p:sp>
      <p:sp>
        <p:nvSpPr>
          <p:cNvPr id="41" name="static"/>
          <p:cNvSpPr/>
          <p:nvPr/>
        </p:nvSpPr>
        <p:spPr>
          <a:xfrm>
            <a:off x="3667274" y="4724400"/>
            <a:ext cx="57150" cy="57150"/>
          </a:xfrm>
          <a:prstGeom prst="roundRect">
            <a:avLst>
              <a:gd name="adj" fmla="val 50000"/>
            </a:avLst>
          </a:prstGeom>
          <a:solidFill>
            <a:srgbClr val="C5D8D0"/>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700"/>
                                        <p:tgtEl>
                                          <p:spTgt spid="7"/>
                                        </p:tgtEl>
                                      </p:cBhvr>
                                    </p:animEffect>
                                    <p:anim calcmode="lin" valueType="num">
                                      <p:cBhvr additive="base">
                                        <p:cTn id="6" dur="700" fill="hold"/>
                                        <p:tgtEl>
                                          <p:spTgt spid="7"/>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700"/>
                                        <p:tgtEl>
                                          <p:spTgt spid="8"/>
                                        </p:tgtEl>
                                      </p:cBhvr>
                                    </p:animEffect>
                                    <p:anim calcmode="lin" valueType="num">
                                      <p:cBhvr additive="base">
                                        <p:cTn id="10" dur="700" fill="hold"/>
                                        <p:tgtEl>
                                          <p:spTgt spid="8"/>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700"/>
                                        <p:tgtEl>
                                          <p:spTgt spid="9"/>
                                        </p:tgtEl>
                                      </p:cBhvr>
                                    </p:animEffect>
                                    <p:anim calcmode="lin" valueType="num">
                                      <p:cBhvr additive="base">
                                        <p:cTn id="14" dur="700" fill="hold"/>
                                        <p:tgtEl>
                                          <p:spTgt spid="9"/>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700"/>
                                        <p:tgtEl>
                                          <p:spTgt spid="10"/>
                                        </p:tgtEl>
                                      </p:cBhvr>
                                    </p:animEffect>
                                    <p:anim calcmode="lin" valueType="num">
                                      <p:cBhvr additive="base">
                                        <p:cTn id="18" dur="700" fill="hold"/>
                                        <p:tgtEl>
                                          <p:spTgt spid="10"/>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700"/>
                                        <p:tgtEl>
                                          <p:spTgt spid="11"/>
                                        </p:tgtEl>
                                      </p:cBhvr>
                                    </p:animEffect>
                                    <p:anim calcmode="lin" valueType="num">
                                      <p:cBhvr additive="base">
                                        <p:cTn id="22" dur="700" fill="hold"/>
                                        <p:tgtEl>
                                          <p:spTgt spid="11"/>
                                        </p:tgtEl>
                                        <p:attrNameLst>
                                          <p:attrName>ppt_y</p:attrName>
                                        </p:attrNameLst>
                                      </p:cBhvr>
                                      <p:tavLst>
                                        <p:tav tm="0">
                                          <p:val>
                                            <p:strVal val="#ppt_y+.08"/>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700"/>
                                        <p:tgtEl>
                                          <p:spTgt spid="12"/>
                                        </p:tgtEl>
                                      </p:cBhvr>
                                    </p:animEffect>
                                    <p:anim calcmode="lin" valueType="num">
                                      <p:cBhvr additive="base">
                                        <p:cTn id="28" dur="700" fill="hold"/>
                                        <p:tgtEl>
                                          <p:spTgt spid="12"/>
                                        </p:tgtEl>
                                        <p:attrNameLst>
                                          <p:attrName>ppt_y</p:attrName>
                                        </p:attrNameLst>
                                      </p:cBhvr>
                                      <p:tavLst>
                                        <p:tav tm="0">
                                          <p:val>
                                            <p:strVal val="#ppt_y+.08"/>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700"/>
                                        <p:tgtEl>
                                          <p:spTgt spid="13"/>
                                        </p:tgtEl>
                                      </p:cBhvr>
                                    </p:animEffect>
                                    <p:anim calcmode="lin" valueType="num">
                                      <p:cBhvr additive="base">
                                        <p:cTn id="32" dur="700" fill="hold"/>
                                        <p:tgtEl>
                                          <p:spTgt spid="13"/>
                                        </p:tgtEl>
                                        <p:attrNameLst>
                                          <p:attrName>ppt_y</p:attrName>
                                        </p:attrNameLst>
                                      </p:cBhvr>
                                      <p:tavLst>
                                        <p:tav tm="0">
                                          <p:val>
                                            <p:strVal val="#ppt_y+.0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700"/>
                                        <p:tgtEl>
                                          <p:spTgt spid="14"/>
                                        </p:tgtEl>
                                      </p:cBhvr>
                                    </p:animEffect>
                                    <p:anim calcmode="lin" valueType="num">
                                      <p:cBhvr additive="base">
                                        <p:cTn id="36" dur="700" fill="hold"/>
                                        <p:tgtEl>
                                          <p:spTgt spid="14"/>
                                        </p:tgtEl>
                                        <p:attrNameLst>
                                          <p:attrName>ppt_y</p:attrName>
                                        </p:attrNameLst>
                                      </p:cBhvr>
                                      <p:tavLst>
                                        <p:tav tm="0">
                                          <p:val>
                                            <p:strVal val="#ppt_y+.08"/>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8"/>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700"/>
                                        <p:tgtEl>
                                          <p:spTgt spid="17"/>
                                        </p:tgtEl>
                                      </p:cBhvr>
                                    </p:animEffect>
                                    <p:anim calcmode="lin" valueType="num">
                                      <p:cBhvr additive="base">
                                        <p:cTn id="50" dur="700" fill="hold"/>
                                        <p:tgtEl>
                                          <p:spTgt spid="17"/>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700"/>
                                        <p:tgtEl>
                                          <p:spTgt spid="18"/>
                                        </p:tgtEl>
                                      </p:cBhvr>
                                    </p:animEffect>
                                    <p:anim calcmode="lin" valueType="num">
                                      <p:cBhvr additive="base">
                                        <p:cTn id="54" dur="700" fill="hold"/>
                                        <p:tgtEl>
                                          <p:spTgt spid="18"/>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700"/>
                                        <p:tgtEl>
                                          <p:spTgt spid="19"/>
                                        </p:tgtEl>
                                      </p:cBhvr>
                                    </p:animEffect>
                                    <p:anim calcmode="lin" valueType="num">
                                      <p:cBhvr additive="base">
                                        <p:cTn id="58" dur="700" fill="hold"/>
                                        <p:tgtEl>
                                          <p:spTgt spid="19"/>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700"/>
                                        <p:tgtEl>
                                          <p:spTgt spid="20"/>
                                        </p:tgtEl>
                                      </p:cBhvr>
                                    </p:animEffect>
                                    <p:anim calcmode="lin" valueType="num">
                                      <p:cBhvr additive="base">
                                        <p:cTn id="62" dur="700" fill="hold"/>
                                        <p:tgtEl>
                                          <p:spTgt spid="20"/>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700"/>
                                        <p:tgtEl>
                                          <p:spTgt spid="21"/>
                                        </p:tgtEl>
                                      </p:cBhvr>
                                    </p:animEffect>
                                    <p:anim calcmode="lin" valueType="num">
                                      <p:cBhvr additive="base">
                                        <p:cTn id="66" dur="700" fill="hold"/>
                                        <p:tgtEl>
                                          <p:spTgt spid="21"/>
                                        </p:tgtEl>
                                        <p:attrNameLst>
                                          <p:attrName>ppt_y</p:attrName>
                                        </p:attrNameLst>
                                      </p:cBhvr>
                                      <p:tavLst>
                                        <p:tav tm="0">
                                          <p:val>
                                            <p:strVal val="#ppt_y+.08"/>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69" presetID="42" presetClass="entr" presetSubtype="0" fill="hold" grpId="0" nodeType="click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700"/>
                                        <p:tgtEl>
                                          <p:spTgt spid="22"/>
                                        </p:tgtEl>
                                      </p:cBhvr>
                                    </p:animEffect>
                                    <p:anim calcmode="lin" valueType="num">
                                      <p:cBhvr additive="base">
                                        <p:cTn id="72" dur="700" fill="hold"/>
                                        <p:tgtEl>
                                          <p:spTgt spid="22"/>
                                        </p:tgtEl>
                                        <p:attrNameLst>
                                          <p:attrName>ppt_y</p:attrName>
                                        </p:attrNameLst>
                                      </p:cBhvr>
                                      <p:tavLst>
                                        <p:tav tm="0">
                                          <p:val>
                                            <p:strVal val="#ppt_y+.0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700"/>
                                        <p:tgtEl>
                                          <p:spTgt spid="23"/>
                                        </p:tgtEl>
                                      </p:cBhvr>
                                    </p:animEffect>
                                    <p:anim calcmode="lin" valueType="num">
                                      <p:cBhvr additive="base">
                                        <p:cTn id="76" dur="700" fill="hold"/>
                                        <p:tgtEl>
                                          <p:spTgt spid="23"/>
                                        </p:tgtEl>
                                        <p:attrNameLst>
                                          <p:attrName>ppt_y</p:attrName>
                                        </p:attrNameLst>
                                      </p:cBhvr>
                                      <p:tavLst>
                                        <p:tav tm="0">
                                          <p:val>
                                            <p:strVal val="#ppt_y+.08"/>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700"/>
                                        <p:tgtEl>
                                          <p:spTgt spid="24"/>
                                        </p:tgtEl>
                                      </p:cBhvr>
                                    </p:animEffect>
                                    <p:anim calcmode="lin" valueType="num">
                                      <p:cBhvr additive="base">
                                        <p:cTn id="80" dur="700" fill="hold"/>
                                        <p:tgtEl>
                                          <p:spTgt spid="24"/>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700"/>
                                        <p:tgtEl>
                                          <p:spTgt spid="25"/>
                                        </p:tgtEl>
                                      </p:cBhvr>
                                    </p:animEffect>
                                    <p:anim calcmode="lin" valueType="num">
                                      <p:cBhvr additive="base">
                                        <p:cTn id="84" dur="700" fill="hold"/>
                                        <p:tgtEl>
                                          <p:spTgt spid="25"/>
                                        </p:tgtEl>
                                        <p:attrNameLst>
                                          <p:attrName>ppt_y</p:attrName>
                                        </p:attrNameLst>
                                      </p:cBhvr>
                                      <p:tavLst>
                                        <p:tav tm="0">
                                          <p:val>
                                            <p:strVal val="#ppt_y+.08"/>
                                          </p:val>
                                        </p:tav>
                                        <p:tav tm="100000">
                                          <p:val>
                                            <p:strVal val="#ppt_y"/>
                                          </p:val>
                                        </p:tav>
                                      </p:tavLst>
                                    </p:anim>
                                  </p:childTnLst>
                                </p:cTn>
                              </p:par>
                              <p:par>
                                <p:cTn id="85" presetID="42" presetClass="entr" presetSubtype="0" fill="hold" grpId="0" nodeType="withEffect">
                                  <p:stCondLst>
                                    <p:cond delay="0"/>
                                  </p:stCondLst>
                                  <p:childTnLst>
                                    <p:set>
                                      <p:cBhvr>
                                        <p:cTn id="86" dur="1" fill="hold">
                                          <p:stCondLst>
                                            <p:cond delay="0"/>
                                          </p:stCondLst>
                                        </p:cTn>
                                        <p:tgtEl>
                                          <p:spTgt spid="26"/>
                                        </p:tgtEl>
                                        <p:attrNameLst>
                                          <p:attrName>style.visibility</p:attrName>
                                        </p:attrNameLst>
                                      </p:cBhvr>
                                      <p:to>
                                        <p:strVal val="visible"/>
                                      </p:to>
                                    </p:set>
                                    <p:animEffect transition="in" filter="fade">
                                      <p:cBhvr>
                                        <p:cTn id="87" dur="700"/>
                                        <p:tgtEl>
                                          <p:spTgt spid="26"/>
                                        </p:tgtEl>
                                      </p:cBhvr>
                                    </p:animEffect>
                                    <p:anim calcmode="lin" valueType="num">
                                      <p:cBhvr additive="base">
                                        <p:cTn id="88" dur="700" fill="hold"/>
                                        <p:tgtEl>
                                          <p:spTgt spid="26"/>
                                        </p:tgtEl>
                                        <p:attrNameLst>
                                          <p:attrName>ppt_y</p:attrName>
                                        </p:attrNameLst>
                                      </p:cBhvr>
                                      <p:tavLst>
                                        <p:tav tm="0">
                                          <p:val>
                                            <p:strVal val="#ppt_y+.08"/>
                                          </p:val>
                                        </p:tav>
                                        <p:tav tm="100000">
                                          <p:val>
                                            <p:strVal val="#ppt_y"/>
                                          </p:val>
                                        </p:tav>
                                      </p:tavLst>
                                    </p:anim>
                                  </p:childTnLst>
                                </p:cTn>
                              </p:par>
                            </p:childTnLst>
                          </p:cTn>
                        </p:par>
                      </p:childTnLst>
                    </p:cTn>
                  </p:par>
                  <p:par>
                    <p:cTn id="95" fill="hold">
                      <p:stCondLst>
                        <p:cond delay="indefinite"/>
                      </p:stCondLst>
                      <p:childTnLst>
                        <p:par>
                          <p:cTn id="96" fill="hold">
                            <p:stCondLst>
                              <p:cond delay="0"/>
                            </p:stCondLst>
                            <p:childTnLst>
                              <p:par>
                                <p:cTn id="91" presetID="23" presetClass="entr" presetSubtype="16" fill="hold" grpId="0" nodeType="clickEffect">
                                  <p:stCondLst>
                                    <p:cond delay="0"/>
                                  </p:stCondLst>
                                  <p:childTnLst>
                                    <p:set>
                                      <p:cBhvr>
                                        <p:cTn id="92" dur="1" fill="hold">
                                          <p:stCondLst>
                                            <p:cond delay="0"/>
                                          </p:stCondLst>
                                        </p:cTn>
                                        <p:tgtEl>
                                          <p:spTgt spid="27"/>
                                        </p:tgtEl>
                                        <p:attrNameLst>
                                          <p:attrName>style.visibility</p:attrName>
                                        </p:attrNameLst>
                                      </p:cBhvr>
                                      <p:to>
                                        <p:strVal val="visible"/>
                                      </p:to>
                                    </p:set>
                                    <p:animScale>
                                      <p:cBhvr>
                                        <p:cTn id="93" dur="500" fill="hold"/>
                                        <p:tgtEl>
                                          <p:spTgt spid="27"/>
                                        </p:tgtEl>
                                      </p:cBhvr>
                                      <p:from x="0" y="0"/>
                                      <p:to x="100000" y="100000"/>
                                    </p:animScale>
                                    <p:animEffect transition="in" filter="fade">
                                      <p:cBhvr>
                                        <p:cTn id="94" dur="500"/>
                                        <p:tgtEl>
                                          <p:spTgt spid="27"/>
                                        </p:tgtEl>
                                      </p:cBhvr>
                                    </p:animEffect>
                                  </p:childTnLst>
                                </p:cTn>
                              </p:par>
                            </p:childTnLst>
                          </p:cTn>
                        </p:par>
                      </p:childTnLst>
                    </p:cTn>
                  </p:par>
                  <p:par>
                    <p:cTn id="106" fill="hold">
                      <p:stCondLst>
                        <p:cond delay="indefinite"/>
                      </p:stCondLst>
                      <p:childTnLst>
                        <p:par>
                          <p:cTn id="107" fill="hold">
                            <p:stCondLst>
                              <p:cond delay="0"/>
                            </p:stCondLst>
                            <p:childTnLst>
                              <p:par>
                                <p:cTn id="97" presetID="10" presetClass="entr" presetSubtype="0" fill="hold" grpId="0" nodeType="click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500"/>
                                        <p:tgtEl>
                                          <p:spTgt spid="28"/>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500"/>
                                        <p:tgtEl>
                                          <p:spTgt spid="29"/>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0"/>
                                        </p:tgtEl>
                                        <p:attrNameLst>
                                          <p:attrName>style.visibility</p:attrName>
                                        </p:attrNameLst>
                                      </p:cBhvr>
                                      <p:to>
                                        <p:strVal val="visible"/>
                                      </p:to>
                                    </p:set>
                                    <p:animEffect transition="in" filter="fade">
                                      <p:cBhvr>
                                        <p:cTn id="105" dur="500"/>
                                        <p:tgtEl>
                                          <p:spTgt spid="30"/>
                                        </p:tgtEl>
                                      </p:cBhvr>
                                    </p:animEffect>
                                  </p:childTnLst>
                                </p:cTn>
                              </p:par>
                            </p:childTnLst>
                          </p:cTn>
                        </p:par>
                      </p:childTnLst>
                    </p:cTn>
                  </p:par>
                  <p:par>
                    <p:cTn id="116" fill="hold">
                      <p:stCondLst>
                        <p:cond delay="indefinite"/>
                      </p:stCondLst>
                      <p:childTnLst>
                        <p:par>
                          <p:cTn id="117" fill="hold">
                            <p:stCondLst>
                              <p:cond delay="0"/>
                            </p:stCondLst>
                            <p:childTnLst>
                              <p:par>
                                <p:cTn id="108" presetID="23" presetClass="entr" presetSubtype="16" fill="hold" grpId="0" nodeType="clickEffect">
                                  <p:stCondLst>
                                    <p:cond delay="0"/>
                                  </p:stCondLst>
                                  <p:childTnLst>
                                    <p:set>
                                      <p:cBhvr>
                                        <p:cTn id="109" dur="1" fill="hold">
                                          <p:stCondLst>
                                            <p:cond delay="0"/>
                                          </p:stCondLst>
                                        </p:cTn>
                                        <p:tgtEl>
                                          <p:spTgt spid="31"/>
                                        </p:tgtEl>
                                        <p:attrNameLst>
                                          <p:attrName>style.visibility</p:attrName>
                                        </p:attrNameLst>
                                      </p:cBhvr>
                                      <p:to>
                                        <p:strVal val="visible"/>
                                      </p:to>
                                    </p:set>
                                    <p:animScale>
                                      <p:cBhvr>
                                        <p:cTn id="110" dur="500" fill="hold"/>
                                        <p:tgtEl>
                                          <p:spTgt spid="31"/>
                                        </p:tgtEl>
                                      </p:cBhvr>
                                      <p:from x="0" y="0"/>
                                      <p:to x="100000" y="100000"/>
                                    </p:animScale>
                                    <p:animEffect transition="in" filter="fade">
                                      <p:cBhvr>
                                        <p:cTn id="111" dur="500"/>
                                        <p:tgtEl>
                                          <p:spTgt spid="31"/>
                                        </p:tgtEl>
                                      </p:cBhvr>
                                    </p:animEffect>
                                  </p:childTnLst>
                                </p:cTn>
                              </p:par>
                              <p:par>
                                <p:cTn id="112" presetID="23" presetClass="entr" presetSubtype="16" fill="hold" grpId="0" nodeType="withEffect">
                                  <p:stCondLst>
                                    <p:cond delay="0"/>
                                  </p:stCondLst>
                                  <p:childTnLst>
                                    <p:set>
                                      <p:cBhvr>
                                        <p:cTn id="113" dur="1" fill="hold">
                                          <p:stCondLst>
                                            <p:cond delay="0"/>
                                          </p:stCondLst>
                                        </p:cTn>
                                        <p:tgtEl>
                                          <p:spTgt spid="32"/>
                                        </p:tgtEl>
                                        <p:attrNameLst>
                                          <p:attrName>style.visibility</p:attrName>
                                        </p:attrNameLst>
                                      </p:cBhvr>
                                      <p:to>
                                        <p:strVal val="visible"/>
                                      </p:to>
                                    </p:set>
                                    <p:animScale>
                                      <p:cBhvr>
                                        <p:cTn id="114" dur="500" fill="hold"/>
                                        <p:tgtEl>
                                          <p:spTgt spid="32"/>
                                        </p:tgtEl>
                                      </p:cBhvr>
                                      <p:from x="0" y="0"/>
                                      <p:to x="100000" y="100000"/>
                                    </p:animScale>
                                    <p:animEffect transition="in" filter="fade">
                                      <p:cBhvr>
                                        <p:cTn id="11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2" grpId="0" animBg="1"/>
      <p:bldP spid="13" grpId="0" animBg="1"/>
      <p:bldP spid="15" grpId="0" animBg="1"/>
      <p:bldP spid="16" grpId="0" animBg="1"/>
      <p:bldP spid="17" grpId="0" animBg="1"/>
      <p:bldP spid="18" grpId="0" animBg="1"/>
      <p:bldP spid="20" grpId="0" animBg="1"/>
      <p:bldP spid="21" grpId="0" animBg="1"/>
      <p:bldP spid="22" grpId="0" animBg="1"/>
      <p:bldP spid="23" grpId="0" animBg="1"/>
      <p:bldP spid="25" grpId="0" animBg="1"/>
      <p:bldP spid="26" grpId="0" animBg="1"/>
      <p:bldP spid="28" grpId="0" animBg="1"/>
      <p:bldP spid="29" grpId="0" animBg="1"/>
      <p:bldP spid="30" grpId="0" animBg="1"/>
      <p:bldP spid="31" grpId="0" animBg="1"/>
      <p:bldP spid="3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59048"/>
          </a:xfrm>
          <a:prstGeom prst="rect">
            <a:avLst/>
          </a:prstGeom>
          <a:noFill/>
          <a:ln/>
        </p:spPr>
        <p:txBody>
          <a:bodyPr wrap="none" lIns="0" tIns="0" rIns="0" bIns="0" rtlCol="0" anchor="ctr"/>
          <a:lstStyle/>
          <a:p>
            <a:pPr algn="l" indent="0" marL="0">
              <a:lnSpc>
                <a:spcPts val="2828"/>
              </a:lnSpc>
              <a:buNone/>
            </a:pPr>
            <a:r>
              <a:rPr lang="en-US" sz="2175" b="1" dirty="0">
                <a:solidFill>
                  <a:srgbClr val="191919"/>
                </a:solidFill>
                <a:latin typeface="Pridi" pitchFamily="34" charset="0"/>
                <a:ea typeface="Pridi" pitchFamily="34" charset="-122"/>
                <a:cs typeface="Pridi" pitchFamily="34" charset="-120"/>
              </a:rPr>
              <a:t>บทที่ 6: การเข้าถึงและขยายสู่ระดับโลก</a:t>
            </a:r>
            <a:endParaRPr lang="en-US" sz="2175" dirty="0"/>
          </a:p>
        </p:txBody>
      </p:sp>
      <p:sp>
        <p:nvSpPr>
          <p:cNvPr id="3" name="static"/>
          <p:cNvSpPr txBox="1"/>
          <p:nvPr/>
        </p:nvSpPr>
        <p:spPr>
          <a:xfrm>
            <a:off x="609600" y="1235348"/>
            <a:ext cx="6686550" cy="228600"/>
          </a:xfrm>
          <a:prstGeom prst="rect">
            <a:avLst/>
          </a:prstGeom>
          <a:noFill/>
          <a:ln/>
        </p:spPr>
        <p:txBody>
          <a:bodyPr wrap="none" lIns="0" tIns="0" rIns="0" bIns="0" rtlCol="0" anchor="ctr"/>
          <a:lstStyle/>
          <a:p>
            <a:pPr algn="l" indent="0" marL="0">
              <a:lnSpc>
                <a:spcPts val="1800"/>
              </a:lnSpc>
              <a:buNone/>
            </a:pPr>
            <a:r>
              <a:rPr lang="en-US" sz="1200" dirty="0">
                <a:solidFill>
                  <a:srgbClr val="3A3A36"/>
                </a:solidFill>
                <a:latin typeface="Sarabun" pitchFamily="34" charset="0"/>
                <a:ea typeface="Sarabun" pitchFamily="34" charset="-122"/>
                <a:cs typeface="Sarabun" pitchFamily="34" charset="-120"/>
              </a:rPr>
              <a:t>ขยายเรื่องเล่าข้ามพรมแดน</a:t>
            </a:r>
            <a:endParaRPr lang="en-US" sz="1200" dirty="0"/>
          </a:p>
        </p:txBody>
      </p:sp>
      <p:sp>
        <p:nvSpPr>
          <p:cNvPr id="4" name="static"/>
          <p:cNvSpPr txBox="1"/>
          <p:nvPr/>
        </p:nvSpPr>
        <p:spPr>
          <a:xfrm>
            <a:off x="609600" y="457200"/>
            <a:ext cx="4114800"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ตอนที่ 4 · ผลกระทบระดับโลก</a:t>
            </a:r>
            <a:endParaRPr lang="en-US" sz="900" dirty="0"/>
          </a:p>
        </p:txBody>
      </p:sp>
      <p:sp>
        <p:nvSpPr>
          <p:cNvPr id="5" name="!!tkey6-1"/>
          <p:cNvSpPr/>
          <p:nvPr/>
        </p:nvSpPr>
        <p:spPr>
          <a:xfrm>
            <a:off x="6438900" y="419100"/>
            <a:ext cx="2095500" cy="266700"/>
          </a:xfrm>
          <a:prstGeom prst="roundRect">
            <a:avLst>
              <a:gd name="adj" fmla="val 50000"/>
            </a:avLst>
          </a:prstGeom>
          <a:solidFill>
            <a:srgbClr val="CBA258"/>
          </a:solidFill>
          <a:ln/>
        </p:spPr>
      </p:sp>
      <p:sp>
        <p:nvSpPr>
          <p:cNvPr id="6" name="!!tkey6-2"/>
          <p:cNvSpPr txBox="1"/>
          <p:nvPr/>
        </p:nvSpPr>
        <p:spPr>
          <a:xfrm>
            <a:off x="6438900" y="4191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การขยายสู่ระดับโลก</a:t>
            </a:r>
            <a:endParaRPr lang="en-US" sz="900" dirty="0"/>
          </a:p>
        </p:txBody>
      </p:sp>
      <p:sp>
        <p:nvSpPr>
          <p:cNvPr id="7" name="b1:pop"/>
          <p:cNvSpPr/>
          <p:nvPr/>
        </p:nvSpPr>
        <p:spPr>
          <a:xfrm>
            <a:off x="609600" y="1676400"/>
            <a:ext cx="2952750" cy="1085850"/>
          </a:xfrm>
          <a:prstGeom prst="roundRect">
            <a:avLst>
              <a:gd name="adj" fmla="val 7018"/>
            </a:avLst>
          </a:prstGeom>
          <a:solidFill>
            <a:srgbClr val="006241"/>
          </a:solidFill>
          <a:ln/>
        </p:spPr>
      </p:sp>
      <p:sp>
        <p:nvSpPr>
          <p:cNvPr id="8" name="b1:pop"/>
          <p:cNvSpPr txBox="1"/>
          <p:nvPr/>
        </p:nvSpPr>
        <p:spPr>
          <a:xfrm>
            <a:off x="800100" y="1845022"/>
            <a:ext cx="2777490" cy="533400"/>
          </a:xfrm>
          <a:prstGeom prst="rect">
            <a:avLst/>
          </a:prstGeom>
          <a:noFill/>
          <a:ln/>
        </p:spPr>
        <p:txBody>
          <a:bodyPr wrap="none" lIns="0" tIns="0" rIns="0" bIns="0" rtlCol="0" anchor="ctr"/>
          <a:lstStyle/>
          <a:p>
            <a:pPr algn="l" indent="0" marL="0">
              <a:lnSpc>
                <a:spcPts val="4200"/>
              </a:lnSpc>
              <a:buNone/>
            </a:pPr>
            <a:r>
              <a:rPr lang="en-US" sz="4200" b="1" dirty="0">
                <a:solidFill>
                  <a:srgbClr val="F7F5F0"/>
                </a:solidFill>
                <a:latin typeface="Pridi" pitchFamily="34" charset="0"/>
                <a:ea typeface="Pridi" pitchFamily="34" charset="-122"/>
                <a:cs typeface="Pridi" pitchFamily="34" charset="-120"/>
              </a:rPr>
              <a:t>38,000+</a:t>
            </a:r>
            <a:endParaRPr lang="en-US" sz="4200" dirty="0"/>
          </a:p>
        </p:txBody>
      </p:sp>
      <p:sp>
        <p:nvSpPr>
          <p:cNvPr id="9" name="b1:pop"/>
          <p:cNvSpPr txBox="1"/>
          <p:nvPr/>
        </p:nvSpPr>
        <p:spPr>
          <a:xfrm>
            <a:off x="800100" y="2406997"/>
            <a:ext cx="2777490" cy="186630"/>
          </a:xfrm>
          <a:prstGeom prst="rect">
            <a:avLst/>
          </a:prstGeom>
          <a:noFill/>
          <a:ln/>
        </p:spPr>
        <p:txBody>
          <a:bodyPr wrap="none" lIns="0" tIns="0" rIns="0" bIns="0" rtlCol="0" anchor="ctr"/>
          <a:lstStyle/>
          <a:p>
            <a:pPr algn="l" indent="0" marL="0">
              <a:lnSpc>
                <a:spcPts val="1470"/>
              </a:lnSpc>
              <a:buNone/>
            </a:pPr>
            <a:r>
              <a:rPr lang="en-US" sz="1050" dirty="0">
                <a:solidFill>
                  <a:srgbClr val="D4E9E2"/>
                </a:solidFill>
                <a:latin typeface="Sarabun" pitchFamily="34" charset="0"/>
                <a:ea typeface="Sarabun" pitchFamily="34" charset="-122"/>
                <a:cs typeface="Sarabun" pitchFamily="34" charset="-120"/>
              </a:rPr>
              <a:t>สาขาทั่วโลก</a:t>
            </a:r>
            <a:endParaRPr lang="en-US" sz="1050" dirty="0"/>
          </a:p>
        </p:txBody>
      </p:sp>
      <p:sp>
        <p:nvSpPr>
          <p:cNvPr id="10" name="b2:pop"/>
          <p:cNvSpPr/>
          <p:nvPr/>
        </p:nvSpPr>
        <p:spPr>
          <a:xfrm>
            <a:off x="609600" y="2876550"/>
            <a:ext cx="2952750" cy="1085850"/>
          </a:xfrm>
          <a:prstGeom prst="roundRect">
            <a:avLst>
              <a:gd name="adj" fmla="val 7018"/>
            </a:avLst>
          </a:prstGeom>
          <a:solidFill>
            <a:srgbClr val="006241"/>
          </a:solidFill>
          <a:ln/>
        </p:spPr>
      </p:sp>
      <p:sp>
        <p:nvSpPr>
          <p:cNvPr id="11" name="b2:pop"/>
          <p:cNvSpPr txBox="1"/>
          <p:nvPr/>
        </p:nvSpPr>
        <p:spPr>
          <a:xfrm>
            <a:off x="800100" y="3045172"/>
            <a:ext cx="1800225" cy="533400"/>
          </a:xfrm>
          <a:prstGeom prst="rect">
            <a:avLst/>
          </a:prstGeom>
          <a:noFill/>
          <a:ln/>
        </p:spPr>
        <p:txBody>
          <a:bodyPr wrap="none" lIns="0" tIns="0" rIns="0" bIns="0" rtlCol="0" anchor="ctr"/>
          <a:lstStyle/>
          <a:p>
            <a:pPr algn="l" indent="0" marL="0">
              <a:lnSpc>
                <a:spcPts val="4200"/>
              </a:lnSpc>
              <a:buNone/>
            </a:pPr>
            <a:r>
              <a:rPr lang="en-US" sz="4200" b="1" dirty="0">
                <a:solidFill>
                  <a:srgbClr val="F7F5F0"/>
                </a:solidFill>
                <a:latin typeface="Pridi" pitchFamily="34" charset="0"/>
                <a:ea typeface="Pridi" pitchFamily="34" charset="-122"/>
                <a:cs typeface="Pridi" pitchFamily="34" charset="-120"/>
              </a:rPr>
              <a:t>80+</a:t>
            </a:r>
            <a:endParaRPr lang="en-US" sz="4200" dirty="0"/>
          </a:p>
        </p:txBody>
      </p:sp>
      <p:sp>
        <p:nvSpPr>
          <p:cNvPr id="12" name="b2:pop"/>
          <p:cNvSpPr txBox="1"/>
          <p:nvPr/>
        </p:nvSpPr>
        <p:spPr>
          <a:xfrm>
            <a:off x="800100" y="3607147"/>
            <a:ext cx="1800225" cy="186630"/>
          </a:xfrm>
          <a:prstGeom prst="rect">
            <a:avLst/>
          </a:prstGeom>
          <a:noFill/>
          <a:ln/>
        </p:spPr>
        <p:txBody>
          <a:bodyPr wrap="none" lIns="0" tIns="0" rIns="0" bIns="0" rtlCol="0" anchor="ctr"/>
          <a:lstStyle/>
          <a:p>
            <a:pPr algn="l" indent="0" marL="0">
              <a:lnSpc>
                <a:spcPts val="1470"/>
              </a:lnSpc>
              <a:buNone/>
            </a:pPr>
            <a:r>
              <a:rPr lang="en-US" sz="1050" dirty="0">
                <a:solidFill>
                  <a:srgbClr val="D4E9E2"/>
                </a:solidFill>
                <a:latin typeface="Sarabun" pitchFamily="34" charset="0"/>
                <a:ea typeface="Sarabun" pitchFamily="34" charset="-122"/>
                <a:cs typeface="Sarabun" pitchFamily="34" charset="-120"/>
              </a:rPr>
              <a:t>ตลาดทั่วโลก</a:t>
            </a:r>
            <a:endParaRPr lang="en-US" sz="1050" dirty="0"/>
          </a:p>
        </p:txBody>
      </p:sp>
      <p:pic>
        <p:nvPicPr>
          <p:cNvPr id="13" name="b2:pop (Globe with gold dots marking Starbucks markets)" descr="/home/user/slide-present-en/starbucks-presentation/assets/globe.png">    </p:cNvPr>
          <p:cNvPicPr>
            <a:picLocks noChangeAspect="1"/>
          </p:cNvPicPr>
          <p:nvPr/>
        </p:nvPicPr>
        <p:blipFill>
          <a:blip r:embed="rId1"/>
          <a:stretch>
            <a:fillRect/>
          </a:stretch>
        </p:blipFill>
        <p:spPr>
          <a:xfrm>
            <a:off x="2562225" y="3014663"/>
            <a:ext cx="809625" cy="809625"/>
          </a:xfrm>
          <a:prstGeom prst="rect">
            <a:avLst/>
          </a:prstGeom>
        </p:spPr>
      </p:pic>
      <p:sp>
        <p:nvSpPr>
          <p:cNvPr id="14" name="b3:rise"/>
          <p:cNvSpPr/>
          <p:nvPr/>
        </p:nvSpPr>
        <p:spPr>
          <a:xfrm>
            <a:off x="3714750" y="1676400"/>
            <a:ext cx="4819650" cy="2286000"/>
          </a:xfrm>
          <a:prstGeom prst="roundRect">
            <a:avLst>
              <a:gd name="adj" fmla="val 3333"/>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5" name="b3:rise"/>
          <p:cNvSpPr txBox="1"/>
          <p:nvPr/>
        </p:nvSpPr>
        <p:spPr>
          <a:xfrm>
            <a:off x="3910012" y="1852612"/>
            <a:ext cx="4783455"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กลยุทธ์การเติบโตหลัก</a:t>
            </a:r>
            <a:endParaRPr lang="en-US" sz="900" dirty="0"/>
          </a:p>
        </p:txBody>
      </p:sp>
      <p:sp>
        <p:nvSpPr>
          <p:cNvPr id="16" name="b3:rise"/>
          <p:cNvSpPr/>
          <p:nvPr/>
        </p:nvSpPr>
        <p:spPr>
          <a:xfrm>
            <a:off x="3910012" y="2147887"/>
            <a:ext cx="266700" cy="266700"/>
          </a:xfrm>
          <a:prstGeom prst="roundRect">
            <a:avLst>
              <a:gd name="adj" fmla="val 21429"/>
            </a:avLst>
          </a:prstGeom>
          <a:solidFill>
            <a:srgbClr val="D4E9E2"/>
          </a:solidFill>
          <a:ln/>
        </p:spPr>
      </p:sp>
      <p:pic>
        <p:nvPicPr>
          <p:cNvPr id="17" name="b3:rise icon Users" descr="preencoded.png">    </p:cNvPr>
          <p:cNvPicPr>
            <a:picLocks noChangeAspect="1"/>
          </p:cNvPicPr>
          <p:nvPr/>
        </p:nvPicPr>
        <p:blipFill>
          <a:blip r:embed="rId2"/>
          <a:stretch>
            <a:fillRect/>
          </a:stretch>
        </p:blipFill>
        <p:spPr>
          <a:xfrm>
            <a:off x="3971925" y="2209800"/>
            <a:ext cx="142875" cy="142875"/>
          </a:xfrm>
          <a:prstGeom prst="rect">
            <a:avLst/>
          </a:prstGeom>
        </p:spPr>
      </p:pic>
      <p:sp>
        <p:nvSpPr>
          <p:cNvPr id="18" name="b3:rise"/>
          <p:cNvSpPr txBox="1"/>
          <p:nvPr/>
        </p:nvSpPr>
        <p:spPr>
          <a:xfrm>
            <a:off x="4271963" y="2147887"/>
            <a:ext cx="4392549" cy="213345"/>
          </a:xfrm>
          <a:prstGeom prst="rect">
            <a:avLst/>
          </a:prstGeom>
          <a:noFill/>
          <a:ln/>
        </p:spPr>
        <p:txBody>
          <a:bodyPr wrap="none" lIns="0" tIns="0" rIns="0" bIns="0" rtlCol="0" anchor="ctr"/>
          <a:lstStyle/>
          <a:p>
            <a:pPr algn="l" indent="0" marL="0">
              <a:lnSpc>
                <a:spcPts val="1680"/>
              </a:lnSpc>
              <a:buNone/>
            </a:pPr>
            <a:r>
              <a:rPr lang="en-US" sz="1200" b="1" dirty="0">
                <a:solidFill>
                  <a:srgbClr val="191919"/>
                </a:solidFill>
                <a:latin typeface="Pridi" pitchFamily="34" charset="0"/>
                <a:ea typeface="Pridi" pitchFamily="34" charset="-122"/>
                <a:cs typeface="Pridi" pitchFamily="34" charset="-120"/>
              </a:rPr>
              <a:t>ร่วมทุนเชิงกลยุทธ์</a:t>
            </a:r>
            <a:endParaRPr lang="en-US" sz="1200" dirty="0"/>
          </a:p>
        </p:txBody>
      </p:sp>
      <p:sp>
        <p:nvSpPr>
          <p:cNvPr id="19" name="b3:rise"/>
          <p:cNvSpPr txBox="1"/>
          <p:nvPr/>
        </p:nvSpPr>
        <p:spPr>
          <a:xfrm>
            <a:off x="4271963" y="2380283"/>
            <a:ext cx="4392549" cy="191914"/>
          </a:xfrm>
          <a:prstGeom prst="rect">
            <a:avLst/>
          </a:prstGeom>
          <a:noFill/>
          <a:ln/>
        </p:spPr>
        <p:txBody>
          <a:bodyPr wrap="none" lIns="0" tIns="0" rIns="0" bIns="0" rtlCol="0" anchor="ctr"/>
          <a:lstStyle/>
          <a:p>
            <a:pPr algn="l" indent="0" marL="0">
              <a:lnSpc>
                <a:spcPts val="1511"/>
              </a:lnSpc>
              <a:buNone/>
            </a:pPr>
            <a:r>
              <a:rPr lang="en-US" sz="975" dirty="0">
                <a:solidFill>
                  <a:srgbClr val="3A3A36"/>
                </a:solidFill>
                <a:latin typeface="Sarabun" pitchFamily="34" charset="0"/>
                <a:ea typeface="Sarabun" pitchFamily="34" charset="-122"/>
                <a:cs typeface="Sarabun" pitchFamily="34" charset="-120"/>
              </a:rPr>
              <a:t>จับมือพันธมิตรท้องถิ่นเพื่อเข้าสู่และเติบโตในตลาดใหม่</a:t>
            </a:r>
            <a:endParaRPr lang="en-US" sz="975" dirty="0"/>
          </a:p>
        </p:txBody>
      </p:sp>
      <p:sp>
        <p:nvSpPr>
          <p:cNvPr id="20" name="b3:rise"/>
          <p:cNvSpPr/>
          <p:nvPr/>
        </p:nvSpPr>
        <p:spPr>
          <a:xfrm>
            <a:off x="3910012" y="2696021"/>
            <a:ext cx="266700" cy="266700"/>
          </a:xfrm>
          <a:prstGeom prst="roundRect">
            <a:avLst>
              <a:gd name="adj" fmla="val 21429"/>
            </a:avLst>
          </a:prstGeom>
          <a:solidFill>
            <a:srgbClr val="D4E9E2"/>
          </a:solidFill>
          <a:ln/>
        </p:spPr>
      </p:sp>
      <p:pic>
        <p:nvPicPr>
          <p:cNvPr id="21" name="b3:rise icon Globe" descr="preencoded.png">    </p:cNvPr>
          <p:cNvPicPr>
            <a:picLocks noChangeAspect="1"/>
          </p:cNvPicPr>
          <p:nvPr/>
        </p:nvPicPr>
        <p:blipFill>
          <a:blip r:embed="rId3"/>
          <a:stretch>
            <a:fillRect/>
          </a:stretch>
        </p:blipFill>
        <p:spPr>
          <a:xfrm>
            <a:off x="3971925" y="2757934"/>
            <a:ext cx="142875" cy="142875"/>
          </a:xfrm>
          <a:prstGeom prst="rect">
            <a:avLst/>
          </a:prstGeom>
        </p:spPr>
      </p:pic>
      <p:sp>
        <p:nvSpPr>
          <p:cNvPr id="22" name="b3:rise"/>
          <p:cNvSpPr txBox="1"/>
          <p:nvPr/>
        </p:nvSpPr>
        <p:spPr>
          <a:xfrm>
            <a:off x="4271963" y="2696021"/>
            <a:ext cx="4392549" cy="213345"/>
          </a:xfrm>
          <a:prstGeom prst="rect">
            <a:avLst/>
          </a:prstGeom>
          <a:noFill/>
          <a:ln/>
        </p:spPr>
        <p:txBody>
          <a:bodyPr wrap="none" lIns="0" tIns="0" rIns="0" bIns="0" rtlCol="0" anchor="ctr"/>
          <a:lstStyle/>
          <a:p>
            <a:pPr algn="l" indent="0" marL="0">
              <a:lnSpc>
                <a:spcPts val="1680"/>
              </a:lnSpc>
              <a:buNone/>
            </a:pPr>
            <a:r>
              <a:rPr lang="en-US" sz="1200" b="1" dirty="0">
                <a:solidFill>
                  <a:srgbClr val="191919"/>
                </a:solidFill>
                <a:latin typeface="Pridi" pitchFamily="34" charset="0"/>
                <a:ea typeface="Pridi" pitchFamily="34" charset="-122"/>
                <a:cs typeface="Pridi" pitchFamily="34" charset="-120"/>
              </a:rPr>
              <a:t>ปรับให้เข้ากับแต่ละตลาด</a:t>
            </a:r>
            <a:endParaRPr lang="en-US" sz="1200" dirty="0"/>
          </a:p>
        </p:txBody>
      </p:sp>
      <p:sp>
        <p:nvSpPr>
          <p:cNvPr id="23" name="b3:rise"/>
          <p:cNvSpPr txBox="1"/>
          <p:nvPr/>
        </p:nvSpPr>
        <p:spPr>
          <a:xfrm>
            <a:off x="4271963" y="2928417"/>
            <a:ext cx="4392549" cy="191914"/>
          </a:xfrm>
          <a:prstGeom prst="rect">
            <a:avLst/>
          </a:prstGeom>
          <a:noFill/>
          <a:ln/>
        </p:spPr>
        <p:txBody>
          <a:bodyPr wrap="none" lIns="0" tIns="0" rIns="0" bIns="0" rtlCol="0" anchor="ctr"/>
          <a:lstStyle/>
          <a:p>
            <a:pPr algn="l" indent="0" marL="0">
              <a:lnSpc>
                <a:spcPts val="1511"/>
              </a:lnSpc>
              <a:buNone/>
            </a:pPr>
            <a:r>
              <a:rPr lang="en-US" sz="975" dirty="0">
                <a:solidFill>
                  <a:srgbClr val="3A3A36"/>
                </a:solidFill>
                <a:latin typeface="Sarabun" pitchFamily="34" charset="0"/>
                <a:ea typeface="Sarabun" pitchFamily="34" charset="-122"/>
                <a:cs typeface="Sarabun" pitchFamily="34" charset="-120"/>
              </a:rPr>
              <a:t>เมนูท้องถิ่น เช่น Teavana และเครื่องดื่มมัทฉะในเอเชีย</a:t>
            </a:r>
            <a:endParaRPr lang="en-US" sz="975" dirty="0"/>
          </a:p>
        </p:txBody>
      </p:sp>
      <p:sp>
        <p:nvSpPr>
          <p:cNvPr id="24" name="b3:rise"/>
          <p:cNvSpPr/>
          <p:nvPr/>
        </p:nvSpPr>
        <p:spPr>
          <a:xfrm>
            <a:off x="3910012" y="3244155"/>
            <a:ext cx="266700" cy="266700"/>
          </a:xfrm>
          <a:prstGeom prst="roundRect">
            <a:avLst>
              <a:gd name="adj" fmla="val 21429"/>
            </a:avLst>
          </a:prstGeom>
          <a:solidFill>
            <a:srgbClr val="D4E9E2"/>
          </a:solidFill>
          <a:ln/>
        </p:spPr>
      </p:sp>
      <p:pic>
        <p:nvPicPr>
          <p:cNvPr id="25" name="b3:rise icon Star" descr="preencoded.png">    </p:cNvPr>
          <p:cNvPicPr>
            <a:picLocks noChangeAspect="1"/>
          </p:cNvPicPr>
          <p:nvPr/>
        </p:nvPicPr>
        <p:blipFill>
          <a:blip r:embed="rId4"/>
          <a:stretch>
            <a:fillRect/>
          </a:stretch>
        </p:blipFill>
        <p:spPr>
          <a:xfrm>
            <a:off x="3971925" y="3306068"/>
            <a:ext cx="142875" cy="142875"/>
          </a:xfrm>
          <a:prstGeom prst="rect">
            <a:avLst/>
          </a:prstGeom>
        </p:spPr>
      </p:pic>
      <p:sp>
        <p:nvSpPr>
          <p:cNvPr id="26" name="b3:rise"/>
          <p:cNvSpPr txBox="1"/>
          <p:nvPr/>
        </p:nvSpPr>
        <p:spPr>
          <a:xfrm>
            <a:off x="4271963" y="3244155"/>
            <a:ext cx="4392549" cy="213345"/>
          </a:xfrm>
          <a:prstGeom prst="rect">
            <a:avLst/>
          </a:prstGeom>
          <a:noFill/>
          <a:ln/>
        </p:spPr>
        <p:txBody>
          <a:bodyPr wrap="none" lIns="0" tIns="0" rIns="0" bIns="0" rtlCol="0" anchor="ctr"/>
          <a:lstStyle/>
          <a:p>
            <a:pPr algn="l" indent="0" marL="0">
              <a:lnSpc>
                <a:spcPts val="1680"/>
              </a:lnSpc>
              <a:buNone/>
            </a:pPr>
            <a:r>
              <a:rPr lang="en-US" sz="1200" b="1" dirty="0">
                <a:solidFill>
                  <a:srgbClr val="191919"/>
                </a:solidFill>
                <a:latin typeface="Pridi" pitchFamily="34" charset="0"/>
                <a:ea typeface="Pridi" pitchFamily="34" charset="-122"/>
                <a:cs typeface="Pridi" pitchFamily="34" charset="-120"/>
              </a:rPr>
              <a:t>Reserve Roasteries</a:t>
            </a:r>
            <a:endParaRPr lang="en-US" sz="1200" dirty="0"/>
          </a:p>
        </p:txBody>
      </p:sp>
      <p:sp>
        <p:nvSpPr>
          <p:cNvPr id="27" name="b3:rise"/>
          <p:cNvSpPr txBox="1"/>
          <p:nvPr/>
        </p:nvSpPr>
        <p:spPr>
          <a:xfrm>
            <a:off x="4271963" y="3476551"/>
            <a:ext cx="4392549" cy="191914"/>
          </a:xfrm>
          <a:prstGeom prst="rect">
            <a:avLst/>
          </a:prstGeom>
          <a:noFill/>
          <a:ln/>
        </p:spPr>
        <p:txBody>
          <a:bodyPr wrap="none" lIns="0" tIns="0" rIns="0" bIns="0" rtlCol="0" anchor="ctr"/>
          <a:lstStyle/>
          <a:p>
            <a:pPr algn="l" indent="0" marL="0">
              <a:lnSpc>
                <a:spcPts val="1511"/>
              </a:lnSpc>
              <a:buNone/>
            </a:pPr>
            <a:r>
              <a:rPr lang="en-US" sz="975" dirty="0">
                <a:solidFill>
                  <a:srgbClr val="3A3A36"/>
                </a:solidFill>
                <a:latin typeface="Sarabun" pitchFamily="34" charset="0"/>
                <a:ea typeface="Sarabun" pitchFamily="34" charset="-122"/>
                <a:cs typeface="Sarabun" pitchFamily="34" charset="-120"/>
              </a:rPr>
              <a:t>ร้านแฟล็กชิประดับไฮเอนด์ที่ทำหน้าที่เป็นนักเล่าเรื่องของแบรนด์</a:t>
            </a:r>
            <a:endParaRPr lang="en-US" sz="975" dirty="0"/>
          </a:p>
        </p:txBody>
      </p:sp>
      <p:sp>
        <p:nvSpPr>
          <p:cNvPr id="28" name="b4:fade"/>
          <p:cNvSpPr txBox="1"/>
          <p:nvPr/>
        </p:nvSpPr>
        <p:spPr>
          <a:xfrm>
            <a:off x="609600" y="4135041"/>
            <a:ext cx="287634"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ถัดไป</a:t>
            </a:r>
            <a:endParaRPr lang="en-US" sz="900" dirty="0"/>
          </a:p>
        </p:txBody>
      </p:sp>
      <p:sp>
        <p:nvSpPr>
          <p:cNvPr id="29" name="b4:fade"/>
          <p:cNvSpPr txBox="1"/>
          <p:nvPr/>
        </p:nvSpPr>
        <p:spPr>
          <a:xfrm>
            <a:off x="971178" y="4124325"/>
            <a:ext cx="6296046" cy="192881"/>
          </a:xfrm>
          <a:prstGeom prst="rect">
            <a:avLst/>
          </a:prstGeom>
          <a:noFill/>
          <a:ln/>
        </p:spPr>
        <p:txBody>
          <a:bodyPr wrap="none" lIns="0" tIns="0" rIns="0" bIns="0" rtlCol="0" anchor="ctr"/>
          <a:lstStyle/>
          <a:p>
            <a:pPr algn="l" indent="0" marL="0">
              <a:lnSpc>
                <a:spcPts val="1519"/>
              </a:lnSpc>
              <a:buNone/>
            </a:pPr>
            <a:r>
              <a:rPr lang="en-US" sz="1013" dirty="0">
                <a:solidFill>
                  <a:srgbClr val="3A3A36"/>
                </a:solidFill>
                <a:latin typeface="Sarabun" pitchFamily="34" charset="0"/>
                <a:ea typeface="Sarabun" pitchFamily="34" charset="-122"/>
                <a:cs typeface="Sarabun" pitchFamily="34" charset="-120"/>
              </a:rPr>
              <a:t>แล้ว</a:t>
            </a:r>
            <a:pPr algn="l" indent="0" marL="0">
              <a:lnSpc>
                <a:spcPts val="1519"/>
              </a:lnSpc>
              <a:buNone/>
            </a:pPr>
            <a:r>
              <a:rPr lang="en-US" sz="1013" b="1" dirty="0">
                <a:solidFill>
                  <a:srgbClr val="006241"/>
                </a:solidFill>
                <a:latin typeface="Sarabun" pitchFamily="34" charset="0"/>
                <a:ea typeface="Sarabun" pitchFamily="34" charset="-122"/>
                <a:cs typeface="Sarabun" pitchFamily="34" charset="-120"/>
              </a:rPr>
              <a:t>ผู้นำธุรกิจ</a:t>
            </a:r>
            <a:pPr algn="l" indent="0" marL="0">
              <a:lnSpc>
                <a:spcPts val="1519"/>
              </a:lnSpc>
              <a:buNone/>
            </a:pPr>
            <a:r>
              <a:rPr lang="en-US" sz="1013" dirty="0">
                <a:solidFill>
                  <a:srgbClr val="3A3A36"/>
                </a:solidFill>
                <a:latin typeface="Sarabun" pitchFamily="34" charset="0"/>
                <a:ea typeface="Sarabun" pitchFamily="34" charset="-122"/>
                <a:cs typeface="Sarabun" pitchFamily="34" charset="-120"/>
              </a:rPr>
              <a:t>เรียนรู้อะไรได้บ้างจากเรื่องราวนี้?</a:t>
            </a:r>
            <a:endParaRPr lang="en-US" sz="1013" dirty="0"/>
          </a:p>
        </p:txBody>
      </p:sp>
      <p:sp>
        <p:nvSpPr>
          <p:cNvPr id="30" name="!!tkey7-1"/>
          <p:cNvSpPr/>
          <p:nvPr/>
        </p:nvSpPr>
        <p:spPr>
          <a:xfrm>
            <a:off x="6438900" y="4572000"/>
            <a:ext cx="2095500" cy="266700"/>
          </a:xfrm>
          <a:prstGeom prst="roundRect">
            <a:avLst>
              <a:gd name="adj" fmla="val 50000"/>
            </a:avLst>
          </a:prstGeom>
          <a:solidFill>
            <a:srgbClr val="CBA258"/>
          </a:solidFill>
          <a:ln/>
        </p:spPr>
      </p:sp>
      <p:sp>
        <p:nvSpPr>
          <p:cNvPr id="31" name="!!tkey7-2"/>
          <p:cNvSpPr txBox="1"/>
          <p:nvPr/>
        </p:nvSpPr>
        <p:spPr>
          <a:xfrm>
            <a:off x="6438900" y="45720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บทเรียนสำหรับผู้นำธุรกิจ</a:t>
            </a:r>
            <a:endParaRPr lang="en-US" sz="900" dirty="0"/>
          </a:p>
        </p:txBody>
      </p:sp>
      <p:sp>
        <p:nvSpPr>
          <p:cNvPr id="32" name="static"/>
          <p:cNvSpPr txBox="1"/>
          <p:nvPr/>
        </p:nvSpPr>
        <p:spPr>
          <a:xfrm>
            <a:off x="609600" y="4667250"/>
            <a:ext cx="2083817" cy="171450"/>
          </a:xfrm>
          <a:prstGeom prst="rect">
            <a:avLst/>
          </a:prstGeom>
          <a:noFill/>
          <a:ln/>
        </p:spPr>
        <p:txBody>
          <a:bodyPr wrap="none" lIns="0" tIns="0" rIns="0" bIns="0" rtlCol="0" anchor="ctr"/>
          <a:lstStyle/>
          <a:p>
            <a:pPr algn="l" indent="0" marL="0">
              <a:lnSpc>
                <a:spcPts val="1350"/>
              </a:lnSpc>
              <a:buNone/>
            </a:pPr>
            <a:r>
              <a:rPr lang="en-US" sz="900" dirty="0">
                <a:solidFill>
                  <a:srgbClr val="6B6A63"/>
                </a:solidFill>
                <a:latin typeface="Sarabun" pitchFamily="34" charset="0"/>
                <a:ea typeface="Sarabun" pitchFamily="34" charset="-122"/>
                <a:cs typeface="Sarabun" pitchFamily="34" charset="-120"/>
              </a:rPr>
              <a:t>สไลด์ 7 จาก 8 · ตอนที่ 4 · ผลกระทบระดับโลก</a:t>
            </a:r>
            <a:endParaRPr lang="en-US" sz="900" dirty="0"/>
          </a:p>
        </p:txBody>
      </p:sp>
      <p:sp>
        <p:nvSpPr>
          <p:cNvPr id="33" name="static"/>
          <p:cNvSpPr/>
          <p:nvPr/>
        </p:nvSpPr>
        <p:spPr>
          <a:xfrm>
            <a:off x="2883917" y="4724400"/>
            <a:ext cx="57150" cy="57150"/>
          </a:xfrm>
          <a:prstGeom prst="roundRect">
            <a:avLst>
              <a:gd name="adj" fmla="val 50000"/>
            </a:avLst>
          </a:prstGeom>
          <a:solidFill>
            <a:srgbClr val="006241"/>
          </a:solidFill>
          <a:ln/>
        </p:spPr>
      </p:sp>
      <p:sp>
        <p:nvSpPr>
          <p:cNvPr id="34" name="static"/>
          <p:cNvSpPr/>
          <p:nvPr/>
        </p:nvSpPr>
        <p:spPr>
          <a:xfrm>
            <a:off x="2988692" y="4724400"/>
            <a:ext cx="57150" cy="57150"/>
          </a:xfrm>
          <a:prstGeom prst="roundRect">
            <a:avLst>
              <a:gd name="adj" fmla="val 50000"/>
            </a:avLst>
          </a:prstGeom>
          <a:solidFill>
            <a:srgbClr val="006241"/>
          </a:solidFill>
          <a:ln/>
        </p:spPr>
      </p:sp>
      <p:sp>
        <p:nvSpPr>
          <p:cNvPr id="35" name="static"/>
          <p:cNvSpPr/>
          <p:nvPr/>
        </p:nvSpPr>
        <p:spPr>
          <a:xfrm>
            <a:off x="3093467" y="4724400"/>
            <a:ext cx="57150" cy="57150"/>
          </a:xfrm>
          <a:prstGeom prst="roundRect">
            <a:avLst>
              <a:gd name="adj" fmla="val 50000"/>
            </a:avLst>
          </a:prstGeom>
          <a:solidFill>
            <a:srgbClr val="006241"/>
          </a:solidFill>
          <a:ln/>
        </p:spPr>
      </p:sp>
      <p:sp>
        <p:nvSpPr>
          <p:cNvPr id="36" name="static"/>
          <p:cNvSpPr/>
          <p:nvPr/>
        </p:nvSpPr>
        <p:spPr>
          <a:xfrm>
            <a:off x="3198242" y="4724400"/>
            <a:ext cx="57150" cy="57150"/>
          </a:xfrm>
          <a:prstGeom prst="roundRect">
            <a:avLst>
              <a:gd name="adj" fmla="val 50000"/>
            </a:avLst>
          </a:prstGeom>
          <a:solidFill>
            <a:srgbClr val="006241"/>
          </a:solidFill>
          <a:ln/>
        </p:spPr>
      </p:sp>
      <p:sp>
        <p:nvSpPr>
          <p:cNvPr id="37" name="static"/>
          <p:cNvSpPr/>
          <p:nvPr/>
        </p:nvSpPr>
        <p:spPr>
          <a:xfrm>
            <a:off x="3303017" y="4724400"/>
            <a:ext cx="57150" cy="57150"/>
          </a:xfrm>
          <a:prstGeom prst="roundRect">
            <a:avLst>
              <a:gd name="adj" fmla="val 50000"/>
            </a:avLst>
          </a:prstGeom>
          <a:solidFill>
            <a:srgbClr val="006241"/>
          </a:solidFill>
          <a:ln/>
        </p:spPr>
      </p:sp>
      <p:sp>
        <p:nvSpPr>
          <p:cNvPr id="38" name="static"/>
          <p:cNvSpPr/>
          <p:nvPr/>
        </p:nvSpPr>
        <p:spPr>
          <a:xfrm>
            <a:off x="3407792" y="4724400"/>
            <a:ext cx="57150" cy="57150"/>
          </a:xfrm>
          <a:prstGeom prst="roundRect">
            <a:avLst>
              <a:gd name="adj" fmla="val 50000"/>
            </a:avLst>
          </a:prstGeom>
          <a:solidFill>
            <a:srgbClr val="006241"/>
          </a:solidFill>
          <a:ln/>
        </p:spPr>
      </p:sp>
      <p:sp>
        <p:nvSpPr>
          <p:cNvPr id="39" name="static"/>
          <p:cNvSpPr/>
          <p:nvPr/>
        </p:nvSpPr>
        <p:spPr>
          <a:xfrm>
            <a:off x="3512567" y="4724400"/>
            <a:ext cx="171450" cy="57150"/>
          </a:xfrm>
          <a:prstGeom prst="roundRect">
            <a:avLst>
              <a:gd name="adj" fmla="val 50000"/>
            </a:avLst>
          </a:prstGeom>
          <a:solidFill>
            <a:srgbClr val="CBA258"/>
          </a:solidFill>
          <a:ln/>
        </p:spPr>
      </p:sp>
      <p:sp>
        <p:nvSpPr>
          <p:cNvPr id="40" name="static"/>
          <p:cNvSpPr/>
          <p:nvPr/>
        </p:nvSpPr>
        <p:spPr>
          <a:xfrm>
            <a:off x="3731642" y="4724400"/>
            <a:ext cx="57150" cy="57150"/>
          </a:xfrm>
          <a:prstGeom prst="roundRect">
            <a:avLst>
              <a:gd name="adj" fmla="val 50000"/>
            </a:avLst>
          </a:prstGeom>
          <a:solidFill>
            <a:srgbClr val="C5D8D0"/>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23" presetClass="entr" presetSubtype="16"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Scale>
                                      <p:cBhvr>
                                        <p:cTn id="5" dur="500" fill="hold"/>
                                        <p:tgtEl>
                                          <p:spTgt spid="7"/>
                                        </p:tgtEl>
                                      </p:cBhvr>
                                      <p:from x="0" y="0"/>
                                      <p:to x="100000" y="100000"/>
                                    </p:animScale>
                                    <p:animEffect transition="in" filter="fade">
                                      <p:cBhvr>
                                        <p:cTn id="6" dur="500"/>
                                        <p:tgtEl>
                                          <p:spTgt spid="7"/>
                                        </p:tgtEl>
                                      </p:cBhvr>
                                    </p:animEffect>
                                  </p:childTnLst>
                                </p:cTn>
                              </p:par>
                              <p:par>
                                <p:cTn id="7" presetID="23" presetClass="entr" presetSubtype="16"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Scale>
                                      <p:cBhvr>
                                        <p:cTn id="9" dur="500" fill="hold"/>
                                        <p:tgtEl>
                                          <p:spTgt spid="8"/>
                                        </p:tgtEl>
                                      </p:cBhvr>
                                      <p:from x="0" y="0"/>
                                      <p:to x="100000" y="100000"/>
                                    </p:animScale>
                                    <p:animEffect transition="in" filter="fade">
                                      <p:cBhvr>
                                        <p:cTn id="10" dur="500"/>
                                        <p:tgtEl>
                                          <p:spTgt spid="8"/>
                                        </p:tgtEl>
                                      </p:cBhvr>
                                    </p:animEffect>
                                  </p:childTnLst>
                                </p:cTn>
                              </p:par>
                              <p:par>
                                <p:cTn id="11" presetID="23" presetClass="entr" presetSubtype="16"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Scale>
                                      <p:cBhvr>
                                        <p:cTn id="13" dur="500" fill="hold"/>
                                        <p:tgtEl>
                                          <p:spTgt spid="9"/>
                                        </p:tgtEl>
                                      </p:cBhvr>
                                      <p:from x="0" y="0"/>
                                      <p:to x="100000" y="100000"/>
                                    </p:animScale>
                                    <p:animEffect transition="in" filter="fade">
                                      <p:cBhvr>
                                        <p:cTn id="14"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Scale>
                                      <p:cBhvr>
                                        <p:cTn id="19" dur="500" fill="hold"/>
                                        <p:tgtEl>
                                          <p:spTgt spid="10"/>
                                        </p:tgtEl>
                                      </p:cBhvr>
                                      <p:from x="0" y="0"/>
                                      <p:to x="100000" y="100000"/>
                                    </p:animScale>
                                    <p:animEffect transition="in" filter="fade">
                                      <p:cBhvr>
                                        <p:cTn id="20" dur="500"/>
                                        <p:tgtEl>
                                          <p:spTgt spid="10"/>
                                        </p:tgtEl>
                                      </p:cBhvr>
                                    </p:animEffect>
                                  </p:childTnLst>
                                </p:cTn>
                              </p:par>
                              <p:par>
                                <p:cTn id="21" presetID="23" presetClass="entr" presetSubtype="16"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animScale>
                                      <p:cBhvr>
                                        <p:cTn id="23" dur="500" fill="hold"/>
                                        <p:tgtEl>
                                          <p:spTgt spid="11"/>
                                        </p:tgtEl>
                                      </p:cBhvr>
                                      <p:from x="0" y="0"/>
                                      <p:to x="100000" y="100000"/>
                                    </p:animScale>
                                    <p:animEffect transition="in" filter="fade">
                                      <p:cBhvr>
                                        <p:cTn id="24" dur="500"/>
                                        <p:tgtEl>
                                          <p:spTgt spid="11"/>
                                        </p:tgtEl>
                                      </p:cBhvr>
                                    </p:animEffect>
                                  </p:childTnLst>
                                </p:cTn>
                              </p:par>
                              <p:par>
                                <p:cTn id="25" presetID="23" presetClass="entr" presetSubtype="16"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Scale>
                                      <p:cBhvr>
                                        <p:cTn id="27" dur="500" fill="hold"/>
                                        <p:tgtEl>
                                          <p:spTgt spid="12"/>
                                        </p:tgtEl>
                                      </p:cBhvr>
                                      <p:from x="0" y="0"/>
                                      <p:to x="100000" y="100000"/>
                                    </p:animScale>
                                    <p:animEffect transition="in" filter="fade">
                                      <p:cBhvr>
                                        <p:cTn id="28" dur="500"/>
                                        <p:tgtEl>
                                          <p:spTgt spid="12"/>
                                        </p:tgtEl>
                                      </p:cBhvr>
                                    </p:animEffect>
                                  </p:childTnLst>
                                </p:cTn>
                              </p:par>
                              <p:par>
                                <p:cTn id="29" presetID="23" presetClass="entr" presetSubtype="16"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Scale>
                                      <p:cBhvr>
                                        <p:cTn id="31" dur="500" fill="hold"/>
                                        <p:tgtEl>
                                          <p:spTgt spid="13"/>
                                        </p:tgtEl>
                                      </p:cBhvr>
                                      <p:from x="0" y="0"/>
                                      <p:to x="100000" y="100000"/>
                                    </p:animScale>
                                    <p:animEffect transition="in" filter="fade">
                                      <p:cBhvr>
                                        <p:cTn id="32" dur="500"/>
                                        <p:tgtEl>
                                          <p:spTgt spid="13"/>
                                        </p:tgtEl>
                                      </p:cBhvr>
                                    </p:animEffect>
                                  </p:childTnLst>
                                </p:cTn>
                              </p:par>
                            </p:childTnLst>
                          </p:cTn>
                        </p:par>
                      </p:childTnLst>
                    </p:cTn>
                  </p:par>
                  <p:par>
                    <p:cTn id="91" fill="hold">
                      <p:stCondLst>
                        <p:cond delay="indefinite"/>
                      </p:stCondLst>
                      <p:childTnLst>
                        <p:par>
                          <p:cTn id="92" fill="hold">
                            <p:stCondLst>
                              <p:cond delay="0"/>
                            </p:stCondLst>
                            <p:childTnLst>
                              <p:par>
                                <p:cTn id="35" presetID="42" presetClass="entr" presetSubtype="0" fill="hold" grpId="0" nodeType="click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700"/>
                                        <p:tgtEl>
                                          <p:spTgt spid="14"/>
                                        </p:tgtEl>
                                      </p:cBhvr>
                                    </p:animEffect>
                                    <p:anim calcmode="lin" valueType="num">
                                      <p:cBhvr additive="base">
                                        <p:cTn id="38" dur="700" fill="hold"/>
                                        <p:tgtEl>
                                          <p:spTgt spid="14"/>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700"/>
                                        <p:tgtEl>
                                          <p:spTgt spid="15"/>
                                        </p:tgtEl>
                                      </p:cBhvr>
                                    </p:animEffect>
                                    <p:anim calcmode="lin" valueType="num">
                                      <p:cBhvr additive="base">
                                        <p:cTn id="42" dur="700" fill="hold"/>
                                        <p:tgtEl>
                                          <p:spTgt spid="15"/>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700"/>
                                        <p:tgtEl>
                                          <p:spTgt spid="16"/>
                                        </p:tgtEl>
                                      </p:cBhvr>
                                    </p:animEffect>
                                    <p:anim calcmode="lin" valueType="num">
                                      <p:cBhvr additive="base">
                                        <p:cTn id="46" dur="700" fill="hold"/>
                                        <p:tgtEl>
                                          <p:spTgt spid="16"/>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700"/>
                                        <p:tgtEl>
                                          <p:spTgt spid="17"/>
                                        </p:tgtEl>
                                      </p:cBhvr>
                                    </p:animEffect>
                                    <p:anim calcmode="lin" valueType="num">
                                      <p:cBhvr additive="base">
                                        <p:cTn id="50" dur="700" fill="hold"/>
                                        <p:tgtEl>
                                          <p:spTgt spid="17"/>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700"/>
                                        <p:tgtEl>
                                          <p:spTgt spid="18"/>
                                        </p:tgtEl>
                                      </p:cBhvr>
                                    </p:animEffect>
                                    <p:anim calcmode="lin" valueType="num">
                                      <p:cBhvr additive="base">
                                        <p:cTn id="54" dur="700" fill="hold"/>
                                        <p:tgtEl>
                                          <p:spTgt spid="18"/>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700"/>
                                        <p:tgtEl>
                                          <p:spTgt spid="19"/>
                                        </p:tgtEl>
                                      </p:cBhvr>
                                    </p:animEffect>
                                    <p:anim calcmode="lin" valueType="num">
                                      <p:cBhvr additive="base">
                                        <p:cTn id="58" dur="700" fill="hold"/>
                                        <p:tgtEl>
                                          <p:spTgt spid="19"/>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700"/>
                                        <p:tgtEl>
                                          <p:spTgt spid="20"/>
                                        </p:tgtEl>
                                      </p:cBhvr>
                                    </p:animEffect>
                                    <p:anim calcmode="lin" valueType="num">
                                      <p:cBhvr additive="base">
                                        <p:cTn id="62" dur="700" fill="hold"/>
                                        <p:tgtEl>
                                          <p:spTgt spid="20"/>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700"/>
                                        <p:tgtEl>
                                          <p:spTgt spid="21"/>
                                        </p:tgtEl>
                                      </p:cBhvr>
                                    </p:animEffect>
                                    <p:anim calcmode="lin" valueType="num">
                                      <p:cBhvr additive="base">
                                        <p:cTn id="66" dur="700" fill="hold"/>
                                        <p:tgtEl>
                                          <p:spTgt spid="21"/>
                                        </p:tgtEl>
                                        <p:attrNameLst>
                                          <p:attrName>ppt_y</p:attrName>
                                        </p:attrNameLst>
                                      </p:cBhvr>
                                      <p:tavLst>
                                        <p:tav tm="0">
                                          <p:val>
                                            <p:strVal val="#ppt_y+.08"/>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700"/>
                                        <p:tgtEl>
                                          <p:spTgt spid="22"/>
                                        </p:tgtEl>
                                      </p:cBhvr>
                                    </p:animEffect>
                                    <p:anim calcmode="lin" valueType="num">
                                      <p:cBhvr additive="base">
                                        <p:cTn id="70" dur="700" fill="hold"/>
                                        <p:tgtEl>
                                          <p:spTgt spid="22"/>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23"/>
                                        </p:tgtEl>
                                        <p:attrNameLst>
                                          <p:attrName>style.visibility</p:attrName>
                                        </p:attrNameLst>
                                      </p:cBhvr>
                                      <p:to>
                                        <p:strVal val="visible"/>
                                      </p:to>
                                    </p:set>
                                    <p:animEffect transition="in" filter="fade">
                                      <p:cBhvr>
                                        <p:cTn id="73" dur="700"/>
                                        <p:tgtEl>
                                          <p:spTgt spid="23"/>
                                        </p:tgtEl>
                                      </p:cBhvr>
                                    </p:animEffect>
                                    <p:anim calcmode="lin" valueType="num">
                                      <p:cBhvr additive="base">
                                        <p:cTn id="74" dur="700" fill="hold"/>
                                        <p:tgtEl>
                                          <p:spTgt spid="23"/>
                                        </p:tgtEl>
                                        <p:attrNameLst>
                                          <p:attrName>ppt_y</p:attrName>
                                        </p:attrNameLst>
                                      </p:cBhvr>
                                      <p:tavLst>
                                        <p:tav tm="0">
                                          <p:val>
                                            <p:strVal val="#ppt_y+.08"/>
                                          </p:val>
                                        </p:tav>
                                        <p:tav tm="100000">
                                          <p:val>
                                            <p:strVal val="#ppt_y"/>
                                          </p:val>
                                        </p:tav>
                                      </p:tavLst>
                                    </p:anim>
                                  </p:childTnLst>
                                </p:cTn>
                              </p:par>
                              <p:par>
                                <p:cTn id="75" presetID="42" presetClass="entr" presetSubtype="0" fill="hold" grpId="0" nodeType="withEffect">
                                  <p:stCondLst>
                                    <p:cond delay="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700"/>
                                        <p:tgtEl>
                                          <p:spTgt spid="24"/>
                                        </p:tgtEl>
                                      </p:cBhvr>
                                    </p:animEffect>
                                    <p:anim calcmode="lin" valueType="num">
                                      <p:cBhvr additive="base">
                                        <p:cTn id="78" dur="700" fill="hold"/>
                                        <p:tgtEl>
                                          <p:spTgt spid="24"/>
                                        </p:tgtEl>
                                        <p:attrNameLst>
                                          <p:attrName>ppt_y</p:attrName>
                                        </p:attrNameLst>
                                      </p:cBhvr>
                                      <p:tavLst>
                                        <p:tav tm="0">
                                          <p:val>
                                            <p:strVal val="#ppt_y+.08"/>
                                          </p:val>
                                        </p:tav>
                                        <p:tav tm="100000">
                                          <p:val>
                                            <p:strVal val="#ppt_y"/>
                                          </p:val>
                                        </p:tav>
                                      </p:tavLst>
                                    </p:anim>
                                  </p:childTnLst>
                                </p:cTn>
                              </p:par>
                              <p:par>
                                <p:cTn id="79" presetID="42" presetClass="entr" presetSubtype="0" fill="hold" grpId="0" nodeType="withEffect">
                                  <p:stCondLst>
                                    <p:cond delay="0"/>
                                  </p:stCondLst>
                                  <p:childTnLst>
                                    <p:set>
                                      <p:cBhvr>
                                        <p:cTn id="80" dur="1" fill="hold">
                                          <p:stCondLst>
                                            <p:cond delay="0"/>
                                          </p:stCondLst>
                                        </p:cTn>
                                        <p:tgtEl>
                                          <p:spTgt spid="25"/>
                                        </p:tgtEl>
                                        <p:attrNameLst>
                                          <p:attrName>style.visibility</p:attrName>
                                        </p:attrNameLst>
                                      </p:cBhvr>
                                      <p:to>
                                        <p:strVal val="visible"/>
                                      </p:to>
                                    </p:set>
                                    <p:animEffect transition="in" filter="fade">
                                      <p:cBhvr>
                                        <p:cTn id="81" dur="700"/>
                                        <p:tgtEl>
                                          <p:spTgt spid="25"/>
                                        </p:tgtEl>
                                      </p:cBhvr>
                                    </p:animEffect>
                                    <p:anim calcmode="lin" valueType="num">
                                      <p:cBhvr additive="base">
                                        <p:cTn id="82" dur="700" fill="hold"/>
                                        <p:tgtEl>
                                          <p:spTgt spid="25"/>
                                        </p:tgtEl>
                                        <p:attrNameLst>
                                          <p:attrName>ppt_y</p:attrName>
                                        </p:attrNameLst>
                                      </p:cBhvr>
                                      <p:tavLst>
                                        <p:tav tm="0">
                                          <p:val>
                                            <p:strVal val="#ppt_y+.08"/>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700"/>
                                        <p:tgtEl>
                                          <p:spTgt spid="26"/>
                                        </p:tgtEl>
                                      </p:cBhvr>
                                    </p:animEffect>
                                    <p:anim calcmode="lin" valueType="num">
                                      <p:cBhvr additive="base">
                                        <p:cTn id="86" dur="700" fill="hold"/>
                                        <p:tgtEl>
                                          <p:spTgt spid="26"/>
                                        </p:tgtEl>
                                        <p:attrNameLst>
                                          <p:attrName>ppt_y</p:attrName>
                                        </p:attrNameLst>
                                      </p:cBhvr>
                                      <p:tavLst>
                                        <p:tav tm="0">
                                          <p:val>
                                            <p:strVal val="#ppt_y+.0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27"/>
                                        </p:tgtEl>
                                        <p:attrNameLst>
                                          <p:attrName>style.visibility</p:attrName>
                                        </p:attrNameLst>
                                      </p:cBhvr>
                                      <p:to>
                                        <p:strVal val="visible"/>
                                      </p:to>
                                    </p:set>
                                    <p:animEffect transition="in" filter="fade">
                                      <p:cBhvr>
                                        <p:cTn id="89" dur="700"/>
                                        <p:tgtEl>
                                          <p:spTgt spid="27"/>
                                        </p:tgtEl>
                                      </p:cBhvr>
                                    </p:animEffect>
                                    <p:anim calcmode="lin" valueType="num">
                                      <p:cBhvr additive="base">
                                        <p:cTn id="90" dur="700" fill="hold"/>
                                        <p:tgtEl>
                                          <p:spTgt spid="27"/>
                                        </p:tgtEl>
                                        <p:attrNameLst>
                                          <p:attrName>ppt_y</p:attrName>
                                        </p:attrNameLst>
                                      </p:cBhvr>
                                      <p:tavLst>
                                        <p:tav tm="0">
                                          <p:val>
                                            <p:strVal val="#ppt_y+.08"/>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3" presetID="10" presetClass="entr" presetSubtype="0" fill="hold" grpId="0" nodeType="click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fade">
                                      <p:cBhvr>
                                        <p:cTn id="95" dur="500"/>
                                        <p:tgtEl>
                                          <p:spTgt spid="28"/>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29"/>
                                        </p:tgtEl>
                                        <p:attrNameLst>
                                          <p:attrName>style.visibility</p:attrName>
                                        </p:attrNameLst>
                                      </p:cBhvr>
                                      <p:to>
                                        <p:strVal val="visible"/>
                                      </p:to>
                                    </p:set>
                                    <p:animEffect transition="in" filter="fade">
                                      <p:cBhvr>
                                        <p:cTn id="98" dur="500"/>
                                        <p:tgtEl>
                                          <p:spTgt spid="29"/>
                                        </p:tgtEl>
                                      </p:cBhvr>
                                    </p:animEffect>
                                  </p:childTnLst>
                                </p:cTn>
                              </p:par>
                            </p:childTnLst>
                          </p:cTn>
                        </p:par>
                      </p:childTnLst>
                    </p:cTn>
                  </p:par>
                  <p:par>
                    <p:cTn id="109" fill="hold">
                      <p:stCondLst>
                        <p:cond delay="indefinite"/>
                      </p:stCondLst>
                      <p:childTnLst>
                        <p:par>
                          <p:cTn id="110" fill="hold">
                            <p:stCondLst>
                              <p:cond delay="0"/>
                            </p:stCondLst>
                            <p:childTnLst>
                              <p:par>
                                <p:cTn id="101" presetID="23" presetClass="entr" presetSubtype="16" fill="hold" grpId="0" nodeType="clickEffect">
                                  <p:stCondLst>
                                    <p:cond delay="0"/>
                                  </p:stCondLst>
                                  <p:childTnLst>
                                    <p:set>
                                      <p:cBhvr>
                                        <p:cTn id="102" dur="1" fill="hold">
                                          <p:stCondLst>
                                            <p:cond delay="0"/>
                                          </p:stCondLst>
                                        </p:cTn>
                                        <p:tgtEl>
                                          <p:spTgt spid="30"/>
                                        </p:tgtEl>
                                        <p:attrNameLst>
                                          <p:attrName>style.visibility</p:attrName>
                                        </p:attrNameLst>
                                      </p:cBhvr>
                                      <p:to>
                                        <p:strVal val="visible"/>
                                      </p:to>
                                    </p:set>
                                    <p:animScale>
                                      <p:cBhvr>
                                        <p:cTn id="103" dur="500" fill="hold"/>
                                        <p:tgtEl>
                                          <p:spTgt spid="30"/>
                                        </p:tgtEl>
                                      </p:cBhvr>
                                      <p:from x="0" y="0"/>
                                      <p:to x="100000" y="100000"/>
                                    </p:animScale>
                                    <p:animEffect transition="in" filter="fade">
                                      <p:cBhvr>
                                        <p:cTn id="104" dur="500"/>
                                        <p:tgtEl>
                                          <p:spTgt spid="30"/>
                                        </p:tgtEl>
                                      </p:cBhvr>
                                    </p:animEffect>
                                  </p:childTnLst>
                                </p:cTn>
                              </p:par>
                              <p:par>
                                <p:cTn id="105" presetID="23" presetClass="entr" presetSubtype="16" fill="hold" grpId="0" nodeType="withEffect">
                                  <p:stCondLst>
                                    <p:cond delay="0"/>
                                  </p:stCondLst>
                                  <p:childTnLst>
                                    <p:set>
                                      <p:cBhvr>
                                        <p:cTn id="106" dur="1" fill="hold">
                                          <p:stCondLst>
                                            <p:cond delay="0"/>
                                          </p:stCondLst>
                                        </p:cTn>
                                        <p:tgtEl>
                                          <p:spTgt spid="31"/>
                                        </p:tgtEl>
                                        <p:attrNameLst>
                                          <p:attrName>style.visibility</p:attrName>
                                        </p:attrNameLst>
                                      </p:cBhvr>
                                      <p:to>
                                        <p:strVal val="visible"/>
                                      </p:to>
                                    </p:set>
                                    <p:animScale>
                                      <p:cBhvr>
                                        <p:cTn id="107" dur="500" fill="hold"/>
                                        <p:tgtEl>
                                          <p:spTgt spid="31"/>
                                        </p:tgtEl>
                                      </p:cBhvr>
                                      <p:from x="0" y="0"/>
                                      <p:to x="100000" y="100000"/>
                                    </p:animScale>
                                    <p:animEffect transition="in" filter="fade">
                                      <p:cBhvr>
                                        <p:cTn id="108"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4" grpId="0" animBg="1"/>
      <p:bldP spid="15" grpId="0" animBg="1"/>
      <p:bldP spid="16" grpId="0" animBg="1"/>
      <p:bldP spid="18" grpId="0" animBg="1"/>
      <p:bldP spid="19" grpId="0" animBg="1"/>
      <p:bldP spid="20" grpId="0" animBg="1"/>
      <p:bldP spid="22" grpId="0" animBg="1"/>
      <p:bldP spid="23" grpId="0" animBg="1"/>
      <p:bldP spid="24" grpId="0" animBg="1"/>
      <p:bldP spid="26" grpId="0" animBg="1"/>
      <p:bldP spid="27" grpId="0" animBg="1"/>
      <p:bldP spid="28" grpId="0" animBg="1"/>
      <p:bldP spid="29" grpId="0" animBg="1"/>
      <p:bldP spid="30" grpId="0" animBg="1"/>
      <p:bldP spid="3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59048"/>
          </a:xfrm>
          <a:prstGeom prst="rect">
            <a:avLst/>
          </a:prstGeom>
          <a:noFill/>
          <a:ln/>
        </p:spPr>
        <p:txBody>
          <a:bodyPr wrap="none" lIns="0" tIns="0" rIns="0" bIns="0" rtlCol="0" anchor="ctr"/>
          <a:lstStyle/>
          <a:p>
            <a:pPr algn="l" indent="0" marL="0">
              <a:lnSpc>
                <a:spcPts val="2828"/>
              </a:lnSpc>
              <a:buNone/>
            </a:pPr>
            <a:r>
              <a:rPr lang="en-US" sz="2175" b="1" dirty="0">
                <a:solidFill>
                  <a:srgbClr val="191919"/>
                </a:solidFill>
                <a:latin typeface="Pridi" pitchFamily="34" charset="0"/>
                <a:ea typeface="Pridi" pitchFamily="34" charset="-122"/>
                <a:cs typeface="Pridi" pitchFamily="34" charset="-120"/>
              </a:rPr>
              <a:t>บทเรียนทางธุรกิจที่สำคัญและบทสรุป</a:t>
            </a:r>
            <a:endParaRPr lang="en-US" sz="2175" dirty="0"/>
          </a:p>
        </p:txBody>
      </p:sp>
      <p:sp>
        <p:nvSpPr>
          <p:cNvPr id="3" name="static"/>
          <p:cNvSpPr txBox="1"/>
          <p:nvPr/>
        </p:nvSpPr>
        <p:spPr>
          <a:xfrm>
            <a:off x="609600" y="1235348"/>
            <a:ext cx="6686550" cy="228600"/>
          </a:xfrm>
          <a:prstGeom prst="rect">
            <a:avLst/>
          </a:prstGeom>
          <a:noFill/>
          <a:ln/>
        </p:spPr>
        <p:txBody>
          <a:bodyPr wrap="none" lIns="0" tIns="0" rIns="0" bIns="0" rtlCol="0" anchor="ctr"/>
          <a:lstStyle/>
          <a:p>
            <a:pPr algn="l" indent="0" marL="0">
              <a:lnSpc>
                <a:spcPts val="1800"/>
              </a:lnSpc>
              <a:buNone/>
            </a:pPr>
            <a:r>
              <a:rPr lang="en-US" sz="1200" dirty="0">
                <a:solidFill>
                  <a:srgbClr val="3A3A36"/>
                </a:solidFill>
                <a:latin typeface="Sarabun" pitchFamily="34" charset="0"/>
                <a:ea typeface="Sarabun" pitchFamily="34" charset="-122"/>
                <a:cs typeface="Sarabun" pitchFamily="34" charset="-120"/>
              </a:rPr>
              <a:t>สิ่งที่ผู้นำธุรกิจเรียนรู้ได้จากสตาร์บัคส์</a:t>
            </a:r>
            <a:endParaRPr lang="en-US" sz="1200" dirty="0"/>
          </a:p>
        </p:txBody>
      </p:sp>
      <p:sp>
        <p:nvSpPr>
          <p:cNvPr id="4" name="static"/>
          <p:cNvSpPr txBox="1"/>
          <p:nvPr/>
        </p:nvSpPr>
        <p:spPr>
          <a:xfrm>
            <a:off x="609600" y="457200"/>
            <a:ext cx="4114800"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ตอนที่ 4 · บทสรุปและข้อคิดสำหรับ MBA</a:t>
            </a:r>
            <a:endParaRPr lang="en-US" sz="900" dirty="0"/>
          </a:p>
        </p:txBody>
      </p:sp>
      <p:sp>
        <p:nvSpPr>
          <p:cNvPr id="5" name="!!tkey7-1"/>
          <p:cNvSpPr/>
          <p:nvPr/>
        </p:nvSpPr>
        <p:spPr>
          <a:xfrm>
            <a:off x="6438900" y="419100"/>
            <a:ext cx="2095500" cy="266700"/>
          </a:xfrm>
          <a:prstGeom prst="roundRect">
            <a:avLst>
              <a:gd name="adj" fmla="val 50000"/>
            </a:avLst>
          </a:prstGeom>
          <a:solidFill>
            <a:srgbClr val="CBA258"/>
          </a:solidFill>
          <a:ln/>
        </p:spPr>
      </p:sp>
      <p:sp>
        <p:nvSpPr>
          <p:cNvPr id="6" name="!!tkey7-2"/>
          <p:cNvSpPr txBox="1"/>
          <p:nvPr/>
        </p:nvSpPr>
        <p:spPr>
          <a:xfrm>
            <a:off x="6438900" y="4191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บทเรียนสำหรับผู้นำธุรกิจ</a:t>
            </a:r>
            <a:endParaRPr lang="en-US" sz="900" dirty="0"/>
          </a:p>
        </p:txBody>
      </p:sp>
      <p:sp>
        <p:nvSpPr>
          <p:cNvPr id="7" name="b1:rise"/>
          <p:cNvSpPr/>
          <p:nvPr/>
        </p:nvSpPr>
        <p:spPr>
          <a:xfrm>
            <a:off x="609600" y="1676400"/>
            <a:ext cx="2566988" cy="1333500"/>
          </a:xfrm>
          <a:prstGeom prst="roundRect">
            <a:avLst>
              <a:gd name="adj" fmla="val 571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8" name="b1:rise"/>
          <p:cNvSpPr txBox="1"/>
          <p:nvPr/>
        </p:nvSpPr>
        <p:spPr>
          <a:xfrm>
            <a:off x="766763" y="1833562"/>
            <a:ext cx="2432876"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บทเรียนที่ 1</a:t>
            </a:r>
            <a:endParaRPr lang="en-US" sz="900" dirty="0"/>
          </a:p>
        </p:txBody>
      </p:sp>
      <p:sp>
        <p:nvSpPr>
          <p:cNvPr id="9" name="b1:rise"/>
          <p:cNvSpPr txBox="1"/>
          <p:nvPr/>
        </p:nvSpPr>
        <p:spPr>
          <a:xfrm>
            <a:off x="766763" y="2052637"/>
            <a:ext cx="2432876"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ผลิตภัณฑ์ vs. ประสบการณ์</a:t>
            </a:r>
            <a:endParaRPr lang="en-US" sz="1275" dirty="0"/>
          </a:p>
        </p:txBody>
      </p:sp>
      <p:sp>
        <p:nvSpPr>
          <p:cNvPr id="10" name="b1:rise"/>
          <p:cNvSpPr txBox="1"/>
          <p:nvPr/>
        </p:nvSpPr>
        <p:spPr>
          <a:xfrm>
            <a:off x="766763" y="2326928"/>
            <a:ext cx="2342769" cy="597843"/>
          </a:xfrm>
          <a:prstGeom prst="rect">
            <a:avLst/>
          </a:prstGeom>
          <a:noFill/>
          <a:ln/>
        </p:spPr>
        <p:txBody>
          <a:bodyPr wrap="square" lIns="0" tIns="0" rIns="0" bIns="0" rtlCol="0" anchor="t"/>
          <a:lstStyle/>
          <a:p>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ผลิตภัณฑ์ถูกทำให้เป็นสินค้าโภคภัณฑ์ได้ แต่ประสบการณ์แบรนด์สร้างคูเมืองทางการแข่งขัน</a:t>
            </a:r>
            <a:endParaRPr lang="en-US" sz="1013" dirty="0"/>
          </a:p>
        </p:txBody>
      </p:sp>
      <p:sp>
        <p:nvSpPr>
          <p:cNvPr id="11" name="b2:rise"/>
          <p:cNvSpPr/>
          <p:nvPr/>
        </p:nvSpPr>
        <p:spPr>
          <a:xfrm>
            <a:off x="3290887" y="1676400"/>
            <a:ext cx="2566988" cy="1333500"/>
          </a:xfrm>
          <a:prstGeom prst="roundRect">
            <a:avLst>
              <a:gd name="adj" fmla="val 571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2" name="b2:rise"/>
          <p:cNvSpPr txBox="1"/>
          <p:nvPr/>
        </p:nvSpPr>
        <p:spPr>
          <a:xfrm>
            <a:off x="3448050" y="1833562"/>
            <a:ext cx="2432876"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บทเรียนที่ 2</a:t>
            </a:r>
            <a:endParaRPr lang="en-US" sz="900" dirty="0"/>
          </a:p>
        </p:txBody>
      </p:sp>
      <p:sp>
        <p:nvSpPr>
          <p:cNvPr id="13" name="b2:rise"/>
          <p:cNvSpPr txBox="1"/>
          <p:nvPr/>
        </p:nvSpPr>
        <p:spPr>
          <a:xfrm>
            <a:off x="3448050" y="2052637"/>
            <a:ext cx="2432876"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ความจริงใจและความสม่ำเสมอ</a:t>
            </a:r>
            <a:endParaRPr lang="en-US" sz="1275" dirty="0"/>
          </a:p>
        </p:txBody>
      </p:sp>
      <p:sp>
        <p:nvSpPr>
          <p:cNvPr id="14" name="b2:rise"/>
          <p:cNvSpPr txBox="1"/>
          <p:nvPr/>
        </p:nvSpPr>
        <p:spPr>
          <a:xfrm>
            <a:off x="3448050" y="2326928"/>
            <a:ext cx="2342769" cy="398562"/>
          </a:xfrm>
          <a:prstGeom prst="rect">
            <a:avLst/>
          </a:prstGeom>
          <a:noFill/>
          <a:ln/>
        </p:spPr>
        <p:txBody>
          <a:bodyPr wrap="square" lIns="0" tIns="0" rIns="0" bIns="0" rtlCol="0" anchor="t"/>
          <a:lstStyle/>
          <a:p>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คุณค่าหลักของแบรนด์ต้องคงที่ แม้ขยายตัวทั่วโลกอย่างรวดเร็ว</a:t>
            </a:r>
            <a:endParaRPr lang="en-US" sz="1013" dirty="0"/>
          </a:p>
        </p:txBody>
      </p:sp>
      <p:sp>
        <p:nvSpPr>
          <p:cNvPr id="15" name="b3:rise"/>
          <p:cNvSpPr/>
          <p:nvPr/>
        </p:nvSpPr>
        <p:spPr>
          <a:xfrm>
            <a:off x="5972175" y="1676400"/>
            <a:ext cx="2562225" cy="1333500"/>
          </a:xfrm>
          <a:prstGeom prst="roundRect">
            <a:avLst>
              <a:gd name="adj" fmla="val 571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6" name="b3:rise"/>
          <p:cNvSpPr txBox="1"/>
          <p:nvPr/>
        </p:nvSpPr>
        <p:spPr>
          <a:xfrm>
            <a:off x="6129338" y="1833562"/>
            <a:ext cx="2427732"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บทเรียนที่ 3</a:t>
            </a:r>
            <a:endParaRPr lang="en-US" sz="900" dirty="0"/>
          </a:p>
        </p:txBody>
      </p:sp>
      <p:sp>
        <p:nvSpPr>
          <p:cNvPr id="17" name="b3:rise"/>
          <p:cNvSpPr txBox="1"/>
          <p:nvPr/>
        </p:nvSpPr>
        <p:spPr>
          <a:xfrm>
            <a:off x="6129338" y="2052637"/>
            <a:ext cx="2337816" cy="453330"/>
          </a:xfrm>
          <a:prstGeom prst="rect">
            <a:avLst/>
          </a:prstGeom>
          <a:noFill/>
          <a:ln/>
        </p:spPr>
        <p:txBody>
          <a:bodyPr wrap="square" lIns="0" tIns="0" rIns="0" bIns="0" rtlCol="0" anchor="t"/>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ความสามารถในการปรับตัวเชิงกลยุทธ์</a:t>
            </a:r>
            <a:endParaRPr lang="en-US" sz="1275" dirty="0"/>
          </a:p>
        </p:txBody>
      </p:sp>
      <p:sp>
        <p:nvSpPr>
          <p:cNvPr id="18" name="b3:rise"/>
          <p:cNvSpPr txBox="1"/>
          <p:nvPr/>
        </p:nvSpPr>
        <p:spPr>
          <a:xfrm>
            <a:off x="6129338" y="2553593"/>
            <a:ext cx="2337816" cy="398562"/>
          </a:xfrm>
          <a:prstGeom prst="rect">
            <a:avLst/>
          </a:prstGeom>
          <a:noFill/>
          <a:ln/>
        </p:spPr>
        <p:txBody>
          <a:bodyPr wrap="square" lIns="0" tIns="0" rIns="0" bIns="0" rtlCol="0" anchor="t"/>
          <a:lstStyle/>
          <a:p>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ผสานบรรยากาศบ้านหลังที่สามเข้ากับระบบนิเวศดิจิทัลล้ำสมัย</a:t>
            </a:r>
            <a:endParaRPr lang="en-US" sz="1013" dirty="0"/>
          </a:p>
        </p:txBody>
      </p:sp>
      <p:sp>
        <p:nvSpPr>
          <p:cNvPr id="19" name="b4:fade"/>
          <p:cNvSpPr/>
          <p:nvPr/>
        </p:nvSpPr>
        <p:spPr>
          <a:xfrm>
            <a:off x="609600" y="3143250"/>
            <a:ext cx="7924800" cy="838200"/>
          </a:xfrm>
          <a:prstGeom prst="roundRect">
            <a:avLst>
              <a:gd name="adj" fmla="val 9091"/>
            </a:avLst>
          </a:prstGeom>
          <a:solidFill>
            <a:srgbClr val="006241"/>
          </a:solidFill>
          <a:ln/>
        </p:spPr>
      </p:sp>
      <p:sp>
        <p:nvSpPr>
          <p:cNvPr id="20" name="b4:fade"/>
          <p:cNvSpPr txBox="1"/>
          <p:nvPr/>
        </p:nvSpPr>
        <p:spPr>
          <a:xfrm>
            <a:off x="838200" y="3276600"/>
            <a:ext cx="280883" cy="571500"/>
          </a:xfrm>
          <a:prstGeom prst="rect">
            <a:avLst/>
          </a:prstGeom>
          <a:noFill/>
          <a:ln/>
        </p:spPr>
        <p:txBody>
          <a:bodyPr wrap="none" lIns="0" tIns="0" rIns="0" bIns="0" rtlCol="0" anchor="ctr"/>
          <a:lstStyle/>
          <a:p>
            <a:pPr algn="l" indent="0" marL="0">
              <a:lnSpc>
                <a:spcPts val="4500"/>
              </a:lnSpc>
              <a:buNone/>
            </a:pPr>
            <a:r>
              <a:rPr lang="en-US" sz="4500" b="1" dirty="0">
                <a:solidFill>
                  <a:srgbClr val="CBA258"/>
                </a:solidFill>
                <a:latin typeface="Pridi" pitchFamily="34" charset="0"/>
                <a:ea typeface="Pridi" pitchFamily="34" charset="-122"/>
                <a:cs typeface="Pridi" pitchFamily="34" charset="-120"/>
              </a:rPr>
              <a:t>“</a:t>
            </a:r>
            <a:endParaRPr lang="en-US" sz="4500" dirty="0"/>
          </a:p>
        </p:txBody>
      </p:sp>
      <p:sp>
        <p:nvSpPr>
          <p:cNvPr id="21" name="b4:fade"/>
          <p:cNvSpPr txBox="1"/>
          <p:nvPr/>
        </p:nvSpPr>
        <p:spPr>
          <a:xfrm>
            <a:off x="1231627" y="3444255"/>
            <a:ext cx="7640107" cy="236190"/>
          </a:xfrm>
          <a:prstGeom prst="rect">
            <a:avLst/>
          </a:prstGeom>
          <a:noFill/>
          <a:ln/>
        </p:spPr>
        <p:txBody>
          <a:bodyPr wrap="none" lIns="0" tIns="0" rIns="0" bIns="0" rtlCol="0" anchor="ctr"/>
          <a:lstStyle/>
          <a:p>
            <a:pPr algn="l" indent="0" marL="0">
              <a:lnSpc>
                <a:spcPts val="1860"/>
              </a:lnSpc>
              <a:buNone/>
            </a:pPr>
            <a:r>
              <a:rPr lang="en-US" sz="1200" i="1" dirty="0">
                <a:solidFill>
                  <a:srgbClr val="F7F5F0"/>
                </a:solidFill>
                <a:latin typeface="Pridi" pitchFamily="34" charset="0"/>
                <a:ea typeface="Pridi" pitchFamily="34" charset="-122"/>
                <a:cs typeface="Pridi" pitchFamily="34" charset="-120"/>
              </a:rPr>
              <a:t>ในโลกที่เป็นดิจิทัลและโดดเดี่ยวมากขึ้นทุกที ความโหยหาการเชื่อมโยงที่แท้จริงระหว่างมนุษย์ไม่เคยยิ่งใหญ่เท่านี้มาก่อน</a:t>
            </a:r>
            <a:endParaRPr lang="en-US" sz="1200" dirty="0"/>
          </a:p>
        </p:txBody>
      </p:sp>
      <p:pic>
        <p:nvPicPr>
          <p:cNvPr id="22" name="b5:pop icon Chat" descr="preencoded.png">    </p:cNvPr>
          <p:cNvPicPr>
            <a:picLocks noChangeAspect="1"/>
          </p:cNvPicPr>
          <p:nvPr/>
        </p:nvPicPr>
        <p:blipFill>
          <a:blip r:embed="rId1"/>
          <a:stretch>
            <a:fillRect/>
          </a:stretch>
        </p:blipFill>
        <p:spPr>
          <a:xfrm>
            <a:off x="609600" y="4167187"/>
            <a:ext cx="171450" cy="171450"/>
          </a:xfrm>
          <a:prstGeom prst="rect">
            <a:avLst/>
          </a:prstGeom>
        </p:spPr>
      </p:pic>
      <p:sp>
        <p:nvSpPr>
          <p:cNvPr id="23" name="b5:pop"/>
          <p:cNvSpPr txBox="1"/>
          <p:nvPr/>
        </p:nvSpPr>
        <p:spPr>
          <a:xfrm>
            <a:off x="857250" y="4152900"/>
            <a:ext cx="8291322" cy="200025"/>
          </a:xfrm>
          <a:prstGeom prst="rect">
            <a:avLst/>
          </a:prstGeom>
          <a:noFill/>
          <a:ln/>
        </p:spPr>
        <p:txBody>
          <a:bodyPr wrap="none" lIns="0" tIns="0" rIns="0" bIns="0" rtlCol="0" anchor="ctr"/>
          <a:lstStyle/>
          <a:p>
            <a:pPr algn="l" indent="0" marL="0">
              <a:lnSpc>
                <a:spcPts val="1575"/>
              </a:lnSpc>
              <a:buNone/>
            </a:pPr>
            <a:r>
              <a:rPr lang="en-US" sz="1050" b="1" dirty="0">
                <a:solidFill>
                  <a:srgbClr val="006241"/>
                </a:solidFill>
                <a:latin typeface="Sarabun" pitchFamily="34" charset="0"/>
                <a:ea typeface="Sarabun" pitchFamily="34" charset="-122"/>
                <a:cs typeface="Sarabun" pitchFamily="34" charset="-120"/>
              </a:rPr>
              <a:t>ขอบคุณครับ/ค่ะ ยินดีรับทุกคำถามจากเพื่อน ๆ ในชั้นเรียน</a:t>
            </a:r>
            <a:endParaRPr lang="en-US" sz="1050" dirty="0"/>
          </a:p>
        </p:txBody>
      </p:sp>
      <p:sp>
        <p:nvSpPr>
          <p:cNvPr id="24" name="static"/>
          <p:cNvSpPr txBox="1"/>
          <p:nvPr/>
        </p:nvSpPr>
        <p:spPr>
          <a:xfrm>
            <a:off x="609600" y="4667250"/>
            <a:ext cx="2135609" cy="171450"/>
          </a:xfrm>
          <a:prstGeom prst="rect">
            <a:avLst/>
          </a:prstGeom>
          <a:noFill/>
          <a:ln/>
        </p:spPr>
        <p:txBody>
          <a:bodyPr wrap="none" lIns="0" tIns="0" rIns="0" bIns="0" rtlCol="0" anchor="ctr"/>
          <a:lstStyle/>
          <a:p>
            <a:pPr algn="l" indent="0" marL="0">
              <a:lnSpc>
                <a:spcPts val="1350"/>
              </a:lnSpc>
              <a:buNone/>
            </a:pPr>
            <a:r>
              <a:rPr lang="en-US" sz="900" dirty="0">
                <a:solidFill>
                  <a:srgbClr val="6B6A63"/>
                </a:solidFill>
                <a:latin typeface="Sarabun" pitchFamily="34" charset="0"/>
                <a:ea typeface="Sarabun" pitchFamily="34" charset="-122"/>
                <a:cs typeface="Sarabun" pitchFamily="34" charset="-120"/>
              </a:rPr>
              <a:t>สไลด์ 8 จาก 8 · ตอนที่ 4 · บทเรียนสำหรับ MBA</a:t>
            </a:r>
            <a:endParaRPr lang="en-US" sz="900" dirty="0"/>
          </a:p>
        </p:txBody>
      </p:sp>
      <p:sp>
        <p:nvSpPr>
          <p:cNvPr id="25" name="static"/>
          <p:cNvSpPr/>
          <p:nvPr/>
        </p:nvSpPr>
        <p:spPr>
          <a:xfrm>
            <a:off x="2935709" y="4724400"/>
            <a:ext cx="57150" cy="57150"/>
          </a:xfrm>
          <a:prstGeom prst="roundRect">
            <a:avLst>
              <a:gd name="adj" fmla="val 50000"/>
            </a:avLst>
          </a:prstGeom>
          <a:solidFill>
            <a:srgbClr val="006241"/>
          </a:solidFill>
          <a:ln/>
        </p:spPr>
      </p:sp>
      <p:sp>
        <p:nvSpPr>
          <p:cNvPr id="26" name="static"/>
          <p:cNvSpPr/>
          <p:nvPr/>
        </p:nvSpPr>
        <p:spPr>
          <a:xfrm>
            <a:off x="3040484" y="4724400"/>
            <a:ext cx="57150" cy="57150"/>
          </a:xfrm>
          <a:prstGeom prst="roundRect">
            <a:avLst>
              <a:gd name="adj" fmla="val 50000"/>
            </a:avLst>
          </a:prstGeom>
          <a:solidFill>
            <a:srgbClr val="006241"/>
          </a:solidFill>
          <a:ln/>
        </p:spPr>
      </p:sp>
      <p:sp>
        <p:nvSpPr>
          <p:cNvPr id="27" name="static"/>
          <p:cNvSpPr/>
          <p:nvPr/>
        </p:nvSpPr>
        <p:spPr>
          <a:xfrm>
            <a:off x="3145259" y="4724400"/>
            <a:ext cx="57150" cy="57150"/>
          </a:xfrm>
          <a:prstGeom prst="roundRect">
            <a:avLst>
              <a:gd name="adj" fmla="val 50000"/>
            </a:avLst>
          </a:prstGeom>
          <a:solidFill>
            <a:srgbClr val="006241"/>
          </a:solidFill>
          <a:ln/>
        </p:spPr>
      </p:sp>
      <p:sp>
        <p:nvSpPr>
          <p:cNvPr id="28" name="static"/>
          <p:cNvSpPr/>
          <p:nvPr/>
        </p:nvSpPr>
        <p:spPr>
          <a:xfrm>
            <a:off x="3250034" y="4724400"/>
            <a:ext cx="57150" cy="57150"/>
          </a:xfrm>
          <a:prstGeom prst="roundRect">
            <a:avLst>
              <a:gd name="adj" fmla="val 50000"/>
            </a:avLst>
          </a:prstGeom>
          <a:solidFill>
            <a:srgbClr val="006241"/>
          </a:solidFill>
          <a:ln/>
        </p:spPr>
      </p:sp>
      <p:sp>
        <p:nvSpPr>
          <p:cNvPr id="29" name="static"/>
          <p:cNvSpPr/>
          <p:nvPr/>
        </p:nvSpPr>
        <p:spPr>
          <a:xfrm>
            <a:off x="3354809" y="4724400"/>
            <a:ext cx="57150" cy="57150"/>
          </a:xfrm>
          <a:prstGeom prst="roundRect">
            <a:avLst>
              <a:gd name="adj" fmla="val 50000"/>
            </a:avLst>
          </a:prstGeom>
          <a:solidFill>
            <a:srgbClr val="006241"/>
          </a:solidFill>
          <a:ln/>
        </p:spPr>
      </p:sp>
      <p:sp>
        <p:nvSpPr>
          <p:cNvPr id="30" name="static"/>
          <p:cNvSpPr/>
          <p:nvPr/>
        </p:nvSpPr>
        <p:spPr>
          <a:xfrm>
            <a:off x="3459584" y="4724400"/>
            <a:ext cx="57150" cy="57150"/>
          </a:xfrm>
          <a:prstGeom prst="roundRect">
            <a:avLst>
              <a:gd name="adj" fmla="val 50000"/>
            </a:avLst>
          </a:prstGeom>
          <a:solidFill>
            <a:srgbClr val="006241"/>
          </a:solidFill>
          <a:ln/>
        </p:spPr>
      </p:sp>
      <p:sp>
        <p:nvSpPr>
          <p:cNvPr id="31" name="static"/>
          <p:cNvSpPr/>
          <p:nvPr/>
        </p:nvSpPr>
        <p:spPr>
          <a:xfrm>
            <a:off x="3564359" y="4724400"/>
            <a:ext cx="57150" cy="57150"/>
          </a:xfrm>
          <a:prstGeom prst="roundRect">
            <a:avLst>
              <a:gd name="adj" fmla="val 50000"/>
            </a:avLst>
          </a:prstGeom>
          <a:solidFill>
            <a:srgbClr val="006241"/>
          </a:solidFill>
          <a:ln/>
        </p:spPr>
      </p:sp>
      <p:sp>
        <p:nvSpPr>
          <p:cNvPr id="32" name="static"/>
          <p:cNvSpPr/>
          <p:nvPr/>
        </p:nvSpPr>
        <p:spPr>
          <a:xfrm>
            <a:off x="3669134" y="4724400"/>
            <a:ext cx="171450" cy="57150"/>
          </a:xfrm>
          <a:prstGeom prst="roundRect">
            <a:avLst>
              <a:gd name="adj" fmla="val 50000"/>
            </a:avLst>
          </a:prstGeom>
          <a:solidFill>
            <a:srgbClr val="CBA258"/>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700"/>
                                        <p:tgtEl>
                                          <p:spTgt spid="7"/>
                                        </p:tgtEl>
                                      </p:cBhvr>
                                    </p:animEffect>
                                    <p:anim calcmode="lin" valueType="num">
                                      <p:cBhvr additive="base">
                                        <p:cTn id="6" dur="700" fill="hold"/>
                                        <p:tgtEl>
                                          <p:spTgt spid="7"/>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700"/>
                                        <p:tgtEl>
                                          <p:spTgt spid="8"/>
                                        </p:tgtEl>
                                      </p:cBhvr>
                                    </p:animEffect>
                                    <p:anim calcmode="lin" valueType="num">
                                      <p:cBhvr additive="base">
                                        <p:cTn id="10" dur="700" fill="hold"/>
                                        <p:tgtEl>
                                          <p:spTgt spid="8"/>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700"/>
                                        <p:tgtEl>
                                          <p:spTgt spid="9"/>
                                        </p:tgtEl>
                                      </p:cBhvr>
                                    </p:animEffect>
                                    <p:anim calcmode="lin" valueType="num">
                                      <p:cBhvr additive="base">
                                        <p:cTn id="14" dur="700" fill="hold"/>
                                        <p:tgtEl>
                                          <p:spTgt spid="9"/>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700"/>
                                        <p:tgtEl>
                                          <p:spTgt spid="10"/>
                                        </p:tgtEl>
                                      </p:cBhvr>
                                    </p:animEffect>
                                    <p:anim calcmode="lin" valueType="num">
                                      <p:cBhvr additive="base">
                                        <p:cTn id="18" dur="700" fill="hold"/>
                                        <p:tgtEl>
                                          <p:spTgt spid="10"/>
                                        </p:tgtEl>
                                        <p:attrNameLst>
                                          <p:attrName>ppt_y</p:attrName>
                                        </p:attrNameLst>
                                      </p:cBhvr>
                                      <p:tavLst>
                                        <p:tav tm="0">
                                          <p:val>
                                            <p:strVal val="#ppt_y+.08"/>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700"/>
                                        <p:tgtEl>
                                          <p:spTgt spid="11"/>
                                        </p:tgtEl>
                                      </p:cBhvr>
                                    </p:animEffect>
                                    <p:anim calcmode="lin" valueType="num">
                                      <p:cBhvr additive="base">
                                        <p:cTn id="24" dur="700" fill="hold"/>
                                        <p:tgtEl>
                                          <p:spTgt spid="11"/>
                                        </p:tgtEl>
                                        <p:attrNameLst>
                                          <p:attrName>ppt_y</p:attrName>
                                        </p:attrNameLst>
                                      </p:cBhvr>
                                      <p:tavLst>
                                        <p:tav tm="0">
                                          <p:val>
                                            <p:strVal val="#ppt_y+.08"/>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700"/>
                                        <p:tgtEl>
                                          <p:spTgt spid="12"/>
                                        </p:tgtEl>
                                      </p:cBhvr>
                                    </p:animEffect>
                                    <p:anim calcmode="lin" valueType="num">
                                      <p:cBhvr additive="base">
                                        <p:cTn id="28" dur="700" fill="hold"/>
                                        <p:tgtEl>
                                          <p:spTgt spid="12"/>
                                        </p:tgtEl>
                                        <p:attrNameLst>
                                          <p:attrName>ppt_y</p:attrName>
                                        </p:attrNameLst>
                                      </p:cBhvr>
                                      <p:tavLst>
                                        <p:tav tm="0">
                                          <p:val>
                                            <p:strVal val="#ppt_y+.08"/>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700"/>
                                        <p:tgtEl>
                                          <p:spTgt spid="13"/>
                                        </p:tgtEl>
                                      </p:cBhvr>
                                    </p:animEffect>
                                    <p:anim calcmode="lin" valueType="num">
                                      <p:cBhvr additive="base">
                                        <p:cTn id="32" dur="700" fill="hold"/>
                                        <p:tgtEl>
                                          <p:spTgt spid="13"/>
                                        </p:tgtEl>
                                        <p:attrNameLst>
                                          <p:attrName>ppt_y</p:attrName>
                                        </p:attrNameLst>
                                      </p:cBhvr>
                                      <p:tavLst>
                                        <p:tav tm="0">
                                          <p:val>
                                            <p:strVal val="#ppt_y+.0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700"/>
                                        <p:tgtEl>
                                          <p:spTgt spid="14"/>
                                        </p:tgtEl>
                                      </p:cBhvr>
                                    </p:animEffect>
                                    <p:anim calcmode="lin" valueType="num">
                                      <p:cBhvr additive="base">
                                        <p:cTn id="36" dur="700" fill="hold"/>
                                        <p:tgtEl>
                                          <p:spTgt spid="14"/>
                                        </p:tgtEl>
                                        <p:attrNameLst>
                                          <p:attrName>ppt_y</p:attrName>
                                        </p:attrNameLst>
                                      </p:cBhvr>
                                      <p:tavLst>
                                        <p:tav tm="0">
                                          <p:val>
                                            <p:strVal val="#ppt_y+.08"/>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700"/>
                                        <p:tgtEl>
                                          <p:spTgt spid="15"/>
                                        </p:tgtEl>
                                      </p:cBhvr>
                                    </p:animEffect>
                                    <p:anim calcmode="lin" valueType="num">
                                      <p:cBhvr additive="base">
                                        <p:cTn id="42" dur="700" fill="hold"/>
                                        <p:tgtEl>
                                          <p:spTgt spid="15"/>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700"/>
                                        <p:tgtEl>
                                          <p:spTgt spid="16"/>
                                        </p:tgtEl>
                                      </p:cBhvr>
                                    </p:animEffect>
                                    <p:anim calcmode="lin" valueType="num">
                                      <p:cBhvr additive="base">
                                        <p:cTn id="46" dur="700" fill="hold"/>
                                        <p:tgtEl>
                                          <p:spTgt spid="16"/>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700"/>
                                        <p:tgtEl>
                                          <p:spTgt spid="17"/>
                                        </p:tgtEl>
                                      </p:cBhvr>
                                    </p:animEffect>
                                    <p:anim calcmode="lin" valueType="num">
                                      <p:cBhvr additive="base">
                                        <p:cTn id="50" dur="700" fill="hold"/>
                                        <p:tgtEl>
                                          <p:spTgt spid="17"/>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700"/>
                                        <p:tgtEl>
                                          <p:spTgt spid="18"/>
                                        </p:tgtEl>
                                      </p:cBhvr>
                                    </p:animEffect>
                                    <p:anim calcmode="lin" valueType="num">
                                      <p:cBhvr additive="base">
                                        <p:cTn id="54" dur="700" fill="hold"/>
                                        <p:tgtEl>
                                          <p:spTgt spid="18"/>
                                        </p:tgtEl>
                                        <p:attrNameLst>
                                          <p:attrName>ppt_y</p:attrName>
                                        </p:attrNameLst>
                                      </p:cBhvr>
                                      <p:tavLst>
                                        <p:tav tm="0">
                                          <p:val>
                                            <p:strVal val="#ppt_y+.08"/>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500"/>
                                        <p:tgtEl>
                                          <p:spTgt spid="21"/>
                                        </p:tgtEl>
                                      </p:cBhvr>
                                    </p:animEffect>
                                  </p:childTnLst>
                                </p:cTn>
                              </p:par>
                            </p:childTnLst>
                          </p:cTn>
                        </p:par>
                      </p:childTnLst>
                    </p:cTn>
                  </p:par>
                  <p:par>
                    <p:cTn id="76" fill="hold">
                      <p:stCondLst>
                        <p:cond delay="indefinite"/>
                      </p:stCondLst>
                      <p:childTnLst>
                        <p:par>
                          <p:cTn id="77" fill="hold">
                            <p:stCondLst>
                              <p:cond delay="0"/>
                            </p:stCondLst>
                            <p:childTnLst>
                              <p:par>
                                <p:cTn id="68" presetID="23" presetClass="entr" presetSubtype="16" fill="hold" grpId="0" nodeType="clickEffect">
                                  <p:stCondLst>
                                    <p:cond delay="0"/>
                                  </p:stCondLst>
                                  <p:childTnLst>
                                    <p:set>
                                      <p:cBhvr>
                                        <p:cTn id="69" dur="1" fill="hold">
                                          <p:stCondLst>
                                            <p:cond delay="0"/>
                                          </p:stCondLst>
                                        </p:cTn>
                                        <p:tgtEl>
                                          <p:spTgt spid="22"/>
                                        </p:tgtEl>
                                        <p:attrNameLst>
                                          <p:attrName>style.visibility</p:attrName>
                                        </p:attrNameLst>
                                      </p:cBhvr>
                                      <p:to>
                                        <p:strVal val="visible"/>
                                      </p:to>
                                    </p:set>
                                    <p:animScale>
                                      <p:cBhvr>
                                        <p:cTn id="70" dur="500" fill="hold"/>
                                        <p:tgtEl>
                                          <p:spTgt spid="22"/>
                                        </p:tgtEl>
                                      </p:cBhvr>
                                      <p:from x="0" y="0"/>
                                      <p:to x="100000" y="100000"/>
                                    </p:animScale>
                                    <p:animEffect transition="in" filter="fade">
                                      <p:cBhvr>
                                        <p:cTn id="71" dur="500"/>
                                        <p:tgtEl>
                                          <p:spTgt spid="22"/>
                                        </p:tgtEl>
                                      </p:cBhvr>
                                    </p:animEffect>
                                  </p:childTnLst>
                                </p:cTn>
                              </p:par>
                              <p:par>
                                <p:cTn id="72" presetID="23" presetClass="entr" presetSubtype="16" fill="hold" grpId="0" nodeType="withEffect">
                                  <p:stCondLst>
                                    <p:cond delay="0"/>
                                  </p:stCondLst>
                                  <p:childTnLst>
                                    <p:set>
                                      <p:cBhvr>
                                        <p:cTn id="73" dur="1" fill="hold">
                                          <p:stCondLst>
                                            <p:cond delay="0"/>
                                          </p:stCondLst>
                                        </p:cTn>
                                        <p:tgtEl>
                                          <p:spTgt spid="23"/>
                                        </p:tgtEl>
                                        <p:attrNameLst>
                                          <p:attrName>style.visibility</p:attrName>
                                        </p:attrNameLst>
                                      </p:cBhvr>
                                      <p:to>
                                        <p:strVal val="visible"/>
                                      </p:to>
                                    </p:set>
                                    <p:animScale>
                                      <p:cBhvr>
                                        <p:cTn id="74" dur="500" fill="hold"/>
                                        <p:tgtEl>
                                          <p:spTgt spid="23"/>
                                        </p:tgtEl>
                                      </p:cBhvr>
                                      <p:from x="0" y="0"/>
                                      <p:to x="100000" y="100000"/>
                                    </p:animScale>
                                    <p:animEffect transition="in" filter="fade">
                                      <p:cBhvr>
                                        <p:cTn id="75"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Starbucks Storytelling Masterclass</dc:title>
  <dc:subject>PptxGenJS Presentation</dc:subject>
  <dc:creator>Chayanun Sungsa-ard</dc:creator>
  <cp:lastModifiedBy>Chayanun Sungsa-ard</cp:lastModifiedBy>
  <cp:revision>1</cp:revision>
  <dcterms:created xsi:type="dcterms:W3CDTF">2026-10-10T15:36:06Z</dcterms:created>
  <dcterms:modified xsi:type="dcterms:W3CDTF">2026-10-10T15:36:06Z</dcterms:modified>
</cp:coreProperties>
</file>