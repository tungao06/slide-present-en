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the foundation and origin of the brand in 1971 Seattle." id="{3269409e-8dcc-9549-10e6-c7782ec26f7b}">
          <p14:sldIdLst>
            <p14:sldId id="256"/>
            <p14:sldId id="257"/>
          </p14:sldIdLst>
        </p14:section>
        <p14:section name="Part 2: the Milan turning point and the Third Place concept." id="{3233b5c3-5644-dd67-baed-9b242b83edde}">
          <p14:sldIdLst>
            <p14:sldId id="258"/>
            <p14:sldId id="259"/>
          </p14:sldIdLst>
        </p14:section>
        <p14:section name="Part 3: scaling the experience through touchpoints and digital." id="{79a84960-8a26-0b14-2839-5d7bd71e647b}">
          <p14:sldIdLst>
            <p14:sldId id="260"/>
            <p14:sldId id="261"/>
          </p14:sldIdLst>
        </p14:section>
        <p14:section name="Part 4: global impact and the MBA takeaways." id="{45f85d6a-f664-dfab-e458-f2676a8f5e90}">
          <p14:sldIdLst>
            <p14:sldId id="262"/>
            <p14:sldId id="263"/>
          </p14:sldIdLst>
        </p14:section>
        <p14:section name="Thai version: slides 9-16 repeat the whole story in Thai (ฉบับภาษาไทย)." id="{7a51957e-4305-dfd4-cd27-3bec8a5d4eea}">
          <p14:sldIdLst>
            <p14:sldId id="264"/>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Our topic is how Starbucks used storytelling to grow from a single bean store into a global cultural icon. Three things to hold onto from the start: the origin in 1971 at Pike Place Market in Seattle, the original product of whole-bean gourmet coffee, and the symbol, a Norse twin-tailed siren. Now, let's look at where it all began in 1971.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lattes, Starbucks was a high-end bean and spice retailer. It was founded by Jerry Baldwin, Zev Siegl and Gordon Bowker, and its mission was to teach Americans how to brew fine dark-roast coffee. The logo came from a 16th-century Norse woodcut of a twin-tailed siren, a nod to Seattle's nautical tradition and to the irresistible pull of fine coffee. The stage was set, but Starbucks was still missing its biggest magic ingredient, until 1983 and a trip to Milan.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1983 Howard Schultz visited the espresso bars of Milan. He noticed that they were not just selling drinks; they worked as vibrant community living rooms. His vision was that America needed an authentic espresso culture built around human connection, speed and craftsmanship. In 1987 he bought Starbucks for 3.8 million dollars and merged his Il Giornale cafe concept into it, launching the modern coffeehouse era. Schultz didn't just want to sell coffee; he wanted to create a new space in human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Schultz's answer was the Third Place. Home is the first place, work is the second, and Starbucks becomes the third: a comforting, pressure-free sanctuary between the two. The second pillar is emotional connection, captured in Schultz's line: we aren't in the coffee business serving people; we're in the people business serving coffee. The third pillar treats the atmosphere itself as a product: warm lighting, wooden textures, acoustic music and a welcoming aroma. Now that we understand the Third Place, how did Starbucks scale this human experience to thousands of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keep a human experience intact across thousands of stores? Through everyday touchpoints. First, personalization and connection: names on cups, eye contact from the barista, and drinks customized by hand. Second, sensory consistency: the same ambient design, signature scents and curated playlists in stores around the world. Third, community customization: store architecture that reflects the neighborhood's heritage while the core brand values stay the same. As customer lifestyles changed, Starbucks had to bring the Third Place into the digital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digital side extends the same idea. The Starbucks Rewards app is a gamified loyalty program with over 30 million active members. Mobile Order and Pay removes friction from the visit. Digital personalization uses an AI-driven recommendation engine to tailor offers to individual tastes. And the omnichannel model keeps human connection alive even through drive-thru and delivery. Having mastered both physical experience and digital innovation, what is the global business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story is told in more than 38,000 stores across more than 80 markets. Three moves made that scale possible. Strategic joint ventures with local partners opened new markets. Market customization adapted the menu, for example Teavana and matcha drinks in Asia. And the high-end Reserve Roasteries act as flagship storytellers for the whole brand. So what can business leaders learn from this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for business leaders. First, product versus experience: products can be commoditized, but a brand experience builds a competitive moat. Second, authenticity and consistency: core brand values must stay the same even during rapid global expansion. Third, strategic adaptability: Starbucks merged the physical third-place atmosphere with a cutting-edge digital ecosystem. We close with this thought: in a world that is increasingly digital and isolated, the hunger for authentic human connection has never been greater. Thank you, and we welcome any questions from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สวัสดีทุกคน หัวข้อของเราคือ Starbucks ใช้ Storytelling อย่างไรในการเติบโตจากร้านเดียวใน Seattle สู่แบรนด์ระดับโลก เราจะเล่าเป็นสี่ Part: จุดกำเนิด จุดเปลี่ยน การนำ Experience ไปปฏิบัติจริง และ Global Impact พร้อมบทเรียนสำหรับ Business Leader สามสิ่งที่อยากให้จำไว้ตั้งแต่ต้น: จุดเริ่มต้นในปี 1971 ที่ Pike Place Market ผลิตภัณฑ์คือ Whole-Bean Gourmet Coffee และสัญลักษณ์คือ Siren สองหาง ต่อไป มาดูกันว่าทุกอย่างเริ่มต้นที่ไหนในปี 1971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ก่อนยุค Latte Starbucks เป็นร้านขายเมล็ดกาแฟและเครื่องเทศระดับ High-End ก่อตั้งในปี 1971 โดย Jerry Baldwin, Zev Siegl และ Gordon Bowker ด้วย Mission ที่เรียบง่าย: สอนให้คนอเมริกันชงกาแฟ Dark Roast ชั้นดีได้เองที่บ้าน ชื่อและโลโก้ก็เป็น Storytelling ตั้งแต่แรก: Siren สองหางมาจากภาพแกะไม้แบบ Norse สมัยศตวรรษที่ 16 สื่อถึงประเพณีการเดินเรือของ Seattle และเสน่ห์ของกาแฟชั้นดีที่ยากจะต้านทาน เวทีพร้อมแล้ว แต่ Starbucks ยังขาดส่วนผสมวิเศษที่สำคัญที่สุด จนกระทั่งปี 1983 กับทริปไป Milan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ในปี 1983 Howard Schultz ไปเยือน Espresso Bar ใน Milan เขาสังเกตว่าร้านเหล่านั้นไม่ได้แค่ขายเครื่องดื่ม แต่เป็น Community Living Room ที่มีชีวิตชีวา Vision ของเขาคืออเมริกาต้องการวัฒนธรรม Espresso แท้ ๆ ที่สร้างจาก Human Connection, Speed และ Craftsmanship ในปี 1987 เขาซื้อ Starbucks ในราคา 3.8 ล้านดอลลาร์ และรวม Concept ร้าน Il Giornale ของเขาเข้าไป เปิดศักราช Coffeehouse ยุคใหม่ Schultz ไม่ได้แค่อยากขายกาแฟ เขาอยากสร้างพื้นที่ใหม่ในชีวิตของผู้คน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คำตอบของ Schultz คือ The Third Place บ้านคือ 1st Place ที่ทำงานคือ 2nd Place และ Starbucks คือ 3rd Place: ที่พักพิงอันอบอุ่น ไร้ความกดดัน ระหว่างสองที่นั้น Pillar ที่สองคือ Emotional Connection ดังคำของ Schultz: เราไม่ได้อยู่ในธุรกิจกาแฟที่ให้บริการผู้คน แต่เราอยู่ในธุรกิจผู้คนที่ให้บริการกาแฟ Pillar ที่สามมอง Atmosphere เป็น Product: แสงไฟอบอุ่น Texture ไม้ ดนตรี Acoustic และกลิ่นหอมชวนต้อนรับ เมื่อเข้าใจ Third Place แล้ว Starbucks ขยาย Human Experience นี้ไปสู่ร้านหลายพันสาขาได้อย่างไร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จะรักษา Human Experience ไว้ในร้านหลายพันสาขาได้อย่างไร ผ่าน Touchpoint ในชีวิตประจำวัน หนึ่ง Personalization และ Connection: ชื่อบนแก้ว Barista สบตา และเครื่องดื่ม Handcrafted ที่ Customize ได้ สอง Sensory Consistency: Ambient Design กลิ่น Signature และ Playlist เดียวกันในร้านทั่วโลก สาม Community Customization: สถาปัตยกรรมร้านสะท้อน Heritage ของย่าน ขณะที่ Core Values ของแบรนด์คงเดิม เมื่อ Lifestyle ของลูกค้าเปลี่ยนไป Starbucks ต้องพา Third Place เข้าสู่ยุค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ฝั่ง Digital ต่อยอด Concept เดียวกัน แอป Starbucks Rewards เป็น Loyalty Program แบบ Gamified ที่มี Active Member กว่า 30 ล้านคน Mobile Order and Pay ตัด Friction ออกจากการมาร้าน Digital Personalization ใช้ Recommendation Engine ที่ขับเคลื่อนด้วย AI ปรับข้อเสนอให้ตรงรสนิยมแต่ละคน และโมเดล Omnichannel รักษา Human Connection ไว้แม้ผ่าน Drive-thru และ Delivery เมื่อเชี่ยวชาญทั้ง Physical Experience และ Digital Innovation แล้ว Global Business Impact เป็นอย่างไร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วันนี้เรื่องราวนี้ถูกเล่าในร้านกว่า 38,000 สาขา ในกว่า 80 ตลาดทั่วโลก สามกลยุทธ์ที่ทำให้ขยายได้ขนาดนี้: Strategic Joint Venture กับ Partner ท้องถิ่นเปิดตลาดใหม่ Market Customization ปรับเมนู เช่น Teavana และเครื่องดื่ม Matcha ในเอเชีย และ Reserve Roasteries ระดับ High-End ทำหน้าที่เป็น Flagship Storyteller ของทั้งแบรนด์ แล้ว Business Leader เรียนรู้อะไรได้บ้างจากเรื่องราวนี้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สามบทเรียนสำหรับ Business Leader หนึ่ง Product กับ Experience: Product ถูกทำให้เป็น Commodity ได้ แต่ Brand Experience สร้าง Competitive Moat สอง Authenticity และ Consistency: Core Brand Values ต้องคงเดิมแม้ขยายทั่วโลกอย่างรวดเร็ว สาม Strategic Adaptability: Starbucks ผสานบรรยากาศ Third Place แบบ Physical เข้ากับ Digital Ecosystem ที่ล้ำสมัย ขอปิดท้ายด้วยข้อคิดนี้: ในโลกที่ Digital และโดดเดี่ยวมากขึ้นทุกที ความโหยหา Human Connection ที่แท้จริงไม่เคยยิ่งใหญ่เท่านี้มาก่อน ขอบคุณครับ/ค่ะ ยินดีรับทุกคำถามจากเพื่อน ๆ ในชั้นเรียน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952500"/>
            <a:ext cx="6377940" cy="159990"/>
          </a:xfrm>
          <a:prstGeom prst="rect">
            <a:avLst/>
          </a:prstGeom>
          <a:noFill/>
          <a:ln/>
        </p:spPr>
        <p:txBody>
          <a:bodyPr wrap="none" lIns="0" tIns="0" rIns="0" bIns="0" rtlCol="0" anchor="ctr"/>
          <a:lstStyle/>
          <a:p>
            <a:pPr algn="l" indent="0" marL="0">
              <a:lnSpc>
                <a:spcPts val="1260"/>
              </a:lnSpc>
              <a:buNone/>
            </a:pPr>
            <a:r>
              <a:rPr lang="en-US" sz="900" b="1" spc="113" kern="0" dirty="0">
                <a:solidFill>
                  <a:srgbClr val="787774"/>
                </a:solidFill>
                <a:latin typeface="Inter" pitchFamily="34" charset="0"/>
                <a:ea typeface="Inter" pitchFamily="34" charset="-122"/>
                <a:cs typeface="Inter" pitchFamily="34" charset="-120"/>
              </a:rPr>
              <a:t>MBA BUSINESS CLASS · GROUP PRESENTATION</a:t>
            </a:r>
            <a:endParaRPr lang="en-US" sz="900" dirty="0"/>
          </a:p>
        </p:txBody>
      </p:sp>
      <p:sp>
        <p:nvSpPr>
          <p:cNvPr id="3" name="static"/>
          <p:cNvSpPr txBox="1"/>
          <p:nvPr/>
        </p:nvSpPr>
        <p:spPr>
          <a:xfrm>
            <a:off x="609600" y="1207740"/>
            <a:ext cx="6141720" cy="767953"/>
          </a:xfrm>
          <a:prstGeom prst="rect">
            <a:avLst/>
          </a:prstGeom>
          <a:noFill/>
          <a:ln/>
        </p:spPr>
        <p:txBody>
          <a:bodyPr wrap="square" lIns="0" tIns="0" rIns="0" bIns="0" rtlCol="0" anchor="t"/>
          <a:lstStyle/>
          <a:p>
            <a:pPr algn="l" indent="0" marL="0">
              <a:lnSpc>
                <a:spcPts val="3024"/>
              </a:lnSpc>
              <a:buNone/>
            </a:pPr>
            <a:r>
              <a:rPr lang="en-US" sz="2700" b="1" dirty="0">
                <a:solidFill>
                  <a:srgbClr val="37352F"/>
                </a:solidFill>
                <a:latin typeface="Inter" pitchFamily="34" charset="0"/>
                <a:ea typeface="Inter" pitchFamily="34" charset="-122"/>
                <a:cs typeface="Inter" pitchFamily="34" charset="-120"/>
              </a:rPr>
              <a:t>Crafting a Global Culture: The Starbucks Storytelling Masterclass</a:t>
            </a:r>
            <a:endParaRPr lang="en-US" sz="2700" dirty="0"/>
          </a:p>
        </p:txBody>
      </p:sp>
      <p:sp>
        <p:nvSpPr>
          <p:cNvPr id="4" name="static"/>
          <p:cNvSpPr txBox="1"/>
          <p:nvPr/>
        </p:nvSpPr>
        <p:spPr>
          <a:xfrm>
            <a:off x="609600" y="2070943"/>
            <a:ext cx="6377940" cy="210443"/>
          </a:xfrm>
          <a:prstGeom prst="rect">
            <a:avLst/>
          </a:prstGeom>
          <a:noFill/>
          <a:ln/>
        </p:spPr>
        <p:txBody>
          <a:bodyPr wrap="none" lIns="0" tIns="0" rIns="0" bIns="0" rtlCol="0" anchor="ctr"/>
          <a:lstStyle/>
          <a:p>
            <a:pPr algn="l" indent="0" marL="0">
              <a:lnSpc>
                <a:spcPts val="1658"/>
              </a:lnSpc>
              <a:buNone/>
            </a:pPr>
            <a:r>
              <a:rPr lang="en-US" sz="1275" dirty="0">
                <a:solidFill>
                  <a:srgbClr val="787774"/>
                </a:solidFill>
                <a:latin typeface="Inter" pitchFamily="34" charset="0"/>
                <a:ea typeface="Inter" pitchFamily="34" charset="-122"/>
                <a:cs typeface="Inter" pitchFamily="34" charset="-120"/>
              </a:rPr>
              <a:t>How Narrative, Experience, and Identity Built a Multi-Billion Dollar Empire</a:t>
            </a:r>
            <a:endParaRPr lang="en-US" sz="1275" dirty="0"/>
          </a:p>
        </p:txBody>
      </p:sp>
      <p:sp>
        <p:nvSpPr>
          <p:cNvPr id="5" name="b1:pop"/>
          <p:cNvSpPr/>
          <p:nvPr/>
        </p:nvSpPr>
        <p:spPr>
          <a:xfrm>
            <a:off x="7105650" y="419100"/>
            <a:ext cx="1428750" cy="1428750"/>
          </a:xfrm>
          <a:prstGeom prst="roundRect">
            <a:avLst>
              <a:gd name="adj" fmla="val 16667"/>
            </a:avLst>
          </a:prstGeom>
          <a:solidFill>
            <a:srgbClr val="F7F7F5"/>
          </a:solidFill>
          <a:ln w="6350">
            <a:solidFill>
              <a:srgbClr val="E9E9E7"/>
            </a:solidFill>
            <a:prstDash val="solid"/>
          </a:ln>
        </p:spPr>
      </p:sp>
      <p:pic>
        <p:nvPicPr>
          <p:cNvPr id="6" name="b1:pop (Starbucks siren logo)" descr="/home/user/slide-present-en/starbucks-presentation/assets/starbucks-logo.png">    </p:cNvPr>
          <p:cNvPicPr>
            <a:picLocks noChangeAspect="1"/>
          </p:cNvPicPr>
          <p:nvPr/>
        </p:nvPicPr>
        <p:blipFill>
          <a:blip r:embed="rId1"/>
          <a:stretch>
            <a:fillRect/>
          </a:stretch>
        </p:blipFill>
        <p:spPr>
          <a:xfrm>
            <a:off x="7172325" y="485775"/>
            <a:ext cx="1295400" cy="1295400"/>
          </a:xfrm>
          <a:prstGeom prst="rect">
            <a:avLst/>
          </a:prstGeom>
        </p:spPr>
      </p:pic>
      <p:sp>
        <p:nvSpPr>
          <p:cNvPr id="7" name="b2:rise"/>
          <p:cNvSpPr/>
          <p:nvPr/>
        </p:nvSpPr>
        <p:spPr>
          <a:xfrm>
            <a:off x="609600" y="2667000"/>
            <a:ext cx="2538413" cy="1285875"/>
          </a:xfrm>
          <a:prstGeom prst="roundRect">
            <a:avLst>
              <a:gd name="adj" fmla="val 2963"/>
            </a:avLst>
          </a:prstGeom>
          <a:solidFill>
            <a:srgbClr val="FFFFFF"/>
          </a:solidFill>
          <a:ln w="6350">
            <a:solidFill>
              <a:srgbClr val="E9E9E7"/>
            </a:solidFill>
            <a:prstDash val="solid"/>
          </a:ln>
        </p:spPr>
      </p:sp>
      <p:sp>
        <p:nvSpPr>
          <p:cNvPr id="8" name="b2:rise"/>
          <p:cNvSpPr txBox="1"/>
          <p:nvPr/>
        </p:nvSpPr>
        <p:spPr>
          <a:xfrm>
            <a:off x="766763" y="2824163"/>
            <a:ext cx="2402015" cy="319980"/>
          </a:xfrm>
          <a:prstGeom prst="rect">
            <a:avLst/>
          </a:prstGeom>
          <a:noFill/>
          <a:ln/>
        </p:spPr>
        <p:txBody>
          <a:bodyPr wrap="none" lIns="0" tIns="0" rIns="0" bIns="0" rtlCol="0" anchor="ctr"/>
          <a:lstStyle/>
          <a:p>
            <a:pPr algn="l" indent="0" marL="0">
              <a:lnSpc>
                <a:spcPts val="2520"/>
              </a:lnSpc>
              <a:buNone/>
            </a:pPr>
            <a:r>
              <a:rPr lang="en-US" sz="2100" dirty="0">
                <a:solidFill>
                  <a:srgbClr val="37352F"/>
                </a:solidFill>
                <a:latin typeface="Inter" pitchFamily="34" charset="0"/>
                <a:ea typeface="Inter" pitchFamily="34" charset="-122"/>
                <a:cs typeface="Inter" pitchFamily="34" charset="-120"/>
              </a:rPr>
              <a:t>🌿</a:t>
            </a:r>
            <a:endParaRPr lang="en-US" sz="2100" dirty="0"/>
          </a:p>
        </p:txBody>
      </p:sp>
      <p:sp>
        <p:nvSpPr>
          <p:cNvPr id="9" name="b2:rise"/>
          <p:cNvSpPr txBox="1"/>
          <p:nvPr/>
        </p:nvSpPr>
        <p:spPr>
          <a:xfrm>
            <a:off x="766763" y="3191768"/>
            <a:ext cx="2402015"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ORIGINS · 1971</a:t>
            </a:r>
            <a:endParaRPr lang="en-US" sz="825" dirty="0"/>
          </a:p>
        </p:txBody>
      </p:sp>
      <p:sp>
        <p:nvSpPr>
          <p:cNvPr id="10" name="b2:rise"/>
          <p:cNvSpPr txBox="1"/>
          <p:nvPr/>
        </p:nvSpPr>
        <p:spPr>
          <a:xfrm>
            <a:off x="766763" y="3386063"/>
            <a:ext cx="2402015"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Pike Place Market, Seattle</a:t>
            </a:r>
            <a:endParaRPr lang="en-US" sz="1350" dirty="0"/>
          </a:p>
        </p:txBody>
      </p:sp>
      <p:sp>
        <p:nvSpPr>
          <p:cNvPr id="11" name="b3:rise"/>
          <p:cNvSpPr/>
          <p:nvPr/>
        </p:nvSpPr>
        <p:spPr>
          <a:xfrm>
            <a:off x="3300413" y="2667000"/>
            <a:ext cx="2538413" cy="1285875"/>
          </a:xfrm>
          <a:prstGeom prst="roundRect">
            <a:avLst>
              <a:gd name="adj" fmla="val 2963"/>
            </a:avLst>
          </a:prstGeom>
          <a:solidFill>
            <a:srgbClr val="FFFFFF"/>
          </a:solidFill>
          <a:ln w="6350">
            <a:solidFill>
              <a:srgbClr val="E9E9E7"/>
            </a:solidFill>
            <a:prstDash val="solid"/>
          </a:ln>
        </p:spPr>
      </p:sp>
      <p:sp>
        <p:nvSpPr>
          <p:cNvPr id="12" name="b3:rise"/>
          <p:cNvSpPr txBox="1"/>
          <p:nvPr/>
        </p:nvSpPr>
        <p:spPr>
          <a:xfrm>
            <a:off x="3457575" y="2824163"/>
            <a:ext cx="2402015" cy="319980"/>
          </a:xfrm>
          <a:prstGeom prst="rect">
            <a:avLst/>
          </a:prstGeom>
          <a:noFill/>
          <a:ln/>
        </p:spPr>
        <p:txBody>
          <a:bodyPr wrap="none" lIns="0" tIns="0" rIns="0" bIns="0" rtlCol="0" anchor="ctr"/>
          <a:lstStyle/>
          <a:p>
            <a:pPr algn="l" indent="0" marL="0">
              <a:lnSpc>
                <a:spcPts val="2520"/>
              </a:lnSpc>
              <a:buNone/>
            </a:pPr>
            <a:r>
              <a:rPr lang="en-US" sz="2100" dirty="0">
                <a:solidFill>
                  <a:srgbClr val="37352F"/>
                </a:solidFill>
                <a:latin typeface="Inter" pitchFamily="34" charset="0"/>
                <a:ea typeface="Inter" pitchFamily="34" charset="-122"/>
                <a:cs typeface="Inter" pitchFamily="34" charset="-120"/>
              </a:rPr>
              <a:t>☕</a:t>
            </a:r>
            <a:endParaRPr lang="en-US" sz="2100" dirty="0"/>
          </a:p>
        </p:txBody>
      </p:sp>
      <p:sp>
        <p:nvSpPr>
          <p:cNvPr id="13" name="b3:rise"/>
          <p:cNvSpPr txBox="1"/>
          <p:nvPr/>
        </p:nvSpPr>
        <p:spPr>
          <a:xfrm>
            <a:off x="3457575" y="3191768"/>
            <a:ext cx="2402015"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THE PRODUCT</a:t>
            </a:r>
            <a:endParaRPr lang="en-US" sz="825" dirty="0"/>
          </a:p>
        </p:txBody>
      </p:sp>
      <p:sp>
        <p:nvSpPr>
          <p:cNvPr id="14" name="b3:rise"/>
          <p:cNvSpPr txBox="1"/>
          <p:nvPr/>
        </p:nvSpPr>
        <p:spPr>
          <a:xfrm>
            <a:off x="3457575" y="3386063"/>
            <a:ext cx="2313051" cy="411361"/>
          </a:xfrm>
          <a:prstGeom prst="rect">
            <a:avLst/>
          </a:prstGeom>
          <a:noFill/>
          <a:ln/>
        </p:spPr>
        <p:txBody>
          <a:bodyPr wrap="square" lIns="0" tIns="0" rIns="0" bIns="0" rtlCol="0" anchor="t"/>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Whole-Bean Gourmet Coffee</a:t>
            </a:r>
            <a:endParaRPr lang="en-US" sz="1350" dirty="0"/>
          </a:p>
        </p:txBody>
      </p:sp>
      <p:sp>
        <p:nvSpPr>
          <p:cNvPr id="15" name="b4:rise"/>
          <p:cNvSpPr/>
          <p:nvPr/>
        </p:nvSpPr>
        <p:spPr>
          <a:xfrm>
            <a:off x="5991225" y="2667000"/>
            <a:ext cx="2543175" cy="1285875"/>
          </a:xfrm>
          <a:prstGeom prst="roundRect">
            <a:avLst>
              <a:gd name="adj" fmla="val 2963"/>
            </a:avLst>
          </a:prstGeom>
          <a:solidFill>
            <a:srgbClr val="FFFFFF"/>
          </a:solidFill>
          <a:ln w="6350">
            <a:solidFill>
              <a:srgbClr val="E9E9E7"/>
            </a:solidFill>
            <a:prstDash val="solid"/>
          </a:ln>
        </p:spPr>
      </p:sp>
      <p:sp>
        <p:nvSpPr>
          <p:cNvPr id="16" name="b4:rise"/>
          <p:cNvSpPr txBox="1"/>
          <p:nvPr/>
        </p:nvSpPr>
        <p:spPr>
          <a:xfrm>
            <a:off x="6148388" y="2824163"/>
            <a:ext cx="2407158" cy="319980"/>
          </a:xfrm>
          <a:prstGeom prst="rect">
            <a:avLst/>
          </a:prstGeom>
          <a:noFill/>
          <a:ln/>
        </p:spPr>
        <p:txBody>
          <a:bodyPr wrap="none" lIns="0" tIns="0" rIns="0" bIns="0" rtlCol="0" anchor="ctr"/>
          <a:lstStyle/>
          <a:p>
            <a:pPr algn="l" indent="0" marL="0">
              <a:lnSpc>
                <a:spcPts val="2520"/>
              </a:lnSpc>
              <a:buNone/>
            </a:pPr>
            <a:r>
              <a:rPr lang="en-US" sz="2100" dirty="0">
                <a:solidFill>
                  <a:srgbClr val="37352F"/>
                </a:solidFill>
                <a:latin typeface="Inter" pitchFamily="34" charset="0"/>
                <a:ea typeface="Inter" pitchFamily="34" charset="-122"/>
                <a:cs typeface="Inter" pitchFamily="34" charset="-120"/>
              </a:rPr>
              <a:t>🧜‍♀️</a:t>
            </a:r>
            <a:endParaRPr lang="en-US" sz="2100" dirty="0"/>
          </a:p>
        </p:txBody>
      </p:sp>
      <p:sp>
        <p:nvSpPr>
          <p:cNvPr id="17" name="b4:rise"/>
          <p:cNvSpPr txBox="1"/>
          <p:nvPr/>
        </p:nvSpPr>
        <p:spPr>
          <a:xfrm>
            <a:off x="6148388" y="3191768"/>
            <a:ext cx="2407158"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THE SYMBOL</a:t>
            </a:r>
            <a:endParaRPr lang="en-US" sz="825" dirty="0"/>
          </a:p>
        </p:txBody>
      </p:sp>
      <p:sp>
        <p:nvSpPr>
          <p:cNvPr id="18" name="b4:rise"/>
          <p:cNvSpPr txBox="1"/>
          <p:nvPr/>
        </p:nvSpPr>
        <p:spPr>
          <a:xfrm>
            <a:off x="6148388" y="3386063"/>
            <a:ext cx="2407158"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The Norse Twin-Tailed Siren</a:t>
            </a:r>
            <a:endParaRPr lang="en-US" sz="1350" dirty="0"/>
          </a:p>
        </p:txBody>
      </p:sp>
      <p:sp>
        <p:nvSpPr>
          <p:cNvPr id="19" name="b5:fade"/>
          <p:cNvSpPr txBox="1"/>
          <p:nvPr/>
        </p:nvSpPr>
        <p:spPr>
          <a:xfrm>
            <a:off x="609600" y="4124771"/>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Inter" pitchFamily="34" charset="0"/>
                <a:ea typeface="Inter" pitchFamily="34" charset="-122"/>
                <a:cs typeface="Inter" pitchFamily="34" charset="-120"/>
              </a:rPr>
              <a:t>➡️</a:t>
            </a:r>
            <a:endParaRPr lang="en-US" sz="1125" dirty="0"/>
          </a:p>
        </p:txBody>
      </p:sp>
      <p:sp>
        <p:nvSpPr>
          <p:cNvPr id="20" name="b5:fade"/>
          <p:cNvSpPr txBox="1"/>
          <p:nvPr/>
        </p:nvSpPr>
        <p:spPr>
          <a:xfrm>
            <a:off x="883146" y="4124325"/>
            <a:ext cx="6391120" cy="186630"/>
          </a:xfrm>
          <a:prstGeom prst="rect">
            <a:avLst/>
          </a:prstGeom>
          <a:noFill/>
          <a:ln/>
        </p:spPr>
        <p:txBody>
          <a:bodyPr wrap="none" lIns="0" tIns="0" rIns="0" bIns="0" rtlCol="0" anchor="ctr"/>
          <a:lstStyle/>
          <a:p>
            <a:pPr algn="l" indent="0" marL="0">
              <a:lnSpc>
                <a:spcPts val="1470"/>
              </a:lnSpc>
              <a:buNone/>
            </a:pPr>
            <a:r>
              <a:rPr lang="en-US" sz="1050" i="1" dirty="0">
                <a:solidFill>
                  <a:srgbClr val="37352F"/>
                </a:solidFill>
                <a:latin typeface="Inter" pitchFamily="34" charset="0"/>
                <a:ea typeface="Inter" pitchFamily="34" charset="-122"/>
                <a:cs typeface="Inter" pitchFamily="34" charset="-120"/>
              </a:rPr>
              <a:t>Now, let's look at where it all began in </a:t>
            </a:r>
            <a:pPr algn="l" indent="0" marL="0">
              <a:lnSpc>
                <a:spcPts val="1470"/>
              </a:lnSpc>
              <a:buNone/>
            </a:pPr>
            <a:r>
              <a:rPr lang="en-US" sz="1050" b="1" i="1" dirty="0">
                <a:solidFill>
                  <a:srgbClr val="448361"/>
                </a:solidFill>
                <a:latin typeface="Inter" pitchFamily="34" charset="0"/>
                <a:ea typeface="Inter" pitchFamily="34" charset="-122"/>
                <a:cs typeface="Inter" pitchFamily="34" charset="-120"/>
              </a:rPr>
              <a:t>1971</a:t>
            </a:r>
            <a:pPr algn="l" indent="0" marL="0">
              <a:lnSpc>
                <a:spcPts val="1470"/>
              </a:lnSpc>
              <a:buNone/>
            </a:pPr>
            <a:r>
              <a:rPr lang="en-US" sz="1050" i="1" dirty="0">
                <a:solidFill>
                  <a:srgbClr val="37352F"/>
                </a:solidFill>
                <a:latin typeface="Inter" pitchFamily="34" charset="0"/>
                <a:ea typeface="Inter" pitchFamily="34" charset="-122"/>
                <a:cs typeface="Inter" pitchFamily="34" charset="-120"/>
              </a:rPr>
              <a:t>…</a:t>
            </a:r>
            <a:endParaRPr lang="en-US" sz="1050" dirty="0"/>
          </a:p>
        </p:txBody>
      </p:sp>
      <p:sp>
        <p:nvSpPr>
          <p:cNvPr id="21" name="!!key1-1"/>
          <p:cNvSpPr/>
          <p:nvPr/>
        </p:nvSpPr>
        <p:spPr>
          <a:xfrm>
            <a:off x="6438900" y="4572000"/>
            <a:ext cx="2095500" cy="255240"/>
          </a:xfrm>
          <a:prstGeom prst="roundRect">
            <a:avLst>
              <a:gd name="adj" fmla="val 11195"/>
            </a:avLst>
          </a:prstGeom>
          <a:solidFill>
            <a:srgbClr val="FDECC8"/>
          </a:solidFill>
          <a:ln/>
        </p:spPr>
      </p:sp>
      <p:sp>
        <p:nvSpPr>
          <p:cNvPr id="22" name="!!key1-2"/>
          <p:cNvSpPr txBox="1"/>
          <p:nvPr/>
        </p:nvSpPr>
        <p:spPr>
          <a:xfrm>
            <a:off x="6438900" y="45720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1971 · Pike Place, Seattle</a:t>
            </a:r>
            <a:endParaRPr lang="en-US" sz="900" dirty="0"/>
          </a:p>
        </p:txBody>
      </p:sp>
      <p:sp>
        <p:nvSpPr>
          <p:cNvPr id="23" name="static"/>
          <p:cNvSpPr txBox="1"/>
          <p:nvPr/>
        </p:nvSpPr>
        <p:spPr>
          <a:xfrm>
            <a:off x="609600" y="4678710"/>
            <a:ext cx="2339950" cy="159990"/>
          </a:xfrm>
          <a:prstGeom prst="rect">
            <a:avLst/>
          </a:prstGeom>
          <a:noFill/>
          <a:ln/>
        </p:spPr>
        <p:txBody>
          <a:bodyPr wrap="none" lIns="0" tIns="0" rIns="0" bIns="0" rtlCol="0" anchor="ctr"/>
          <a:lstStyle/>
          <a:p>
            <a:pPr algn="l" indent="0" marL="0">
              <a:lnSpc>
                <a:spcPts val="1260"/>
              </a:lnSpc>
              <a:buNone/>
            </a:pPr>
            <a:r>
              <a:rPr lang="en-US" sz="900" dirty="0">
                <a:solidFill>
                  <a:srgbClr val="787774"/>
                </a:solidFill>
                <a:latin typeface="Inter" pitchFamily="34" charset="0"/>
                <a:ea typeface="Inter" pitchFamily="34" charset="-122"/>
                <a:cs typeface="Inter" pitchFamily="34" charset="-120"/>
              </a:rPr>
              <a:t>Slide 1 of 8 · Part 1 · The Foundation &amp; Origin</a:t>
            </a:r>
            <a:endParaRPr lang="en-US" sz="900" dirty="0"/>
          </a:p>
        </p:txBody>
      </p:sp>
      <p:sp>
        <p:nvSpPr>
          <p:cNvPr id="24" name="static"/>
          <p:cNvSpPr/>
          <p:nvPr/>
        </p:nvSpPr>
        <p:spPr>
          <a:xfrm>
            <a:off x="3140050" y="4730130"/>
            <a:ext cx="171450" cy="57150"/>
          </a:xfrm>
          <a:prstGeom prst="roundRect">
            <a:avLst>
              <a:gd name="adj" fmla="val 50000"/>
            </a:avLst>
          </a:prstGeom>
          <a:solidFill>
            <a:srgbClr val="37352F"/>
          </a:solidFill>
          <a:ln/>
        </p:spPr>
      </p:sp>
      <p:sp>
        <p:nvSpPr>
          <p:cNvPr id="25" name="static"/>
          <p:cNvSpPr/>
          <p:nvPr/>
        </p:nvSpPr>
        <p:spPr>
          <a:xfrm>
            <a:off x="3359125" y="4730130"/>
            <a:ext cx="57150" cy="57150"/>
          </a:xfrm>
          <a:prstGeom prst="roundRect">
            <a:avLst>
              <a:gd name="adj" fmla="val 50000"/>
            </a:avLst>
          </a:prstGeom>
          <a:solidFill>
            <a:srgbClr val="E3E2E0"/>
          </a:solidFill>
          <a:ln/>
        </p:spPr>
      </p:sp>
      <p:sp>
        <p:nvSpPr>
          <p:cNvPr id="26" name="static"/>
          <p:cNvSpPr/>
          <p:nvPr/>
        </p:nvSpPr>
        <p:spPr>
          <a:xfrm>
            <a:off x="3463900" y="4730130"/>
            <a:ext cx="57150" cy="57150"/>
          </a:xfrm>
          <a:prstGeom prst="roundRect">
            <a:avLst>
              <a:gd name="adj" fmla="val 50000"/>
            </a:avLst>
          </a:prstGeom>
          <a:solidFill>
            <a:srgbClr val="E3E2E0"/>
          </a:solidFill>
          <a:ln/>
        </p:spPr>
      </p:sp>
      <p:sp>
        <p:nvSpPr>
          <p:cNvPr id="27" name="static"/>
          <p:cNvSpPr/>
          <p:nvPr/>
        </p:nvSpPr>
        <p:spPr>
          <a:xfrm>
            <a:off x="3568675" y="4730130"/>
            <a:ext cx="57150" cy="57150"/>
          </a:xfrm>
          <a:prstGeom prst="roundRect">
            <a:avLst>
              <a:gd name="adj" fmla="val 50000"/>
            </a:avLst>
          </a:prstGeom>
          <a:solidFill>
            <a:srgbClr val="E3E2E0"/>
          </a:solidFill>
          <a:ln/>
        </p:spPr>
      </p:sp>
      <p:sp>
        <p:nvSpPr>
          <p:cNvPr id="28" name="static"/>
          <p:cNvSpPr/>
          <p:nvPr/>
        </p:nvSpPr>
        <p:spPr>
          <a:xfrm>
            <a:off x="3673450" y="4730130"/>
            <a:ext cx="57150" cy="57150"/>
          </a:xfrm>
          <a:prstGeom prst="roundRect">
            <a:avLst>
              <a:gd name="adj" fmla="val 50000"/>
            </a:avLst>
          </a:prstGeom>
          <a:solidFill>
            <a:srgbClr val="E3E2E0"/>
          </a:solidFill>
          <a:ln/>
        </p:spPr>
      </p:sp>
      <p:sp>
        <p:nvSpPr>
          <p:cNvPr id="29" name="static"/>
          <p:cNvSpPr/>
          <p:nvPr/>
        </p:nvSpPr>
        <p:spPr>
          <a:xfrm>
            <a:off x="3778225" y="4730130"/>
            <a:ext cx="57150" cy="57150"/>
          </a:xfrm>
          <a:prstGeom prst="roundRect">
            <a:avLst>
              <a:gd name="adj" fmla="val 50000"/>
            </a:avLst>
          </a:prstGeom>
          <a:solidFill>
            <a:srgbClr val="E3E2E0"/>
          </a:solidFill>
          <a:ln/>
        </p:spPr>
      </p:sp>
      <p:sp>
        <p:nvSpPr>
          <p:cNvPr id="30" name="static"/>
          <p:cNvSpPr/>
          <p:nvPr/>
        </p:nvSpPr>
        <p:spPr>
          <a:xfrm>
            <a:off x="3883000" y="4730130"/>
            <a:ext cx="57150" cy="57150"/>
          </a:xfrm>
          <a:prstGeom prst="roundRect">
            <a:avLst>
              <a:gd name="adj" fmla="val 50000"/>
            </a:avLst>
          </a:prstGeom>
          <a:solidFill>
            <a:srgbClr val="E3E2E0"/>
          </a:solidFill>
          <a:ln/>
        </p:spPr>
      </p:sp>
      <p:sp>
        <p:nvSpPr>
          <p:cNvPr id="31" name="static"/>
          <p:cNvSpPr/>
          <p:nvPr/>
        </p:nvSpPr>
        <p:spPr>
          <a:xfrm>
            <a:off x="3987775" y="4730130"/>
            <a:ext cx="57150" cy="57150"/>
          </a:xfrm>
          <a:prstGeom prst="roundRect">
            <a:avLst>
              <a:gd name="adj" fmla="val 50000"/>
            </a:avLst>
          </a:prstGeom>
          <a:solidFill>
            <a:srgbClr val="E3E2E0"/>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23" presetClass="entr" presetSubtype="16"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Scale>
                                      <p:cBhvr>
                                        <p:cTn id="5" dur="500" fill="hold"/>
                                        <p:tgtEl>
                                          <p:spTgt spid="5"/>
                                        </p:tgtEl>
                                      </p:cBhvr>
                                      <p:from x="0" y="0"/>
                                      <p:to x="100000" y="100000"/>
                                    </p:animScale>
                                    <p:animEffect transition="in" filter="fade">
                                      <p:cBhvr>
                                        <p:cTn id="6" dur="500"/>
                                        <p:tgtEl>
                                          <p:spTgt spid="5"/>
                                        </p:tgtEl>
                                      </p:cBhvr>
                                    </p:animEffect>
                                  </p:childTnLst>
                                </p:cTn>
                              </p:par>
                              <p:par>
                                <p:cTn id="7" presetID="23" presetClass="entr" presetSubtype="16"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Scale>
                                      <p:cBhvr>
                                        <p:cTn id="9" dur="500" fill="hold"/>
                                        <p:tgtEl>
                                          <p:spTgt spid="6"/>
                                        </p:tgtEl>
                                      </p:cBhvr>
                                      <p:from x="0" y="0"/>
                                      <p:to x="100000" y="100000"/>
                                    </p:animScale>
                                    <p:animEffect transition="in" filter="fade">
                                      <p:cBhvr>
                                        <p:cTn id="10"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700"/>
                                        <p:tgtEl>
                                          <p:spTgt spid="7"/>
                                        </p:tgtEl>
                                      </p:cBhvr>
                                    </p:animEffect>
                                    <p:anim calcmode="lin" valueType="num">
                                      <p:cBhvr additive="base">
                                        <p:cTn id="16" dur="700" fill="hold"/>
                                        <p:tgtEl>
                                          <p:spTgt spid="7"/>
                                        </p:tgtEl>
                                        <p:attrNameLst>
                                          <p:attrName>ppt_y</p:attrName>
                                        </p:attrNameLst>
                                      </p:cBhvr>
                                      <p:tavLst>
                                        <p:tav tm="0">
                                          <p:val>
                                            <p:strVal val="#ppt_y+.0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700" fill="hold"/>
                                        <p:tgtEl>
                                          <p:spTgt spid="8"/>
                                        </p:tgtEl>
                                        <p:attrNameLst>
                                          <p:attrName>ppt_y</p:attrName>
                                        </p:attrNameLst>
                                      </p:cBhvr>
                                      <p:tavLst>
                                        <p:tav tm="0">
                                          <p:val>
                                            <p:strVal val="#ppt_y+.08"/>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700"/>
                                        <p:tgtEl>
                                          <p:spTgt spid="9"/>
                                        </p:tgtEl>
                                      </p:cBhvr>
                                    </p:animEffect>
                                    <p:anim calcmode="lin" valueType="num">
                                      <p:cBhvr additive="base">
                                        <p:cTn id="24" dur="700" fill="hold"/>
                                        <p:tgtEl>
                                          <p:spTgt spid="9"/>
                                        </p:tgtEl>
                                        <p:attrNameLst>
                                          <p:attrName>ppt_y</p:attrName>
                                        </p:attrNameLst>
                                      </p:cBhvr>
                                      <p:tavLst>
                                        <p:tav tm="0">
                                          <p:val>
                                            <p:strVal val="#ppt_y+.08"/>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700"/>
                                        <p:tgtEl>
                                          <p:spTgt spid="10"/>
                                        </p:tgtEl>
                                      </p:cBhvr>
                                    </p:animEffect>
                                    <p:anim calcmode="lin" valueType="num">
                                      <p:cBhvr additive="base">
                                        <p:cTn id="28" dur="700" fill="hold"/>
                                        <p:tgtEl>
                                          <p:spTgt spid="10"/>
                                        </p:tgtEl>
                                        <p:attrNameLst>
                                          <p:attrName>ppt_y</p:attrName>
                                        </p:attrNameLst>
                                      </p:cBhvr>
                                      <p:tavLst>
                                        <p:tav tm="0">
                                          <p:val>
                                            <p:strVal val="#ppt_y+.08"/>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700"/>
                                        <p:tgtEl>
                                          <p:spTgt spid="11"/>
                                        </p:tgtEl>
                                      </p:cBhvr>
                                    </p:animEffect>
                                    <p:anim calcmode="lin" valueType="num">
                                      <p:cBhvr additive="base">
                                        <p:cTn id="34" dur="700" fill="hold"/>
                                        <p:tgtEl>
                                          <p:spTgt spid="11"/>
                                        </p:tgtEl>
                                        <p:attrNameLst>
                                          <p:attrName>ppt_y</p:attrName>
                                        </p:attrNameLst>
                                      </p:cBhvr>
                                      <p:tavLst>
                                        <p:tav tm="0">
                                          <p:val>
                                            <p:strVal val="#ppt_y+.08"/>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700"/>
                                        <p:tgtEl>
                                          <p:spTgt spid="12"/>
                                        </p:tgtEl>
                                      </p:cBhvr>
                                    </p:animEffect>
                                    <p:anim calcmode="lin" valueType="num">
                                      <p:cBhvr additive="base">
                                        <p:cTn id="38" dur="700" fill="hold"/>
                                        <p:tgtEl>
                                          <p:spTgt spid="12"/>
                                        </p:tgtEl>
                                        <p:attrNameLst>
                                          <p:attrName>ppt_y</p:attrName>
                                        </p:attrNameLst>
                                      </p:cBhvr>
                                      <p:tavLst>
                                        <p:tav tm="0">
                                          <p:val>
                                            <p:strVal val="#ppt_y+.0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700"/>
                                        <p:tgtEl>
                                          <p:spTgt spid="13"/>
                                        </p:tgtEl>
                                      </p:cBhvr>
                                    </p:animEffect>
                                    <p:anim calcmode="lin" valueType="num">
                                      <p:cBhvr additive="base">
                                        <p:cTn id="42" dur="700" fill="hold"/>
                                        <p:tgtEl>
                                          <p:spTgt spid="13"/>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700"/>
                                        <p:tgtEl>
                                          <p:spTgt spid="14"/>
                                        </p:tgtEl>
                                      </p:cBhvr>
                                    </p:animEffect>
                                    <p:anim calcmode="lin" valueType="num">
                                      <p:cBhvr additive="base">
                                        <p:cTn id="46" dur="700" fill="hold"/>
                                        <p:tgtEl>
                                          <p:spTgt spid="14"/>
                                        </p:tgtEl>
                                        <p:attrNameLst>
                                          <p:attrName>ppt_y</p:attrName>
                                        </p:attrNameLst>
                                      </p:cBhvr>
                                      <p:tavLst>
                                        <p:tav tm="0">
                                          <p:val>
                                            <p:strVal val="#ppt_y+.08"/>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700"/>
                                        <p:tgtEl>
                                          <p:spTgt spid="15"/>
                                        </p:tgtEl>
                                      </p:cBhvr>
                                    </p:animEffect>
                                    <p:anim calcmode="lin" valueType="num">
                                      <p:cBhvr additive="base">
                                        <p:cTn id="52" dur="700" fill="hold"/>
                                        <p:tgtEl>
                                          <p:spTgt spid="15"/>
                                        </p:tgtEl>
                                        <p:attrNameLst>
                                          <p:attrName>ppt_y</p:attrName>
                                        </p:attrNameLst>
                                      </p:cBhvr>
                                      <p:tavLst>
                                        <p:tav tm="0">
                                          <p:val>
                                            <p:strVal val="#ppt_y+.08"/>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700"/>
                                        <p:tgtEl>
                                          <p:spTgt spid="16"/>
                                        </p:tgtEl>
                                      </p:cBhvr>
                                    </p:animEffect>
                                    <p:anim calcmode="lin" valueType="num">
                                      <p:cBhvr additive="base">
                                        <p:cTn id="56" dur="700" fill="hold"/>
                                        <p:tgtEl>
                                          <p:spTgt spid="16"/>
                                        </p:tgtEl>
                                        <p:attrNameLst>
                                          <p:attrName>ppt_y</p:attrName>
                                        </p:attrNameLst>
                                      </p:cBhvr>
                                      <p:tavLst>
                                        <p:tav tm="0">
                                          <p:val>
                                            <p:strVal val="#ppt_y+.08"/>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700"/>
                                        <p:tgtEl>
                                          <p:spTgt spid="17"/>
                                        </p:tgtEl>
                                      </p:cBhvr>
                                    </p:animEffect>
                                    <p:anim calcmode="lin" valueType="num">
                                      <p:cBhvr additive="base">
                                        <p:cTn id="60" dur="700" fill="hold"/>
                                        <p:tgtEl>
                                          <p:spTgt spid="17"/>
                                        </p:tgtEl>
                                        <p:attrNameLst>
                                          <p:attrName>ppt_y</p:attrName>
                                        </p:attrNameLst>
                                      </p:cBhvr>
                                      <p:tavLst>
                                        <p:tav tm="0">
                                          <p:val>
                                            <p:strVal val="#ppt_y+.08"/>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700"/>
                                        <p:tgtEl>
                                          <p:spTgt spid="18"/>
                                        </p:tgtEl>
                                      </p:cBhvr>
                                    </p:animEffect>
                                    <p:anim calcmode="lin" valueType="num">
                                      <p:cBhvr additive="base">
                                        <p:cTn id="64" dur="700" fill="hold"/>
                                        <p:tgtEl>
                                          <p:spTgt spid="18"/>
                                        </p:tgtEl>
                                        <p:attrNameLst>
                                          <p:attrName>ppt_y</p:attrName>
                                        </p:attrNameLst>
                                      </p:cBhvr>
                                      <p:tavLst>
                                        <p:tav tm="0">
                                          <p:val>
                                            <p:strVal val="#ppt_y+.08"/>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75" presetID="23" presetClass="entr" presetSubtype="16"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animScale>
                                      <p:cBhvr>
                                        <p:cTn id="77" dur="500" fill="hold"/>
                                        <p:tgtEl>
                                          <p:spTgt spid="21"/>
                                        </p:tgtEl>
                                      </p:cBhvr>
                                      <p:from x="0" y="0"/>
                                      <p:to x="100000" y="100000"/>
                                    </p:animScale>
                                    <p:animEffect transition="in" filter="fade">
                                      <p:cBhvr>
                                        <p:cTn id="78" dur="500"/>
                                        <p:tgtEl>
                                          <p:spTgt spid="21"/>
                                        </p:tgtEl>
                                      </p:cBhvr>
                                    </p:animEffect>
                                  </p:childTnLst>
                                </p:cTn>
                              </p:par>
                              <p:par>
                                <p:cTn id="79" presetID="23" presetClass="entr" presetSubtype="16"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animScale>
                                      <p:cBhvr>
                                        <p:cTn id="81" dur="500" fill="hold"/>
                                        <p:tgtEl>
                                          <p:spTgt spid="22"/>
                                        </p:tgtEl>
                                      </p:cBhvr>
                                      <p:from x="0" y="0"/>
                                      <p:to x="100000" y="100000"/>
                                    </p:animScale>
                                    <p:animEffect transition="in" filter="fade">
                                      <p:cBhvr>
                                        <p:cTn id="8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28613"/>
          </a:xfrm>
          <a:prstGeom prst="rect">
            <a:avLst/>
          </a:prstGeom>
          <a:noFill/>
          <a:ln/>
        </p:spPr>
        <p:txBody>
          <a:bodyPr wrap="none" lIns="0" tIns="0" rIns="0" bIns="0" rtlCol="0" anchor="ctr"/>
          <a:lstStyle/>
          <a:p>
            <a:pPr algn="l" indent="0" marL="0">
              <a:lnSpc>
                <a:spcPts val="2588"/>
              </a:lnSpc>
              <a:buNone/>
            </a:pPr>
            <a:r>
              <a:rPr lang="en-US" sz="2250" b="1" dirty="0">
                <a:solidFill>
                  <a:srgbClr val="37352F"/>
                </a:solidFill>
                <a:latin typeface="Inter" pitchFamily="34" charset="0"/>
                <a:ea typeface="Inter" pitchFamily="34" charset="-122"/>
                <a:cs typeface="Inter" pitchFamily="34" charset="-120"/>
              </a:rPr>
              <a:t>Chapter 1: Coffee Beans &amp; Seattle Roots</a:t>
            </a:r>
            <a:endParaRPr lang="en-US" sz="2250" dirty="0"/>
          </a:p>
        </p:txBody>
      </p:sp>
      <p:sp>
        <p:nvSpPr>
          <p:cNvPr id="3" name="static"/>
          <p:cNvSpPr txBox="1"/>
          <p:nvPr/>
        </p:nvSpPr>
        <p:spPr>
          <a:xfrm>
            <a:off x="609600" y="1204913"/>
            <a:ext cx="6686550" cy="210443"/>
          </a:xfrm>
          <a:prstGeom prst="rect">
            <a:avLst/>
          </a:prstGeom>
          <a:noFill/>
          <a:ln/>
        </p:spPr>
        <p:txBody>
          <a:bodyPr wrap="none" lIns="0" tIns="0" rIns="0" bIns="0" rtlCol="0" anchor="ctr"/>
          <a:lstStyle/>
          <a:p>
            <a:pPr algn="l" indent="0" marL="0">
              <a:lnSpc>
                <a:spcPts val="1658"/>
              </a:lnSpc>
              <a:buNone/>
            </a:pPr>
            <a:r>
              <a:rPr lang="en-US" sz="1275" dirty="0">
                <a:solidFill>
                  <a:srgbClr val="37352F"/>
                </a:solidFill>
                <a:latin typeface="Inter" pitchFamily="34" charset="0"/>
                <a:ea typeface="Inter" pitchFamily="34" charset="-122"/>
                <a:cs typeface="Inter" pitchFamily="34" charset="-120"/>
              </a:rPr>
              <a:t>Before the Lattes: A High-End Bean &amp; Spice Retailer</a:t>
            </a:r>
            <a:endParaRPr lang="en-US" sz="1275"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PART 1 · THE FOUNDATION &amp; ORIGIN</a:t>
            </a:r>
            <a:endParaRPr lang="en-US" sz="825" dirty="0"/>
          </a:p>
        </p:txBody>
      </p:sp>
      <p:sp>
        <p:nvSpPr>
          <p:cNvPr id="5" name="!!key1-1"/>
          <p:cNvSpPr/>
          <p:nvPr/>
        </p:nvSpPr>
        <p:spPr>
          <a:xfrm>
            <a:off x="6438900" y="419100"/>
            <a:ext cx="2095500" cy="255240"/>
          </a:xfrm>
          <a:prstGeom prst="roundRect">
            <a:avLst>
              <a:gd name="adj" fmla="val 11195"/>
            </a:avLst>
          </a:prstGeom>
          <a:solidFill>
            <a:srgbClr val="FDECC8"/>
          </a:solidFill>
          <a:ln/>
        </p:spPr>
      </p:sp>
      <p:sp>
        <p:nvSpPr>
          <p:cNvPr id="6" name="!!key1-2"/>
          <p:cNvSpPr txBox="1"/>
          <p:nvPr/>
        </p:nvSpPr>
        <p:spPr>
          <a:xfrm>
            <a:off x="6438900" y="4191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1971 · Pike Place, Seattle</a:t>
            </a:r>
            <a:endParaRPr lang="en-US" sz="900" dirty="0"/>
          </a:p>
        </p:txBody>
      </p:sp>
      <p:sp>
        <p:nvSpPr>
          <p:cNvPr id="7" name="b1:rise"/>
          <p:cNvSpPr/>
          <p:nvPr/>
        </p:nvSpPr>
        <p:spPr>
          <a:xfrm>
            <a:off x="609600" y="1676400"/>
            <a:ext cx="3848100" cy="1809750"/>
          </a:xfrm>
          <a:prstGeom prst="roundRect">
            <a:avLst>
              <a:gd name="adj" fmla="val 2105"/>
            </a:avLst>
          </a:prstGeom>
          <a:solidFill>
            <a:srgbClr val="FFFFFF"/>
          </a:solidFill>
          <a:ln w="6350">
            <a:solidFill>
              <a:srgbClr val="E9E9E7"/>
            </a:solidFill>
            <a:prstDash val="solid"/>
          </a:ln>
        </p:spPr>
      </p:sp>
      <p:sp>
        <p:nvSpPr>
          <p:cNvPr id="8" name="b1:rise"/>
          <p:cNvSpPr txBox="1"/>
          <p:nvPr/>
        </p:nvSpPr>
        <p:spPr>
          <a:xfrm>
            <a:off x="804862" y="1871663"/>
            <a:ext cx="256773" cy="247650"/>
          </a:xfrm>
          <a:prstGeom prst="rect">
            <a:avLst/>
          </a:prstGeom>
          <a:noFill/>
          <a:ln/>
        </p:spPr>
        <p:txBody>
          <a:bodyPr wrap="none" lIns="0" tIns="0" rIns="0" bIns="0" rtlCol="0" anchor="ctr"/>
          <a:lstStyle/>
          <a:p>
            <a:pPr algn="l" indent="0" marL="0">
              <a:lnSpc>
                <a:spcPts val="1950"/>
              </a:lnSpc>
              <a:buNone/>
            </a:pPr>
            <a:r>
              <a:rPr lang="en-US" sz="1500" dirty="0">
                <a:solidFill>
                  <a:srgbClr val="37352F"/>
                </a:solidFill>
                <a:latin typeface="Inter" pitchFamily="34" charset="0"/>
                <a:ea typeface="Inter" pitchFamily="34" charset="-122"/>
                <a:cs typeface="Inter" pitchFamily="34" charset="-120"/>
              </a:rPr>
              <a:t>👥</a:t>
            </a:r>
            <a:endParaRPr lang="en-US" sz="1500" dirty="0"/>
          </a:p>
        </p:txBody>
      </p:sp>
      <p:sp>
        <p:nvSpPr>
          <p:cNvPr id="9" name="b1:rise"/>
          <p:cNvSpPr txBox="1"/>
          <p:nvPr/>
        </p:nvSpPr>
        <p:spPr>
          <a:xfrm>
            <a:off x="1118815" y="1922115"/>
            <a:ext cx="1589100"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THE FOUNDERS &amp; MISSION</a:t>
            </a:r>
            <a:endParaRPr lang="en-US" sz="825" dirty="0"/>
          </a:p>
        </p:txBody>
      </p:sp>
      <p:sp>
        <p:nvSpPr>
          <p:cNvPr id="10" name="b1:rise"/>
          <p:cNvSpPr txBox="1"/>
          <p:nvPr/>
        </p:nvSpPr>
        <p:spPr>
          <a:xfrm>
            <a:off x="804862" y="2214563"/>
            <a:ext cx="3734181" cy="146670"/>
          </a:xfrm>
          <a:prstGeom prst="rect">
            <a:avLst/>
          </a:prstGeom>
          <a:noFill/>
          <a:ln/>
        </p:spPr>
        <p:txBody>
          <a:bodyPr wrap="none" lIns="0" tIns="0" rIns="0" bIns="0" rtlCol="0" anchor="ctr"/>
          <a:lstStyle/>
          <a:p>
            <a:pPr algn="l" indent="0" marL="0">
              <a:lnSpc>
                <a:spcPts val="1155"/>
              </a:lnSpc>
              <a:buNone/>
            </a:pPr>
            <a:r>
              <a:rPr lang="en-US" sz="825" spc="38" kern="0" dirty="0">
                <a:solidFill>
                  <a:srgbClr val="787774"/>
                </a:solidFill>
                <a:latin typeface="Inter" pitchFamily="34" charset="0"/>
                <a:ea typeface="Inter" pitchFamily="34" charset="-122"/>
                <a:cs typeface="Inter" pitchFamily="34" charset="-120"/>
              </a:rPr>
              <a:t>FOUNDED BY</a:t>
            </a:r>
            <a:endParaRPr lang="en-US" sz="825" dirty="0"/>
          </a:p>
        </p:txBody>
      </p:sp>
      <p:sp>
        <p:nvSpPr>
          <p:cNvPr id="11" name="b1:rise"/>
          <p:cNvSpPr/>
          <p:nvPr/>
        </p:nvSpPr>
        <p:spPr>
          <a:xfrm>
            <a:off x="804862" y="2399333"/>
            <a:ext cx="1014264" cy="262830"/>
          </a:xfrm>
          <a:prstGeom prst="roundRect">
            <a:avLst>
              <a:gd name="adj" fmla="val 10872"/>
            </a:avLst>
          </a:prstGeom>
          <a:solidFill>
            <a:srgbClr val="E3E2E0"/>
          </a:solidFill>
          <a:ln/>
        </p:spPr>
      </p:sp>
      <p:sp>
        <p:nvSpPr>
          <p:cNvPr id="12" name="b1:rise"/>
          <p:cNvSpPr txBox="1"/>
          <p:nvPr/>
        </p:nvSpPr>
        <p:spPr>
          <a:xfrm>
            <a:off x="804862" y="2399333"/>
            <a:ext cx="1095405"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32302C"/>
                </a:solidFill>
                <a:latin typeface="Inter" pitchFamily="34" charset="0"/>
                <a:ea typeface="Inter" pitchFamily="34" charset="-122"/>
                <a:cs typeface="Inter" pitchFamily="34" charset="-120"/>
              </a:rPr>
              <a:t>Jerry Baldwin</a:t>
            </a:r>
            <a:endParaRPr lang="en-US" sz="1050" dirty="0"/>
          </a:p>
        </p:txBody>
      </p:sp>
      <p:sp>
        <p:nvSpPr>
          <p:cNvPr id="13" name="b1:rise"/>
          <p:cNvSpPr/>
          <p:nvPr/>
        </p:nvSpPr>
        <p:spPr>
          <a:xfrm>
            <a:off x="1876276" y="2399333"/>
            <a:ext cx="746001" cy="262830"/>
          </a:xfrm>
          <a:prstGeom prst="roundRect">
            <a:avLst>
              <a:gd name="adj" fmla="val 10872"/>
            </a:avLst>
          </a:prstGeom>
          <a:solidFill>
            <a:srgbClr val="E3E2E0"/>
          </a:solidFill>
          <a:ln/>
        </p:spPr>
      </p:sp>
      <p:sp>
        <p:nvSpPr>
          <p:cNvPr id="14" name="b1:rise"/>
          <p:cNvSpPr txBox="1"/>
          <p:nvPr/>
        </p:nvSpPr>
        <p:spPr>
          <a:xfrm>
            <a:off x="1876276" y="2399333"/>
            <a:ext cx="805681"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32302C"/>
                </a:solidFill>
                <a:latin typeface="Inter" pitchFamily="34" charset="0"/>
                <a:ea typeface="Inter" pitchFamily="34" charset="-122"/>
                <a:cs typeface="Inter" pitchFamily="34" charset="-120"/>
              </a:rPr>
              <a:t>Zev Siegl</a:t>
            </a:r>
            <a:endParaRPr lang="en-US" sz="1050" dirty="0"/>
          </a:p>
        </p:txBody>
      </p:sp>
      <p:sp>
        <p:nvSpPr>
          <p:cNvPr id="15" name="b1:rise"/>
          <p:cNvSpPr/>
          <p:nvPr/>
        </p:nvSpPr>
        <p:spPr>
          <a:xfrm>
            <a:off x="2679427" y="2399333"/>
            <a:ext cx="1124769" cy="262830"/>
          </a:xfrm>
          <a:prstGeom prst="roundRect">
            <a:avLst>
              <a:gd name="adj" fmla="val 10872"/>
            </a:avLst>
          </a:prstGeom>
          <a:solidFill>
            <a:srgbClr val="E3E2E0"/>
          </a:solidFill>
          <a:ln/>
        </p:spPr>
      </p:sp>
      <p:sp>
        <p:nvSpPr>
          <p:cNvPr id="16" name="b1:rise"/>
          <p:cNvSpPr txBox="1"/>
          <p:nvPr/>
        </p:nvSpPr>
        <p:spPr>
          <a:xfrm>
            <a:off x="2679427" y="2399333"/>
            <a:ext cx="1214750"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32302C"/>
                </a:solidFill>
                <a:latin typeface="Inter" pitchFamily="34" charset="0"/>
                <a:ea typeface="Inter" pitchFamily="34" charset="-122"/>
                <a:cs typeface="Inter" pitchFamily="34" charset="-120"/>
              </a:rPr>
              <a:t>Gordon Bowker</a:t>
            </a:r>
            <a:endParaRPr lang="en-US" sz="1050" dirty="0"/>
          </a:p>
        </p:txBody>
      </p:sp>
      <p:sp>
        <p:nvSpPr>
          <p:cNvPr id="17" name="b1:rise"/>
          <p:cNvSpPr txBox="1"/>
          <p:nvPr/>
        </p:nvSpPr>
        <p:spPr>
          <a:xfrm>
            <a:off x="804862" y="2757413"/>
            <a:ext cx="3734181" cy="146670"/>
          </a:xfrm>
          <a:prstGeom prst="rect">
            <a:avLst/>
          </a:prstGeom>
          <a:noFill/>
          <a:ln/>
        </p:spPr>
        <p:txBody>
          <a:bodyPr wrap="none" lIns="0" tIns="0" rIns="0" bIns="0" rtlCol="0" anchor="ctr"/>
          <a:lstStyle/>
          <a:p>
            <a:pPr algn="l" indent="0" marL="0">
              <a:lnSpc>
                <a:spcPts val="1155"/>
              </a:lnSpc>
              <a:buNone/>
            </a:pPr>
            <a:r>
              <a:rPr lang="en-US" sz="825" spc="38" kern="0" dirty="0">
                <a:solidFill>
                  <a:srgbClr val="787774"/>
                </a:solidFill>
                <a:latin typeface="Inter" pitchFamily="34" charset="0"/>
                <a:ea typeface="Inter" pitchFamily="34" charset="-122"/>
                <a:cs typeface="Inter" pitchFamily="34" charset="-120"/>
              </a:rPr>
              <a:t>MISSION</a:t>
            </a:r>
            <a:endParaRPr lang="en-US" sz="825" dirty="0"/>
          </a:p>
        </p:txBody>
      </p:sp>
      <p:sp>
        <p:nvSpPr>
          <p:cNvPr id="18" name="b1:rise"/>
          <p:cNvSpPr txBox="1"/>
          <p:nvPr/>
        </p:nvSpPr>
        <p:spPr>
          <a:xfrm>
            <a:off x="804862" y="2942183"/>
            <a:ext cx="3595878" cy="373261"/>
          </a:xfrm>
          <a:prstGeom prst="rect">
            <a:avLst/>
          </a:prstGeom>
          <a:noFill/>
          <a:ln/>
        </p:spPr>
        <p:txBody>
          <a:bodyPr wrap="square" lIns="0" tIns="0" rIns="0" bIns="0" rtlCol="0" anchor="t"/>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Teach Americans how to brew fine </a:t>
            </a:r>
            <a:pPr algn="l" indent="0" marL="0">
              <a:lnSpc>
                <a:spcPts val="1470"/>
              </a:lnSpc>
              <a:buNone/>
            </a:pPr>
            <a:r>
              <a:rPr lang="en-US" sz="1050" b="1" dirty="0">
                <a:solidFill>
                  <a:srgbClr val="37352F"/>
                </a:solidFill>
                <a:latin typeface="Inter" pitchFamily="34" charset="0"/>
                <a:ea typeface="Inter" pitchFamily="34" charset="-122"/>
                <a:cs typeface="Inter" pitchFamily="34" charset="-120"/>
              </a:rPr>
              <a:t>dark-roast coffee</a:t>
            </a:r>
            <a:pPr algn="l" indent="0" marL="0">
              <a:lnSpc>
                <a:spcPts val="1470"/>
              </a:lnSpc>
              <a:buNone/>
            </a:pPr>
            <a:r>
              <a:rPr lang="en-US" sz="1050" dirty="0">
                <a:solidFill>
                  <a:srgbClr val="37352F"/>
                </a:solidFill>
                <a:latin typeface="Inter" pitchFamily="34" charset="0"/>
                <a:ea typeface="Inter" pitchFamily="34" charset="-122"/>
                <a:cs typeface="Inter" pitchFamily="34" charset="-120"/>
              </a:rPr>
              <a:t> at home.</a:t>
            </a:r>
            <a:endParaRPr lang="en-US" sz="1050" dirty="0"/>
          </a:p>
        </p:txBody>
      </p:sp>
      <p:sp>
        <p:nvSpPr>
          <p:cNvPr id="19" name="b2:rise"/>
          <p:cNvSpPr/>
          <p:nvPr/>
        </p:nvSpPr>
        <p:spPr>
          <a:xfrm>
            <a:off x="4686300" y="1676400"/>
            <a:ext cx="3848100" cy="1809750"/>
          </a:xfrm>
          <a:prstGeom prst="roundRect">
            <a:avLst>
              <a:gd name="adj" fmla="val 2105"/>
            </a:avLst>
          </a:prstGeom>
          <a:solidFill>
            <a:srgbClr val="FFFFFF"/>
          </a:solidFill>
          <a:ln w="6350">
            <a:solidFill>
              <a:srgbClr val="E9E9E7"/>
            </a:solidFill>
            <a:prstDash val="solid"/>
          </a:ln>
        </p:spPr>
      </p:sp>
      <p:sp>
        <p:nvSpPr>
          <p:cNvPr id="20" name="b2:rise"/>
          <p:cNvSpPr txBox="1"/>
          <p:nvPr/>
        </p:nvSpPr>
        <p:spPr>
          <a:xfrm>
            <a:off x="4881562" y="1871663"/>
            <a:ext cx="2355723"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THE SIREN MYTHOS</a:t>
            </a:r>
            <a:endParaRPr lang="en-US" sz="825" dirty="0"/>
          </a:p>
        </p:txBody>
      </p:sp>
      <p:sp>
        <p:nvSpPr>
          <p:cNvPr id="21" name="b2:rise"/>
          <p:cNvSpPr txBox="1"/>
          <p:nvPr/>
        </p:nvSpPr>
        <p:spPr>
          <a:xfrm>
            <a:off x="4881562" y="2113583"/>
            <a:ext cx="2355723" cy="146670"/>
          </a:xfrm>
          <a:prstGeom prst="rect">
            <a:avLst/>
          </a:prstGeom>
          <a:noFill/>
          <a:ln/>
        </p:spPr>
        <p:txBody>
          <a:bodyPr wrap="none" lIns="0" tIns="0" rIns="0" bIns="0" rtlCol="0" anchor="ctr"/>
          <a:lstStyle/>
          <a:p>
            <a:pPr algn="l" indent="0" marL="0">
              <a:lnSpc>
                <a:spcPts val="1155"/>
              </a:lnSpc>
              <a:buNone/>
            </a:pPr>
            <a:r>
              <a:rPr lang="en-US" sz="825" spc="38" kern="0" dirty="0">
                <a:solidFill>
                  <a:srgbClr val="787774"/>
                </a:solidFill>
                <a:latin typeface="Inter" pitchFamily="34" charset="0"/>
                <a:ea typeface="Inter" pitchFamily="34" charset="-122"/>
                <a:cs typeface="Inter" pitchFamily="34" charset="-120"/>
              </a:rPr>
              <a:t>INSPIRED BY</a:t>
            </a:r>
            <a:endParaRPr lang="en-US" sz="825" dirty="0"/>
          </a:p>
        </p:txBody>
      </p:sp>
      <p:sp>
        <p:nvSpPr>
          <p:cNvPr id="22" name="b2:rise"/>
          <p:cNvSpPr txBox="1"/>
          <p:nvPr/>
        </p:nvSpPr>
        <p:spPr>
          <a:xfrm>
            <a:off x="4881562" y="2298353"/>
            <a:ext cx="2268474" cy="388590"/>
          </a:xfrm>
          <a:prstGeom prst="rect">
            <a:avLst/>
          </a:prstGeom>
          <a:noFill/>
          <a:ln/>
        </p:spPr>
        <p:txBody>
          <a:bodyPr wrap="square" lIns="0" tIns="0" rIns="0" bIns="0" rtlCol="0" anchor="t"/>
          <a:lstStyle/>
          <a:p>
            <a:pPr algn="l" indent="0" marL="0">
              <a:lnSpc>
                <a:spcPts val="1530"/>
              </a:lnSpc>
              <a:buNone/>
            </a:pPr>
            <a:r>
              <a:rPr lang="en-US" sz="1275" b="1" dirty="0">
                <a:solidFill>
                  <a:srgbClr val="37352F"/>
                </a:solidFill>
                <a:latin typeface="Inter" pitchFamily="34" charset="0"/>
                <a:ea typeface="Inter" pitchFamily="34" charset="-122"/>
                <a:cs typeface="Inter" pitchFamily="34" charset="-120"/>
              </a:rPr>
              <a:t>A 16th-century Norse woodcut siren</a:t>
            </a:r>
            <a:endParaRPr lang="en-US" sz="1275" dirty="0"/>
          </a:p>
        </p:txBody>
      </p:sp>
      <p:sp>
        <p:nvSpPr>
          <p:cNvPr id="23" name="b2:rise"/>
          <p:cNvSpPr txBox="1"/>
          <p:nvPr/>
        </p:nvSpPr>
        <p:spPr>
          <a:xfrm>
            <a:off x="4881562" y="2782193"/>
            <a:ext cx="74018" cy="186630"/>
          </a:xfrm>
          <a:prstGeom prst="rect">
            <a:avLst/>
          </a:prstGeom>
          <a:noFill/>
          <a:ln/>
        </p:spPr>
        <p:txBody>
          <a:bodyPr wrap="none" lIns="0" tIns="0" rIns="0" bIns="0" rtlCol="0" anchor="ctr"/>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a:t>
            </a:r>
            <a:endParaRPr lang="en-US" sz="1050" dirty="0"/>
          </a:p>
        </p:txBody>
      </p:sp>
      <p:sp>
        <p:nvSpPr>
          <p:cNvPr id="24" name="b2:rise"/>
          <p:cNvSpPr txBox="1"/>
          <p:nvPr/>
        </p:nvSpPr>
        <p:spPr>
          <a:xfrm>
            <a:off x="5016773" y="2782193"/>
            <a:ext cx="2209696" cy="186630"/>
          </a:xfrm>
          <a:prstGeom prst="rect">
            <a:avLst/>
          </a:prstGeom>
          <a:noFill/>
          <a:ln/>
        </p:spPr>
        <p:txBody>
          <a:bodyPr wrap="none" lIns="0" tIns="0" rIns="0" bIns="0" rtlCol="0" anchor="ctr"/>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Seattle's nautical tradition</a:t>
            </a:r>
            <a:endParaRPr lang="en-US" sz="1050" dirty="0"/>
          </a:p>
        </p:txBody>
      </p:sp>
      <p:sp>
        <p:nvSpPr>
          <p:cNvPr id="25" name="b2:rise"/>
          <p:cNvSpPr txBox="1"/>
          <p:nvPr/>
        </p:nvSpPr>
        <p:spPr>
          <a:xfrm>
            <a:off x="4881562" y="3016448"/>
            <a:ext cx="74018" cy="186630"/>
          </a:xfrm>
          <a:prstGeom prst="rect">
            <a:avLst/>
          </a:prstGeom>
          <a:noFill/>
          <a:ln/>
        </p:spPr>
        <p:txBody>
          <a:bodyPr wrap="none" lIns="0" tIns="0" rIns="0" bIns="0" rtlCol="0" anchor="ctr"/>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a:t>
            </a:r>
            <a:endParaRPr lang="en-US" sz="1050" dirty="0"/>
          </a:p>
        </p:txBody>
      </p:sp>
      <p:sp>
        <p:nvSpPr>
          <p:cNvPr id="26" name="b2:rise"/>
          <p:cNvSpPr txBox="1"/>
          <p:nvPr/>
        </p:nvSpPr>
        <p:spPr>
          <a:xfrm>
            <a:off x="5016773" y="3016448"/>
            <a:ext cx="2209696" cy="186630"/>
          </a:xfrm>
          <a:prstGeom prst="rect">
            <a:avLst/>
          </a:prstGeom>
          <a:noFill/>
          <a:ln/>
        </p:spPr>
        <p:txBody>
          <a:bodyPr wrap="none" lIns="0" tIns="0" rIns="0" bIns="0" rtlCol="0" anchor="ctr"/>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The irresistible pull of fine coffee</a:t>
            </a:r>
            <a:endParaRPr lang="en-US" sz="1050" dirty="0"/>
          </a:p>
        </p:txBody>
      </p:sp>
      <p:pic>
        <p:nvPicPr>
          <p:cNvPr id="27" name="b2:rise (Starbucks siren logo)" descr="/home/user/slide-present-en/starbucks-presentation/assets/starbucks-logo.png">    </p:cNvPr>
          <p:cNvPicPr>
            <a:picLocks noChangeAspect="1"/>
          </p:cNvPicPr>
          <p:nvPr/>
        </p:nvPicPr>
        <p:blipFill>
          <a:blip r:embed="rId1"/>
          <a:stretch>
            <a:fillRect/>
          </a:stretch>
        </p:blipFill>
        <p:spPr>
          <a:xfrm>
            <a:off x="7219950" y="2033587"/>
            <a:ext cx="1095375" cy="1095375"/>
          </a:xfrm>
          <a:prstGeom prst="rect">
            <a:avLst/>
          </a:prstGeom>
        </p:spPr>
      </p:pic>
      <p:sp>
        <p:nvSpPr>
          <p:cNvPr id="28" name="b3:fade"/>
          <p:cNvSpPr/>
          <p:nvPr/>
        </p:nvSpPr>
        <p:spPr>
          <a:xfrm>
            <a:off x="609600" y="3790950"/>
            <a:ext cx="7924800" cy="395287"/>
          </a:xfrm>
          <a:prstGeom prst="roundRect">
            <a:avLst>
              <a:gd name="adj" fmla="val 9639"/>
            </a:avLst>
          </a:prstGeom>
          <a:solidFill>
            <a:srgbClr val="F1F1EF"/>
          </a:solidFill>
          <a:ln/>
        </p:spPr>
      </p:sp>
      <p:sp>
        <p:nvSpPr>
          <p:cNvPr id="29" name="b3:fade"/>
          <p:cNvSpPr txBox="1"/>
          <p:nvPr/>
        </p:nvSpPr>
        <p:spPr>
          <a:xfrm>
            <a:off x="762000" y="3895725"/>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Inter" pitchFamily="34" charset="0"/>
                <a:ea typeface="Inter" pitchFamily="34" charset="-122"/>
                <a:cs typeface="Inter" pitchFamily="34" charset="-120"/>
              </a:rPr>
              <a:t>➡️</a:t>
            </a:r>
            <a:endParaRPr lang="en-US" sz="1125" dirty="0"/>
          </a:p>
        </p:txBody>
      </p:sp>
      <p:sp>
        <p:nvSpPr>
          <p:cNvPr id="30" name="b3:fade"/>
          <p:cNvSpPr txBox="1"/>
          <p:nvPr/>
        </p:nvSpPr>
        <p:spPr>
          <a:xfrm>
            <a:off x="1054596" y="3898553"/>
            <a:ext cx="7913596" cy="180008"/>
          </a:xfrm>
          <a:prstGeom prst="rect">
            <a:avLst/>
          </a:prstGeom>
          <a:noFill/>
          <a:ln/>
        </p:spPr>
        <p:txBody>
          <a:bodyPr wrap="none" lIns="0" tIns="0" rIns="0" bIns="0" rtlCol="0" anchor="ctr"/>
          <a:lstStyle/>
          <a:p>
            <a:pPr algn="l" indent="0" marL="0">
              <a:lnSpc>
                <a:spcPts val="1417"/>
              </a:lnSpc>
              <a:buNone/>
            </a:pPr>
            <a:r>
              <a:rPr lang="en-US" sz="1050" dirty="0">
                <a:solidFill>
                  <a:srgbClr val="37352F"/>
                </a:solidFill>
                <a:latin typeface="Inter" pitchFamily="34" charset="0"/>
                <a:ea typeface="Inter" pitchFamily="34" charset="-122"/>
                <a:cs typeface="Inter" pitchFamily="34" charset="-120"/>
              </a:rPr>
              <a:t>The stage was set, but Starbucks was still missing its biggest magic ingredient… until </a:t>
            </a:r>
            <a:pPr algn="l" indent="0" marL="0">
              <a:lnSpc>
                <a:spcPts val="1417"/>
              </a:lnSpc>
              <a:buNone/>
            </a:pPr>
            <a:r>
              <a:rPr lang="en-US" sz="1050" b="1" dirty="0">
                <a:solidFill>
                  <a:srgbClr val="448361"/>
                </a:solidFill>
                <a:latin typeface="Inter" pitchFamily="34" charset="0"/>
                <a:ea typeface="Inter" pitchFamily="34" charset="-122"/>
                <a:cs typeface="Inter" pitchFamily="34" charset="-120"/>
              </a:rPr>
              <a:t>1983</a:t>
            </a:r>
            <a:pPr algn="l" indent="0" marL="0">
              <a:lnSpc>
                <a:spcPts val="1417"/>
              </a:lnSpc>
              <a:buNone/>
            </a:pPr>
            <a:r>
              <a:rPr lang="en-US" sz="1050" dirty="0">
                <a:solidFill>
                  <a:srgbClr val="37352F"/>
                </a:solidFill>
                <a:latin typeface="Inter" pitchFamily="34" charset="0"/>
                <a:ea typeface="Inter" pitchFamily="34" charset="-122"/>
                <a:cs typeface="Inter" pitchFamily="34" charset="-120"/>
              </a:rPr>
              <a:t>, and a trip to </a:t>
            </a:r>
            <a:pPr algn="l" indent="0" marL="0">
              <a:lnSpc>
                <a:spcPts val="1417"/>
              </a:lnSpc>
              <a:buNone/>
            </a:pPr>
            <a:r>
              <a:rPr lang="en-US" sz="1050" b="1" dirty="0">
                <a:solidFill>
                  <a:srgbClr val="448361"/>
                </a:solidFill>
                <a:latin typeface="Inter" pitchFamily="34" charset="0"/>
                <a:ea typeface="Inter" pitchFamily="34" charset="-122"/>
                <a:cs typeface="Inter" pitchFamily="34" charset="-120"/>
              </a:rPr>
              <a:t>Milan</a:t>
            </a:r>
            <a:pPr algn="l" indent="0" marL="0">
              <a:lnSpc>
                <a:spcPts val="1417"/>
              </a:lnSpc>
              <a:buNone/>
            </a:pPr>
            <a:r>
              <a:rPr lang="en-US" sz="1050" dirty="0">
                <a:solidFill>
                  <a:srgbClr val="37352F"/>
                </a:solidFill>
                <a:latin typeface="Inter" pitchFamily="34" charset="0"/>
                <a:ea typeface="Inter" pitchFamily="34" charset="-122"/>
                <a:cs typeface="Inter" pitchFamily="34" charset="-120"/>
              </a:rPr>
              <a:t>.</a:t>
            </a:r>
            <a:endParaRPr lang="en-US" sz="1050" dirty="0"/>
          </a:p>
        </p:txBody>
      </p:sp>
      <p:sp>
        <p:nvSpPr>
          <p:cNvPr id="31" name="!!key2-1"/>
          <p:cNvSpPr/>
          <p:nvPr/>
        </p:nvSpPr>
        <p:spPr>
          <a:xfrm>
            <a:off x="6438900" y="4572000"/>
            <a:ext cx="2095500" cy="255240"/>
          </a:xfrm>
          <a:prstGeom prst="roundRect">
            <a:avLst>
              <a:gd name="adj" fmla="val 11195"/>
            </a:avLst>
          </a:prstGeom>
          <a:solidFill>
            <a:srgbClr val="FDECC8"/>
          </a:solidFill>
          <a:ln/>
        </p:spPr>
      </p:sp>
      <p:sp>
        <p:nvSpPr>
          <p:cNvPr id="32" name="!!key2-2"/>
          <p:cNvSpPr txBox="1"/>
          <p:nvPr/>
        </p:nvSpPr>
        <p:spPr>
          <a:xfrm>
            <a:off x="6438900" y="45720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1983 · The trip to Milan</a:t>
            </a:r>
            <a:endParaRPr lang="en-US" sz="900" dirty="0"/>
          </a:p>
        </p:txBody>
      </p:sp>
      <p:sp>
        <p:nvSpPr>
          <p:cNvPr id="33" name="static"/>
          <p:cNvSpPr txBox="1"/>
          <p:nvPr/>
        </p:nvSpPr>
        <p:spPr>
          <a:xfrm>
            <a:off x="609600" y="4678710"/>
            <a:ext cx="2339950" cy="159990"/>
          </a:xfrm>
          <a:prstGeom prst="rect">
            <a:avLst/>
          </a:prstGeom>
          <a:noFill/>
          <a:ln/>
        </p:spPr>
        <p:txBody>
          <a:bodyPr wrap="none" lIns="0" tIns="0" rIns="0" bIns="0" rtlCol="0" anchor="ctr"/>
          <a:lstStyle/>
          <a:p>
            <a:pPr algn="l" indent="0" marL="0">
              <a:lnSpc>
                <a:spcPts val="1260"/>
              </a:lnSpc>
              <a:buNone/>
            </a:pPr>
            <a:r>
              <a:rPr lang="en-US" sz="900" dirty="0">
                <a:solidFill>
                  <a:srgbClr val="787774"/>
                </a:solidFill>
                <a:latin typeface="Inter" pitchFamily="34" charset="0"/>
                <a:ea typeface="Inter" pitchFamily="34" charset="-122"/>
                <a:cs typeface="Inter" pitchFamily="34" charset="-120"/>
              </a:rPr>
              <a:t>Slide 2 of 8 · Part 1 · The Foundation &amp; Origin</a:t>
            </a:r>
            <a:endParaRPr lang="en-US" sz="900" dirty="0"/>
          </a:p>
        </p:txBody>
      </p:sp>
      <p:sp>
        <p:nvSpPr>
          <p:cNvPr id="34" name="static"/>
          <p:cNvSpPr/>
          <p:nvPr/>
        </p:nvSpPr>
        <p:spPr>
          <a:xfrm>
            <a:off x="3140050" y="4730130"/>
            <a:ext cx="57150" cy="57150"/>
          </a:xfrm>
          <a:prstGeom prst="roundRect">
            <a:avLst>
              <a:gd name="adj" fmla="val 50000"/>
            </a:avLst>
          </a:prstGeom>
          <a:solidFill>
            <a:srgbClr val="787774"/>
          </a:solidFill>
          <a:ln/>
        </p:spPr>
      </p:sp>
      <p:sp>
        <p:nvSpPr>
          <p:cNvPr id="35" name="static"/>
          <p:cNvSpPr/>
          <p:nvPr/>
        </p:nvSpPr>
        <p:spPr>
          <a:xfrm>
            <a:off x="3244825" y="4730130"/>
            <a:ext cx="171450" cy="57150"/>
          </a:xfrm>
          <a:prstGeom prst="roundRect">
            <a:avLst>
              <a:gd name="adj" fmla="val 50000"/>
            </a:avLst>
          </a:prstGeom>
          <a:solidFill>
            <a:srgbClr val="37352F"/>
          </a:solidFill>
          <a:ln/>
        </p:spPr>
      </p:sp>
      <p:sp>
        <p:nvSpPr>
          <p:cNvPr id="36" name="static"/>
          <p:cNvSpPr/>
          <p:nvPr/>
        </p:nvSpPr>
        <p:spPr>
          <a:xfrm>
            <a:off x="3463900" y="4730130"/>
            <a:ext cx="57150" cy="57150"/>
          </a:xfrm>
          <a:prstGeom prst="roundRect">
            <a:avLst>
              <a:gd name="adj" fmla="val 50000"/>
            </a:avLst>
          </a:prstGeom>
          <a:solidFill>
            <a:srgbClr val="E3E2E0"/>
          </a:solidFill>
          <a:ln/>
        </p:spPr>
      </p:sp>
      <p:sp>
        <p:nvSpPr>
          <p:cNvPr id="37" name="static"/>
          <p:cNvSpPr/>
          <p:nvPr/>
        </p:nvSpPr>
        <p:spPr>
          <a:xfrm>
            <a:off x="3568675" y="4730130"/>
            <a:ext cx="57150" cy="57150"/>
          </a:xfrm>
          <a:prstGeom prst="roundRect">
            <a:avLst>
              <a:gd name="adj" fmla="val 50000"/>
            </a:avLst>
          </a:prstGeom>
          <a:solidFill>
            <a:srgbClr val="E3E2E0"/>
          </a:solidFill>
          <a:ln/>
        </p:spPr>
      </p:sp>
      <p:sp>
        <p:nvSpPr>
          <p:cNvPr id="38" name="static"/>
          <p:cNvSpPr/>
          <p:nvPr/>
        </p:nvSpPr>
        <p:spPr>
          <a:xfrm>
            <a:off x="3673450" y="4730130"/>
            <a:ext cx="57150" cy="57150"/>
          </a:xfrm>
          <a:prstGeom prst="roundRect">
            <a:avLst>
              <a:gd name="adj" fmla="val 50000"/>
            </a:avLst>
          </a:prstGeom>
          <a:solidFill>
            <a:srgbClr val="E3E2E0"/>
          </a:solidFill>
          <a:ln/>
        </p:spPr>
      </p:sp>
      <p:sp>
        <p:nvSpPr>
          <p:cNvPr id="39" name="static"/>
          <p:cNvSpPr/>
          <p:nvPr/>
        </p:nvSpPr>
        <p:spPr>
          <a:xfrm>
            <a:off x="3778225" y="4730130"/>
            <a:ext cx="57150" cy="57150"/>
          </a:xfrm>
          <a:prstGeom prst="roundRect">
            <a:avLst>
              <a:gd name="adj" fmla="val 50000"/>
            </a:avLst>
          </a:prstGeom>
          <a:solidFill>
            <a:srgbClr val="E3E2E0"/>
          </a:solidFill>
          <a:ln/>
        </p:spPr>
      </p:sp>
      <p:sp>
        <p:nvSpPr>
          <p:cNvPr id="40" name="static"/>
          <p:cNvSpPr/>
          <p:nvPr/>
        </p:nvSpPr>
        <p:spPr>
          <a:xfrm>
            <a:off x="3883000" y="4730130"/>
            <a:ext cx="57150" cy="57150"/>
          </a:xfrm>
          <a:prstGeom prst="roundRect">
            <a:avLst>
              <a:gd name="adj" fmla="val 50000"/>
            </a:avLst>
          </a:prstGeom>
          <a:solidFill>
            <a:srgbClr val="E3E2E0"/>
          </a:solidFill>
          <a:ln/>
        </p:spPr>
      </p:sp>
      <p:sp>
        <p:nvSpPr>
          <p:cNvPr id="41" name="static"/>
          <p:cNvSpPr/>
          <p:nvPr/>
        </p:nvSpPr>
        <p:spPr>
          <a:xfrm>
            <a:off x="3987775" y="4730130"/>
            <a:ext cx="57150" cy="57150"/>
          </a:xfrm>
          <a:prstGeom prst="roundRect">
            <a:avLst>
              <a:gd name="adj" fmla="val 50000"/>
            </a:avLst>
          </a:prstGeom>
          <a:solidFill>
            <a:srgbClr val="E3E2E0"/>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700"/>
                                        <p:tgtEl>
                                          <p:spTgt spid="7"/>
                                        </p:tgtEl>
                                      </p:cBhvr>
                                    </p:animEffect>
                                    <p:anim calcmode="lin" valueType="num">
                                      <p:cBhvr additive="base">
                                        <p:cTn id="6" dur="700" fill="hold"/>
                                        <p:tgtEl>
                                          <p:spTgt spid="7"/>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700"/>
                                        <p:tgtEl>
                                          <p:spTgt spid="8"/>
                                        </p:tgtEl>
                                      </p:cBhvr>
                                    </p:animEffect>
                                    <p:anim calcmode="lin" valueType="num">
                                      <p:cBhvr additive="base">
                                        <p:cTn id="10" dur="700" fill="hold"/>
                                        <p:tgtEl>
                                          <p:spTgt spid="8"/>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additive="base">
                                        <p:cTn id="14" dur="700" fill="hold"/>
                                        <p:tgtEl>
                                          <p:spTgt spid="9"/>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anim calcmode="lin" valueType="num">
                                      <p:cBhvr additive="base">
                                        <p:cTn id="18" dur="700" fill="hold"/>
                                        <p:tgtEl>
                                          <p:spTgt spid="10"/>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00"/>
                                        <p:tgtEl>
                                          <p:spTgt spid="11"/>
                                        </p:tgtEl>
                                      </p:cBhvr>
                                    </p:animEffect>
                                    <p:anim calcmode="lin" valueType="num">
                                      <p:cBhvr additive="base">
                                        <p:cTn id="22" dur="700" fill="hold"/>
                                        <p:tgtEl>
                                          <p:spTgt spid="11"/>
                                        </p:tgtEl>
                                        <p:attrNameLst>
                                          <p:attrName>ppt_y</p:attrName>
                                        </p:attrNameLst>
                                      </p:cBhvr>
                                      <p:tavLst>
                                        <p:tav tm="0">
                                          <p:val>
                                            <p:strVal val="#ppt_y+.08"/>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700"/>
                                        <p:tgtEl>
                                          <p:spTgt spid="12"/>
                                        </p:tgtEl>
                                      </p:cBhvr>
                                    </p:animEffect>
                                    <p:anim calcmode="lin" valueType="num">
                                      <p:cBhvr additive="base">
                                        <p:cTn id="26" dur="700" fill="hold"/>
                                        <p:tgtEl>
                                          <p:spTgt spid="12"/>
                                        </p:tgtEl>
                                        <p:attrNameLst>
                                          <p:attrName>ppt_y</p:attrName>
                                        </p:attrNameLst>
                                      </p:cBhvr>
                                      <p:tavLst>
                                        <p:tav tm="0">
                                          <p:val>
                                            <p:strVal val="#ppt_y+.0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700"/>
                                        <p:tgtEl>
                                          <p:spTgt spid="13"/>
                                        </p:tgtEl>
                                      </p:cBhvr>
                                    </p:animEffect>
                                    <p:anim calcmode="lin" valueType="num">
                                      <p:cBhvr additive="base">
                                        <p:cTn id="30" dur="700" fill="hold"/>
                                        <p:tgtEl>
                                          <p:spTgt spid="13"/>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700"/>
                                        <p:tgtEl>
                                          <p:spTgt spid="14"/>
                                        </p:tgtEl>
                                      </p:cBhvr>
                                    </p:animEffect>
                                    <p:anim calcmode="lin" valueType="num">
                                      <p:cBhvr additive="base">
                                        <p:cTn id="34" dur="700" fill="hold"/>
                                        <p:tgtEl>
                                          <p:spTgt spid="14"/>
                                        </p:tgtEl>
                                        <p:attrNameLst>
                                          <p:attrName>ppt_y</p:attrName>
                                        </p:attrNameLst>
                                      </p:cBhvr>
                                      <p:tavLst>
                                        <p:tav tm="0">
                                          <p:val>
                                            <p:strVal val="#ppt_y+.08"/>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700"/>
                                        <p:tgtEl>
                                          <p:spTgt spid="15"/>
                                        </p:tgtEl>
                                      </p:cBhvr>
                                    </p:animEffect>
                                    <p:anim calcmode="lin" valueType="num">
                                      <p:cBhvr additive="base">
                                        <p:cTn id="38" dur="700" fill="hold"/>
                                        <p:tgtEl>
                                          <p:spTgt spid="15"/>
                                        </p:tgtEl>
                                        <p:attrNameLst>
                                          <p:attrName>ppt_y</p:attrName>
                                        </p:attrNameLst>
                                      </p:cBhvr>
                                      <p:tavLst>
                                        <p:tav tm="0">
                                          <p:val>
                                            <p:strVal val="#ppt_y+.0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700"/>
                                        <p:tgtEl>
                                          <p:spTgt spid="16"/>
                                        </p:tgtEl>
                                      </p:cBhvr>
                                    </p:animEffect>
                                    <p:anim calcmode="lin" valueType="num">
                                      <p:cBhvr additive="base">
                                        <p:cTn id="42" dur="700" fill="hold"/>
                                        <p:tgtEl>
                                          <p:spTgt spid="16"/>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700"/>
                                        <p:tgtEl>
                                          <p:spTgt spid="17"/>
                                        </p:tgtEl>
                                      </p:cBhvr>
                                    </p:animEffect>
                                    <p:anim calcmode="lin" valueType="num">
                                      <p:cBhvr additive="base">
                                        <p:cTn id="46" dur="700" fill="hold"/>
                                        <p:tgtEl>
                                          <p:spTgt spid="17"/>
                                        </p:tgtEl>
                                        <p:attrNameLst>
                                          <p:attrName>ppt_y</p:attrName>
                                        </p:attrNameLst>
                                      </p:cBhvr>
                                      <p:tavLst>
                                        <p:tav tm="0">
                                          <p:val>
                                            <p:strVal val="#ppt_y+.0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700"/>
                                        <p:tgtEl>
                                          <p:spTgt spid="18"/>
                                        </p:tgtEl>
                                      </p:cBhvr>
                                    </p:animEffect>
                                    <p:anim calcmode="lin" valueType="num">
                                      <p:cBhvr additive="base">
                                        <p:cTn id="50" dur="700" fill="hold"/>
                                        <p:tgtEl>
                                          <p:spTgt spid="18"/>
                                        </p:tgtEl>
                                        <p:attrNameLst>
                                          <p:attrName>ppt_y</p:attrName>
                                        </p:attrNameLst>
                                      </p:cBhvr>
                                      <p:tavLst>
                                        <p:tav tm="0">
                                          <p:val>
                                            <p:strVal val="#ppt_y+.08"/>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700"/>
                                        <p:tgtEl>
                                          <p:spTgt spid="19"/>
                                        </p:tgtEl>
                                      </p:cBhvr>
                                    </p:animEffect>
                                    <p:anim calcmode="lin" valueType="num">
                                      <p:cBhvr additive="base">
                                        <p:cTn id="56" dur="700" fill="hold"/>
                                        <p:tgtEl>
                                          <p:spTgt spid="19"/>
                                        </p:tgtEl>
                                        <p:attrNameLst>
                                          <p:attrName>ppt_y</p:attrName>
                                        </p:attrNameLst>
                                      </p:cBhvr>
                                      <p:tavLst>
                                        <p:tav tm="0">
                                          <p:val>
                                            <p:strVal val="#ppt_y+.08"/>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700"/>
                                        <p:tgtEl>
                                          <p:spTgt spid="20"/>
                                        </p:tgtEl>
                                      </p:cBhvr>
                                    </p:animEffect>
                                    <p:anim calcmode="lin" valueType="num">
                                      <p:cBhvr additive="base">
                                        <p:cTn id="60" dur="700" fill="hold"/>
                                        <p:tgtEl>
                                          <p:spTgt spid="20"/>
                                        </p:tgtEl>
                                        <p:attrNameLst>
                                          <p:attrName>ppt_y</p:attrName>
                                        </p:attrNameLst>
                                      </p:cBhvr>
                                      <p:tavLst>
                                        <p:tav tm="0">
                                          <p:val>
                                            <p:strVal val="#ppt_y+.08"/>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700"/>
                                        <p:tgtEl>
                                          <p:spTgt spid="21"/>
                                        </p:tgtEl>
                                      </p:cBhvr>
                                    </p:animEffect>
                                    <p:anim calcmode="lin" valueType="num">
                                      <p:cBhvr additive="base">
                                        <p:cTn id="64" dur="700" fill="hold"/>
                                        <p:tgtEl>
                                          <p:spTgt spid="21"/>
                                        </p:tgtEl>
                                        <p:attrNameLst>
                                          <p:attrName>ppt_y</p:attrName>
                                        </p:attrNameLst>
                                      </p:cBhvr>
                                      <p:tavLst>
                                        <p:tav tm="0">
                                          <p:val>
                                            <p:strVal val="#ppt_y+.0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700"/>
                                        <p:tgtEl>
                                          <p:spTgt spid="22"/>
                                        </p:tgtEl>
                                      </p:cBhvr>
                                    </p:animEffect>
                                    <p:anim calcmode="lin" valueType="num">
                                      <p:cBhvr additive="base">
                                        <p:cTn id="68" dur="700" fill="hold"/>
                                        <p:tgtEl>
                                          <p:spTgt spid="22"/>
                                        </p:tgtEl>
                                        <p:attrNameLst>
                                          <p:attrName>ppt_y</p:attrName>
                                        </p:attrNameLst>
                                      </p:cBhvr>
                                      <p:tavLst>
                                        <p:tav tm="0">
                                          <p:val>
                                            <p:strVal val="#ppt_y+.0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700"/>
                                        <p:tgtEl>
                                          <p:spTgt spid="23"/>
                                        </p:tgtEl>
                                      </p:cBhvr>
                                    </p:animEffect>
                                    <p:anim calcmode="lin" valueType="num">
                                      <p:cBhvr additive="base">
                                        <p:cTn id="72" dur="700" fill="hold"/>
                                        <p:tgtEl>
                                          <p:spTgt spid="23"/>
                                        </p:tgtEl>
                                        <p:attrNameLst>
                                          <p:attrName>ppt_y</p:attrName>
                                        </p:attrNameLst>
                                      </p:cBhvr>
                                      <p:tavLst>
                                        <p:tav tm="0">
                                          <p:val>
                                            <p:strVal val="#ppt_y+.08"/>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700"/>
                                        <p:tgtEl>
                                          <p:spTgt spid="24"/>
                                        </p:tgtEl>
                                      </p:cBhvr>
                                    </p:animEffect>
                                    <p:anim calcmode="lin" valueType="num">
                                      <p:cBhvr additive="base">
                                        <p:cTn id="76" dur="700" fill="hold"/>
                                        <p:tgtEl>
                                          <p:spTgt spid="24"/>
                                        </p:tgtEl>
                                        <p:attrNameLst>
                                          <p:attrName>ppt_y</p:attrName>
                                        </p:attrNameLst>
                                      </p:cBhvr>
                                      <p:tavLst>
                                        <p:tav tm="0">
                                          <p:val>
                                            <p:strVal val="#ppt_y+.08"/>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700"/>
                                        <p:tgtEl>
                                          <p:spTgt spid="25"/>
                                        </p:tgtEl>
                                      </p:cBhvr>
                                    </p:animEffect>
                                    <p:anim calcmode="lin" valueType="num">
                                      <p:cBhvr additive="base">
                                        <p:cTn id="80" dur="700" fill="hold"/>
                                        <p:tgtEl>
                                          <p:spTgt spid="25"/>
                                        </p:tgtEl>
                                        <p:attrNameLst>
                                          <p:attrName>ppt_y</p:attrName>
                                        </p:attrNameLst>
                                      </p:cBhvr>
                                      <p:tavLst>
                                        <p:tav tm="0">
                                          <p:val>
                                            <p:strVal val="#ppt_y+.08"/>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700"/>
                                        <p:tgtEl>
                                          <p:spTgt spid="26"/>
                                        </p:tgtEl>
                                      </p:cBhvr>
                                    </p:animEffect>
                                    <p:anim calcmode="lin" valueType="num">
                                      <p:cBhvr additive="base">
                                        <p:cTn id="84" dur="700" fill="hold"/>
                                        <p:tgtEl>
                                          <p:spTgt spid="26"/>
                                        </p:tgtEl>
                                        <p:attrNameLst>
                                          <p:attrName>ppt_y</p:attrName>
                                        </p:attrNameLst>
                                      </p:cBhvr>
                                      <p:tavLst>
                                        <p:tav tm="0">
                                          <p:val>
                                            <p:strVal val="#ppt_y+.08"/>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700"/>
                                        <p:tgtEl>
                                          <p:spTgt spid="27"/>
                                        </p:tgtEl>
                                      </p:cBhvr>
                                    </p:animEffect>
                                    <p:anim calcmode="lin" valueType="num">
                                      <p:cBhvr additive="base">
                                        <p:cTn id="88" dur="700" fill="hold"/>
                                        <p:tgtEl>
                                          <p:spTgt spid="27"/>
                                        </p:tgtEl>
                                        <p:attrNameLst>
                                          <p:attrName>ppt_y</p:attrName>
                                        </p:attrNameLst>
                                      </p:cBhvr>
                                      <p:tavLst>
                                        <p:tav tm="0">
                                          <p:val>
                                            <p:strVal val="#ppt_y+.08"/>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fade">
                                      <p:cBhvr>
                                        <p:cTn id="93" dur="500"/>
                                        <p:tgtEl>
                                          <p:spTgt spid="28"/>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fade">
                                      <p:cBhvr>
                                        <p:cTn id="96" dur="500"/>
                                        <p:tgtEl>
                                          <p:spTgt spid="2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0"/>
                                        </p:tgtEl>
                                        <p:attrNameLst>
                                          <p:attrName>style.visibility</p:attrName>
                                        </p:attrNameLst>
                                      </p:cBhvr>
                                      <p:to>
                                        <p:strVal val="visible"/>
                                      </p:to>
                                    </p:set>
                                    <p:animEffect transition="in" filter="fade">
                                      <p:cBhvr>
                                        <p:cTn id="99" dur="500"/>
                                        <p:tgtEl>
                                          <p:spTgt spid="30"/>
                                        </p:tgtEl>
                                      </p:cBhvr>
                                    </p:animEffect>
                                  </p:childTnLst>
                                </p:cTn>
                              </p:par>
                            </p:childTnLst>
                          </p:cTn>
                        </p:par>
                      </p:childTnLst>
                    </p:cTn>
                  </p:par>
                  <p:par>
                    <p:cTn id="110" fill="hold">
                      <p:stCondLst>
                        <p:cond delay="indefinite"/>
                      </p:stCondLst>
                      <p:childTnLst>
                        <p:par>
                          <p:cTn id="111" fill="hold">
                            <p:stCondLst>
                              <p:cond delay="0"/>
                            </p:stCondLst>
                            <p:childTnLst>
                              <p:par>
                                <p:cTn id="102" presetID="23" presetClass="entr" presetSubtype="16" fill="hold" grpId="0" nodeType="clickEffect">
                                  <p:stCondLst>
                                    <p:cond delay="0"/>
                                  </p:stCondLst>
                                  <p:childTnLst>
                                    <p:set>
                                      <p:cBhvr>
                                        <p:cTn id="103" dur="1" fill="hold">
                                          <p:stCondLst>
                                            <p:cond delay="0"/>
                                          </p:stCondLst>
                                        </p:cTn>
                                        <p:tgtEl>
                                          <p:spTgt spid="31"/>
                                        </p:tgtEl>
                                        <p:attrNameLst>
                                          <p:attrName>style.visibility</p:attrName>
                                        </p:attrNameLst>
                                      </p:cBhvr>
                                      <p:to>
                                        <p:strVal val="visible"/>
                                      </p:to>
                                    </p:set>
                                    <p:animScale>
                                      <p:cBhvr>
                                        <p:cTn id="104" dur="500" fill="hold"/>
                                        <p:tgtEl>
                                          <p:spTgt spid="31"/>
                                        </p:tgtEl>
                                      </p:cBhvr>
                                      <p:from x="0" y="0"/>
                                      <p:to x="100000" y="100000"/>
                                    </p:animScale>
                                    <p:animEffect transition="in" filter="fade">
                                      <p:cBhvr>
                                        <p:cTn id="105" dur="500"/>
                                        <p:tgtEl>
                                          <p:spTgt spid="31"/>
                                        </p:tgtEl>
                                      </p:cBhvr>
                                    </p:animEffect>
                                  </p:childTnLst>
                                </p:cTn>
                              </p:par>
                              <p:par>
                                <p:cTn id="106" presetID="23" presetClass="entr" presetSubtype="16" fill="hold" grpId="0" nodeType="withEffect">
                                  <p:stCondLst>
                                    <p:cond delay="0"/>
                                  </p:stCondLst>
                                  <p:childTnLst>
                                    <p:set>
                                      <p:cBhvr>
                                        <p:cTn id="107" dur="1" fill="hold">
                                          <p:stCondLst>
                                            <p:cond delay="0"/>
                                          </p:stCondLst>
                                        </p:cTn>
                                        <p:tgtEl>
                                          <p:spTgt spid="32"/>
                                        </p:tgtEl>
                                        <p:attrNameLst>
                                          <p:attrName>style.visibility</p:attrName>
                                        </p:attrNameLst>
                                      </p:cBhvr>
                                      <p:to>
                                        <p:strVal val="visible"/>
                                      </p:to>
                                    </p:set>
                                    <p:animScale>
                                      <p:cBhvr>
                                        <p:cTn id="108" dur="500" fill="hold"/>
                                        <p:tgtEl>
                                          <p:spTgt spid="32"/>
                                        </p:tgtEl>
                                      </p:cBhvr>
                                      <p:from x="0" y="0"/>
                                      <p:to x="100000" y="100000"/>
                                    </p:animScale>
                                    <p:animEffect transition="in" filter="fade">
                                      <p:cBhvr>
                                        <p:cTn id="10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28613"/>
          </a:xfrm>
          <a:prstGeom prst="rect">
            <a:avLst/>
          </a:prstGeom>
          <a:noFill/>
          <a:ln/>
        </p:spPr>
        <p:txBody>
          <a:bodyPr wrap="none" lIns="0" tIns="0" rIns="0" bIns="0" rtlCol="0" anchor="ctr"/>
          <a:lstStyle/>
          <a:p>
            <a:pPr algn="l" indent="0" marL="0">
              <a:lnSpc>
                <a:spcPts val="2588"/>
              </a:lnSpc>
              <a:buNone/>
            </a:pPr>
            <a:r>
              <a:rPr lang="en-US" sz="2250" b="1" dirty="0">
                <a:solidFill>
                  <a:srgbClr val="37352F"/>
                </a:solidFill>
                <a:latin typeface="Inter" pitchFamily="34" charset="0"/>
                <a:ea typeface="Inter" pitchFamily="34" charset="-122"/>
                <a:cs typeface="Inter" pitchFamily="34" charset="-120"/>
              </a:rPr>
              <a:t>Chapter 2: The Italian Inspiration</a:t>
            </a:r>
            <a:endParaRPr lang="en-US" sz="2250" dirty="0"/>
          </a:p>
        </p:txBody>
      </p:sp>
      <p:sp>
        <p:nvSpPr>
          <p:cNvPr id="3" name="static"/>
          <p:cNvSpPr txBox="1"/>
          <p:nvPr/>
        </p:nvSpPr>
        <p:spPr>
          <a:xfrm>
            <a:off x="609600" y="1204913"/>
            <a:ext cx="6686550" cy="210443"/>
          </a:xfrm>
          <a:prstGeom prst="rect">
            <a:avLst/>
          </a:prstGeom>
          <a:noFill/>
          <a:ln/>
        </p:spPr>
        <p:txBody>
          <a:bodyPr wrap="none" lIns="0" tIns="0" rIns="0" bIns="0" rtlCol="0" anchor="ctr"/>
          <a:lstStyle/>
          <a:p>
            <a:pPr algn="l" indent="0" marL="0">
              <a:lnSpc>
                <a:spcPts val="1658"/>
              </a:lnSpc>
              <a:buNone/>
            </a:pPr>
            <a:r>
              <a:rPr lang="en-US" sz="1275" dirty="0">
                <a:solidFill>
                  <a:srgbClr val="37352F"/>
                </a:solidFill>
                <a:latin typeface="Inter" pitchFamily="34" charset="0"/>
                <a:ea typeface="Inter" pitchFamily="34" charset="-122"/>
                <a:cs typeface="Inter" pitchFamily="34" charset="-120"/>
              </a:rPr>
              <a:t>How a Trip to Milan Changed Coffee History</a:t>
            </a:r>
            <a:endParaRPr lang="en-US" sz="1275"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PART 2 · THE TURNING POINT</a:t>
            </a:r>
            <a:endParaRPr lang="en-US" sz="825" dirty="0"/>
          </a:p>
        </p:txBody>
      </p:sp>
      <p:sp>
        <p:nvSpPr>
          <p:cNvPr id="5" name="!!key2-1"/>
          <p:cNvSpPr/>
          <p:nvPr/>
        </p:nvSpPr>
        <p:spPr>
          <a:xfrm>
            <a:off x="6438900" y="419100"/>
            <a:ext cx="2095500" cy="255240"/>
          </a:xfrm>
          <a:prstGeom prst="roundRect">
            <a:avLst>
              <a:gd name="adj" fmla="val 11195"/>
            </a:avLst>
          </a:prstGeom>
          <a:solidFill>
            <a:srgbClr val="FDECC8"/>
          </a:solidFill>
          <a:ln/>
        </p:spPr>
      </p:sp>
      <p:sp>
        <p:nvSpPr>
          <p:cNvPr id="6" name="!!key2-2"/>
          <p:cNvSpPr txBox="1"/>
          <p:nvPr/>
        </p:nvSpPr>
        <p:spPr>
          <a:xfrm>
            <a:off x="6438900" y="4191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1983 · The trip to Milan</a:t>
            </a:r>
            <a:endParaRPr lang="en-US" sz="900" dirty="0"/>
          </a:p>
        </p:txBody>
      </p:sp>
      <p:sp>
        <p:nvSpPr>
          <p:cNvPr id="7" name="static"/>
          <p:cNvSpPr/>
          <p:nvPr/>
        </p:nvSpPr>
        <p:spPr>
          <a:xfrm>
            <a:off x="1890712" y="1776413"/>
            <a:ext cx="5362575" cy="19050"/>
          </a:xfrm>
          <a:prstGeom prst="roundRect">
            <a:avLst>
              <a:gd name="adj" fmla="val 50000"/>
            </a:avLst>
          </a:prstGeom>
          <a:solidFill>
            <a:srgbClr val="E3E2E0"/>
          </a:solidFill>
          <a:ln/>
        </p:spPr>
      </p:sp>
      <p:sp>
        <p:nvSpPr>
          <p:cNvPr id="8" name="b1:rise"/>
          <p:cNvSpPr/>
          <p:nvPr/>
        </p:nvSpPr>
        <p:spPr>
          <a:xfrm>
            <a:off x="1621706" y="1676400"/>
            <a:ext cx="542776" cy="217140"/>
          </a:xfrm>
          <a:prstGeom prst="roundRect">
            <a:avLst>
              <a:gd name="adj" fmla="val 13160"/>
            </a:avLst>
          </a:prstGeom>
          <a:solidFill>
            <a:srgbClr val="E3E2E0"/>
          </a:solidFill>
          <a:ln/>
        </p:spPr>
      </p:sp>
      <p:sp>
        <p:nvSpPr>
          <p:cNvPr id="9" name="b1:rise"/>
          <p:cNvSpPr txBox="1"/>
          <p:nvPr/>
        </p:nvSpPr>
        <p:spPr>
          <a:xfrm>
            <a:off x="1621706" y="1676400"/>
            <a:ext cx="586198" cy="217140"/>
          </a:xfrm>
          <a:prstGeom prst="rect">
            <a:avLst/>
          </a:prstGeom>
          <a:noFill/>
          <a:ln/>
        </p:spPr>
        <p:txBody>
          <a:bodyPr wrap="none" lIns="104775" tIns="0" rIns="104775" bIns="0" rtlCol="0" anchor="ctr"/>
          <a:lstStyle/>
          <a:p>
            <a:pPr algn="l" indent="0" marL="0">
              <a:lnSpc>
                <a:spcPts val="1260"/>
              </a:lnSpc>
              <a:buNone/>
            </a:pPr>
            <a:r>
              <a:rPr lang="en-US" sz="900" b="1" spc="75" kern="0" dirty="0">
                <a:solidFill>
                  <a:srgbClr val="32302C"/>
                </a:solidFill>
                <a:latin typeface="Inter" pitchFamily="34" charset="0"/>
                <a:ea typeface="Inter" pitchFamily="34" charset="-122"/>
                <a:cs typeface="Inter" pitchFamily="34" charset="-120"/>
              </a:rPr>
              <a:t>1983</a:t>
            </a:r>
            <a:endParaRPr lang="en-US" sz="900" dirty="0"/>
          </a:p>
        </p:txBody>
      </p:sp>
      <p:sp>
        <p:nvSpPr>
          <p:cNvPr id="10" name="b1:rise"/>
          <p:cNvSpPr/>
          <p:nvPr/>
        </p:nvSpPr>
        <p:spPr>
          <a:xfrm>
            <a:off x="609600" y="1988790"/>
            <a:ext cx="2566988" cy="1428750"/>
          </a:xfrm>
          <a:prstGeom prst="roundRect">
            <a:avLst>
              <a:gd name="adj" fmla="val 2667"/>
            </a:avLst>
          </a:prstGeom>
          <a:solidFill>
            <a:srgbClr val="FFFFFF"/>
          </a:solidFill>
          <a:ln w="6350">
            <a:solidFill>
              <a:srgbClr val="E9E9E7"/>
            </a:solidFill>
            <a:prstDash val="solid"/>
          </a:ln>
        </p:spPr>
      </p:sp>
      <p:sp>
        <p:nvSpPr>
          <p:cNvPr id="11" name="b1:rise"/>
          <p:cNvSpPr txBox="1"/>
          <p:nvPr/>
        </p:nvSpPr>
        <p:spPr>
          <a:xfrm>
            <a:off x="766763" y="2145953"/>
            <a:ext cx="2432876"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The Discovery</a:t>
            </a:r>
            <a:endParaRPr lang="en-US" sz="1350" dirty="0"/>
          </a:p>
        </p:txBody>
      </p:sp>
      <p:sp>
        <p:nvSpPr>
          <p:cNvPr id="12" name="b1:rise"/>
          <p:cNvSpPr txBox="1"/>
          <p:nvPr/>
        </p:nvSpPr>
        <p:spPr>
          <a:xfrm>
            <a:off x="766763" y="2408783"/>
            <a:ext cx="2342769" cy="746522"/>
          </a:xfrm>
          <a:prstGeom prst="rect">
            <a:avLst/>
          </a:prstGeom>
          <a:noFill/>
          <a:ln/>
        </p:spPr>
        <p:txBody>
          <a:bodyPr wrap="square" lIns="0" tIns="0" rIns="0" bIns="0" rtlCol="0" anchor="t"/>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Howard Schultz visits Milan's espresso bars. He notices they aren't just selling drinks: they serve as vibrant </a:t>
            </a:r>
            <a:pPr algn="l" indent="0" marL="0">
              <a:lnSpc>
                <a:spcPts val="1470"/>
              </a:lnSpc>
              <a:buNone/>
            </a:pPr>
            <a:r>
              <a:rPr lang="en-US" sz="1050" b="1" dirty="0">
                <a:solidFill>
                  <a:srgbClr val="37352F"/>
                </a:solidFill>
                <a:latin typeface="Inter" pitchFamily="34" charset="0"/>
                <a:ea typeface="Inter" pitchFamily="34" charset="-122"/>
                <a:cs typeface="Inter" pitchFamily="34" charset="-120"/>
              </a:rPr>
              <a:t>community living rooms</a:t>
            </a:r>
            <a:pPr algn="l" indent="0" marL="0">
              <a:lnSpc>
                <a:spcPts val="1470"/>
              </a:lnSpc>
              <a:buNone/>
            </a:pPr>
            <a:r>
              <a:rPr lang="en-US" sz="1050" dirty="0">
                <a:solidFill>
                  <a:srgbClr val="37352F"/>
                </a:solidFill>
                <a:latin typeface="Inter" pitchFamily="34" charset="0"/>
                <a:ea typeface="Inter" pitchFamily="34" charset="-122"/>
                <a:cs typeface="Inter" pitchFamily="34" charset="-120"/>
              </a:rPr>
              <a:t>.</a:t>
            </a:r>
            <a:endParaRPr lang="en-US" sz="1050" dirty="0"/>
          </a:p>
        </p:txBody>
      </p:sp>
      <p:sp>
        <p:nvSpPr>
          <p:cNvPr id="13" name="b2:rise"/>
          <p:cNvSpPr/>
          <p:nvPr/>
        </p:nvSpPr>
        <p:spPr>
          <a:xfrm>
            <a:off x="4198144" y="1676400"/>
            <a:ext cx="752475" cy="217140"/>
          </a:xfrm>
          <a:prstGeom prst="roundRect">
            <a:avLst>
              <a:gd name="adj" fmla="val 13160"/>
            </a:avLst>
          </a:prstGeom>
          <a:solidFill>
            <a:srgbClr val="FDECC8"/>
          </a:solidFill>
          <a:ln/>
        </p:spPr>
      </p:sp>
      <p:sp>
        <p:nvSpPr>
          <p:cNvPr id="14" name="b2:rise"/>
          <p:cNvSpPr txBox="1"/>
          <p:nvPr/>
        </p:nvSpPr>
        <p:spPr>
          <a:xfrm>
            <a:off x="4198144" y="1676400"/>
            <a:ext cx="812673" cy="217140"/>
          </a:xfrm>
          <a:prstGeom prst="rect">
            <a:avLst/>
          </a:prstGeom>
          <a:noFill/>
          <a:ln/>
        </p:spPr>
        <p:txBody>
          <a:bodyPr wrap="none" lIns="104775" tIns="0" rIns="104775" bIns="0" rtlCol="0" anchor="ctr"/>
          <a:lstStyle/>
          <a:p>
            <a:pPr algn="l" indent="0" marL="0">
              <a:lnSpc>
                <a:spcPts val="1260"/>
              </a:lnSpc>
              <a:buNone/>
            </a:pPr>
            <a:r>
              <a:rPr lang="en-US" sz="900" b="1" spc="75" kern="0" dirty="0">
                <a:solidFill>
                  <a:srgbClr val="402C1B"/>
                </a:solidFill>
                <a:latin typeface="Inter" pitchFamily="34" charset="0"/>
                <a:ea typeface="Inter" pitchFamily="34" charset="-122"/>
                <a:cs typeface="Inter" pitchFamily="34" charset="-120"/>
              </a:rPr>
              <a:t>The Idea</a:t>
            </a:r>
            <a:endParaRPr lang="en-US" sz="900" dirty="0"/>
          </a:p>
        </p:txBody>
      </p:sp>
      <p:sp>
        <p:nvSpPr>
          <p:cNvPr id="15" name="b2:rise"/>
          <p:cNvSpPr/>
          <p:nvPr/>
        </p:nvSpPr>
        <p:spPr>
          <a:xfrm>
            <a:off x="3290887" y="1988790"/>
            <a:ext cx="2566988" cy="1428750"/>
          </a:xfrm>
          <a:prstGeom prst="roundRect">
            <a:avLst>
              <a:gd name="adj" fmla="val 2667"/>
            </a:avLst>
          </a:prstGeom>
          <a:solidFill>
            <a:srgbClr val="FFFFFF"/>
          </a:solidFill>
          <a:ln w="6350">
            <a:solidFill>
              <a:srgbClr val="E9E9E7"/>
            </a:solidFill>
            <a:prstDash val="solid"/>
          </a:ln>
        </p:spPr>
      </p:sp>
      <p:sp>
        <p:nvSpPr>
          <p:cNvPr id="16" name="b2:rise"/>
          <p:cNvSpPr txBox="1"/>
          <p:nvPr/>
        </p:nvSpPr>
        <p:spPr>
          <a:xfrm>
            <a:off x="3448050" y="2145953"/>
            <a:ext cx="2432876"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The Vision</a:t>
            </a:r>
            <a:endParaRPr lang="en-US" sz="1350" dirty="0"/>
          </a:p>
        </p:txBody>
      </p:sp>
      <p:sp>
        <p:nvSpPr>
          <p:cNvPr id="17" name="b2:rise"/>
          <p:cNvSpPr txBox="1"/>
          <p:nvPr/>
        </p:nvSpPr>
        <p:spPr>
          <a:xfrm>
            <a:off x="3448050" y="2408783"/>
            <a:ext cx="2342769" cy="746522"/>
          </a:xfrm>
          <a:prstGeom prst="rect">
            <a:avLst/>
          </a:prstGeom>
          <a:noFill/>
          <a:ln/>
        </p:spPr>
        <p:txBody>
          <a:bodyPr wrap="square" lIns="0" tIns="0" rIns="0" bIns="0" rtlCol="0" anchor="t"/>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America needs an authentic espresso culture built around </a:t>
            </a:r>
            <a:pPr algn="l" indent="0" marL="0">
              <a:lnSpc>
                <a:spcPts val="1470"/>
              </a:lnSpc>
              <a:buNone/>
            </a:pPr>
            <a:r>
              <a:rPr lang="en-US" sz="1050" b="1" dirty="0">
                <a:solidFill>
                  <a:srgbClr val="37352F"/>
                </a:solidFill>
                <a:latin typeface="Inter" pitchFamily="34" charset="0"/>
                <a:ea typeface="Inter" pitchFamily="34" charset="-122"/>
                <a:cs typeface="Inter" pitchFamily="34" charset="-120"/>
              </a:rPr>
              <a:t>human connection, speed, and craftsmanship</a:t>
            </a:r>
            <a:pPr algn="l" indent="0" marL="0">
              <a:lnSpc>
                <a:spcPts val="1470"/>
              </a:lnSpc>
              <a:buNone/>
            </a:pPr>
            <a:r>
              <a:rPr lang="en-US" sz="1050" dirty="0">
                <a:solidFill>
                  <a:srgbClr val="37352F"/>
                </a:solidFill>
                <a:latin typeface="Inter" pitchFamily="34" charset="0"/>
                <a:ea typeface="Inter" pitchFamily="34" charset="-122"/>
                <a:cs typeface="Inter" pitchFamily="34" charset="-120"/>
              </a:rPr>
              <a:t>.</a:t>
            </a:r>
            <a:endParaRPr lang="en-US" sz="1050" dirty="0"/>
          </a:p>
        </p:txBody>
      </p:sp>
      <p:sp>
        <p:nvSpPr>
          <p:cNvPr id="18" name="b3:rise"/>
          <p:cNvSpPr/>
          <p:nvPr/>
        </p:nvSpPr>
        <p:spPr>
          <a:xfrm>
            <a:off x="6981899" y="1676400"/>
            <a:ext cx="542776" cy="217140"/>
          </a:xfrm>
          <a:prstGeom prst="roundRect">
            <a:avLst>
              <a:gd name="adj" fmla="val 13160"/>
            </a:avLst>
          </a:prstGeom>
          <a:solidFill>
            <a:srgbClr val="E3E2E0"/>
          </a:solidFill>
          <a:ln/>
        </p:spPr>
      </p:sp>
      <p:sp>
        <p:nvSpPr>
          <p:cNvPr id="19" name="b3:rise"/>
          <p:cNvSpPr txBox="1"/>
          <p:nvPr/>
        </p:nvSpPr>
        <p:spPr>
          <a:xfrm>
            <a:off x="6981899" y="1676400"/>
            <a:ext cx="586198" cy="217140"/>
          </a:xfrm>
          <a:prstGeom prst="rect">
            <a:avLst/>
          </a:prstGeom>
          <a:noFill/>
          <a:ln/>
        </p:spPr>
        <p:txBody>
          <a:bodyPr wrap="none" lIns="104775" tIns="0" rIns="104775" bIns="0" rtlCol="0" anchor="ctr"/>
          <a:lstStyle/>
          <a:p>
            <a:pPr algn="l" indent="0" marL="0">
              <a:lnSpc>
                <a:spcPts val="1260"/>
              </a:lnSpc>
              <a:buNone/>
            </a:pPr>
            <a:r>
              <a:rPr lang="en-US" sz="900" b="1" spc="75" kern="0" dirty="0">
                <a:solidFill>
                  <a:srgbClr val="32302C"/>
                </a:solidFill>
                <a:latin typeface="Inter" pitchFamily="34" charset="0"/>
                <a:ea typeface="Inter" pitchFamily="34" charset="-122"/>
                <a:cs typeface="Inter" pitchFamily="34" charset="-120"/>
              </a:rPr>
              <a:t>1987</a:t>
            </a:r>
            <a:endParaRPr lang="en-US" sz="900" dirty="0"/>
          </a:p>
        </p:txBody>
      </p:sp>
      <p:sp>
        <p:nvSpPr>
          <p:cNvPr id="20" name="b3:rise"/>
          <p:cNvSpPr/>
          <p:nvPr/>
        </p:nvSpPr>
        <p:spPr>
          <a:xfrm>
            <a:off x="5972175" y="1988790"/>
            <a:ext cx="2562225" cy="1428750"/>
          </a:xfrm>
          <a:prstGeom prst="roundRect">
            <a:avLst>
              <a:gd name="adj" fmla="val 2667"/>
            </a:avLst>
          </a:prstGeom>
          <a:solidFill>
            <a:srgbClr val="FFFFFF"/>
          </a:solidFill>
          <a:ln w="6350">
            <a:solidFill>
              <a:srgbClr val="E9E9E7"/>
            </a:solidFill>
            <a:prstDash val="solid"/>
          </a:ln>
        </p:spPr>
      </p:sp>
      <p:sp>
        <p:nvSpPr>
          <p:cNvPr id="21" name="b3:rise"/>
          <p:cNvSpPr txBox="1"/>
          <p:nvPr/>
        </p:nvSpPr>
        <p:spPr>
          <a:xfrm>
            <a:off x="6129338" y="2145953"/>
            <a:ext cx="2427732"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The Acquisition</a:t>
            </a:r>
            <a:endParaRPr lang="en-US" sz="1350" dirty="0"/>
          </a:p>
        </p:txBody>
      </p:sp>
      <p:sp>
        <p:nvSpPr>
          <p:cNvPr id="22" name="b3:rise"/>
          <p:cNvSpPr txBox="1"/>
          <p:nvPr/>
        </p:nvSpPr>
        <p:spPr>
          <a:xfrm>
            <a:off x="6129338" y="2408783"/>
            <a:ext cx="2337816" cy="746522"/>
          </a:xfrm>
          <a:prstGeom prst="rect">
            <a:avLst/>
          </a:prstGeom>
          <a:noFill/>
          <a:ln/>
        </p:spPr>
        <p:txBody>
          <a:bodyPr wrap="square" lIns="0" tIns="0" rIns="0" bIns="0" rtlCol="0" anchor="t"/>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Schultz buys Starbucks for </a:t>
            </a:r>
            <a:pPr algn="l" indent="0" marL="0">
              <a:lnSpc>
                <a:spcPts val="1470"/>
              </a:lnSpc>
              <a:buNone/>
            </a:pPr>
            <a:r>
              <a:rPr lang="en-US" sz="1050" b="1" dirty="0">
                <a:solidFill>
                  <a:srgbClr val="448361"/>
                </a:solidFill>
                <a:latin typeface="Inter" pitchFamily="34" charset="0"/>
                <a:ea typeface="Inter" pitchFamily="34" charset="-122"/>
                <a:cs typeface="Inter" pitchFamily="34" charset="-120"/>
              </a:rPr>
              <a:t>$3.8M</a:t>
            </a:r>
            <a:pPr algn="l" indent="0" marL="0">
              <a:lnSpc>
                <a:spcPts val="1470"/>
              </a:lnSpc>
              <a:buNone/>
            </a:pPr>
            <a:r>
              <a:rPr lang="en-US" sz="1050" dirty="0">
                <a:solidFill>
                  <a:srgbClr val="37352F"/>
                </a:solidFill>
                <a:latin typeface="Inter" pitchFamily="34" charset="0"/>
                <a:ea typeface="Inter" pitchFamily="34" charset="-122"/>
                <a:cs typeface="Inter" pitchFamily="34" charset="-120"/>
              </a:rPr>
              <a:t>, merging his Il Giornale cafe concept into it to launch the modern coffeehouse era.</a:t>
            </a:r>
            <a:endParaRPr lang="en-US" sz="1050" dirty="0"/>
          </a:p>
        </p:txBody>
      </p:sp>
      <p:sp>
        <p:nvSpPr>
          <p:cNvPr id="23" name="b4:fade"/>
          <p:cNvSpPr txBox="1"/>
          <p:nvPr/>
        </p:nvSpPr>
        <p:spPr>
          <a:xfrm>
            <a:off x="609600" y="4124771"/>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Inter" pitchFamily="34" charset="0"/>
                <a:ea typeface="Inter" pitchFamily="34" charset="-122"/>
                <a:cs typeface="Inter" pitchFamily="34" charset="-120"/>
              </a:rPr>
              <a:t>➡️</a:t>
            </a:r>
            <a:endParaRPr lang="en-US" sz="1125" dirty="0"/>
          </a:p>
        </p:txBody>
      </p:sp>
      <p:sp>
        <p:nvSpPr>
          <p:cNvPr id="24" name="b4:fade"/>
          <p:cNvSpPr txBox="1"/>
          <p:nvPr/>
        </p:nvSpPr>
        <p:spPr>
          <a:xfrm>
            <a:off x="883146" y="4124325"/>
            <a:ext cx="6391120" cy="186630"/>
          </a:xfrm>
          <a:prstGeom prst="rect">
            <a:avLst/>
          </a:prstGeom>
          <a:noFill/>
          <a:ln/>
        </p:spPr>
        <p:txBody>
          <a:bodyPr wrap="none" lIns="0" tIns="0" rIns="0" bIns="0" rtlCol="0" anchor="ctr"/>
          <a:lstStyle/>
          <a:p>
            <a:pPr algn="l" indent="0" marL="0">
              <a:lnSpc>
                <a:spcPts val="1470"/>
              </a:lnSpc>
              <a:buNone/>
            </a:pPr>
            <a:r>
              <a:rPr lang="en-US" sz="1050" i="1" dirty="0">
                <a:solidFill>
                  <a:srgbClr val="37352F"/>
                </a:solidFill>
                <a:latin typeface="Inter" pitchFamily="34" charset="0"/>
                <a:ea typeface="Inter" pitchFamily="34" charset="-122"/>
                <a:cs typeface="Inter" pitchFamily="34" charset="-120"/>
              </a:rPr>
              <a:t>Schultz didn't just want to sell coffee; he wanted to create </a:t>
            </a:r>
            <a:pPr algn="l" indent="0" marL="0">
              <a:lnSpc>
                <a:spcPts val="1470"/>
              </a:lnSpc>
              <a:buNone/>
            </a:pPr>
            <a:r>
              <a:rPr lang="en-US" sz="1050" b="1" i="1" dirty="0">
                <a:solidFill>
                  <a:srgbClr val="448361"/>
                </a:solidFill>
                <a:latin typeface="Inter" pitchFamily="34" charset="0"/>
                <a:ea typeface="Inter" pitchFamily="34" charset="-122"/>
                <a:cs typeface="Inter" pitchFamily="34" charset="-120"/>
              </a:rPr>
              <a:t>a new space in human life</a:t>
            </a:r>
            <a:pPr algn="l" indent="0" marL="0">
              <a:lnSpc>
                <a:spcPts val="1470"/>
              </a:lnSpc>
              <a:buNone/>
            </a:pPr>
            <a:r>
              <a:rPr lang="en-US" sz="1050" i="1" dirty="0">
                <a:solidFill>
                  <a:srgbClr val="37352F"/>
                </a:solidFill>
                <a:latin typeface="Inter" pitchFamily="34" charset="0"/>
                <a:ea typeface="Inter" pitchFamily="34" charset="-122"/>
                <a:cs typeface="Inter" pitchFamily="34" charset="-120"/>
              </a:rPr>
              <a:t>…</a:t>
            </a:r>
            <a:endParaRPr lang="en-US" sz="1050" dirty="0"/>
          </a:p>
        </p:txBody>
      </p:sp>
      <p:sp>
        <p:nvSpPr>
          <p:cNvPr id="25" name="!!key3-1"/>
          <p:cNvSpPr/>
          <p:nvPr/>
        </p:nvSpPr>
        <p:spPr>
          <a:xfrm>
            <a:off x="6438900" y="4572000"/>
            <a:ext cx="2095500" cy="255240"/>
          </a:xfrm>
          <a:prstGeom prst="roundRect">
            <a:avLst>
              <a:gd name="adj" fmla="val 11195"/>
            </a:avLst>
          </a:prstGeom>
          <a:solidFill>
            <a:srgbClr val="FDECC8"/>
          </a:solidFill>
          <a:ln/>
        </p:spPr>
      </p:sp>
      <p:sp>
        <p:nvSpPr>
          <p:cNvPr id="26" name="!!key3-2"/>
          <p:cNvSpPr txBox="1"/>
          <p:nvPr/>
        </p:nvSpPr>
        <p:spPr>
          <a:xfrm>
            <a:off x="6438900" y="45720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The Third Place</a:t>
            </a:r>
            <a:endParaRPr lang="en-US" sz="900" dirty="0"/>
          </a:p>
        </p:txBody>
      </p:sp>
      <p:sp>
        <p:nvSpPr>
          <p:cNvPr id="27" name="static"/>
          <p:cNvSpPr txBox="1"/>
          <p:nvPr/>
        </p:nvSpPr>
        <p:spPr>
          <a:xfrm>
            <a:off x="609600" y="4678710"/>
            <a:ext cx="2001217" cy="159990"/>
          </a:xfrm>
          <a:prstGeom prst="rect">
            <a:avLst/>
          </a:prstGeom>
          <a:noFill/>
          <a:ln/>
        </p:spPr>
        <p:txBody>
          <a:bodyPr wrap="none" lIns="0" tIns="0" rIns="0" bIns="0" rtlCol="0" anchor="ctr"/>
          <a:lstStyle/>
          <a:p>
            <a:pPr algn="l" indent="0" marL="0">
              <a:lnSpc>
                <a:spcPts val="1260"/>
              </a:lnSpc>
              <a:buNone/>
            </a:pPr>
            <a:r>
              <a:rPr lang="en-US" sz="900" dirty="0">
                <a:solidFill>
                  <a:srgbClr val="787774"/>
                </a:solidFill>
                <a:latin typeface="Inter" pitchFamily="34" charset="0"/>
                <a:ea typeface="Inter" pitchFamily="34" charset="-122"/>
                <a:cs typeface="Inter" pitchFamily="34" charset="-120"/>
              </a:rPr>
              <a:t>Slide 3 of 8 · Part 2 · The Turning Point</a:t>
            </a:r>
            <a:endParaRPr lang="en-US" sz="900" dirty="0"/>
          </a:p>
        </p:txBody>
      </p:sp>
      <p:sp>
        <p:nvSpPr>
          <p:cNvPr id="28" name="static"/>
          <p:cNvSpPr/>
          <p:nvPr/>
        </p:nvSpPr>
        <p:spPr>
          <a:xfrm>
            <a:off x="2801317" y="4730130"/>
            <a:ext cx="57150" cy="57150"/>
          </a:xfrm>
          <a:prstGeom prst="roundRect">
            <a:avLst>
              <a:gd name="adj" fmla="val 50000"/>
            </a:avLst>
          </a:prstGeom>
          <a:solidFill>
            <a:srgbClr val="787774"/>
          </a:solidFill>
          <a:ln/>
        </p:spPr>
      </p:sp>
      <p:sp>
        <p:nvSpPr>
          <p:cNvPr id="29" name="static"/>
          <p:cNvSpPr/>
          <p:nvPr/>
        </p:nvSpPr>
        <p:spPr>
          <a:xfrm>
            <a:off x="2906092" y="4730130"/>
            <a:ext cx="57150" cy="57150"/>
          </a:xfrm>
          <a:prstGeom prst="roundRect">
            <a:avLst>
              <a:gd name="adj" fmla="val 50000"/>
            </a:avLst>
          </a:prstGeom>
          <a:solidFill>
            <a:srgbClr val="787774"/>
          </a:solidFill>
          <a:ln/>
        </p:spPr>
      </p:sp>
      <p:sp>
        <p:nvSpPr>
          <p:cNvPr id="30" name="static"/>
          <p:cNvSpPr/>
          <p:nvPr/>
        </p:nvSpPr>
        <p:spPr>
          <a:xfrm>
            <a:off x="3010867" y="4730130"/>
            <a:ext cx="171450" cy="57150"/>
          </a:xfrm>
          <a:prstGeom prst="roundRect">
            <a:avLst>
              <a:gd name="adj" fmla="val 50000"/>
            </a:avLst>
          </a:prstGeom>
          <a:solidFill>
            <a:srgbClr val="37352F"/>
          </a:solidFill>
          <a:ln/>
        </p:spPr>
      </p:sp>
      <p:sp>
        <p:nvSpPr>
          <p:cNvPr id="31" name="static"/>
          <p:cNvSpPr/>
          <p:nvPr/>
        </p:nvSpPr>
        <p:spPr>
          <a:xfrm>
            <a:off x="3229942" y="4730130"/>
            <a:ext cx="57150" cy="57150"/>
          </a:xfrm>
          <a:prstGeom prst="roundRect">
            <a:avLst>
              <a:gd name="adj" fmla="val 50000"/>
            </a:avLst>
          </a:prstGeom>
          <a:solidFill>
            <a:srgbClr val="E3E2E0"/>
          </a:solidFill>
          <a:ln/>
        </p:spPr>
      </p:sp>
      <p:sp>
        <p:nvSpPr>
          <p:cNvPr id="32" name="static"/>
          <p:cNvSpPr/>
          <p:nvPr/>
        </p:nvSpPr>
        <p:spPr>
          <a:xfrm>
            <a:off x="3334717" y="4730130"/>
            <a:ext cx="57150" cy="57150"/>
          </a:xfrm>
          <a:prstGeom prst="roundRect">
            <a:avLst>
              <a:gd name="adj" fmla="val 50000"/>
            </a:avLst>
          </a:prstGeom>
          <a:solidFill>
            <a:srgbClr val="E3E2E0"/>
          </a:solidFill>
          <a:ln/>
        </p:spPr>
      </p:sp>
      <p:sp>
        <p:nvSpPr>
          <p:cNvPr id="33" name="static"/>
          <p:cNvSpPr/>
          <p:nvPr/>
        </p:nvSpPr>
        <p:spPr>
          <a:xfrm>
            <a:off x="3439492" y="4730130"/>
            <a:ext cx="57150" cy="57150"/>
          </a:xfrm>
          <a:prstGeom prst="roundRect">
            <a:avLst>
              <a:gd name="adj" fmla="val 50000"/>
            </a:avLst>
          </a:prstGeom>
          <a:solidFill>
            <a:srgbClr val="E3E2E0"/>
          </a:solidFill>
          <a:ln/>
        </p:spPr>
      </p:sp>
      <p:sp>
        <p:nvSpPr>
          <p:cNvPr id="34" name="static"/>
          <p:cNvSpPr/>
          <p:nvPr/>
        </p:nvSpPr>
        <p:spPr>
          <a:xfrm>
            <a:off x="3544267" y="4730130"/>
            <a:ext cx="57150" cy="57150"/>
          </a:xfrm>
          <a:prstGeom prst="roundRect">
            <a:avLst>
              <a:gd name="adj" fmla="val 50000"/>
            </a:avLst>
          </a:prstGeom>
          <a:solidFill>
            <a:srgbClr val="E3E2E0"/>
          </a:solidFill>
          <a:ln/>
        </p:spPr>
      </p:sp>
      <p:sp>
        <p:nvSpPr>
          <p:cNvPr id="35" name="static"/>
          <p:cNvSpPr/>
          <p:nvPr/>
        </p:nvSpPr>
        <p:spPr>
          <a:xfrm>
            <a:off x="3649042" y="4730130"/>
            <a:ext cx="57150" cy="57150"/>
          </a:xfrm>
          <a:prstGeom prst="roundRect">
            <a:avLst>
              <a:gd name="adj" fmla="val 50000"/>
            </a:avLst>
          </a:prstGeom>
          <a:solidFill>
            <a:srgbClr val="E3E2E0"/>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700"/>
                                        <p:tgtEl>
                                          <p:spTgt spid="8"/>
                                        </p:tgtEl>
                                      </p:cBhvr>
                                    </p:animEffect>
                                    <p:anim calcmode="lin" valueType="num">
                                      <p:cBhvr additive="base">
                                        <p:cTn id="6" dur="700" fill="hold"/>
                                        <p:tgtEl>
                                          <p:spTgt spid="8"/>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700"/>
                                        <p:tgtEl>
                                          <p:spTgt spid="9"/>
                                        </p:tgtEl>
                                      </p:cBhvr>
                                    </p:animEffect>
                                    <p:anim calcmode="lin" valueType="num">
                                      <p:cBhvr additive="base">
                                        <p:cTn id="10" dur="700" fill="hold"/>
                                        <p:tgtEl>
                                          <p:spTgt spid="9"/>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700"/>
                                        <p:tgtEl>
                                          <p:spTgt spid="10"/>
                                        </p:tgtEl>
                                      </p:cBhvr>
                                    </p:animEffect>
                                    <p:anim calcmode="lin" valueType="num">
                                      <p:cBhvr additive="base">
                                        <p:cTn id="14" dur="700" fill="hold"/>
                                        <p:tgtEl>
                                          <p:spTgt spid="10"/>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700"/>
                                        <p:tgtEl>
                                          <p:spTgt spid="11"/>
                                        </p:tgtEl>
                                      </p:cBhvr>
                                    </p:animEffect>
                                    <p:anim calcmode="lin" valueType="num">
                                      <p:cBhvr additive="base">
                                        <p:cTn id="18" dur="700" fill="hold"/>
                                        <p:tgtEl>
                                          <p:spTgt spid="11"/>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00"/>
                                        <p:tgtEl>
                                          <p:spTgt spid="12"/>
                                        </p:tgtEl>
                                      </p:cBhvr>
                                    </p:animEffect>
                                    <p:anim calcmode="lin" valueType="num">
                                      <p:cBhvr additive="base">
                                        <p:cTn id="22" dur="700" fill="hold"/>
                                        <p:tgtEl>
                                          <p:spTgt spid="12"/>
                                        </p:tgtEl>
                                        <p:attrNameLst>
                                          <p:attrName>ppt_y</p:attrName>
                                        </p:attrNameLst>
                                      </p:cBhvr>
                                      <p:tavLst>
                                        <p:tav tm="0">
                                          <p:val>
                                            <p:strVal val="#ppt_y+.08"/>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700"/>
                                        <p:tgtEl>
                                          <p:spTgt spid="13"/>
                                        </p:tgtEl>
                                      </p:cBhvr>
                                    </p:animEffect>
                                    <p:anim calcmode="lin" valueType="num">
                                      <p:cBhvr additive="base">
                                        <p:cTn id="28" dur="700" fill="hold"/>
                                        <p:tgtEl>
                                          <p:spTgt spid="13"/>
                                        </p:tgtEl>
                                        <p:attrNameLst>
                                          <p:attrName>ppt_y</p:attrName>
                                        </p:attrNameLst>
                                      </p:cBhvr>
                                      <p:tavLst>
                                        <p:tav tm="0">
                                          <p:val>
                                            <p:strVal val="#ppt_y+.0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700"/>
                                        <p:tgtEl>
                                          <p:spTgt spid="14"/>
                                        </p:tgtEl>
                                      </p:cBhvr>
                                    </p:animEffect>
                                    <p:anim calcmode="lin" valueType="num">
                                      <p:cBhvr additive="base">
                                        <p:cTn id="32" dur="700" fill="hold"/>
                                        <p:tgtEl>
                                          <p:spTgt spid="14"/>
                                        </p:tgtEl>
                                        <p:attrNameLst>
                                          <p:attrName>ppt_y</p:attrName>
                                        </p:attrNameLst>
                                      </p:cBhvr>
                                      <p:tavLst>
                                        <p:tav tm="0">
                                          <p:val>
                                            <p:strVal val="#ppt_y+.0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700"/>
                                        <p:tgtEl>
                                          <p:spTgt spid="15"/>
                                        </p:tgtEl>
                                      </p:cBhvr>
                                    </p:animEffect>
                                    <p:anim calcmode="lin" valueType="num">
                                      <p:cBhvr additive="base">
                                        <p:cTn id="36" dur="700" fill="hold"/>
                                        <p:tgtEl>
                                          <p:spTgt spid="15"/>
                                        </p:tgtEl>
                                        <p:attrNameLst>
                                          <p:attrName>ppt_y</p:attrName>
                                        </p:attrNameLst>
                                      </p:cBhvr>
                                      <p:tavLst>
                                        <p:tav tm="0">
                                          <p:val>
                                            <p:strVal val="#ppt_y+.0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700"/>
                                        <p:tgtEl>
                                          <p:spTgt spid="16"/>
                                        </p:tgtEl>
                                      </p:cBhvr>
                                    </p:animEffect>
                                    <p:anim calcmode="lin" valueType="num">
                                      <p:cBhvr additive="base">
                                        <p:cTn id="40" dur="700" fill="hold"/>
                                        <p:tgtEl>
                                          <p:spTgt spid="16"/>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700"/>
                                        <p:tgtEl>
                                          <p:spTgt spid="17"/>
                                        </p:tgtEl>
                                      </p:cBhvr>
                                    </p:animEffect>
                                    <p:anim calcmode="lin" valueType="num">
                                      <p:cBhvr additive="base">
                                        <p:cTn id="44" dur="700" fill="hold"/>
                                        <p:tgtEl>
                                          <p:spTgt spid="17"/>
                                        </p:tgtEl>
                                        <p:attrNameLst>
                                          <p:attrName>ppt_y</p:attrName>
                                        </p:attrNameLst>
                                      </p:cBhvr>
                                      <p:tavLst>
                                        <p:tav tm="0">
                                          <p:val>
                                            <p:strVal val="#ppt_y+.08"/>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700"/>
                                        <p:tgtEl>
                                          <p:spTgt spid="18"/>
                                        </p:tgtEl>
                                      </p:cBhvr>
                                    </p:animEffect>
                                    <p:anim calcmode="lin" valueType="num">
                                      <p:cBhvr additive="base">
                                        <p:cTn id="50" dur="700" fill="hold"/>
                                        <p:tgtEl>
                                          <p:spTgt spid="18"/>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700"/>
                                        <p:tgtEl>
                                          <p:spTgt spid="19"/>
                                        </p:tgtEl>
                                      </p:cBhvr>
                                    </p:animEffect>
                                    <p:anim calcmode="lin" valueType="num">
                                      <p:cBhvr additive="base">
                                        <p:cTn id="54" dur="700" fill="hold"/>
                                        <p:tgtEl>
                                          <p:spTgt spid="19"/>
                                        </p:tgtEl>
                                        <p:attrNameLst>
                                          <p:attrName>ppt_y</p:attrName>
                                        </p:attrNameLst>
                                      </p:cBhvr>
                                      <p:tavLst>
                                        <p:tav tm="0">
                                          <p:val>
                                            <p:strVal val="#ppt_y+.0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700"/>
                                        <p:tgtEl>
                                          <p:spTgt spid="20"/>
                                        </p:tgtEl>
                                      </p:cBhvr>
                                    </p:animEffect>
                                    <p:anim calcmode="lin" valueType="num">
                                      <p:cBhvr additive="base">
                                        <p:cTn id="58" dur="700" fill="hold"/>
                                        <p:tgtEl>
                                          <p:spTgt spid="20"/>
                                        </p:tgtEl>
                                        <p:attrNameLst>
                                          <p:attrName>ppt_y</p:attrName>
                                        </p:attrNameLst>
                                      </p:cBhvr>
                                      <p:tavLst>
                                        <p:tav tm="0">
                                          <p:val>
                                            <p:strVal val="#ppt_y+.0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700"/>
                                        <p:tgtEl>
                                          <p:spTgt spid="21"/>
                                        </p:tgtEl>
                                      </p:cBhvr>
                                    </p:animEffect>
                                    <p:anim calcmode="lin" valueType="num">
                                      <p:cBhvr additive="base">
                                        <p:cTn id="62" dur="700" fill="hold"/>
                                        <p:tgtEl>
                                          <p:spTgt spid="21"/>
                                        </p:tgtEl>
                                        <p:attrNameLst>
                                          <p:attrName>ppt_y</p:attrName>
                                        </p:attrNameLst>
                                      </p:cBhvr>
                                      <p:tavLst>
                                        <p:tav tm="0">
                                          <p:val>
                                            <p:strVal val="#ppt_y+.08"/>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700"/>
                                        <p:tgtEl>
                                          <p:spTgt spid="22"/>
                                        </p:tgtEl>
                                      </p:cBhvr>
                                    </p:animEffect>
                                    <p:anim calcmode="lin" valueType="num">
                                      <p:cBhvr additive="base">
                                        <p:cTn id="66" dur="700" fill="hold"/>
                                        <p:tgtEl>
                                          <p:spTgt spid="22"/>
                                        </p:tgtEl>
                                        <p:attrNameLst>
                                          <p:attrName>ppt_y</p:attrName>
                                        </p:attrNameLst>
                                      </p:cBhvr>
                                      <p:tavLst>
                                        <p:tav tm="0">
                                          <p:val>
                                            <p:strVal val="#ppt_y+.08"/>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77" presetID="23" presetClass="entr" presetSubtype="16"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animScale>
                                      <p:cBhvr>
                                        <p:cTn id="79" dur="500" fill="hold"/>
                                        <p:tgtEl>
                                          <p:spTgt spid="25"/>
                                        </p:tgtEl>
                                      </p:cBhvr>
                                      <p:from x="0" y="0"/>
                                      <p:to x="100000" y="100000"/>
                                    </p:animScale>
                                    <p:animEffect transition="in" filter="fade">
                                      <p:cBhvr>
                                        <p:cTn id="80" dur="500"/>
                                        <p:tgtEl>
                                          <p:spTgt spid="25"/>
                                        </p:tgtEl>
                                      </p:cBhvr>
                                    </p:animEffect>
                                  </p:childTnLst>
                                </p:cTn>
                              </p:par>
                              <p:par>
                                <p:cTn id="81" presetID="23" presetClass="entr" presetSubtype="16"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Scale>
                                      <p:cBhvr>
                                        <p:cTn id="83" dur="500" fill="hold"/>
                                        <p:tgtEl>
                                          <p:spTgt spid="26"/>
                                        </p:tgtEl>
                                      </p:cBhvr>
                                      <p:from x="0" y="0"/>
                                      <p:to x="100000" y="100000"/>
                                    </p:animScale>
                                    <p:animEffect transition="in" filter="fade">
                                      <p:cBhvr>
                                        <p:cTn id="8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28613"/>
          </a:xfrm>
          <a:prstGeom prst="rect">
            <a:avLst/>
          </a:prstGeom>
          <a:noFill/>
          <a:ln/>
        </p:spPr>
        <p:txBody>
          <a:bodyPr wrap="none" lIns="0" tIns="0" rIns="0" bIns="0" rtlCol="0" anchor="ctr"/>
          <a:lstStyle/>
          <a:p>
            <a:pPr algn="l" indent="0" marL="0">
              <a:lnSpc>
                <a:spcPts val="2588"/>
              </a:lnSpc>
              <a:buNone/>
            </a:pPr>
            <a:r>
              <a:rPr lang="en-US" sz="2250" b="1" dirty="0">
                <a:solidFill>
                  <a:srgbClr val="37352F"/>
                </a:solidFill>
                <a:latin typeface="Inter" pitchFamily="34" charset="0"/>
                <a:ea typeface="Inter" pitchFamily="34" charset="-122"/>
                <a:cs typeface="Inter" pitchFamily="34" charset="-120"/>
              </a:rPr>
              <a:t>Chapter 3: "The Third Place" Framework</a:t>
            </a:r>
            <a:endParaRPr lang="en-US" sz="2250" dirty="0"/>
          </a:p>
        </p:txBody>
      </p:sp>
      <p:sp>
        <p:nvSpPr>
          <p:cNvPr id="3" name="static"/>
          <p:cNvSpPr txBox="1"/>
          <p:nvPr/>
        </p:nvSpPr>
        <p:spPr>
          <a:xfrm>
            <a:off x="609600" y="1204913"/>
            <a:ext cx="6686550" cy="210443"/>
          </a:xfrm>
          <a:prstGeom prst="rect">
            <a:avLst/>
          </a:prstGeom>
          <a:noFill/>
          <a:ln/>
        </p:spPr>
        <p:txBody>
          <a:bodyPr wrap="none" lIns="0" tIns="0" rIns="0" bIns="0" rtlCol="0" anchor="ctr"/>
          <a:lstStyle/>
          <a:p>
            <a:pPr algn="l" indent="0" marL="0">
              <a:lnSpc>
                <a:spcPts val="1658"/>
              </a:lnSpc>
              <a:buNone/>
            </a:pPr>
            <a:r>
              <a:rPr lang="en-US" sz="1275" dirty="0">
                <a:solidFill>
                  <a:srgbClr val="37352F"/>
                </a:solidFill>
                <a:latin typeface="Inter" pitchFamily="34" charset="0"/>
                <a:ea typeface="Inter" pitchFamily="34" charset="-122"/>
                <a:cs typeface="Inter" pitchFamily="34" charset="-120"/>
              </a:rPr>
              <a:t>The Core Brand Philosophy</a:t>
            </a:r>
            <a:endParaRPr lang="en-US" sz="1275"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PART 2 · CONCEPT DEVELOPMENT</a:t>
            </a:r>
            <a:endParaRPr lang="en-US" sz="825" dirty="0"/>
          </a:p>
        </p:txBody>
      </p:sp>
      <p:sp>
        <p:nvSpPr>
          <p:cNvPr id="5" name="!!key3-1"/>
          <p:cNvSpPr/>
          <p:nvPr/>
        </p:nvSpPr>
        <p:spPr>
          <a:xfrm>
            <a:off x="6438900" y="419100"/>
            <a:ext cx="2095500" cy="255240"/>
          </a:xfrm>
          <a:prstGeom prst="roundRect">
            <a:avLst>
              <a:gd name="adj" fmla="val 11195"/>
            </a:avLst>
          </a:prstGeom>
          <a:solidFill>
            <a:srgbClr val="FDECC8"/>
          </a:solidFill>
          <a:ln/>
        </p:spPr>
      </p:sp>
      <p:sp>
        <p:nvSpPr>
          <p:cNvPr id="6" name="!!key3-2"/>
          <p:cNvSpPr txBox="1"/>
          <p:nvPr/>
        </p:nvSpPr>
        <p:spPr>
          <a:xfrm>
            <a:off x="6438900" y="4191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The Third Place</a:t>
            </a:r>
            <a:endParaRPr lang="en-US" sz="900" dirty="0"/>
          </a:p>
        </p:txBody>
      </p:sp>
      <p:sp>
        <p:nvSpPr>
          <p:cNvPr id="7" name="b1:rise"/>
          <p:cNvSpPr/>
          <p:nvPr/>
        </p:nvSpPr>
        <p:spPr>
          <a:xfrm>
            <a:off x="609600" y="1676400"/>
            <a:ext cx="7924800" cy="748531"/>
          </a:xfrm>
          <a:prstGeom prst="roundRect">
            <a:avLst>
              <a:gd name="adj" fmla="val 5090"/>
            </a:avLst>
          </a:prstGeom>
          <a:solidFill>
            <a:srgbClr val="FFFFFF"/>
          </a:solidFill>
          <a:ln w="6350">
            <a:solidFill>
              <a:srgbClr val="E9E9E7"/>
            </a:solidFill>
            <a:prstDash val="solid"/>
          </a:ln>
        </p:spPr>
      </p:sp>
      <p:sp>
        <p:nvSpPr>
          <p:cNvPr id="8" name="b1:rise"/>
          <p:cNvSpPr/>
          <p:nvPr/>
        </p:nvSpPr>
        <p:spPr>
          <a:xfrm>
            <a:off x="766763" y="1788765"/>
            <a:ext cx="1143000" cy="523801"/>
          </a:xfrm>
          <a:prstGeom prst="roundRect">
            <a:avLst>
              <a:gd name="adj" fmla="val 7274"/>
            </a:avLst>
          </a:prstGeom>
          <a:solidFill>
            <a:srgbClr val="F7F7F5"/>
          </a:solidFill>
          <a:ln/>
        </p:spPr>
      </p:sp>
      <p:sp>
        <p:nvSpPr>
          <p:cNvPr id="9" name="b1:rise"/>
          <p:cNvSpPr txBox="1"/>
          <p:nvPr/>
        </p:nvSpPr>
        <p:spPr>
          <a:xfrm>
            <a:off x="881063" y="1864965"/>
            <a:ext cx="987552"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1ST PLACE</a:t>
            </a:r>
            <a:endParaRPr lang="en-US" sz="825" dirty="0"/>
          </a:p>
        </p:txBody>
      </p:sp>
      <p:sp>
        <p:nvSpPr>
          <p:cNvPr id="10" name="b1:rise"/>
          <p:cNvSpPr txBox="1"/>
          <p:nvPr/>
        </p:nvSpPr>
        <p:spPr>
          <a:xfrm>
            <a:off x="881063" y="2030685"/>
            <a:ext cx="987552"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Home</a:t>
            </a:r>
            <a:endParaRPr lang="en-US" sz="1350" dirty="0"/>
          </a:p>
        </p:txBody>
      </p:sp>
      <p:sp>
        <p:nvSpPr>
          <p:cNvPr id="11" name="b1:rise"/>
          <p:cNvSpPr/>
          <p:nvPr/>
        </p:nvSpPr>
        <p:spPr>
          <a:xfrm>
            <a:off x="1985963" y="1993478"/>
            <a:ext cx="228600" cy="114300"/>
          </a:xfrm>
          <a:prstGeom prst="rightArrow">
            <a:avLst/>
          </a:prstGeom>
          <a:solidFill>
            <a:srgbClr val="B9B9B7"/>
          </a:solidFill>
          <a:ln/>
        </p:spPr>
      </p:sp>
      <p:sp>
        <p:nvSpPr>
          <p:cNvPr id="12" name="b1:rise"/>
          <p:cNvSpPr/>
          <p:nvPr/>
        </p:nvSpPr>
        <p:spPr>
          <a:xfrm>
            <a:off x="2290762" y="1788765"/>
            <a:ext cx="1143000" cy="523801"/>
          </a:xfrm>
          <a:prstGeom prst="roundRect">
            <a:avLst>
              <a:gd name="adj" fmla="val 7274"/>
            </a:avLst>
          </a:prstGeom>
          <a:solidFill>
            <a:srgbClr val="F7F7F5"/>
          </a:solidFill>
          <a:ln/>
        </p:spPr>
      </p:sp>
      <p:sp>
        <p:nvSpPr>
          <p:cNvPr id="13" name="b1:rise"/>
          <p:cNvSpPr txBox="1"/>
          <p:nvPr/>
        </p:nvSpPr>
        <p:spPr>
          <a:xfrm>
            <a:off x="2405062" y="1864965"/>
            <a:ext cx="987552"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2ND PLACE</a:t>
            </a:r>
            <a:endParaRPr lang="en-US" sz="825" dirty="0"/>
          </a:p>
        </p:txBody>
      </p:sp>
      <p:sp>
        <p:nvSpPr>
          <p:cNvPr id="14" name="b1:rise"/>
          <p:cNvSpPr txBox="1"/>
          <p:nvPr/>
        </p:nvSpPr>
        <p:spPr>
          <a:xfrm>
            <a:off x="2405062" y="2030685"/>
            <a:ext cx="987552"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Work</a:t>
            </a:r>
            <a:endParaRPr lang="en-US" sz="1350" dirty="0"/>
          </a:p>
        </p:txBody>
      </p:sp>
      <p:sp>
        <p:nvSpPr>
          <p:cNvPr id="15" name="b1:rise"/>
          <p:cNvSpPr/>
          <p:nvPr/>
        </p:nvSpPr>
        <p:spPr>
          <a:xfrm>
            <a:off x="3509963" y="1993478"/>
            <a:ext cx="228600" cy="114300"/>
          </a:xfrm>
          <a:prstGeom prst="rightArrow">
            <a:avLst/>
          </a:prstGeom>
          <a:solidFill>
            <a:srgbClr val="B9B9B7"/>
          </a:solidFill>
          <a:ln/>
        </p:spPr>
      </p:sp>
      <p:sp>
        <p:nvSpPr>
          <p:cNvPr id="16" name="b1:rise"/>
          <p:cNvSpPr/>
          <p:nvPr/>
        </p:nvSpPr>
        <p:spPr>
          <a:xfrm>
            <a:off x="3814763" y="1782068"/>
            <a:ext cx="1143000" cy="537121"/>
          </a:xfrm>
          <a:prstGeom prst="roundRect">
            <a:avLst>
              <a:gd name="adj" fmla="val 7093"/>
            </a:avLst>
          </a:prstGeom>
          <a:solidFill>
            <a:srgbClr val="DBEDDB"/>
          </a:solidFill>
          <a:ln/>
        </p:spPr>
      </p:sp>
      <p:sp>
        <p:nvSpPr>
          <p:cNvPr id="17" name="b1:rise"/>
          <p:cNvSpPr txBox="1"/>
          <p:nvPr/>
        </p:nvSpPr>
        <p:spPr>
          <a:xfrm>
            <a:off x="3929063" y="1858268"/>
            <a:ext cx="987552" cy="159990"/>
          </a:xfrm>
          <a:prstGeom prst="rect">
            <a:avLst/>
          </a:prstGeom>
          <a:noFill/>
          <a:ln/>
        </p:spPr>
        <p:txBody>
          <a:bodyPr wrap="none" lIns="0" tIns="0" rIns="0" bIns="0" rtlCol="0" anchor="ctr"/>
          <a:lstStyle/>
          <a:p>
            <a:pPr algn="l" indent="0" marL="0">
              <a:lnSpc>
                <a:spcPts val="1260"/>
              </a:lnSpc>
              <a:buNone/>
            </a:pPr>
            <a:r>
              <a:rPr lang="en-US" sz="900" b="1" spc="75" kern="0" dirty="0">
                <a:solidFill>
                  <a:srgbClr val="1C3829"/>
                </a:solidFill>
                <a:latin typeface="Inter" pitchFamily="34" charset="0"/>
                <a:ea typeface="Inter" pitchFamily="34" charset="-122"/>
                <a:cs typeface="Inter" pitchFamily="34" charset="-120"/>
              </a:rPr>
              <a:t>3RD PLACE</a:t>
            </a:r>
            <a:endParaRPr lang="en-US" sz="900" dirty="0"/>
          </a:p>
        </p:txBody>
      </p:sp>
      <p:sp>
        <p:nvSpPr>
          <p:cNvPr id="18" name="b1:rise"/>
          <p:cNvSpPr txBox="1"/>
          <p:nvPr/>
        </p:nvSpPr>
        <p:spPr>
          <a:xfrm>
            <a:off x="3929063" y="2037308"/>
            <a:ext cx="987552" cy="205680"/>
          </a:xfrm>
          <a:prstGeom prst="rect">
            <a:avLst/>
          </a:prstGeom>
          <a:noFill/>
          <a:ln/>
        </p:spPr>
        <p:txBody>
          <a:bodyPr wrap="none" lIns="0" tIns="0" rIns="0" bIns="0" rtlCol="0" anchor="ctr"/>
          <a:lstStyle/>
          <a:p>
            <a:pPr algn="l" indent="0" marL="0">
              <a:lnSpc>
                <a:spcPts val="1620"/>
              </a:lnSpc>
              <a:buNone/>
            </a:pPr>
            <a:r>
              <a:rPr lang="en-US" sz="1350" b="1" dirty="0">
                <a:solidFill>
                  <a:srgbClr val="1C3829"/>
                </a:solidFill>
                <a:latin typeface="Inter" pitchFamily="34" charset="0"/>
                <a:ea typeface="Inter" pitchFamily="34" charset="-122"/>
                <a:cs typeface="Inter" pitchFamily="34" charset="-120"/>
              </a:rPr>
              <a:t>Starbucks</a:t>
            </a:r>
            <a:endParaRPr lang="en-US" sz="1350" dirty="0"/>
          </a:p>
        </p:txBody>
      </p:sp>
      <p:sp>
        <p:nvSpPr>
          <p:cNvPr id="19" name="b1:rise"/>
          <p:cNvSpPr txBox="1"/>
          <p:nvPr/>
        </p:nvSpPr>
        <p:spPr>
          <a:xfrm>
            <a:off x="5110162" y="1776413"/>
            <a:ext cx="3528441"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PILLAR 1 · THE THIRD PLACE</a:t>
            </a:r>
            <a:endParaRPr lang="en-US" sz="825" dirty="0"/>
          </a:p>
        </p:txBody>
      </p:sp>
      <p:sp>
        <p:nvSpPr>
          <p:cNvPr id="20" name="b1:rise"/>
          <p:cNvSpPr txBox="1"/>
          <p:nvPr/>
        </p:nvSpPr>
        <p:spPr>
          <a:xfrm>
            <a:off x="5110162" y="1951658"/>
            <a:ext cx="3397758" cy="373261"/>
          </a:xfrm>
          <a:prstGeom prst="rect">
            <a:avLst/>
          </a:prstGeom>
          <a:noFill/>
          <a:ln/>
        </p:spPr>
        <p:txBody>
          <a:bodyPr wrap="square" lIns="0" tIns="0" rIns="0" bIns="0" rtlCol="0" anchor="t"/>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A comforting, pressure-free sanctuary between home and work.</a:t>
            </a:r>
            <a:endParaRPr lang="en-US" sz="1050" dirty="0"/>
          </a:p>
        </p:txBody>
      </p:sp>
      <p:sp>
        <p:nvSpPr>
          <p:cNvPr id="21" name="b2:rise"/>
          <p:cNvSpPr/>
          <p:nvPr/>
        </p:nvSpPr>
        <p:spPr>
          <a:xfrm>
            <a:off x="609600" y="2486025"/>
            <a:ext cx="3905250" cy="1190625"/>
          </a:xfrm>
          <a:prstGeom prst="roundRect">
            <a:avLst>
              <a:gd name="adj" fmla="val 3200"/>
            </a:avLst>
          </a:prstGeom>
          <a:solidFill>
            <a:srgbClr val="FFFFFF"/>
          </a:solidFill>
          <a:ln w="6350">
            <a:solidFill>
              <a:srgbClr val="E9E9E7"/>
            </a:solidFill>
            <a:prstDash val="solid"/>
          </a:ln>
        </p:spPr>
      </p:sp>
      <p:sp>
        <p:nvSpPr>
          <p:cNvPr id="22" name="b2:rise"/>
          <p:cNvSpPr txBox="1"/>
          <p:nvPr/>
        </p:nvSpPr>
        <p:spPr>
          <a:xfrm>
            <a:off x="766763" y="2643188"/>
            <a:ext cx="3878199"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PILLAR 2 · EMOTIONAL CONNECTION</a:t>
            </a:r>
            <a:endParaRPr lang="en-US" sz="825" dirty="0"/>
          </a:p>
        </p:txBody>
      </p:sp>
      <p:sp>
        <p:nvSpPr>
          <p:cNvPr id="23" name="b2:rise"/>
          <p:cNvSpPr txBox="1"/>
          <p:nvPr/>
        </p:nvSpPr>
        <p:spPr>
          <a:xfrm>
            <a:off x="766763" y="2866058"/>
            <a:ext cx="3734562" cy="373261"/>
          </a:xfrm>
          <a:prstGeom prst="rect">
            <a:avLst/>
          </a:prstGeom>
          <a:noFill/>
          <a:ln/>
        </p:spPr>
        <p:txBody>
          <a:bodyPr wrap="square" lIns="0" tIns="0" rIns="0" bIns="0" rtlCol="0" anchor="t"/>
          <a:lstStyle/>
          <a:p>
            <a:pPr algn="l" indent="0" marL="0">
              <a:lnSpc>
                <a:spcPts val="1470"/>
              </a:lnSpc>
              <a:buNone/>
            </a:pPr>
            <a:r>
              <a:rPr lang="en-US" sz="1050" i="1" dirty="0">
                <a:solidFill>
                  <a:srgbClr val="37352F"/>
                </a:solidFill>
                <a:latin typeface="Inter" pitchFamily="34" charset="0"/>
                <a:ea typeface="Inter" pitchFamily="34" charset="-122"/>
                <a:cs typeface="Inter" pitchFamily="34" charset="-120"/>
              </a:rPr>
              <a:t>"We aren't in the coffee business serving people; we're in the people business serving coffee."</a:t>
            </a:r>
            <a:endParaRPr lang="en-US" sz="1050" dirty="0"/>
          </a:p>
        </p:txBody>
      </p:sp>
      <p:sp>
        <p:nvSpPr>
          <p:cNvPr id="24" name="b2:rise"/>
          <p:cNvSpPr txBox="1"/>
          <p:nvPr/>
        </p:nvSpPr>
        <p:spPr>
          <a:xfrm>
            <a:off x="766763" y="3315519"/>
            <a:ext cx="3878199" cy="159990"/>
          </a:xfrm>
          <a:prstGeom prst="rect">
            <a:avLst/>
          </a:prstGeom>
          <a:noFill/>
          <a:ln/>
        </p:spPr>
        <p:txBody>
          <a:bodyPr wrap="none" lIns="0" tIns="0" rIns="0" bIns="0" rtlCol="0" anchor="ctr"/>
          <a:lstStyle/>
          <a:p>
            <a:pPr algn="l" indent="0" marL="0">
              <a:lnSpc>
                <a:spcPts val="1260"/>
              </a:lnSpc>
              <a:buNone/>
            </a:pPr>
            <a:r>
              <a:rPr lang="en-US" sz="900" dirty="0">
                <a:solidFill>
                  <a:srgbClr val="787774"/>
                </a:solidFill>
                <a:latin typeface="Inter" pitchFamily="34" charset="0"/>
                <a:ea typeface="Inter" pitchFamily="34" charset="-122"/>
                <a:cs typeface="Inter" pitchFamily="34" charset="-120"/>
              </a:rPr>
              <a:t>Howard Schultz</a:t>
            </a:r>
            <a:endParaRPr lang="en-US" sz="900" dirty="0"/>
          </a:p>
        </p:txBody>
      </p:sp>
      <p:sp>
        <p:nvSpPr>
          <p:cNvPr id="25" name="b3:rise"/>
          <p:cNvSpPr/>
          <p:nvPr/>
        </p:nvSpPr>
        <p:spPr>
          <a:xfrm>
            <a:off x="4629150" y="2486025"/>
            <a:ext cx="3905250" cy="1190625"/>
          </a:xfrm>
          <a:prstGeom prst="roundRect">
            <a:avLst>
              <a:gd name="adj" fmla="val 3200"/>
            </a:avLst>
          </a:prstGeom>
          <a:solidFill>
            <a:srgbClr val="FFFFFF"/>
          </a:solidFill>
          <a:ln w="6350">
            <a:solidFill>
              <a:srgbClr val="E9E9E7"/>
            </a:solidFill>
            <a:prstDash val="solid"/>
          </a:ln>
        </p:spPr>
      </p:sp>
      <p:sp>
        <p:nvSpPr>
          <p:cNvPr id="26" name="b3:rise"/>
          <p:cNvSpPr txBox="1"/>
          <p:nvPr/>
        </p:nvSpPr>
        <p:spPr>
          <a:xfrm>
            <a:off x="4786313" y="2643188"/>
            <a:ext cx="3878199"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PILLAR 3 · ATMOSPHERE AS A PRODUCT</a:t>
            </a:r>
            <a:endParaRPr lang="en-US" sz="825" dirty="0"/>
          </a:p>
        </p:txBody>
      </p:sp>
      <p:sp>
        <p:nvSpPr>
          <p:cNvPr id="27" name="b3:rise"/>
          <p:cNvSpPr/>
          <p:nvPr/>
        </p:nvSpPr>
        <p:spPr>
          <a:xfrm>
            <a:off x="4786313" y="2885108"/>
            <a:ext cx="1003622" cy="262830"/>
          </a:xfrm>
          <a:prstGeom prst="roundRect">
            <a:avLst>
              <a:gd name="adj" fmla="val 10872"/>
            </a:avLst>
          </a:prstGeom>
          <a:solidFill>
            <a:srgbClr val="FDECC8"/>
          </a:solidFill>
          <a:ln/>
        </p:spPr>
      </p:sp>
      <p:sp>
        <p:nvSpPr>
          <p:cNvPr id="28" name="b3:rise"/>
          <p:cNvSpPr txBox="1"/>
          <p:nvPr/>
        </p:nvSpPr>
        <p:spPr>
          <a:xfrm>
            <a:off x="4786313" y="2885108"/>
            <a:ext cx="1083912"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402C1B"/>
                </a:solidFill>
                <a:latin typeface="Inter" pitchFamily="34" charset="0"/>
                <a:ea typeface="Inter" pitchFamily="34" charset="-122"/>
                <a:cs typeface="Inter" pitchFamily="34" charset="-120"/>
              </a:rPr>
              <a:t>Warm lighting</a:t>
            </a:r>
            <a:endParaRPr lang="en-US" sz="1050" dirty="0"/>
          </a:p>
        </p:txBody>
      </p:sp>
      <p:sp>
        <p:nvSpPr>
          <p:cNvPr id="29" name="b3:rise"/>
          <p:cNvSpPr/>
          <p:nvPr/>
        </p:nvSpPr>
        <p:spPr>
          <a:xfrm>
            <a:off x="5847085" y="2885108"/>
            <a:ext cx="1196504" cy="262830"/>
          </a:xfrm>
          <a:prstGeom prst="roundRect">
            <a:avLst>
              <a:gd name="adj" fmla="val 10872"/>
            </a:avLst>
          </a:prstGeom>
          <a:solidFill>
            <a:srgbClr val="E8DEEE"/>
          </a:solidFill>
          <a:ln/>
        </p:spPr>
      </p:sp>
      <p:sp>
        <p:nvSpPr>
          <p:cNvPr id="30" name="b3:rise"/>
          <p:cNvSpPr txBox="1"/>
          <p:nvPr/>
        </p:nvSpPr>
        <p:spPr>
          <a:xfrm>
            <a:off x="5847085" y="2885108"/>
            <a:ext cx="1292224"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412454"/>
                </a:solidFill>
                <a:latin typeface="Inter" pitchFamily="34" charset="0"/>
                <a:ea typeface="Inter" pitchFamily="34" charset="-122"/>
                <a:cs typeface="Inter" pitchFamily="34" charset="-120"/>
              </a:rPr>
              <a:t>Wooden textures</a:t>
            </a:r>
            <a:endParaRPr lang="en-US" sz="1050" dirty="0"/>
          </a:p>
        </p:txBody>
      </p:sp>
      <p:sp>
        <p:nvSpPr>
          <p:cNvPr id="31" name="b3:rise"/>
          <p:cNvSpPr/>
          <p:nvPr/>
        </p:nvSpPr>
        <p:spPr>
          <a:xfrm>
            <a:off x="7100739" y="2885108"/>
            <a:ext cx="1090315" cy="262830"/>
          </a:xfrm>
          <a:prstGeom prst="roundRect">
            <a:avLst>
              <a:gd name="adj" fmla="val 10872"/>
            </a:avLst>
          </a:prstGeom>
          <a:solidFill>
            <a:srgbClr val="D3E5EF"/>
          </a:solidFill>
          <a:ln/>
        </p:spPr>
      </p:sp>
      <p:sp>
        <p:nvSpPr>
          <p:cNvPr id="32" name="b3:rise"/>
          <p:cNvSpPr txBox="1"/>
          <p:nvPr/>
        </p:nvSpPr>
        <p:spPr>
          <a:xfrm>
            <a:off x="7100739" y="2885108"/>
            <a:ext cx="1177540"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183347"/>
                </a:solidFill>
                <a:latin typeface="Inter" pitchFamily="34" charset="0"/>
                <a:ea typeface="Inter" pitchFamily="34" charset="-122"/>
                <a:cs typeface="Inter" pitchFamily="34" charset="-120"/>
              </a:rPr>
              <a:t>Acoustic music</a:t>
            </a:r>
            <a:endParaRPr lang="en-US" sz="1050" dirty="0"/>
          </a:p>
        </p:txBody>
      </p:sp>
      <p:sp>
        <p:nvSpPr>
          <p:cNvPr id="33" name="b3:rise"/>
          <p:cNvSpPr/>
          <p:nvPr/>
        </p:nvSpPr>
        <p:spPr>
          <a:xfrm>
            <a:off x="4786313" y="3205088"/>
            <a:ext cx="1256779" cy="262830"/>
          </a:xfrm>
          <a:prstGeom prst="roundRect">
            <a:avLst>
              <a:gd name="adj" fmla="val 10872"/>
            </a:avLst>
          </a:prstGeom>
          <a:solidFill>
            <a:srgbClr val="DBEDDB"/>
          </a:solidFill>
          <a:ln/>
        </p:spPr>
      </p:sp>
      <p:sp>
        <p:nvSpPr>
          <p:cNvPr id="34" name="b3:rise"/>
          <p:cNvSpPr txBox="1"/>
          <p:nvPr/>
        </p:nvSpPr>
        <p:spPr>
          <a:xfrm>
            <a:off x="4786313" y="3205088"/>
            <a:ext cx="1357321"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1C3829"/>
                </a:solidFill>
                <a:latin typeface="Inter" pitchFamily="34" charset="0"/>
                <a:ea typeface="Inter" pitchFamily="34" charset="-122"/>
                <a:cs typeface="Inter" pitchFamily="34" charset="-120"/>
              </a:rPr>
              <a:t>Welcoming aroma</a:t>
            </a:r>
            <a:endParaRPr lang="en-US" sz="1050" dirty="0"/>
          </a:p>
        </p:txBody>
      </p:sp>
      <p:sp>
        <p:nvSpPr>
          <p:cNvPr id="35" name="b4:fade"/>
          <p:cNvSpPr/>
          <p:nvPr/>
        </p:nvSpPr>
        <p:spPr>
          <a:xfrm>
            <a:off x="609600" y="3790950"/>
            <a:ext cx="7924800" cy="569565"/>
          </a:xfrm>
          <a:prstGeom prst="roundRect">
            <a:avLst>
              <a:gd name="adj" fmla="val 6689"/>
            </a:avLst>
          </a:prstGeom>
          <a:solidFill>
            <a:srgbClr val="F1F1EF"/>
          </a:solidFill>
          <a:ln/>
        </p:spPr>
      </p:sp>
      <p:sp>
        <p:nvSpPr>
          <p:cNvPr id="36" name="b4:fade"/>
          <p:cNvSpPr txBox="1"/>
          <p:nvPr/>
        </p:nvSpPr>
        <p:spPr>
          <a:xfrm>
            <a:off x="762000" y="3982864"/>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Inter" pitchFamily="34" charset="0"/>
                <a:ea typeface="Inter" pitchFamily="34" charset="-122"/>
                <a:cs typeface="Inter" pitchFamily="34" charset="-120"/>
              </a:rPr>
              <a:t>➡️</a:t>
            </a:r>
            <a:endParaRPr lang="en-US" sz="1125" dirty="0"/>
          </a:p>
        </p:txBody>
      </p:sp>
      <p:sp>
        <p:nvSpPr>
          <p:cNvPr id="37" name="b4:fade"/>
          <p:cNvSpPr txBox="1"/>
          <p:nvPr/>
        </p:nvSpPr>
        <p:spPr>
          <a:xfrm>
            <a:off x="1054596" y="3895725"/>
            <a:ext cx="7620500" cy="360015"/>
          </a:xfrm>
          <a:prstGeom prst="rect">
            <a:avLst/>
          </a:prstGeom>
          <a:noFill/>
          <a:ln/>
        </p:spPr>
        <p:txBody>
          <a:bodyPr wrap="square" lIns="0" tIns="0" rIns="0" bIns="0" rtlCol="0" anchor="t"/>
          <a:lstStyle/>
          <a:p>
            <a:pPr algn="l" indent="0" marL="0">
              <a:lnSpc>
                <a:spcPts val="1417"/>
              </a:lnSpc>
              <a:buNone/>
            </a:pPr>
            <a:r>
              <a:rPr lang="en-US" sz="1050" dirty="0">
                <a:solidFill>
                  <a:srgbClr val="37352F"/>
                </a:solidFill>
                <a:latin typeface="Inter" pitchFamily="34" charset="0"/>
                <a:ea typeface="Inter" pitchFamily="34" charset="-122"/>
                <a:cs typeface="Inter" pitchFamily="34" charset="-120"/>
              </a:rPr>
              <a:t>Now that we understand the strategic concept of the Third Place, how did Starbucks </a:t>
            </a:r>
            <a:pPr algn="l" indent="0" marL="0">
              <a:lnSpc>
                <a:spcPts val="1417"/>
              </a:lnSpc>
              <a:buNone/>
            </a:pPr>
            <a:r>
              <a:rPr lang="en-US" sz="1050" b="1" dirty="0">
                <a:solidFill>
                  <a:srgbClr val="448361"/>
                </a:solidFill>
                <a:latin typeface="Inter" pitchFamily="34" charset="0"/>
                <a:ea typeface="Inter" pitchFamily="34" charset="-122"/>
                <a:cs typeface="Inter" pitchFamily="34" charset="-120"/>
              </a:rPr>
              <a:t>scale this human experience</a:t>
            </a:r>
            <a:pPr algn="l" indent="0" marL="0">
              <a:lnSpc>
                <a:spcPts val="1417"/>
              </a:lnSpc>
              <a:buNone/>
            </a:pPr>
            <a:r>
              <a:rPr lang="en-US" sz="1050" dirty="0">
                <a:solidFill>
                  <a:srgbClr val="37352F"/>
                </a:solidFill>
                <a:latin typeface="Inter" pitchFamily="34" charset="0"/>
                <a:ea typeface="Inter" pitchFamily="34" charset="-122"/>
                <a:cs typeface="Inter" pitchFamily="34" charset="-120"/>
              </a:rPr>
              <a:t> to thousands of stores?</a:t>
            </a:r>
            <a:endParaRPr lang="en-US" sz="1050" dirty="0"/>
          </a:p>
        </p:txBody>
      </p:sp>
      <p:sp>
        <p:nvSpPr>
          <p:cNvPr id="38" name="!!key4-1"/>
          <p:cNvSpPr/>
          <p:nvPr/>
        </p:nvSpPr>
        <p:spPr>
          <a:xfrm>
            <a:off x="6438900" y="4572000"/>
            <a:ext cx="2095500" cy="255240"/>
          </a:xfrm>
          <a:prstGeom prst="roundRect">
            <a:avLst>
              <a:gd name="adj" fmla="val 11195"/>
            </a:avLst>
          </a:prstGeom>
          <a:solidFill>
            <a:srgbClr val="FDECC8"/>
          </a:solidFill>
          <a:ln/>
        </p:spPr>
      </p:sp>
      <p:sp>
        <p:nvSpPr>
          <p:cNvPr id="39" name="!!key4-2"/>
          <p:cNvSpPr txBox="1"/>
          <p:nvPr/>
        </p:nvSpPr>
        <p:spPr>
          <a:xfrm>
            <a:off x="6438900" y="45720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Human experience, at scale</a:t>
            </a:r>
            <a:endParaRPr lang="en-US" sz="900" dirty="0"/>
          </a:p>
        </p:txBody>
      </p:sp>
      <p:sp>
        <p:nvSpPr>
          <p:cNvPr id="40" name="static"/>
          <p:cNvSpPr txBox="1"/>
          <p:nvPr/>
        </p:nvSpPr>
        <p:spPr>
          <a:xfrm>
            <a:off x="609600" y="4678710"/>
            <a:ext cx="2247677" cy="159990"/>
          </a:xfrm>
          <a:prstGeom prst="rect">
            <a:avLst/>
          </a:prstGeom>
          <a:noFill/>
          <a:ln/>
        </p:spPr>
        <p:txBody>
          <a:bodyPr wrap="none" lIns="0" tIns="0" rIns="0" bIns="0" rtlCol="0" anchor="ctr"/>
          <a:lstStyle/>
          <a:p>
            <a:pPr algn="l" indent="0" marL="0">
              <a:lnSpc>
                <a:spcPts val="1260"/>
              </a:lnSpc>
              <a:buNone/>
            </a:pPr>
            <a:r>
              <a:rPr lang="en-US" sz="900" dirty="0">
                <a:solidFill>
                  <a:srgbClr val="787774"/>
                </a:solidFill>
                <a:latin typeface="Inter" pitchFamily="34" charset="0"/>
                <a:ea typeface="Inter" pitchFamily="34" charset="-122"/>
                <a:cs typeface="Inter" pitchFamily="34" charset="-120"/>
              </a:rPr>
              <a:t>Slide 4 of 8 · Part 2 · Concept Development</a:t>
            </a:r>
            <a:endParaRPr lang="en-US" sz="900" dirty="0"/>
          </a:p>
        </p:txBody>
      </p:sp>
      <p:sp>
        <p:nvSpPr>
          <p:cNvPr id="41" name="static"/>
          <p:cNvSpPr/>
          <p:nvPr/>
        </p:nvSpPr>
        <p:spPr>
          <a:xfrm>
            <a:off x="3047777" y="4730130"/>
            <a:ext cx="57150" cy="57150"/>
          </a:xfrm>
          <a:prstGeom prst="roundRect">
            <a:avLst>
              <a:gd name="adj" fmla="val 50000"/>
            </a:avLst>
          </a:prstGeom>
          <a:solidFill>
            <a:srgbClr val="787774"/>
          </a:solidFill>
          <a:ln/>
        </p:spPr>
      </p:sp>
      <p:sp>
        <p:nvSpPr>
          <p:cNvPr id="42" name="static"/>
          <p:cNvSpPr/>
          <p:nvPr/>
        </p:nvSpPr>
        <p:spPr>
          <a:xfrm>
            <a:off x="3152552" y="4730130"/>
            <a:ext cx="57150" cy="57150"/>
          </a:xfrm>
          <a:prstGeom prst="roundRect">
            <a:avLst>
              <a:gd name="adj" fmla="val 50000"/>
            </a:avLst>
          </a:prstGeom>
          <a:solidFill>
            <a:srgbClr val="787774"/>
          </a:solidFill>
          <a:ln/>
        </p:spPr>
      </p:sp>
      <p:sp>
        <p:nvSpPr>
          <p:cNvPr id="43" name="static"/>
          <p:cNvSpPr/>
          <p:nvPr/>
        </p:nvSpPr>
        <p:spPr>
          <a:xfrm>
            <a:off x="3257327" y="4730130"/>
            <a:ext cx="57150" cy="57150"/>
          </a:xfrm>
          <a:prstGeom prst="roundRect">
            <a:avLst>
              <a:gd name="adj" fmla="val 50000"/>
            </a:avLst>
          </a:prstGeom>
          <a:solidFill>
            <a:srgbClr val="787774"/>
          </a:solidFill>
          <a:ln/>
        </p:spPr>
      </p:sp>
      <p:sp>
        <p:nvSpPr>
          <p:cNvPr id="44" name="static"/>
          <p:cNvSpPr/>
          <p:nvPr/>
        </p:nvSpPr>
        <p:spPr>
          <a:xfrm>
            <a:off x="3362102" y="4730130"/>
            <a:ext cx="171450" cy="57150"/>
          </a:xfrm>
          <a:prstGeom prst="roundRect">
            <a:avLst>
              <a:gd name="adj" fmla="val 50000"/>
            </a:avLst>
          </a:prstGeom>
          <a:solidFill>
            <a:srgbClr val="37352F"/>
          </a:solidFill>
          <a:ln/>
        </p:spPr>
      </p:sp>
      <p:sp>
        <p:nvSpPr>
          <p:cNvPr id="45" name="static"/>
          <p:cNvSpPr/>
          <p:nvPr/>
        </p:nvSpPr>
        <p:spPr>
          <a:xfrm>
            <a:off x="3581177" y="4730130"/>
            <a:ext cx="57150" cy="57150"/>
          </a:xfrm>
          <a:prstGeom prst="roundRect">
            <a:avLst>
              <a:gd name="adj" fmla="val 50000"/>
            </a:avLst>
          </a:prstGeom>
          <a:solidFill>
            <a:srgbClr val="E3E2E0"/>
          </a:solidFill>
          <a:ln/>
        </p:spPr>
      </p:sp>
      <p:sp>
        <p:nvSpPr>
          <p:cNvPr id="46" name="static"/>
          <p:cNvSpPr/>
          <p:nvPr/>
        </p:nvSpPr>
        <p:spPr>
          <a:xfrm>
            <a:off x="3685952" y="4730130"/>
            <a:ext cx="57150" cy="57150"/>
          </a:xfrm>
          <a:prstGeom prst="roundRect">
            <a:avLst>
              <a:gd name="adj" fmla="val 50000"/>
            </a:avLst>
          </a:prstGeom>
          <a:solidFill>
            <a:srgbClr val="E3E2E0"/>
          </a:solidFill>
          <a:ln/>
        </p:spPr>
      </p:sp>
      <p:sp>
        <p:nvSpPr>
          <p:cNvPr id="47" name="static"/>
          <p:cNvSpPr/>
          <p:nvPr/>
        </p:nvSpPr>
        <p:spPr>
          <a:xfrm>
            <a:off x="3790727" y="4730130"/>
            <a:ext cx="57150" cy="57150"/>
          </a:xfrm>
          <a:prstGeom prst="roundRect">
            <a:avLst>
              <a:gd name="adj" fmla="val 50000"/>
            </a:avLst>
          </a:prstGeom>
          <a:solidFill>
            <a:srgbClr val="E3E2E0"/>
          </a:solidFill>
          <a:ln/>
        </p:spPr>
      </p:sp>
      <p:sp>
        <p:nvSpPr>
          <p:cNvPr id="48" name="static"/>
          <p:cNvSpPr/>
          <p:nvPr/>
        </p:nvSpPr>
        <p:spPr>
          <a:xfrm>
            <a:off x="3895502" y="4730130"/>
            <a:ext cx="57150" cy="57150"/>
          </a:xfrm>
          <a:prstGeom prst="roundRect">
            <a:avLst>
              <a:gd name="adj" fmla="val 50000"/>
            </a:avLst>
          </a:prstGeom>
          <a:solidFill>
            <a:srgbClr val="E3E2E0"/>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59" fill="hold">
                      <p:stCondLst>
                        <p:cond delay="indefinite"/>
                      </p:stCondLst>
                      <p:childTnLst>
                        <p:par>
                          <p:cTn id="60"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700"/>
                                        <p:tgtEl>
                                          <p:spTgt spid="7"/>
                                        </p:tgtEl>
                                      </p:cBhvr>
                                    </p:animEffect>
                                    <p:anim calcmode="lin" valueType="num">
                                      <p:cBhvr additive="base">
                                        <p:cTn id="6" dur="700" fill="hold"/>
                                        <p:tgtEl>
                                          <p:spTgt spid="7"/>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700"/>
                                        <p:tgtEl>
                                          <p:spTgt spid="8"/>
                                        </p:tgtEl>
                                      </p:cBhvr>
                                    </p:animEffect>
                                    <p:anim calcmode="lin" valueType="num">
                                      <p:cBhvr additive="base">
                                        <p:cTn id="10" dur="700" fill="hold"/>
                                        <p:tgtEl>
                                          <p:spTgt spid="8"/>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additive="base">
                                        <p:cTn id="14" dur="700" fill="hold"/>
                                        <p:tgtEl>
                                          <p:spTgt spid="9"/>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anim calcmode="lin" valueType="num">
                                      <p:cBhvr additive="base">
                                        <p:cTn id="18" dur="700" fill="hold"/>
                                        <p:tgtEl>
                                          <p:spTgt spid="10"/>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00"/>
                                        <p:tgtEl>
                                          <p:spTgt spid="11"/>
                                        </p:tgtEl>
                                      </p:cBhvr>
                                    </p:animEffect>
                                    <p:anim calcmode="lin" valueType="num">
                                      <p:cBhvr additive="base">
                                        <p:cTn id="22" dur="700" fill="hold"/>
                                        <p:tgtEl>
                                          <p:spTgt spid="11"/>
                                        </p:tgtEl>
                                        <p:attrNameLst>
                                          <p:attrName>ppt_y</p:attrName>
                                        </p:attrNameLst>
                                      </p:cBhvr>
                                      <p:tavLst>
                                        <p:tav tm="0">
                                          <p:val>
                                            <p:strVal val="#ppt_y+.08"/>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700"/>
                                        <p:tgtEl>
                                          <p:spTgt spid="12"/>
                                        </p:tgtEl>
                                      </p:cBhvr>
                                    </p:animEffect>
                                    <p:anim calcmode="lin" valueType="num">
                                      <p:cBhvr additive="base">
                                        <p:cTn id="26" dur="700" fill="hold"/>
                                        <p:tgtEl>
                                          <p:spTgt spid="12"/>
                                        </p:tgtEl>
                                        <p:attrNameLst>
                                          <p:attrName>ppt_y</p:attrName>
                                        </p:attrNameLst>
                                      </p:cBhvr>
                                      <p:tavLst>
                                        <p:tav tm="0">
                                          <p:val>
                                            <p:strVal val="#ppt_y+.0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700"/>
                                        <p:tgtEl>
                                          <p:spTgt spid="13"/>
                                        </p:tgtEl>
                                      </p:cBhvr>
                                    </p:animEffect>
                                    <p:anim calcmode="lin" valueType="num">
                                      <p:cBhvr additive="base">
                                        <p:cTn id="30" dur="700" fill="hold"/>
                                        <p:tgtEl>
                                          <p:spTgt spid="13"/>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700"/>
                                        <p:tgtEl>
                                          <p:spTgt spid="14"/>
                                        </p:tgtEl>
                                      </p:cBhvr>
                                    </p:animEffect>
                                    <p:anim calcmode="lin" valueType="num">
                                      <p:cBhvr additive="base">
                                        <p:cTn id="34" dur="700" fill="hold"/>
                                        <p:tgtEl>
                                          <p:spTgt spid="14"/>
                                        </p:tgtEl>
                                        <p:attrNameLst>
                                          <p:attrName>ppt_y</p:attrName>
                                        </p:attrNameLst>
                                      </p:cBhvr>
                                      <p:tavLst>
                                        <p:tav tm="0">
                                          <p:val>
                                            <p:strVal val="#ppt_y+.08"/>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700"/>
                                        <p:tgtEl>
                                          <p:spTgt spid="15"/>
                                        </p:tgtEl>
                                      </p:cBhvr>
                                    </p:animEffect>
                                    <p:anim calcmode="lin" valueType="num">
                                      <p:cBhvr additive="base">
                                        <p:cTn id="38" dur="700" fill="hold"/>
                                        <p:tgtEl>
                                          <p:spTgt spid="15"/>
                                        </p:tgtEl>
                                        <p:attrNameLst>
                                          <p:attrName>ppt_y</p:attrName>
                                        </p:attrNameLst>
                                      </p:cBhvr>
                                      <p:tavLst>
                                        <p:tav tm="0">
                                          <p:val>
                                            <p:strVal val="#ppt_y+.0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700"/>
                                        <p:tgtEl>
                                          <p:spTgt spid="16"/>
                                        </p:tgtEl>
                                      </p:cBhvr>
                                    </p:animEffect>
                                    <p:anim calcmode="lin" valueType="num">
                                      <p:cBhvr additive="base">
                                        <p:cTn id="42" dur="700" fill="hold"/>
                                        <p:tgtEl>
                                          <p:spTgt spid="16"/>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700"/>
                                        <p:tgtEl>
                                          <p:spTgt spid="17"/>
                                        </p:tgtEl>
                                      </p:cBhvr>
                                    </p:animEffect>
                                    <p:anim calcmode="lin" valueType="num">
                                      <p:cBhvr additive="base">
                                        <p:cTn id="46" dur="700" fill="hold"/>
                                        <p:tgtEl>
                                          <p:spTgt spid="17"/>
                                        </p:tgtEl>
                                        <p:attrNameLst>
                                          <p:attrName>ppt_y</p:attrName>
                                        </p:attrNameLst>
                                      </p:cBhvr>
                                      <p:tavLst>
                                        <p:tav tm="0">
                                          <p:val>
                                            <p:strVal val="#ppt_y+.0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700"/>
                                        <p:tgtEl>
                                          <p:spTgt spid="18"/>
                                        </p:tgtEl>
                                      </p:cBhvr>
                                    </p:animEffect>
                                    <p:anim calcmode="lin" valueType="num">
                                      <p:cBhvr additive="base">
                                        <p:cTn id="50" dur="700" fill="hold"/>
                                        <p:tgtEl>
                                          <p:spTgt spid="18"/>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700"/>
                                        <p:tgtEl>
                                          <p:spTgt spid="19"/>
                                        </p:tgtEl>
                                      </p:cBhvr>
                                    </p:animEffect>
                                    <p:anim calcmode="lin" valueType="num">
                                      <p:cBhvr additive="base">
                                        <p:cTn id="54" dur="700" fill="hold"/>
                                        <p:tgtEl>
                                          <p:spTgt spid="19"/>
                                        </p:tgtEl>
                                        <p:attrNameLst>
                                          <p:attrName>ppt_y</p:attrName>
                                        </p:attrNameLst>
                                      </p:cBhvr>
                                      <p:tavLst>
                                        <p:tav tm="0">
                                          <p:val>
                                            <p:strVal val="#ppt_y+.0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700"/>
                                        <p:tgtEl>
                                          <p:spTgt spid="20"/>
                                        </p:tgtEl>
                                      </p:cBhvr>
                                    </p:animEffect>
                                    <p:anim calcmode="lin" valueType="num">
                                      <p:cBhvr additive="base">
                                        <p:cTn id="58" dur="700" fill="hold"/>
                                        <p:tgtEl>
                                          <p:spTgt spid="20"/>
                                        </p:tgtEl>
                                        <p:attrNameLst>
                                          <p:attrName>ppt_y</p:attrName>
                                        </p:attrNameLst>
                                      </p:cBhvr>
                                      <p:tavLst>
                                        <p:tav tm="0">
                                          <p:val>
                                            <p:strVal val="#ppt_y+.08"/>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700"/>
                                        <p:tgtEl>
                                          <p:spTgt spid="21"/>
                                        </p:tgtEl>
                                      </p:cBhvr>
                                    </p:animEffect>
                                    <p:anim calcmode="lin" valueType="num">
                                      <p:cBhvr additive="base">
                                        <p:cTn id="64" dur="700" fill="hold"/>
                                        <p:tgtEl>
                                          <p:spTgt spid="21"/>
                                        </p:tgtEl>
                                        <p:attrNameLst>
                                          <p:attrName>ppt_y</p:attrName>
                                        </p:attrNameLst>
                                      </p:cBhvr>
                                      <p:tavLst>
                                        <p:tav tm="0">
                                          <p:val>
                                            <p:strVal val="#ppt_y+.0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700"/>
                                        <p:tgtEl>
                                          <p:spTgt spid="22"/>
                                        </p:tgtEl>
                                      </p:cBhvr>
                                    </p:animEffect>
                                    <p:anim calcmode="lin" valueType="num">
                                      <p:cBhvr additive="base">
                                        <p:cTn id="68" dur="700" fill="hold"/>
                                        <p:tgtEl>
                                          <p:spTgt spid="22"/>
                                        </p:tgtEl>
                                        <p:attrNameLst>
                                          <p:attrName>ppt_y</p:attrName>
                                        </p:attrNameLst>
                                      </p:cBhvr>
                                      <p:tavLst>
                                        <p:tav tm="0">
                                          <p:val>
                                            <p:strVal val="#ppt_y+.0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700"/>
                                        <p:tgtEl>
                                          <p:spTgt spid="23"/>
                                        </p:tgtEl>
                                      </p:cBhvr>
                                    </p:animEffect>
                                    <p:anim calcmode="lin" valueType="num">
                                      <p:cBhvr additive="base">
                                        <p:cTn id="72" dur="700" fill="hold"/>
                                        <p:tgtEl>
                                          <p:spTgt spid="23"/>
                                        </p:tgtEl>
                                        <p:attrNameLst>
                                          <p:attrName>ppt_y</p:attrName>
                                        </p:attrNameLst>
                                      </p:cBhvr>
                                      <p:tavLst>
                                        <p:tav tm="0">
                                          <p:val>
                                            <p:strVal val="#ppt_y+.08"/>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700"/>
                                        <p:tgtEl>
                                          <p:spTgt spid="24"/>
                                        </p:tgtEl>
                                      </p:cBhvr>
                                    </p:animEffect>
                                    <p:anim calcmode="lin" valueType="num">
                                      <p:cBhvr additive="base">
                                        <p:cTn id="76" dur="700" fill="hold"/>
                                        <p:tgtEl>
                                          <p:spTgt spid="24"/>
                                        </p:tgtEl>
                                        <p:attrNameLst>
                                          <p:attrName>ppt_y</p:attrName>
                                        </p:attrNameLst>
                                      </p:cBhvr>
                                      <p:tavLst>
                                        <p:tav tm="0">
                                          <p:val>
                                            <p:strVal val="#ppt_y+.08"/>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700"/>
                                        <p:tgtEl>
                                          <p:spTgt spid="25"/>
                                        </p:tgtEl>
                                      </p:cBhvr>
                                    </p:animEffect>
                                    <p:anim calcmode="lin" valueType="num">
                                      <p:cBhvr additive="base">
                                        <p:cTn id="82" dur="700" fill="hold"/>
                                        <p:tgtEl>
                                          <p:spTgt spid="25"/>
                                        </p:tgtEl>
                                        <p:attrNameLst>
                                          <p:attrName>ppt_y</p:attrName>
                                        </p:attrNameLst>
                                      </p:cBhvr>
                                      <p:tavLst>
                                        <p:tav tm="0">
                                          <p:val>
                                            <p:strVal val="#ppt_y+.08"/>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700"/>
                                        <p:tgtEl>
                                          <p:spTgt spid="26"/>
                                        </p:tgtEl>
                                      </p:cBhvr>
                                    </p:animEffect>
                                    <p:anim calcmode="lin" valueType="num">
                                      <p:cBhvr additive="base">
                                        <p:cTn id="86" dur="700" fill="hold"/>
                                        <p:tgtEl>
                                          <p:spTgt spid="26"/>
                                        </p:tgtEl>
                                        <p:attrNameLst>
                                          <p:attrName>ppt_y</p:attrName>
                                        </p:attrNameLst>
                                      </p:cBhvr>
                                      <p:tavLst>
                                        <p:tav tm="0">
                                          <p:val>
                                            <p:strVal val="#ppt_y+.08"/>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700"/>
                                        <p:tgtEl>
                                          <p:spTgt spid="27"/>
                                        </p:tgtEl>
                                      </p:cBhvr>
                                    </p:animEffect>
                                    <p:anim calcmode="lin" valueType="num">
                                      <p:cBhvr additive="base">
                                        <p:cTn id="90" dur="700" fill="hold"/>
                                        <p:tgtEl>
                                          <p:spTgt spid="27"/>
                                        </p:tgtEl>
                                        <p:attrNameLst>
                                          <p:attrName>ppt_y</p:attrName>
                                        </p:attrNameLst>
                                      </p:cBhvr>
                                      <p:tavLst>
                                        <p:tav tm="0">
                                          <p:val>
                                            <p:strVal val="#ppt_y+.08"/>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fade">
                                      <p:cBhvr>
                                        <p:cTn id="93" dur="700"/>
                                        <p:tgtEl>
                                          <p:spTgt spid="28"/>
                                        </p:tgtEl>
                                      </p:cBhvr>
                                    </p:animEffect>
                                    <p:anim calcmode="lin" valueType="num">
                                      <p:cBhvr additive="base">
                                        <p:cTn id="94" dur="700" fill="hold"/>
                                        <p:tgtEl>
                                          <p:spTgt spid="28"/>
                                        </p:tgtEl>
                                        <p:attrNameLst>
                                          <p:attrName>ppt_y</p:attrName>
                                        </p:attrNameLst>
                                      </p:cBhvr>
                                      <p:tavLst>
                                        <p:tav tm="0">
                                          <p:val>
                                            <p:strVal val="#ppt_y+.08"/>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700"/>
                                        <p:tgtEl>
                                          <p:spTgt spid="29"/>
                                        </p:tgtEl>
                                      </p:cBhvr>
                                    </p:animEffect>
                                    <p:anim calcmode="lin" valueType="num">
                                      <p:cBhvr additive="base">
                                        <p:cTn id="98" dur="700" fill="hold"/>
                                        <p:tgtEl>
                                          <p:spTgt spid="29"/>
                                        </p:tgtEl>
                                        <p:attrNameLst>
                                          <p:attrName>ppt_y</p:attrName>
                                        </p:attrNameLst>
                                      </p:cBhvr>
                                      <p:tavLst>
                                        <p:tav tm="0">
                                          <p:val>
                                            <p:strVal val="#ppt_y+.08"/>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30"/>
                                        </p:tgtEl>
                                        <p:attrNameLst>
                                          <p:attrName>style.visibility</p:attrName>
                                        </p:attrNameLst>
                                      </p:cBhvr>
                                      <p:to>
                                        <p:strVal val="visible"/>
                                      </p:to>
                                    </p:set>
                                    <p:animEffect transition="in" filter="fade">
                                      <p:cBhvr>
                                        <p:cTn id="101" dur="700"/>
                                        <p:tgtEl>
                                          <p:spTgt spid="30"/>
                                        </p:tgtEl>
                                      </p:cBhvr>
                                    </p:animEffect>
                                    <p:anim calcmode="lin" valueType="num">
                                      <p:cBhvr additive="base">
                                        <p:cTn id="102" dur="700" fill="hold"/>
                                        <p:tgtEl>
                                          <p:spTgt spid="30"/>
                                        </p:tgtEl>
                                        <p:attrNameLst>
                                          <p:attrName>ppt_y</p:attrName>
                                        </p:attrNameLst>
                                      </p:cBhvr>
                                      <p:tavLst>
                                        <p:tav tm="0">
                                          <p:val>
                                            <p:strVal val="#ppt_y+.08"/>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700"/>
                                        <p:tgtEl>
                                          <p:spTgt spid="31"/>
                                        </p:tgtEl>
                                      </p:cBhvr>
                                    </p:animEffect>
                                    <p:anim calcmode="lin" valueType="num">
                                      <p:cBhvr additive="base">
                                        <p:cTn id="106" dur="700" fill="hold"/>
                                        <p:tgtEl>
                                          <p:spTgt spid="31"/>
                                        </p:tgtEl>
                                        <p:attrNameLst>
                                          <p:attrName>ppt_y</p:attrName>
                                        </p:attrNameLst>
                                      </p:cBhvr>
                                      <p:tavLst>
                                        <p:tav tm="0">
                                          <p:val>
                                            <p:strVal val="#ppt_y+.08"/>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32"/>
                                        </p:tgtEl>
                                        <p:attrNameLst>
                                          <p:attrName>style.visibility</p:attrName>
                                        </p:attrNameLst>
                                      </p:cBhvr>
                                      <p:to>
                                        <p:strVal val="visible"/>
                                      </p:to>
                                    </p:set>
                                    <p:animEffect transition="in" filter="fade">
                                      <p:cBhvr>
                                        <p:cTn id="109" dur="700"/>
                                        <p:tgtEl>
                                          <p:spTgt spid="32"/>
                                        </p:tgtEl>
                                      </p:cBhvr>
                                    </p:animEffect>
                                    <p:anim calcmode="lin" valueType="num">
                                      <p:cBhvr additive="base">
                                        <p:cTn id="110" dur="700" fill="hold"/>
                                        <p:tgtEl>
                                          <p:spTgt spid="32"/>
                                        </p:tgtEl>
                                        <p:attrNameLst>
                                          <p:attrName>ppt_y</p:attrName>
                                        </p:attrNameLst>
                                      </p:cBhvr>
                                      <p:tavLst>
                                        <p:tav tm="0">
                                          <p:val>
                                            <p:strVal val="#ppt_y+.08"/>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33"/>
                                        </p:tgtEl>
                                        <p:attrNameLst>
                                          <p:attrName>style.visibility</p:attrName>
                                        </p:attrNameLst>
                                      </p:cBhvr>
                                      <p:to>
                                        <p:strVal val="visible"/>
                                      </p:to>
                                    </p:set>
                                    <p:animEffect transition="in" filter="fade">
                                      <p:cBhvr>
                                        <p:cTn id="113" dur="700"/>
                                        <p:tgtEl>
                                          <p:spTgt spid="33"/>
                                        </p:tgtEl>
                                      </p:cBhvr>
                                    </p:animEffect>
                                    <p:anim calcmode="lin" valueType="num">
                                      <p:cBhvr additive="base">
                                        <p:cTn id="114" dur="700" fill="hold"/>
                                        <p:tgtEl>
                                          <p:spTgt spid="33"/>
                                        </p:tgtEl>
                                        <p:attrNameLst>
                                          <p:attrName>ppt_y</p:attrName>
                                        </p:attrNameLst>
                                      </p:cBhvr>
                                      <p:tavLst>
                                        <p:tav tm="0">
                                          <p:val>
                                            <p:strVal val="#ppt_y+.08"/>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34"/>
                                        </p:tgtEl>
                                        <p:attrNameLst>
                                          <p:attrName>style.visibility</p:attrName>
                                        </p:attrNameLst>
                                      </p:cBhvr>
                                      <p:to>
                                        <p:strVal val="visible"/>
                                      </p:to>
                                    </p:set>
                                    <p:animEffect transition="in" filter="fade">
                                      <p:cBhvr>
                                        <p:cTn id="117" dur="700"/>
                                        <p:tgtEl>
                                          <p:spTgt spid="34"/>
                                        </p:tgtEl>
                                      </p:cBhvr>
                                    </p:animEffect>
                                    <p:anim calcmode="lin" valueType="num">
                                      <p:cBhvr additive="base">
                                        <p:cTn id="118" dur="700" fill="hold"/>
                                        <p:tgtEl>
                                          <p:spTgt spid="34"/>
                                        </p:tgtEl>
                                        <p:attrNameLst>
                                          <p:attrName>ppt_y</p:attrName>
                                        </p:attrNameLst>
                                      </p:cBhvr>
                                      <p:tavLst>
                                        <p:tav tm="0">
                                          <p:val>
                                            <p:strVal val="#ppt_y+.08"/>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35"/>
                                        </p:tgtEl>
                                        <p:attrNameLst>
                                          <p:attrName>style.visibility</p:attrName>
                                        </p:attrNameLst>
                                      </p:cBhvr>
                                      <p:to>
                                        <p:strVal val="visible"/>
                                      </p:to>
                                    </p:set>
                                    <p:animEffect transition="in" filter="fade">
                                      <p:cBhvr>
                                        <p:cTn id="123" dur="500"/>
                                        <p:tgtEl>
                                          <p:spTgt spid="3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36"/>
                                        </p:tgtEl>
                                        <p:attrNameLst>
                                          <p:attrName>style.visibility</p:attrName>
                                        </p:attrNameLst>
                                      </p:cBhvr>
                                      <p:to>
                                        <p:strVal val="visible"/>
                                      </p:to>
                                    </p:set>
                                    <p:animEffect transition="in" filter="fade">
                                      <p:cBhvr>
                                        <p:cTn id="126" dur="500"/>
                                        <p:tgtEl>
                                          <p:spTgt spid="3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37"/>
                                        </p:tgtEl>
                                        <p:attrNameLst>
                                          <p:attrName>style.visibility</p:attrName>
                                        </p:attrNameLst>
                                      </p:cBhvr>
                                      <p:to>
                                        <p:strVal val="visible"/>
                                      </p:to>
                                    </p:set>
                                    <p:animEffect transition="in" filter="fade">
                                      <p:cBhvr>
                                        <p:cTn id="129" dur="500"/>
                                        <p:tgtEl>
                                          <p:spTgt spid="37"/>
                                        </p:tgtEl>
                                      </p:cBhvr>
                                    </p:animEffect>
                                  </p:childTnLst>
                                </p:cTn>
                              </p:par>
                            </p:childTnLst>
                          </p:cTn>
                        </p:par>
                      </p:childTnLst>
                    </p:cTn>
                  </p:par>
                  <p:par>
                    <p:cTn id="140" fill="hold">
                      <p:stCondLst>
                        <p:cond delay="indefinite"/>
                      </p:stCondLst>
                      <p:childTnLst>
                        <p:par>
                          <p:cTn id="141" fill="hold">
                            <p:stCondLst>
                              <p:cond delay="0"/>
                            </p:stCondLst>
                            <p:childTnLst>
                              <p:par>
                                <p:cTn id="132" presetID="23" presetClass="entr" presetSubtype="16" fill="hold" grpId="0" nodeType="clickEffect">
                                  <p:stCondLst>
                                    <p:cond delay="0"/>
                                  </p:stCondLst>
                                  <p:childTnLst>
                                    <p:set>
                                      <p:cBhvr>
                                        <p:cTn id="133" dur="1" fill="hold">
                                          <p:stCondLst>
                                            <p:cond delay="0"/>
                                          </p:stCondLst>
                                        </p:cTn>
                                        <p:tgtEl>
                                          <p:spTgt spid="38"/>
                                        </p:tgtEl>
                                        <p:attrNameLst>
                                          <p:attrName>style.visibility</p:attrName>
                                        </p:attrNameLst>
                                      </p:cBhvr>
                                      <p:to>
                                        <p:strVal val="visible"/>
                                      </p:to>
                                    </p:set>
                                    <p:animScale>
                                      <p:cBhvr>
                                        <p:cTn id="134" dur="500" fill="hold"/>
                                        <p:tgtEl>
                                          <p:spTgt spid="38"/>
                                        </p:tgtEl>
                                      </p:cBhvr>
                                      <p:from x="0" y="0"/>
                                      <p:to x="100000" y="100000"/>
                                    </p:animScale>
                                    <p:animEffect transition="in" filter="fade">
                                      <p:cBhvr>
                                        <p:cTn id="135" dur="500"/>
                                        <p:tgtEl>
                                          <p:spTgt spid="38"/>
                                        </p:tgtEl>
                                      </p:cBhvr>
                                    </p:animEffect>
                                  </p:childTnLst>
                                </p:cTn>
                              </p:par>
                              <p:par>
                                <p:cTn id="136" presetID="23" presetClass="entr" presetSubtype="16" fill="hold" grpId="0" nodeType="withEffect">
                                  <p:stCondLst>
                                    <p:cond delay="0"/>
                                  </p:stCondLst>
                                  <p:childTnLst>
                                    <p:set>
                                      <p:cBhvr>
                                        <p:cTn id="137" dur="1" fill="hold">
                                          <p:stCondLst>
                                            <p:cond delay="0"/>
                                          </p:stCondLst>
                                        </p:cTn>
                                        <p:tgtEl>
                                          <p:spTgt spid="39"/>
                                        </p:tgtEl>
                                        <p:attrNameLst>
                                          <p:attrName>style.visibility</p:attrName>
                                        </p:attrNameLst>
                                      </p:cBhvr>
                                      <p:to>
                                        <p:strVal val="visible"/>
                                      </p:to>
                                    </p:set>
                                    <p:animScale>
                                      <p:cBhvr>
                                        <p:cTn id="138" dur="500" fill="hold"/>
                                        <p:tgtEl>
                                          <p:spTgt spid="39"/>
                                        </p:tgtEl>
                                      </p:cBhvr>
                                      <p:from x="0" y="0"/>
                                      <p:to x="100000" y="100000"/>
                                    </p:animScale>
                                    <p:animEffect transition="in" filter="fade">
                                      <p:cBhvr>
                                        <p:cTn id="13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8023860" cy="328613"/>
          </a:xfrm>
          <a:prstGeom prst="rect">
            <a:avLst/>
          </a:prstGeom>
          <a:noFill/>
          <a:ln/>
        </p:spPr>
        <p:txBody>
          <a:bodyPr wrap="none" lIns="0" tIns="0" rIns="0" bIns="0" rtlCol="0" anchor="ctr"/>
          <a:lstStyle/>
          <a:p>
            <a:pPr algn="l" indent="0" marL="0">
              <a:lnSpc>
                <a:spcPts val="2588"/>
              </a:lnSpc>
              <a:buNone/>
            </a:pPr>
            <a:r>
              <a:rPr lang="en-US" sz="2250" b="1" dirty="0">
                <a:solidFill>
                  <a:srgbClr val="37352F"/>
                </a:solidFill>
                <a:latin typeface="Inter" pitchFamily="34" charset="0"/>
                <a:ea typeface="Inter" pitchFamily="34" charset="-122"/>
                <a:cs typeface="Inter" pitchFamily="34" charset="-120"/>
              </a:rPr>
              <a:t>Chapter 4: Storytelling Through Touchpoints</a:t>
            </a:r>
            <a:endParaRPr lang="en-US" sz="2250" dirty="0"/>
          </a:p>
        </p:txBody>
      </p:sp>
      <p:sp>
        <p:nvSpPr>
          <p:cNvPr id="3" name="static"/>
          <p:cNvSpPr txBox="1"/>
          <p:nvPr/>
        </p:nvSpPr>
        <p:spPr>
          <a:xfrm>
            <a:off x="609600" y="1204913"/>
            <a:ext cx="6686550" cy="210443"/>
          </a:xfrm>
          <a:prstGeom prst="rect">
            <a:avLst/>
          </a:prstGeom>
          <a:noFill/>
          <a:ln/>
        </p:spPr>
        <p:txBody>
          <a:bodyPr wrap="none" lIns="0" tIns="0" rIns="0" bIns="0" rtlCol="0" anchor="ctr"/>
          <a:lstStyle/>
          <a:p>
            <a:pPr algn="l" indent="0" marL="0">
              <a:lnSpc>
                <a:spcPts val="1658"/>
              </a:lnSpc>
              <a:buNone/>
            </a:pPr>
            <a:r>
              <a:rPr lang="en-US" sz="1275" dirty="0">
                <a:solidFill>
                  <a:srgbClr val="37352F"/>
                </a:solidFill>
                <a:latin typeface="Inter" pitchFamily="34" charset="0"/>
                <a:ea typeface="Inter" pitchFamily="34" charset="-122"/>
                <a:cs typeface="Inter" pitchFamily="34" charset="-120"/>
              </a:rPr>
              <a:t>Turning Everyday Rituals into Brand Loyalty</a:t>
            </a:r>
            <a:endParaRPr lang="en-US" sz="1275"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PART 3 · OPERATIONALIZING EXPERIENCE</a:t>
            </a:r>
            <a:endParaRPr lang="en-US" sz="825" dirty="0"/>
          </a:p>
        </p:txBody>
      </p:sp>
      <p:sp>
        <p:nvSpPr>
          <p:cNvPr id="5" name="!!key4-1"/>
          <p:cNvSpPr/>
          <p:nvPr/>
        </p:nvSpPr>
        <p:spPr>
          <a:xfrm>
            <a:off x="6438900" y="419100"/>
            <a:ext cx="2095500" cy="255240"/>
          </a:xfrm>
          <a:prstGeom prst="roundRect">
            <a:avLst>
              <a:gd name="adj" fmla="val 11195"/>
            </a:avLst>
          </a:prstGeom>
          <a:solidFill>
            <a:srgbClr val="FDECC8"/>
          </a:solidFill>
          <a:ln/>
        </p:spPr>
      </p:sp>
      <p:sp>
        <p:nvSpPr>
          <p:cNvPr id="6" name="!!key4-2"/>
          <p:cNvSpPr txBox="1"/>
          <p:nvPr/>
        </p:nvSpPr>
        <p:spPr>
          <a:xfrm>
            <a:off x="6438900" y="4191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Human experience, at scale</a:t>
            </a:r>
            <a:endParaRPr lang="en-US" sz="900" dirty="0"/>
          </a:p>
        </p:txBody>
      </p:sp>
      <p:sp>
        <p:nvSpPr>
          <p:cNvPr id="7" name="b1:rise"/>
          <p:cNvSpPr/>
          <p:nvPr/>
        </p:nvSpPr>
        <p:spPr>
          <a:xfrm>
            <a:off x="609600" y="1676400"/>
            <a:ext cx="2566988" cy="1666875"/>
          </a:xfrm>
          <a:prstGeom prst="roundRect">
            <a:avLst>
              <a:gd name="adj" fmla="val 2286"/>
            </a:avLst>
          </a:prstGeom>
          <a:solidFill>
            <a:srgbClr val="FFFFFF"/>
          </a:solidFill>
          <a:ln w="6350">
            <a:solidFill>
              <a:srgbClr val="E9E9E7"/>
            </a:solidFill>
            <a:prstDash val="solid"/>
          </a:ln>
        </p:spPr>
      </p:sp>
      <p:sp>
        <p:nvSpPr>
          <p:cNvPr id="8" name="b1:rise"/>
          <p:cNvSpPr txBox="1"/>
          <p:nvPr/>
        </p:nvSpPr>
        <p:spPr>
          <a:xfrm>
            <a:off x="766763" y="1833562"/>
            <a:ext cx="295269" cy="284783"/>
          </a:xfrm>
          <a:prstGeom prst="rect">
            <a:avLst/>
          </a:prstGeom>
          <a:noFill/>
          <a:ln/>
        </p:spPr>
        <p:txBody>
          <a:bodyPr wrap="none" lIns="0" tIns="0" rIns="0" bIns="0" rtlCol="0" anchor="ctr"/>
          <a:lstStyle/>
          <a:p>
            <a:pPr algn="l" indent="0" marL="0">
              <a:lnSpc>
                <a:spcPts val="2242"/>
              </a:lnSpc>
              <a:buNone/>
            </a:pPr>
            <a:r>
              <a:rPr lang="en-US" sz="1725" dirty="0">
                <a:solidFill>
                  <a:srgbClr val="37352F"/>
                </a:solidFill>
                <a:latin typeface="Inter" pitchFamily="34" charset="0"/>
                <a:ea typeface="Inter" pitchFamily="34" charset="-122"/>
                <a:cs typeface="Inter" pitchFamily="34" charset="-120"/>
              </a:rPr>
              <a:t>👥</a:t>
            </a:r>
            <a:endParaRPr lang="en-US" sz="1725" dirty="0"/>
          </a:p>
        </p:txBody>
      </p:sp>
      <p:sp>
        <p:nvSpPr>
          <p:cNvPr id="9" name="b1:rise"/>
          <p:cNvSpPr txBox="1"/>
          <p:nvPr/>
        </p:nvSpPr>
        <p:spPr>
          <a:xfrm>
            <a:off x="1116360" y="1902619"/>
            <a:ext cx="885164"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TOUCHPOINT 1</a:t>
            </a:r>
            <a:endParaRPr lang="en-US" sz="825" dirty="0"/>
          </a:p>
        </p:txBody>
      </p:sp>
      <p:sp>
        <p:nvSpPr>
          <p:cNvPr id="10" name="b1:rise"/>
          <p:cNvSpPr txBox="1"/>
          <p:nvPr/>
        </p:nvSpPr>
        <p:spPr>
          <a:xfrm>
            <a:off x="766763" y="2185020"/>
            <a:ext cx="2342769" cy="411361"/>
          </a:xfrm>
          <a:prstGeom prst="rect">
            <a:avLst/>
          </a:prstGeom>
          <a:noFill/>
          <a:ln/>
        </p:spPr>
        <p:txBody>
          <a:bodyPr wrap="square" lIns="0" tIns="0" rIns="0" bIns="0" rtlCol="0" anchor="t"/>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Personalization &amp; Connection</a:t>
            </a:r>
            <a:endParaRPr lang="en-US" sz="1350" dirty="0"/>
          </a:p>
        </p:txBody>
      </p:sp>
      <p:sp>
        <p:nvSpPr>
          <p:cNvPr id="11" name="b1:rise"/>
          <p:cNvSpPr txBox="1"/>
          <p:nvPr/>
        </p:nvSpPr>
        <p:spPr>
          <a:xfrm>
            <a:off x="766763" y="2663056"/>
            <a:ext cx="2342769" cy="559891"/>
          </a:xfrm>
          <a:prstGeom prst="rect">
            <a:avLst/>
          </a:prstGeom>
          <a:noFill/>
          <a:ln/>
        </p:spPr>
        <p:txBody>
          <a:bodyPr wrap="square" lIns="0" tIns="0" rIns="0" bIns="0" rtlCol="0" anchor="t"/>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Customer names on cups, eye-contact barista service, and customizable handcrafted beverages.</a:t>
            </a:r>
            <a:endParaRPr lang="en-US" sz="1050" dirty="0"/>
          </a:p>
        </p:txBody>
      </p:sp>
      <p:sp>
        <p:nvSpPr>
          <p:cNvPr id="12" name="b2:rise"/>
          <p:cNvSpPr/>
          <p:nvPr/>
        </p:nvSpPr>
        <p:spPr>
          <a:xfrm>
            <a:off x="3290887" y="1676400"/>
            <a:ext cx="2566988" cy="1666875"/>
          </a:xfrm>
          <a:prstGeom prst="roundRect">
            <a:avLst>
              <a:gd name="adj" fmla="val 2286"/>
            </a:avLst>
          </a:prstGeom>
          <a:solidFill>
            <a:srgbClr val="FFFFFF"/>
          </a:solidFill>
          <a:ln w="6350">
            <a:solidFill>
              <a:srgbClr val="E9E9E7"/>
            </a:solidFill>
            <a:prstDash val="solid"/>
          </a:ln>
        </p:spPr>
      </p:sp>
      <p:sp>
        <p:nvSpPr>
          <p:cNvPr id="13" name="b2:rise"/>
          <p:cNvSpPr txBox="1"/>
          <p:nvPr/>
        </p:nvSpPr>
        <p:spPr>
          <a:xfrm>
            <a:off x="3448050" y="1833562"/>
            <a:ext cx="295269" cy="284783"/>
          </a:xfrm>
          <a:prstGeom prst="rect">
            <a:avLst/>
          </a:prstGeom>
          <a:noFill/>
          <a:ln/>
        </p:spPr>
        <p:txBody>
          <a:bodyPr wrap="none" lIns="0" tIns="0" rIns="0" bIns="0" rtlCol="0" anchor="ctr"/>
          <a:lstStyle/>
          <a:p>
            <a:pPr algn="l" indent="0" marL="0">
              <a:lnSpc>
                <a:spcPts val="2242"/>
              </a:lnSpc>
              <a:buNone/>
            </a:pPr>
            <a:r>
              <a:rPr lang="en-US" sz="1725" dirty="0">
                <a:solidFill>
                  <a:srgbClr val="37352F"/>
                </a:solidFill>
                <a:latin typeface="Inter" pitchFamily="34" charset="0"/>
                <a:ea typeface="Inter" pitchFamily="34" charset="-122"/>
                <a:cs typeface="Inter" pitchFamily="34" charset="-120"/>
              </a:rPr>
              <a:t>✅</a:t>
            </a:r>
            <a:endParaRPr lang="en-US" sz="1725" dirty="0"/>
          </a:p>
        </p:txBody>
      </p:sp>
      <p:sp>
        <p:nvSpPr>
          <p:cNvPr id="14" name="b2:rise"/>
          <p:cNvSpPr txBox="1"/>
          <p:nvPr/>
        </p:nvSpPr>
        <p:spPr>
          <a:xfrm>
            <a:off x="3797647" y="1902619"/>
            <a:ext cx="908149"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TOUCHPOINT 2</a:t>
            </a:r>
            <a:endParaRPr lang="en-US" sz="825" dirty="0"/>
          </a:p>
        </p:txBody>
      </p:sp>
      <p:sp>
        <p:nvSpPr>
          <p:cNvPr id="15" name="b2:rise"/>
          <p:cNvSpPr txBox="1"/>
          <p:nvPr/>
        </p:nvSpPr>
        <p:spPr>
          <a:xfrm>
            <a:off x="3448050" y="2185020"/>
            <a:ext cx="2432876"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Sensory Consistency</a:t>
            </a:r>
            <a:endParaRPr lang="en-US" sz="1350" dirty="0"/>
          </a:p>
        </p:txBody>
      </p:sp>
      <p:sp>
        <p:nvSpPr>
          <p:cNvPr id="16" name="b2:rise"/>
          <p:cNvSpPr txBox="1"/>
          <p:nvPr/>
        </p:nvSpPr>
        <p:spPr>
          <a:xfrm>
            <a:off x="3448050" y="2457376"/>
            <a:ext cx="2342769" cy="559891"/>
          </a:xfrm>
          <a:prstGeom prst="rect">
            <a:avLst/>
          </a:prstGeom>
          <a:noFill/>
          <a:ln/>
        </p:spPr>
        <p:txBody>
          <a:bodyPr wrap="square" lIns="0" tIns="0" rIns="0" bIns="0" rtlCol="0" anchor="t"/>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Consistent ambient design, signature scents, and curated music playlists across global stores.</a:t>
            </a:r>
            <a:endParaRPr lang="en-US" sz="1050" dirty="0"/>
          </a:p>
        </p:txBody>
      </p:sp>
      <p:sp>
        <p:nvSpPr>
          <p:cNvPr id="17" name="b3:rise"/>
          <p:cNvSpPr/>
          <p:nvPr/>
        </p:nvSpPr>
        <p:spPr>
          <a:xfrm>
            <a:off x="5972175" y="1676400"/>
            <a:ext cx="2562225" cy="1666875"/>
          </a:xfrm>
          <a:prstGeom prst="roundRect">
            <a:avLst>
              <a:gd name="adj" fmla="val 2286"/>
            </a:avLst>
          </a:prstGeom>
          <a:solidFill>
            <a:srgbClr val="FFFFFF"/>
          </a:solidFill>
          <a:ln w="6350">
            <a:solidFill>
              <a:srgbClr val="E9E9E7"/>
            </a:solidFill>
            <a:prstDash val="solid"/>
          </a:ln>
        </p:spPr>
      </p:sp>
      <p:sp>
        <p:nvSpPr>
          <p:cNvPr id="18" name="b3:rise"/>
          <p:cNvSpPr txBox="1"/>
          <p:nvPr/>
        </p:nvSpPr>
        <p:spPr>
          <a:xfrm>
            <a:off x="6129338" y="1833562"/>
            <a:ext cx="295269" cy="284783"/>
          </a:xfrm>
          <a:prstGeom prst="rect">
            <a:avLst/>
          </a:prstGeom>
          <a:noFill/>
          <a:ln/>
        </p:spPr>
        <p:txBody>
          <a:bodyPr wrap="none" lIns="0" tIns="0" rIns="0" bIns="0" rtlCol="0" anchor="ctr"/>
          <a:lstStyle/>
          <a:p>
            <a:pPr algn="l" indent="0" marL="0">
              <a:lnSpc>
                <a:spcPts val="2242"/>
              </a:lnSpc>
              <a:buNone/>
            </a:pPr>
            <a:r>
              <a:rPr lang="en-US" sz="1725" dirty="0">
                <a:solidFill>
                  <a:srgbClr val="37352F"/>
                </a:solidFill>
                <a:latin typeface="Inter" pitchFamily="34" charset="0"/>
                <a:ea typeface="Inter" pitchFamily="34" charset="-122"/>
                <a:cs typeface="Inter" pitchFamily="34" charset="-120"/>
              </a:rPr>
              <a:t>🏠</a:t>
            </a:r>
            <a:endParaRPr lang="en-US" sz="1725" dirty="0"/>
          </a:p>
        </p:txBody>
      </p:sp>
      <p:sp>
        <p:nvSpPr>
          <p:cNvPr id="19" name="b3:rise"/>
          <p:cNvSpPr txBox="1"/>
          <p:nvPr/>
        </p:nvSpPr>
        <p:spPr>
          <a:xfrm>
            <a:off x="6478935" y="1902619"/>
            <a:ext cx="910239"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TOUCHPOINT 3</a:t>
            </a:r>
            <a:endParaRPr lang="en-US" sz="825" dirty="0"/>
          </a:p>
        </p:txBody>
      </p:sp>
      <p:sp>
        <p:nvSpPr>
          <p:cNvPr id="20" name="b3:rise"/>
          <p:cNvSpPr txBox="1"/>
          <p:nvPr/>
        </p:nvSpPr>
        <p:spPr>
          <a:xfrm>
            <a:off x="6129338" y="2185020"/>
            <a:ext cx="2427732"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Community Customization</a:t>
            </a:r>
            <a:endParaRPr lang="en-US" sz="1350" dirty="0"/>
          </a:p>
        </p:txBody>
      </p:sp>
      <p:sp>
        <p:nvSpPr>
          <p:cNvPr id="21" name="b3:rise"/>
          <p:cNvSpPr txBox="1"/>
          <p:nvPr/>
        </p:nvSpPr>
        <p:spPr>
          <a:xfrm>
            <a:off x="6129338" y="2457376"/>
            <a:ext cx="2337816" cy="559891"/>
          </a:xfrm>
          <a:prstGeom prst="rect">
            <a:avLst/>
          </a:prstGeom>
          <a:noFill/>
          <a:ln/>
        </p:spPr>
        <p:txBody>
          <a:bodyPr wrap="square" lIns="0" tIns="0" rIns="0" bIns="0" rtlCol="0" anchor="t"/>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Store architecture that reflects neighborhood heritage while keeping core brand values.</a:t>
            </a:r>
            <a:endParaRPr lang="en-US" sz="1050" dirty="0"/>
          </a:p>
        </p:txBody>
      </p:sp>
      <p:sp>
        <p:nvSpPr>
          <p:cNvPr id="22" name="b4:fade"/>
          <p:cNvSpPr txBox="1"/>
          <p:nvPr/>
        </p:nvSpPr>
        <p:spPr>
          <a:xfrm>
            <a:off x="609600" y="4124771"/>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Inter" pitchFamily="34" charset="0"/>
                <a:ea typeface="Inter" pitchFamily="34" charset="-122"/>
                <a:cs typeface="Inter" pitchFamily="34" charset="-120"/>
              </a:rPr>
              <a:t>➡️</a:t>
            </a:r>
            <a:endParaRPr lang="en-US" sz="1125" dirty="0"/>
          </a:p>
        </p:txBody>
      </p:sp>
      <p:sp>
        <p:nvSpPr>
          <p:cNvPr id="23" name="b4:fade"/>
          <p:cNvSpPr txBox="1"/>
          <p:nvPr/>
        </p:nvSpPr>
        <p:spPr>
          <a:xfrm>
            <a:off x="883146" y="4124325"/>
            <a:ext cx="6391120" cy="186630"/>
          </a:xfrm>
          <a:prstGeom prst="rect">
            <a:avLst/>
          </a:prstGeom>
          <a:noFill/>
          <a:ln/>
        </p:spPr>
        <p:txBody>
          <a:bodyPr wrap="none" lIns="0" tIns="0" rIns="0" bIns="0" rtlCol="0" anchor="ctr"/>
          <a:lstStyle/>
          <a:p>
            <a:pPr algn="l" indent="0" marL="0">
              <a:lnSpc>
                <a:spcPts val="1470"/>
              </a:lnSpc>
              <a:buNone/>
            </a:pPr>
            <a:r>
              <a:rPr lang="en-US" sz="1050" i="1" dirty="0">
                <a:solidFill>
                  <a:srgbClr val="37352F"/>
                </a:solidFill>
                <a:latin typeface="Inter" pitchFamily="34" charset="0"/>
                <a:ea typeface="Inter" pitchFamily="34" charset="-122"/>
                <a:cs typeface="Inter" pitchFamily="34" charset="-120"/>
              </a:rPr>
              <a:t>As customer lifestyles changed, Starbucks had to bring "The Third Place" into the </a:t>
            </a:r>
            <a:pPr algn="l" indent="0" marL="0">
              <a:lnSpc>
                <a:spcPts val="1470"/>
              </a:lnSpc>
              <a:buNone/>
            </a:pPr>
            <a:r>
              <a:rPr lang="en-US" sz="1050" b="1" i="1" dirty="0">
                <a:solidFill>
                  <a:srgbClr val="448361"/>
                </a:solidFill>
                <a:latin typeface="Inter" pitchFamily="34" charset="0"/>
                <a:ea typeface="Inter" pitchFamily="34" charset="-122"/>
                <a:cs typeface="Inter" pitchFamily="34" charset="-120"/>
              </a:rPr>
              <a:t>digital age</a:t>
            </a:r>
            <a:pPr algn="l" indent="0" marL="0">
              <a:lnSpc>
                <a:spcPts val="1470"/>
              </a:lnSpc>
              <a:buNone/>
            </a:pPr>
            <a:r>
              <a:rPr lang="en-US" sz="1050" i="1" dirty="0">
                <a:solidFill>
                  <a:srgbClr val="37352F"/>
                </a:solidFill>
                <a:latin typeface="Inter" pitchFamily="34" charset="0"/>
                <a:ea typeface="Inter" pitchFamily="34" charset="-122"/>
                <a:cs typeface="Inter" pitchFamily="34" charset="-120"/>
              </a:rPr>
              <a:t>…</a:t>
            </a:r>
            <a:endParaRPr lang="en-US" sz="1050" dirty="0"/>
          </a:p>
        </p:txBody>
      </p:sp>
      <p:sp>
        <p:nvSpPr>
          <p:cNvPr id="24" name="!!key5-1"/>
          <p:cNvSpPr/>
          <p:nvPr/>
        </p:nvSpPr>
        <p:spPr>
          <a:xfrm>
            <a:off x="6438900" y="4572000"/>
            <a:ext cx="2095500" cy="255240"/>
          </a:xfrm>
          <a:prstGeom prst="roundRect">
            <a:avLst>
              <a:gd name="adj" fmla="val 11195"/>
            </a:avLst>
          </a:prstGeom>
          <a:solidFill>
            <a:srgbClr val="FDECC8"/>
          </a:solidFill>
          <a:ln/>
        </p:spPr>
      </p:sp>
      <p:sp>
        <p:nvSpPr>
          <p:cNvPr id="25" name="!!key5-2"/>
          <p:cNvSpPr txBox="1"/>
          <p:nvPr/>
        </p:nvSpPr>
        <p:spPr>
          <a:xfrm>
            <a:off x="6438900" y="45720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The digital Third Place</a:t>
            </a:r>
            <a:endParaRPr lang="en-US" sz="900" dirty="0"/>
          </a:p>
        </p:txBody>
      </p:sp>
      <p:sp>
        <p:nvSpPr>
          <p:cNvPr id="26" name="static"/>
          <p:cNvSpPr txBox="1"/>
          <p:nvPr/>
        </p:nvSpPr>
        <p:spPr>
          <a:xfrm>
            <a:off x="609600" y="4678710"/>
            <a:ext cx="2535138" cy="159990"/>
          </a:xfrm>
          <a:prstGeom prst="rect">
            <a:avLst/>
          </a:prstGeom>
          <a:noFill/>
          <a:ln/>
        </p:spPr>
        <p:txBody>
          <a:bodyPr wrap="none" lIns="0" tIns="0" rIns="0" bIns="0" rtlCol="0" anchor="ctr"/>
          <a:lstStyle/>
          <a:p>
            <a:pPr algn="l" indent="0" marL="0">
              <a:lnSpc>
                <a:spcPts val="1260"/>
              </a:lnSpc>
              <a:buNone/>
            </a:pPr>
            <a:r>
              <a:rPr lang="en-US" sz="900" dirty="0">
                <a:solidFill>
                  <a:srgbClr val="787774"/>
                </a:solidFill>
                <a:latin typeface="Inter" pitchFamily="34" charset="0"/>
                <a:ea typeface="Inter" pitchFamily="34" charset="-122"/>
                <a:cs typeface="Inter" pitchFamily="34" charset="-120"/>
              </a:rPr>
              <a:t>Slide 5 of 8 · Part 3 · Operationalizing Experience</a:t>
            </a:r>
            <a:endParaRPr lang="en-US" sz="900" dirty="0"/>
          </a:p>
        </p:txBody>
      </p:sp>
      <p:sp>
        <p:nvSpPr>
          <p:cNvPr id="27" name="static"/>
          <p:cNvSpPr/>
          <p:nvPr/>
        </p:nvSpPr>
        <p:spPr>
          <a:xfrm>
            <a:off x="3335238" y="4730130"/>
            <a:ext cx="57150" cy="57150"/>
          </a:xfrm>
          <a:prstGeom prst="roundRect">
            <a:avLst>
              <a:gd name="adj" fmla="val 50000"/>
            </a:avLst>
          </a:prstGeom>
          <a:solidFill>
            <a:srgbClr val="787774"/>
          </a:solidFill>
          <a:ln/>
        </p:spPr>
      </p:sp>
      <p:sp>
        <p:nvSpPr>
          <p:cNvPr id="28" name="static"/>
          <p:cNvSpPr/>
          <p:nvPr/>
        </p:nvSpPr>
        <p:spPr>
          <a:xfrm>
            <a:off x="3440013" y="4730130"/>
            <a:ext cx="57150" cy="57150"/>
          </a:xfrm>
          <a:prstGeom prst="roundRect">
            <a:avLst>
              <a:gd name="adj" fmla="val 50000"/>
            </a:avLst>
          </a:prstGeom>
          <a:solidFill>
            <a:srgbClr val="787774"/>
          </a:solidFill>
          <a:ln/>
        </p:spPr>
      </p:sp>
      <p:sp>
        <p:nvSpPr>
          <p:cNvPr id="29" name="static"/>
          <p:cNvSpPr/>
          <p:nvPr/>
        </p:nvSpPr>
        <p:spPr>
          <a:xfrm>
            <a:off x="3544788" y="4730130"/>
            <a:ext cx="57150" cy="57150"/>
          </a:xfrm>
          <a:prstGeom prst="roundRect">
            <a:avLst>
              <a:gd name="adj" fmla="val 50000"/>
            </a:avLst>
          </a:prstGeom>
          <a:solidFill>
            <a:srgbClr val="787774"/>
          </a:solidFill>
          <a:ln/>
        </p:spPr>
      </p:sp>
      <p:sp>
        <p:nvSpPr>
          <p:cNvPr id="30" name="static"/>
          <p:cNvSpPr/>
          <p:nvPr/>
        </p:nvSpPr>
        <p:spPr>
          <a:xfrm>
            <a:off x="3649563" y="4730130"/>
            <a:ext cx="57150" cy="57150"/>
          </a:xfrm>
          <a:prstGeom prst="roundRect">
            <a:avLst>
              <a:gd name="adj" fmla="val 50000"/>
            </a:avLst>
          </a:prstGeom>
          <a:solidFill>
            <a:srgbClr val="787774"/>
          </a:solidFill>
          <a:ln/>
        </p:spPr>
      </p:sp>
      <p:sp>
        <p:nvSpPr>
          <p:cNvPr id="31" name="static"/>
          <p:cNvSpPr/>
          <p:nvPr/>
        </p:nvSpPr>
        <p:spPr>
          <a:xfrm>
            <a:off x="3754338" y="4730130"/>
            <a:ext cx="171450" cy="57150"/>
          </a:xfrm>
          <a:prstGeom prst="roundRect">
            <a:avLst>
              <a:gd name="adj" fmla="val 50000"/>
            </a:avLst>
          </a:prstGeom>
          <a:solidFill>
            <a:srgbClr val="37352F"/>
          </a:solidFill>
          <a:ln/>
        </p:spPr>
      </p:sp>
      <p:sp>
        <p:nvSpPr>
          <p:cNvPr id="32" name="static"/>
          <p:cNvSpPr/>
          <p:nvPr/>
        </p:nvSpPr>
        <p:spPr>
          <a:xfrm>
            <a:off x="3973413" y="4730130"/>
            <a:ext cx="57150" cy="57150"/>
          </a:xfrm>
          <a:prstGeom prst="roundRect">
            <a:avLst>
              <a:gd name="adj" fmla="val 50000"/>
            </a:avLst>
          </a:prstGeom>
          <a:solidFill>
            <a:srgbClr val="E3E2E0"/>
          </a:solidFill>
          <a:ln/>
        </p:spPr>
      </p:sp>
      <p:sp>
        <p:nvSpPr>
          <p:cNvPr id="33" name="static"/>
          <p:cNvSpPr/>
          <p:nvPr/>
        </p:nvSpPr>
        <p:spPr>
          <a:xfrm>
            <a:off x="4078188" y="4730130"/>
            <a:ext cx="57150" cy="57150"/>
          </a:xfrm>
          <a:prstGeom prst="roundRect">
            <a:avLst>
              <a:gd name="adj" fmla="val 50000"/>
            </a:avLst>
          </a:prstGeom>
          <a:solidFill>
            <a:srgbClr val="E3E2E0"/>
          </a:solidFill>
          <a:ln/>
        </p:spPr>
      </p:sp>
      <p:sp>
        <p:nvSpPr>
          <p:cNvPr id="34" name="static"/>
          <p:cNvSpPr/>
          <p:nvPr/>
        </p:nvSpPr>
        <p:spPr>
          <a:xfrm>
            <a:off x="4182963" y="4730130"/>
            <a:ext cx="57150" cy="57150"/>
          </a:xfrm>
          <a:prstGeom prst="roundRect">
            <a:avLst>
              <a:gd name="adj" fmla="val 50000"/>
            </a:avLst>
          </a:prstGeom>
          <a:solidFill>
            <a:srgbClr val="E3E2E0"/>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700"/>
                                        <p:tgtEl>
                                          <p:spTgt spid="7"/>
                                        </p:tgtEl>
                                      </p:cBhvr>
                                    </p:animEffect>
                                    <p:anim calcmode="lin" valueType="num">
                                      <p:cBhvr additive="base">
                                        <p:cTn id="6" dur="700" fill="hold"/>
                                        <p:tgtEl>
                                          <p:spTgt spid="7"/>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700"/>
                                        <p:tgtEl>
                                          <p:spTgt spid="8"/>
                                        </p:tgtEl>
                                      </p:cBhvr>
                                    </p:animEffect>
                                    <p:anim calcmode="lin" valueType="num">
                                      <p:cBhvr additive="base">
                                        <p:cTn id="10" dur="700" fill="hold"/>
                                        <p:tgtEl>
                                          <p:spTgt spid="8"/>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additive="base">
                                        <p:cTn id="14" dur="700" fill="hold"/>
                                        <p:tgtEl>
                                          <p:spTgt spid="9"/>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anim calcmode="lin" valueType="num">
                                      <p:cBhvr additive="base">
                                        <p:cTn id="18" dur="700" fill="hold"/>
                                        <p:tgtEl>
                                          <p:spTgt spid="10"/>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00"/>
                                        <p:tgtEl>
                                          <p:spTgt spid="11"/>
                                        </p:tgtEl>
                                      </p:cBhvr>
                                    </p:animEffect>
                                    <p:anim calcmode="lin" valueType="num">
                                      <p:cBhvr additive="base">
                                        <p:cTn id="22" dur="700" fill="hold"/>
                                        <p:tgtEl>
                                          <p:spTgt spid="11"/>
                                        </p:tgtEl>
                                        <p:attrNameLst>
                                          <p:attrName>ppt_y</p:attrName>
                                        </p:attrNameLst>
                                      </p:cBhvr>
                                      <p:tavLst>
                                        <p:tav tm="0">
                                          <p:val>
                                            <p:strVal val="#ppt_y+.08"/>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700"/>
                                        <p:tgtEl>
                                          <p:spTgt spid="12"/>
                                        </p:tgtEl>
                                      </p:cBhvr>
                                    </p:animEffect>
                                    <p:anim calcmode="lin" valueType="num">
                                      <p:cBhvr additive="base">
                                        <p:cTn id="28" dur="700" fill="hold"/>
                                        <p:tgtEl>
                                          <p:spTgt spid="12"/>
                                        </p:tgtEl>
                                        <p:attrNameLst>
                                          <p:attrName>ppt_y</p:attrName>
                                        </p:attrNameLst>
                                      </p:cBhvr>
                                      <p:tavLst>
                                        <p:tav tm="0">
                                          <p:val>
                                            <p:strVal val="#ppt_y+.0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700"/>
                                        <p:tgtEl>
                                          <p:spTgt spid="13"/>
                                        </p:tgtEl>
                                      </p:cBhvr>
                                    </p:animEffect>
                                    <p:anim calcmode="lin" valueType="num">
                                      <p:cBhvr additive="base">
                                        <p:cTn id="32" dur="700" fill="hold"/>
                                        <p:tgtEl>
                                          <p:spTgt spid="13"/>
                                        </p:tgtEl>
                                        <p:attrNameLst>
                                          <p:attrName>ppt_y</p:attrName>
                                        </p:attrNameLst>
                                      </p:cBhvr>
                                      <p:tavLst>
                                        <p:tav tm="0">
                                          <p:val>
                                            <p:strVal val="#ppt_y+.0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700"/>
                                        <p:tgtEl>
                                          <p:spTgt spid="14"/>
                                        </p:tgtEl>
                                      </p:cBhvr>
                                    </p:animEffect>
                                    <p:anim calcmode="lin" valueType="num">
                                      <p:cBhvr additive="base">
                                        <p:cTn id="36" dur="700" fill="hold"/>
                                        <p:tgtEl>
                                          <p:spTgt spid="14"/>
                                        </p:tgtEl>
                                        <p:attrNameLst>
                                          <p:attrName>ppt_y</p:attrName>
                                        </p:attrNameLst>
                                      </p:cBhvr>
                                      <p:tavLst>
                                        <p:tav tm="0">
                                          <p:val>
                                            <p:strVal val="#ppt_y+.0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700"/>
                                        <p:tgtEl>
                                          <p:spTgt spid="15"/>
                                        </p:tgtEl>
                                      </p:cBhvr>
                                    </p:animEffect>
                                    <p:anim calcmode="lin" valueType="num">
                                      <p:cBhvr additive="base">
                                        <p:cTn id="40" dur="700" fill="hold"/>
                                        <p:tgtEl>
                                          <p:spTgt spid="15"/>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700"/>
                                        <p:tgtEl>
                                          <p:spTgt spid="16"/>
                                        </p:tgtEl>
                                      </p:cBhvr>
                                    </p:animEffect>
                                    <p:anim calcmode="lin" valueType="num">
                                      <p:cBhvr additive="base">
                                        <p:cTn id="44" dur="700" fill="hold"/>
                                        <p:tgtEl>
                                          <p:spTgt spid="16"/>
                                        </p:tgtEl>
                                        <p:attrNameLst>
                                          <p:attrName>ppt_y</p:attrName>
                                        </p:attrNameLst>
                                      </p:cBhvr>
                                      <p:tavLst>
                                        <p:tav tm="0">
                                          <p:val>
                                            <p:strVal val="#ppt_y+.08"/>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700"/>
                                        <p:tgtEl>
                                          <p:spTgt spid="17"/>
                                        </p:tgtEl>
                                      </p:cBhvr>
                                    </p:animEffect>
                                    <p:anim calcmode="lin" valueType="num">
                                      <p:cBhvr additive="base">
                                        <p:cTn id="50" dur="700" fill="hold"/>
                                        <p:tgtEl>
                                          <p:spTgt spid="17"/>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700"/>
                                        <p:tgtEl>
                                          <p:spTgt spid="18"/>
                                        </p:tgtEl>
                                      </p:cBhvr>
                                    </p:animEffect>
                                    <p:anim calcmode="lin" valueType="num">
                                      <p:cBhvr additive="base">
                                        <p:cTn id="54" dur="700" fill="hold"/>
                                        <p:tgtEl>
                                          <p:spTgt spid="18"/>
                                        </p:tgtEl>
                                        <p:attrNameLst>
                                          <p:attrName>ppt_y</p:attrName>
                                        </p:attrNameLst>
                                      </p:cBhvr>
                                      <p:tavLst>
                                        <p:tav tm="0">
                                          <p:val>
                                            <p:strVal val="#ppt_y+.0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700"/>
                                        <p:tgtEl>
                                          <p:spTgt spid="19"/>
                                        </p:tgtEl>
                                      </p:cBhvr>
                                    </p:animEffect>
                                    <p:anim calcmode="lin" valueType="num">
                                      <p:cBhvr additive="base">
                                        <p:cTn id="58" dur="700" fill="hold"/>
                                        <p:tgtEl>
                                          <p:spTgt spid="19"/>
                                        </p:tgtEl>
                                        <p:attrNameLst>
                                          <p:attrName>ppt_y</p:attrName>
                                        </p:attrNameLst>
                                      </p:cBhvr>
                                      <p:tavLst>
                                        <p:tav tm="0">
                                          <p:val>
                                            <p:strVal val="#ppt_y+.0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700"/>
                                        <p:tgtEl>
                                          <p:spTgt spid="20"/>
                                        </p:tgtEl>
                                      </p:cBhvr>
                                    </p:animEffect>
                                    <p:anim calcmode="lin" valueType="num">
                                      <p:cBhvr additive="base">
                                        <p:cTn id="62" dur="700" fill="hold"/>
                                        <p:tgtEl>
                                          <p:spTgt spid="20"/>
                                        </p:tgtEl>
                                        <p:attrNameLst>
                                          <p:attrName>ppt_y</p:attrName>
                                        </p:attrNameLst>
                                      </p:cBhvr>
                                      <p:tavLst>
                                        <p:tav tm="0">
                                          <p:val>
                                            <p:strVal val="#ppt_y+.08"/>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700"/>
                                        <p:tgtEl>
                                          <p:spTgt spid="21"/>
                                        </p:tgtEl>
                                      </p:cBhvr>
                                    </p:animEffect>
                                    <p:anim calcmode="lin" valueType="num">
                                      <p:cBhvr additive="base">
                                        <p:cTn id="66" dur="700" fill="hold"/>
                                        <p:tgtEl>
                                          <p:spTgt spid="21"/>
                                        </p:tgtEl>
                                        <p:attrNameLst>
                                          <p:attrName>ppt_y</p:attrName>
                                        </p:attrNameLst>
                                      </p:cBhvr>
                                      <p:tavLst>
                                        <p:tav tm="0">
                                          <p:val>
                                            <p:strVal val="#ppt_y+.08"/>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childTnLst>
                          </p:cTn>
                        </p:par>
                      </p:childTnLst>
                    </p:cTn>
                  </p:par>
                  <p:par>
                    <p:cTn id="85" fill="hold">
                      <p:stCondLst>
                        <p:cond delay="indefinite"/>
                      </p:stCondLst>
                      <p:childTnLst>
                        <p:par>
                          <p:cTn id="86" fill="hold">
                            <p:stCondLst>
                              <p:cond delay="0"/>
                            </p:stCondLst>
                            <p:childTnLst>
                              <p:par>
                                <p:cTn id="77" presetID="23" presetClass="entr" presetSubtype="16"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animScale>
                                      <p:cBhvr>
                                        <p:cTn id="79" dur="500" fill="hold"/>
                                        <p:tgtEl>
                                          <p:spTgt spid="24"/>
                                        </p:tgtEl>
                                      </p:cBhvr>
                                      <p:from x="0" y="0"/>
                                      <p:to x="100000" y="100000"/>
                                    </p:animScale>
                                    <p:animEffect transition="in" filter="fade">
                                      <p:cBhvr>
                                        <p:cTn id="80" dur="500"/>
                                        <p:tgtEl>
                                          <p:spTgt spid="24"/>
                                        </p:tgtEl>
                                      </p:cBhvr>
                                    </p:animEffect>
                                  </p:childTnLst>
                                </p:cTn>
                              </p:par>
                              <p:par>
                                <p:cTn id="81" presetID="23" presetClass="entr" presetSubtype="16"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Scale>
                                      <p:cBhvr>
                                        <p:cTn id="83" dur="500" fill="hold"/>
                                        <p:tgtEl>
                                          <p:spTgt spid="25"/>
                                        </p:tgtEl>
                                      </p:cBhvr>
                                      <p:from x="0" y="0"/>
                                      <p:to x="100000" y="100000"/>
                                    </p:animScale>
                                    <p:animEffect transition="in" filter="fade">
                                      <p:cBhvr>
                                        <p:cTn id="8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28613"/>
          </a:xfrm>
          <a:prstGeom prst="rect">
            <a:avLst/>
          </a:prstGeom>
          <a:noFill/>
          <a:ln/>
        </p:spPr>
        <p:txBody>
          <a:bodyPr wrap="none" lIns="0" tIns="0" rIns="0" bIns="0" rtlCol="0" anchor="ctr"/>
          <a:lstStyle/>
          <a:p>
            <a:pPr algn="l" indent="0" marL="0">
              <a:lnSpc>
                <a:spcPts val="2588"/>
              </a:lnSpc>
              <a:buNone/>
            </a:pPr>
            <a:r>
              <a:rPr lang="en-US" sz="2250" b="1" dirty="0">
                <a:solidFill>
                  <a:srgbClr val="37352F"/>
                </a:solidFill>
                <a:latin typeface="Inter" pitchFamily="34" charset="0"/>
                <a:ea typeface="Inter" pitchFamily="34" charset="-122"/>
                <a:cs typeface="Inter" pitchFamily="34" charset="-120"/>
              </a:rPr>
              <a:t>Chapter 5: The Digital "Third Place"</a:t>
            </a:r>
            <a:endParaRPr lang="en-US" sz="2250" dirty="0"/>
          </a:p>
        </p:txBody>
      </p:sp>
      <p:sp>
        <p:nvSpPr>
          <p:cNvPr id="3" name="static"/>
          <p:cNvSpPr txBox="1"/>
          <p:nvPr/>
        </p:nvSpPr>
        <p:spPr>
          <a:xfrm>
            <a:off x="609600" y="1204913"/>
            <a:ext cx="6686550" cy="210443"/>
          </a:xfrm>
          <a:prstGeom prst="rect">
            <a:avLst/>
          </a:prstGeom>
          <a:noFill/>
          <a:ln/>
        </p:spPr>
        <p:txBody>
          <a:bodyPr wrap="none" lIns="0" tIns="0" rIns="0" bIns="0" rtlCol="0" anchor="ctr"/>
          <a:lstStyle/>
          <a:p>
            <a:pPr algn="l" indent="0" marL="0">
              <a:lnSpc>
                <a:spcPts val="1658"/>
              </a:lnSpc>
              <a:buNone/>
            </a:pPr>
            <a:r>
              <a:rPr lang="en-US" sz="1275" dirty="0">
                <a:solidFill>
                  <a:srgbClr val="37352F"/>
                </a:solidFill>
                <a:latin typeface="Inter" pitchFamily="34" charset="0"/>
                <a:ea typeface="Inter" pitchFamily="34" charset="-122"/>
                <a:cs typeface="Inter" pitchFamily="34" charset="-120"/>
              </a:rPr>
              <a:t>Blending Physical Hospitality with Digital Convenience</a:t>
            </a:r>
            <a:endParaRPr lang="en-US" sz="1275"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PART 3 · MODERN EVOLUTION</a:t>
            </a:r>
            <a:endParaRPr lang="en-US" sz="825" dirty="0"/>
          </a:p>
        </p:txBody>
      </p:sp>
      <p:sp>
        <p:nvSpPr>
          <p:cNvPr id="5" name="!!key5-1"/>
          <p:cNvSpPr/>
          <p:nvPr/>
        </p:nvSpPr>
        <p:spPr>
          <a:xfrm>
            <a:off x="6438900" y="419100"/>
            <a:ext cx="2095500" cy="255240"/>
          </a:xfrm>
          <a:prstGeom prst="roundRect">
            <a:avLst>
              <a:gd name="adj" fmla="val 11195"/>
            </a:avLst>
          </a:prstGeom>
          <a:solidFill>
            <a:srgbClr val="FDECC8"/>
          </a:solidFill>
          <a:ln/>
        </p:spPr>
      </p:sp>
      <p:sp>
        <p:nvSpPr>
          <p:cNvPr id="6" name="!!key5-2"/>
          <p:cNvSpPr txBox="1"/>
          <p:nvPr/>
        </p:nvSpPr>
        <p:spPr>
          <a:xfrm>
            <a:off x="6438900" y="4191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The digital Third Place</a:t>
            </a:r>
            <a:endParaRPr lang="en-US" sz="900" dirty="0"/>
          </a:p>
        </p:txBody>
      </p:sp>
      <p:sp>
        <p:nvSpPr>
          <p:cNvPr id="7" name="b1:rise"/>
          <p:cNvSpPr/>
          <p:nvPr/>
        </p:nvSpPr>
        <p:spPr>
          <a:xfrm>
            <a:off x="609600" y="1676400"/>
            <a:ext cx="3286125" cy="942975"/>
          </a:xfrm>
          <a:prstGeom prst="roundRect">
            <a:avLst>
              <a:gd name="adj" fmla="val 4040"/>
            </a:avLst>
          </a:prstGeom>
          <a:solidFill>
            <a:srgbClr val="FFFFFF"/>
          </a:solidFill>
          <a:ln w="6350">
            <a:solidFill>
              <a:srgbClr val="E9E9E7"/>
            </a:solidFill>
            <a:prstDash val="solid"/>
          </a:ln>
        </p:spPr>
      </p:sp>
      <p:sp>
        <p:nvSpPr>
          <p:cNvPr id="8" name="b1:rise"/>
          <p:cNvSpPr txBox="1"/>
          <p:nvPr/>
        </p:nvSpPr>
        <p:spPr>
          <a:xfrm>
            <a:off x="766763" y="1814513"/>
            <a:ext cx="247263" cy="666750"/>
          </a:xfrm>
          <a:prstGeom prst="rect">
            <a:avLst/>
          </a:prstGeom>
          <a:noFill/>
          <a:ln/>
        </p:spPr>
        <p:txBody>
          <a:bodyPr wrap="square" lIns="0" tIns="0" rIns="0" bIns="0" rtlCol="0" anchor="t"/>
          <a:lstStyle/>
          <a:p>
            <a:pPr algn="l" indent="0" marL="0">
              <a:lnSpc>
                <a:spcPts val="1950"/>
              </a:lnSpc>
              <a:buNone/>
            </a:pPr>
            <a:r>
              <a:rPr lang="en-US" sz="1500" dirty="0">
                <a:solidFill>
                  <a:srgbClr val="37352F"/>
                </a:solidFill>
                <a:latin typeface="Inter" pitchFamily="34" charset="0"/>
                <a:ea typeface="Inter" pitchFamily="34" charset="-122"/>
                <a:cs typeface="Inter" pitchFamily="34" charset="-120"/>
              </a:rPr>
              <a:t>⭐</a:t>
            </a:r>
            <a:endParaRPr lang="en-US" sz="1500" dirty="0"/>
          </a:p>
        </p:txBody>
      </p:sp>
      <p:sp>
        <p:nvSpPr>
          <p:cNvPr id="9" name="b1:rise"/>
          <p:cNvSpPr txBox="1"/>
          <p:nvPr/>
        </p:nvSpPr>
        <p:spPr>
          <a:xfrm>
            <a:off x="1099765" y="1814513"/>
            <a:ext cx="2849901" cy="194295"/>
          </a:xfrm>
          <a:prstGeom prst="rect">
            <a:avLst/>
          </a:prstGeom>
          <a:noFill/>
          <a:ln/>
        </p:spPr>
        <p:txBody>
          <a:bodyPr wrap="none" lIns="0" tIns="0" rIns="0" bIns="0" rtlCol="0" anchor="ctr"/>
          <a:lstStyle/>
          <a:p>
            <a:pPr algn="l" indent="0" marL="0">
              <a:lnSpc>
                <a:spcPts val="1530"/>
              </a:lnSpc>
              <a:buNone/>
            </a:pPr>
            <a:r>
              <a:rPr lang="en-US" sz="1275" b="1" dirty="0">
                <a:solidFill>
                  <a:srgbClr val="37352F"/>
                </a:solidFill>
                <a:latin typeface="Inter" pitchFamily="34" charset="0"/>
                <a:ea typeface="Inter" pitchFamily="34" charset="-122"/>
                <a:cs typeface="Inter" pitchFamily="34" charset="-120"/>
              </a:rPr>
              <a:t>Starbucks Rewards App</a:t>
            </a:r>
            <a:endParaRPr lang="en-US" sz="1275" dirty="0"/>
          </a:p>
        </p:txBody>
      </p:sp>
      <p:sp>
        <p:nvSpPr>
          <p:cNvPr id="10" name="b1:rise"/>
          <p:cNvSpPr txBox="1"/>
          <p:nvPr/>
        </p:nvSpPr>
        <p:spPr>
          <a:xfrm>
            <a:off x="1099765" y="2046908"/>
            <a:ext cx="2744349" cy="360015"/>
          </a:xfrm>
          <a:prstGeom prst="rect">
            <a:avLst/>
          </a:prstGeom>
          <a:noFill/>
          <a:ln/>
        </p:spPr>
        <p:txBody>
          <a:bodyPr wrap="square" lIns="0" tIns="0" rIns="0" bIns="0" rtlCol="0" anchor="t"/>
          <a:lstStyle/>
          <a:p>
            <a:pPr algn="l" indent="0" marL="0">
              <a:lnSpc>
                <a:spcPts val="1417"/>
              </a:lnSpc>
              <a:buNone/>
            </a:pPr>
            <a:r>
              <a:rPr lang="en-US" sz="1013" dirty="0">
                <a:solidFill>
                  <a:srgbClr val="37352F"/>
                </a:solidFill>
                <a:latin typeface="Inter" pitchFamily="34" charset="0"/>
                <a:ea typeface="Inter" pitchFamily="34" charset="-122"/>
                <a:cs typeface="Inter" pitchFamily="34" charset="-120"/>
              </a:rPr>
              <a:t>Gamified loyalty program driving </a:t>
            </a:r>
            <a:pPr algn="l" indent="0" marL="0">
              <a:lnSpc>
                <a:spcPts val="1417"/>
              </a:lnSpc>
              <a:buNone/>
            </a:pPr>
            <a:r>
              <a:rPr lang="en-US" sz="1013" b="1" dirty="0">
                <a:solidFill>
                  <a:srgbClr val="448361"/>
                </a:solidFill>
                <a:latin typeface="Inter" pitchFamily="34" charset="0"/>
                <a:ea typeface="Inter" pitchFamily="34" charset="-122"/>
                <a:cs typeface="Inter" pitchFamily="34" charset="-120"/>
              </a:rPr>
              <a:t>over 30M active members</a:t>
            </a:r>
            <a:pPr algn="l" indent="0" marL="0">
              <a:lnSpc>
                <a:spcPts val="1417"/>
              </a:lnSpc>
              <a:buNone/>
            </a:pPr>
            <a:r>
              <a:rPr lang="en-US" sz="1013" dirty="0">
                <a:solidFill>
                  <a:srgbClr val="37352F"/>
                </a:solidFill>
                <a:latin typeface="Inter" pitchFamily="34" charset="0"/>
                <a:ea typeface="Inter" pitchFamily="34" charset="-122"/>
                <a:cs typeface="Inter" pitchFamily="34" charset="-120"/>
              </a:rPr>
              <a:t>.</a:t>
            </a:r>
            <a:endParaRPr lang="en-US" sz="1013" dirty="0"/>
          </a:p>
        </p:txBody>
      </p:sp>
      <p:sp>
        <p:nvSpPr>
          <p:cNvPr id="11" name="b2:rise"/>
          <p:cNvSpPr/>
          <p:nvPr/>
        </p:nvSpPr>
        <p:spPr>
          <a:xfrm>
            <a:off x="4010025" y="1676400"/>
            <a:ext cx="3286125" cy="942975"/>
          </a:xfrm>
          <a:prstGeom prst="roundRect">
            <a:avLst>
              <a:gd name="adj" fmla="val 4040"/>
            </a:avLst>
          </a:prstGeom>
          <a:solidFill>
            <a:srgbClr val="FFFFFF"/>
          </a:solidFill>
          <a:ln w="6350">
            <a:solidFill>
              <a:srgbClr val="E9E9E7"/>
            </a:solidFill>
            <a:prstDash val="solid"/>
          </a:ln>
        </p:spPr>
      </p:sp>
      <p:sp>
        <p:nvSpPr>
          <p:cNvPr id="12" name="b2:rise"/>
          <p:cNvSpPr txBox="1"/>
          <p:nvPr/>
        </p:nvSpPr>
        <p:spPr>
          <a:xfrm>
            <a:off x="4167187" y="1814513"/>
            <a:ext cx="247263" cy="666750"/>
          </a:xfrm>
          <a:prstGeom prst="rect">
            <a:avLst/>
          </a:prstGeom>
          <a:noFill/>
          <a:ln/>
        </p:spPr>
        <p:txBody>
          <a:bodyPr wrap="square" lIns="0" tIns="0" rIns="0" bIns="0" rtlCol="0" anchor="t"/>
          <a:lstStyle/>
          <a:p>
            <a:pPr algn="l" indent="0" marL="0">
              <a:lnSpc>
                <a:spcPts val="1950"/>
              </a:lnSpc>
              <a:buNone/>
            </a:pPr>
            <a:r>
              <a:rPr lang="en-US" sz="1500" dirty="0">
                <a:solidFill>
                  <a:srgbClr val="37352F"/>
                </a:solidFill>
                <a:latin typeface="Inter" pitchFamily="34" charset="0"/>
                <a:ea typeface="Inter" pitchFamily="34" charset="-122"/>
                <a:cs typeface="Inter" pitchFamily="34" charset="-120"/>
              </a:rPr>
              <a:t>⚡</a:t>
            </a:r>
            <a:endParaRPr lang="en-US" sz="1500" dirty="0"/>
          </a:p>
        </p:txBody>
      </p:sp>
      <p:sp>
        <p:nvSpPr>
          <p:cNvPr id="13" name="b2:rise"/>
          <p:cNvSpPr txBox="1"/>
          <p:nvPr/>
        </p:nvSpPr>
        <p:spPr>
          <a:xfrm>
            <a:off x="4500190" y="1814513"/>
            <a:ext cx="2849901" cy="194295"/>
          </a:xfrm>
          <a:prstGeom prst="rect">
            <a:avLst/>
          </a:prstGeom>
          <a:noFill/>
          <a:ln/>
        </p:spPr>
        <p:txBody>
          <a:bodyPr wrap="none" lIns="0" tIns="0" rIns="0" bIns="0" rtlCol="0" anchor="ctr"/>
          <a:lstStyle/>
          <a:p>
            <a:pPr algn="l" indent="0" marL="0">
              <a:lnSpc>
                <a:spcPts val="1530"/>
              </a:lnSpc>
              <a:buNone/>
            </a:pPr>
            <a:r>
              <a:rPr lang="en-US" sz="1275" b="1" dirty="0">
                <a:solidFill>
                  <a:srgbClr val="37352F"/>
                </a:solidFill>
                <a:latin typeface="Inter" pitchFamily="34" charset="0"/>
                <a:ea typeface="Inter" pitchFamily="34" charset="-122"/>
                <a:cs typeface="Inter" pitchFamily="34" charset="-120"/>
              </a:rPr>
              <a:t>Mobile Order &amp; Pay</a:t>
            </a:r>
            <a:endParaRPr lang="en-US" sz="1275" dirty="0"/>
          </a:p>
        </p:txBody>
      </p:sp>
      <p:sp>
        <p:nvSpPr>
          <p:cNvPr id="14" name="b2:rise"/>
          <p:cNvSpPr txBox="1"/>
          <p:nvPr/>
        </p:nvSpPr>
        <p:spPr>
          <a:xfrm>
            <a:off x="4500190" y="2046908"/>
            <a:ext cx="2744349" cy="360015"/>
          </a:xfrm>
          <a:prstGeom prst="rect">
            <a:avLst/>
          </a:prstGeom>
          <a:noFill/>
          <a:ln/>
        </p:spPr>
        <p:txBody>
          <a:bodyPr wrap="square" lIns="0" tIns="0" rIns="0" bIns="0" rtlCol="0" anchor="t"/>
          <a:lstStyle/>
          <a:p>
            <a:pPr algn="l" indent="0" marL="0">
              <a:lnSpc>
                <a:spcPts val="1417"/>
              </a:lnSpc>
              <a:buNone/>
            </a:pPr>
            <a:r>
              <a:rPr lang="en-US" sz="1013" dirty="0">
                <a:solidFill>
                  <a:srgbClr val="37352F"/>
                </a:solidFill>
                <a:latin typeface="Inter" pitchFamily="34" charset="0"/>
                <a:ea typeface="Inter" pitchFamily="34" charset="-122"/>
                <a:cs typeface="Inter" pitchFamily="34" charset="-120"/>
              </a:rPr>
              <a:t>Seamless, friction-free customer convenience.</a:t>
            </a:r>
            <a:endParaRPr lang="en-US" sz="1013" dirty="0"/>
          </a:p>
        </p:txBody>
      </p:sp>
      <p:sp>
        <p:nvSpPr>
          <p:cNvPr id="15" name="b3:rise"/>
          <p:cNvSpPr/>
          <p:nvPr/>
        </p:nvSpPr>
        <p:spPr>
          <a:xfrm>
            <a:off x="609600" y="2733675"/>
            <a:ext cx="3286125" cy="942975"/>
          </a:xfrm>
          <a:prstGeom prst="roundRect">
            <a:avLst>
              <a:gd name="adj" fmla="val 4040"/>
            </a:avLst>
          </a:prstGeom>
          <a:solidFill>
            <a:srgbClr val="FFFFFF"/>
          </a:solidFill>
          <a:ln w="6350">
            <a:solidFill>
              <a:srgbClr val="E9E9E7"/>
            </a:solidFill>
            <a:prstDash val="solid"/>
          </a:ln>
        </p:spPr>
      </p:sp>
      <p:sp>
        <p:nvSpPr>
          <p:cNvPr id="16" name="b3:rise"/>
          <p:cNvSpPr txBox="1"/>
          <p:nvPr/>
        </p:nvSpPr>
        <p:spPr>
          <a:xfrm>
            <a:off x="766763" y="2871788"/>
            <a:ext cx="247263" cy="666750"/>
          </a:xfrm>
          <a:prstGeom prst="rect">
            <a:avLst/>
          </a:prstGeom>
          <a:noFill/>
          <a:ln/>
        </p:spPr>
        <p:txBody>
          <a:bodyPr wrap="square" lIns="0" tIns="0" rIns="0" bIns="0" rtlCol="0" anchor="t"/>
          <a:lstStyle/>
          <a:p>
            <a:pPr algn="l" indent="0" marL="0">
              <a:lnSpc>
                <a:spcPts val="1950"/>
              </a:lnSpc>
              <a:buNone/>
            </a:pPr>
            <a:r>
              <a:rPr lang="en-US" sz="1500" dirty="0">
                <a:solidFill>
                  <a:srgbClr val="37352F"/>
                </a:solidFill>
                <a:latin typeface="Inter" pitchFamily="34" charset="0"/>
                <a:ea typeface="Inter" pitchFamily="34" charset="-122"/>
                <a:cs typeface="Inter" pitchFamily="34" charset="-120"/>
              </a:rPr>
              <a:t>💡</a:t>
            </a:r>
            <a:endParaRPr lang="en-US" sz="1500" dirty="0"/>
          </a:p>
        </p:txBody>
      </p:sp>
      <p:sp>
        <p:nvSpPr>
          <p:cNvPr id="17" name="b3:rise"/>
          <p:cNvSpPr txBox="1"/>
          <p:nvPr/>
        </p:nvSpPr>
        <p:spPr>
          <a:xfrm>
            <a:off x="1099765" y="2871788"/>
            <a:ext cx="2849901" cy="194295"/>
          </a:xfrm>
          <a:prstGeom prst="rect">
            <a:avLst/>
          </a:prstGeom>
          <a:noFill/>
          <a:ln/>
        </p:spPr>
        <p:txBody>
          <a:bodyPr wrap="none" lIns="0" tIns="0" rIns="0" bIns="0" rtlCol="0" anchor="ctr"/>
          <a:lstStyle/>
          <a:p>
            <a:pPr algn="l" indent="0" marL="0">
              <a:lnSpc>
                <a:spcPts val="1530"/>
              </a:lnSpc>
              <a:buNone/>
            </a:pPr>
            <a:r>
              <a:rPr lang="en-US" sz="1275" b="1" dirty="0">
                <a:solidFill>
                  <a:srgbClr val="37352F"/>
                </a:solidFill>
                <a:latin typeface="Inter" pitchFamily="34" charset="0"/>
                <a:ea typeface="Inter" pitchFamily="34" charset="-122"/>
                <a:cs typeface="Inter" pitchFamily="34" charset="-120"/>
              </a:rPr>
              <a:t>Digital Personalization</a:t>
            </a:r>
            <a:endParaRPr lang="en-US" sz="1275" dirty="0"/>
          </a:p>
        </p:txBody>
      </p:sp>
      <p:sp>
        <p:nvSpPr>
          <p:cNvPr id="18" name="b3:rise"/>
          <p:cNvSpPr txBox="1"/>
          <p:nvPr/>
        </p:nvSpPr>
        <p:spPr>
          <a:xfrm>
            <a:off x="1099765" y="3104183"/>
            <a:ext cx="2744349" cy="360015"/>
          </a:xfrm>
          <a:prstGeom prst="rect">
            <a:avLst/>
          </a:prstGeom>
          <a:noFill/>
          <a:ln/>
        </p:spPr>
        <p:txBody>
          <a:bodyPr wrap="square" lIns="0" tIns="0" rIns="0" bIns="0" rtlCol="0" anchor="t"/>
          <a:lstStyle/>
          <a:p>
            <a:pPr algn="l" indent="0" marL="0">
              <a:lnSpc>
                <a:spcPts val="1417"/>
              </a:lnSpc>
              <a:buNone/>
            </a:pPr>
            <a:r>
              <a:rPr lang="en-US" sz="1013" dirty="0">
                <a:solidFill>
                  <a:srgbClr val="37352F"/>
                </a:solidFill>
                <a:latin typeface="Inter" pitchFamily="34" charset="0"/>
                <a:ea typeface="Inter" pitchFamily="34" charset="-122"/>
                <a:cs typeface="Inter" pitchFamily="34" charset="-120"/>
              </a:rPr>
              <a:t>AI-driven recommendation engine tailoring offers to individual tastes.</a:t>
            </a:r>
            <a:endParaRPr lang="en-US" sz="1013" dirty="0"/>
          </a:p>
        </p:txBody>
      </p:sp>
      <p:sp>
        <p:nvSpPr>
          <p:cNvPr id="19" name="b4:rise"/>
          <p:cNvSpPr/>
          <p:nvPr/>
        </p:nvSpPr>
        <p:spPr>
          <a:xfrm>
            <a:off x="4010025" y="2733675"/>
            <a:ext cx="3286125" cy="942975"/>
          </a:xfrm>
          <a:prstGeom prst="roundRect">
            <a:avLst>
              <a:gd name="adj" fmla="val 4040"/>
            </a:avLst>
          </a:prstGeom>
          <a:solidFill>
            <a:srgbClr val="FFFFFF"/>
          </a:solidFill>
          <a:ln w="6350">
            <a:solidFill>
              <a:srgbClr val="E9E9E7"/>
            </a:solidFill>
            <a:prstDash val="solid"/>
          </a:ln>
        </p:spPr>
      </p:sp>
      <p:sp>
        <p:nvSpPr>
          <p:cNvPr id="20" name="b4:rise"/>
          <p:cNvSpPr txBox="1"/>
          <p:nvPr/>
        </p:nvSpPr>
        <p:spPr>
          <a:xfrm>
            <a:off x="4167187" y="2871788"/>
            <a:ext cx="247263" cy="666750"/>
          </a:xfrm>
          <a:prstGeom prst="rect">
            <a:avLst/>
          </a:prstGeom>
          <a:noFill/>
          <a:ln/>
        </p:spPr>
        <p:txBody>
          <a:bodyPr wrap="square" lIns="0" tIns="0" rIns="0" bIns="0" rtlCol="0" anchor="t"/>
          <a:lstStyle/>
          <a:p>
            <a:pPr algn="l" indent="0" marL="0">
              <a:lnSpc>
                <a:spcPts val="1950"/>
              </a:lnSpc>
              <a:buNone/>
            </a:pPr>
            <a:r>
              <a:rPr lang="en-US" sz="1500" dirty="0">
                <a:solidFill>
                  <a:srgbClr val="37352F"/>
                </a:solidFill>
                <a:latin typeface="Inter" pitchFamily="34" charset="0"/>
                <a:ea typeface="Inter" pitchFamily="34" charset="-122"/>
                <a:cs typeface="Inter" pitchFamily="34" charset="-120"/>
              </a:rPr>
              <a:t>🌍</a:t>
            </a:r>
            <a:endParaRPr lang="en-US" sz="1500" dirty="0"/>
          </a:p>
        </p:txBody>
      </p:sp>
      <p:sp>
        <p:nvSpPr>
          <p:cNvPr id="21" name="b4:rise"/>
          <p:cNvSpPr txBox="1"/>
          <p:nvPr/>
        </p:nvSpPr>
        <p:spPr>
          <a:xfrm>
            <a:off x="4500190" y="2871788"/>
            <a:ext cx="2849901" cy="194295"/>
          </a:xfrm>
          <a:prstGeom prst="rect">
            <a:avLst/>
          </a:prstGeom>
          <a:noFill/>
          <a:ln/>
        </p:spPr>
        <p:txBody>
          <a:bodyPr wrap="none" lIns="0" tIns="0" rIns="0" bIns="0" rtlCol="0" anchor="ctr"/>
          <a:lstStyle/>
          <a:p>
            <a:pPr algn="l" indent="0" marL="0">
              <a:lnSpc>
                <a:spcPts val="1530"/>
              </a:lnSpc>
              <a:buNone/>
            </a:pPr>
            <a:r>
              <a:rPr lang="en-US" sz="1275" b="1" dirty="0">
                <a:solidFill>
                  <a:srgbClr val="37352F"/>
                </a:solidFill>
                <a:latin typeface="Inter" pitchFamily="34" charset="0"/>
                <a:ea typeface="Inter" pitchFamily="34" charset="-122"/>
                <a:cs typeface="Inter" pitchFamily="34" charset="-120"/>
              </a:rPr>
              <a:t>Modern Omnichannel</a:t>
            </a:r>
            <a:endParaRPr lang="en-US" sz="1275" dirty="0"/>
          </a:p>
        </p:txBody>
      </p:sp>
      <p:sp>
        <p:nvSpPr>
          <p:cNvPr id="22" name="b4:rise"/>
          <p:cNvSpPr txBox="1"/>
          <p:nvPr/>
        </p:nvSpPr>
        <p:spPr>
          <a:xfrm>
            <a:off x="4500190" y="3104183"/>
            <a:ext cx="2744349" cy="360015"/>
          </a:xfrm>
          <a:prstGeom prst="rect">
            <a:avLst/>
          </a:prstGeom>
          <a:noFill/>
          <a:ln/>
        </p:spPr>
        <p:txBody>
          <a:bodyPr wrap="square" lIns="0" tIns="0" rIns="0" bIns="0" rtlCol="0" anchor="t"/>
          <a:lstStyle/>
          <a:p>
            <a:pPr algn="l" indent="0" marL="0">
              <a:lnSpc>
                <a:spcPts val="1417"/>
              </a:lnSpc>
              <a:buNone/>
            </a:pPr>
            <a:r>
              <a:rPr lang="en-US" sz="1013" dirty="0">
                <a:solidFill>
                  <a:srgbClr val="37352F"/>
                </a:solidFill>
                <a:latin typeface="Inter" pitchFamily="34" charset="0"/>
                <a:ea typeface="Inter" pitchFamily="34" charset="-122"/>
                <a:cs typeface="Inter" pitchFamily="34" charset="-120"/>
              </a:rPr>
              <a:t>Human connection preserved through drive-thru and delivery channels.</a:t>
            </a:r>
            <a:endParaRPr lang="en-US" sz="1013" dirty="0"/>
          </a:p>
        </p:txBody>
      </p:sp>
      <p:pic>
        <p:nvPicPr>
          <p:cNvPr id="23" name="b5:pop (Phone showing the Starbucks Rewards app with order ahead, pay in store and a recommended drink)" descr="/home/user/slide-present-en/starbucks-presentation/assets/phone-app.png">    </p:cNvPr>
          <p:cNvPicPr>
            <a:picLocks noChangeAspect="1"/>
          </p:cNvPicPr>
          <p:nvPr/>
        </p:nvPicPr>
        <p:blipFill>
          <a:blip r:embed="rId1"/>
          <a:stretch>
            <a:fillRect/>
          </a:stretch>
        </p:blipFill>
        <p:spPr>
          <a:xfrm>
            <a:off x="7410450" y="1714500"/>
            <a:ext cx="1123950" cy="1685925"/>
          </a:xfrm>
          <a:prstGeom prst="rect">
            <a:avLst/>
          </a:prstGeom>
        </p:spPr>
      </p:pic>
      <p:sp>
        <p:nvSpPr>
          <p:cNvPr id="24" name="b6:fade"/>
          <p:cNvSpPr/>
          <p:nvPr/>
        </p:nvSpPr>
        <p:spPr>
          <a:xfrm>
            <a:off x="609600" y="3790950"/>
            <a:ext cx="7924800" cy="395287"/>
          </a:xfrm>
          <a:prstGeom prst="roundRect">
            <a:avLst>
              <a:gd name="adj" fmla="val 9639"/>
            </a:avLst>
          </a:prstGeom>
          <a:solidFill>
            <a:srgbClr val="F1F1EF"/>
          </a:solidFill>
          <a:ln/>
        </p:spPr>
      </p:sp>
      <p:sp>
        <p:nvSpPr>
          <p:cNvPr id="25" name="b6:fade"/>
          <p:cNvSpPr txBox="1"/>
          <p:nvPr/>
        </p:nvSpPr>
        <p:spPr>
          <a:xfrm>
            <a:off x="762000" y="3895725"/>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Inter" pitchFamily="34" charset="0"/>
                <a:ea typeface="Inter" pitchFamily="34" charset="-122"/>
                <a:cs typeface="Inter" pitchFamily="34" charset="-120"/>
              </a:rPr>
              <a:t>➡️</a:t>
            </a:r>
            <a:endParaRPr lang="en-US" sz="1125" dirty="0"/>
          </a:p>
        </p:txBody>
      </p:sp>
      <p:sp>
        <p:nvSpPr>
          <p:cNvPr id="26" name="b6:fade"/>
          <p:cNvSpPr txBox="1"/>
          <p:nvPr/>
        </p:nvSpPr>
        <p:spPr>
          <a:xfrm>
            <a:off x="1054596" y="3898553"/>
            <a:ext cx="7913596" cy="180008"/>
          </a:xfrm>
          <a:prstGeom prst="rect">
            <a:avLst/>
          </a:prstGeom>
          <a:noFill/>
          <a:ln/>
        </p:spPr>
        <p:txBody>
          <a:bodyPr wrap="none" lIns="0" tIns="0" rIns="0" bIns="0" rtlCol="0" anchor="ctr"/>
          <a:lstStyle/>
          <a:p>
            <a:pPr algn="l" indent="0" marL="0">
              <a:lnSpc>
                <a:spcPts val="1417"/>
              </a:lnSpc>
              <a:buNone/>
            </a:pPr>
            <a:r>
              <a:rPr lang="en-US" sz="1050" dirty="0">
                <a:solidFill>
                  <a:srgbClr val="37352F"/>
                </a:solidFill>
                <a:latin typeface="Inter" pitchFamily="34" charset="0"/>
                <a:ea typeface="Inter" pitchFamily="34" charset="-122"/>
                <a:cs typeface="Inter" pitchFamily="34" charset="-120"/>
              </a:rPr>
              <a:t>Having mastered both physical experience and digital innovation, what is the </a:t>
            </a:r>
            <a:pPr algn="l" indent="0" marL="0">
              <a:lnSpc>
                <a:spcPts val="1417"/>
              </a:lnSpc>
              <a:buNone/>
            </a:pPr>
            <a:r>
              <a:rPr lang="en-US" sz="1050" b="1" dirty="0">
                <a:solidFill>
                  <a:srgbClr val="448361"/>
                </a:solidFill>
                <a:latin typeface="Inter" pitchFamily="34" charset="0"/>
                <a:ea typeface="Inter" pitchFamily="34" charset="-122"/>
                <a:cs typeface="Inter" pitchFamily="34" charset="-120"/>
              </a:rPr>
              <a:t>global business impact</a:t>
            </a:r>
            <a:pPr algn="l" indent="0" marL="0">
              <a:lnSpc>
                <a:spcPts val="1417"/>
              </a:lnSpc>
              <a:buNone/>
            </a:pPr>
            <a:r>
              <a:rPr lang="en-US" sz="1050" dirty="0">
                <a:solidFill>
                  <a:srgbClr val="37352F"/>
                </a:solidFill>
                <a:latin typeface="Inter" pitchFamily="34" charset="0"/>
                <a:ea typeface="Inter" pitchFamily="34" charset="-122"/>
                <a:cs typeface="Inter" pitchFamily="34" charset="-120"/>
              </a:rPr>
              <a:t>?</a:t>
            </a:r>
            <a:endParaRPr lang="en-US" sz="1050" dirty="0"/>
          </a:p>
        </p:txBody>
      </p:sp>
      <p:sp>
        <p:nvSpPr>
          <p:cNvPr id="27" name="!!key6-1"/>
          <p:cNvSpPr/>
          <p:nvPr/>
        </p:nvSpPr>
        <p:spPr>
          <a:xfrm>
            <a:off x="6438900" y="4572000"/>
            <a:ext cx="2095500" cy="255240"/>
          </a:xfrm>
          <a:prstGeom prst="roundRect">
            <a:avLst>
              <a:gd name="adj" fmla="val 11195"/>
            </a:avLst>
          </a:prstGeom>
          <a:solidFill>
            <a:srgbClr val="FDECC8"/>
          </a:solidFill>
          <a:ln/>
        </p:spPr>
      </p:sp>
      <p:sp>
        <p:nvSpPr>
          <p:cNvPr id="28" name="!!key6-2"/>
          <p:cNvSpPr txBox="1"/>
          <p:nvPr/>
        </p:nvSpPr>
        <p:spPr>
          <a:xfrm>
            <a:off x="6438900" y="45720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Global reach &amp; scale</a:t>
            </a:r>
            <a:endParaRPr lang="en-US" sz="900" dirty="0"/>
          </a:p>
        </p:txBody>
      </p:sp>
      <p:sp>
        <p:nvSpPr>
          <p:cNvPr id="29" name="static"/>
          <p:cNvSpPr txBox="1"/>
          <p:nvPr/>
        </p:nvSpPr>
        <p:spPr>
          <a:xfrm>
            <a:off x="609600" y="4678710"/>
            <a:ext cx="1995487" cy="159990"/>
          </a:xfrm>
          <a:prstGeom prst="rect">
            <a:avLst/>
          </a:prstGeom>
          <a:noFill/>
          <a:ln/>
        </p:spPr>
        <p:txBody>
          <a:bodyPr wrap="none" lIns="0" tIns="0" rIns="0" bIns="0" rtlCol="0" anchor="ctr"/>
          <a:lstStyle/>
          <a:p>
            <a:pPr algn="l" indent="0" marL="0">
              <a:lnSpc>
                <a:spcPts val="1260"/>
              </a:lnSpc>
              <a:buNone/>
            </a:pPr>
            <a:r>
              <a:rPr lang="en-US" sz="900" dirty="0">
                <a:solidFill>
                  <a:srgbClr val="787774"/>
                </a:solidFill>
                <a:latin typeface="Inter" pitchFamily="34" charset="0"/>
                <a:ea typeface="Inter" pitchFamily="34" charset="-122"/>
                <a:cs typeface="Inter" pitchFamily="34" charset="-120"/>
              </a:rPr>
              <a:t>Slide 6 of 8 · Part 3 · Modern Evolution</a:t>
            </a:r>
            <a:endParaRPr lang="en-US" sz="900" dirty="0"/>
          </a:p>
        </p:txBody>
      </p:sp>
      <p:sp>
        <p:nvSpPr>
          <p:cNvPr id="30" name="static"/>
          <p:cNvSpPr/>
          <p:nvPr/>
        </p:nvSpPr>
        <p:spPr>
          <a:xfrm>
            <a:off x="2795588" y="4730130"/>
            <a:ext cx="57150" cy="57150"/>
          </a:xfrm>
          <a:prstGeom prst="roundRect">
            <a:avLst>
              <a:gd name="adj" fmla="val 50000"/>
            </a:avLst>
          </a:prstGeom>
          <a:solidFill>
            <a:srgbClr val="787774"/>
          </a:solidFill>
          <a:ln/>
        </p:spPr>
      </p:sp>
      <p:sp>
        <p:nvSpPr>
          <p:cNvPr id="31" name="static"/>
          <p:cNvSpPr/>
          <p:nvPr/>
        </p:nvSpPr>
        <p:spPr>
          <a:xfrm>
            <a:off x="2900363" y="4730130"/>
            <a:ext cx="57150" cy="57150"/>
          </a:xfrm>
          <a:prstGeom prst="roundRect">
            <a:avLst>
              <a:gd name="adj" fmla="val 50000"/>
            </a:avLst>
          </a:prstGeom>
          <a:solidFill>
            <a:srgbClr val="787774"/>
          </a:solidFill>
          <a:ln/>
        </p:spPr>
      </p:sp>
      <p:sp>
        <p:nvSpPr>
          <p:cNvPr id="32" name="static"/>
          <p:cNvSpPr/>
          <p:nvPr/>
        </p:nvSpPr>
        <p:spPr>
          <a:xfrm>
            <a:off x="3005137" y="4730130"/>
            <a:ext cx="57150" cy="57150"/>
          </a:xfrm>
          <a:prstGeom prst="roundRect">
            <a:avLst>
              <a:gd name="adj" fmla="val 50000"/>
            </a:avLst>
          </a:prstGeom>
          <a:solidFill>
            <a:srgbClr val="787774"/>
          </a:solidFill>
          <a:ln/>
        </p:spPr>
      </p:sp>
      <p:sp>
        <p:nvSpPr>
          <p:cNvPr id="33" name="static"/>
          <p:cNvSpPr/>
          <p:nvPr/>
        </p:nvSpPr>
        <p:spPr>
          <a:xfrm>
            <a:off x="3109913" y="4730130"/>
            <a:ext cx="57150" cy="57150"/>
          </a:xfrm>
          <a:prstGeom prst="roundRect">
            <a:avLst>
              <a:gd name="adj" fmla="val 50000"/>
            </a:avLst>
          </a:prstGeom>
          <a:solidFill>
            <a:srgbClr val="787774"/>
          </a:solidFill>
          <a:ln/>
        </p:spPr>
      </p:sp>
      <p:sp>
        <p:nvSpPr>
          <p:cNvPr id="34" name="static"/>
          <p:cNvSpPr/>
          <p:nvPr/>
        </p:nvSpPr>
        <p:spPr>
          <a:xfrm>
            <a:off x="3214688" y="4730130"/>
            <a:ext cx="57150" cy="57150"/>
          </a:xfrm>
          <a:prstGeom prst="roundRect">
            <a:avLst>
              <a:gd name="adj" fmla="val 50000"/>
            </a:avLst>
          </a:prstGeom>
          <a:solidFill>
            <a:srgbClr val="787774"/>
          </a:solidFill>
          <a:ln/>
        </p:spPr>
      </p:sp>
      <p:sp>
        <p:nvSpPr>
          <p:cNvPr id="35" name="static"/>
          <p:cNvSpPr/>
          <p:nvPr/>
        </p:nvSpPr>
        <p:spPr>
          <a:xfrm>
            <a:off x="3319462" y="4730130"/>
            <a:ext cx="171450" cy="57150"/>
          </a:xfrm>
          <a:prstGeom prst="roundRect">
            <a:avLst>
              <a:gd name="adj" fmla="val 50000"/>
            </a:avLst>
          </a:prstGeom>
          <a:solidFill>
            <a:srgbClr val="37352F"/>
          </a:solidFill>
          <a:ln/>
        </p:spPr>
      </p:sp>
      <p:sp>
        <p:nvSpPr>
          <p:cNvPr id="36" name="static"/>
          <p:cNvSpPr/>
          <p:nvPr/>
        </p:nvSpPr>
        <p:spPr>
          <a:xfrm>
            <a:off x="3538538" y="4730130"/>
            <a:ext cx="57150" cy="57150"/>
          </a:xfrm>
          <a:prstGeom prst="roundRect">
            <a:avLst>
              <a:gd name="adj" fmla="val 50000"/>
            </a:avLst>
          </a:prstGeom>
          <a:solidFill>
            <a:srgbClr val="E3E2E0"/>
          </a:solidFill>
          <a:ln/>
        </p:spPr>
      </p:sp>
      <p:sp>
        <p:nvSpPr>
          <p:cNvPr id="37" name="static"/>
          <p:cNvSpPr/>
          <p:nvPr/>
        </p:nvSpPr>
        <p:spPr>
          <a:xfrm>
            <a:off x="3643313" y="4730130"/>
            <a:ext cx="57150" cy="57150"/>
          </a:xfrm>
          <a:prstGeom prst="roundRect">
            <a:avLst>
              <a:gd name="adj" fmla="val 50000"/>
            </a:avLst>
          </a:prstGeom>
          <a:solidFill>
            <a:srgbClr val="E3E2E0"/>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700"/>
                                        <p:tgtEl>
                                          <p:spTgt spid="7"/>
                                        </p:tgtEl>
                                      </p:cBhvr>
                                    </p:animEffect>
                                    <p:anim calcmode="lin" valueType="num">
                                      <p:cBhvr additive="base">
                                        <p:cTn id="6" dur="700" fill="hold"/>
                                        <p:tgtEl>
                                          <p:spTgt spid="7"/>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700"/>
                                        <p:tgtEl>
                                          <p:spTgt spid="8"/>
                                        </p:tgtEl>
                                      </p:cBhvr>
                                    </p:animEffect>
                                    <p:anim calcmode="lin" valueType="num">
                                      <p:cBhvr additive="base">
                                        <p:cTn id="10" dur="700" fill="hold"/>
                                        <p:tgtEl>
                                          <p:spTgt spid="8"/>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additive="base">
                                        <p:cTn id="14" dur="700" fill="hold"/>
                                        <p:tgtEl>
                                          <p:spTgt spid="9"/>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anim calcmode="lin" valueType="num">
                                      <p:cBhvr additive="base">
                                        <p:cTn id="18" dur="700" fill="hold"/>
                                        <p:tgtEl>
                                          <p:spTgt spid="10"/>
                                        </p:tgtEl>
                                        <p:attrNameLst>
                                          <p:attrName>ppt_y</p:attrName>
                                        </p:attrNameLst>
                                      </p:cBhvr>
                                      <p:tavLst>
                                        <p:tav tm="0">
                                          <p:val>
                                            <p:strVal val="#ppt_y+.08"/>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700"/>
                                        <p:tgtEl>
                                          <p:spTgt spid="11"/>
                                        </p:tgtEl>
                                      </p:cBhvr>
                                    </p:animEffect>
                                    <p:anim calcmode="lin" valueType="num">
                                      <p:cBhvr additive="base">
                                        <p:cTn id="24" dur="700" fill="hold"/>
                                        <p:tgtEl>
                                          <p:spTgt spid="11"/>
                                        </p:tgtEl>
                                        <p:attrNameLst>
                                          <p:attrName>ppt_y</p:attrName>
                                        </p:attrNameLst>
                                      </p:cBhvr>
                                      <p:tavLst>
                                        <p:tav tm="0">
                                          <p:val>
                                            <p:strVal val="#ppt_y+.08"/>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700"/>
                                        <p:tgtEl>
                                          <p:spTgt spid="12"/>
                                        </p:tgtEl>
                                      </p:cBhvr>
                                    </p:animEffect>
                                    <p:anim calcmode="lin" valueType="num">
                                      <p:cBhvr additive="base">
                                        <p:cTn id="28" dur="700" fill="hold"/>
                                        <p:tgtEl>
                                          <p:spTgt spid="12"/>
                                        </p:tgtEl>
                                        <p:attrNameLst>
                                          <p:attrName>ppt_y</p:attrName>
                                        </p:attrNameLst>
                                      </p:cBhvr>
                                      <p:tavLst>
                                        <p:tav tm="0">
                                          <p:val>
                                            <p:strVal val="#ppt_y+.0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700"/>
                                        <p:tgtEl>
                                          <p:spTgt spid="13"/>
                                        </p:tgtEl>
                                      </p:cBhvr>
                                    </p:animEffect>
                                    <p:anim calcmode="lin" valueType="num">
                                      <p:cBhvr additive="base">
                                        <p:cTn id="32" dur="700" fill="hold"/>
                                        <p:tgtEl>
                                          <p:spTgt spid="13"/>
                                        </p:tgtEl>
                                        <p:attrNameLst>
                                          <p:attrName>ppt_y</p:attrName>
                                        </p:attrNameLst>
                                      </p:cBhvr>
                                      <p:tavLst>
                                        <p:tav tm="0">
                                          <p:val>
                                            <p:strVal val="#ppt_y+.0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700"/>
                                        <p:tgtEl>
                                          <p:spTgt spid="14"/>
                                        </p:tgtEl>
                                      </p:cBhvr>
                                    </p:animEffect>
                                    <p:anim calcmode="lin" valueType="num">
                                      <p:cBhvr additive="base">
                                        <p:cTn id="36" dur="700" fill="hold"/>
                                        <p:tgtEl>
                                          <p:spTgt spid="14"/>
                                        </p:tgtEl>
                                        <p:attrNameLst>
                                          <p:attrName>ppt_y</p:attrName>
                                        </p:attrNameLst>
                                      </p:cBhvr>
                                      <p:tavLst>
                                        <p:tav tm="0">
                                          <p:val>
                                            <p:strVal val="#ppt_y+.08"/>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700"/>
                                        <p:tgtEl>
                                          <p:spTgt spid="15"/>
                                        </p:tgtEl>
                                      </p:cBhvr>
                                    </p:animEffect>
                                    <p:anim calcmode="lin" valueType="num">
                                      <p:cBhvr additive="base">
                                        <p:cTn id="42" dur="700" fill="hold"/>
                                        <p:tgtEl>
                                          <p:spTgt spid="15"/>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700"/>
                                        <p:tgtEl>
                                          <p:spTgt spid="16"/>
                                        </p:tgtEl>
                                      </p:cBhvr>
                                    </p:animEffect>
                                    <p:anim calcmode="lin" valueType="num">
                                      <p:cBhvr additive="base">
                                        <p:cTn id="46" dur="700" fill="hold"/>
                                        <p:tgtEl>
                                          <p:spTgt spid="16"/>
                                        </p:tgtEl>
                                        <p:attrNameLst>
                                          <p:attrName>ppt_y</p:attrName>
                                        </p:attrNameLst>
                                      </p:cBhvr>
                                      <p:tavLst>
                                        <p:tav tm="0">
                                          <p:val>
                                            <p:strVal val="#ppt_y+.0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700"/>
                                        <p:tgtEl>
                                          <p:spTgt spid="17"/>
                                        </p:tgtEl>
                                      </p:cBhvr>
                                    </p:animEffect>
                                    <p:anim calcmode="lin" valueType="num">
                                      <p:cBhvr additive="base">
                                        <p:cTn id="50" dur="700" fill="hold"/>
                                        <p:tgtEl>
                                          <p:spTgt spid="17"/>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700"/>
                                        <p:tgtEl>
                                          <p:spTgt spid="18"/>
                                        </p:tgtEl>
                                      </p:cBhvr>
                                    </p:animEffect>
                                    <p:anim calcmode="lin" valueType="num">
                                      <p:cBhvr additive="base">
                                        <p:cTn id="54" dur="700" fill="hold"/>
                                        <p:tgtEl>
                                          <p:spTgt spid="18"/>
                                        </p:tgtEl>
                                        <p:attrNameLst>
                                          <p:attrName>ppt_y</p:attrName>
                                        </p:attrNameLst>
                                      </p:cBhvr>
                                      <p:tavLst>
                                        <p:tav tm="0">
                                          <p:val>
                                            <p:strVal val="#ppt_y+.08"/>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700"/>
                                        <p:tgtEl>
                                          <p:spTgt spid="19"/>
                                        </p:tgtEl>
                                      </p:cBhvr>
                                    </p:animEffect>
                                    <p:anim calcmode="lin" valueType="num">
                                      <p:cBhvr additive="base">
                                        <p:cTn id="60" dur="700" fill="hold"/>
                                        <p:tgtEl>
                                          <p:spTgt spid="19"/>
                                        </p:tgtEl>
                                        <p:attrNameLst>
                                          <p:attrName>ppt_y</p:attrName>
                                        </p:attrNameLst>
                                      </p:cBhvr>
                                      <p:tavLst>
                                        <p:tav tm="0">
                                          <p:val>
                                            <p:strVal val="#ppt_y+.08"/>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700"/>
                                        <p:tgtEl>
                                          <p:spTgt spid="20"/>
                                        </p:tgtEl>
                                      </p:cBhvr>
                                    </p:animEffect>
                                    <p:anim calcmode="lin" valueType="num">
                                      <p:cBhvr additive="base">
                                        <p:cTn id="64" dur="700" fill="hold"/>
                                        <p:tgtEl>
                                          <p:spTgt spid="20"/>
                                        </p:tgtEl>
                                        <p:attrNameLst>
                                          <p:attrName>ppt_y</p:attrName>
                                        </p:attrNameLst>
                                      </p:cBhvr>
                                      <p:tavLst>
                                        <p:tav tm="0">
                                          <p:val>
                                            <p:strVal val="#ppt_y+.0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700"/>
                                        <p:tgtEl>
                                          <p:spTgt spid="21"/>
                                        </p:tgtEl>
                                      </p:cBhvr>
                                    </p:animEffect>
                                    <p:anim calcmode="lin" valueType="num">
                                      <p:cBhvr additive="base">
                                        <p:cTn id="68" dur="700" fill="hold"/>
                                        <p:tgtEl>
                                          <p:spTgt spid="21"/>
                                        </p:tgtEl>
                                        <p:attrNameLst>
                                          <p:attrName>ppt_y</p:attrName>
                                        </p:attrNameLst>
                                      </p:cBhvr>
                                      <p:tavLst>
                                        <p:tav tm="0">
                                          <p:val>
                                            <p:strVal val="#ppt_y+.0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700"/>
                                        <p:tgtEl>
                                          <p:spTgt spid="22"/>
                                        </p:tgtEl>
                                      </p:cBhvr>
                                    </p:animEffect>
                                    <p:anim calcmode="lin" valueType="num">
                                      <p:cBhvr additive="base">
                                        <p:cTn id="72" dur="700" fill="hold"/>
                                        <p:tgtEl>
                                          <p:spTgt spid="22"/>
                                        </p:tgtEl>
                                        <p:attrNameLst>
                                          <p:attrName>ppt_y</p:attrName>
                                        </p:attrNameLst>
                                      </p:cBhvr>
                                      <p:tavLst>
                                        <p:tav tm="0">
                                          <p:val>
                                            <p:strVal val="#ppt_y+.08"/>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75" presetID="23" presetClass="entr" presetSubtype="16"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Scale>
                                      <p:cBhvr>
                                        <p:cTn id="77" dur="500" fill="hold"/>
                                        <p:tgtEl>
                                          <p:spTgt spid="23"/>
                                        </p:tgtEl>
                                      </p:cBhvr>
                                      <p:from x="0" y="0"/>
                                      <p:to x="100000" y="100000"/>
                                    </p:animScale>
                                    <p:animEffect transition="in" filter="fade">
                                      <p:cBhvr>
                                        <p:cTn id="78" dur="500"/>
                                        <p:tgtEl>
                                          <p:spTgt spid="23"/>
                                        </p:tgtEl>
                                      </p:cBhvr>
                                    </p:animEffect>
                                  </p:childTnLst>
                                </p:cTn>
                              </p:par>
                            </p:childTnLst>
                          </p:cTn>
                        </p:par>
                      </p:childTnLst>
                    </p:cTn>
                  </p:par>
                  <p:par>
                    <p:cTn id="90" fill="hold">
                      <p:stCondLst>
                        <p:cond delay="indefinite"/>
                      </p:stCondLst>
                      <p:childTnLst>
                        <p:par>
                          <p:cTn id="91"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00"/>
                                        <p:tgtEl>
                                          <p:spTgt spid="2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500"/>
                                        <p:tgtEl>
                                          <p:spTgt spid="26"/>
                                        </p:tgtEl>
                                      </p:cBhvr>
                                    </p:animEffect>
                                  </p:childTnLst>
                                </p:cTn>
                              </p:par>
                            </p:childTnLst>
                          </p:cTn>
                        </p:par>
                      </p:childTnLst>
                    </p:cTn>
                  </p:par>
                  <p:par>
                    <p:cTn id="100" fill="hold">
                      <p:stCondLst>
                        <p:cond delay="indefinite"/>
                      </p:stCondLst>
                      <p:childTnLst>
                        <p:par>
                          <p:cTn id="101" fill="hold">
                            <p:stCondLst>
                              <p:cond delay="0"/>
                            </p:stCondLst>
                            <p:childTnLst>
                              <p:par>
                                <p:cTn id="92" presetID="23" presetClass="entr" presetSubtype="16" fill="hold" grpId="0" nodeType="clickEffect">
                                  <p:stCondLst>
                                    <p:cond delay="0"/>
                                  </p:stCondLst>
                                  <p:childTnLst>
                                    <p:set>
                                      <p:cBhvr>
                                        <p:cTn id="93" dur="1" fill="hold">
                                          <p:stCondLst>
                                            <p:cond delay="0"/>
                                          </p:stCondLst>
                                        </p:cTn>
                                        <p:tgtEl>
                                          <p:spTgt spid="27"/>
                                        </p:tgtEl>
                                        <p:attrNameLst>
                                          <p:attrName>style.visibility</p:attrName>
                                        </p:attrNameLst>
                                      </p:cBhvr>
                                      <p:to>
                                        <p:strVal val="visible"/>
                                      </p:to>
                                    </p:set>
                                    <p:animScale>
                                      <p:cBhvr>
                                        <p:cTn id="94" dur="500" fill="hold"/>
                                        <p:tgtEl>
                                          <p:spTgt spid="27"/>
                                        </p:tgtEl>
                                      </p:cBhvr>
                                      <p:from x="0" y="0"/>
                                      <p:to x="100000" y="100000"/>
                                    </p:animScale>
                                    <p:animEffect transition="in" filter="fade">
                                      <p:cBhvr>
                                        <p:cTn id="95" dur="500"/>
                                        <p:tgtEl>
                                          <p:spTgt spid="27"/>
                                        </p:tgtEl>
                                      </p:cBhvr>
                                    </p:animEffect>
                                  </p:childTnLst>
                                </p:cTn>
                              </p:par>
                              <p:par>
                                <p:cTn id="96" presetID="23" presetClass="entr" presetSubtype="16" fill="hold" grpId="0" nodeType="withEffect">
                                  <p:stCondLst>
                                    <p:cond delay="0"/>
                                  </p:stCondLst>
                                  <p:childTnLst>
                                    <p:set>
                                      <p:cBhvr>
                                        <p:cTn id="97" dur="1" fill="hold">
                                          <p:stCondLst>
                                            <p:cond delay="0"/>
                                          </p:stCondLst>
                                        </p:cTn>
                                        <p:tgtEl>
                                          <p:spTgt spid="28"/>
                                        </p:tgtEl>
                                        <p:attrNameLst>
                                          <p:attrName>style.visibility</p:attrName>
                                        </p:attrNameLst>
                                      </p:cBhvr>
                                      <p:to>
                                        <p:strVal val="visible"/>
                                      </p:to>
                                    </p:set>
                                    <p:animScale>
                                      <p:cBhvr>
                                        <p:cTn id="98" dur="500" fill="hold"/>
                                        <p:tgtEl>
                                          <p:spTgt spid="28"/>
                                        </p:tgtEl>
                                      </p:cBhvr>
                                      <p:from x="0" y="0"/>
                                      <p:to x="100000" y="100000"/>
                                    </p:animScale>
                                    <p:animEffect transition="in" filter="fade">
                                      <p:cBhvr>
                                        <p:cTn id="9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28613"/>
          </a:xfrm>
          <a:prstGeom prst="rect">
            <a:avLst/>
          </a:prstGeom>
          <a:noFill/>
          <a:ln/>
        </p:spPr>
        <p:txBody>
          <a:bodyPr wrap="none" lIns="0" tIns="0" rIns="0" bIns="0" rtlCol="0" anchor="ctr"/>
          <a:lstStyle/>
          <a:p>
            <a:pPr algn="l" indent="0" marL="0">
              <a:lnSpc>
                <a:spcPts val="2588"/>
              </a:lnSpc>
              <a:buNone/>
            </a:pPr>
            <a:r>
              <a:rPr lang="en-US" sz="2250" b="1" dirty="0">
                <a:solidFill>
                  <a:srgbClr val="37352F"/>
                </a:solidFill>
                <a:latin typeface="Inter" pitchFamily="34" charset="0"/>
                <a:ea typeface="Inter" pitchFamily="34" charset="-122"/>
                <a:cs typeface="Inter" pitchFamily="34" charset="-120"/>
              </a:rPr>
              <a:t>Chapter 6: Global Reach &amp; Scale</a:t>
            </a:r>
            <a:endParaRPr lang="en-US" sz="2250" dirty="0"/>
          </a:p>
        </p:txBody>
      </p:sp>
      <p:sp>
        <p:nvSpPr>
          <p:cNvPr id="3" name="static"/>
          <p:cNvSpPr txBox="1"/>
          <p:nvPr/>
        </p:nvSpPr>
        <p:spPr>
          <a:xfrm>
            <a:off x="609600" y="1204913"/>
            <a:ext cx="6686550" cy="210443"/>
          </a:xfrm>
          <a:prstGeom prst="rect">
            <a:avLst/>
          </a:prstGeom>
          <a:noFill/>
          <a:ln/>
        </p:spPr>
        <p:txBody>
          <a:bodyPr wrap="none" lIns="0" tIns="0" rIns="0" bIns="0" rtlCol="0" anchor="ctr"/>
          <a:lstStyle/>
          <a:p>
            <a:pPr algn="l" indent="0" marL="0">
              <a:lnSpc>
                <a:spcPts val="1658"/>
              </a:lnSpc>
              <a:buNone/>
            </a:pPr>
            <a:r>
              <a:rPr lang="en-US" sz="1275" dirty="0">
                <a:solidFill>
                  <a:srgbClr val="37352F"/>
                </a:solidFill>
                <a:latin typeface="Inter" pitchFamily="34" charset="0"/>
                <a:ea typeface="Inter" pitchFamily="34" charset="-122"/>
                <a:cs typeface="Inter" pitchFamily="34" charset="-120"/>
              </a:rPr>
              <a:t>Expanding the Narrative Across Borders</a:t>
            </a:r>
            <a:endParaRPr lang="en-US" sz="1275"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PART 4 · GLOBAL IMPACT</a:t>
            </a:r>
            <a:endParaRPr lang="en-US" sz="825" dirty="0"/>
          </a:p>
        </p:txBody>
      </p:sp>
      <p:sp>
        <p:nvSpPr>
          <p:cNvPr id="5" name="!!key6-1"/>
          <p:cNvSpPr/>
          <p:nvPr/>
        </p:nvSpPr>
        <p:spPr>
          <a:xfrm>
            <a:off x="6438900" y="419100"/>
            <a:ext cx="2095500" cy="255240"/>
          </a:xfrm>
          <a:prstGeom prst="roundRect">
            <a:avLst>
              <a:gd name="adj" fmla="val 11195"/>
            </a:avLst>
          </a:prstGeom>
          <a:solidFill>
            <a:srgbClr val="FDECC8"/>
          </a:solidFill>
          <a:ln/>
        </p:spPr>
      </p:sp>
      <p:sp>
        <p:nvSpPr>
          <p:cNvPr id="6" name="!!key6-2"/>
          <p:cNvSpPr txBox="1"/>
          <p:nvPr/>
        </p:nvSpPr>
        <p:spPr>
          <a:xfrm>
            <a:off x="6438900" y="4191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Global reach &amp; scale</a:t>
            </a:r>
            <a:endParaRPr lang="en-US" sz="900" dirty="0"/>
          </a:p>
        </p:txBody>
      </p:sp>
      <p:sp>
        <p:nvSpPr>
          <p:cNvPr id="7" name="b1:pop"/>
          <p:cNvSpPr/>
          <p:nvPr/>
        </p:nvSpPr>
        <p:spPr>
          <a:xfrm>
            <a:off x="609600" y="1676400"/>
            <a:ext cx="2952750" cy="1085850"/>
          </a:xfrm>
          <a:prstGeom prst="roundRect">
            <a:avLst>
              <a:gd name="adj" fmla="val 3509"/>
            </a:avLst>
          </a:prstGeom>
          <a:solidFill>
            <a:srgbClr val="F7F7F5"/>
          </a:solidFill>
          <a:ln w="6350">
            <a:solidFill>
              <a:srgbClr val="E9E9E7"/>
            </a:solidFill>
            <a:prstDash val="solid"/>
          </a:ln>
        </p:spPr>
      </p:sp>
      <p:sp>
        <p:nvSpPr>
          <p:cNvPr id="8" name="b1:pop"/>
          <p:cNvSpPr txBox="1"/>
          <p:nvPr/>
        </p:nvSpPr>
        <p:spPr>
          <a:xfrm>
            <a:off x="804862" y="1845022"/>
            <a:ext cx="2767203" cy="533400"/>
          </a:xfrm>
          <a:prstGeom prst="rect">
            <a:avLst/>
          </a:prstGeom>
          <a:noFill/>
          <a:ln/>
        </p:spPr>
        <p:txBody>
          <a:bodyPr wrap="none" lIns="0" tIns="0" rIns="0" bIns="0" rtlCol="0" anchor="ctr"/>
          <a:lstStyle/>
          <a:p>
            <a:pPr algn="l" indent="0" marL="0">
              <a:lnSpc>
                <a:spcPts val="4200"/>
              </a:lnSpc>
              <a:buNone/>
            </a:pPr>
            <a:r>
              <a:rPr lang="en-US" sz="4200" b="1" dirty="0">
                <a:solidFill>
                  <a:srgbClr val="37352F"/>
                </a:solidFill>
                <a:latin typeface="Inter" pitchFamily="34" charset="0"/>
                <a:ea typeface="Inter" pitchFamily="34" charset="-122"/>
                <a:cs typeface="Inter" pitchFamily="34" charset="-120"/>
              </a:rPr>
              <a:t>38,000+</a:t>
            </a:r>
            <a:endParaRPr lang="en-US" sz="4200" dirty="0"/>
          </a:p>
        </p:txBody>
      </p:sp>
      <p:sp>
        <p:nvSpPr>
          <p:cNvPr id="9" name="b1:pop"/>
          <p:cNvSpPr txBox="1"/>
          <p:nvPr/>
        </p:nvSpPr>
        <p:spPr>
          <a:xfrm>
            <a:off x="804862" y="2406997"/>
            <a:ext cx="2767203" cy="186630"/>
          </a:xfrm>
          <a:prstGeom prst="rect">
            <a:avLst/>
          </a:prstGeom>
          <a:noFill/>
          <a:ln/>
        </p:spPr>
        <p:txBody>
          <a:bodyPr wrap="none" lIns="0" tIns="0" rIns="0" bIns="0" rtlCol="0" anchor="ctr"/>
          <a:lstStyle/>
          <a:p>
            <a:pPr algn="l" indent="0" marL="0">
              <a:lnSpc>
                <a:spcPts val="1470"/>
              </a:lnSpc>
              <a:buNone/>
            </a:pPr>
            <a:r>
              <a:rPr lang="en-US" sz="1050" dirty="0">
                <a:solidFill>
                  <a:srgbClr val="787774"/>
                </a:solidFill>
                <a:latin typeface="Inter" pitchFamily="34" charset="0"/>
                <a:ea typeface="Inter" pitchFamily="34" charset="-122"/>
                <a:cs typeface="Inter" pitchFamily="34" charset="-120"/>
              </a:rPr>
              <a:t>Stores worldwide</a:t>
            </a:r>
            <a:endParaRPr lang="en-US" sz="1050" dirty="0"/>
          </a:p>
        </p:txBody>
      </p:sp>
      <p:sp>
        <p:nvSpPr>
          <p:cNvPr id="10" name="b2:pop"/>
          <p:cNvSpPr/>
          <p:nvPr/>
        </p:nvSpPr>
        <p:spPr>
          <a:xfrm>
            <a:off x="609600" y="2876550"/>
            <a:ext cx="2952750" cy="1085850"/>
          </a:xfrm>
          <a:prstGeom prst="roundRect">
            <a:avLst>
              <a:gd name="adj" fmla="val 3509"/>
            </a:avLst>
          </a:prstGeom>
          <a:solidFill>
            <a:srgbClr val="F7F7F5"/>
          </a:solidFill>
          <a:ln w="6350">
            <a:solidFill>
              <a:srgbClr val="E9E9E7"/>
            </a:solidFill>
            <a:prstDash val="solid"/>
          </a:ln>
        </p:spPr>
      </p:sp>
      <p:sp>
        <p:nvSpPr>
          <p:cNvPr id="11" name="b2:pop"/>
          <p:cNvSpPr txBox="1"/>
          <p:nvPr/>
        </p:nvSpPr>
        <p:spPr>
          <a:xfrm>
            <a:off x="804862" y="3045172"/>
            <a:ext cx="1789938" cy="533400"/>
          </a:xfrm>
          <a:prstGeom prst="rect">
            <a:avLst/>
          </a:prstGeom>
          <a:noFill/>
          <a:ln/>
        </p:spPr>
        <p:txBody>
          <a:bodyPr wrap="none" lIns="0" tIns="0" rIns="0" bIns="0" rtlCol="0" anchor="ctr"/>
          <a:lstStyle/>
          <a:p>
            <a:pPr algn="l" indent="0" marL="0">
              <a:lnSpc>
                <a:spcPts val="4200"/>
              </a:lnSpc>
              <a:buNone/>
            </a:pPr>
            <a:r>
              <a:rPr lang="en-US" sz="4200" b="1" dirty="0">
                <a:solidFill>
                  <a:srgbClr val="37352F"/>
                </a:solidFill>
                <a:latin typeface="Inter" pitchFamily="34" charset="0"/>
                <a:ea typeface="Inter" pitchFamily="34" charset="-122"/>
                <a:cs typeface="Inter" pitchFamily="34" charset="-120"/>
              </a:rPr>
              <a:t>80+</a:t>
            </a:r>
            <a:endParaRPr lang="en-US" sz="4200" dirty="0"/>
          </a:p>
        </p:txBody>
      </p:sp>
      <p:sp>
        <p:nvSpPr>
          <p:cNvPr id="12" name="b2:pop"/>
          <p:cNvSpPr txBox="1"/>
          <p:nvPr/>
        </p:nvSpPr>
        <p:spPr>
          <a:xfrm>
            <a:off x="804862" y="3607147"/>
            <a:ext cx="1789938" cy="186630"/>
          </a:xfrm>
          <a:prstGeom prst="rect">
            <a:avLst/>
          </a:prstGeom>
          <a:noFill/>
          <a:ln/>
        </p:spPr>
        <p:txBody>
          <a:bodyPr wrap="none" lIns="0" tIns="0" rIns="0" bIns="0" rtlCol="0" anchor="ctr"/>
          <a:lstStyle/>
          <a:p>
            <a:pPr algn="l" indent="0" marL="0">
              <a:lnSpc>
                <a:spcPts val="1470"/>
              </a:lnSpc>
              <a:buNone/>
            </a:pPr>
            <a:r>
              <a:rPr lang="en-US" sz="1050" dirty="0">
                <a:solidFill>
                  <a:srgbClr val="787774"/>
                </a:solidFill>
                <a:latin typeface="Inter" pitchFamily="34" charset="0"/>
                <a:ea typeface="Inter" pitchFamily="34" charset="-122"/>
                <a:cs typeface="Inter" pitchFamily="34" charset="-120"/>
              </a:rPr>
              <a:t>Global markets</a:t>
            </a:r>
            <a:endParaRPr lang="en-US" sz="1050" dirty="0"/>
          </a:p>
        </p:txBody>
      </p:sp>
      <p:pic>
        <p:nvPicPr>
          <p:cNvPr id="13" name="b2:pop (Globe with gold dots marking Starbucks markets)" descr="/home/user/slide-present-en/starbucks-presentation/assets/globe.png">    </p:cNvPr>
          <p:cNvPicPr>
            <a:picLocks noChangeAspect="1"/>
          </p:cNvPicPr>
          <p:nvPr/>
        </p:nvPicPr>
        <p:blipFill>
          <a:blip r:embed="rId1"/>
          <a:stretch>
            <a:fillRect/>
          </a:stretch>
        </p:blipFill>
        <p:spPr>
          <a:xfrm>
            <a:off x="2557463" y="3014663"/>
            <a:ext cx="809625" cy="809625"/>
          </a:xfrm>
          <a:prstGeom prst="rect">
            <a:avLst/>
          </a:prstGeom>
        </p:spPr>
      </p:pic>
      <p:sp>
        <p:nvSpPr>
          <p:cNvPr id="14" name="b3:rise"/>
          <p:cNvSpPr/>
          <p:nvPr/>
        </p:nvSpPr>
        <p:spPr>
          <a:xfrm>
            <a:off x="3714750" y="1676400"/>
            <a:ext cx="4819650" cy="2286000"/>
          </a:xfrm>
          <a:prstGeom prst="roundRect">
            <a:avLst>
              <a:gd name="adj" fmla="val 1667"/>
            </a:avLst>
          </a:prstGeom>
          <a:solidFill>
            <a:srgbClr val="FFFFFF"/>
          </a:solidFill>
          <a:ln w="6350">
            <a:solidFill>
              <a:srgbClr val="E9E9E7"/>
            </a:solidFill>
            <a:prstDash val="solid"/>
          </a:ln>
        </p:spPr>
      </p:sp>
      <p:sp>
        <p:nvSpPr>
          <p:cNvPr id="15" name="b3:rise"/>
          <p:cNvSpPr txBox="1"/>
          <p:nvPr/>
        </p:nvSpPr>
        <p:spPr>
          <a:xfrm>
            <a:off x="3910012" y="1852612"/>
            <a:ext cx="4783455"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KEY GROWTH STRATEGY</a:t>
            </a:r>
            <a:endParaRPr lang="en-US" sz="825" dirty="0"/>
          </a:p>
        </p:txBody>
      </p:sp>
      <p:sp>
        <p:nvSpPr>
          <p:cNvPr id="16" name="b3:rise"/>
          <p:cNvSpPr txBox="1"/>
          <p:nvPr/>
        </p:nvSpPr>
        <p:spPr>
          <a:xfrm>
            <a:off x="3910012" y="2123108"/>
            <a:ext cx="256773" cy="247650"/>
          </a:xfrm>
          <a:prstGeom prst="rect">
            <a:avLst/>
          </a:prstGeom>
          <a:noFill/>
          <a:ln/>
        </p:spPr>
        <p:txBody>
          <a:bodyPr wrap="none" lIns="0" tIns="0" rIns="0" bIns="0" rtlCol="0" anchor="ctr"/>
          <a:lstStyle/>
          <a:p>
            <a:pPr algn="l" indent="0" marL="0">
              <a:lnSpc>
                <a:spcPts val="1950"/>
              </a:lnSpc>
              <a:buNone/>
            </a:pPr>
            <a:r>
              <a:rPr lang="en-US" sz="1500" dirty="0">
                <a:solidFill>
                  <a:srgbClr val="37352F"/>
                </a:solidFill>
                <a:latin typeface="Inter" pitchFamily="34" charset="0"/>
                <a:ea typeface="Inter" pitchFamily="34" charset="-122"/>
                <a:cs typeface="Inter" pitchFamily="34" charset="-120"/>
              </a:rPr>
              <a:t>👥</a:t>
            </a:r>
            <a:endParaRPr lang="en-US" sz="1500" dirty="0"/>
          </a:p>
        </p:txBody>
      </p:sp>
      <p:sp>
        <p:nvSpPr>
          <p:cNvPr id="17" name="b3:rise"/>
          <p:cNvSpPr txBox="1"/>
          <p:nvPr/>
        </p:nvSpPr>
        <p:spPr>
          <a:xfrm>
            <a:off x="4243015" y="2123108"/>
            <a:ext cx="4423812" cy="194295"/>
          </a:xfrm>
          <a:prstGeom prst="rect">
            <a:avLst/>
          </a:prstGeom>
          <a:noFill/>
          <a:ln/>
        </p:spPr>
        <p:txBody>
          <a:bodyPr wrap="none" lIns="0" tIns="0" rIns="0" bIns="0" rtlCol="0" anchor="ctr"/>
          <a:lstStyle/>
          <a:p>
            <a:pPr algn="l" indent="0" marL="0">
              <a:lnSpc>
                <a:spcPts val="1530"/>
              </a:lnSpc>
              <a:buNone/>
            </a:pPr>
            <a:r>
              <a:rPr lang="en-US" sz="1275" b="1" dirty="0">
                <a:solidFill>
                  <a:srgbClr val="37352F"/>
                </a:solidFill>
                <a:latin typeface="Inter" pitchFamily="34" charset="0"/>
                <a:ea typeface="Inter" pitchFamily="34" charset="-122"/>
                <a:cs typeface="Inter" pitchFamily="34" charset="-120"/>
              </a:rPr>
              <a:t>Strategic joint ventures</a:t>
            </a:r>
            <a:endParaRPr lang="en-US" sz="1275" dirty="0"/>
          </a:p>
        </p:txBody>
      </p:sp>
      <p:sp>
        <p:nvSpPr>
          <p:cNvPr id="18" name="b3:rise"/>
          <p:cNvSpPr txBox="1"/>
          <p:nvPr/>
        </p:nvSpPr>
        <p:spPr>
          <a:xfrm>
            <a:off x="4243015" y="2336453"/>
            <a:ext cx="4423812" cy="180008"/>
          </a:xfrm>
          <a:prstGeom prst="rect">
            <a:avLst/>
          </a:prstGeom>
          <a:noFill/>
          <a:ln/>
        </p:spPr>
        <p:txBody>
          <a:bodyPr wrap="none" lIns="0" tIns="0" rIns="0" bIns="0" rtlCol="0" anchor="ctr"/>
          <a:lstStyle/>
          <a:p>
            <a:pPr algn="l" indent="0" marL="0">
              <a:lnSpc>
                <a:spcPts val="1417"/>
              </a:lnSpc>
              <a:buNone/>
            </a:pPr>
            <a:r>
              <a:rPr lang="en-US" sz="1013" dirty="0">
                <a:solidFill>
                  <a:srgbClr val="37352F"/>
                </a:solidFill>
                <a:latin typeface="Inter" pitchFamily="34" charset="0"/>
                <a:ea typeface="Inter" pitchFamily="34" charset="-122"/>
                <a:cs typeface="Inter" pitchFamily="34" charset="-120"/>
              </a:rPr>
              <a:t>Local partners to enter and grow in new markets.</a:t>
            </a:r>
            <a:endParaRPr lang="en-US" sz="1013" dirty="0"/>
          </a:p>
        </p:txBody>
      </p:sp>
      <p:sp>
        <p:nvSpPr>
          <p:cNvPr id="19" name="b3:rise"/>
          <p:cNvSpPr txBox="1"/>
          <p:nvPr/>
        </p:nvSpPr>
        <p:spPr>
          <a:xfrm>
            <a:off x="3910012" y="2640285"/>
            <a:ext cx="256773" cy="247650"/>
          </a:xfrm>
          <a:prstGeom prst="rect">
            <a:avLst/>
          </a:prstGeom>
          <a:noFill/>
          <a:ln/>
        </p:spPr>
        <p:txBody>
          <a:bodyPr wrap="none" lIns="0" tIns="0" rIns="0" bIns="0" rtlCol="0" anchor="ctr"/>
          <a:lstStyle/>
          <a:p>
            <a:pPr algn="l" indent="0" marL="0">
              <a:lnSpc>
                <a:spcPts val="1950"/>
              </a:lnSpc>
              <a:buNone/>
            </a:pPr>
            <a:r>
              <a:rPr lang="en-US" sz="1500" dirty="0">
                <a:solidFill>
                  <a:srgbClr val="37352F"/>
                </a:solidFill>
                <a:latin typeface="Inter" pitchFamily="34" charset="0"/>
                <a:ea typeface="Inter" pitchFamily="34" charset="-122"/>
                <a:cs typeface="Inter" pitchFamily="34" charset="-120"/>
              </a:rPr>
              <a:t>🌍</a:t>
            </a:r>
            <a:endParaRPr lang="en-US" sz="1500" dirty="0"/>
          </a:p>
        </p:txBody>
      </p:sp>
      <p:sp>
        <p:nvSpPr>
          <p:cNvPr id="20" name="b3:rise"/>
          <p:cNvSpPr txBox="1"/>
          <p:nvPr/>
        </p:nvSpPr>
        <p:spPr>
          <a:xfrm>
            <a:off x="4243015" y="2640285"/>
            <a:ext cx="4423812" cy="194295"/>
          </a:xfrm>
          <a:prstGeom prst="rect">
            <a:avLst/>
          </a:prstGeom>
          <a:noFill/>
          <a:ln/>
        </p:spPr>
        <p:txBody>
          <a:bodyPr wrap="none" lIns="0" tIns="0" rIns="0" bIns="0" rtlCol="0" anchor="ctr"/>
          <a:lstStyle/>
          <a:p>
            <a:pPr algn="l" indent="0" marL="0">
              <a:lnSpc>
                <a:spcPts val="1530"/>
              </a:lnSpc>
              <a:buNone/>
            </a:pPr>
            <a:r>
              <a:rPr lang="en-US" sz="1275" b="1" dirty="0">
                <a:solidFill>
                  <a:srgbClr val="37352F"/>
                </a:solidFill>
                <a:latin typeface="Inter" pitchFamily="34" charset="0"/>
                <a:ea typeface="Inter" pitchFamily="34" charset="-122"/>
                <a:cs typeface="Inter" pitchFamily="34" charset="-120"/>
              </a:rPr>
              <a:t>Market customization</a:t>
            </a:r>
            <a:endParaRPr lang="en-US" sz="1275" dirty="0"/>
          </a:p>
        </p:txBody>
      </p:sp>
      <p:sp>
        <p:nvSpPr>
          <p:cNvPr id="21" name="b3:rise"/>
          <p:cNvSpPr txBox="1"/>
          <p:nvPr/>
        </p:nvSpPr>
        <p:spPr>
          <a:xfrm>
            <a:off x="4243015" y="2853630"/>
            <a:ext cx="4423812" cy="180008"/>
          </a:xfrm>
          <a:prstGeom prst="rect">
            <a:avLst/>
          </a:prstGeom>
          <a:noFill/>
          <a:ln/>
        </p:spPr>
        <p:txBody>
          <a:bodyPr wrap="none" lIns="0" tIns="0" rIns="0" bIns="0" rtlCol="0" anchor="ctr"/>
          <a:lstStyle/>
          <a:p>
            <a:pPr algn="l" indent="0" marL="0">
              <a:lnSpc>
                <a:spcPts val="1417"/>
              </a:lnSpc>
              <a:buNone/>
            </a:pPr>
            <a:r>
              <a:rPr lang="en-US" sz="1013" dirty="0">
                <a:solidFill>
                  <a:srgbClr val="37352F"/>
                </a:solidFill>
                <a:latin typeface="Inter" pitchFamily="34" charset="0"/>
                <a:ea typeface="Inter" pitchFamily="34" charset="-122"/>
                <a:cs typeface="Inter" pitchFamily="34" charset="-120"/>
              </a:rPr>
              <a:t>Local menus, for example Teavana and matcha drinks in Asia.</a:t>
            </a:r>
            <a:endParaRPr lang="en-US" sz="1013" dirty="0"/>
          </a:p>
        </p:txBody>
      </p:sp>
      <p:sp>
        <p:nvSpPr>
          <p:cNvPr id="22" name="b3:rise"/>
          <p:cNvSpPr txBox="1"/>
          <p:nvPr/>
        </p:nvSpPr>
        <p:spPr>
          <a:xfrm>
            <a:off x="3910012" y="3157463"/>
            <a:ext cx="256773" cy="247650"/>
          </a:xfrm>
          <a:prstGeom prst="rect">
            <a:avLst/>
          </a:prstGeom>
          <a:noFill/>
          <a:ln/>
        </p:spPr>
        <p:txBody>
          <a:bodyPr wrap="none" lIns="0" tIns="0" rIns="0" bIns="0" rtlCol="0" anchor="ctr"/>
          <a:lstStyle/>
          <a:p>
            <a:pPr algn="l" indent="0" marL="0">
              <a:lnSpc>
                <a:spcPts val="1950"/>
              </a:lnSpc>
              <a:buNone/>
            </a:pPr>
            <a:r>
              <a:rPr lang="en-US" sz="1500" dirty="0">
                <a:solidFill>
                  <a:srgbClr val="37352F"/>
                </a:solidFill>
                <a:latin typeface="Inter" pitchFamily="34" charset="0"/>
                <a:ea typeface="Inter" pitchFamily="34" charset="-122"/>
                <a:cs typeface="Inter" pitchFamily="34" charset="-120"/>
              </a:rPr>
              <a:t>⭐</a:t>
            </a:r>
            <a:endParaRPr lang="en-US" sz="1500" dirty="0"/>
          </a:p>
        </p:txBody>
      </p:sp>
      <p:sp>
        <p:nvSpPr>
          <p:cNvPr id="23" name="b3:rise"/>
          <p:cNvSpPr txBox="1"/>
          <p:nvPr/>
        </p:nvSpPr>
        <p:spPr>
          <a:xfrm>
            <a:off x="4243015" y="3157463"/>
            <a:ext cx="4423812" cy="194295"/>
          </a:xfrm>
          <a:prstGeom prst="rect">
            <a:avLst/>
          </a:prstGeom>
          <a:noFill/>
          <a:ln/>
        </p:spPr>
        <p:txBody>
          <a:bodyPr wrap="none" lIns="0" tIns="0" rIns="0" bIns="0" rtlCol="0" anchor="ctr"/>
          <a:lstStyle/>
          <a:p>
            <a:pPr algn="l" indent="0" marL="0">
              <a:lnSpc>
                <a:spcPts val="1530"/>
              </a:lnSpc>
              <a:buNone/>
            </a:pPr>
            <a:r>
              <a:rPr lang="en-US" sz="1275" b="1" dirty="0">
                <a:solidFill>
                  <a:srgbClr val="37352F"/>
                </a:solidFill>
                <a:latin typeface="Inter" pitchFamily="34" charset="0"/>
                <a:ea typeface="Inter" pitchFamily="34" charset="-122"/>
                <a:cs typeface="Inter" pitchFamily="34" charset="-120"/>
              </a:rPr>
              <a:t>Reserve Roasteries</a:t>
            </a:r>
            <a:endParaRPr lang="en-US" sz="1275" dirty="0"/>
          </a:p>
        </p:txBody>
      </p:sp>
      <p:sp>
        <p:nvSpPr>
          <p:cNvPr id="24" name="b3:rise"/>
          <p:cNvSpPr txBox="1"/>
          <p:nvPr/>
        </p:nvSpPr>
        <p:spPr>
          <a:xfrm>
            <a:off x="4243015" y="3370808"/>
            <a:ext cx="4423812" cy="180008"/>
          </a:xfrm>
          <a:prstGeom prst="rect">
            <a:avLst/>
          </a:prstGeom>
          <a:noFill/>
          <a:ln/>
        </p:spPr>
        <p:txBody>
          <a:bodyPr wrap="none" lIns="0" tIns="0" rIns="0" bIns="0" rtlCol="0" anchor="ctr"/>
          <a:lstStyle/>
          <a:p>
            <a:pPr algn="l" indent="0" marL="0">
              <a:lnSpc>
                <a:spcPts val="1417"/>
              </a:lnSpc>
              <a:buNone/>
            </a:pPr>
            <a:r>
              <a:rPr lang="en-US" sz="1013" dirty="0">
                <a:solidFill>
                  <a:srgbClr val="37352F"/>
                </a:solidFill>
                <a:latin typeface="Inter" pitchFamily="34" charset="0"/>
                <a:ea typeface="Inter" pitchFamily="34" charset="-122"/>
                <a:cs typeface="Inter" pitchFamily="34" charset="-120"/>
              </a:rPr>
              <a:t>High-end flagships that act as the brand's storytellers.</a:t>
            </a:r>
            <a:endParaRPr lang="en-US" sz="1013" dirty="0"/>
          </a:p>
        </p:txBody>
      </p:sp>
      <p:sp>
        <p:nvSpPr>
          <p:cNvPr id="25" name="b4:fade"/>
          <p:cNvSpPr txBox="1"/>
          <p:nvPr/>
        </p:nvSpPr>
        <p:spPr>
          <a:xfrm>
            <a:off x="609600" y="4124771"/>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Inter" pitchFamily="34" charset="0"/>
                <a:ea typeface="Inter" pitchFamily="34" charset="-122"/>
                <a:cs typeface="Inter" pitchFamily="34" charset="-120"/>
              </a:rPr>
              <a:t>➡️</a:t>
            </a:r>
            <a:endParaRPr lang="en-US" sz="1125" dirty="0"/>
          </a:p>
        </p:txBody>
      </p:sp>
      <p:sp>
        <p:nvSpPr>
          <p:cNvPr id="26" name="b4:fade"/>
          <p:cNvSpPr txBox="1"/>
          <p:nvPr/>
        </p:nvSpPr>
        <p:spPr>
          <a:xfrm>
            <a:off x="883146" y="4124325"/>
            <a:ext cx="6391120" cy="186630"/>
          </a:xfrm>
          <a:prstGeom prst="rect">
            <a:avLst/>
          </a:prstGeom>
          <a:noFill/>
          <a:ln/>
        </p:spPr>
        <p:txBody>
          <a:bodyPr wrap="none" lIns="0" tIns="0" rIns="0" bIns="0" rtlCol="0" anchor="ctr"/>
          <a:lstStyle/>
          <a:p>
            <a:pPr algn="l" indent="0" marL="0">
              <a:lnSpc>
                <a:spcPts val="1470"/>
              </a:lnSpc>
              <a:buNone/>
            </a:pPr>
            <a:r>
              <a:rPr lang="en-US" sz="1050" i="1" dirty="0">
                <a:solidFill>
                  <a:srgbClr val="37352F"/>
                </a:solidFill>
                <a:latin typeface="Inter" pitchFamily="34" charset="0"/>
                <a:ea typeface="Inter" pitchFamily="34" charset="-122"/>
                <a:cs typeface="Inter" pitchFamily="34" charset="-120"/>
              </a:rPr>
              <a:t>So what can </a:t>
            </a:r>
            <a:pPr algn="l" indent="0" marL="0">
              <a:lnSpc>
                <a:spcPts val="1470"/>
              </a:lnSpc>
              <a:buNone/>
            </a:pPr>
            <a:r>
              <a:rPr lang="en-US" sz="1050" b="1" i="1" dirty="0">
                <a:solidFill>
                  <a:srgbClr val="448361"/>
                </a:solidFill>
                <a:latin typeface="Inter" pitchFamily="34" charset="0"/>
                <a:ea typeface="Inter" pitchFamily="34" charset="-122"/>
                <a:cs typeface="Inter" pitchFamily="34" charset="-120"/>
              </a:rPr>
              <a:t>business leaders</a:t>
            </a:r>
            <a:pPr algn="l" indent="0" marL="0">
              <a:lnSpc>
                <a:spcPts val="1470"/>
              </a:lnSpc>
              <a:buNone/>
            </a:pPr>
            <a:r>
              <a:rPr lang="en-US" sz="1050" i="1" dirty="0">
                <a:solidFill>
                  <a:srgbClr val="37352F"/>
                </a:solidFill>
                <a:latin typeface="Inter" pitchFamily="34" charset="0"/>
                <a:ea typeface="Inter" pitchFamily="34" charset="-122"/>
                <a:cs typeface="Inter" pitchFamily="34" charset="-120"/>
              </a:rPr>
              <a:t> learn from this story?</a:t>
            </a:r>
            <a:endParaRPr lang="en-US" sz="1050" dirty="0"/>
          </a:p>
        </p:txBody>
      </p:sp>
      <p:sp>
        <p:nvSpPr>
          <p:cNvPr id="27" name="!!key7-1"/>
          <p:cNvSpPr/>
          <p:nvPr/>
        </p:nvSpPr>
        <p:spPr>
          <a:xfrm>
            <a:off x="6438900" y="4572000"/>
            <a:ext cx="2095500" cy="255240"/>
          </a:xfrm>
          <a:prstGeom prst="roundRect">
            <a:avLst>
              <a:gd name="adj" fmla="val 11195"/>
            </a:avLst>
          </a:prstGeom>
          <a:solidFill>
            <a:srgbClr val="FDECC8"/>
          </a:solidFill>
          <a:ln/>
        </p:spPr>
      </p:sp>
      <p:sp>
        <p:nvSpPr>
          <p:cNvPr id="28" name="!!key7-2"/>
          <p:cNvSpPr txBox="1"/>
          <p:nvPr/>
        </p:nvSpPr>
        <p:spPr>
          <a:xfrm>
            <a:off x="6438900" y="45720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Lessons for business leaders</a:t>
            </a:r>
            <a:endParaRPr lang="en-US" sz="900" dirty="0"/>
          </a:p>
        </p:txBody>
      </p:sp>
      <p:sp>
        <p:nvSpPr>
          <p:cNvPr id="29" name="static"/>
          <p:cNvSpPr txBox="1"/>
          <p:nvPr/>
        </p:nvSpPr>
        <p:spPr>
          <a:xfrm>
            <a:off x="609600" y="4678710"/>
            <a:ext cx="1804243" cy="159990"/>
          </a:xfrm>
          <a:prstGeom prst="rect">
            <a:avLst/>
          </a:prstGeom>
          <a:noFill/>
          <a:ln/>
        </p:spPr>
        <p:txBody>
          <a:bodyPr wrap="none" lIns="0" tIns="0" rIns="0" bIns="0" rtlCol="0" anchor="ctr"/>
          <a:lstStyle/>
          <a:p>
            <a:pPr algn="l" indent="0" marL="0">
              <a:lnSpc>
                <a:spcPts val="1260"/>
              </a:lnSpc>
              <a:buNone/>
            </a:pPr>
            <a:r>
              <a:rPr lang="en-US" sz="900" dirty="0">
                <a:solidFill>
                  <a:srgbClr val="787774"/>
                </a:solidFill>
                <a:latin typeface="Inter" pitchFamily="34" charset="0"/>
                <a:ea typeface="Inter" pitchFamily="34" charset="-122"/>
                <a:cs typeface="Inter" pitchFamily="34" charset="-120"/>
              </a:rPr>
              <a:t>Slide 7 of 8 · Part 4 · Global Impact</a:t>
            </a:r>
            <a:endParaRPr lang="en-US" sz="900" dirty="0"/>
          </a:p>
        </p:txBody>
      </p:sp>
      <p:sp>
        <p:nvSpPr>
          <p:cNvPr id="30" name="static"/>
          <p:cNvSpPr/>
          <p:nvPr/>
        </p:nvSpPr>
        <p:spPr>
          <a:xfrm>
            <a:off x="2604343" y="4730130"/>
            <a:ext cx="57150" cy="57150"/>
          </a:xfrm>
          <a:prstGeom prst="roundRect">
            <a:avLst>
              <a:gd name="adj" fmla="val 50000"/>
            </a:avLst>
          </a:prstGeom>
          <a:solidFill>
            <a:srgbClr val="787774"/>
          </a:solidFill>
          <a:ln/>
        </p:spPr>
      </p:sp>
      <p:sp>
        <p:nvSpPr>
          <p:cNvPr id="31" name="static"/>
          <p:cNvSpPr/>
          <p:nvPr/>
        </p:nvSpPr>
        <p:spPr>
          <a:xfrm>
            <a:off x="2709118" y="4730130"/>
            <a:ext cx="57150" cy="57150"/>
          </a:xfrm>
          <a:prstGeom prst="roundRect">
            <a:avLst>
              <a:gd name="adj" fmla="val 50000"/>
            </a:avLst>
          </a:prstGeom>
          <a:solidFill>
            <a:srgbClr val="787774"/>
          </a:solidFill>
          <a:ln/>
        </p:spPr>
      </p:sp>
      <p:sp>
        <p:nvSpPr>
          <p:cNvPr id="32" name="static"/>
          <p:cNvSpPr/>
          <p:nvPr/>
        </p:nvSpPr>
        <p:spPr>
          <a:xfrm>
            <a:off x="2813893" y="4730130"/>
            <a:ext cx="57150" cy="57150"/>
          </a:xfrm>
          <a:prstGeom prst="roundRect">
            <a:avLst>
              <a:gd name="adj" fmla="val 50000"/>
            </a:avLst>
          </a:prstGeom>
          <a:solidFill>
            <a:srgbClr val="787774"/>
          </a:solidFill>
          <a:ln/>
        </p:spPr>
      </p:sp>
      <p:sp>
        <p:nvSpPr>
          <p:cNvPr id="33" name="static"/>
          <p:cNvSpPr/>
          <p:nvPr/>
        </p:nvSpPr>
        <p:spPr>
          <a:xfrm>
            <a:off x="2918668" y="4730130"/>
            <a:ext cx="57150" cy="57150"/>
          </a:xfrm>
          <a:prstGeom prst="roundRect">
            <a:avLst>
              <a:gd name="adj" fmla="val 50000"/>
            </a:avLst>
          </a:prstGeom>
          <a:solidFill>
            <a:srgbClr val="787774"/>
          </a:solidFill>
          <a:ln/>
        </p:spPr>
      </p:sp>
      <p:sp>
        <p:nvSpPr>
          <p:cNvPr id="34" name="static"/>
          <p:cNvSpPr/>
          <p:nvPr/>
        </p:nvSpPr>
        <p:spPr>
          <a:xfrm>
            <a:off x="3023443" y="4730130"/>
            <a:ext cx="57150" cy="57150"/>
          </a:xfrm>
          <a:prstGeom prst="roundRect">
            <a:avLst>
              <a:gd name="adj" fmla="val 50000"/>
            </a:avLst>
          </a:prstGeom>
          <a:solidFill>
            <a:srgbClr val="787774"/>
          </a:solidFill>
          <a:ln/>
        </p:spPr>
      </p:sp>
      <p:sp>
        <p:nvSpPr>
          <p:cNvPr id="35" name="static"/>
          <p:cNvSpPr/>
          <p:nvPr/>
        </p:nvSpPr>
        <p:spPr>
          <a:xfrm>
            <a:off x="3128218" y="4730130"/>
            <a:ext cx="57150" cy="57150"/>
          </a:xfrm>
          <a:prstGeom prst="roundRect">
            <a:avLst>
              <a:gd name="adj" fmla="val 50000"/>
            </a:avLst>
          </a:prstGeom>
          <a:solidFill>
            <a:srgbClr val="787774"/>
          </a:solidFill>
          <a:ln/>
        </p:spPr>
      </p:sp>
      <p:sp>
        <p:nvSpPr>
          <p:cNvPr id="36" name="static"/>
          <p:cNvSpPr/>
          <p:nvPr/>
        </p:nvSpPr>
        <p:spPr>
          <a:xfrm>
            <a:off x="3232993" y="4730130"/>
            <a:ext cx="171450" cy="57150"/>
          </a:xfrm>
          <a:prstGeom prst="roundRect">
            <a:avLst>
              <a:gd name="adj" fmla="val 50000"/>
            </a:avLst>
          </a:prstGeom>
          <a:solidFill>
            <a:srgbClr val="37352F"/>
          </a:solidFill>
          <a:ln/>
        </p:spPr>
      </p:sp>
      <p:sp>
        <p:nvSpPr>
          <p:cNvPr id="37" name="static"/>
          <p:cNvSpPr/>
          <p:nvPr/>
        </p:nvSpPr>
        <p:spPr>
          <a:xfrm>
            <a:off x="3452068" y="4730130"/>
            <a:ext cx="57150" cy="57150"/>
          </a:xfrm>
          <a:prstGeom prst="roundRect">
            <a:avLst>
              <a:gd name="adj" fmla="val 50000"/>
            </a:avLst>
          </a:prstGeom>
          <a:solidFill>
            <a:srgbClr val="E3E2E0"/>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23" presetClass="entr" presetSubtype="16"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Scale>
                                      <p:cBhvr>
                                        <p:cTn id="5" dur="500" fill="hold"/>
                                        <p:tgtEl>
                                          <p:spTgt spid="7"/>
                                        </p:tgtEl>
                                      </p:cBhvr>
                                      <p:from x="0" y="0"/>
                                      <p:to x="100000" y="100000"/>
                                    </p:animScale>
                                    <p:animEffect transition="in" filter="fade">
                                      <p:cBhvr>
                                        <p:cTn id="6" dur="500"/>
                                        <p:tgtEl>
                                          <p:spTgt spid="7"/>
                                        </p:tgtEl>
                                      </p:cBhvr>
                                    </p:animEffect>
                                  </p:childTnLst>
                                </p:cTn>
                              </p:par>
                              <p:par>
                                <p:cTn id="7" presetID="23" presetClass="entr" presetSubtype="16"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Scale>
                                      <p:cBhvr>
                                        <p:cTn id="9" dur="500" fill="hold"/>
                                        <p:tgtEl>
                                          <p:spTgt spid="8"/>
                                        </p:tgtEl>
                                      </p:cBhvr>
                                      <p:from x="0" y="0"/>
                                      <p:to x="100000" y="100000"/>
                                    </p:animScale>
                                    <p:animEffect transition="in" filter="fade">
                                      <p:cBhvr>
                                        <p:cTn id="10" dur="500"/>
                                        <p:tgtEl>
                                          <p:spTgt spid="8"/>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Scale>
                                      <p:cBhvr>
                                        <p:cTn id="13" dur="500" fill="hold"/>
                                        <p:tgtEl>
                                          <p:spTgt spid="9"/>
                                        </p:tgtEl>
                                      </p:cBhvr>
                                      <p:from x="0" y="0"/>
                                      <p:to x="100000" y="100000"/>
                                    </p:animScale>
                                    <p:animEffect transition="in" filter="fade">
                                      <p:cBhvr>
                                        <p:cTn id="14"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Scale>
                                      <p:cBhvr>
                                        <p:cTn id="19" dur="500" fill="hold"/>
                                        <p:tgtEl>
                                          <p:spTgt spid="10"/>
                                        </p:tgtEl>
                                      </p:cBhvr>
                                      <p:from x="0" y="0"/>
                                      <p:to x="100000" y="100000"/>
                                    </p:animScale>
                                    <p:animEffect transition="in" filter="fade">
                                      <p:cBhvr>
                                        <p:cTn id="20" dur="500"/>
                                        <p:tgtEl>
                                          <p:spTgt spid="10"/>
                                        </p:tgtEl>
                                      </p:cBhvr>
                                    </p:animEffect>
                                  </p:childTnLst>
                                </p:cTn>
                              </p:par>
                              <p:par>
                                <p:cTn id="21" presetID="23"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Scale>
                                      <p:cBhvr>
                                        <p:cTn id="23" dur="500" fill="hold"/>
                                        <p:tgtEl>
                                          <p:spTgt spid="11"/>
                                        </p:tgtEl>
                                      </p:cBhvr>
                                      <p:from x="0" y="0"/>
                                      <p:to x="100000" y="100000"/>
                                    </p:animScale>
                                    <p:animEffect transition="in" filter="fade">
                                      <p:cBhvr>
                                        <p:cTn id="24" dur="500"/>
                                        <p:tgtEl>
                                          <p:spTgt spid="11"/>
                                        </p:tgtEl>
                                      </p:cBhvr>
                                    </p:animEffect>
                                  </p:childTnLst>
                                </p:cTn>
                              </p:par>
                              <p:par>
                                <p:cTn id="25" presetID="23" presetClass="entr" presetSubtype="16"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Scale>
                                      <p:cBhvr>
                                        <p:cTn id="27" dur="500" fill="hold"/>
                                        <p:tgtEl>
                                          <p:spTgt spid="12"/>
                                        </p:tgtEl>
                                      </p:cBhvr>
                                      <p:from x="0" y="0"/>
                                      <p:to x="100000" y="100000"/>
                                    </p:animScale>
                                    <p:animEffect transition="in" filter="fade">
                                      <p:cBhvr>
                                        <p:cTn id="28" dur="500"/>
                                        <p:tgtEl>
                                          <p:spTgt spid="12"/>
                                        </p:tgtEl>
                                      </p:cBhvr>
                                    </p:animEffect>
                                  </p:childTnLst>
                                </p:cTn>
                              </p:par>
                              <p:par>
                                <p:cTn id="29" presetID="23" presetClass="entr" presetSubtype="16"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Scale>
                                      <p:cBhvr>
                                        <p:cTn id="31" dur="500" fill="hold"/>
                                        <p:tgtEl>
                                          <p:spTgt spid="13"/>
                                        </p:tgtEl>
                                      </p:cBhvr>
                                      <p:from x="0" y="0"/>
                                      <p:to x="100000" y="100000"/>
                                    </p:animScale>
                                    <p:animEffect transition="in" filter="fade">
                                      <p:cBhvr>
                                        <p:cTn id="32" dur="500"/>
                                        <p:tgtEl>
                                          <p:spTgt spid="13"/>
                                        </p:tgtEl>
                                      </p:cBhvr>
                                    </p:animEffect>
                                  </p:childTnLst>
                                </p:cTn>
                              </p:par>
                            </p:childTnLst>
                          </p:cTn>
                        </p:par>
                      </p:childTnLst>
                    </p:cTn>
                  </p:par>
                  <p:par>
                    <p:cTn id="79" fill="hold">
                      <p:stCondLst>
                        <p:cond delay="indefinite"/>
                      </p:stCondLst>
                      <p:childTnLst>
                        <p:par>
                          <p:cTn id="80"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700"/>
                                        <p:tgtEl>
                                          <p:spTgt spid="14"/>
                                        </p:tgtEl>
                                      </p:cBhvr>
                                    </p:animEffect>
                                    <p:anim calcmode="lin" valueType="num">
                                      <p:cBhvr additive="base">
                                        <p:cTn id="38" dur="700" fill="hold"/>
                                        <p:tgtEl>
                                          <p:spTgt spid="14"/>
                                        </p:tgtEl>
                                        <p:attrNameLst>
                                          <p:attrName>ppt_y</p:attrName>
                                        </p:attrNameLst>
                                      </p:cBhvr>
                                      <p:tavLst>
                                        <p:tav tm="0">
                                          <p:val>
                                            <p:strVal val="#ppt_y+.0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700"/>
                                        <p:tgtEl>
                                          <p:spTgt spid="15"/>
                                        </p:tgtEl>
                                      </p:cBhvr>
                                    </p:animEffect>
                                    <p:anim calcmode="lin" valueType="num">
                                      <p:cBhvr additive="base">
                                        <p:cTn id="42" dur="700" fill="hold"/>
                                        <p:tgtEl>
                                          <p:spTgt spid="15"/>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700"/>
                                        <p:tgtEl>
                                          <p:spTgt spid="16"/>
                                        </p:tgtEl>
                                      </p:cBhvr>
                                    </p:animEffect>
                                    <p:anim calcmode="lin" valueType="num">
                                      <p:cBhvr additive="base">
                                        <p:cTn id="46" dur="700" fill="hold"/>
                                        <p:tgtEl>
                                          <p:spTgt spid="16"/>
                                        </p:tgtEl>
                                        <p:attrNameLst>
                                          <p:attrName>ppt_y</p:attrName>
                                        </p:attrNameLst>
                                      </p:cBhvr>
                                      <p:tavLst>
                                        <p:tav tm="0">
                                          <p:val>
                                            <p:strVal val="#ppt_y+.0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700"/>
                                        <p:tgtEl>
                                          <p:spTgt spid="17"/>
                                        </p:tgtEl>
                                      </p:cBhvr>
                                    </p:animEffect>
                                    <p:anim calcmode="lin" valueType="num">
                                      <p:cBhvr additive="base">
                                        <p:cTn id="50" dur="700" fill="hold"/>
                                        <p:tgtEl>
                                          <p:spTgt spid="17"/>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700"/>
                                        <p:tgtEl>
                                          <p:spTgt spid="18"/>
                                        </p:tgtEl>
                                      </p:cBhvr>
                                    </p:animEffect>
                                    <p:anim calcmode="lin" valueType="num">
                                      <p:cBhvr additive="base">
                                        <p:cTn id="54" dur="700" fill="hold"/>
                                        <p:tgtEl>
                                          <p:spTgt spid="18"/>
                                        </p:tgtEl>
                                        <p:attrNameLst>
                                          <p:attrName>ppt_y</p:attrName>
                                        </p:attrNameLst>
                                      </p:cBhvr>
                                      <p:tavLst>
                                        <p:tav tm="0">
                                          <p:val>
                                            <p:strVal val="#ppt_y+.0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700"/>
                                        <p:tgtEl>
                                          <p:spTgt spid="19"/>
                                        </p:tgtEl>
                                      </p:cBhvr>
                                    </p:animEffect>
                                    <p:anim calcmode="lin" valueType="num">
                                      <p:cBhvr additive="base">
                                        <p:cTn id="58" dur="700" fill="hold"/>
                                        <p:tgtEl>
                                          <p:spTgt spid="19"/>
                                        </p:tgtEl>
                                        <p:attrNameLst>
                                          <p:attrName>ppt_y</p:attrName>
                                        </p:attrNameLst>
                                      </p:cBhvr>
                                      <p:tavLst>
                                        <p:tav tm="0">
                                          <p:val>
                                            <p:strVal val="#ppt_y+.0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700"/>
                                        <p:tgtEl>
                                          <p:spTgt spid="20"/>
                                        </p:tgtEl>
                                      </p:cBhvr>
                                    </p:animEffect>
                                    <p:anim calcmode="lin" valueType="num">
                                      <p:cBhvr additive="base">
                                        <p:cTn id="62" dur="700" fill="hold"/>
                                        <p:tgtEl>
                                          <p:spTgt spid="20"/>
                                        </p:tgtEl>
                                        <p:attrNameLst>
                                          <p:attrName>ppt_y</p:attrName>
                                        </p:attrNameLst>
                                      </p:cBhvr>
                                      <p:tavLst>
                                        <p:tav tm="0">
                                          <p:val>
                                            <p:strVal val="#ppt_y+.08"/>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700"/>
                                        <p:tgtEl>
                                          <p:spTgt spid="21"/>
                                        </p:tgtEl>
                                      </p:cBhvr>
                                    </p:animEffect>
                                    <p:anim calcmode="lin" valueType="num">
                                      <p:cBhvr additive="base">
                                        <p:cTn id="66" dur="700" fill="hold"/>
                                        <p:tgtEl>
                                          <p:spTgt spid="21"/>
                                        </p:tgtEl>
                                        <p:attrNameLst>
                                          <p:attrName>ppt_y</p:attrName>
                                        </p:attrNameLst>
                                      </p:cBhvr>
                                      <p:tavLst>
                                        <p:tav tm="0">
                                          <p:val>
                                            <p:strVal val="#ppt_y+.08"/>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700"/>
                                        <p:tgtEl>
                                          <p:spTgt spid="22"/>
                                        </p:tgtEl>
                                      </p:cBhvr>
                                    </p:animEffect>
                                    <p:anim calcmode="lin" valueType="num">
                                      <p:cBhvr additive="base">
                                        <p:cTn id="70" dur="700" fill="hold"/>
                                        <p:tgtEl>
                                          <p:spTgt spid="22"/>
                                        </p:tgtEl>
                                        <p:attrNameLst>
                                          <p:attrName>ppt_y</p:attrName>
                                        </p:attrNameLst>
                                      </p:cBhvr>
                                      <p:tavLst>
                                        <p:tav tm="0">
                                          <p:val>
                                            <p:strVal val="#ppt_y+.08"/>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700"/>
                                        <p:tgtEl>
                                          <p:spTgt spid="23"/>
                                        </p:tgtEl>
                                      </p:cBhvr>
                                    </p:animEffect>
                                    <p:anim calcmode="lin" valueType="num">
                                      <p:cBhvr additive="base">
                                        <p:cTn id="74" dur="700" fill="hold"/>
                                        <p:tgtEl>
                                          <p:spTgt spid="23"/>
                                        </p:tgtEl>
                                        <p:attrNameLst>
                                          <p:attrName>ppt_y</p:attrName>
                                        </p:attrNameLst>
                                      </p:cBhvr>
                                      <p:tavLst>
                                        <p:tav tm="0">
                                          <p:val>
                                            <p:strVal val="#ppt_y+.08"/>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700"/>
                                        <p:tgtEl>
                                          <p:spTgt spid="24"/>
                                        </p:tgtEl>
                                      </p:cBhvr>
                                    </p:animEffect>
                                    <p:anim calcmode="lin" valueType="num">
                                      <p:cBhvr additive="base">
                                        <p:cTn id="78" dur="700" fill="hold"/>
                                        <p:tgtEl>
                                          <p:spTgt spid="24"/>
                                        </p:tgtEl>
                                        <p:attrNameLst>
                                          <p:attrName>ppt_y</p:attrName>
                                        </p:attrNameLst>
                                      </p:cBhvr>
                                      <p:tavLst>
                                        <p:tav tm="0">
                                          <p:val>
                                            <p:strVal val="#ppt_y+.08"/>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500"/>
                                        <p:tgtEl>
                                          <p:spTgt spid="26"/>
                                        </p:tgtEl>
                                      </p:cBhvr>
                                    </p:animEffect>
                                  </p:childTnLst>
                                </p:cTn>
                              </p:par>
                            </p:childTnLst>
                          </p:cTn>
                        </p:par>
                      </p:childTnLst>
                    </p:cTn>
                  </p:par>
                  <p:par>
                    <p:cTn id="97" fill="hold">
                      <p:stCondLst>
                        <p:cond delay="indefinite"/>
                      </p:stCondLst>
                      <p:childTnLst>
                        <p:par>
                          <p:cTn id="98" fill="hold">
                            <p:stCondLst>
                              <p:cond delay="0"/>
                            </p:stCondLst>
                            <p:childTnLst>
                              <p:par>
                                <p:cTn id="89" presetID="23" presetClass="entr" presetSubtype="16" fill="hold" grpId="0" nodeType="clickEffect">
                                  <p:stCondLst>
                                    <p:cond delay="0"/>
                                  </p:stCondLst>
                                  <p:childTnLst>
                                    <p:set>
                                      <p:cBhvr>
                                        <p:cTn id="90" dur="1" fill="hold">
                                          <p:stCondLst>
                                            <p:cond delay="0"/>
                                          </p:stCondLst>
                                        </p:cTn>
                                        <p:tgtEl>
                                          <p:spTgt spid="27"/>
                                        </p:tgtEl>
                                        <p:attrNameLst>
                                          <p:attrName>style.visibility</p:attrName>
                                        </p:attrNameLst>
                                      </p:cBhvr>
                                      <p:to>
                                        <p:strVal val="visible"/>
                                      </p:to>
                                    </p:set>
                                    <p:animScale>
                                      <p:cBhvr>
                                        <p:cTn id="91" dur="500" fill="hold"/>
                                        <p:tgtEl>
                                          <p:spTgt spid="27"/>
                                        </p:tgtEl>
                                      </p:cBhvr>
                                      <p:from x="0" y="0"/>
                                      <p:to x="100000" y="100000"/>
                                    </p:animScale>
                                    <p:animEffect transition="in" filter="fade">
                                      <p:cBhvr>
                                        <p:cTn id="92" dur="500"/>
                                        <p:tgtEl>
                                          <p:spTgt spid="27"/>
                                        </p:tgtEl>
                                      </p:cBhvr>
                                    </p:animEffect>
                                  </p:childTnLst>
                                </p:cTn>
                              </p:par>
                              <p:par>
                                <p:cTn id="93" presetID="23" presetClass="entr" presetSubtype="16"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Scale>
                                      <p:cBhvr>
                                        <p:cTn id="95" dur="500" fill="hold"/>
                                        <p:tgtEl>
                                          <p:spTgt spid="28"/>
                                        </p:tgtEl>
                                      </p:cBhvr>
                                      <p:from x="0" y="0"/>
                                      <p:to x="100000" y="100000"/>
                                    </p:animScale>
                                    <p:animEffect transition="in" filter="fade">
                                      <p:cBhvr>
                                        <p:cTn id="9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28613"/>
          </a:xfrm>
          <a:prstGeom prst="rect">
            <a:avLst/>
          </a:prstGeom>
          <a:noFill/>
          <a:ln/>
        </p:spPr>
        <p:txBody>
          <a:bodyPr wrap="none" lIns="0" tIns="0" rIns="0" bIns="0" rtlCol="0" anchor="ctr"/>
          <a:lstStyle/>
          <a:p>
            <a:pPr algn="l" indent="0" marL="0">
              <a:lnSpc>
                <a:spcPts val="2588"/>
              </a:lnSpc>
              <a:buNone/>
            </a:pPr>
            <a:r>
              <a:rPr lang="en-US" sz="2250" b="1" dirty="0">
                <a:solidFill>
                  <a:srgbClr val="37352F"/>
                </a:solidFill>
                <a:latin typeface="Inter" pitchFamily="34" charset="0"/>
                <a:ea typeface="Inter" pitchFamily="34" charset="-122"/>
                <a:cs typeface="Inter" pitchFamily="34" charset="-120"/>
              </a:rPr>
              <a:t>Key Business Lessons &amp; Summary</a:t>
            </a:r>
            <a:endParaRPr lang="en-US" sz="2250" dirty="0"/>
          </a:p>
        </p:txBody>
      </p:sp>
      <p:sp>
        <p:nvSpPr>
          <p:cNvPr id="3" name="static"/>
          <p:cNvSpPr txBox="1"/>
          <p:nvPr/>
        </p:nvSpPr>
        <p:spPr>
          <a:xfrm>
            <a:off x="609600" y="1204913"/>
            <a:ext cx="6686550" cy="210443"/>
          </a:xfrm>
          <a:prstGeom prst="rect">
            <a:avLst/>
          </a:prstGeom>
          <a:noFill/>
          <a:ln/>
        </p:spPr>
        <p:txBody>
          <a:bodyPr wrap="none" lIns="0" tIns="0" rIns="0" bIns="0" rtlCol="0" anchor="ctr"/>
          <a:lstStyle/>
          <a:p>
            <a:pPr algn="l" indent="0" marL="0">
              <a:lnSpc>
                <a:spcPts val="1658"/>
              </a:lnSpc>
              <a:buNone/>
            </a:pPr>
            <a:r>
              <a:rPr lang="en-US" sz="1275" dirty="0">
                <a:solidFill>
                  <a:srgbClr val="37352F"/>
                </a:solidFill>
                <a:latin typeface="Inter" pitchFamily="34" charset="0"/>
                <a:ea typeface="Inter" pitchFamily="34" charset="-122"/>
                <a:cs typeface="Inter" pitchFamily="34" charset="-120"/>
              </a:rPr>
              <a:t>What Business Leaders Can Learn from Starbucks</a:t>
            </a:r>
            <a:endParaRPr lang="en-US" sz="1275"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PART 4 · CONCLUSION &amp; MBA TAKEAWAYS</a:t>
            </a:r>
            <a:endParaRPr lang="en-US" sz="825" dirty="0"/>
          </a:p>
        </p:txBody>
      </p:sp>
      <p:sp>
        <p:nvSpPr>
          <p:cNvPr id="5" name="!!key7-1"/>
          <p:cNvSpPr/>
          <p:nvPr/>
        </p:nvSpPr>
        <p:spPr>
          <a:xfrm>
            <a:off x="6438900" y="419100"/>
            <a:ext cx="2095500" cy="255240"/>
          </a:xfrm>
          <a:prstGeom prst="roundRect">
            <a:avLst>
              <a:gd name="adj" fmla="val 11195"/>
            </a:avLst>
          </a:prstGeom>
          <a:solidFill>
            <a:srgbClr val="FDECC8"/>
          </a:solidFill>
          <a:ln/>
        </p:spPr>
      </p:sp>
      <p:sp>
        <p:nvSpPr>
          <p:cNvPr id="6" name="!!key7-2"/>
          <p:cNvSpPr txBox="1"/>
          <p:nvPr/>
        </p:nvSpPr>
        <p:spPr>
          <a:xfrm>
            <a:off x="6438900" y="419100"/>
            <a:ext cx="2095500" cy="255240"/>
          </a:xfrm>
          <a:prstGeom prst="rect">
            <a:avLst/>
          </a:prstGeom>
          <a:noFill/>
          <a:ln/>
        </p:spPr>
        <p:txBody>
          <a:bodyPr wrap="none" lIns="114300" tIns="0" rIns="114300" bIns="0" rtlCol="0" anchor="ctr"/>
          <a:lstStyle/>
          <a:p>
            <a:pPr algn="ctr" indent="0" marL="0">
              <a:lnSpc>
                <a:spcPts val="1260"/>
              </a:lnSpc>
              <a:buNone/>
            </a:pPr>
            <a:r>
              <a:rPr lang="en-US" sz="900" b="1" dirty="0">
                <a:solidFill>
                  <a:srgbClr val="402C1B"/>
                </a:solidFill>
                <a:latin typeface="Inter" pitchFamily="34" charset="0"/>
                <a:ea typeface="Inter" pitchFamily="34" charset="-122"/>
                <a:cs typeface="Inter" pitchFamily="34" charset="-120"/>
              </a:rPr>
              <a:t>Lessons for business leaders</a:t>
            </a:r>
            <a:endParaRPr lang="en-US" sz="900" dirty="0"/>
          </a:p>
        </p:txBody>
      </p:sp>
      <p:sp>
        <p:nvSpPr>
          <p:cNvPr id="7" name="b1:rise"/>
          <p:cNvSpPr/>
          <p:nvPr/>
        </p:nvSpPr>
        <p:spPr>
          <a:xfrm>
            <a:off x="609600" y="1676400"/>
            <a:ext cx="2566988" cy="1257300"/>
          </a:xfrm>
          <a:prstGeom prst="roundRect">
            <a:avLst>
              <a:gd name="adj" fmla="val 3030"/>
            </a:avLst>
          </a:prstGeom>
          <a:solidFill>
            <a:srgbClr val="FFFFFF"/>
          </a:solidFill>
          <a:ln w="6350">
            <a:solidFill>
              <a:srgbClr val="E9E9E7"/>
            </a:solidFill>
            <a:prstDash val="solid"/>
          </a:ln>
        </p:spPr>
      </p:sp>
      <p:sp>
        <p:nvSpPr>
          <p:cNvPr id="8" name="b1:rise"/>
          <p:cNvSpPr txBox="1"/>
          <p:nvPr/>
        </p:nvSpPr>
        <p:spPr>
          <a:xfrm>
            <a:off x="766763" y="1833562"/>
            <a:ext cx="2432876"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LESSON 1</a:t>
            </a:r>
            <a:endParaRPr lang="en-US" sz="825" dirty="0"/>
          </a:p>
        </p:txBody>
      </p:sp>
      <p:sp>
        <p:nvSpPr>
          <p:cNvPr id="9" name="b1:rise"/>
          <p:cNvSpPr txBox="1"/>
          <p:nvPr/>
        </p:nvSpPr>
        <p:spPr>
          <a:xfrm>
            <a:off x="766763" y="2027858"/>
            <a:ext cx="2432876"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Product vs. Experience</a:t>
            </a:r>
            <a:endParaRPr lang="en-US" sz="1350" dirty="0"/>
          </a:p>
        </p:txBody>
      </p:sp>
      <p:sp>
        <p:nvSpPr>
          <p:cNvPr id="10" name="b1:rise"/>
          <p:cNvSpPr txBox="1"/>
          <p:nvPr/>
        </p:nvSpPr>
        <p:spPr>
          <a:xfrm>
            <a:off x="766763" y="2281163"/>
            <a:ext cx="2342769" cy="373261"/>
          </a:xfrm>
          <a:prstGeom prst="rect">
            <a:avLst/>
          </a:prstGeom>
          <a:noFill/>
          <a:ln/>
        </p:spPr>
        <p:txBody>
          <a:bodyPr wrap="square" lIns="0" tIns="0" rIns="0" bIns="0" rtlCol="0" anchor="t"/>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Products can be commoditized; brand experience builds competitive moats.</a:t>
            </a:r>
            <a:endParaRPr lang="en-US" sz="1050" dirty="0"/>
          </a:p>
        </p:txBody>
      </p:sp>
      <p:sp>
        <p:nvSpPr>
          <p:cNvPr id="11" name="b2:rise"/>
          <p:cNvSpPr/>
          <p:nvPr/>
        </p:nvSpPr>
        <p:spPr>
          <a:xfrm>
            <a:off x="3290887" y="1676400"/>
            <a:ext cx="2566988" cy="1257300"/>
          </a:xfrm>
          <a:prstGeom prst="roundRect">
            <a:avLst>
              <a:gd name="adj" fmla="val 3030"/>
            </a:avLst>
          </a:prstGeom>
          <a:solidFill>
            <a:srgbClr val="FFFFFF"/>
          </a:solidFill>
          <a:ln w="6350">
            <a:solidFill>
              <a:srgbClr val="E9E9E7"/>
            </a:solidFill>
            <a:prstDash val="solid"/>
          </a:ln>
        </p:spPr>
      </p:sp>
      <p:sp>
        <p:nvSpPr>
          <p:cNvPr id="12" name="b2:rise"/>
          <p:cNvSpPr txBox="1"/>
          <p:nvPr/>
        </p:nvSpPr>
        <p:spPr>
          <a:xfrm>
            <a:off x="3448050" y="1833562"/>
            <a:ext cx="2432876"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LESSON 2</a:t>
            </a:r>
            <a:endParaRPr lang="en-US" sz="825" dirty="0"/>
          </a:p>
        </p:txBody>
      </p:sp>
      <p:sp>
        <p:nvSpPr>
          <p:cNvPr id="13" name="b2:rise"/>
          <p:cNvSpPr txBox="1"/>
          <p:nvPr/>
        </p:nvSpPr>
        <p:spPr>
          <a:xfrm>
            <a:off x="3448050" y="2027858"/>
            <a:ext cx="2432876"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Authenticity &amp; Consistency</a:t>
            </a:r>
            <a:endParaRPr lang="en-US" sz="1350" dirty="0"/>
          </a:p>
        </p:txBody>
      </p:sp>
      <p:sp>
        <p:nvSpPr>
          <p:cNvPr id="14" name="b2:rise"/>
          <p:cNvSpPr txBox="1"/>
          <p:nvPr/>
        </p:nvSpPr>
        <p:spPr>
          <a:xfrm>
            <a:off x="3448050" y="2281163"/>
            <a:ext cx="2342769" cy="559891"/>
          </a:xfrm>
          <a:prstGeom prst="rect">
            <a:avLst/>
          </a:prstGeom>
          <a:noFill/>
          <a:ln/>
        </p:spPr>
        <p:txBody>
          <a:bodyPr wrap="square" lIns="0" tIns="0" rIns="0" bIns="0" rtlCol="0" anchor="t"/>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Core brand values must stay consistent, even during rapid global expansion.</a:t>
            </a:r>
            <a:endParaRPr lang="en-US" sz="1050" dirty="0"/>
          </a:p>
        </p:txBody>
      </p:sp>
      <p:sp>
        <p:nvSpPr>
          <p:cNvPr id="15" name="b3:rise"/>
          <p:cNvSpPr/>
          <p:nvPr/>
        </p:nvSpPr>
        <p:spPr>
          <a:xfrm>
            <a:off x="5972175" y="1676400"/>
            <a:ext cx="2562225" cy="1257300"/>
          </a:xfrm>
          <a:prstGeom prst="roundRect">
            <a:avLst>
              <a:gd name="adj" fmla="val 3030"/>
            </a:avLst>
          </a:prstGeom>
          <a:solidFill>
            <a:srgbClr val="FFFFFF"/>
          </a:solidFill>
          <a:ln w="6350">
            <a:solidFill>
              <a:srgbClr val="E9E9E7"/>
            </a:solidFill>
            <a:prstDash val="solid"/>
          </a:ln>
        </p:spPr>
      </p:sp>
      <p:sp>
        <p:nvSpPr>
          <p:cNvPr id="16" name="b3:rise"/>
          <p:cNvSpPr txBox="1"/>
          <p:nvPr/>
        </p:nvSpPr>
        <p:spPr>
          <a:xfrm>
            <a:off x="6129338" y="1833562"/>
            <a:ext cx="2427732" cy="146670"/>
          </a:xfrm>
          <a:prstGeom prst="rect">
            <a:avLst/>
          </a:prstGeom>
          <a:noFill/>
          <a:ln/>
        </p:spPr>
        <p:txBody>
          <a:bodyPr wrap="none" lIns="0" tIns="0" rIns="0" bIns="0" rtlCol="0" anchor="ctr"/>
          <a:lstStyle/>
          <a:p>
            <a:pPr algn="l" indent="0" marL="0">
              <a:lnSpc>
                <a:spcPts val="1155"/>
              </a:lnSpc>
              <a:buNone/>
            </a:pPr>
            <a:r>
              <a:rPr lang="en-US" sz="825" b="1" spc="38" kern="0" dirty="0">
                <a:solidFill>
                  <a:srgbClr val="787774"/>
                </a:solidFill>
                <a:latin typeface="Inter" pitchFamily="34" charset="0"/>
                <a:ea typeface="Inter" pitchFamily="34" charset="-122"/>
                <a:cs typeface="Inter" pitchFamily="34" charset="-120"/>
              </a:rPr>
              <a:t>LESSON 3</a:t>
            </a:r>
            <a:endParaRPr lang="en-US" sz="825" dirty="0"/>
          </a:p>
        </p:txBody>
      </p:sp>
      <p:sp>
        <p:nvSpPr>
          <p:cNvPr id="17" name="b3:rise"/>
          <p:cNvSpPr txBox="1"/>
          <p:nvPr/>
        </p:nvSpPr>
        <p:spPr>
          <a:xfrm>
            <a:off x="6129338" y="2027858"/>
            <a:ext cx="2427732" cy="205680"/>
          </a:xfrm>
          <a:prstGeom prst="rect">
            <a:avLst/>
          </a:prstGeom>
          <a:noFill/>
          <a:ln/>
        </p:spPr>
        <p:txBody>
          <a:bodyPr wrap="none" lIns="0" tIns="0" rIns="0" bIns="0" rtlCol="0" anchor="ctr"/>
          <a:lstStyle/>
          <a:p>
            <a:pPr algn="l" indent="0" marL="0">
              <a:lnSpc>
                <a:spcPts val="1620"/>
              </a:lnSpc>
              <a:buNone/>
            </a:pPr>
            <a:r>
              <a:rPr lang="en-US" sz="1350" b="1" dirty="0">
                <a:solidFill>
                  <a:srgbClr val="37352F"/>
                </a:solidFill>
                <a:latin typeface="Inter" pitchFamily="34" charset="0"/>
                <a:ea typeface="Inter" pitchFamily="34" charset="-122"/>
                <a:cs typeface="Inter" pitchFamily="34" charset="-120"/>
              </a:rPr>
              <a:t>Strategic Adaptability</a:t>
            </a:r>
            <a:endParaRPr lang="en-US" sz="1350" dirty="0"/>
          </a:p>
        </p:txBody>
      </p:sp>
      <p:sp>
        <p:nvSpPr>
          <p:cNvPr id="18" name="b3:rise"/>
          <p:cNvSpPr txBox="1"/>
          <p:nvPr/>
        </p:nvSpPr>
        <p:spPr>
          <a:xfrm>
            <a:off x="6129338" y="2281163"/>
            <a:ext cx="2337816" cy="559891"/>
          </a:xfrm>
          <a:prstGeom prst="rect">
            <a:avLst/>
          </a:prstGeom>
          <a:noFill/>
          <a:ln/>
        </p:spPr>
        <p:txBody>
          <a:bodyPr wrap="square" lIns="0" tIns="0" rIns="0" bIns="0" rtlCol="0" anchor="t"/>
          <a:lstStyle/>
          <a:p>
            <a:pPr algn="l" indent="0" marL="0">
              <a:lnSpc>
                <a:spcPts val="1470"/>
              </a:lnSpc>
              <a:buNone/>
            </a:pPr>
            <a:r>
              <a:rPr lang="en-US" sz="1050" dirty="0">
                <a:solidFill>
                  <a:srgbClr val="37352F"/>
                </a:solidFill>
                <a:latin typeface="Inter" pitchFamily="34" charset="0"/>
                <a:ea typeface="Inter" pitchFamily="34" charset="-122"/>
                <a:cs typeface="Inter" pitchFamily="34" charset="-120"/>
              </a:rPr>
              <a:t>Merge the physical third-place atmosphere with a cutting-edge digital ecosystem.</a:t>
            </a:r>
            <a:endParaRPr lang="en-US" sz="1050" dirty="0"/>
          </a:p>
        </p:txBody>
      </p:sp>
      <p:sp>
        <p:nvSpPr>
          <p:cNvPr id="19" name="b4:fade"/>
          <p:cNvSpPr/>
          <p:nvPr/>
        </p:nvSpPr>
        <p:spPr>
          <a:xfrm>
            <a:off x="609600" y="3048000"/>
            <a:ext cx="7924800" cy="838200"/>
          </a:xfrm>
          <a:prstGeom prst="rect">
            <a:avLst/>
          </a:prstGeom>
          <a:solidFill>
            <a:srgbClr val="F7F7F5"/>
          </a:solidFill>
          <a:ln/>
        </p:spPr>
      </p:sp>
      <p:sp>
        <p:nvSpPr>
          <p:cNvPr id="20" name="b4:fade"/>
          <p:cNvSpPr txBox="1"/>
          <p:nvPr/>
        </p:nvSpPr>
        <p:spPr>
          <a:xfrm>
            <a:off x="866775" y="3181350"/>
            <a:ext cx="267382" cy="571500"/>
          </a:xfrm>
          <a:prstGeom prst="rect">
            <a:avLst/>
          </a:prstGeom>
          <a:noFill/>
          <a:ln/>
        </p:spPr>
        <p:txBody>
          <a:bodyPr wrap="none" lIns="0" tIns="0" rIns="0" bIns="0" rtlCol="0" anchor="ctr"/>
          <a:lstStyle/>
          <a:p>
            <a:pPr algn="l" indent="0" marL="0">
              <a:lnSpc>
                <a:spcPts val="4500"/>
              </a:lnSpc>
              <a:buNone/>
            </a:pPr>
            <a:r>
              <a:rPr lang="en-US" sz="4500" b="1" dirty="0">
                <a:solidFill>
                  <a:srgbClr val="B9B9B7"/>
                </a:solidFill>
                <a:latin typeface="Inter" pitchFamily="34" charset="0"/>
                <a:ea typeface="Inter" pitchFamily="34" charset="-122"/>
                <a:cs typeface="Inter" pitchFamily="34" charset="-120"/>
              </a:rPr>
              <a:t>“</a:t>
            </a:r>
            <a:endParaRPr lang="en-US" sz="4500" dirty="0"/>
          </a:p>
        </p:txBody>
      </p:sp>
      <p:sp>
        <p:nvSpPr>
          <p:cNvPr id="21" name="b4:fade"/>
          <p:cNvSpPr txBox="1"/>
          <p:nvPr/>
        </p:nvSpPr>
        <p:spPr>
          <a:xfrm>
            <a:off x="1247701" y="3235672"/>
            <a:ext cx="7340423" cy="462855"/>
          </a:xfrm>
          <a:prstGeom prst="rect">
            <a:avLst/>
          </a:prstGeom>
          <a:noFill/>
          <a:ln/>
        </p:spPr>
        <p:txBody>
          <a:bodyPr wrap="square" lIns="0" tIns="0" rIns="0" bIns="0" rtlCol="0" anchor="t"/>
          <a:lstStyle/>
          <a:p>
            <a:pPr algn="l" indent="0" marL="0">
              <a:lnSpc>
                <a:spcPts val="1823"/>
              </a:lnSpc>
              <a:buNone/>
            </a:pPr>
            <a:r>
              <a:rPr lang="en-US" sz="1350" i="1" dirty="0">
                <a:solidFill>
                  <a:srgbClr val="37352F"/>
                </a:solidFill>
                <a:latin typeface="Inter" pitchFamily="34" charset="0"/>
                <a:ea typeface="Inter" pitchFamily="34" charset="-122"/>
                <a:cs typeface="Inter" pitchFamily="34" charset="-120"/>
              </a:rPr>
              <a:t>In a world that is increasingly digital and isolated, the hunger for authentic human connection has never been greater.</a:t>
            </a:r>
            <a:endParaRPr lang="en-US" sz="1350" dirty="0"/>
          </a:p>
        </p:txBody>
      </p:sp>
      <p:sp>
        <p:nvSpPr>
          <p:cNvPr id="22" name="b5:pop"/>
          <p:cNvSpPr txBox="1"/>
          <p:nvPr/>
        </p:nvSpPr>
        <p:spPr>
          <a:xfrm>
            <a:off x="609600" y="4155728"/>
            <a:ext cx="218277" cy="194295"/>
          </a:xfrm>
          <a:prstGeom prst="rect">
            <a:avLst/>
          </a:prstGeom>
          <a:noFill/>
          <a:ln/>
        </p:spPr>
        <p:txBody>
          <a:bodyPr wrap="none" lIns="0" tIns="0" rIns="0" bIns="0" rtlCol="0" anchor="ctr"/>
          <a:lstStyle/>
          <a:p>
            <a:pPr algn="l" indent="0" marL="0">
              <a:lnSpc>
                <a:spcPts val="1530"/>
              </a:lnSpc>
              <a:buNone/>
            </a:pPr>
            <a:r>
              <a:rPr lang="en-US" sz="1275" dirty="0">
                <a:solidFill>
                  <a:srgbClr val="37352F"/>
                </a:solidFill>
                <a:latin typeface="Inter" pitchFamily="34" charset="0"/>
                <a:ea typeface="Inter" pitchFamily="34" charset="-122"/>
                <a:cs typeface="Inter" pitchFamily="34" charset="-120"/>
              </a:rPr>
              <a:t>💬</a:t>
            </a:r>
            <a:endParaRPr lang="en-US" sz="1275" dirty="0"/>
          </a:p>
        </p:txBody>
      </p:sp>
      <p:sp>
        <p:nvSpPr>
          <p:cNvPr id="23" name="b5:pop"/>
          <p:cNvSpPr txBox="1"/>
          <p:nvPr/>
        </p:nvSpPr>
        <p:spPr>
          <a:xfrm>
            <a:off x="887909" y="4152900"/>
            <a:ext cx="8258211" cy="200025"/>
          </a:xfrm>
          <a:prstGeom prst="rect">
            <a:avLst/>
          </a:prstGeom>
          <a:noFill/>
          <a:ln/>
        </p:spPr>
        <p:txBody>
          <a:bodyPr wrap="none" lIns="0" tIns="0" rIns="0" bIns="0" rtlCol="0" anchor="ctr"/>
          <a:lstStyle/>
          <a:p>
            <a:pPr algn="l" indent="0" marL="0">
              <a:lnSpc>
                <a:spcPts val="1575"/>
              </a:lnSpc>
              <a:buNone/>
            </a:pPr>
            <a:r>
              <a:rPr lang="en-US" sz="1125" b="1" dirty="0">
                <a:solidFill>
                  <a:srgbClr val="37352F"/>
                </a:solidFill>
                <a:latin typeface="Inter" pitchFamily="34" charset="0"/>
                <a:ea typeface="Inter" pitchFamily="34" charset="-122"/>
                <a:cs typeface="Inter" pitchFamily="34" charset="-120"/>
              </a:rPr>
              <a:t>Thank you! We welcome any questions from the class.</a:t>
            </a:r>
            <a:endParaRPr lang="en-US" sz="1125" dirty="0"/>
          </a:p>
        </p:txBody>
      </p:sp>
      <p:sp>
        <p:nvSpPr>
          <p:cNvPr id="24" name="static"/>
          <p:cNvSpPr txBox="1"/>
          <p:nvPr/>
        </p:nvSpPr>
        <p:spPr>
          <a:xfrm>
            <a:off x="609600" y="4678710"/>
            <a:ext cx="1798513" cy="159990"/>
          </a:xfrm>
          <a:prstGeom prst="rect">
            <a:avLst/>
          </a:prstGeom>
          <a:noFill/>
          <a:ln/>
        </p:spPr>
        <p:txBody>
          <a:bodyPr wrap="none" lIns="0" tIns="0" rIns="0" bIns="0" rtlCol="0" anchor="ctr"/>
          <a:lstStyle/>
          <a:p>
            <a:pPr algn="l" indent="0" marL="0">
              <a:lnSpc>
                <a:spcPts val="1260"/>
              </a:lnSpc>
              <a:buNone/>
            </a:pPr>
            <a:r>
              <a:rPr lang="en-US" sz="900" dirty="0">
                <a:solidFill>
                  <a:srgbClr val="787774"/>
                </a:solidFill>
                <a:latin typeface="Inter" pitchFamily="34" charset="0"/>
                <a:ea typeface="Inter" pitchFamily="34" charset="-122"/>
                <a:cs typeface="Inter" pitchFamily="34" charset="-120"/>
              </a:rPr>
              <a:t>Slide 8 of 8 · Part 4 · MBA Lessons</a:t>
            </a:r>
            <a:endParaRPr lang="en-US" sz="900" dirty="0"/>
          </a:p>
        </p:txBody>
      </p:sp>
      <p:sp>
        <p:nvSpPr>
          <p:cNvPr id="25" name="static"/>
          <p:cNvSpPr/>
          <p:nvPr/>
        </p:nvSpPr>
        <p:spPr>
          <a:xfrm>
            <a:off x="2598613" y="4730130"/>
            <a:ext cx="57150" cy="57150"/>
          </a:xfrm>
          <a:prstGeom prst="roundRect">
            <a:avLst>
              <a:gd name="adj" fmla="val 50000"/>
            </a:avLst>
          </a:prstGeom>
          <a:solidFill>
            <a:srgbClr val="787774"/>
          </a:solidFill>
          <a:ln/>
        </p:spPr>
      </p:sp>
      <p:sp>
        <p:nvSpPr>
          <p:cNvPr id="26" name="static"/>
          <p:cNvSpPr/>
          <p:nvPr/>
        </p:nvSpPr>
        <p:spPr>
          <a:xfrm>
            <a:off x="2703388" y="4730130"/>
            <a:ext cx="57150" cy="57150"/>
          </a:xfrm>
          <a:prstGeom prst="roundRect">
            <a:avLst>
              <a:gd name="adj" fmla="val 50000"/>
            </a:avLst>
          </a:prstGeom>
          <a:solidFill>
            <a:srgbClr val="787774"/>
          </a:solidFill>
          <a:ln/>
        </p:spPr>
      </p:sp>
      <p:sp>
        <p:nvSpPr>
          <p:cNvPr id="27" name="static"/>
          <p:cNvSpPr/>
          <p:nvPr/>
        </p:nvSpPr>
        <p:spPr>
          <a:xfrm>
            <a:off x="2808163" y="4730130"/>
            <a:ext cx="57150" cy="57150"/>
          </a:xfrm>
          <a:prstGeom prst="roundRect">
            <a:avLst>
              <a:gd name="adj" fmla="val 50000"/>
            </a:avLst>
          </a:prstGeom>
          <a:solidFill>
            <a:srgbClr val="787774"/>
          </a:solidFill>
          <a:ln/>
        </p:spPr>
      </p:sp>
      <p:sp>
        <p:nvSpPr>
          <p:cNvPr id="28" name="static"/>
          <p:cNvSpPr/>
          <p:nvPr/>
        </p:nvSpPr>
        <p:spPr>
          <a:xfrm>
            <a:off x="2912938" y="4730130"/>
            <a:ext cx="57150" cy="57150"/>
          </a:xfrm>
          <a:prstGeom prst="roundRect">
            <a:avLst>
              <a:gd name="adj" fmla="val 50000"/>
            </a:avLst>
          </a:prstGeom>
          <a:solidFill>
            <a:srgbClr val="787774"/>
          </a:solidFill>
          <a:ln/>
        </p:spPr>
      </p:sp>
      <p:sp>
        <p:nvSpPr>
          <p:cNvPr id="29" name="static"/>
          <p:cNvSpPr/>
          <p:nvPr/>
        </p:nvSpPr>
        <p:spPr>
          <a:xfrm>
            <a:off x="3017713" y="4730130"/>
            <a:ext cx="57150" cy="57150"/>
          </a:xfrm>
          <a:prstGeom prst="roundRect">
            <a:avLst>
              <a:gd name="adj" fmla="val 50000"/>
            </a:avLst>
          </a:prstGeom>
          <a:solidFill>
            <a:srgbClr val="787774"/>
          </a:solidFill>
          <a:ln/>
        </p:spPr>
      </p:sp>
      <p:sp>
        <p:nvSpPr>
          <p:cNvPr id="30" name="static"/>
          <p:cNvSpPr/>
          <p:nvPr/>
        </p:nvSpPr>
        <p:spPr>
          <a:xfrm>
            <a:off x="3122488" y="4730130"/>
            <a:ext cx="57150" cy="57150"/>
          </a:xfrm>
          <a:prstGeom prst="roundRect">
            <a:avLst>
              <a:gd name="adj" fmla="val 50000"/>
            </a:avLst>
          </a:prstGeom>
          <a:solidFill>
            <a:srgbClr val="787774"/>
          </a:solidFill>
          <a:ln/>
        </p:spPr>
      </p:sp>
      <p:sp>
        <p:nvSpPr>
          <p:cNvPr id="31" name="static"/>
          <p:cNvSpPr/>
          <p:nvPr/>
        </p:nvSpPr>
        <p:spPr>
          <a:xfrm>
            <a:off x="3227263" y="4730130"/>
            <a:ext cx="57150" cy="57150"/>
          </a:xfrm>
          <a:prstGeom prst="roundRect">
            <a:avLst>
              <a:gd name="adj" fmla="val 50000"/>
            </a:avLst>
          </a:prstGeom>
          <a:solidFill>
            <a:srgbClr val="787774"/>
          </a:solidFill>
          <a:ln/>
        </p:spPr>
      </p:sp>
      <p:sp>
        <p:nvSpPr>
          <p:cNvPr id="32" name="static"/>
          <p:cNvSpPr/>
          <p:nvPr/>
        </p:nvSpPr>
        <p:spPr>
          <a:xfrm>
            <a:off x="3332038" y="4730130"/>
            <a:ext cx="171450" cy="57150"/>
          </a:xfrm>
          <a:prstGeom prst="roundRect">
            <a:avLst>
              <a:gd name="adj" fmla="val 50000"/>
            </a:avLst>
          </a:prstGeom>
          <a:solidFill>
            <a:srgbClr val="37352F"/>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700"/>
                                        <p:tgtEl>
                                          <p:spTgt spid="7"/>
                                        </p:tgtEl>
                                      </p:cBhvr>
                                    </p:animEffect>
                                    <p:anim calcmode="lin" valueType="num">
                                      <p:cBhvr additive="base">
                                        <p:cTn id="6" dur="700" fill="hold"/>
                                        <p:tgtEl>
                                          <p:spTgt spid="7"/>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700"/>
                                        <p:tgtEl>
                                          <p:spTgt spid="8"/>
                                        </p:tgtEl>
                                      </p:cBhvr>
                                    </p:animEffect>
                                    <p:anim calcmode="lin" valueType="num">
                                      <p:cBhvr additive="base">
                                        <p:cTn id="10" dur="700" fill="hold"/>
                                        <p:tgtEl>
                                          <p:spTgt spid="8"/>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additive="base">
                                        <p:cTn id="14" dur="700" fill="hold"/>
                                        <p:tgtEl>
                                          <p:spTgt spid="9"/>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anim calcmode="lin" valueType="num">
                                      <p:cBhvr additive="base">
                                        <p:cTn id="18" dur="700" fill="hold"/>
                                        <p:tgtEl>
                                          <p:spTgt spid="10"/>
                                        </p:tgtEl>
                                        <p:attrNameLst>
                                          <p:attrName>ppt_y</p:attrName>
                                        </p:attrNameLst>
                                      </p:cBhvr>
                                      <p:tavLst>
                                        <p:tav tm="0">
                                          <p:val>
                                            <p:strVal val="#ppt_y+.08"/>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700"/>
                                        <p:tgtEl>
                                          <p:spTgt spid="11"/>
                                        </p:tgtEl>
                                      </p:cBhvr>
                                    </p:animEffect>
                                    <p:anim calcmode="lin" valueType="num">
                                      <p:cBhvr additive="base">
                                        <p:cTn id="24" dur="700" fill="hold"/>
                                        <p:tgtEl>
                                          <p:spTgt spid="11"/>
                                        </p:tgtEl>
                                        <p:attrNameLst>
                                          <p:attrName>ppt_y</p:attrName>
                                        </p:attrNameLst>
                                      </p:cBhvr>
                                      <p:tavLst>
                                        <p:tav tm="0">
                                          <p:val>
                                            <p:strVal val="#ppt_y+.08"/>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700"/>
                                        <p:tgtEl>
                                          <p:spTgt spid="12"/>
                                        </p:tgtEl>
                                      </p:cBhvr>
                                    </p:animEffect>
                                    <p:anim calcmode="lin" valueType="num">
                                      <p:cBhvr additive="base">
                                        <p:cTn id="28" dur="700" fill="hold"/>
                                        <p:tgtEl>
                                          <p:spTgt spid="12"/>
                                        </p:tgtEl>
                                        <p:attrNameLst>
                                          <p:attrName>ppt_y</p:attrName>
                                        </p:attrNameLst>
                                      </p:cBhvr>
                                      <p:tavLst>
                                        <p:tav tm="0">
                                          <p:val>
                                            <p:strVal val="#ppt_y+.0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700"/>
                                        <p:tgtEl>
                                          <p:spTgt spid="13"/>
                                        </p:tgtEl>
                                      </p:cBhvr>
                                    </p:animEffect>
                                    <p:anim calcmode="lin" valueType="num">
                                      <p:cBhvr additive="base">
                                        <p:cTn id="32" dur="700" fill="hold"/>
                                        <p:tgtEl>
                                          <p:spTgt spid="13"/>
                                        </p:tgtEl>
                                        <p:attrNameLst>
                                          <p:attrName>ppt_y</p:attrName>
                                        </p:attrNameLst>
                                      </p:cBhvr>
                                      <p:tavLst>
                                        <p:tav tm="0">
                                          <p:val>
                                            <p:strVal val="#ppt_y+.0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700"/>
                                        <p:tgtEl>
                                          <p:spTgt spid="14"/>
                                        </p:tgtEl>
                                      </p:cBhvr>
                                    </p:animEffect>
                                    <p:anim calcmode="lin" valueType="num">
                                      <p:cBhvr additive="base">
                                        <p:cTn id="36" dur="700" fill="hold"/>
                                        <p:tgtEl>
                                          <p:spTgt spid="14"/>
                                        </p:tgtEl>
                                        <p:attrNameLst>
                                          <p:attrName>ppt_y</p:attrName>
                                        </p:attrNameLst>
                                      </p:cBhvr>
                                      <p:tavLst>
                                        <p:tav tm="0">
                                          <p:val>
                                            <p:strVal val="#ppt_y+.08"/>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700"/>
                                        <p:tgtEl>
                                          <p:spTgt spid="15"/>
                                        </p:tgtEl>
                                      </p:cBhvr>
                                    </p:animEffect>
                                    <p:anim calcmode="lin" valueType="num">
                                      <p:cBhvr additive="base">
                                        <p:cTn id="42" dur="700" fill="hold"/>
                                        <p:tgtEl>
                                          <p:spTgt spid="15"/>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700"/>
                                        <p:tgtEl>
                                          <p:spTgt spid="16"/>
                                        </p:tgtEl>
                                      </p:cBhvr>
                                    </p:animEffect>
                                    <p:anim calcmode="lin" valueType="num">
                                      <p:cBhvr additive="base">
                                        <p:cTn id="46" dur="700" fill="hold"/>
                                        <p:tgtEl>
                                          <p:spTgt spid="16"/>
                                        </p:tgtEl>
                                        <p:attrNameLst>
                                          <p:attrName>ppt_y</p:attrName>
                                        </p:attrNameLst>
                                      </p:cBhvr>
                                      <p:tavLst>
                                        <p:tav tm="0">
                                          <p:val>
                                            <p:strVal val="#ppt_y+.0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700"/>
                                        <p:tgtEl>
                                          <p:spTgt spid="17"/>
                                        </p:tgtEl>
                                      </p:cBhvr>
                                    </p:animEffect>
                                    <p:anim calcmode="lin" valueType="num">
                                      <p:cBhvr additive="base">
                                        <p:cTn id="50" dur="700" fill="hold"/>
                                        <p:tgtEl>
                                          <p:spTgt spid="17"/>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700"/>
                                        <p:tgtEl>
                                          <p:spTgt spid="18"/>
                                        </p:tgtEl>
                                      </p:cBhvr>
                                    </p:animEffect>
                                    <p:anim calcmode="lin" valueType="num">
                                      <p:cBhvr additive="base">
                                        <p:cTn id="54" dur="700" fill="hold"/>
                                        <p:tgtEl>
                                          <p:spTgt spid="18"/>
                                        </p:tgtEl>
                                        <p:attrNameLst>
                                          <p:attrName>ppt_y</p:attrName>
                                        </p:attrNameLst>
                                      </p:cBhvr>
                                      <p:tavLst>
                                        <p:tav tm="0">
                                          <p:val>
                                            <p:strVal val="#ppt_y+.08"/>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childTnLst>
                          </p:cTn>
                        </p:par>
                      </p:childTnLst>
                    </p:cTn>
                  </p:par>
                  <p:par>
                    <p:cTn id="76" fill="hold">
                      <p:stCondLst>
                        <p:cond delay="indefinite"/>
                      </p:stCondLst>
                      <p:childTnLst>
                        <p:par>
                          <p:cTn id="77" fill="hold">
                            <p:stCondLst>
                              <p:cond delay="0"/>
                            </p:stCondLst>
                            <p:childTnLst>
                              <p:par>
                                <p:cTn id="68" presetID="23" presetClass="entr" presetSubtype="16" fill="hold" grpId="0" nodeType="clickEffect">
                                  <p:stCondLst>
                                    <p:cond delay="0"/>
                                  </p:stCondLst>
                                  <p:childTnLst>
                                    <p:set>
                                      <p:cBhvr>
                                        <p:cTn id="69" dur="1" fill="hold">
                                          <p:stCondLst>
                                            <p:cond delay="0"/>
                                          </p:stCondLst>
                                        </p:cTn>
                                        <p:tgtEl>
                                          <p:spTgt spid="22"/>
                                        </p:tgtEl>
                                        <p:attrNameLst>
                                          <p:attrName>style.visibility</p:attrName>
                                        </p:attrNameLst>
                                      </p:cBhvr>
                                      <p:to>
                                        <p:strVal val="visible"/>
                                      </p:to>
                                    </p:set>
                                    <p:animScale>
                                      <p:cBhvr>
                                        <p:cTn id="70" dur="500" fill="hold"/>
                                        <p:tgtEl>
                                          <p:spTgt spid="22"/>
                                        </p:tgtEl>
                                      </p:cBhvr>
                                      <p:from x="0" y="0"/>
                                      <p:to x="100000" y="100000"/>
                                    </p:animScale>
                                    <p:animEffect transition="in" filter="fade">
                                      <p:cBhvr>
                                        <p:cTn id="71" dur="500"/>
                                        <p:tgtEl>
                                          <p:spTgt spid="22"/>
                                        </p:tgtEl>
                                      </p:cBhvr>
                                    </p:animEffect>
                                  </p:childTnLst>
                                </p:cTn>
                              </p:par>
                              <p:par>
                                <p:cTn id="72" presetID="23" presetClass="entr" presetSubtype="16"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Scale>
                                      <p:cBhvr>
                                        <p:cTn id="74" dur="500" fill="hold"/>
                                        <p:tgtEl>
                                          <p:spTgt spid="23"/>
                                        </p:tgtEl>
                                      </p:cBhvr>
                                      <p:from x="0" y="0"/>
                                      <p:to x="100000" y="100000"/>
                                    </p:animScale>
                                    <p:animEffect transition="in" filter="fade">
                                      <p:cBhvr>
                                        <p:cTn id="7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952500"/>
            <a:ext cx="6377940" cy="171450"/>
          </a:xfrm>
          <a:prstGeom prst="rect">
            <a:avLst/>
          </a:prstGeom>
          <a:noFill/>
          <a:ln/>
        </p:spPr>
        <p:txBody>
          <a:bodyPr wrap="none" lIns="0" tIns="0" rIns="0" bIns="0" rtlCol="0" anchor="ctr"/>
          <a:lstStyle/>
          <a:p>
            <a:pPr algn="l" indent="0" marL="0">
              <a:lnSpc>
                <a:spcPts val="1350"/>
              </a:lnSpc>
              <a:buNone/>
            </a:pPr>
            <a:r>
              <a:rPr lang="en-US" sz="900" b="1" dirty="0">
                <a:solidFill>
                  <a:srgbClr val="787774"/>
                </a:solidFill>
                <a:latin typeface="Noto Sans Thai" pitchFamily="34" charset="0"/>
                <a:ea typeface="Noto Sans Thai" pitchFamily="34" charset="-122"/>
                <a:cs typeface="Noto Sans Thai" pitchFamily="34" charset="-120"/>
              </a:rPr>
              <a:t>MBA Business Class · Group Presentation</a:t>
            </a:r>
            <a:endParaRPr lang="en-US" sz="900" dirty="0"/>
          </a:p>
        </p:txBody>
      </p:sp>
      <p:sp>
        <p:nvSpPr>
          <p:cNvPr id="3" name="static"/>
          <p:cNvSpPr txBox="1"/>
          <p:nvPr/>
        </p:nvSpPr>
        <p:spPr>
          <a:xfrm>
            <a:off x="609600" y="1219200"/>
            <a:ext cx="6141720" cy="817215"/>
          </a:xfrm>
          <a:prstGeom prst="rect">
            <a:avLst/>
          </a:prstGeom>
          <a:noFill/>
          <a:ln/>
        </p:spPr>
        <p:txBody>
          <a:bodyPr wrap="square" lIns="0" tIns="0" rIns="0" bIns="0" rtlCol="0" anchor="t"/>
          <a:lstStyle/>
          <a:p>
            <a:pPr algn="l" indent="0" marL="0">
              <a:lnSpc>
                <a:spcPts val="3217"/>
              </a:lnSpc>
              <a:buNone/>
            </a:pPr>
            <a:r>
              <a:rPr lang="en-US" sz="2475" b="1" dirty="0">
                <a:solidFill>
                  <a:srgbClr val="37352F"/>
                </a:solidFill>
                <a:latin typeface="Noto Sans Thai" pitchFamily="34" charset="0"/>
                <a:ea typeface="Noto Sans Thai" pitchFamily="34" charset="-122"/>
                <a:cs typeface="Noto Sans Thai" pitchFamily="34" charset="-120"/>
              </a:rPr>
              <a:t>สร้างวัฒนธรรมระดับโลก: Storytelling Masterclass ของ Starbucks</a:t>
            </a:r>
            <a:endParaRPr lang="en-US" sz="2475" dirty="0"/>
          </a:p>
        </p:txBody>
      </p:sp>
      <p:sp>
        <p:nvSpPr>
          <p:cNvPr id="4" name="static"/>
          <p:cNvSpPr txBox="1"/>
          <p:nvPr/>
        </p:nvSpPr>
        <p:spPr>
          <a:xfrm>
            <a:off x="609600" y="2131665"/>
            <a:ext cx="6377940" cy="228600"/>
          </a:xfrm>
          <a:prstGeom prst="rect">
            <a:avLst/>
          </a:prstGeom>
          <a:noFill/>
          <a:ln/>
        </p:spPr>
        <p:txBody>
          <a:bodyPr wrap="none" lIns="0" tIns="0" rIns="0" bIns="0" rtlCol="0" anchor="ctr"/>
          <a:lstStyle/>
          <a:p>
            <a:pPr algn="l" indent="0" marL="0">
              <a:lnSpc>
                <a:spcPts val="1800"/>
              </a:lnSpc>
              <a:buNone/>
            </a:pPr>
            <a:r>
              <a:rPr lang="en-US" sz="1200" dirty="0">
                <a:solidFill>
                  <a:srgbClr val="787774"/>
                </a:solidFill>
                <a:latin typeface="Noto Sans Thai" pitchFamily="34" charset="0"/>
                <a:ea typeface="Noto Sans Thai" pitchFamily="34" charset="-122"/>
                <a:cs typeface="Noto Sans Thai" pitchFamily="34" charset="-120"/>
              </a:rPr>
              <a:t>Narrative, Experience และ Identity สร้างอาณาจักรมูลค่าหลายพันล้านดอลลาร์ได้อย่างไร</a:t>
            </a:r>
            <a:endParaRPr lang="en-US" sz="1200" dirty="0"/>
          </a:p>
        </p:txBody>
      </p:sp>
      <p:sp>
        <p:nvSpPr>
          <p:cNvPr id="5" name="b1:pop"/>
          <p:cNvSpPr/>
          <p:nvPr/>
        </p:nvSpPr>
        <p:spPr>
          <a:xfrm>
            <a:off x="7105650" y="419100"/>
            <a:ext cx="1428750" cy="1428750"/>
          </a:xfrm>
          <a:prstGeom prst="roundRect">
            <a:avLst>
              <a:gd name="adj" fmla="val 16667"/>
            </a:avLst>
          </a:prstGeom>
          <a:solidFill>
            <a:srgbClr val="F7F7F5"/>
          </a:solidFill>
          <a:ln w="6350">
            <a:solidFill>
              <a:srgbClr val="E9E9E7"/>
            </a:solidFill>
            <a:prstDash val="solid"/>
          </a:ln>
        </p:spPr>
      </p:sp>
      <p:pic>
        <p:nvPicPr>
          <p:cNvPr id="6" name="b1:pop (Starbucks siren logo)" descr="/home/user/slide-present-en/starbucks-presentation/assets/starbucks-logo.png">    </p:cNvPr>
          <p:cNvPicPr>
            <a:picLocks noChangeAspect="1"/>
          </p:cNvPicPr>
          <p:nvPr/>
        </p:nvPicPr>
        <p:blipFill>
          <a:blip r:embed="rId1"/>
          <a:stretch>
            <a:fillRect/>
          </a:stretch>
        </p:blipFill>
        <p:spPr>
          <a:xfrm>
            <a:off x="7172325" y="485775"/>
            <a:ext cx="1295400" cy="1295400"/>
          </a:xfrm>
          <a:prstGeom prst="rect">
            <a:avLst/>
          </a:prstGeom>
        </p:spPr>
      </p:pic>
      <p:sp>
        <p:nvSpPr>
          <p:cNvPr id="7" name="b2:rise"/>
          <p:cNvSpPr/>
          <p:nvPr/>
        </p:nvSpPr>
        <p:spPr>
          <a:xfrm>
            <a:off x="609600" y="2667000"/>
            <a:ext cx="2538413" cy="1285875"/>
          </a:xfrm>
          <a:prstGeom prst="roundRect">
            <a:avLst>
              <a:gd name="adj" fmla="val 2963"/>
            </a:avLst>
          </a:prstGeom>
          <a:solidFill>
            <a:srgbClr val="FFFFFF"/>
          </a:solidFill>
          <a:ln w="6350">
            <a:solidFill>
              <a:srgbClr val="E9E9E7"/>
            </a:solidFill>
            <a:prstDash val="solid"/>
          </a:ln>
        </p:spPr>
      </p:sp>
      <p:sp>
        <p:nvSpPr>
          <p:cNvPr id="8" name="b2:rise"/>
          <p:cNvSpPr txBox="1"/>
          <p:nvPr/>
        </p:nvSpPr>
        <p:spPr>
          <a:xfrm>
            <a:off x="766763" y="2824163"/>
            <a:ext cx="2402015" cy="319980"/>
          </a:xfrm>
          <a:prstGeom prst="rect">
            <a:avLst/>
          </a:prstGeom>
          <a:noFill/>
          <a:ln/>
        </p:spPr>
        <p:txBody>
          <a:bodyPr wrap="none" lIns="0" tIns="0" rIns="0" bIns="0" rtlCol="0" anchor="ctr"/>
          <a:lstStyle/>
          <a:p>
            <a:pPr algn="l" indent="0" marL="0">
              <a:lnSpc>
                <a:spcPts val="2520"/>
              </a:lnSpc>
              <a:buNone/>
            </a:pPr>
            <a:r>
              <a:rPr lang="en-US" sz="2100" dirty="0">
                <a:solidFill>
                  <a:srgbClr val="37352F"/>
                </a:solidFill>
                <a:latin typeface="Noto Sans Thai" pitchFamily="34" charset="0"/>
                <a:ea typeface="Noto Sans Thai" pitchFamily="34" charset="-122"/>
                <a:cs typeface="Noto Sans Thai" pitchFamily="34" charset="-120"/>
              </a:rPr>
              <a:t>🌿</a:t>
            </a:r>
            <a:endParaRPr lang="en-US" sz="2100" dirty="0"/>
          </a:p>
        </p:txBody>
      </p:sp>
      <p:sp>
        <p:nvSpPr>
          <p:cNvPr id="9" name="b2:rise"/>
          <p:cNvSpPr txBox="1"/>
          <p:nvPr/>
        </p:nvSpPr>
        <p:spPr>
          <a:xfrm>
            <a:off x="766763" y="3191768"/>
            <a:ext cx="2402015"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จุดเริ่มต้น · 1971</a:t>
            </a:r>
            <a:endParaRPr lang="en-US" sz="825" dirty="0"/>
          </a:p>
        </p:txBody>
      </p:sp>
      <p:sp>
        <p:nvSpPr>
          <p:cNvPr id="10" name="b2:rise"/>
          <p:cNvSpPr txBox="1"/>
          <p:nvPr/>
        </p:nvSpPr>
        <p:spPr>
          <a:xfrm>
            <a:off x="766763" y="3386063"/>
            <a:ext cx="2402015" cy="226665"/>
          </a:xfrm>
          <a:prstGeom prst="rect">
            <a:avLst/>
          </a:prstGeom>
          <a:noFill/>
          <a:ln/>
        </p:spPr>
        <p:txBody>
          <a:bodyPr wrap="none" lIns="0" tIns="0" rIns="0" bIns="0" rtlCol="0" anchor="ctr"/>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Pike Place Market, Seattle</a:t>
            </a:r>
            <a:endParaRPr lang="en-US" sz="1275" dirty="0"/>
          </a:p>
        </p:txBody>
      </p:sp>
      <p:sp>
        <p:nvSpPr>
          <p:cNvPr id="11" name="b3:rise"/>
          <p:cNvSpPr/>
          <p:nvPr/>
        </p:nvSpPr>
        <p:spPr>
          <a:xfrm>
            <a:off x="3300413" y="2667000"/>
            <a:ext cx="2538413" cy="1285875"/>
          </a:xfrm>
          <a:prstGeom prst="roundRect">
            <a:avLst>
              <a:gd name="adj" fmla="val 2963"/>
            </a:avLst>
          </a:prstGeom>
          <a:solidFill>
            <a:srgbClr val="FFFFFF"/>
          </a:solidFill>
          <a:ln w="6350">
            <a:solidFill>
              <a:srgbClr val="E9E9E7"/>
            </a:solidFill>
            <a:prstDash val="solid"/>
          </a:ln>
        </p:spPr>
      </p:sp>
      <p:sp>
        <p:nvSpPr>
          <p:cNvPr id="12" name="b3:rise"/>
          <p:cNvSpPr txBox="1"/>
          <p:nvPr/>
        </p:nvSpPr>
        <p:spPr>
          <a:xfrm>
            <a:off x="3457575" y="2824163"/>
            <a:ext cx="2402015" cy="319980"/>
          </a:xfrm>
          <a:prstGeom prst="rect">
            <a:avLst/>
          </a:prstGeom>
          <a:noFill/>
          <a:ln/>
        </p:spPr>
        <p:txBody>
          <a:bodyPr wrap="none" lIns="0" tIns="0" rIns="0" bIns="0" rtlCol="0" anchor="ctr"/>
          <a:lstStyle/>
          <a:p>
            <a:pPr algn="l" indent="0" marL="0">
              <a:lnSpc>
                <a:spcPts val="2520"/>
              </a:lnSpc>
              <a:buNone/>
            </a:pPr>
            <a:r>
              <a:rPr lang="en-US" sz="2100" dirty="0">
                <a:solidFill>
                  <a:srgbClr val="37352F"/>
                </a:solidFill>
                <a:latin typeface="Noto Sans Thai" pitchFamily="34" charset="0"/>
                <a:ea typeface="Noto Sans Thai" pitchFamily="34" charset="-122"/>
                <a:cs typeface="Noto Sans Thai" pitchFamily="34" charset="-120"/>
              </a:rPr>
              <a:t>☕</a:t>
            </a:r>
            <a:endParaRPr lang="en-US" sz="2100" dirty="0"/>
          </a:p>
        </p:txBody>
      </p:sp>
      <p:sp>
        <p:nvSpPr>
          <p:cNvPr id="13" name="b3:rise"/>
          <p:cNvSpPr txBox="1"/>
          <p:nvPr/>
        </p:nvSpPr>
        <p:spPr>
          <a:xfrm>
            <a:off x="3457575" y="3191768"/>
            <a:ext cx="2402015"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ผลิตภัณฑ์</a:t>
            </a:r>
            <a:endParaRPr lang="en-US" sz="825" dirty="0"/>
          </a:p>
        </p:txBody>
      </p:sp>
      <p:sp>
        <p:nvSpPr>
          <p:cNvPr id="14" name="b3:rise"/>
          <p:cNvSpPr txBox="1"/>
          <p:nvPr/>
        </p:nvSpPr>
        <p:spPr>
          <a:xfrm>
            <a:off x="3457575" y="3386063"/>
            <a:ext cx="2313051" cy="453330"/>
          </a:xfrm>
          <a:prstGeom prst="rect">
            <a:avLst/>
          </a:prstGeom>
          <a:noFill/>
          <a:ln/>
        </p:spPr>
        <p:txBody>
          <a:bodyPr wrap="square" lIns="0" tIns="0" rIns="0" bIns="0" rtlCol="0" anchor="t"/>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Whole-Bean Gourmet Coffee</a:t>
            </a:r>
            <a:endParaRPr lang="en-US" sz="1275" dirty="0"/>
          </a:p>
        </p:txBody>
      </p:sp>
      <p:sp>
        <p:nvSpPr>
          <p:cNvPr id="15" name="b4:rise"/>
          <p:cNvSpPr/>
          <p:nvPr/>
        </p:nvSpPr>
        <p:spPr>
          <a:xfrm>
            <a:off x="5991225" y="2667000"/>
            <a:ext cx="2543175" cy="1285875"/>
          </a:xfrm>
          <a:prstGeom prst="roundRect">
            <a:avLst>
              <a:gd name="adj" fmla="val 2963"/>
            </a:avLst>
          </a:prstGeom>
          <a:solidFill>
            <a:srgbClr val="FFFFFF"/>
          </a:solidFill>
          <a:ln w="6350">
            <a:solidFill>
              <a:srgbClr val="E9E9E7"/>
            </a:solidFill>
            <a:prstDash val="solid"/>
          </a:ln>
        </p:spPr>
      </p:sp>
      <p:sp>
        <p:nvSpPr>
          <p:cNvPr id="16" name="b4:rise"/>
          <p:cNvSpPr txBox="1"/>
          <p:nvPr/>
        </p:nvSpPr>
        <p:spPr>
          <a:xfrm>
            <a:off x="6148388" y="2824163"/>
            <a:ext cx="2407158" cy="319980"/>
          </a:xfrm>
          <a:prstGeom prst="rect">
            <a:avLst/>
          </a:prstGeom>
          <a:noFill/>
          <a:ln/>
        </p:spPr>
        <p:txBody>
          <a:bodyPr wrap="none" lIns="0" tIns="0" rIns="0" bIns="0" rtlCol="0" anchor="ctr"/>
          <a:lstStyle/>
          <a:p>
            <a:pPr algn="l" indent="0" marL="0">
              <a:lnSpc>
                <a:spcPts val="2520"/>
              </a:lnSpc>
              <a:buNone/>
            </a:pPr>
            <a:r>
              <a:rPr lang="en-US" sz="2100" dirty="0">
                <a:solidFill>
                  <a:srgbClr val="37352F"/>
                </a:solidFill>
                <a:latin typeface="Noto Sans Thai" pitchFamily="34" charset="0"/>
                <a:ea typeface="Noto Sans Thai" pitchFamily="34" charset="-122"/>
                <a:cs typeface="Noto Sans Thai" pitchFamily="34" charset="-120"/>
              </a:rPr>
              <a:t>🧜‍♀️</a:t>
            </a:r>
            <a:endParaRPr lang="en-US" sz="2100" dirty="0"/>
          </a:p>
        </p:txBody>
      </p:sp>
      <p:sp>
        <p:nvSpPr>
          <p:cNvPr id="17" name="b4:rise"/>
          <p:cNvSpPr txBox="1"/>
          <p:nvPr/>
        </p:nvSpPr>
        <p:spPr>
          <a:xfrm>
            <a:off x="6148388" y="3191768"/>
            <a:ext cx="2407158"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สัญลักษณ์</a:t>
            </a:r>
            <a:endParaRPr lang="en-US" sz="825" dirty="0"/>
          </a:p>
        </p:txBody>
      </p:sp>
      <p:sp>
        <p:nvSpPr>
          <p:cNvPr id="18" name="b4:rise"/>
          <p:cNvSpPr txBox="1"/>
          <p:nvPr/>
        </p:nvSpPr>
        <p:spPr>
          <a:xfrm>
            <a:off x="6148388" y="3386063"/>
            <a:ext cx="2318004" cy="453330"/>
          </a:xfrm>
          <a:prstGeom prst="rect">
            <a:avLst/>
          </a:prstGeom>
          <a:noFill/>
          <a:ln/>
        </p:spPr>
        <p:txBody>
          <a:bodyPr wrap="square" lIns="0" tIns="0" rIns="0" bIns="0" rtlCol="0" anchor="t"/>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Siren สองหางจากตำนาน Norse</a:t>
            </a:r>
            <a:endParaRPr lang="en-US" sz="1275" dirty="0"/>
          </a:p>
        </p:txBody>
      </p:sp>
      <p:sp>
        <p:nvSpPr>
          <p:cNvPr id="19" name="b5:fade"/>
          <p:cNvSpPr txBox="1"/>
          <p:nvPr/>
        </p:nvSpPr>
        <p:spPr>
          <a:xfrm>
            <a:off x="609600" y="4127897"/>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Noto Sans Thai" pitchFamily="34" charset="0"/>
                <a:ea typeface="Noto Sans Thai" pitchFamily="34" charset="-122"/>
                <a:cs typeface="Noto Sans Thai" pitchFamily="34" charset="-120"/>
              </a:rPr>
              <a:t>➡️</a:t>
            </a:r>
            <a:endParaRPr lang="en-US" sz="1125" dirty="0"/>
          </a:p>
        </p:txBody>
      </p:sp>
      <p:sp>
        <p:nvSpPr>
          <p:cNvPr id="20" name="b5:fade"/>
          <p:cNvSpPr txBox="1"/>
          <p:nvPr/>
        </p:nvSpPr>
        <p:spPr>
          <a:xfrm>
            <a:off x="883146" y="4124325"/>
            <a:ext cx="6391120" cy="192881"/>
          </a:xfrm>
          <a:prstGeom prst="rect">
            <a:avLst/>
          </a:prstGeom>
          <a:noFill/>
          <a:ln/>
        </p:spPr>
        <p:txBody>
          <a:bodyPr wrap="none" lIns="0" tIns="0" rIns="0" bIns="0" rtlCol="0" anchor="ctr"/>
          <a:lstStyle/>
          <a:p>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ต่อไป มาดูกันว่าทุกอย่างเริ่มต้นที่ไหนในปี </a:t>
            </a:r>
            <a:pPr algn="l" indent="0" marL="0">
              <a:lnSpc>
                <a:spcPts val="1519"/>
              </a:lnSpc>
              <a:buNone/>
            </a:pPr>
            <a:r>
              <a:rPr lang="en-US" sz="1013" b="1" dirty="0">
                <a:solidFill>
                  <a:srgbClr val="448361"/>
                </a:solidFill>
                <a:latin typeface="Noto Sans Thai" pitchFamily="34" charset="0"/>
                <a:ea typeface="Noto Sans Thai" pitchFamily="34" charset="-122"/>
                <a:cs typeface="Noto Sans Thai" pitchFamily="34" charset="-120"/>
              </a:rPr>
              <a:t>1971</a:t>
            </a:r>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a:t>
            </a:r>
            <a:endParaRPr lang="en-US" sz="1013" dirty="0"/>
          </a:p>
        </p:txBody>
      </p:sp>
      <p:sp>
        <p:nvSpPr>
          <p:cNvPr id="21" name="!!tkey1-1"/>
          <p:cNvSpPr/>
          <p:nvPr/>
        </p:nvSpPr>
        <p:spPr>
          <a:xfrm>
            <a:off x="6438900" y="4572000"/>
            <a:ext cx="2095500" cy="266700"/>
          </a:xfrm>
          <a:prstGeom prst="roundRect">
            <a:avLst>
              <a:gd name="adj" fmla="val 10714"/>
            </a:avLst>
          </a:prstGeom>
          <a:solidFill>
            <a:srgbClr val="FDECC8"/>
          </a:solidFill>
          <a:ln/>
        </p:spPr>
      </p:sp>
      <p:sp>
        <p:nvSpPr>
          <p:cNvPr id="22" name="!!tkey1-2"/>
          <p:cNvSpPr txBox="1"/>
          <p:nvPr/>
        </p:nvSpPr>
        <p:spPr>
          <a:xfrm>
            <a:off x="6438900" y="45720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1971 · Pike Place, Seattle</a:t>
            </a:r>
            <a:endParaRPr lang="en-US" sz="900" dirty="0"/>
          </a:p>
        </p:txBody>
      </p:sp>
      <p:sp>
        <p:nvSpPr>
          <p:cNvPr id="23" name="static"/>
          <p:cNvSpPr txBox="1"/>
          <p:nvPr/>
        </p:nvSpPr>
        <p:spPr>
          <a:xfrm>
            <a:off x="609600" y="4667250"/>
            <a:ext cx="2582987" cy="171450"/>
          </a:xfrm>
          <a:prstGeom prst="rect">
            <a:avLst/>
          </a:prstGeom>
          <a:noFill/>
          <a:ln/>
        </p:spPr>
        <p:txBody>
          <a:bodyPr wrap="none" lIns="0" tIns="0" rIns="0" bIns="0" rtlCol="0" anchor="ctr"/>
          <a:lstStyle/>
          <a:p>
            <a:pPr algn="l" indent="0" marL="0">
              <a:lnSpc>
                <a:spcPts val="1350"/>
              </a:lnSpc>
              <a:buNone/>
            </a:pPr>
            <a:r>
              <a:rPr lang="en-US" sz="900" dirty="0">
                <a:solidFill>
                  <a:srgbClr val="787774"/>
                </a:solidFill>
                <a:latin typeface="Noto Sans Thai" pitchFamily="34" charset="0"/>
                <a:ea typeface="Noto Sans Thai" pitchFamily="34" charset="-122"/>
                <a:cs typeface="Noto Sans Thai" pitchFamily="34" charset="-120"/>
              </a:rPr>
              <a:t>สไลด์ 1 จาก 8 · Part 1 · รากฐานและจุดกำเนิดของแบรนด์</a:t>
            </a:r>
            <a:endParaRPr lang="en-US" sz="900" dirty="0"/>
          </a:p>
        </p:txBody>
      </p:sp>
      <p:sp>
        <p:nvSpPr>
          <p:cNvPr id="24" name="static"/>
          <p:cNvSpPr/>
          <p:nvPr/>
        </p:nvSpPr>
        <p:spPr>
          <a:xfrm>
            <a:off x="3383087" y="4724400"/>
            <a:ext cx="171450" cy="57150"/>
          </a:xfrm>
          <a:prstGeom prst="roundRect">
            <a:avLst>
              <a:gd name="adj" fmla="val 50000"/>
            </a:avLst>
          </a:prstGeom>
          <a:solidFill>
            <a:srgbClr val="37352F"/>
          </a:solidFill>
          <a:ln/>
        </p:spPr>
      </p:sp>
      <p:sp>
        <p:nvSpPr>
          <p:cNvPr id="25" name="static"/>
          <p:cNvSpPr/>
          <p:nvPr/>
        </p:nvSpPr>
        <p:spPr>
          <a:xfrm>
            <a:off x="3602162" y="4724400"/>
            <a:ext cx="57150" cy="57150"/>
          </a:xfrm>
          <a:prstGeom prst="roundRect">
            <a:avLst>
              <a:gd name="adj" fmla="val 50000"/>
            </a:avLst>
          </a:prstGeom>
          <a:solidFill>
            <a:srgbClr val="E3E2E0"/>
          </a:solidFill>
          <a:ln/>
        </p:spPr>
      </p:sp>
      <p:sp>
        <p:nvSpPr>
          <p:cNvPr id="26" name="static"/>
          <p:cNvSpPr/>
          <p:nvPr/>
        </p:nvSpPr>
        <p:spPr>
          <a:xfrm>
            <a:off x="3706937" y="4724400"/>
            <a:ext cx="57150" cy="57150"/>
          </a:xfrm>
          <a:prstGeom prst="roundRect">
            <a:avLst>
              <a:gd name="adj" fmla="val 50000"/>
            </a:avLst>
          </a:prstGeom>
          <a:solidFill>
            <a:srgbClr val="E3E2E0"/>
          </a:solidFill>
          <a:ln/>
        </p:spPr>
      </p:sp>
      <p:sp>
        <p:nvSpPr>
          <p:cNvPr id="27" name="static"/>
          <p:cNvSpPr/>
          <p:nvPr/>
        </p:nvSpPr>
        <p:spPr>
          <a:xfrm>
            <a:off x="3811712" y="4724400"/>
            <a:ext cx="57150" cy="57150"/>
          </a:xfrm>
          <a:prstGeom prst="roundRect">
            <a:avLst>
              <a:gd name="adj" fmla="val 50000"/>
            </a:avLst>
          </a:prstGeom>
          <a:solidFill>
            <a:srgbClr val="E3E2E0"/>
          </a:solidFill>
          <a:ln/>
        </p:spPr>
      </p:sp>
      <p:sp>
        <p:nvSpPr>
          <p:cNvPr id="28" name="static"/>
          <p:cNvSpPr/>
          <p:nvPr/>
        </p:nvSpPr>
        <p:spPr>
          <a:xfrm>
            <a:off x="3916487" y="4724400"/>
            <a:ext cx="57150" cy="57150"/>
          </a:xfrm>
          <a:prstGeom prst="roundRect">
            <a:avLst>
              <a:gd name="adj" fmla="val 50000"/>
            </a:avLst>
          </a:prstGeom>
          <a:solidFill>
            <a:srgbClr val="E3E2E0"/>
          </a:solidFill>
          <a:ln/>
        </p:spPr>
      </p:sp>
      <p:sp>
        <p:nvSpPr>
          <p:cNvPr id="29" name="static"/>
          <p:cNvSpPr/>
          <p:nvPr/>
        </p:nvSpPr>
        <p:spPr>
          <a:xfrm>
            <a:off x="4021262" y="4724400"/>
            <a:ext cx="57150" cy="57150"/>
          </a:xfrm>
          <a:prstGeom prst="roundRect">
            <a:avLst>
              <a:gd name="adj" fmla="val 50000"/>
            </a:avLst>
          </a:prstGeom>
          <a:solidFill>
            <a:srgbClr val="E3E2E0"/>
          </a:solidFill>
          <a:ln/>
        </p:spPr>
      </p:sp>
      <p:sp>
        <p:nvSpPr>
          <p:cNvPr id="30" name="static"/>
          <p:cNvSpPr/>
          <p:nvPr/>
        </p:nvSpPr>
        <p:spPr>
          <a:xfrm>
            <a:off x="4126037" y="4724400"/>
            <a:ext cx="57150" cy="57150"/>
          </a:xfrm>
          <a:prstGeom prst="roundRect">
            <a:avLst>
              <a:gd name="adj" fmla="val 50000"/>
            </a:avLst>
          </a:prstGeom>
          <a:solidFill>
            <a:srgbClr val="E3E2E0"/>
          </a:solidFill>
          <a:ln/>
        </p:spPr>
      </p:sp>
      <p:sp>
        <p:nvSpPr>
          <p:cNvPr id="31" name="static"/>
          <p:cNvSpPr/>
          <p:nvPr/>
        </p:nvSpPr>
        <p:spPr>
          <a:xfrm>
            <a:off x="4230812" y="4724400"/>
            <a:ext cx="57150" cy="57150"/>
          </a:xfrm>
          <a:prstGeom prst="roundRect">
            <a:avLst>
              <a:gd name="adj" fmla="val 50000"/>
            </a:avLst>
          </a:prstGeom>
          <a:solidFill>
            <a:srgbClr val="E3E2E0"/>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23" presetClass="entr" presetSubtype="16"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Scale>
                                      <p:cBhvr>
                                        <p:cTn id="5" dur="500" fill="hold"/>
                                        <p:tgtEl>
                                          <p:spTgt spid="5"/>
                                        </p:tgtEl>
                                      </p:cBhvr>
                                      <p:from x="0" y="0"/>
                                      <p:to x="100000" y="100000"/>
                                    </p:animScale>
                                    <p:animEffect transition="in" filter="fade">
                                      <p:cBhvr>
                                        <p:cTn id="6" dur="500"/>
                                        <p:tgtEl>
                                          <p:spTgt spid="5"/>
                                        </p:tgtEl>
                                      </p:cBhvr>
                                    </p:animEffect>
                                  </p:childTnLst>
                                </p:cTn>
                              </p:par>
                              <p:par>
                                <p:cTn id="7" presetID="23" presetClass="entr" presetSubtype="16"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Scale>
                                      <p:cBhvr>
                                        <p:cTn id="9" dur="500" fill="hold"/>
                                        <p:tgtEl>
                                          <p:spTgt spid="6"/>
                                        </p:tgtEl>
                                      </p:cBhvr>
                                      <p:from x="0" y="0"/>
                                      <p:to x="100000" y="100000"/>
                                    </p:animScale>
                                    <p:animEffect transition="in" filter="fade">
                                      <p:cBhvr>
                                        <p:cTn id="10"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700"/>
                                        <p:tgtEl>
                                          <p:spTgt spid="7"/>
                                        </p:tgtEl>
                                      </p:cBhvr>
                                    </p:animEffect>
                                    <p:anim calcmode="lin" valueType="num">
                                      <p:cBhvr additive="base">
                                        <p:cTn id="16" dur="700" fill="hold"/>
                                        <p:tgtEl>
                                          <p:spTgt spid="7"/>
                                        </p:tgtEl>
                                        <p:attrNameLst>
                                          <p:attrName>ppt_y</p:attrName>
                                        </p:attrNameLst>
                                      </p:cBhvr>
                                      <p:tavLst>
                                        <p:tav tm="0">
                                          <p:val>
                                            <p:strVal val="#ppt_y+.0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700" fill="hold"/>
                                        <p:tgtEl>
                                          <p:spTgt spid="8"/>
                                        </p:tgtEl>
                                        <p:attrNameLst>
                                          <p:attrName>ppt_y</p:attrName>
                                        </p:attrNameLst>
                                      </p:cBhvr>
                                      <p:tavLst>
                                        <p:tav tm="0">
                                          <p:val>
                                            <p:strVal val="#ppt_y+.08"/>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700"/>
                                        <p:tgtEl>
                                          <p:spTgt spid="9"/>
                                        </p:tgtEl>
                                      </p:cBhvr>
                                    </p:animEffect>
                                    <p:anim calcmode="lin" valueType="num">
                                      <p:cBhvr additive="base">
                                        <p:cTn id="24" dur="700" fill="hold"/>
                                        <p:tgtEl>
                                          <p:spTgt spid="9"/>
                                        </p:tgtEl>
                                        <p:attrNameLst>
                                          <p:attrName>ppt_y</p:attrName>
                                        </p:attrNameLst>
                                      </p:cBhvr>
                                      <p:tavLst>
                                        <p:tav tm="0">
                                          <p:val>
                                            <p:strVal val="#ppt_y+.08"/>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700"/>
                                        <p:tgtEl>
                                          <p:spTgt spid="10"/>
                                        </p:tgtEl>
                                      </p:cBhvr>
                                    </p:animEffect>
                                    <p:anim calcmode="lin" valueType="num">
                                      <p:cBhvr additive="base">
                                        <p:cTn id="28" dur="700" fill="hold"/>
                                        <p:tgtEl>
                                          <p:spTgt spid="10"/>
                                        </p:tgtEl>
                                        <p:attrNameLst>
                                          <p:attrName>ppt_y</p:attrName>
                                        </p:attrNameLst>
                                      </p:cBhvr>
                                      <p:tavLst>
                                        <p:tav tm="0">
                                          <p:val>
                                            <p:strVal val="#ppt_y+.08"/>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700"/>
                                        <p:tgtEl>
                                          <p:spTgt spid="11"/>
                                        </p:tgtEl>
                                      </p:cBhvr>
                                    </p:animEffect>
                                    <p:anim calcmode="lin" valueType="num">
                                      <p:cBhvr additive="base">
                                        <p:cTn id="34" dur="700" fill="hold"/>
                                        <p:tgtEl>
                                          <p:spTgt spid="11"/>
                                        </p:tgtEl>
                                        <p:attrNameLst>
                                          <p:attrName>ppt_y</p:attrName>
                                        </p:attrNameLst>
                                      </p:cBhvr>
                                      <p:tavLst>
                                        <p:tav tm="0">
                                          <p:val>
                                            <p:strVal val="#ppt_y+.08"/>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700"/>
                                        <p:tgtEl>
                                          <p:spTgt spid="12"/>
                                        </p:tgtEl>
                                      </p:cBhvr>
                                    </p:animEffect>
                                    <p:anim calcmode="lin" valueType="num">
                                      <p:cBhvr additive="base">
                                        <p:cTn id="38" dur="700" fill="hold"/>
                                        <p:tgtEl>
                                          <p:spTgt spid="12"/>
                                        </p:tgtEl>
                                        <p:attrNameLst>
                                          <p:attrName>ppt_y</p:attrName>
                                        </p:attrNameLst>
                                      </p:cBhvr>
                                      <p:tavLst>
                                        <p:tav tm="0">
                                          <p:val>
                                            <p:strVal val="#ppt_y+.0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700"/>
                                        <p:tgtEl>
                                          <p:spTgt spid="13"/>
                                        </p:tgtEl>
                                      </p:cBhvr>
                                    </p:animEffect>
                                    <p:anim calcmode="lin" valueType="num">
                                      <p:cBhvr additive="base">
                                        <p:cTn id="42" dur="700" fill="hold"/>
                                        <p:tgtEl>
                                          <p:spTgt spid="13"/>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700"/>
                                        <p:tgtEl>
                                          <p:spTgt spid="14"/>
                                        </p:tgtEl>
                                      </p:cBhvr>
                                    </p:animEffect>
                                    <p:anim calcmode="lin" valueType="num">
                                      <p:cBhvr additive="base">
                                        <p:cTn id="46" dur="700" fill="hold"/>
                                        <p:tgtEl>
                                          <p:spTgt spid="14"/>
                                        </p:tgtEl>
                                        <p:attrNameLst>
                                          <p:attrName>ppt_y</p:attrName>
                                        </p:attrNameLst>
                                      </p:cBhvr>
                                      <p:tavLst>
                                        <p:tav tm="0">
                                          <p:val>
                                            <p:strVal val="#ppt_y+.08"/>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700"/>
                                        <p:tgtEl>
                                          <p:spTgt spid="15"/>
                                        </p:tgtEl>
                                      </p:cBhvr>
                                    </p:animEffect>
                                    <p:anim calcmode="lin" valueType="num">
                                      <p:cBhvr additive="base">
                                        <p:cTn id="52" dur="700" fill="hold"/>
                                        <p:tgtEl>
                                          <p:spTgt spid="15"/>
                                        </p:tgtEl>
                                        <p:attrNameLst>
                                          <p:attrName>ppt_y</p:attrName>
                                        </p:attrNameLst>
                                      </p:cBhvr>
                                      <p:tavLst>
                                        <p:tav tm="0">
                                          <p:val>
                                            <p:strVal val="#ppt_y+.08"/>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700"/>
                                        <p:tgtEl>
                                          <p:spTgt spid="16"/>
                                        </p:tgtEl>
                                      </p:cBhvr>
                                    </p:animEffect>
                                    <p:anim calcmode="lin" valueType="num">
                                      <p:cBhvr additive="base">
                                        <p:cTn id="56" dur="700" fill="hold"/>
                                        <p:tgtEl>
                                          <p:spTgt spid="16"/>
                                        </p:tgtEl>
                                        <p:attrNameLst>
                                          <p:attrName>ppt_y</p:attrName>
                                        </p:attrNameLst>
                                      </p:cBhvr>
                                      <p:tavLst>
                                        <p:tav tm="0">
                                          <p:val>
                                            <p:strVal val="#ppt_y+.08"/>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700"/>
                                        <p:tgtEl>
                                          <p:spTgt spid="17"/>
                                        </p:tgtEl>
                                      </p:cBhvr>
                                    </p:animEffect>
                                    <p:anim calcmode="lin" valueType="num">
                                      <p:cBhvr additive="base">
                                        <p:cTn id="60" dur="700" fill="hold"/>
                                        <p:tgtEl>
                                          <p:spTgt spid="17"/>
                                        </p:tgtEl>
                                        <p:attrNameLst>
                                          <p:attrName>ppt_y</p:attrName>
                                        </p:attrNameLst>
                                      </p:cBhvr>
                                      <p:tavLst>
                                        <p:tav tm="0">
                                          <p:val>
                                            <p:strVal val="#ppt_y+.08"/>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700"/>
                                        <p:tgtEl>
                                          <p:spTgt spid="18"/>
                                        </p:tgtEl>
                                      </p:cBhvr>
                                    </p:animEffect>
                                    <p:anim calcmode="lin" valueType="num">
                                      <p:cBhvr additive="base">
                                        <p:cTn id="64" dur="700" fill="hold"/>
                                        <p:tgtEl>
                                          <p:spTgt spid="18"/>
                                        </p:tgtEl>
                                        <p:attrNameLst>
                                          <p:attrName>ppt_y</p:attrName>
                                        </p:attrNameLst>
                                      </p:cBhvr>
                                      <p:tavLst>
                                        <p:tav tm="0">
                                          <p:val>
                                            <p:strVal val="#ppt_y+.08"/>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75" presetID="23" presetClass="entr" presetSubtype="16"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animScale>
                                      <p:cBhvr>
                                        <p:cTn id="77" dur="500" fill="hold"/>
                                        <p:tgtEl>
                                          <p:spTgt spid="21"/>
                                        </p:tgtEl>
                                      </p:cBhvr>
                                      <p:from x="0" y="0"/>
                                      <p:to x="100000" y="100000"/>
                                    </p:animScale>
                                    <p:animEffect transition="in" filter="fade">
                                      <p:cBhvr>
                                        <p:cTn id="78" dur="500"/>
                                        <p:tgtEl>
                                          <p:spTgt spid="21"/>
                                        </p:tgtEl>
                                      </p:cBhvr>
                                    </p:animEffect>
                                  </p:childTnLst>
                                </p:cTn>
                              </p:par>
                              <p:par>
                                <p:cTn id="79" presetID="23" presetClass="entr" presetSubtype="16"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animScale>
                                      <p:cBhvr>
                                        <p:cTn id="81" dur="500" fill="hold"/>
                                        <p:tgtEl>
                                          <p:spTgt spid="22"/>
                                        </p:tgtEl>
                                      </p:cBhvr>
                                      <p:from x="0" y="0"/>
                                      <p:to x="100000" y="100000"/>
                                    </p:animScale>
                                    <p:animEffect transition="in" filter="fade">
                                      <p:cBhvr>
                                        <p:cTn id="8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46695"/>
          </a:xfrm>
          <a:prstGeom prst="rect">
            <a:avLst/>
          </a:prstGeom>
          <a:noFill/>
          <a:ln/>
        </p:spPr>
        <p:txBody>
          <a:bodyPr wrap="none" lIns="0" tIns="0" rIns="0" bIns="0" rtlCol="0" anchor="ctr"/>
          <a:lstStyle/>
          <a:p>
            <a:pPr algn="l" indent="0" marL="0">
              <a:lnSpc>
                <a:spcPts val="2730"/>
              </a:lnSpc>
              <a:buNone/>
            </a:pPr>
            <a:r>
              <a:rPr lang="en-US" sz="2100" b="1" dirty="0">
                <a:solidFill>
                  <a:srgbClr val="37352F"/>
                </a:solidFill>
                <a:latin typeface="Noto Sans Thai" pitchFamily="34" charset="0"/>
                <a:ea typeface="Noto Sans Thai" pitchFamily="34" charset="-122"/>
                <a:cs typeface="Noto Sans Thai" pitchFamily="34" charset="-120"/>
              </a:rPr>
              <a:t>บทที่ 1: Coffee Beans &amp; Seattle Roots</a:t>
            </a:r>
            <a:endParaRPr lang="en-US" sz="2100" dirty="0"/>
          </a:p>
        </p:txBody>
      </p:sp>
      <p:sp>
        <p:nvSpPr>
          <p:cNvPr id="3" name="static"/>
          <p:cNvSpPr txBox="1"/>
          <p:nvPr/>
        </p:nvSpPr>
        <p:spPr>
          <a:xfrm>
            <a:off x="609600" y="1222995"/>
            <a:ext cx="6686550" cy="228600"/>
          </a:xfrm>
          <a:prstGeom prst="rect">
            <a:avLst/>
          </a:prstGeom>
          <a:noFill/>
          <a:ln/>
        </p:spPr>
        <p:txBody>
          <a:bodyPr wrap="none" lIns="0" tIns="0" rIns="0" bIns="0" rtlCol="0" anchor="ctr"/>
          <a:lstStyle/>
          <a:p>
            <a:pPr algn="l" indent="0" marL="0">
              <a:lnSpc>
                <a:spcPts val="1800"/>
              </a:lnSpc>
              <a:buNone/>
            </a:pPr>
            <a:r>
              <a:rPr lang="en-US" sz="1200" dirty="0">
                <a:solidFill>
                  <a:srgbClr val="37352F"/>
                </a:solidFill>
                <a:latin typeface="Noto Sans Thai" pitchFamily="34" charset="0"/>
                <a:ea typeface="Noto Sans Thai" pitchFamily="34" charset="-122"/>
                <a:cs typeface="Noto Sans Thai" pitchFamily="34" charset="-120"/>
              </a:rPr>
              <a:t>ก่อนยุค Latte: ร้านขายเมล็ดกาแฟและเครื่องเทศระดับ High-End</a:t>
            </a:r>
            <a:endParaRPr lang="en-US" sz="1200"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Part 1 · รากฐานและจุดกำเนิดของแบรนด์</a:t>
            </a:r>
            <a:endParaRPr lang="en-US" sz="825" dirty="0"/>
          </a:p>
        </p:txBody>
      </p:sp>
      <p:sp>
        <p:nvSpPr>
          <p:cNvPr id="5" name="!!tkey1-1"/>
          <p:cNvSpPr/>
          <p:nvPr/>
        </p:nvSpPr>
        <p:spPr>
          <a:xfrm>
            <a:off x="6438900" y="419100"/>
            <a:ext cx="2095500" cy="266700"/>
          </a:xfrm>
          <a:prstGeom prst="roundRect">
            <a:avLst>
              <a:gd name="adj" fmla="val 10714"/>
            </a:avLst>
          </a:prstGeom>
          <a:solidFill>
            <a:srgbClr val="FDECC8"/>
          </a:solidFill>
          <a:ln/>
        </p:spPr>
      </p:sp>
      <p:sp>
        <p:nvSpPr>
          <p:cNvPr id="6" name="!!tkey1-2"/>
          <p:cNvSpPr txBox="1"/>
          <p:nvPr/>
        </p:nvSpPr>
        <p:spPr>
          <a:xfrm>
            <a:off x="6438900" y="4191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1971 · Pike Place, Seattle</a:t>
            </a:r>
            <a:endParaRPr lang="en-US" sz="900" dirty="0"/>
          </a:p>
        </p:txBody>
      </p:sp>
      <p:sp>
        <p:nvSpPr>
          <p:cNvPr id="7" name="b1:rise"/>
          <p:cNvSpPr/>
          <p:nvPr/>
        </p:nvSpPr>
        <p:spPr>
          <a:xfrm>
            <a:off x="609600" y="1676400"/>
            <a:ext cx="3848100" cy="1809750"/>
          </a:xfrm>
          <a:prstGeom prst="roundRect">
            <a:avLst>
              <a:gd name="adj" fmla="val 2105"/>
            </a:avLst>
          </a:prstGeom>
          <a:solidFill>
            <a:srgbClr val="FFFFFF"/>
          </a:solidFill>
          <a:ln w="6350">
            <a:solidFill>
              <a:srgbClr val="E9E9E7"/>
            </a:solidFill>
            <a:prstDash val="solid"/>
          </a:ln>
        </p:spPr>
      </p:sp>
      <p:sp>
        <p:nvSpPr>
          <p:cNvPr id="8" name="b1:rise"/>
          <p:cNvSpPr txBox="1"/>
          <p:nvPr/>
        </p:nvSpPr>
        <p:spPr>
          <a:xfrm>
            <a:off x="804862" y="1871663"/>
            <a:ext cx="256773" cy="247650"/>
          </a:xfrm>
          <a:prstGeom prst="rect">
            <a:avLst/>
          </a:prstGeom>
          <a:noFill/>
          <a:ln/>
        </p:spPr>
        <p:txBody>
          <a:bodyPr wrap="none" lIns="0" tIns="0" rIns="0" bIns="0" rtlCol="0" anchor="ctr"/>
          <a:lstStyle/>
          <a:p>
            <a:pPr algn="l" indent="0" marL="0">
              <a:lnSpc>
                <a:spcPts val="1950"/>
              </a:lnSpc>
              <a:buNone/>
            </a:pPr>
            <a:r>
              <a:rPr lang="en-US" sz="1500" dirty="0">
                <a:solidFill>
                  <a:srgbClr val="37352F"/>
                </a:solidFill>
                <a:latin typeface="Noto Sans Thai" pitchFamily="34" charset="0"/>
                <a:ea typeface="Noto Sans Thai" pitchFamily="34" charset="-122"/>
                <a:cs typeface="Noto Sans Thai" pitchFamily="34" charset="-120"/>
              </a:rPr>
              <a:t>👥</a:t>
            </a:r>
            <a:endParaRPr lang="en-US" sz="1500" dirty="0"/>
          </a:p>
        </p:txBody>
      </p:sp>
      <p:sp>
        <p:nvSpPr>
          <p:cNvPr id="9" name="b1:rise"/>
          <p:cNvSpPr txBox="1"/>
          <p:nvPr/>
        </p:nvSpPr>
        <p:spPr>
          <a:xfrm>
            <a:off x="1118815" y="1922115"/>
            <a:ext cx="929848"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ผู้ก่อตั้ง &amp; Mission</a:t>
            </a:r>
            <a:endParaRPr lang="en-US" sz="825" dirty="0"/>
          </a:p>
        </p:txBody>
      </p:sp>
      <p:sp>
        <p:nvSpPr>
          <p:cNvPr id="10" name="b1:rise"/>
          <p:cNvSpPr txBox="1"/>
          <p:nvPr/>
        </p:nvSpPr>
        <p:spPr>
          <a:xfrm>
            <a:off x="804862" y="2214563"/>
            <a:ext cx="3734181" cy="146670"/>
          </a:xfrm>
          <a:prstGeom prst="rect">
            <a:avLst/>
          </a:prstGeom>
          <a:noFill/>
          <a:ln/>
        </p:spPr>
        <p:txBody>
          <a:bodyPr wrap="none" lIns="0" tIns="0" rIns="0" bIns="0" rtlCol="0" anchor="ctr"/>
          <a:lstStyle/>
          <a:p>
            <a:pPr algn="l" indent="0" marL="0">
              <a:lnSpc>
                <a:spcPts val="1155"/>
              </a:lnSpc>
              <a:buNone/>
            </a:pPr>
            <a:r>
              <a:rPr lang="en-US" sz="825" dirty="0">
                <a:solidFill>
                  <a:srgbClr val="787774"/>
                </a:solidFill>
                <a:latin typeface="Noto Sans Thai" pitchFamily="34" charset="0"/>
                <a:ea typeface="Noto Sans Thai" pitchFamily="34" charset="-122"/>
                <a:cs typeface="Noto Sans Thai" pitchFamily="34" charset="-120"/>
              </a:rPr>
              <a:t>ก่อตั้งโดย</a:t>
            </a:r>
            <a:endParaRPr lang="en-US" sz="825" dirty="0"/>
          </a:p>
        </p:txBody>
      </p:sp>
      <p:sp>
        <p:nvSpPr>
          <p:cNvPr id="11" name="b1:rise"/>
          <p:cNvSpPr/>
          <p:nvPr/>
        </p:nvSpPr>
        <p:spPr>
          <a:xfrm>
            <a:off x="804862" y="2399333"/>
            <a:ext cx="1034653" cy="262830"/>
          </a:xfrm>
          <a:prstGeom prst="roundRect">
            <a:avLst>
              <a:gd name="adj" fmla="val 10872"/>
            </a:avLst>
          </a:prstGeom>
          <a:solidFill>
            <a:srgbClr val="E3E2E0"/>
          </a:solidFill>
          <a:ln/>
        </p:spPr>
      </p:sp>
      <p:sp>
        <p:nvSpPr>
          <p:cNvPr id="12" name="b1:rise"/>
          <p:cNvSpPr txBox="1"/>
          <p:nvPr/>
        </p:nvSpPr>
        <p:spPr>
          <a:xfrm>
            <a:off x="804862" y="2399333"/>
            <a:ext cx="1117425"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32302C"/>
                </a:solidFill>
                <a:latin typeface="Noto Sans Thai" pitchFamily="34" charset="0"/>
                <a:ea typeface="Noto Sans Thai" pitchFamily="34" charset="-122"/>
                <a:cs typeface="Noto Sans Thai" pitchFamily="34" charset="-120"/>
              </a:rPr>
              <a:t>Jerry Baldwin</a:t>
            </a:r>
            <a:endParaRPr lang="en-US" sz="1050" dirty="0"/>
          </a:p>
        </p:txBody>
      </p:sp>
      <p:sp>
        <p:nvSpPr>
          <p:cNvPr id="13" name="b1:rise"/>
          <p:cNvSpPr/>
          <p:nvPr/>
        </p:nvSpPr>
        <p:spPr>
          <a:xfrm>
            <a:off x="1896666" y="2399333"/>
            <a:ext cx="750317" cy="262830"/>
          </a:xfrm>
          <a:prstGeom prst="roundRect">
            <a:avLst>
              <a:gd name="adj" fmla="val 10872"/>
            </a:avLst>
          </a:prstGeom>
          <a:solidFill>
            <a:srgbClr val="E3E2E0"/>
          </a:solidFill>
          <a:ln/>
        </p:spPr>
      </p:sp>
      <p:sp>
        <p:nvSpPr>
          <p:cNvPr id="14" name="b1:rise"/>
          <p:cNvSpPr txBox="1"/>
          <p:nvPr/>
        </p:nvSpPr>
        <p:spPr>
          <a:xfrm>
            <a:off x="1896666" y="2399333"/>
            <a:ext cx="810342"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32302C"/>
                </a:solidFill>
                <a:latin typeface="Noto Sans Thai" pitchFamily="34" charset="0"/>
                <a:ea typeface="Noto Sans Thai" pitchFamily="34" charset="-122"/>
                <a:cs typeface="Noto Sans Thai" pitchFamily="34" charset="-120"/>
              </a:rPr>
              <a:t>Zev Siegl</a:t>
            </a:r>
            <a:endParaRPr lang="en-US" sz="1050" dirty="0"/>
          </a:p>
        </p:txBody>
      </p:sp>
      <p:sp>
        <p:nvSpPr>
          <p:cNvPr id="15" name="b1:rise"/>
          <p:cNvSpPr/>
          <p:nvPr/>
        </p:nvSpPr>
        <p:spPr>
          <a:xfrm>
            <a:off x="2704133" y="2399333"/>
            <a:ext cx="1186383" cy="262830"/>
          </a:xfrm>
          <a:prstGeom prst="roundRect">
            <a:avLst>
              <a:gd name="adj" fmla="val 10872"/>
            </a:avLst>
          </a:prstGeom>
          <a:solidFill>
            <a:srgbClr val="E3E2E0"/>
          </a:solidFill>
          <a:ln/>
        </p:spPr>
      </p:sp>
      <p:sp>
        <p:nvSpPr>
          <p:cNvPr id="16" name="b1:rise"/>
          <p:cNvSpPr txBox="1"/>
          <p:nvPr/>
        </p:nvSpPr>
        <p:spPr>
          <a:xfrm>
            <a:off x="2704133" y="2399333"/>
            <a:ext cx="1281294"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32302C"/>
                </a:solidFill>
                <a:latin typeface="Noto Sans Thai" pitchFamily="34" charset="0"/>
                <a:ea typeface="Noto Sans Thai" pitchFamily="34" charset="-122"/>
                <a:cs typeface="Noto Sans Thai" pitchFamily="34" charset="-120"/>
              </a:rPr>
              <a:t>Gordon Bowker</a:t>
            </a:r>
            <a:endParaRPr lang="en-US" sz="1050" dirty="0"/>
          </a:p>
        </p:txBody>
      </p:sp>
      <p:sp>
        <p:nvSpPr>
          <p:cNvPr id="17" name="b1:rise"/>
          <p:cNvSpPr txBox="1"/>
          <p:nvPr/>
        </p:nvSpPr>
        <p:spPr>
          <a:xfrm>
            <a:off x="804862" y="2757413"/>
            <a:ext cx="3734181" cy="146670"/>
          </a:xfrm>
          <a:prstGeom prst="rect">
            <a:avLst/>
          </a:prstGeom>
          <a:noFill/>
          <a:ln/>
        </p:spPr>
        <p:txBody>
          <a:bodyPr wrap="none" lIns="0" tIns="0" rIns="0" bIns="0" rtlCol="0" anchor="ctr"/>
          <a:lstStyle/>
          <a:p>
            <a:pPr algn="l" indent="0" marL="0">
              <a:lnSpc>
                <a:spcPts val="1155"/>
              </a:lnSpc>
              <a:buNone/>
            </a:pPr>
            <a:r>
              <a:rPr lang="en-US" sz="825" dirty="0">
                <a:solidFill>
                  <a:srgbClr val="787774"/>
                </a:solidFill>
                <a:latin typeface="Noto Sans Thai" pitchFamily="34" charset="0"/>
                <a:ea typeface="Noto Sans Thai" pitchFamily="34" charset="-122"/>
                <a:cs typeface="Noto Sans Thai" pitchFamily="34" charset="-120"/>
              </a:rPr>
              <a:t>Mission</a:t>
            </a:r>
            <a:endParaRPr lang="en-US" sz="825" dirty="0"/>
          </a:p>
        </p:txBody>
      </p:sp>
      <p:sp>
        <p:nvSpPr>
          <p:cNvPr id="18" name="b1:rise"/>
          <p:cNvSpPr txBox="1"/>
          <p:nvPr/>
        </p:nvSpPr>
        <p:spPr>
          <a:xfrm>
            <a:off x="804862" y="2942183"/>
            <a:ext cx="3734181" cy="199281"/>
          </a:xfrm>
          <a:prstGeom prst="rect">
            <a:avLst/>
          </a:prstGeom>
          <a:noFill/>
          <a:ln/>
        </p:spPr>
        <p:txBody>
          <a:bodyPr wrap="none" lIns="0" tIns="0" rIns="0" bIns="0" rtlCol="0" anchor="ctr"/>
          <a:lstStyle/>
          <a:p>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สอนให้คนอเมริกันชงกาแฟ </a:t>
            </a:r>
            <a:pPr algn="l" indent="0" marL="0">
              <a:lnSpc>
                <a:spcPts val="1569"/>
              </a:lnSpc>
              <a:buNone/>
            </a:pPr>
            <a:r>
              <a:rPr lang="en-US" sz="1013" b="1" dirty="0">
                <a:solidFill>
                  <a:srgbClr val="37352F"/>
                </a:solidFill>
                <a:latin typeface="Noto Sans Thai" pitchFamily="34" charset="0"/>
                <a:ea typeface="Noto Sans Thai" pitchFamily="34" charset="-122"/>
                <a:cs typeface="Noto Sans Thai" pitchFamily="34" charset="-120"/>
              </a:rPr>
              <a:t>Dark Roast</a:t>
            </a:r>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 ชั้นดีได้เองที่บ้าน</a:t>
            </a:r>
            <a:endParaRPr lang="en-US" sz="1013" dirty="0"/>
          </a:p>
        </p:txBody>
      </p:sp>
      <p:sp>
        <p:nvSpPr>
          <p:cNvPr id="19" name="b2:rise"/>
          <p:cNvSpPr/>
          <p:nvPr/>
        </p:nvSpPr>
        <p:spPr>
          <a:xfrm>
            <a:off x="4686300" y="1676400"/>
            <a:ext cx="3848100" cy="1809750"/>
          </a:xfrm>
          <a:prstGeom prst="roundRect">
            <a:avLst>
              <a:gd name="adj" fmla="val 2105"/>
            </a:avLst>
          </a:prstGeom>
          <a:solidFill>
            <a:srgbClr val="FFFFFF"/>
          </a:solidFill>
          <a:ln w="6350">
            <a:solidFill>
              <a:srgbClr val="E9E9E7"/>
            </a:solidFill>
            <a:prstDash val="solid"/>
          </a:ln>
        </p:spPr>
      </p:sp>
      <p:sp>
        <p:nvSpPr>
          <p:cNvPr id="20" name="b2:rise"/>
          <p:cNvSpPr txBox="1"/>
          <p:nvPr/>
        </p:nvSpPr>
        <p:spPr>
          <a:xfrm>
            <a:off x="4881562" y="1871663"/>
            <a:ext cx="2355723"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ตำนาน Siren</a:t>
            </a:r>
            <a:endParaRPr lang="en-US" sz="825" dirty="0"/>
          </a:p>
        </p:txBody>
      </p:sp>
      <p:sp>
        <p:nvSpPr>
          <p:cNvPr id="21" name="b2:rise"/>
          <p:cNvSpPr txBox="1"/>
          <p:nvPr/>
        </p:nvSpPr>
        <p:spPr>
          <a:xfrm>
            <a:off x="4881562" y="2113583"/>
            <a:ext cx="2355723" cy="146670"/>
          </a:xfrm>
          <a:prstGeom prst="rect">
            <a:avLst/>
          </a:prstGeom>
          <a:noFill/>
          <a:ln/>
        </p:spPr>
        <p:txBody>
          <a:bodyPr wrap="none" lIns="0" tIns="0" rIns="0" bIns="0" rtlCol="0" anchor="ctr"/>
          <a:lstStyle/>
          <a:p>
            <a:pPr algn="l" indent="0" marL="0">
              <a:lnSpc>
                <a:spcPts val="1155"/>
              </a:lnSpc>
              <a:buNone/>
            </a:pPr>
            <a:r>
              <a:rPr lang="en-US" sz="825" dirty="0">
                <a:solidFill>
                  <a:srgbClr val="787774"/>
                </a:solidFill>
                <a:latin typeface="Noto Sans Thai" pitchFamily="34" charset="0"/>
                <a:ea typeface="Noto Sans Thai" pitchFamily="34" charset="-122"/>
                <a:cs typeface="Noto Sans Thai" pitchFamily="34" charset="-120"/>
              </a:rPr>
              <a:t>แรงบันดาลใจจาก</a:t>
            </a:r>
            <a:endParaRPr lang="en-US" sz="825" dirty="0"/>
          </a:p>
        </p:txBody>
      </p:sp>
      <p:sp>
        <p:nvSpPr>
          <p:cNvPr id="22" name="b2:rise"/>
          <p:cNvSpPr txBox="1"/>
          <p:nvPr/>
        </p:nvSpPr>
        <p:spPr>
          <a:xfrm>
            <a:off x="4881562" y="2298353"/>
            <a:ext cx="2268474" cy="426690"/>
          </a:xfrm>
          <a:prstGeom prst="rect">
            <a:avLst/>
          </a:prstGeom>
          <a:noFill/>
          <a:ln/>
        </p:spPr>
        <p:txBody>
          <a:bodyPr wrap="square" lIns="0" tIns="0" rIns="0" bIns="0" rtlCol="0" anchor="t"/>
          <a:lstStyle/>
          <a:p>
            <a:pPr algn="l" indent="0" marL="0">
              <a:lnSpc>
                <a:spcPts val="1680"/>
              </a:lnSpc>
              <a:buNone/>
            </a:pPr>
            <a:r>
              <a:rPr lang="en-US" sz="1200" b="1" dirty="0">
                <a:solidFill>
                  <a:srgbClr val="37352F"/>
                </a:solidFill>
                <a:latin typeface="Noto Sans Thai" pitchFamily="34" charset="0"/>
                <a:ea typeface="Noto Sans Thai" pitchFamily="34" charset="-122"/>
                <a:cs typeface="Noto Sans Thai" pitchFamily="34" charset="-120"/>
              </a:rPr>
              <a:t>ภาพแกะไม้ Siren แบบ Norse สมัยศตวรรษที่ 16</a:t>
            </a:r>
            <a:endParaRPr lang="en-US" sz="1200" dirty="0"/>
          </a:p>
        </p:txBody>
      </p:sp>
      <p:sp>
        <p:nvSpPr>
          <p:cNvPr id="23" name="b2:rise"/>
          <p:cNvSpPr txBox="1"/>
          <p:nvPr/>
        </p:nvSpPr>
        <p:spPr>
          <a:xfrm>
            <a:off x="4881562" y="2820293"/>
            <a:ext cx="54167" cy="186630"/>
          </a:xfrm>
          <a:prstGeom prst="rect">
            <a:avLst/>
          </a:prstGeom>
          <a:noFill/>
          <a:ln/>
        </p:spPr>
        <p:txBody>
          <a:bodyPr wrap="none" lIns="0" tIns="0" rIns="0" bIns="0" rtlCol="0" anchor="ctr"/>
          <a:lstStyle/>
          <a:p>
            <a:pPr algn="l" indent="0" marL="0">
              <a:lnSpc>
                <a:spcPts val="1470"/>
              </a:lnSpc>
              <a:buNone/>
            </a:pPr>
            <a:r>
              <a:rPr lang="en-US" sz="1050" dirty="0">
                <a:solidFill>
                  <a:srgbClr val="37352F"/>
                </a:solidFill>
                <a:latin typeface="Noto Sans Thai" pitchFamily="34" charset="0"/>
                <a:ea typeface="Noto Sans Thai" pitchFamily="34" charset="-122"/>
                <a:cs typeface="Noto Sans Thai" pitchFamily="34" charset="-120"/>
              </a:rPr>
              <a:t>•</a:t>
            </a:r>
            <a:endParaRPr lang="en-US" sz="1050" dirty="0"/>
          </a:p>
        </p:txBody>
      </p:sp>
      <p:sp>
        <p:nvSpPr>
          <p:cNvPr id="24" name="b2:rise"/>
          <p:cNvSpPr txBox="1"/>
          <p:nvPr/>
        </p:nvSpPr>
        <p:spPr>
          <a:xfrm>
            <a:off x="4998393" y="2820293"/>
            <a:ext cx="2229547" cy="186630"/>
          </a:xfrm>
          <a:prstGeom prst="rect">
            <a:avLst/>
          </a:prstGeom>
          <a:noFill/>
          <a:ln/>
        </p:spPr>
        <p:txBody>
          <a:bodyPr wrap="none" lIns="0" tIns="0" rIns="0" bIns="0" rtlCol="0" anchor="ctr"/>
          <a:lstStyle/>
          <a:p>
            <a:pPr algn="l" indent="0" marL="0">
              <a:lnSpc>
                <a:spcPts val="1470"/>
              </a:lnSpc>
              <a:buNone/>
            </a:pPr>
            <a:r>
              <a:rPr lang="en-US" sz="1050" dirty="0">
                <a:solidFill>
                  <a:srgbClr val="37352F"/>
                </a:solidFill>
                <a:latin typeface="Noto Sans Thai" pitchFamily="34" charset="0"/>
                <a:ea typeface="Noto Sans Thai" pitchFamily="34" charset="-122"/>
                <a:cs typeface="Noto Sans Thai" pitchFamily="34" charset="-120"/>
              </a:rPr>
              <a:t>ประเพณีการเดินเรือของ Seattle</a:t>
            </a:r>
            <a:endParaRPr lang="en-US" sz="1050" dirty="0"/>
          </a:p>
        </p:txBody>
      </p:sp>
      <p:sp>
        <p:nvSpPr>
          <p:cNvPr id="25" name="b2:rise"/>
          <p:cNvSpPr txBox="1"/>
          <p:nvPr/>
        </p:nvSpPr>
        <p:spPr>
          <a:xfrm>
            <a:off x="4881562" y="3054548"/>
            <a:ext cx="54167" cy="186630"/>
          </a:xfrm>
          <a:prstGeom prst="rect">
            <a:avLst/>
          </a:prstGeom>
          <a:noFill/>
          <a:ln/>
        </p:spPr>
        <p:txBody>
          <a:bodyPr wrap="none" lIns="0" tIns="0" rIns="0" bIns="0" rtlCol="0" anchor="ctr"/>
          <a:lstStyle/>
          <a:p>
            <a:pPr algn="l" indent="0" marL="0">
              <a:lnSpc>
                <a:spcPts val="1470"/>
              </a:lnSpc>
              <a:buNone/>
            </a:pPr>
            <a:r>
              <a:rPr lang="en-US" sz="1050" dirty="0">
                <a:solidFill>
                  <a:srgbClr val="37352F"/>
                </a:solidFill>
                <a:latin typeface="Noto Sans Thai" pitchFamily="34" charset="0"/>
                <a:ea typeface="Noto Sans Thai" pitchFamily="34" charset="-122"/>
                <a:cs typeface="Noto Sans Thai" pitchFamily="34" charset="-120"/>
              </a:rPr>
              <a:t>•</a:t>
            </a:r>
            <a:endParaRPr lang="en-US" sz="1050" dirty="0"/>
          </a:p>
        </p:txBody>
      </p:sp>
      <p:sp>
        <p:nvSpPr>
          <p:cNvPr id="26" name="b2:rise"/>
          <p:cNvSpPr txBox="1"/>
          <p:nvPr/>
        </p:nvSpPr>
        <p:spPr>
          <a:xfrm>
            <a:off x="4998393" y="3054548"/>
            <a:ext cx="2229547" cy="186630"/>
          </a:xfrm>
          <a:prstGeom prst="rect">
            <a:avLst/>
          </a:prstGeom>
          <a:noFill/>
          <a:ln/>
        </p:spPr>
        <p:txBody>
          <a:bodyPr wrap="none" lIns="0" tIns="0" rIns="0" bIns="0" rtlCol="0" anchor="ctr"/>
          <a:lstStyle/>
          <a:p>
            <a:pPr algn="l" indent="0" marL="0">
              <a:lnSpc>
                <a:spcPts val="1470"/>
              </a:lnSpc>
              <a:buNone/>
            </a:pPr>
            <a:r>
              <a:rPr lang="en-US" sz="1050" dirty="0">
                <a:solidFill>
                  <a:srgbClr val="37352F"/>
                </a:solidFill>
                <a:latin typeface="Noto Sans Thai" pitchFamily="34" charset="0"/>
                <a:ea typeface="Noto Sans Thai" pitchFamily="34" charset="-122"/>
                <a:cs typeface="Noto Sans Thai" pitchFamily="34" charset="-120"/>
              </a:rPr>
              <a:t>เสน่ห์ของกาแฟชั้นดีที่ยากจะต้านทาน</a:t>
            </a:r>
            <a:endParaRPr lang="en-US" sz="1050" dirty="0"/>
          </a:p>
        </p:txBody>
      </p:sp>
      <p:pic>
        <p:nvPicPr>
          <p:cNvPr id="27" name="b2:rise (Starbucks siren logo)" descr="/home/user/slide-present-en/starbucks-presentation/assets/starbucks-logo.png">    </p:cNvPr>
          <p:cNvPicPr>
            <a:picLocks noChangeAspect="1"/>
          </p:cNvPicPr>
          <p:nvPr/>
        </p:nvPicPr>
        <p:blipFill>
          <a:blip r:embed="rId1"/>
          <a:stretch>
            <a:fillRect/>
          </a:stretch>
        </p:blipFill>
        <p:spPr>
          <a:xfrm>
            <a:off x="7219950" y="2033587"/>
            <a:ext cx="1095375" cy="1095375"/>
          </a:xfrm>
          <a:prstGeom prst="rect">
            <a:avLst/>
          </a:prstGeom>
        </p:spPr>
      </p:pic>
      <p:sp>
        <p:nvSpPr>
          <p:cNvPr id="28" name="b3:fade"/>
          <p:cNvSpPr/>
          <p:nvPr/>
        </p:nvSpPr>
        <p:spPr>
          <a:xfrm>
            <a:off x="609600" y="3790950"/>
            <a:ext cx="7924800" cy="402431"/>
          </a:xfrm>
          <a:prstGeom prst="roundRect">
            <a:avLst>
              <a:gd name="adj" fmla="val 9467"/>
            </a:avLst>
          </a:prstGeom>
          <a:solidFill>
            <a:srgbClr val="F1F1EF"/>
          </a:solidFill>
          <a:ln/>
        </p:spPr>
      </p:sp>
      <p:sp>
        <p:nvSpPr>
          <p:cNvPr id="29" name="b3:fade"/>
          <p:cNvSpPr txBox="1"/>
          <p:nvPr/>
        </p:nvSpPr>
        <p:spPr>
          <a:xfrm>
            <a:off x="762000" y="3899297"/>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Noto Sans Thai" pitchFamily="34" charset="0"/>
                <a:ea typeface="Noto Sans Thai" pitchFamily="34" charset="-122"/>
                <a:cs typeface="Noto Sans Thai" pitchFamily="34" charset="-120"/>
              </a:rPr>
              <a:t>➡️</a:t>
            </a:r>
            <a:endParaRPr lang="en-US" sz="1125" dirty="0"/>
          </a:p>
        </p:txBody>
      </p:sp>
      <p:sp>
        <p:nvSpPr>
          <p:cNvPr id="30" name="b3:fade"/>
          <p:cNvSpPr txBox="1"/>
          <p:nvPr/>
        </p:nvSpPr>
        <p:spPr>
          <a:xfrm>
            <a:off x="1054596" y="3895725"/>
            <a:ext cx="7913596" cy="192881"/>
          </a:xfrm>
          <a:prstGeom prst="rect">
            <a:avLst/>
          </a:prstGeom>
          <a:noFill/>
          <a:ln/>
        </p:spPr>
        <p:txBody>
          <a:bodyPr wrap="none" lIns="0" tIns="0" rIns="0" bIns="0" rtlCol="0" anchor="ctr"/>
          <a:lstStyle/>
          <a:p>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เวทีพร้อมแล้ว แต่ Starbucks ยังขาดส่วนผสมวิเศษที่สำคัญที่สุด… จนกระทั่งปี </a:t>
            </a:r>
            <a:pPr algn="l" indent="0" marL="0">
              <a:lnSpc>
                <a:spcPts val="1519"/>
              </a:lnSpc>
              <a:buNone/>
            </a:pPr>
            <a:r>
              <a:rPr lang="en-US" sz="1013" b="1" dirty="0">
                <a:solidFill>
                  <a:srgbClr val="448361"/>
                </a:solidFill>
                <a:latin typeface="Noto Sans Thai" pitchFamily="34" charset="0"/>
                <a:ea typeface="Noto Sans Thai" pitchFamily="34" charset="-122"/>
                <a:cs typeface="Noto Sans Thai" pitchFamily="34" charset="-120"/>
              </a:rPr>
              <a:t>1983</a:t>
            </a:r>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 กับทริปไป </a:t>
            </a:r>
            <a:pPr algn="l" indent="0" marL="0">
              <a:lnSpc>
                <a:spcPts val="1519"/>
              </a:lnSpc>
              <a:buNone/>
            </a:pPr>
            <a:r>
              <a:rPr lang="en-US" sz="1013" b="1" dirty="0">
                <a:solidFill>
                  <a:srgbClr val="448361"/>
                </a:solidFill>
                <a:latin typeface="Noto Sans Thai" pitchFamily="34" charset="0"/>
                <a:ea typeface="Noto Sans Thai" pitchFamily="34" charset="-122"/>
                <a:cs typeface="Noto Sans Thai" pitchFamily="34" charset="-120"/>
              </a:rPr>
              <a:t>Milan</a:t>
            </a:r>
            <a:endParaRPr lang="en-US" sz="1013" dirty="0"/>
          </a:p>
        </p:txBody>
      </p:sp>
      <p:sp>
        <p:nvSpPr>
          <p:cNvPr id="31" name="!!tkey2-1"/>
          <p:cNvSpPr/>
          <p:nvPr/>
        </p:nvSpPr>
        <p:spPr>
          <a:xfrm>
            <a:off x="6438900" y="4572000"/>
            <a:ext cx="2095500" cy="266700"/>
          </a:xfrm>
          <a:prstGeom prst="roundRect">
            <a:avLst>
              <a:gd name="adj" fmla="val 10714"/>
            </a:avLst>
          </a:prstGeom>
          <a:solidFill>
            <a:srgbClr val="FDECC8"/>
          </a:solidFill>
          <a:ln/>
        </p:spPr>
      </p:sp>
      <p:sp>
        <p:nvSpPr>
          <p:cNvPr id="32" name="!!tkey2-2"/>
          <p:cNvSpPr txBox="1"/>
          <p:nvPr/>
        </p:nvSpPr>
        <p:spPr>
          <a:xfrm>
            <a:off x="6438900" y="45720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1983 · ทริปไป Milan</a:t>
            </a:r>
            <a:endParaRPr lang="en-US" sz="900" dirty="0"/>
          </a:p>
        </p:txBody>
      </p:sp>
      <p:sp>
        <p:nvSpPr>
          <p:cNvPr id="33" name="static"/>
          <p:cNvSpPr txBox="1"/>
          <p:nvPr/>
        </p:nvSpPr>
        <p:spPr>
          <a:xfrm>
            <a:off x="609600" y="4667250"/>
            <a:ext cx="2582987" cy="171450"/>
          </a:xfrm>
          <a:prstGeom prst="rect">
            <a:avLst/>
          </a:prstGeom>
          <a:noFill/>
          <a:ln/>
        </p:spPr>
        <p:txBody>
          <a:bodyPr wrap="none" lIns="0" tIns="0" rIns="0" bIns="0" rtlCol="0" anchor="ctr"/>
          <a:lstStyle/>
          <a:p>
            <a:pPr algn="l" indent="0" marL="0">
              <a:lnSpc>
                <a:spcPts val="1350"/>
              </a:lnSpc>
              <a:buNone/>
            </a:pPr>
            <a:r>
              <a:rPr lang="en-US" sz="900" dirty="0">
                <a:solidFill>
                  <a:srgbClr val="787774"/>
                </a:solidFill>
                <a:latin typeface="Noto Sans Thai" pitchFamily="34" charset="0"/>
                <a:ea typeface="Noto Sans Thai" pitchFamily="34" charset="-122"/>
                <a:cs typeface="Noto Sans Thai" pitchFamily="34" charset="-120"/>
              </a:rPr>
              <a:t>สไลด์ 2 จาก 8 · Part 1 · รากฐานและจุดกำเนิดของแบรนด์</a:t>
            </a:r>
            <a:endParaRPr lang="en-US" sz="900" dirty="0"/>
          </a:p>
        </p:txBody>
      </p:sp>
      <p:sp>
        <p:nvSpPr>
          <p:cNvPr id="34" name="static"/>
          <p:cNvSpPr/>
          <p:nvPr/>
        </p:nvSpPr>
        <p:spPr>
          <a:xfrm>
            <a:off x="3383087" y="4724400"/>
            <a:ext cx="57150" cy="57150"/>
          </a:xfrm>
          <a:prstGeom prst="roundRect">
            <a:avLst>
              <a:gd name="adj" fmla="val 50000"/>
            </a:avLst>
          </a:prstGeom>
          <a:solidFill>
            <a:srgbClr val="787774"/>
          </a:solidFill>
          <a:ln/>
        </p:spPr>
      </p:sp>
      <p:sp>
        <p:nvSpPr>
          <p:cNvPr id="35" name="static"/>
          <p:cNvSpPr/>
          <p:nvPr/>
        </p:nvSpPr>
        <p:spPr>
          <a:xfrm>
            <a:off x="3487862" y="4724400"/>
            <a:ext cx="171450" cy="57150"/>
          </a:xfrm>
          <a:prstGeom prst="roundRect">
            <a:avLst>
              <a:gd name="adj" fmla="val 50000"/>
            </a:avLst>
          </a:prstGeom>
          <a:solidFill>
            <a:srgbClr val="37352F"/>
          </a:solidFill>
          <a:ln/>
        </p:spPr>
      </p:sp>
      <p:sp>
        <p:nvSpPr>
          <p:cNvPr id="36" name="static"/>
          <p:cNvSpPr/>
          <p:nvPr/>
        </p:nvSpPr>
        <p:spPr>
          <a:xfrm>
            <a:off x="3706937" y="4724400"/>
            <a:ext cx="57150" cy="57150"/>
          </a:xfrm>
          <a:prstGeom prst="roundRect">
            <a:avLst>
              <a:gd name="adj" fmla="val 50000"/>
            </a:avLst>
          </a:prstGeom>
          <a:solidFill>
            <a:srgbClr val="E3E2E0"/>
          </a:solidFill>
          <a:ln/>
        </p:spPr>
      </p:sp>
      <p:sp>
        <p:nvSpPr>
          <p:cNvPr id="37" name="static"/>
          <p:cNvSpPr/>
          <p:nvPr/>
        </p:nvSpPr>
        <p:spPr>
          <a:xfrm>
            <a:off x="3811712" y="4724400"/>
            <a:ext cx="57150" cy="57150"/>
          </a:xfrm>
          <a:prstGeom prst="roundRect">
            <a:avLst>
              <a:gd name="adj" fmla="val 50000"/>
            </a:avLst>
          </a:prstGeom>
          <a:solidFill>
            <a:srgbClr val="E3E2E0"/>
          </a:solidFill>
          <a:ln/>
        </p:spPr>
      </p:sp>
      <p:sp>
        <p:nvSpPr>
          <p:cNvPr id="38" name="static"/>
          <p:cNvSpPr/>
          <p:nvPr/>
        </p:nvSpPr>
        <p:spPr>
          <a:xfrm>
            <a:off x="3916487" y="4724400"/>
            <a:ext cx="57150" cy="57150"/>
          </a:xfrm>
          <a:prstGeom prst="roundRect">
            <a:avLst>
              <a:gd name="adj" fmla="val 50000"/>
            </a:avLst>
          </a:prstGeom>
          <a:solidFill>
            <a:srgbClr val="E3E2E0"/>
          </a:solidFill>
          <a:ln/>
        </p:spPr>
      </p:sp>
      <p:sp>
        <p:nvSpPr>
          <p:cNvPr id="39" name="static"/>
          <p:cNvSpPr/>
          <p:nvPr/>
        </p:nvSpPr>
        <p:spPr>
          <a:xfrm>
            <a:off x="4021262" y="4724400"/>
            <a:ext cx="57150" cy="57150"/>
          </a:xfrm>
          <a:prstGeom prst="roundRect">
            <a:avLst>
              <a:gd name="adj" fmla="val 50000"/>
            </a:avLst>
          </a:prstGeom>
          <a:solidFill>
            <a:srgbClr val="E3E2E0"/>
          </a:solidFill>
          <a:ln/>
        </p:spPr>
      </p:sp>
      <p:sp>
        <p:nvSpPr>
          <p:cNvPr id="40" name="static"/>
          <p:cNvSpPr/>
          <p:nvPr/>
        </p:nvSpPr>
        <p:spPr>
          <a:xfrm>
            <a:off x="4126037" y="4724400"/>
            <a:ext cx="57150" cy="57150"/>
          </a:xfrm>
          <a:prstGeom prst="roundRect">
            <a:avLst>
              <a:gd name="adj" fmla="val 50000"/>
            </a:avLst>
          </a:prstGeom>
          <a:solidFill>
            <a:srgbClr val="E3E2E0"/>
          </a:solidFill>
          <a:ln/>
        </p:spPr>
      </p:sp>
      <p:sp>
        <p:nvSpPr>
          <p:cNvPr id="41" name="static"/>
          <p:cNvSpPr/>
          <p:nvPr/>
        </p:nvSpPr>
        <p:spPr>
          <a:xfrm>
            <a:off x="4230812" y="4724400"/>
            <a:ext cx="57150" cy="57150"/>
          </a:xfrm>
          <a:prstGeom prst="roundRect">
            <a:avLst>
              <a:gd name="adj" fmla="val 50000"/>
            </a:avLst>
          </a:prstGeom>
          <a:solidFill>
            <a:srgbClr val="E3E2E0"/>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700"/>
                                        <p:tgtEl>
                                          <p:spTgt spid="7"/>
                                        </p:tgtEl>
                                      </p:cBhvr>
                                    </p:animEffect>
                                    <p:anim calcmode="lin" valueType="num">
                                      <p:cBhvr additive="base">
                                        <p:cTn id="6" dur="700" fill="hold"/>
                                        <p:tgtEl>
                                          <p:spTgt spid="7"/>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700"/>
                                        <p:tgtEl>
                                          <p:spTgt spid="8"/>
                                        </p:tgtEl>
                                      </p:cBhvr>
                                    </p:animEffect>
                                    <p:anim calcmode="lin" valueType="num">
                                      <p:cBhvr additive="base">
                                        <p:cTn id="10" dur="700" fill="hold"/>
                                        <p:tgtEl>
                                          <p:spTgt spid="8"/>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additive="base">
                                        <p:cTn id="14" dur="700" fill="hold"/>
                                        <p:tgtEl>
                                          <p:spTgt spid="9"/>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anim calcmode="lin" valueType="num">
                                      <p:cBhvr additive="base">
                                        <p:cTn id="18" dur="700" fill="hold"/>
                                        <p:tgtEl>
                                          <p:spTgt spid="10"/>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00"/>
                                        <p:tgtEl>
                                          <p:spTgt spid="11"/>
                                        </p:tgtEl>
                                      </p:cBhvr>
                                    </p:animEffect>
                                    <p:anim calcmode="lin" valueType="num">
                                      <p:cBhvr additive="base">
                                        <p:cTn id="22" dur="700" fill="hold"/>
                                        <p:tgtEl>
                                          <p:spTgt spid="11"/>
                                        </p:tgtEl>
                                        <p:attrNameLst>
                                          <p:attrName>ppt_y</p:attrName>
                                        </p:attrNameLst>
                                      </p:cBhvr>
                                      <p:tavLst>
                                        <p:tav tm="0">
                                          <p:val>
                                            <p:strVal val="#ppt_y+.08"/>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700"/>
                                        <p:tgtEl>
                                          <p:spTgt spid="12"/>
                                        </p:tgtEl>
                                      </p:cBhvr>
                                    </p:animEffect>
                                    <p:anim calcmode="lin" valueType="num">
                                      <p:cBhvr additive="base">
                                        <p:cTn id="26" dur="700" fill="hold"/>
                                        <p:tgtEl>
                                          <p:spTgt spid="12"/>
                                        </p:tgtEl>
                                        <p:attrNameLst>
                                          <p:attrName>ppt_y</p:attrName>
                                        </p:attrNameLst>
                                      </p:cBhvr>
                                      <p:tavLst>
                                        <p:tav tm="0">
                                          <p:val>
                                            <p:strVal val="#ppt_y+.0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700"/>
                                        <p:tgtEl>
                                          <p:spTgt spid="13"/>
                                        </p:tgtEl>
                                      </p:cBhvr>
                                    </p:animEffect>
                                    <p:anim calcmode="lin" valueType="num">
                                      <p:cBhvr additive="base">
                                        <p:cTn id="30" dur="700" fill="hold"/>
                                        <p:tgtEl>
                                          <p:spTgt spid="13"/>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700"/>
                                        <p:tgtEl>
                                          <p:spTgt spid="14"/>
                                        </p:tgtEl>
                                      </p:cBhvr>
                                    </p:animEffect>
                                    <p:anim calcmode="lin" valueType="num">
                                      <p:cBhvr additive="base">
                                        <p:cTn id="34" dur="700" fill="hold"/>
                                        <p:tgtEl>
                                          <p:spTgt spid="14"/>
                                        </p:tgtEl>
                                        <p:attrNameLst>
                                          <p:attrName>ppt_y</p:attrName>
                                        </p:attrNameLst>
                                      </p:cBhvr>
                                      <p:tavLst>
                                        <p:tav tm="0">
                                          <p:val>
                                            <p:strVal val="#ppt_y+.08"/>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700"/>
                                        <p:tgtEl>
                                          <p:spTgt spid="15"/>
                                        </p:tgtEl>
                                      </p:cBhvr>
                                    </p:animEffect>
                                    <p:anim calcmode="lin" valueType="num">
                                      <p:cBhvr additive="base">
                                        <p:cTn id="38" dur="700" fill="hold"/>
                                        <p:tgtEl>
                                          <p:spTgt spid="15"/>
                                        </p:tgtEl>
                                        <p:attrNameLst>
                                          <p:attrName>ppt_y</p:attrName>
                                        </p:attrNameLst>
                                      </p:cBhvr>
                                      <p:tavLst>
                                        <p:tav tm="0">
                                          <p:val>
                                            <p:strVal val="#ppt_y+.0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700"/>
                                        <p:tgtEl>
                                          <p:spTgt spid="16"/>
                                        </p:tgtEl>
                                      </p:cBhvr>
                                    </p:animEffect>
                                    <p:anim calcmode="lin" valueType="num">
                                      <p:cBhvr additive="base">
                                        <p:cTn id="42" dur="700" fill="hold"/>
                                        <p:tgtEl>
                                          <p:spTgt spid="16"/>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700"/>
                                        <p:tgtEl>
                                          <p:spTgt spid="17"/>
                                        </p:tgtEl>
                                      </p:cBhvr>
                                    </p:animEffect>
                                    <p:anim calcmode="lin" valueType="num">
                                      <p:cBhvr additive="base">
                                        <p:cTn id="46" dur="700" fill="hold"/>
                                        <p:tgtEl>
                                          <p:spTgt spid="17"/>
                                        </p:tgtEl>
                                        <p:attrNameLst>
                                          <p:attrName>ppt_y</p:attrName>
                                        </p:attrNameLst>
                                      </p:cBhvr>
                                      <p:tavLst>
                                        <p:tav tm="0">
                                          <p:val>
                                            <p:strVal val="#ppt_y+.0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700"/>
                                        <p:tgtEl>
                                          <p:spTgt spid="18"/>
                                        </p:tgtEl>
                                      </p:cBhvr>
                                    </p:animEffect>
                                    <p:anim calcmode="lin" valueType="num">
                                      <p:cBhvr additive="base">
                                        <p:cTn id="50" dur="700" fill="hold"/>
                                        <p:tgtEl>
                                          <p:spTgt spid="18"/>
                                        </p:tgtEl>
                                        <p:attrNameLst>
                                          <p:attrName>ppt_y</p:attrName>
                                        </p:attrNameLst>
                                      </p:cBhvr>
                                      <p:tavLst>
                                        <p:tav tm="0">
                                          <p:val>
                                            <p:strVal val="#ppt_y+.08"/>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700"/>
                                        <p:tgtEl>
                                          <p:spTgt spid="19"/>
                                        </p:tgtEl>
                                      </p:cBhvr>
                                    </p:animEffect>
                                    <p:anim calcmode="lin" valueType="num">
                                      <p:cBhvr additive="base">
                                        <p:cTn id="56" dur="700" fill="hold"/>
                                        <p:tgtEl>
                                          <p:spTgt spid="19"/>
                                        </p:tgtEl>
                                        <p:attrNameLst>
                                          <p:attrName>ppt_y</p:attrName>
                                        </p:attrNameLst>
                                      </p:cBhvr>
                                      <p:tavLst>
                                        <p:tav tm="0">
                                          <p:val>
                                            <p:strVal val="#ppt_y+.08"/>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700"/>
                                        <p:tgtEl>
                                          <p:spTgt spid="20"/>
                                        </p:tgtEl>
                                      </p:cBhvr>
                                    </p:animEffect>
                                    <p:anim calcmode="lin" valueType="num">
                                      <p:cBhvr additive="base">
                                        <p:cTn id="60" dur="700" fill="hold"/>
                                        <p:tgtEl>
                                          <p:spTgt spid="20"/>
                                        </p:tgtEl>
                                        <p:attrNameLst>
                                          <p:attrName>ppt_y</p:attrName>
                                        </p:attrNameLst>
                                      </p:cBhvr>
                                      <p:tavLst>
                                        <p:tav tm="0">
                                          <p:val>
                                            <p:strVal val="#ppt_y+.08"/>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700"/>
                                        <p:tgtEl>
                                          <p:spTgt spid="21"/>
                                        </p:tgtEl>
                                      </p:cBhvr>
                                    </p:animEffect>
                                    <p:anim calcmode="lin" valueType="num">
                                      <p:cBhvr additive="base">
                                        <p:cTn id="64" dur="700" fill="hold"/>
                                        <p:tgtEl>
                                          <p:spTgt spid="21"/>
                                        </p:tgtEl>
                                        <p:attrNameLst>
                                          <p:attrName>ppt_y</p:attrName>
                                        </p:attrNameLst>
                                      </p:cBhvr>
                                      <p:tavLst>
                                        <p:tav tm="0">
                                          <p:val>
                                            <p:strVal val="#ppt_y+.0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700"/>
                                        <p:tgtEl>
                                          <p:spTgt spid="22"/>
                                        </p:tgtEl>
                                      </p:cBhvr>
                                    </p:animEffect>
                                    <p:anim calcmode="lin" valueType="num">
                                      <p:cBhvr additive="base">
                                        <p:cTn id="68" dur="700" fill="hold"/>
                                        <p:tgtEl>
                                          <p:spTgt spid="22"/>
                                        </p:tgtEl>
                                        <p:attrNameLst>
                                          <p:attrName>ppt_y</p:attrName>
                                        </p:attrNameLst>
                                      </p:cBhvr>
                                      <p:tavLst>
                                        <p:tav tm="0">
                                          <p:val>
                                            <p:strVal val="#ppt_y+.0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700"/>
                                        <p:tgtEl>
                                          <p:spTgt spid="23"/>
                                        </p:tgtEl>
                                      </p:cBhvr>
                                    </p:animEffect>
                                    <p:anim calcmode="lin" valueType="num">
                                      <p:cBhvr additive="base">
                                        <p:cTn id="72" dur="700" fill="hold"/>
                                        <p:tgtEl>
                                          <p:spTgt spid="23"/>
                                        </p:tgtEl>
                                        <p:attrNameLst>
                                          <p:attrName>ppt_y</p:attrName>
                                        </p:attrNameLst>
                                      </p:cBhvr>
                                      <p:tavLst>
                                        <p:tav tm="0">
                                          <p:val>
                                            <p:strVal val="#ppt_y+.08"/>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700"/>
                                        <p:tgtEl>
                                          <p:spTgt spid="24"/>
                                        </p:tgtEl>
                                      </p:cBhvr>
                                    </p:animEffect>
                                    <p:anim calcmode="lin" valueType="num">
                                      <p:cBhvr additive="base">
                                        <p:cTn id="76" dur="700" fill="hold"/>
                                        <p:tgtEl>
                                          <p:spTgt spid="24"/>
                                        </p:tgtEl>
                                        <p:attrNameLst>
                                          <p:attrName>ppt_y</p:attrName>
                                        </p:attrNameLst>
                                      </p:cBhvr>
                                      <p:tavLst>
                                        <p:tav tm="0">
                                          <p:val>
                                            <p:strVal val="#ppt_y+.08"/>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700"/>
                                        <p:tgtEl>
                                          <p:spTgt spid="25"/>
                                        </p:tgtEl>
                                      </p:cBhvr>
                                    </p:animEffect>
                                    <p:anim calcmode="lin" valueType="num">
                                      <p:cBhvr additive="base">
                                        <p:cTn id="80" dur="700" fill="hold"/>
                                        <p:tgtEl>
                                          <p:spTgt spid="25"/>
                                        </p:tgtEl>
                                        <p:attrNameLst>
                                          <p:attrName>ppt_y</p:attrName>
                                        </p:attrNameLst>
                                      </p:cBhvr>
                                      <p:tavLst>
                                        <p:tav tm="0">
                                          <p:val>
                                            <p:strVal val="#ppt_y+.08"/>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700"/>
                                        <p:tgtEl>
                                          <p:spTgt spid="26"/>
                                        </p:tgtEl>
                                      </p:cBhvr>
                                    </p:animEffect>
                                    <p:anim calcmode="lin" valueType="num">
                                      <p:cBhvr additive="base">
                                        <p:cTn id="84" dur="700" fill="hold"/>
                                        <p:tgtEl>
                                          <p:spTgt spid="26"/>
                                        </p:tgtEl>
                                        <p:attrNameLst>
                                          <p:attrName>ppt_y</p:attrName>
                                        </p:attrNameLst>
                                      </p:cBhvr>
                                      <p:tavLst>
                                        <p:tav tm="0">
                                          <p:val>
                                            <p:strVal val="#ppt_y+.08"/>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700"/>
                                        <p:tgtEl>
                                          <p:spTgt spid="27"/>
                                        </p:tgtEl>
                                      </p:cBhvr>
                                    </p:animEffect>
                                    <p:anim calcmode="lin" valueType="num">
                                      <p:cBhvr additive="base">
                                        <p:cTn id="88" dur="700" fill="hold"/>
                                        <p:tgtEl>
                                          <p:spTgt spid="27"/>
                                        </p:tgtEl>
                                        <p:attrNameLst>
                                          <p:attrName>ppt_y</p:attrName>
                                        </p:attrNameLst>
                                      </p:cBhvr>
                                      <p:tavLst>
                                        <p:tav tm="0">
                                          <p:val>
                                            <p:strVal val="#ppt_y+.08"/>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fade">
                                      <p:cBhvr>
                                        <p:cTn id="93" dur="500"/>
                                        <p:tgtEl>
                                          <p:spTgt spid="28"/>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fade">
                                      <p:cBhvr>
                                        <p:cTn id="96" dur="500"/>
                                        <p:tgtEl>
                                          <p:spTgt spid="2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0"/>
                                        </p:tgtEl>
                                        <p:attrNameLst>
                                          <p:attrName>style.visibility</p:attrName>
                                        </p:attrNameLst>
                                      </p:cBhvr>
                                      <p:to>
                                        <p:strVal val="visible"/>
                                      </p:to>
                                    </p:set>
                                    <p:animEffect transition="in" filter="fade">
                                      <p:cBhvr>
                                        <p:cTn id="99" dur="500"/>
                                        <p:tgtEl>
                                          <p:spTgt spid="30"/>
                                        </p:tgtEl>
                                      </p:cBhvr>
                                    </p:animEffect>
                                  </p:childTnLst>
                                </p:cTn>
                              </p:par>
                            </p:childTnLst>
                          </p:cTn>
                        </p:par>
                      </p:childTnLst>
                    </p:cTn>
                  </p:par>
                  <p:par>
                    <p:cTn id="110" fill="hold">
                      <p:stCondLst>
                        <p:cond delay="indefinite"/>
                      </p:stCondLst>
                      <p:childTnLst>
                        <p:par>
                          <p:cTn id="111" fill="hold">
                            <p:stCondLst>
                              <p:cond delay="0"/>
                            </p:stCondLst>
                            <p:childTnLst>
                              <p:par>
                                <p:cTn id="102" presetID="23" presetClass="entr" presetSubtype="16" fill="hold" grpId="0" nodeType="clickEffect">
                                  <p:stCondLst>
                                    <p:cond delay="0"/>
                                  </p:stCondLst>
                                  <p:childTnLst>
                                    <p:set>
                                      <p:cBhvr>
                                        <p:cTn id="103" dur="1" fill="hold">
                                          <p:stCondLst>
                                            <p:cond delay="0"/>
                                          </p:stCondLst>
                                        </p:cTn>
                                        <p:tgtEl>
                                          <p:spTgt spid="31"/>
                                        </p:tgtEl>
                                        <p:attrNameLst>
                                          <p:attrName>style.visibility</p:attrName>
                                        </p:attrNameLst>
                                      </p:cBhvr>
                                      <p:to>
                                        <p:strVal val="visible"/>
                                      </p:to>
                                    </p:set>
                                    <p:animScale>
                                      <p:cBhvr>
                                        <p:cTn id="104" dur="500" fill="hold"/>
                                        <p:tgtEl>
                                          <p:spTgt spid="31"/>
                                        </p:tgtEl>
                                      </p:cBhvr>
                                      <p:from x="0" y="0"/>
                                      <p:to x="100000" y="100000"/>
                                    </p:animScale>
                                    <p:animEffect transition="in" filter="fade">
                                      <p:cBhvr>
                                        <p:cTn id="105" dur="500"/>
                                        <p:tgtEl>
                                          <p:spTgt spid="31"/>
                                        </p:tgtEl>
                                      </p:cBhvr>
                                    </p:animEffect>
                                  </p:childTnLst>
                                </p:cTn>
                              </p:par>
                              <p:par>
                                <p:cTn id="106" presetID="23" presetClass="entr" presetSubtype="16" fill="hold" grpId="0" nodeType="withEffect">
                                  <p:stCondLst>
                                    <p:cond delay="0"/>
                                  </p:stCondLst>
                                  <p:childTnLst>
                                    <p:set>
                                      <p:cBhvr>
                                        <p:cTn id="107" dur="1" fill="hold">
                                          <p:stCondLst>
                                            <p:cond delay="0"/>
                                          </p:stCondLst>
                                        </p:cTn>
                                        <p:tgtEl>
                                          <p:spTgt spid="32"/>
                                        </p:tgtEl>
                                        <p:attrNameLst>
                                          <p:attrName>style.visibility</p:attrName>
                                        </p:attrNameLst>
                                      </p:cBhvr>
                                      <p:to>
                                        <p:strVal val="visible"/>
                                      </p:to>
                                    </p:set>
                                    <p:animScale>
                                      <p:cBhvr>
                                        <p:cTn id="108" dur="500" fill="hold"/>
                                        <p:tgtEl>
                                          <p:spTgt spid="32"/>
                                        </p:tgtEl>
                                      </p:cBhvr>
                                      <p:from x="0" y="0"/>
                                      <p:to x="100000" y="100000"/>
                                    </p:animScale>
                                    <p:animEffect transition="in" filter="fade">
                                      <p:cBhvr>
                                        <p:cTn id="10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46695"/>
          </a:xfrm>
          <a:prstGeom prst="rect">
            <a:avLst/>
          </a:prstGeom>
          <a:noFill/>
          <a:ln/>
        </p:spPr>
        <p:txBody>
          <a:bodyPr wrap="none" lIns="0" tIns="0" rIns="0" bIns="0" rtlCol="0" anchor="ctr"/>
          <a:lstStyle/>
          <a:p>
            <a:pPr algn="l" indent="0" marL="0">
              <a:lnSpc>
                <a:spcPts val="2730"/>
              </a:lnSpc>
              <a:buNone/>
            </a:pPr>
            <a:r>
              <a:rPr lang="en-US" sz="2100" b="1" dirty="0">
                <a:solidFill>
                  <a:srgbClr val="37352F"/>
                </a:solidFill>
                <a:latin typeface="Noto Sans Thai" pitchFamily="34" charset="0"/>
                <a:ea typeface="Noto Sans Thai" pitchFamily="34" charset="-122"/>
                <a:cs typeface="Noto Sans Thai" pitchFamily="34" charset="-120"/>
              </a:rPr>
              <a:t>บทที่ 2: แรงบันดาลใจจาก Italy</a:t>
            </a:r>
            <a:endParaRPr lang="en-US" sz="2100" dirty="0"/>
          </a:p>
        </p:txBody>
      </p:sp>
      <p:sp>
        <p:nvSpPr>
          <p:cNvPr id="3" name="static"/>
          <p:cNvSpPr txBox="1"/>
          <p:nvPr/>
        </p:nvSpPr>
        <p:spPr>
          <a:xfrm>
            <a:off x="609600" y="1222995"/>
            <a:ext cx="6686550" cy="228600"/>
          </a:xfrm>
          <a:prstGeom prst="rect">
            <a:avLst/>
          </a:prstGeom>
          <a:noFill/>
          <a:ln/>
        </p:spPr>
        <p:txBody>
          <a:bodyPr wrap="none" lIns="0" tIns="0" rIns="0" bIns="0" rtlCol="0" anchor="ctr"/>
          <a:lstStyle/>
          <a:p>
            <a:pPr algn="l" indent="0" marL="0">
              <a:lnSpc>
                <a:spcPts val="1800"/>
              </a:lnSpc>
              <a:buNone/>
            </a:pPr>
            <a:r>
              <a:rPr lang="en-US" sz="1200" dirty="0">
                <a:solidFill>
                  <a:srgbClr val="37352F"/>
                </a:solidFill>
                <a:latin typeface="Noto Sans Thai" pitchFamily="34" charset="0"/>
                <a:ea typeface="Noto Sans Thai" pitchFamily="34" charset="-122"/>
                <a:cs typeface="Noto Sans Thai" pitchFamily="34" charset="-120"/>
              </a:rPr>
              <a:t>ทริปไป Milan เปลี่ยนประวัติศาสตร์กาแฟได้อย่างไร</a:t>
            </a:r>
            <a:endParaRPr lang="en-US" sz="1200"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Part 2 · จุดเปลี่ยน (Turning Point)</a:t>
            </a:r>
            <a:endParaRPr lang="en-US" sz="825" dirty="0"/>
          </a:p>
        </p:txBody>
      </p:sp>
      <p:sp>
        <p:nvSpPr>
          <p:cNvPr id="5" name="!!tkey2-1"/>
          <p:cNvSpPr/>
          <p:nvPr/>
        </p:nvSpPr>
        <p:spPr>
          <a:xfrm>
            <a:off x="6438900" y="419100"/>
            <a:ext cx="2095500" cy="266700"/>
          </a:xfrm>
          <a:prstGeom prst="roundRect">
            <a:avLst>
              <a:gd name="adj" fmla="val 10714"/>
            </a:avLst>
          </a:prstGeom>
          <a:solidFill>
            <a:srgbClr val="FDECC8"/>
          </a:solidFill>
          <a:ln/>
        </p:spPr>
      </p:sp>
      <p:sp>
        <p:nvSpPr>
          <p:cNvPr id="6" name="!!tkey2-2"/>
          <p:cNvSpPr txBox="1"/>
          <p:nvPr/>
        </p:nvSpPr>
        <p:spPr>
          <a:xfrm>
            <a:off x="6438900" y="4191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1983 · ทริปไป Milan</a:t>
            </a:r>
            <a:endParaRPr lang="en-US" sz="900" dirty="0"/>
          </a:p>
        </p:txBody>
      </p:sp>
      <p:sp>
        <p:nvSpPr>
          <p:cNvPr id="7" name="static"/>
          <p:cNvSpPr/>
          <p:nvPr/>
        </p:nvSpPr>
        <p:spPr>
          <a:xfrm>
            <a:off x="1890712" y="1776413"/>
            <a:ext cx="5362575" cy="19050"/>
          </a:xfrm>
          <a:prstGeom prst="roundRect">
            <a:avLst>
              <a:gd name="adj" fmla="val 50000"/>
            </a:avLst>
          </a:prstGeom>
          <a:solidFill>
            <a:srgbClr val="E3E2E0"/>
          </a:solidFill>
          <a:ln/>
        </p:spPr>
      </p:sp>
      <p:sp>
        <p:nvSpPr>
          <p:cNvPr id="8" name="b1:rise"/>
          <p:cNvSpPr/>
          <p:nvPr/>
        </p:nvSpPr>
        <p:spPr>
          <a:xfrm>
            <a:off x="1657499" y="1676400"/>
            <a:ext cx="471115" cy="228600"/>
          </a:xfrm>
          <a:prstGeom prst="roundRect">
            <a:avLst>
              <a:gd name="adj" fmla="val 12500"/>
            </a:avLst>
          </a:prstGeom>
          <a:solidFill>
            <a:srgbClr val="E3E2E0"/>
          </a:solidFill>
          <a:ln/>
        </p:spPr>
      </p:sp>
      <p:sp>
        <p:nvSpPr>
          <p:cNvPr id="9" name="b1:rise"/>
          <p:cNvSpPr txBox="1"/>
          <p:nvPr/>
        </p:nvSpPr>
        <p:spPr>
          <a:xfrm>
            <a:off x="1657499" y="1676400"/>
            <a:ext cx="508805" cy="228600"/>
          </a:xfrm>
          <a:prstGeom prst="rect">
            <a:avLst/>
          </a:prstGeom>
          <a:noFill/>
          <a:ln/>
        </p:spPr>
        <p:txBody>
          <a:bodyPr wrap="none" lIns="104775" tIns="0" rIns="104775" bIns="0" rtlCol="0" anchor="ctr"/>
          <a:lstStyle/>
          <a:p>
            <a:pPr algn="l" indent="0" marL="0">
              <a:lnSpc>
                <a:spcPts val="1350"/>
              </a:lnSpc>
              <a:buNone/>
            </a:pPr>
            <a:r>
              <a:rPr lang="en-US" sz="900" b="1" dirty="0">
                <a:solidFill>
                  <a:srgbClr val="32302C"/>
                </a:solidFill>
                <a:latin typeface="Noto Sans Thai" pitchFamily="34" charset="0"/>
                <a:ea typeface="Noto Sans Thai" pitchFamily="34" charset="-122"/>
                <a:cs typeface="Noto Sans Thai" pitchFamily="34" charset="-120"/>
              </a:rPr>
              <a:t>1983</a:t>
            </a:r>
            <a:endParaRPr lang="en-US" sz="900" dirty="0"/>
          </a:p>
        </p:txBody>
      </p:sp>
      <p:sp>
        <p:nvSpPr>
          <p:cNvPr id="10" name="b1:rise"/>
          <p:cNvSpPr/>
          <p:nvPr/>
        </p:nvSpPr>
        <p:spPr>
          <a:xfrm>
            <a:off x="609600" y="2000250"/>
            <a:ext cx="2566988" cy="1428750"/>
          </a:xfrm>
          <a:prstGeom prst="roundRect">
            <a:avLst>
              <a:gd name="adj" fmla="val 2667"/>
            </a:avLst>
          </a:prstGeom>
          <a:solidFill>
            <a:srgbClr val="FFFFFF"/>
          </a:solidFill>
          <a:ln w="6350">
            <a:solidFill>
              <a:srgbClr val="E9E9E7"/>
            </a:solidFill>
            <a:prstDash val="solid"/>
          </a:ln>
        </p:spPr>
      </p:sp>
      <p:sp>
        <p:nvSpPr>
          <p:cNvPr id="11" name="b1:rise"/>
          <p:cNvSpPr txBox="1"/>
          <p:nvPr/>
        </p:nvSpPr>
        <p:spPr>
          <a:xfrm>
            <a:off x="766763" y="2157413"/>
            <a:ext cx="2432876" cy="226665"/>
          </a:xfrm>
          <a:prstGeom prst="rect">
            <a:avLst/>
          </a:prstGeom>
          <a:noFill/>
          <a:ln/>
        </p:spPr>
        <p:txBody>
          <a:bodyPr wrap="none" lIns="0" tIns="0" rIns="0" bIns="0" rtlCol="0" anchor="ctr"/>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The Discovery</a:t>
            </a:r>
            <a:endParaRPr lang="en-US" sz="1275" dirty="0"/>
          </a:p>
        </p:txBody>
      </p:sp>
      <p:sp>
        <p:nvSpPr>
          <p:cNvPr id="12" name="b1:rise"/>
          <p:cNvSpPr txBox="1"/>
          <p:nvPr/>
        </p:nvSpPr>
        <p:spPr>
          <a:xfrm>
            <a:off x="766763" y="2441228"/>
            <a:ext cx="2342769" cy="797123"/>
          </a:xfrm>
          <a:prstGeom prst="rect">
            <a:avLst/>
          </a:prstGeom>
          <a:noFill/>
          <a:ln/>
        </p:spPr>
        <p:txBody>
          <a:bodyPr wrap="square" lIns="0" tIns="0" rIns="0" bIns="0" rtlCol="0" anchor="t"/>
          <a:lstStyle/>
          <a:p>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Howard Schultz ไปเยือน Espresso Bar ใน Milan และสังเกตว่าร้านเหล่านั้นไม่ได้แค่ขายเครื่องดื่ม แต่เป็น </a:t>
            </a:r>
            <a:pPr algn="l" indent="0" marL="0">
              <a:lnSpc>
                <a:spcPts val="1569"/>
              </a:lnSpc>
              <a:buNone/>
            </a:pPr>
            <a:r>
              <a:rPr lang="en-US" sz="1013" b="1" dirty="0">
                <a:solidFill>
                  <a:srgbClr val="37352F"/>
                </a:solidFill>
                <a:latin typeface="Noto Sans Thai" pitchFamily="34" charset="0"/>
                <a:ea typeface="Noto Sans Thai" pitchFamily="34" charset="-122"/>
                <a:cs typeface="Noto Sans Thai" pitchFamily="34" charset="-120"/>
              </a:rPr>
              <a:t>Community Living Room</a:t>
            </a:r>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 ที่มีชีวิตชีวา</a:t>
            </a:r>
            <a:endParaRPr lang="en-US" sz="1013" dirty="0"/>
          </a:p>
        </p:txBody>
      </p:sp>
      <p:sp>
        <p:nvSpPr>
          <p:cNvPr id="13" name="b2:rise"/>
          <p:cNvSpPr/>
          <p:nvPr/>
        </p:nvSpPr>
        <p:spPr>
          <a:xfrm>
            <a:off x="4223593" y="1676400"/>
            <a:ext cx="701501" cy="228600"/>
          </a:xfrm>
          <a:prstGeom prst="roundRect">
            <a:avLst>
              <a:gd name="adj" fmla="val 12500"/>
            </a:avLst>
          </a:prstGeom>
          <a:solidFill>
            <a:srgbClr val="FDECC8"/>
          </a:solidFill>
          <a:ln/>
        </p:spPr>
      </p:sp>
      <p:sp>
        <p:nvSpPr>
          <p:cNvPr id="14" name="b2:rise"/>
          <p:cNvSpPr txBox="1"/>
          <p:nvPr/>
        </p:nvSpPr>
        <p:spPr>
          <a:xfrm>
            <a:off x="4223593" y="1676400"/>
            <a:ext cx="757621" cy="228600"/>
          </a:xfrm>
          <a:prstGeom prst="rect">
            <a:avLst/>
          </a:prstGeom>
          <a:noFill/>
          <a:ln/>
        </p:spPr>
        <p:txBody>
          <a:bodyPr wrap="none" lIns="104775" tIns="0" rIns="104775" bIns="0" rtlCol="0" anchor="ctr"/>
          <a:lstStyle/>
          <a:p>
            <a:pPr algn="l"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The Idea</a:t>
            </a:r>
            <a:endParaRPr lang="en-US" sz="900" dirty="0"/>
          </a:p>
        </p:txBody>
      </p:sp>
      <p:sp>
        <p:nvSpPr>
          <p:cNvPr id="15" name="b2:rise"/>
          <p:cNvSpPr/>
          <p:nvPr/>
        </p:nvSpPr>
        <p:spPr>
          <a:xfrm>
            <a:off x="3290887" y="2000250"/>
            <a:ext cx="2566988" cy="1428750"/>
          </a:xfrm>
          <a:prstGeom prst="roundRect">
            <a:avLst>
              <a:gd name="adj" fmla="val 2667"/>
            </a:avLst>
          </a:prstGeom>
          <a:solidFill>
            <a:srgbClr val="FFFFFF"/>
          </a:solidFill>
          <a:ln w="6350">
            <a:solidFill>
              <a:srgbClr val="E9E9E7"/>
            </a:solidFill>
            <a:prstDash val="solid"/>
          </a:ln>
        </p:spPr>
      </p:sp>
      <p:sp>
        <p:nvSpPr>
          <p:cNvPr id="16" name="b2:rise"/>
          <p:cNvSpPr txBox="1"/>
          <p:nvPr/>
        </p:nvSpPr>
        <p:spPr>
          <a:xfrm>
            <a:off x="3448050" y="2157413"/>
            <a:ext cx="2432876" cy="226665"/>
          </a:xfrm>
          <a:prstGeom prst="rect">
            <a:avLst/>
          </a:prstGeom>
          <a:noFill/>
          <a:ln/>
        </p:spPr>
        <p:txBody>
          <a:bodyPr wrap="none" lIns="0" tIns="0" rIns="0" bIns="0" rtlCol="0" anchor="ctr"/>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The Vision</a:t>
            </a:r>
            <a:endParaRPr lang="en-US" sz="1275" dirty="0"/>
          </a:p>
        </p:txBody>
      </p:sp>
      <p:sp>
        <p:nvSpPr>
          <p:cNvPr id="17" name="b2:rise"/>
          <p:cNvSpPr txBox="1"/>
          <p:nvPr/>
        </p:nvSpPr>
        <p:spPr>
          <a:xfrm>
            <a:off x="3448050" y="2441228"/>
            <a:ext cx="2342769" cy="597843"/>
          </a:xfrm>
          <a:prstGeom prst="rect">
            <a:avLst/>
          </a:prstGeom>
          <a:noFill/>
          <a:ln/>
        </p:spPr>
        <p:txBody>
          <a:bodyPr wrap="square" lIns="0" tIns="0" rIns="0" bIns="0" rtlCol="0" anchor="t"/>
          <a:lstStyle/>
          <a:p>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อเมริกาต้องการวัฒนธรรม Espresso แท้ ๆ ที่สร้างจาก </a:t>
            </a:r>
            <a:pPr algn="l" indent="0" marL="0">
              <a:lnSpc>
                <a:spcPts val="1569"/>
              </a:lnSpc>
              <a:buNone/>
            </a:pPr>
            <a:r>
              <a:rPr lang="en-US" sz="1013" b="1" dirty="0">
                <a:solidFill>
                  <a:srgbClr val="37352F"/>
                </a:solidFill>
                <a:latin typeface="Noto Sans Thai" pitchFamily="34" charset="0"/>
                <a:ea typeface="Noto Sans Thai" pitchFamily="34" charset="-122"/>
                <a:cs typeface="Noto Sans Thai" pitchFamily="34" charset="-120"/>
              </a:rPr>
              <a:t>Human Connection, Speed และ Craftsmanship</a:t>
            </a:r>
            <a:endParaRPr lang="en-US" sz="1013" dirty="0"/>
          </a:p>
        </p:txBody>
      </p:sp>
      <p:sp>
        <p:nvSpPr>
          <p:cNvPr id="18" name="b3:rise"/>
          <p:cNvSpPr/>
          <p:nvPr/>
        </p:nvSpPr>
        <p:spPr>
          <a:xfrm>
            <a:off x="7017693" y="1676400"/>
            <a:ext cx="471115" cy="228600"/>
          </a:xfrm>
          <a:prstGeom prst="roundRect">
            <a:avLst>
              <a:gd name="adj" fmla="val 12500"/>
            </a:avLst>
          </a:prstGeom>
          <a:solidFill>
            <a:srgbClr val="E3E2E0"/>
          </a:solidFill>
          <a:ln/>
        </p:spPr>
      </p:sp>
      <p:sp>
        <p:nvSpPr>
          <p:cNvPr id="19" name="b3:rise"/>
          <p:cNvSpPr txBox="1"/>
          <p:nvPr/>
        </p:nvSpPr>
        <p:spPr>
          <a:xfrm>
            <a:off x="7017693" y="1676400"/>
            <a:ext cx="508805" cy="228600"/>
          </a:xfrm>
          <a:prstGeom prst="rect">
            <a:avLst/>
          </a:prstGeom>
          <a:noFill/>
          <a:ln/>
        </p:spPr>
        <p:txBody>
          <a:bodyPr wrap="none" lIns="104775" tIns="0" rIns="104775" bIns="0" rtlCol="0" anchor="ctr"/>
          <a:lstStyle/>
          <a:p>
            <a:pPr algn="l" indent="0" marL="0">
              <a:lnSpc>
                <a:spcPts val="1350"/>
              </a:lnSpc>
              <a:buNone/>
            </a:pPr>
            <a:r>
              <a:rPr lang="en-US" sz="900" b="1" dirty="0">
                <a:solidFill>
                  <a:srgbClr val="32302C"/>
                </a:solidFill>
                <a:latin typeface="Noto Sans Thai" pitchFamily="34" charset="0"/>
                <a:ea typeface="Noto Sans Thai" pitchFamily="34" charset="-122"/>
                <a:cs typeface="Noto Sans Thai" pitchFamily="34" charset="-120"/>
              </a:rPr>
              <a:t>1987</a:t>
            </a:r>
            <a:endParaRPr lang="en-US" sz="900" dirty="0"/>
          </a:p>
        </p:txBody>
      </p:sp>
      <p:sp>
        <p:nvSpPr>
          <p:cNvPr id="20" name="b3:rise"/>
          <p:cNvSpPr/>
          <p:nvPr/>
        </p:nvSpPr>
        <p:spPr>
          <a:xfrm>
            <a:off x="5972175" y="2000250"/>
            <a:ext cx="2562225" cy="1428750"/>
          </a:xfrm>
          <a:prstGeom prst="roundRect">
            <a:avLst>
              <a:gd name="adj" fmla="val 2667"/>
            </a:avLst>
          </a:prstGeom>
          <a:solidFill>
            <a:srgbClr val="FFFFFF"/>
          </a:solidFill>
          <a:ln w="6350">
            <a:solidFill>
              <a:srgbClr val="E9E9E7"/>
            </a:solidFill>
            <a:prstDash val="solid"/>
          </a:ln>
        </p:spPr>
      </p:sp>
      <p:sp>
        <p:nvSpPr>
          <p:cNvPr id="21" name="b3:rise"/>
          <p:cNvSpPr txBox="1"/>
          <p:nvPr/>
        </p:nvSpPr>
        <p:spPr>
          <a:xfrm>
            <a:off x="6129338" y="2157413"/>
            <a:ext cx="2427732" cy="226665"/>
          </a:xfrm>
          <a:prstGeom prst="rect">
            <a:avLst/>
          </a:prstGeom>
          <a:noFill/>
          <a:ln/>
        </p:spPr>
        <p:txBody>
          <a:bodyPr wrap="none" lIns="0" tIns="0" rIns="0" bIns="0" rtlCol="0" anchor="ctr"/>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The Acquisition</a:t>
            </a:r>
            <a:endParaRPr lang="en-US" sz="1275" dirty="0"/>
          </a:p>
        </p:txBody>
      </p:sp>
      <p:sp>
        <p:nvSpPr>
          <p:cNvPr id="22" name="b3:rise"/>
          <p:cNvSpPr txBox="1"/>
          <p:nvPr/>
        </p:nvSpPr>
        <p:spPr>
          <a:xfrm>
            <a:off x="6129338" y="2441228"/>
            <a:ext cx="2337816" cy="597843"/>
          </a:xfrm>
          <a:prstGeom prst="rect">
            <a:avLst/>
          </a:prstGeom>
          <a:noFill/>
          <a:ln/>
        </p:spPr>
        <p:txBody>
          <a:bodyPr wrap="square" lIns="0" tIns="0" rIns="0" bIns="0" rtlCol="0" anchor="t"/>
          <a:lstStyle/>
          <a:p>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Schultz ซื้อ Starbucks ในราคา </a:t>
            </a:r>
            <a:pPr algn="l" indent="0" marL="0">
              <a:lnSpc>
                <a:spcPts val="1569"/>
              </a:lnSpc>
              <a:buNone/>
            </a:pPr>
            <a:r>
              <a:rPr lang="en-US" sz="1013" b="1" dirty="0">
                <a:solidFill>
                  <a:srgbClr val="448361"/>
                </a:solidFill>
                <a:latin typeface="Noto Sans Thai" pitchFamily="34" charset="0"/>
                <a:ea typeface="Noto Sans Thai" pitchFamily="34" charset="-122"/>
                <a:cs typeface="Noto Sans Thai" pitchFamily="34" charset="-120"/>
              </a:rPr>
              <a:t>$3.8M</a:t>
            </a:r>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 และรวม Concept ร้าน Il Giornale ของเขาเข้าไป เปิดศักราช Coffeehouse ยุคใหม่</a:t>
            </a:r>
            <a:endParaRPr lang="en-US" sz="1013" dirty="0"/>
          </a:p>
        </p:txBody>
      </p:sp>
      <p:sp>
        <p:nvSpPr>
          <p:cNvPr id="23" name="b4:fade"/>
          <p:cNvSpPr txBox="1"/>
          <p:nvPr/>
        </p:nvSpPr>
        <p:spPr>
          <a:xfrm>
            <a:off x="609600" y="4127897"/>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Noto Sans Thai" pitchFamily="34" charset="0"/>
                <a:ea typeface="Noto Sans Thai" pitchFamily="34" charset="-122"/>
                <a:cs typeface="Noto Sans Thai" pitchFamily="34" charset="-120"/>
              </a:rPr>
              <a:t>➡️</a:t>
            </a:r>
            <a:endParaRPr lang="en-US" sz="1125" dirty="0"/>
          </a:p>
        </p:txBody>
      </p:sp>
      <p:sp>
        <p:nvSpPr>
          <p:cNvPr id="24" name="b4:fade"/>
          <p:cNvSpPr txBox="1"/>
          <p:nvPr/>
        </p:nvSpPr>
        <p:spPr>
          <a:xfrm>
            <a:off x="883146" y="4124325"/>
            <a:ext cx="6391120" cy="192881"/>
          </a:xfrm>
          <a:prstGeom prst="rect">
            <a:avLst/>
          </a:prstGeom>
          <a:noFill/>
          <a:ln/>
        </p:spPr>
        <p:txBody>
          <a:bodyPr wrap="none" lIns="0" tIns="0" rIns="0" bIns="0" rtlCol="0" anchor="ctr"/>
          <a:lstStyle/>
          <a:p>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Schultz ไม่ได้แค่อยากขายกาแฟ เขาอยากสร้าง</a:t>
            </a:r>
            <a:pPr algn="l" indent="0" marL="0">
              <a:lnSpc>
                <a:spcPts val="1519"/>
              </a:lnSpc>
              <a:buNone/>
            </a:pPr>
            <a:r>
              <a:rPr lang="en-US" sz="1013" b="1" dirty="0">
                <a:solidFill>
                  <a:srgbClr val="448361"/>
                </a:solidFill>
                <a:latin typeface="Noto Sans Thai" pitchFamily="34" charset="0"/>
                <a:ea typeface="Noto Sans Thai" pitchFamily="34" charset="-122"/>
                <a:cs typeface="Noto Sans Thai" pitchFamily="34" charset="-120"/>
              </a:rPr>
              <a:t>พื้นที่ใหม่ในชีวิตของผู้คน</a:t>
            </a:r>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a:t>
            </a:r>
            <a:endParaRPr lang="en-US" sz="1013" dirty="0"/>
          </a:p>
        </p:txBody>
      </p:sp>
      <p:sp>
        <p:nvSpPr>
          <p:cNvPr id="25" name="!!tkey3-1"/>
          <p:cNvSpPr/>
          <p:nvPr/>
        </p:nvSpPr>
        <p:spPr>
          <a:xfrm>
            <a:off x="6438900" y="4572000"/>
            <a:ext cx="2095500" cy="266700"/>
          </a:xfrm>
          <a:prstGeom prst="roundRect">
            <a:avLst>
              <a:gd name="adj" fmla="val 10714"/>
            </a:avLst>
          </a:prstGeom>
          <a:solidFill>
            <a:srgbClr val="FDECC8"/>
          </a:solidFill>
          <a:ln/>
        </p:spPr>
      </p:sp>
      <p:sp>
        <p:nvSpPr>
          <p:cNvPr id="26" name="!!tkey3-2"/>
          <p:cNvSpPr txBox="1"/>
          <p:nvPr/>
        </p:nvSpPr>
        <p:spPr>
          <a:xfrm>
            <a:off x="6438900" y="45720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The Third Place</a:t>
            </a:r>
            <a:endParaRPr lang="en-US" sz="900" dirty="0"/>
          </a:p>
        </p:txBody>
      </p:sp>
      <p:sp>
        <p:nvSpPr>
          <p:cNvPr id="27" name="static"/>
          <p:cNvSpPr txBox="1"/>
          <p:nvPr/>
        </p:nvSpPr>
        <p:spPr>
          <a:xfrm>
            <a:off x="609600" y="4667250"/>
            <a:ext cx="2387873" cy="171450"/>
          </a:xfrm>
          <a:prstGeom prst="rect">
            <a:avLst/>
          </a:prstGeom>
          <a:noFill/>
          <a:ln/>
        </p:spPr>
        <p:txBody>
          <a:bodyPr wrap="none" lIns="0" tIns="0" rIns="0" bIns="0" rtlCol="0" anchor="ctr"/>
          <a:lstStyle/>
          <a:p>
            <a:pPr algn="l" indent="0" marL="0">
              <a:lnSpc>
                <a:spcPts val="1350"/>
              </a:lnSpc>
              <a:buNone/>
            </a:pPr>
            <a:r>
              <a:rPr lang="en-US" sz="900" dirty="0">
                <a:solidFill>
                  <a:srgbClr val="787774"/>
                </a:solidFill>
                <a:latin typeface="Noto Sans Thai" pitchFamily="34" charset="0"/>
                <a:ea typeface="Noto Sans Thai" pitchFamily="34" charset="-122"/>
                <a:cs typeface="Noto Sans Thai" pitchFamily="34" charset="-120"/>
              </a:rPr>
              <a:t>สไลด์ 3 จาก 8 · Part 2 · จุดเปลี่ยน (Turning Point)</a:t>
            </a:r>
            <a:endParaRPr lang="en-US" sz="900" dirty="0"/>
          </a:p>
        </p:txBody>
      </p:sp>
      <p:sp>
        <p:nvSpPr>
          <p:cNvPr id="28" name="static"/>
          <p:cNvSpPr/>
          <p:nvPr/>
        </p:nvSpPr>
        <p:spPr>
          <a:xfrm>
            <a:off x="3187973" y="4724400"/>
            <a:ext cx="57150" cy="57150"/>
          </a:xfrm>
          <a:prstGeom prst="roundRect">
            <a:avLst>
              <a:gd name="adj" fmla="val 50000"/>
            </a:avLst>
          </a:prstGeom>
          <a:solidFill>
            <a:srgbClr val="787774"/>
          </a:solidFill>
          <a:ln/>
        </p:spPr>
      </p:sp>
      <p:sp>
        <p:nvSpPr>
          <p:cNvPr id="29" name="static"/>
          <p:cNvSpPr/>
          <p:nvPr/>
        </p:nvSpPr>
        <p:spPr>
          <a:xfrm>
            <a:off x="3292748" y="4724400"/>
            <a:ext cx="57150" cy="57150"/>
          </a:xfrm>
          <a:prstGeom prst="roundRect">
            <a:avLst>
              <a:gd name="adj" fmla="val 50000"/>
            </a:avLst>
          </a:prstGeom>
          <a:solidFill>
            <a:srgbClr val="787774"/>
          </a:solidFill>
          <a:ln/>
        </p:spPr>
      </p:sp>
      <p:sp>
        <p:nvSpPr>
          <p:cNvPr id="30" name="static"/>
          <p:cNvSpPr/>
          <p:nvPr/>
        </p:nvSpPr>
        <p:spPr>
          <a:xfrm>
            <a:off x="3397523" y="4724400"/>
            <a:ext cx="171450" cy="57150"/>
          </a:xfrm>
          <a:prstGeom prst="roundRect">
            <a:avLst>
              <a:gd name="adj" fmla="val 50000"/>
            </a:avLst>
          </a:prstGeom>
          <a:solidFill>
            <a:srgbClr val="37352F"/>
          </a:solidFill>
          <a:ln/>
        </p:spPr>
      </p:sp>
      <p:sp>
        <p:nvSpPr>
          <p:cNvPr id="31" name="static"/>
          <p:cNvSpPr/>
          <p:nvPr/>
        </p:nvSpPr>
        <p:spPr>
          <a:xfrm>
            <a:off x="3616598" y="4724400"/>
            <a:ext cx="57150" cy="57150"/>
          </a:xfrm>
          <a:prstGeom prst="roundRect">
            <a:avLst>
              <a:gd name="adj" fmla="val 50000"/>
            </a:avLst>
          </a:prstGeom>
          <a:solidFill>
            <a:srgbClr val="E3E2E0"/>
          </a:solidFill>
          <a:ln/>
        </p:spPr>
      </p:sp>
      <p:sp>
        <p:nvSpPr>
          <p:cNvPr id="32" name="static"/>
          <p:cNvSpPr/>
          <p:nvPr/>
        </p:nvSpPr>
        <p:spPr>
          <a:xfrm>
            <a:off x="3721373" y="4724400"/>
            <a:ext cx="57150" cy="57150"/>
          </a:xfrm>
          <a:prstGeom prst="roundRect">
            <a:avLst>
              <a:gd name="adj" fmla="val 50000"/>
            </a:avLst>
          </a:prstGeom>
          <a:solidFill>
            <a:srgbClr val="E3E2E0"/>
          </a:solidFill>
          <a:ln/>
        </p:spPr>
      </p:sp>
      <p:sp>
        <p:nvSpPr>
          <p:cNvPr id="33" name="static"/>
          <p:cNvSpPr/>
          <p:nvPr/>
        </p:nvSpPr>
        <p:spPr>
          <a:xfrm>
            <a:off x="3826148" y="4724400"/>
            <a:ext cx="57150" cy="57150"/>
          </a:xfrm>
          <a:prstGeom prst="roundRect">
            <a:avLst>
              <a:gd name="adj" fmla="val 50000"/>
            </a:avLst>
          </a:prstGeom>
          <a:solidFill>
            <a:srgbClr val="E3E2E0"/>
          </a:solidFill>
          <a:ln/>
        </p:spPr>
      </p:sp>
      <p:sp>
        <p:nvSpPr>
          <p:cNvPr id="34" name="static"/>
          <p:cNvSpPr/>
          <p:nvPr/>
        </p:nvSpPr>
        <p:spPr>
          <a:xfrm>
            <a:off x="3930923" y="4724400"/>
            <a:ext cx="57150" cy="57150"/>
          </a:xfrm>
          <a:prstGeom prst="roundRect">
            <a:avLst>
              <a:gd name="adj" fmla="val 50000"/>
            </a:avLst>
          </a:prstGeom>
          <a:solidFill>
            <a:srgbClr val="E3E2E0"/>
          </a:solidFill>
          <a:ln/>
        </p:spPr>
      </p:sp>
      <p:sp>
        <p:nvSpPr>
          <p:cNvPr id="35" name="static"/>
          <p:cNvSpPr/>
          <p:nvPr/>
        </p:nvSpPr>
        <p:spPr>
          <a:xfrm>
            <a:off x="4035698" y="4724400"/>
            <a:ext cx="57150" cy="57150"/>
          </a:xfrm>
          <a:prstGeom prst="roundRect">
            <a:avLst>
              <a:gd name="adj" fmla="val 50000"/>
            </a:avLst>
          </a:prstGeom>
          <a:solidFill>
            <a:srgbClr val="E3E2E0"/>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700"/>
                                        <p:tgtEl>
                                          <p:spTgt spid="8"/>
                                        </p:tgtEl>
                                      </p:cBhvr>
                                    </p:animEffect>
                                    <p:anim calcmode="lin" valueType="num">
                                      <p:cBhvr additive="base">
                                        <p:cTn id="6" dur="700" fill="hold"/>
                                        <p:tgtEl>
                                          <p:spTgt spid="8"/>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700"/>
                                        <p:tgtEl>
                                          <p:spTgt spid="9"/>
                                        </p:tgtEl>
                                      </p:cBhvr>
                                    </p:animEffect>
                                    <p:anim calcmode="lin" valueType="num">
                                      <p:cBhvr additive="base">
                                        <p:cTn id="10" dur="700" fill="hold"/>
                                        <p:tgtEl>
                                          <p:spTgt spid="9"/>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700"/>
                                        <p:tgtEl>
                                          <p:spTgt spid="10"/>
                                        </p:tgtEl>
                                      </p:cBhvr>
                                    </p:animEffect>
                                    <p:anim calcmode="lin" valueType="num">
                                      <p:cBhvr additive="base">
                                        <p:cTn id="14" dur="700" fill="hold"/>
                                        <p:tgtEl>
                                          <p:spTgt spid="10"/>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700"/>
                                        <p:tgtEl>
                                          <p:spTgt spid="11"/>
                                        </p:tgtEl>
                                      </p:cBhvr>
                                    </p:animEffect>
                                    <p:anim calcmode="lin" valueType="num">
                                      <p:cBhvr additive="base">
                                        <p:cTn id="18" dur="700" fill="hold"/>
                                        <p:tgtEl>
                                          <p:spTgt spid="11"/>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00"/>
                                        <p:tgtEl>
                                          <p:spTgt spid="12"/>
                                        </p:tgtEl>
                                      </p:cBhvr>
                                    </p:animEffect>
                                    <p:anim calcmode="lin" valueType="num">
                                      <p:cBhvr additive="base">
                                        <p:cTn id="22" dur="700" fill="hold"/>
                                        <p:tgtEl>
                                          <p:spTgt spid="12"/>
                                        </p:tgtEl>
                                        <p:attrNameLst>
                                          <p:attrName>ppt_y</p:attrName>
                                        </p:attrNameLst>
                                      </p:cBhvr>
                                      <p:tavLst>
                                        <p:tav tm="0">
                                          <p:val>
                                            <p:strVal val="#ppt_y+.08"/>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700"/>
                                        <p:tgtEl>
                                          <p:spTgt spid="13"/>
                                        </p:tgtEl>
                                      </p:cBhvr>
                                    </p:animEffect>
                                    <p:anim calcmode="lin" valueType="num">
                                      <p:cBhvr additive="base">
                                        <p:cTn id="28" dur="700" fill="hold"/>
                                        <p:tgtEl>
                                          <p:spTgt spid="13"/>
                                        </p:tgtEl>
                                        <p:attrNameLst>
                                          <p:attrName>ppt_y</p:attrName>
                                        </p:attrNameLst>
                                      </p:cBhvr>
                                      <p:tavLst>
                                        <p:tav tm="0">
                                          <p:val>
                                            <p:strVal val="#ppt_y+.0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700"/>
                                        <p:tgtEl>
                                          <p:spTgt spid="14"/>
                                        </p:tgtEl>
                                      </p:cBhvr>
                                    </p:animEffect>
                                    <p:anim calcmode="lin" valueType="num">
                                      <p:cBhvr additive="base">
                                        <p:cTn id="32" dur="700" fill="hold"/>
                                        <p:tgtEl>
                                          <p:spTgt spid="14"/>
                                        </p:tgtEl>
                                        <p:attrNameLst>
                                          <p:attrName>ppt_y</p:attrName>
                                        </p:attrNameLst>
                                      </p:cBhvr>
                                      <p:tavLst>
                                        <p:tav tm="0">
                                          <p:val>
                                            <p:strVal val="#ppt_y+.0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700"/>
                                        <p:tgtEl>
                                          <p:spTgt spid="15"/>
                                        </p:tgtEl>
                                      </p:cBhvr>
                                    </p:animEffect>
                                    <p:anim calcmode="lin" valueType="num">
                                      <p:cBhvr additive="base">
                                        <p:cTn id="36" dur="700" fill="hold"/>
                                        <p:tgtEl>
                                          <p:spTgt spid="15"/>
                                        </p:tgtEl>
                                        <p:attrNameLst>
                                          <p:attrName>ppt_y</p:attrName>
                                        </p:attrNameLst>
                                      </p:cBhvr>
                                      <p:tavLst>
                                        <p:tav tm="0">
                                          <p:val>
                                            <p:strVal val="#ppt_y+.0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700"/>
                                        <p:tgtEl>
                                          <p:spTgt spid="16"/>
                                        </p:tgtEl>
                                      </p:cBhvr>
                                    </p:animEffect>
                                    <p:anim calcmode="lin" valueType="num">
                                      <p:cBhvr additive="base">
                                        <p:cTn id="40" dur="700" fill="hold"/>
                                        <p:tgtEl>
                                          <p:spTgt spid="16"/>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700"/>
                                        <p:tgtEl>
                                          <p:spTgt spid="17"/>
                                        </p:tgtEl>
                                      </p:cBhvr>
                                    </p:animEffect>
                                    <p:anim calcmode="lin" valueType="num">
                                      <p:cBhvr additive="base">
                                        <p:cTn id="44" dur="700" fill="hold"/>
                                        <p:tgtEl>
                                          <p:spTgt spid="17"/>
                                        </p:tgtEl>
                                        <p:attrNameLst>
                                          <p:attrName>ppt_y</p:attrName>
                                        </p:attrNameLst>
                                      </p:cBhvr>
                                      <p:tavLst>
                                        <p:tav tm="0">
                                          <p:val>
                                            <p:strVal val="#ppt_y+.08"/>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700"/>
                                        <p:tgtEl>
                                          <p:spTgt spid="18"/>
                                        </p:tgtEl>
                                      </p:cBhvr>
                                    </p:animEffect>
                                    <p:anim calcmode="lin" valueType="num">
                                      <p:cBhvr additive="base">
                                        <p:cTn id="50" dur="700" fill="hold"/>
                                        <p:tgtEl>
                                          <p:spTgt spid="18"/>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700"/>
                                        <p:tgtEl>
                                          <p:spTgt spid="19"/>
                                        </p:tgtEl>
                                      </p:cBhvr>
                                    </p:animEffect>
                                    <p:anim calcmode="lin" valueType="num">
                                      <p:cBhvr additive="base">
                                        <p:cTn id="54" dur="700" fill="hold"/>
                                        <p:tgtEl>
                                          <p:spTgt spid="19"/>
                                        </p:tgtEl>
                                        <p:attrNameLst>
                                          <p:attrName>ppt_y</p:attrName>
                                        </p:attrNameLst>
                                      </p:cBhvr>
                                      <p:tavLst>
                                        <p:tav tm="0">
                                          <p:val>
                                            <p:strVal val="#ppt_y+.0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700"/>
                                        <p:tgtEl>
                                          <p:spTgt spid="20"/>
                                        </p:tgtEl>
                                      </p:cBhvr>
                                    </p:animEffect>
                                    <p:anim calcmode="lin" valueType="num">
                                      <p:cBhvr additive="base">
                                        <p:cTn id="58" dur="700" fill="hold"/>
                                        <p:tgtEl>
                                          <p:spTgt spid="20"/>
                                        </p:tgtEl>
                                        <p:attrNameLst>
                                          <p:attrName>ppt_y</p:attrName>
                                        </p:attrNameLst>
                                      </p:cBhvr>
                                      <p:tavLst>
                                        <p:tav tm="0">
                                          <p:val>
                                            <p:strVal val="#ppt_y+.0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700"/>
                                        <p:tgtEl>
                                          <p:spTgt spid="21"/>
                                        </p:tgtEl>
                                      </p:cBhvr>
                                    </p:animEffect>
                                    <p:anim calcmode="lin" valueType="num">
                                      <p:cBhvr additive="base">
                                        <p:cTn id="62" dur="700" fill="hold"/>
                                        <p:tgtEl>
                                          <p:spTgt spid="21"/>
                                        </p:tgtEl>
                                        <p:attrNameLst>
                                          <p:attrName>ppt_y</p:attrName>
                                        </p:attrNameLst>
                                      </p:cBhvr>
                                      <p:tavLst>
                                        <p:tav tm="0">
                                          <p:val>
                                            <p:strVal val="#ppt_y+.08"/>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700"/>
                                        <p:tgtEl>
                                          <p:spTgt spid="22"/>
                                        </p:tgtEl>
                                      </p:cBhvr>
                                    </p:animEffect>
                                    <p:anim calcmode="lin" valueType="num">
                                      <p:cBhvr additive="base">
                                        <p:cTn id="66" dur="700" fill="hold"/>
                                        <p:tgtEl>
                                          <p:spTgt spid="22"/>
                                        </p:tgtEl>
                                        <p:attrNameLst>
                                          <p:attrName>ppt_y</p:attrName>
                                        </p:attrNameLst>
                                      </p:cBhvr>
                                      <p:tavLst>
                                        <p:tav tm="0">
                                          <p:val>
                                            <p:strVal val="#ppt_y+.08"/>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77" presetID="23" presetClass="entr" presetSubtype="16"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animScale>
                                      <p:cBhvr>
                                        <p:cTn id="79" dur="500" fill="hold"/>
                                        <p:tgtEl>
                                          <p:spTgt spid="25"/>
                                        </p:tgtEl>
                                      </p:cBhvr>
                                      <p:from x="0" y="0"/>
                                      <p:to x="100000" y="100000"/>
                                    </p:animScale>
                                    <p:animEffect transition="in" filter="fade">
                                      <p:cBhvr>
                                        <p:cTn id="80" dur="500"/>
                                        <p:tgtEl>
                                          <p:spTgt spid="25"/>
                                        </p:tgtEl>
                                      </p:cBhvr>
                                    </p:animEffect>
                                  </p:childTnLst>
                                </p:cTn>
                              </p:par>
                              <p:par>
                                <p:cTn id="81" presetID="23" presetClass="entr" presetSubtype="16"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Scale>
                                      <p:cBhvr>
                                        <p:cTn id="83" dur="500" fill="hold"/>
                                        <p:tgtEl>
                                          <p:spTgt spid="26"/>
                                        </p:tgtEl>
                                      </p:cBhvr>
                                      <p:from x="0" y="0"/>
                                      <p:to x="100000" y="100000"/>
                                    </p:animScale>
                                    <p:animEffect transition="in" filter="fade">
                                      <p:cBhvr>
                                        <p:cTn id="8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46695"/>
          </a:xfrm>
          <a:prstGeom prst="rect">
            <a:avLst/>
          </a:prstGeom>
          <a:noFill/>
          <a:ln/>
        </p:spPr>
        <p:txBody>
          <a:bodyPr wrap="none" lIns="0" tIns="0" rIns="0" bIns="0" rtlCol="0" anchor="ctr"/>
          <a:lstStyle/>
          <a:p>
            <a:pPr algn="l" indent="0" marL="0">
              <a:lnSpc>
                <a:spcPts val="2730"/>
              </a:lnSpc>
              <a:buNone/>
            </a:pPr>
            <a:r>
              <a:rPr lang="en-US" sz="2100" b="1" dirty="0">
                <a:solidFill>
                  <a:srgbClr val="37352F"/>
                </a:solidFill>
                <a:latin typeface="Noto Sans Thai" pitchFamily="34" charset="0"/>
                <a:ea typeface="Noto Sans Thai" pitchFamily="34" charset="-122"/>
                <a:cs typeface="Noto Sans Thai" pitchFamily="34" charset="-120"/>
              </a:rPr>
              <a:t>บทที่ 3: Framework "The Third Place"</a:t>
            </a:r>
            <a:endParaRPr lang="en-US" sz="2100" dirty="0"/>
          </a:p>
        </p:txBody>
      </p:sp>
      <p:sp>
        <p:nvSpPr>
          <p:cNvPr id="3" name="static"/>
          <p:cNvSpPr txBox="1"/>
          <p:nvPr/>
        </p:nvSpPr>
        <p:spPr>
          <a:xfrm>
            <a:off x="609600" y="1222995"/>
            <a:ext cx="6686550" cy="228600"/>
          </a:xfrm>
          <a:prstGeom prst="rect">
            <a:avLst/>
          </a:prstGeom>
          <a:noFill/>
          <a:ln/>
        </p:spPr>
        <p:txBody>
          <a:bodyPr wrap="none" lIns="0" tIns="0" rIns="0" bIns="0" rtlCol="0" anchor="ctr"/>
          <a:lstStyle/>
          <a:p>
            <a:pPr algn="l" indent="0" marL="0">
              <a:lnSpc>
                <a:spcPts val="1800"/>
              </a:lnSpc>
              <a:buNone/>
            </a:pPr>
            <a:r>
              <a:rPr lang="en-US" sz="1200" dirty="0">
                <a:solidFill>
                  <a:srgbClr val="37352F"/>
                </a:solidFill>
                <a:latin typeface="Noto Sans Thai" pitchFamily="34" charset="0"/>
                <a:ea typeface="Noto Sans Thai" pitchFamily="34" charset="-122"/>
                <a:cs typeface="Noto Sans Thai" pitchFamily="34" charset="-120"/>
              </a:rPr>
              <a:t>ปรัชญาหลักของแบรนด์ (Core Brand Philosophy)</a:t>
            </a:r>
            <a:endParaRPr lang="en-US" sz="1200"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Part 2 · การพัฒนา Concept</a:t>
            </a:r>
            <a:endParaRPr lang="en-US" sz="825" dirty="0"/>
          </a:p>
        </p:txBody>
      </p:sp>
      <p:sp>
        <p:nvSpPr>
          <p:cNvPr id="5" name="!!tkey3-1"/>
          <p:cNvSpPr/>
          <p:nvPr/>
        </p:nvSpPr>
        <p:spPr>
          <a:xfrm>
            <a:off x="6438900" y="419100"/>
            <a:ext cx="2095500" cy="266700"/>
          </a:xfrm>
          <a:prstGeom prst="roundRect">
            <a:avLst>
              <a:gd name="adj" fmla="val 10714"/>
            </a:avLst>
          </a:prstGeom>
          <a:solidFill>
            <a:srgbClr val="FDECC8"/>
          </a:solidFill>
          <a:ln/>
        </p:spPr>
      </p:sp>
      <p:sp>
        <p:nvSpPr>
          <p:cNvPr id="6" name="!!tkey3-2"/>
          <p:cNvSpPr txBox="1"/>
          <p:nvPr/>
        </p:nvSpPr>
        <p:spPr>
          <a:xfrm>
            <a:off x="6438900" y="4191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The Third Place</a:t>
            </a:r>
            <a:endParaRPr lang="en-US" sz="900" dirty="0"/>
          </a:p>
        </p:txBody>
      </p:sp>
      <p:sp>
        <p:nvSpPr>
          <p:cNvPr id="7" name="b1:rise"/>
          <p:cNvSpPr/>
          <p:nvPr/>
        </p:nvSpPr>
        <p:spPr>
          <a:xfrm>
            <a:off x="609600" y="1676400"/>
            <a:ext cx="7924800" cy="769590"/>
          </a:xfrm>
          <a:prstGeom prst="roundRect">
            <a:avLst>
              <a:gd name="adj" fmla="val 4951"/>
            </a:avLst>
          </a:prstGeom>
          <a:solidFill>
            <a:srgbClr val="FFFFFF"/>
          </a:solidFill>
          <a:ln w="6350">
            <a:solidFill>
              <a:srgbClr val="E9E9E7"/>
            </a:solidFill>
            <a:prstDash val="solid"/>
          </a:ln>
        </p:spPr>
      </p:sp>
      <p:sp>
        <p:nvSpPr>
          <p:cNvPr id="8" name="b1:rise"/>
          <p:cNvSpPr/>
          <p:nvPr/>
        </p:nvSpPr>
        <p:spPr>
          <a:xfrm>
            <a:off x="766763" y="1788765"/>
            <a:ext cx="1143000" cy="544785"/>
          </a:xfrm>
          <a:prstGeom prst="roundRect">
            <a:avLst>
              <a:gd name="adj" fmla="val 6994"/>
            </a:avLst>
          </a:prstGeom>
          <a:solidFill>
            <a:srgbClr val="F7F7F5"/>
          </a:solidFill>
          <a:ln/>
        </p:spPr>
      </p:sp>
      <p:sp>
        <p:nvSpPr>
          <p:cNvPr id="9" name="b1:rise"/>
          <p:cNvSpPr txBox="1"/>
          <p:nvPr/>
        </p:nvSpPr>
        <p:spPr>
          <a:xfrm>
            <a:off x="881063" y="1864965"/>
            <a:ext cx="987552"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1st Place</a:t>
            </a:r>
            <a:endParaRPr lang="en-US" sz="825" dirty="0"/>
          </a:p>
        </p:txBody>
      </p:sp>
      <p:sp>
        <p:nvSpPr>
          <p:cNvPr id="10" name="b1:rise"/>
          <p:cNvSpPr txBox="1"/>
          <p:nvPr/>
        </p:nvSpPr>
        <p:spPr>
          <a:xfrm>
            <a:off x="881063" y="2030685"/>
            <a:ext cx="987552" cy="226665"/>
          </a:xfrm>
          <a:prstGeom prst="rect">
            <a:avLst/>
          </a:prstGeom>
          <a:noFill/>
          <a:ln/>
        </p:spPr>
        <p:txBody>
          <a:bodyPr wrap="none" lIns="0" tIns="0" rIns="0" bIns="0" rtlCol="0" anchor="ctr"/>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บ้าน</a:t>
            </a:r>
            <a:endParaRPr lang="en-US" sz="1275" dirty="0"/>
          </a:p>
        </p:txBody>
      </p:sp>
      <p:sp>
        <p:nvSpPr>
          <p:cNvPr id="11" name="b1:rise"/>
          <p:cNvSpPr/>
          <p:nvPr/>
        </p:nvSpPr>
        <p:spPr>
          <a:xfrm>
            <a:off x="1985963" y="2004045"/>
            <a:ext cx="228600" cy="114300"/>
          </a:xfrm>
          <a:prstGeom prst="rightArrow">
            <a:avLst/>
          </a:prstGeom>
          <a:solidFill>
            <a:srgbClr val="B9B9B7"/>
          </a:solidFill>
          <a:ln/>
        </p:spPr>
      </p:sp>
      <p:sp>
        <p:nvSpPr>
          <p:cNvPr id="12" name="b1:rise"/>
          <p:cNvSpPr/>
          <p:nvPr/>
        </p:nvSpPr>
        <p:spPr>
          <a:xfrm>
            <a:off x="2290762" y="1788765"/>
            <a:ext cx="1143000" cy="544785"/>
          </a:xfrm>
          <a:prstGeom prst="roundRect">
            <a:avLst>
              <a:gd name="adj" fmla="val 6994"/>
            </a:avLst>
          </a:prstGeom>
          <a:solidFill>
            <a:srgbClr val="F7F7F5"/>
          </a:solidFill>
          <a:ln/>
        </p:spPr>
      </p:sp>
      <p:sp>
        <p:nvSpPr>
          <p:cNvPr id="13" name="b1:rise"/>
          <p:cNvSpPr txBox="1"/>
          <p:nvPr/>
        </p:nvSpPr>
        <p:spPr>
          <a:xfrm>
            <a:off x="2405062" y="1864965"/>
            <a:ext cx="987552"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2nd Place</a:t>
            </a:r>
            <a:endParaRPr lang="en-US" sz="825" dirty="0"/>
          </a:p>
        </p:txBody>
      </p:sp>
      <p:sp>
        <p:nvSpPr>
          <p:cNvPr id="14" name="b1:rise"/>
          <p:cNvSpPr txBox="1"/>
          <p:nvPr/>
        </p:nvSpPr>
        <p:spPr>
          <a:xfrm>
            <a:off x="2405062" y="2030685"/>
            <a:ext cx="987552" cy="226665"/>
          </a:xfrm>
          <a:prstGeom prst="rect">
            <a:avLst/>
          </a:prstGeom>
          <a:noFill/>
          <a:ln/>
        </p:spPr>
        <p:txBody>
          <a:bodyPr wrap="none" lIns="0" tIns="0" rIns="0" bIns="0" rtlCol="0" anchor="ctr"/>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ที่ทำงาน</a:t>
            </a:r>
            <a:endParaRPr lang="en-US" sz="1275" dirty="0"/>
          </a:p>
        </p:txBody>
      </p:sp>
      <p:sp>
        <p:nvSpPr>
          <p:cNvPr id="15" name="b1:rise"/>
          <p:cNvSpPr/>
          <p:nvPr/>
        </p:nvSpPr>
        <p:spPr>
          <a:xfrm>
            <a:off x="3509963" y="2004045"/>
            <a:ext cx="228600" cy="114300"/>
          </a:xfrm>
          <a:prstGeom prst="rightArrow">
            <a:avLst/>
          </a:prstGeom>
          <a:solidFill>
            <a:srgbClr val="B9B9B7"/>
          </a:solidFill>
          <a:ln/>
        </p:spPr>
      </p:sp>
      <p:sp>
        <p:nvSpPr>
          <p:cNvPr id="16" name="b1:rise"/>
          <p:cNvSpPr/>
          <p:nvPr/>
        </p:nvSpPr>
        <p:spPr>
          <a:xfrm>
            <a:off x="3814763" y="1776413"/>
            <a:ext cx="1143000" cy="569565"/>
          </a:xfrm>
          <a:prstGeom prst="roundRect">
            <a:avLst>
              <a:gd name="adj" fmla="val 6689"/>
            </a:avLst>
          </a:prstGeom>
          <a:solidFill>
            <a:srgbClr val="DBEDDB"/>
          </a:solidFill>
          <a:ln/>
        </p:spPr>
      </p:sp>
      <p:sp>
        <p:nvSpPr>
          <p:cNvPr id="17" name="b1:rise"/>
          <p:cNvSpPr txBox="1"/>
          <p:nvPr/>
        </p:nvSpPr>
        <p:spPr>
          <a:xfrm>
            <a:off x="3929063" y="1852612"/>
            <a:ext cx="987552" cy="171450"/>
          </a:xfrm>
          <a:prstGeom prst="rect">
            <a:avLst/>
          </a:prstGeom>
          <a:noFill/>
          <a:ln/>
        </p:spPr>
        <p:txBody>
          <a:bodyPr wrap="none" lIns="0" tIns="0" rIns="0" bIns="0" rtlCol="0" anchor="ctr"/>
          <a:lstStyle/>
          <a:p>
            <a:pPr algn="l" indent="0" marL="0">
              <a:lnSpc>
                <a:spcPts val="1350"/>
              </a:lnSpc>
              <a:buNone/>
            </a:pPr>
            <a:r>
              <a:rPr lang="en-US" sz="900" b="1" dirty="0">
                <a:solidFill>
                  <a:srgbClr val="1C3829"/>
                </a:solidFill>
                <a:latin typeface="Noto Sans Thai" pitchFamily="34" charset="0"/>
                <a:ea typeface="Noto Sans Thai" pitchFamily="34" charset="-122"/>
                <a:cs typeface="Noto Sans Thai" pitchFamily="34" charset="-120"/>
              </a:rPr>
              <a:t>3rd Place</a:t>
            </a:r>
            <a:endParaRPr lang="en-US" sz="900" dirty="0"/>
          </a:p>
        </p:txBody>
      </p:sp>
      <p:sp>
        <p:nvSpPr>
          <p:cNvPr id="18" name="b1:rise"/>
          <p:cNvSpPr txBox="1"/>
          <p:nvPr/>
        </p:nvSpPr>
        <p:spPr>
          <a:xfrm>
            <a:off x="3929063" y="2043113"/>
            <a:ext cx="987552" cy="226665"/>
          </a:xfrm>
          <a:prstGeom prst="rect">
            <a:avLst/>
          </a:prstGeom>
          <a:noFill/>
          <a:ln/>
        </p:spPr>
        <p:txBody>
          <a:bodyPr wrap="none" lIns="0" tIns="0" rIns="0" bIns="0" rtlCol="0" anchor="ctr"/>
          <a:lstStyle/>
          <a:p>
            <a:pPr algn="l" indent="0" marL="0">
              <a:lnSpc>
                <a:spcPts val="1785"/>
              </a:lnSpc>
              <a:buNone/>
            </a:pPr>
            <a:r>
              <a:rPr lang="en-US" sz="1275" b="1" dirty="0">
                <a:solidFill>
                  <a:srgbClr val="1C3829"/>
                </a:solidFill>
                <a:latin typeface="Noto Sans Thai" pitchFamily="34" charset="0"/>
                <a:ea typeface="Noto Sans Thai" pitchFamily="34" charset="-122"/>
                <a:cs typeface="Noto Sans Thai" pitchFamily="34" charset="-120"/>
              </a:rPr>
              <a:t>Starbucks</a:t>
            </a:r>
            <a:endParaRPr lang="en-US" sz="1275" dirty="0"/>
          </a:p>
        </p:txBody>
      </p:sp>
      <p:sp>
        <p:nvSpPr>
          <p:cNvPr id="19" name="b1:rise"/>
          <p:cNvSpPr txBox="1"/>
          <p:nvPr/>
        </p:nvSpPr>
        <p:spPr>
          <a:xfrm>
            <a:off x="5110162" y="1873895"/>
            <a:ext cx="3528441"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Pillar 1 · The Third Place</a:t>
            </a:r>
            <a:endParaRPr lang="en-US" sz="825" dirty="0"/>
          </a:p>
        </p:txBody>
      </p:sp>
      <p:sp>
        <p:nvSpPr>
          <p:cNvPr id="20" name="b1:rise"/>
          <p:cNvSpPr txBox="1"/>
          <p:nvPr/>
        </p:nvSpPr>
        <p:spPr>
          <a:xfrm>
            <a:off x="5110162" y="2049140"/>
            <a:ext cx="3528441" cy="199281"/>
          </a:xfrm>
          <a:prstGeom prst="rect">
            <a:avLst/>
          </a:prstGeom>
          <a:noFill/>
          <a:ln/>
        </p:spPr>
        <p:txBody>
          <a:bodyPr wrap="none" lIns="0" tIns="0" rIns="0" bIns="0" rtlCol="0" anchor="ctr"/>
          <a:lstStyle/>
          <a:p>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ที่พักพิงอันอบอุ่น ไร้ความกดดัน ระหว่างบ้านกับที่ทำงาน</a:t>
            </a:r>
            <a:endParaRPr lang="en-US" sz="1013" dirty="0"/>
          </a:p>
        </p:txBody>
      </p:sp>
      <p:sp>
        <p:nvSpPr>
          <p:cNvPr id="21" name="b2:rise"/>
          <p:cNvSpPr/>
          <p:nvPr/>
        </p:nvSpPr>
        <p:spPr>
          <a:xfrm>
            <a:off x="609600" y="2486025"/>
            <a:ext cx="3905250" cy="1190625"/>
          </a:xfrm>
          <a:prstGeom prst="roundRect">
            <a:avLst>
              <a:gd name="adj" fmla="val 3200"/>
            </a:avLst>
          </a:prstGeom>
          <a:solidFill>
            <a:srgbClr val="FFFFFF"/>
          </a:solidFill>
          <a:ln w="6350">
            <a:solidFill>
              <a:srgbClr val="E9E9E7"/>
            </a:solidFill>
            <a:prstDash val="solid"/>
          </a:ln>
        </p:spPr>
      </p:sp>
      <p:sp>
        <p:nvSpPr>
          <p:cNvPr id="22" name="b2:rise"/>
          <p:cNvSpPr txBox="1"/>
          <p:nvPr/>
        </p:nvSpPr>
        <p:spPr>
          <a:xfrm>
            <a:off x="766763" y="2643188"/>
            <a:ext cx="3878199"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Pillar 2 · Emotional Connection</a:t>
            </a:r>
            <a:endParaRPr lang="en-US" sz="825" dirty="0"/>
          </a:p>
        </p:txBody>
      </p:sp>
      <p:sp>
        <p:nvSpPr>
          <p:cNvPr id="23" name="b2:rise"/>
          <p:cNvSpPr txBox="1"/>
          <p:nvPr/>
        </p:nvSpPr>
        <p:spPr>
          <a:xfrm>
            <a:off x="766763" y="2866058"/>
            <a:ext cx="3734562" cy="398562"/>
          </a:xfrm>
          <a:prstGeom prst="rect">
            <a:avLst/>
          </a:prstGeom>
          <a:noFill/>
          <a:ln/>
        </p:spPr>
        <p:txBody>
          <a:bodyPr wrap="square" lIns="0" tIns="0" rIns="0" bIns="0" rtlCol="0" anchor="t"/>
          <a:lstStyle/>
          <a:p>
            <a:pPr algn="l" indent="0" marL="0">
              <a:lnSpc>
                <a:spcPts val="1569"/>
              </a:lnSpc>
              <a:buNone/>
            </a:pPr>
            <a:r>
              <a:rPr lang="en-US" sz="1013" i="1" dirty="0">
                <a:solidFill>
                  <a:srgbClr val="37352F"/>
                </a:solidFill>
                <a:latin typeface="Noto Sans Thai" pitchFamily="34" charset="0"/>
                <a:ea typeface="Noto Sans Thai" pitchFamily="34" charset="-122"/>
                <a:cs typeface="Noto Sans Thai" pitchFamily="34" charset="-120"/>
              </a:rPr>
              <a:t>"เราไม่ได้อยู่ในธุรกิจกาแฟที่ให้บริการผู้คน แต่เราอยู่ในธุรกิจผู้คนที่ให้บริการกาแฟ"</a:t>
            </a:r>
            <a:endParaRPr lang="en-US" sz="1013" dirty="0"/>
          </a:p>
        </p:txBody>
      </p:sp>
      <p:sp>
        <p:nvSpPr>
          <p:cNvPr id="24" name="b2:rise"/>
          <p:cNvSpPr txBox="1"/>
          <p:nvPr/>
        </p:nvSpPr>
        <p:spPr>
          <a:xfrm>
            <a:off x="766763" y="3340819"/>
            <a:ext cx="3878199" cy="171450"/>
          </a:xfrm>
          <a:prstGeom prst="rect">
            <a:avLst/>
          </a:prstGeom>
          <a:noFill/>
          <a:ln/>
        </p:spPr>
        <p:txBody>
          <a:bodyPr wrap="none" lIns="0" tIns="0" rIns="0" bIns="0" rtlCol="0" anchor="ctr"/>
          <a:lstStyle/>
          <a:p>
            <a:pPr algn="l" indent="0" marL="0">
              <a:lnSpc>
                <a:spcPts val="1350"/>
              </a:lnSpc>
              <a:buNone/>
            </a:pPr>
            <a:r>
              <a:rPr lang="en-US" sz="900" dirty="0">
                <a:solidFill>
                  <a:srgbClr val="787774"/>
                </a:solidFill>
                <a:latin typeface="Noto Sans Thai" pitchFamily="34" charset="0"/>
                <a:ea typeface="Noto Sans Thai" pitchFamily="34" charset="-122"/>
                <a:cs typeface="Noto Sans Thai" pitchFamily="34" charset="-120"/>
              </a:rPr>
              <a:t>Howard Schultz</a:t>
            </a:r>
            <a:endParaRPr lang="en-US" sz="900" dirty="0"/>
          </a:p>
        </p:txBody>
      </p:sp>
      <p:sp>
        <p:nvSpPr>
          <p:cNvPr id="25" name="b3:rise"/>
          <p:cNvSpPr/>
          <p:nvPr/>
        </p:nvSpPr>
        <p:spPr>
          <a:xfrm>
            <a:off x="4629150" y="2486025"/>
            <a:ext cx="3905250" cy="1190625"/>
          </a:xfrm>
          <a:prstGeom prst="roundRect">
            <a:avLst>
              <a:gd name="adj" fmla="val 3200"/>
            </a:avLst>
          </a:prstGeom>
          <a:solidFill>
            <a:srgbClr val="FFFFFF"/>
          </a:solidFill>
          <a:ln w="6350">
            <a:solidFill>
              <a:srgbClr val="E9E9E7"/>
            </a:solidFill>
            <a:prstDash val="solid"/>
          </a:ln>
        </p:spPr>
      </p:sp>
      <p:sp>
        <p:nvSpPr>
          <p:cNvPr id="26" name="b3:rise"/>
          <p:cNvSpPr txBox="1"/>
          <p:nvPr/>
        </p:nvSpPr>
        <p:spPr>
          <a:xfrm>
            <a:off x="4786313" y="2643188"/>
            <a:ext cx="3878199"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Pillar 3 · Atmosphere คือ Product</a:t>
            </a:r>
            <a:endParaRPr lang="en-US" sz="825" dirty="0"/>
          </a:p>
        </p:txBody>
      </p:sp>
      <p:sp>
        <p:nvSpPr>
          <p:cNvPr id="27" name="b3:rise"/>
          <p:cNvSpPr/>
          <p:nvPr/>
        </p:nvSpPr>
        <p:spPr>
          <a:xfrm>
            <a:off x="4786313" y="2885108"/>
            <a:ext cx="857176" cy="262830"/>
          </a:xfrm>
          <a:prstGeom prst="roundRect">
            <a:avLst>
              <a:gd name="adj" fmla="val 10872"/>
            </a:avLst>
          </a:prstGeom>
          <a:solidFill>
            <a:srgbClr val="FDECC8"/>
          </a:solidFill>
          <a:ln/>
        </p:spPr>
      </p:sp>
      <p:sp>
        <p:nvSpPr>
          <p:cNvPr id="28" name="b3:rise"/>
          <p:cNvSpPr txBox="1"/>
          <p:nvPr/>
        </p:nvSpPr>
        <p:spPr>
          <a:xfrm>
            <a:off x="4786313" y="2885108"/>
            <a:ext cx="925750"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402C1B"/>
                </a:solidFill>
                <a:latin typeface="Noto Sans Thai" pitchFamily="34" charset="0"/>
                <a:ea typeface="Noto Sans Thai" pitchFamily="34" charset="-122"/>
                <a:cs typeface="Noto Sans Thai" pitchFamily="34" charset="-120"/>
              </a:rPr>
              <a:t>แสงไฟอบอุ่น</a:t>
            </a:r>
            <a:endParaRPr lang="en-US" sz="1050" dirty="0"/>
          </a:p>
        </p:txBody>
      </p:sp>
      <p:sp>
        <p:nvSpPr>
          <p:cNvPr id="29" name="b3:rise"/>
          <p:cNvSpPr/>
          <p:nvPr/>
        </p:nvSpPr>
        <p:spPr>
          <a:xfrm>
            <a:off x="5700638" y="2885108"/>
            <a:ext cx="813718" cy="262830"/>
          </a:xfrm>
          <a:prstGeom prst="roundRect">
            <a:avLst>
              <a:gd name="adj" fmla="val 10872"/>
            </a:avLst>
          </a:prstGeom>
          <a:solidFill>
            <a:srgbClr val="E8DEEE"/>
          </a:solidFill>
          <a:ln/>
        </p:spPr>
      </p:sp>
      <p:sp>
        <p:nvSpPr>
          <p:cNvPr id="30" name="b3:rise"/>
          <p:cNvSpPr txBox="1"/>
          <p:nvPr/>
        </p:nvSpPr>
        <p:spPr>
          <a:xfrm>
            <a:off x="5700638" y="2885108"/>
            <a:ext cx="878815"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412454"/>
                </a:solidFill>
                <a:latin typeface="Noto Sans Thai" pitchFamily="34" charset="0"/>
                <a:ea typeface="Noto Sans Thai" pitchFamily="34" charset="-122"/>
                <a:cs typeface="Noto Sans Thai" pitchFamily="34" charset="-120"/>
              </a:rPr>
              <a:t>Texture ไม้</a:t>
            </a:r>
            <a:endParaRPr lang="en-US" sz="1050" dirty="0"/>
          </a:p>
        </p:txBody>
      </p:sp>
      <p:sp>
        <p:nvSpPr>
          <p:cNvPr id="31" name="b3:rise"/>
          <p:cNvSpPr/>
          <p:nvPr/>
        </p:nvSpPr>
        <p:spPr>
          <a:xfrm>
            <a:off x="6571506" y="2885108"/>
            <a:ext cx="1061740" cy="262830"/>
          </a:xfrm>
          <a:prstGeom prst="roundRect">
            <a:avLst>
              <a:gd name="adj" fmla="val 10872"/>
            </a:avLst>
          </a:prstGeom>
          <a:solidFill>
            <a:srgbClr val="D3E5EF"/>
          </a:solidFill>
          <a:ln/>
        </p:spPr>
      </p:sp>
      <p:sp>
        <p:nvSpPr>
          <p:cNvPr id="32" name="b3:rise"/>
          <p:cNvSpPr txBox="1"/>
          <p:nvPr/>
        </p:nvSpPr>
        <p:spPr>
          <a:xfrm>
            <a:off x="6571506" y="2885108"/>
            <a:ext cx="1146679"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183347"/>
                </a:solidFill>
                <a:latin typeface="Noto Sans Thai" pitchFamily="34" charset="0"/>
                <a:ea typeface="Noto Sans Thai" pitchFamily="34" charset="-122"/>
                <a:cs typeface="Noto Sans Thai" pitchFamily="34" charset="-120"/>
              </a:rPr>
              <a:t>ดนตรี Acoustic</a:t>
            </a:r>
            <a:endParaRPr lang="en-US" sz="1050" dirty="0"/>
          </a:p>
        </p:txBody>
      </p:sp>
      <p:sp>
        <p:nvSpPr>
          <p:cNvPr id="33" name="b3:rise"/>
          <p:cNvSpPr/>
          <p:nvPr/>
        </p:nvSpPr>
        <p:spPr>
          <a:xfrm>
            <a:off x="4786313" y="3205088"/>
            <a:ext cx="1274564" cy="262830"/>
          </a:xfrm>
          <a:prstGeom prst="roundRect">
            <a:avLst>
              <a:gd name="adj" fmla="val 10872"/>
            </a:avLst>
          </a:prstGeom>
          <a:solidFill>
            <a:srgbClr val="DBEDDB"/>
          </a:solidFill>
          <a:ln/>
        </p:spPr>
      </p:sp>
      <p:sp>
        <p:nvSpPr>
          <p:cNvPr id="34" name="b3:rise"/>
          <p:cNvSpPr txBox="1"/>
          <p:nvPr/>
        </p:nvSpPr>
        <p:spPr>
          <a:xfrm>
            <a:off x="4786313" y="3205088"/>
            <a:ext cx="1376529" cy="262830"/>
          </a:xfrm>
          <a:prstGeom prst="rect">
            <a:avLst/>
          </a:prstGeom>
          <a:noFill/>
          <a:ln/>
        </p:spPr>
        <p:txBody>
          <a:bodyPr wrap="none" lIns="95250" tIns="0" rIns="95250" bIns="0" rtlCol="0" anchor="ctr"/>
          <a:lstStyle/>
          <a:p>
            <a:pPr algn="l" indent="0" marL="0">
              <a:lnSpc>
                <a:spcPts val="1470"/>
              </a:lnSpc>
              <a:buNone/>
            </a:pPr>
            <a:r>
              <a:rPr lang="en-US" sz="1050" dirty="0">
                <a:solidFill>
                  <a:srgbClr val="1C3829"/>
                </a:solidFill>
                <a:latin typeface="Noto Sans Thai" pitchFamily="34" charset="0"/>
                <a:ea typeface="Noto Sans Thai" pitchFamily="34" charset="-122"/>
                <a:cs typeface="Noto Sans Thai" pitchFamily="34" charset="-120"/>
              </a:rPr>
              <a:t>กลิ่นหอมชวนต้อนรับ</a:t>
            </a:r>
            <a:endParaRPr lang="en-US" sz="1050" dirty="0"/>
          </a:p>
        </p:txBody>
      </p:sp>
      <p:sp>
        <p:nvSpPr>
          <p:cNvPr id="35" name="b4:fade"/>
          <p:cNvSpPr/>
          <p:nvPr/>
        </p:nvSpPr>
        <p:spPr>
          <a:xfrm>
            <a:off x="609600" y="3790950"/>
            <a:ext cx="7924800" cy="402431"/>
          </a:xfrm>
          <a:prstGeom prst="roundRect">
            <a:avLst>
              <a:gd name="adj" fmla="val 9467"/>
            </a:avLst>
          </a:prstGeom>
          <a:solidFill>
            <a:srgbClr val="F1F1EF"/>
          </a:solidFill>
          <a:ln/>
        </p:spPr>
      </p:sp>
      <p:sp>
        <p:nvSpPr>
          <p:cNvPr id="36" name="b4:fade"/>
          <p:cNvSpPr txBox="1"/>
          <p:nvPr/>
        </p:nvSpPr>
        <p:spPr>
          <a:xfrm>
            <a:off x="762000" y="3899297"/>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Noto Sans Thai" pitchFamily="34" charset="0"/>
                <a:ea typeface="Noto Sans Thai" pitchFamily="34" charset="-122"/>
                <a:cs typeface="Noto Sans Thai" pitchFamily="34" charset="-120"/>
              </a:rPr>
              <a:t>➡️</a:t>
            </a:r>
            <a:endParaRPr lang="en-US" sz="1125" dirty="0"/>
          </a:p>
        </p:txBody>
      </p:sp>
      <p:sp>
        <p:nvSpPr>
          <p:cNvPr id="37" name="b4:fade"/>
          <p:cNvSpPr txBox="1"/>
          <p:nvPr/>
        </p:nvSpPr>
        <p:spPr>
          <a:xfrm>
            <a:off x="1054596" y="3895725"/>
            <a:ext cx="7913596" cy="192881"/>
          </a:xfrm>
          <a:prstGeom prst="rect">
            <a:avLst/>
          </a:prstGeom>
          <a:noFill/>
          <a:ln/>
        </p:spPr>
        <p:txBody>
          <a:bodyPr wrap="none" lIns="0" tIns="0" rIns="0" bIns="0" rtlCol="0" anchor="ctr"/>
          <a:lstStyle/>
          <a:p>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เมื่อเข้าใจ Concept เชิงกลยุทธ์ของ Third Place แล้ว Starbucks </a:t>
            </a:r>
            <a:pPr algn="l" indent="0" marL="0">
              <a:lnSpc>
                <a:spcPts val="1519"/>
              </a:lnSpc>
              <a:buNone/>
            </a:pPr>
            <a:r>
              <a:rPr lang="en-US" sz="1013" b="1" dirty="0">
                <a:solidFill>
                  <a:srgbClr val="448361"/>
                </a:solidFill>
                <a:latin typeface="Noto Sans Thai" pitchFamily="34" charset="0"/>
                <a:ea typeface="Noto Sans Thai" pitchFamily="34" charset="-122"/>
                <a:cs typeface="Noto Sans Thai" pitchFamily="34" charset="-120"/>
              </a:rPr>
              <a:t>ขยาย Human Experience นี้</a:t>
            </a:r>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ไปสู่ร้านหลายพันสาขาได้อย่างไร?</a:t>
            </a:r>
            <a:endParaRPr lang="en-US" sz="1013" dirty="0"/>
          </a:p>
        </p:txBody>
      </p:sp>
      <p:sp>
        <p:nvSpPr>
          <p:cNvPr id="38" name="!!tkey4-1"/>
          <p:cNvSpPr/>
          <p:nvPr/>
        </p:nvSpPr>
        <p:spPr>
          <a:xfrm>
            <a:off x="6438900" y="4572000"/>
            <a:ext cx="2095500" cy="266700"/>
          </a:xfrm>
          <a:prstGeom prst="roundRect">
            <a:avLst>
              <a:gd name="adj" fmla="val 10714"/>
            </a:avLst>
          </a:prstGeom>
          <a:solidFill>
            <a:srgbClr val="FDECC8"/>
          </a:solidFill>
          <a:ln/>
        </p:spPr>
      </p:sp>
      <p:sp>
        <p:nvSpPr>
          <p:cNvPr id="39" name="!!tkey4-2"/>
          <p:cNvSpPr txBox="1"/>
          <p:nvPr/>
        </p:nvSpPr>
        <p:spPr>
          <a:xfrm>
            <a:off x="6438900" y="45720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ขยาย Human Experience สู่ทุกสาขา</a:t>
            </a:r>
            <a:endParaRPr lang="en-US" sz="900" dirty="0"/>
          </a:p>
        </p:txBody>
      </p:sp>
      <p:sp>
        <p:nvSpPr>
          <p:cNvPr id="40" name="static"/>
          <p:cNvSpPr txBox="1"/>
          <p:nvPr/>
        </p:nvSpPr>
        <p:spPr>
          <a:xfrm>
            <a:off x="609600" y="4667250"/>
            <a:ext cx="2069902" cy="171450"/>
          </a:xfrm>
          <a:prstGeom prst="rect">
            <a:avLst/>
          </a:prstGeom>
          <a:noFill/>
          <a:ln/>
        </p:spPr>
        <p:txBody>
          <a:bodyPr wrap="none" lIns="0" tIns="0" rIns="0" bIns="0" rtlCol="0" anchor="ctr"/>
          <a:lstStyle/>
          <a:p>
            <a:pPr algn="l" indent="0" marL="0">
              <a:lnSpc>
                <a:spcPts val="1350"/>
              </a:lnSpc>
              <a:buNone/>
            </a:pPr>
            <a:r>
              <a:rPr lang="en-US" sz="900" dirty="0">
                <a:solidFill>
                  <a:srgbClr val="787774"/>
                </a:solidFill>
                <a:latin typeface="Noto Sans Thai" pitchFamily="34" charset="0"/>
                <a:ea typeface="Noto Sans Thai" pitchFamily="34" charset="-122"/>
                <a:cs typeface="Noto Sans Thai" pitchFamily="34" charset="-120"/>
              </a:rPr>
              <a:t>สไลด์ 4 จาก 8 · Part 2 · การพัฒนา Concept</a:t>
            </a:r>
            <a:endParaRPr lang="en-US" sz="900" dirty="0"/>
          </a:p>
        </p:txBody>
      </p:sp>
      <p:sp>
        <p:nvSpPr>
          <p:cNvPr id="41" name="static"/>
          <p:cNvSpPr/>
          <p:nvPr/>
        </p:nvSpPr>
        <p:spPr>
          <a:xfrm>
            <a:off x="2870002" y="4724400"/>
            <a:ext cx="57150" cy="57150"/>
          </a:xfrm>
          <a:prstGeom prst="roundRect">
            <a:avLst>
              <a:gd name="adj" fmla="val 50000"/>
            </a:avLst>
          </a:prstGeom>
          <a:solidFill>
            <a:srgbClr val="787774"/>
          </a:solidFill>
          <a:ln/>
        </p:spPr>
      </p:sp>
      <p:sp>
        <p:nvSpPr>
          <p:cNvPr id="42" name="static"/>
          <p:cNvSpPr/>
          <p:nvPr/>
        </p:nvSpPr>
        <p:spPr>
          <a:xfrm>
            <a:off x="2974777" y="4724400"/>
            <a:ext cx="57150" cy="57150"/>
          </a:xfrm>
          <a:prstGeom prst="roundRect">
            <a:avLst>
              <a:gd name="adj" fmla="val 50000"/>
            </a:avLst>
          </a:prstGeom>
          <a:solidFill>
            <a:srgbClr val="787774"/>
          </a:solidFill>
          <a:ln/>
        </p:spPr>
      </p:sp>
      <p:sp>
        <p:nvSpPr>
          <p:cNvPr id="43" name="static"/>
          <p:cNvSpPr/>
          <p:nvPr/>
        </p:nvSpPr>
        <p:spPr>
          <a:xfrm>
            <a:off x="3079552" y="4724400"/>
            <a:ext cx="57150" cy="57150"/>
          </a:xfrm>
          <a:prstGeom prst="roundRect">
            <a:avLst>
              <a:gd name="adj" fmla="val 50000"/>
            </a:avLst>
          </a:prstGeom>
          <a:solidFill>
            <a:srgbClr val="787774"/>
          </a:solidFill>
          <a:ln/>
        </p:spPr>
      </p:sp>
      <p:sp>
        <p:nvSpPr>
          <p:cNvPr id="44" name="static"/>
          <p:cNvSpPr/>
          <p:nvPr/>
        </p:nvSpPr>
        <p:spPr>
          <a:xfrm>
            <a:off x="3184327" y="4724400"/>
            <a:ext cx="171450" cy="57150"/>
          </a:xfrm>
          <a:prstGeom prst="roundRect">
            <a:avLst>
              <a:gd name="adj" fmla="val 50000"/>
            </a:avLst>
          </a:prstGeom>
          <a:solidFill>
            <a:srgbClr val="37352F"/>
          </a:solidFill>
          <a:ln/>
        </p:spPr>
      </p:sp>
      <p:sp>
        <p:nvSpPr>
          <p:cNvPr id="45" name="static"/>
          <p:cNvSpPr/>
          <p:nvPr/>
        </p:nvSpPr>
        <p:spPr>
          <a:xfrm>
            <a:off x="3403402" y="4724400"/>
            <a:ext cx="57150" cy="57150"/>
          </a:xfrm>
          <a:prstGeom prst="roundRect">
            <a:avLst>
              <a:gd name="adj" fmla="val 50000"/>
            </a:avLst>
          </a:prstGeom>
          <a:solidFill>
            <a:srgbClr val="E3E2E0"/>
          </a:solidFill>
          <a:ln/>
        </p:spPr>
      </p:sp>
      <p:sp>
        <p:nvSpPr>
          <p:cNvPr id="46" name="static"/>
          <p:cNvSpPr/>
          <p:nvPr/>
        </p:nvSpPr>
        <p:spPr>
          <a:xfrm>
            <a:off x="3508177" y="4724400"/>
            <a:ext cx="57150" cy="57150"/>
          </a:xfrm>
          <a:prstGeom prst="roundRect">
            <a:avLst>
              <a:gd name="adj" fmla="val 50000"/>
            </a:avLst>
          </a:prstGeom>
          <a:solidFill>
            <a:srgbClr val="E3E2E0"/>
          </a:solidFill>
          <a:ln/>
        </p:spPr>
      </p:sp>
      <p:sp>
        <p:nvSpPr>
          <p:cNvPr id="47" name="static"/>
          <p:cNvSpPr/>
          <p:nvPr/>
        </p:nvSpPr>
        <p:spPr>
          <a:xfrm>
            <a:off x="3612952" y="4724400"/>
            <a:ext cx="57150" cy="57150"/>
          </a:xfrm>
          <a:prstGeom prst="roundRect">
            <a:avLst>
              <a:gd name="adj" fmla="val 50000"/>
            </a:avLst>
          </a:prstGeom>
          <a:solidFill>
            <a:srgbClr val="E3E2E0"/>
          </a:solidFill>
          <a:ln/>
        </p:spPr>
      </p:sp>
      <p:sp>
        <p:nvSpPr>
          <p:cNvPr id="48" name="static"/>
          <p:cNvSpPr/>
          <p:nvPr/>
        </p:nvSpPr>
        <p:spPr>
          <a:xfrm>
            <a:off x="3717727" y="4724400"/>
            <a:ext cx="57150" cy="57150"/>
          </a:xfrm>
          <a:prstGeom prst="roundRect">
            <a:avLst>
              <a:gd name="adj" fmla="val 50000"/>
            </a:avLst>
          </a:prstGeom>
          <a:solidFill>
            <a:srgbClr val="E3E2E0"/>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59" fill="hold">
                      <p:stCondLst>
                        <p:cond delay="indefinite"/>
                      </p:stCondLst>
                      <p:childTnLst>
                        <p:par>
                          <p:cTn id="60"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700"/>
                                        <p:tgtEl>
                                          <p:spTgt spid="7"/>
                                        </p:tgtEl>
                                      </p:cBhvr>
                                    </p:animEffect>
                                    <p:anim calcmode="lin" valueType="num">
                                      <p:cBhvr additive="base">
                                        <p:cTn id="6" dur="700" fill="hold"/>
                                        <p:tgtEl>
                                          <p:spTgt spid="7"/>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700"/>
                                        <p:tgtEl>
                                          <p:spTgt spid="8"/>
                                        </p:tgtEl>
                                      </p:cBhvr>
                                    </p:animEffect>
                                    <p:anim calcmode="lin" valueType="num">
                                      <p:cBhvr additive="base">
                                        <p:cTn id="10" dur="700" fill="hold"/>
                                        <p:tgtEl>
                                          <p:spTgt spid="8"/>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additive="base">
                                        <p:cTn id="14" dur="700" fill="hold"/>
                                        <p:tgtEl>
                                          <p:spTgt spid="9"/>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anim calcmode="lin" valueType="num">
                                      <p:cBhvr additive="base">
                                        <p:cTn id="18" dur="700" fill="hold"/>
                                        <p:tgtEl>
                                          <p:spTgt spid="10"/>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00"/>
                                        <p:tgtEl>
                                          <p:spTgt spid="11"/>
                                        </p:tgtEl>
                                      </p:cBhvr>
                                    </p:animEffect>
                                    <p:anim calcmode="lin" valueType="num">
                                      <p:cBhvr additive="base">
                                        <p:cTn id="22" dur="700" fill="hold"/>
                                        <p:tgtEl>
                                          <p:spTgt spid="11"/>
                                        </p:tgtEl>
                                        <p:attrNameLst>
                                          <p:attrName>ppt_y</p:attrName>
                                        </p:attrNameLst>
                                      </p:cBhvr>
                                      <p:tavLst>
                                        <p:tav tm="0">
                                          <p:val>
                                            <p:strVal val="#ppt_y+.08"/>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700"/>
                                        <p:tgtEl>
                                          <p:spTgt spid="12"/>
                                        </p:tgtEl>
                                      </p:cBhvr>
                                    </p:animEffect>
                                    <p:anim calcmode="lin" valueType="num">
                                      <p:cBhvr additive="base">
                                        <p:cTn id="26" dur="700" fill="hold"/>
                                        <p:tgtEl>
                                          <p:spTgt spid="12"/>
                                        </p:tgtEl>
                                        <p:attrNameLst>
                                          <p:attrName>ppt_y</p:attrName>
                                        </p:attrNameLst>
                                      </p:cBhvr>
                                      <p:tavLst>
                                        <p:tav tm="0">
                                          <p:val>
                                            <p:strVal val="#ppt_y+.0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700"/>
                                        <p:tgtEl>
                                          <p:spTgt spid="13"/>
                                        </p:tgtEl>
                                      </p:cBhvr>
                                    </p:animEffect>
                                    <p:anim calcmode="lin" valueType="num">
                                      <p:cBhvr additive="base">
                                        <p:cTn id="30" dur="700" fill="hold"/>
                                        <p:tgtEl>
                                          <p:spTgt spid="13"/>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700"/>
                                        <p:tgtEl>
                                          <p:spTgt spid="14"/>
                                        </p:tgtEl>
                                      </p:cBhvr>
                                    </p:animEffect>
                                    <p:anim calcmode="lin" valueType="num">
                                      <p:cBhvr additive="base">
                                        <p:cTn id="34" dur="700" fill="hold"/>
                                        <p:tgtEl>
                                          <p:spTgt spid="14"/>
                                        </p:tgtEl>
                                        <p:attrNameLst>
                                          <p:attrName>ppt_y</p:attrName>
                                        </p:attrNameLst>
                                      </p:cBhvr>
                                      <p:tavLst>
                                        <p:tav tm="0">
                                          <p:val>
                                            <p:strVal val="#ppt_y+.08"/>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700"/>
                                        <p:tgtEl>
                                          <p:spTgt spid="15"/>
                                        </p:tgtEl>
                                      </p:cBhvr>
                                    </p:animEffect>
                                    <p:anim calcmode="lin" valueType="num">
                                      <p:cBhvr additive="base">
                                        <p:cTn id="38" dur="700" fill="hold"/>
                                        <p:tgtEl>
                                          <p:spTgt spid="15"/>
                                        </p:tgtEl>
                                        <p:attrNameLst>
                                          <p:attrName>ppt_y</p:attrName>
                                        </p:attrNameLst>
                                      </p:cBhvr>
                                      <p:tavLst>
                                        <p:tav tm="0">
                                          <p:val>
                                            <p:strVal val="#ppt_y+.0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700"/>
                                        <p:tgtEl>
                                          <p:spTgt spid="16"/>
                                        </p:tgtEl>
                                      </p:cBhvr>
                                    </p:animEffect>
                                    <p:anim calcmode="lin" valueType="num">
                                      <p:cBhvr additive="base">
                                        <p:cTn id="42" dur="700" fill="hold"/>
                                        <p:tgtEl>
                                          <p:spTgt spid="16"/>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700"/>
                                        <p:tgtEl>
                                          <p:spTgt spid="17"/>
                                        </p:tgtEl>
                                      </p:cBhvr>
                                    </p:animEffect>
                                    <p:anim calcmode="lin" valueType="num">
                                      <p:cBhvr additive="base">
                                        <p:cTn id="46" dur="700" fill="hold"/>
                                        <p:tgtEl>
                                          <p:spTgt spid="17"/>
                                        </p:tgtEl>
                                        <p:attrNameLst>
                                          <p:attrName>ppt_y</p:attrName>
                                        </p:attrNameLst>
                                      </p:cBhvr>
                                      <p:tavLst>
                                        <p:tav tm="0">
                                          <p:val>
                                            <p:strVal val="#ppt_y+.0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700"/>
                                        <p:tgtEl>
                                          <p:spTgt spid="18"/>
                                        </p:tgtEl>
                                      </p:cBhvr>
                                    </p:animEffect>
                                    <p:anim calcmode="lin" valueType="num">
                                      <p:cBhvr additive="base">
                                        <p:cTn id="50" dur="700" fill="hold"/>
                                        <p:tgtEl>
                                          <p:spTgt spid="18"/>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700"/>
                                        <p:tgtEl>
                                          <p:spTgt spid="19"/>
                                        </p:tgtEl>
                                      </p:cBhvr>
                                    </p:animEffect>
                                    <p:anim calcmode="lin" valueType="num">
                                      <p:cBhvr additive="base">
                                        <p:cTn id="54" dur="700" fill="hold"/>
                                        <p:tgtEl>
                                          <p:spTgt spid="19"/>
                                        </p:tgtEl>
                                        <p:attrNameLst>
                                          <p:attrName>ppt_y</p:attrName>
                                        </p:attrNameLst>
                                      </p:cBhvr>
                                      <p:tavLst>
                                        <p:tav tm="0">
                                          <p:val>
                                            <p:strVal val="#ppt_y+.0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700"/>
                                        <p:tgtEl>
                                          <p:spTgt spid="20"/>
                                        </p:tgtEl>
                                      </p:cBhvr>
                                    </p:animEffect>
                                    <p:anim calcmode="lin" valueType="num">
                                      <p:cBhvr additive="base">
                                        <p:cTn id="58" dur="700" fill="hold"/>
                                        <p:tgtEl>
                                          <p:spTgt spid="20"/>
                                        </p:tgtEl>
                                        <p:attrNameLst>
                                          <p:attrName>ppt_y</p:attrName>
                                        </p:attrNameLst>
                                      </p:cBhvr>
                                      <p:tavLst>
                                        <p:tav tm="0">
                                          <p:val>
                                            <p:strVal val="#ppt_y+.08"/>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700"/>
                                        <p:tgtEl>
                                          <p:spTgt spid="21"/>
                                        </p:tgtEl>
                                      </p:cBhvr>
                                    </p:animEffect>
                                    <p:anim calcmode="lin" valueType="num">
                                      <p:cBhvr additive="base">
                                        <p:cTn id="64" dur="700" fill="hold"/>
                                        <p:tgtEl>
                                          <p:spTgt spid="21"/>
                                        </p:tgtEl>
                                        <p:attrNameLst>
                                          <p:attrName>ppt_y</p:attrName>
                                        </p:attrNameLst>
                                      </p:cBhvr>
                                      <p:tavLst>
                                        <p:tav tm="0">
                                          <p:val>
                                            <p:strVal val="#ppt_y+.0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700"/>
                                        <p:tgtEl>
                                          <p:spTgt spid="22"/>
                                        </p:tgtEl>
                                      </p:cBhvr>
                                    </p:animEffect>
                                    <p:anim calcmode="lin" valueType="num">
                                      <p:cBhvr additive="base">
                                        <p:cTn id="68" dur="700" fill="hold"/>
                                        <p:tgtEl>
                                          <p:spTgt spid="22"/>
                                        </p:tgtEl>
                                        <p:attrNameLst>
                                          <p:attrName>ppt_y</p:attrName>
                                        </p:attrNameLst>
                                      </p:cBhvr>
                                      <p:tavLst>
                                        <p:tav tm="0">
                                          <p:val>
                                            <p:strVal val="#ppt_y+.0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700"/>
                                        <p:tgtEl>
                                          <p:spTgt spid="23"/>
                                        </p:tgtEl>
                                      </p:cBhvr>
                                    </p:animEffect>
                                    <p:anim calcmode="lin" valueType="num">
                                      <p:cBhvr additive="base">
                                        <p:cTn id="72" dur="700" fill="hold"/>
                                        <p:tgtEl>
                                          <p:spTgt spid="23"/>
                                        </p:tgtEl>
                                        <p:attrNameLst>
                                          <p:attrName>ppt_y</p:attrName>
                                        </p:attrNameLst>
                                      </p:cBhvr>
                                      <p:tavLst>
                                        <p:tav tm="0">
                                          <p:val>
                                            <p:strVal val="#ppt_y+.08"/>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700"/>
                                        <p:tgtEl>
                                          <p:spTgt spid="24"/>
                                        </p:tgtEl>
                                      </p:cBhvr>
                                    </p:animEffect>
                                    <p:anim calcmode="lin" valueType="num">
                                      <p:cBhvr additive="base">
                                        <p:cTn id="76" dur="700" fill="hold"/>
                                        <p:tgtEl>
                                          <p:spTgt spid="24"/>
                                        </p:tgtEl>
                                        <p:attrNameLst>
                                          <p:attrName>ppt_y</p:attrName>
                                        </p:attrNameLst>
                                      </p:cBhvr>
                                      <p:tavLst>
                                        <p:tav tm="0">
                                          <p:val>
                                            <p:strVal val="#ppt_y+.08"/>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700"/>
                                        <p:tgtEl>
                                          <p:spTgt spid="25"/>
                                        </p:tgtEl>
                                      </p:cBhvr>
                                    </p:animEffect>
                                    <p:anim calcmode="lin" valueType="num">
                                      <p:cBhvr additive="base">
                                        <p:cTn id="82" dur="700" fill="hold"/>
                                        <p:tgtEl>
                                          <p:spTgt spid="25"/>
                                        </p:tgtEl>
                                        <p:attrNameLst>
                                          <p:attrName>ppt_y</p:attrName>
                                        </p:attrNameLst>
                                      </p:cBhvr>
                                      <p:tavLst>
                                        <p:tav tm="0">
                                          <p:val>
                                            <p:strVal val="#ppt_y+.08"/>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700"/>
                                        <p:tgtEl>
                                          <p:spTgt spid="26"/>
                                        </p:tgtEl>
                                      </p:cBhvr>
                                    </p:animEffect>
                                    <p:anim calcmode="lin" valueType="num">
                                      <p:cBhvr additive="base">
                                        <p:cTn id="86" dur="700" fill="hold"/>
                                        <p:tgtEl>
                                          <p:spTgt spid="26"/>
                                        </p:tgtEl>
                                        <p:attrNameLst>
                                          <p:attrName>ppt_y</p:attrName>
                                        </p:attrNameLst>
                                      </p:cBhvr>
                                      <p:tavLst>
                                        <p:tav tm="0">
                                          <p:val>
                                            <p:strVal val="#ppt_y+.08"/>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700"/>
                                        <p:tgtEl>
                                          <p:spTgt spid="27"/>
                                        </p:tgtEl>
                                      </p:cBhvr>
                                    </p:animEffect>
                                    <p:anim calcmode="lin" valueType="num">
                                      <p:cBhvr additive="base">
                                        <p:cTn id="90" dur="700" fill="hold"/>
                                        <p:tgtEl>
                                          <p:spTgt spid="27"/>
                                        </p:tgtEl>
                                        <p:attrNameLst>
                                          <p:attrName>ppt_y</p:attrName>
                                        </p:attrNameLst>
                                      </p:cBhvr>
                                      <p:tavLst>
                                        <p:tav tm="0">
                                          <p:val>
                                            <p:strVal val="#ppt_y+.08"/>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fade">
                                      <p:cBhvr>
                                        <p:cTn id="93" dur="700"/>
                                        <p:tgtEl>
                                          <p:spTgt spid="28"/>
                                        </p:tgtEl>
                                      </p:cBhvr>
                                    </p:animEffect>
                                    <p:anim calcmode="lin" valueType="num">
                                      <p:cBhvr additive="base">
                                        <p:cTn id="94" dur="700" fill="hold"/>
                                        <p:tgtEl>
                                          <p:spTgt spid="28"/>
                                        </p:tgtEl>
                                        <p:attrNameLst>
                                          <p:attrName>ppt_y</p:attrName>
                                        </p:attrNameLst>
                                      </p:cBhvr>
                                      <p:tavLst>
                                        <p:tav tm="0">
                                          <p:val>
                                            <p:strVal val="#ppt_y+.08"/>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700"/>
                                        <p:tgtEl>
                                          <p:spTgt spid="29"/>
                                        </p:tgtEl>
                                      </p:cBhvr>
                                    </p:animEffect>
                                    <p:anim calcmode="lin" valueType="num">
                                      <p:cBhvr additive="base">
                                        <p:cTn id="98" dur="700" fill="hold"/>
                                        <p:tgtEl>
                                          <p:spTgt spid="29"/>
                                        </p:tgtEl>
                                        <p:attrNameLst>
                                          <p:attrName>ppt_y</p:attrName>
                                        </p:attrNameLst>
                                      </p:cBhvr>
                                      <p:tavLst>
                                        <p:tav tm="0">
                                          <p:val>
                                            <p:strVal val="#ppt_y+.08"/>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30"/>
                                        </p:tgtEl>
                                        <p:attrNameLst>
                                          <p:attrName>style.visibility</p:attrName>
                                        </p:attrNameLst>
                                      </p:cBhvr>
                                      <p:to>
                                        <p:strVal val="visible"/>
                                      </p:to>
                                    </p:set>
                                    <p:animEffect transition="in" filter="fade">
                                      <p:cBhvr>
                                        <p:cTn id="101" dur="700"/>
                                        <p:tgtEl>
                                          <p:spTgt spid="30"/>
                                        </p:tgtEl>
                                      </p:cBhvr>
                                    </p:animEffect>
                                    <p:anim calcmode="lin" valueType="num">
                                      <p:cBhvr additive="base">
                                        <p:cTn id="102" dur="700" fill="hold"/>
                                        <p:tgtEl>
                                          <p:spTgt spid="30"/>
                                        </p:tgtEl>
                                        <p:attrNameLst>
                                          <p:attrName>ppt_y</p:attrName>
                                        </p:attrNameLst>
                                      </p:cBhvr>
                                      <p:tavLst>
                                        <p:tav tm="0">
                                          <p:val>
                                            <p:strVal val="#ppt_y+.08"/>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700"/>
                                        <p:tgtEl>
                                          <p:spTgt spid="31"/>
                                        </p:tgtEl>
                                      </p:cBhvr>
                                    </p:animEffect>
                                    <p:anim calcmode="lin" valueType="num">
                                      <p:cBhvr additive="base">
                                        <p:cTn id="106" dur="700" fill="hold"/>
                                        <p:tgtEl>
                                          <p:spTgt spid="31"/>
                                        </p:tgtEl>
                                        <p:attrNameLst>
                                          <p:attrName>ppt_y</p:attrName>
                                        </p:attrNameLst>
                                      </p:cBhvr>
                                      <p:tavLst>
                                        <p:tav tm="0">
                                          <p:val>
                                            <p:strVal val="#ppt_y+.08"/>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32"/>
                                        </p:tgtEl>
                                        <p:attrNameLst>
                                          <p:attrName>style.visibility</p:attrName>
                                        </p:attrNameLst>
                                      </p:cBhvr>
                                      <p:to>
                                        <p:strVal val="visible"/>
                                      </p:to>
                                    </p:set>
                                    <p:animEffect transition="in" filter="fade">
                                      <p:cBhvr>
                                        <p:cTn id="109" dur="700"/>
                                        <p:tgtEl>
                                          <p:spTgt spid="32"/>
                                        </p:tgtEl>
                                      </p:cBhvr>
                                    </p:animEffect>
                                    <p:anim calcmode="lin" valueType="num">
                                      <p:cBhvr additive="base">
                                        <p:cTn id="110" dur="700" fill="hold"/>
                                        <p:tgtEl>
                                          <p:spTgt spid="32"/>
                                        </p:tgtEl>
                                        <p:attrNameLst>
                                          <p:attrName>ppt_y</p:attrName>
                                        </p:attrNameLst>
                                      </p:cBhvr>
                                      <p:tavLst>
                                        <p:tav tm="0">
                                          <p:val>
                                            <p:strVal val="#ppt_y+.08"/>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33"/>
                                        </p:tgtEl>
                                        <p:attrNameLst>
                                          <p:attrName>style.visibility</p:attrName>
                                        </p:attrNameLst>
                                      </p:cBhvr>
                                      <p:to>
                                        <p:strVal val="visible"/>
                                      </p:to>
                                    </p:set>
                                    <p:animEffect transition="in" filter="fade">
                                      <p:cBhvr>
                                        <p:cTn id="113" dur="700"/>
                                        <p:tgtEl>
                                          <p:spTgt spid="33"/>
                                        </p:tgtEl>
                                      </p:cBhvr>
                                    </p:animEffect>
                                    <p:anim calcmode="lin" valueType="num">
                                      <p:cBhvr additive="base">
                                        <p:cTn id="114" dur="700" fill="hold"/>
                                        <p:tgtEl>
                                          <p:spTgt spid="33"/>
                                        </p:tgtEl>
                                        <p:attrNameLst>
                                          <p:attrName>ppt_y</p:attrName>
                                        </p:attrNameLst>
                                      </p:cBhvr>
                                      <p:tavLst>
                                        <p:tav tm="0">
                                          <p:val>
                                            <p:strVal val="#ppt_y+.08"/>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34"/>
                                        </p:tgtEl>
                                        <p:attrNameLst>
                                          <p:attrName>style.visibility</p:attrName>
                                        </p:attrNameLst>
                                      </p:cBhvr>
                                      <p:to>
                                        <p:strVal val="visible"/>
                                      </p:to>
                                    </p:set>
                                    <p:animEffect transition="in" filter="fade">
                                      <p:cBhvr>
                                        <p:cTn id="117" dur="700"/>
                                        <p:tgtEl>
                                          <p:spTgt spid="34"/>
                                        </p:tgtEl>
                                      </p:cBhvr>
                                    </p:animEffect>
                                    <p:anim calcmode="lin" valueType="num">
                                      <p:cBhvr additive="base">
                                        <p:cTn id="118" dur="700" fill="hold"/>
                                        <p:tgtEl>
                                          <p:spTgt spid="34"/>
                                        </p:tgtEl>
                                        <p:attrNameLst>
                                          <p:attrName>ppt_y</p:attrName>
                                        </p:attrNameLst>
                                      </p:cBhvr>
                                      <p:tavLst>
                                        <p:tav tm="0">
                                          <p:val>
                                            <p:strVal val="#ppt_y+.08"/>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35"/>
                                        </p:tgtEl>
                                        <p:attrNameLst>
                                          <p:attrName>style.visibility</p:attrName>
                                        </p:attrNameLst>
                                      </p:cBhvr>
                                      <p:to>
                                        <p:strVal val="visible"/>
                                      </p:to>
                                    </p:set>
                                    <p:animEffect transition="in" filter="fade">
                                      <p:cBhvr>
                                        <p:cTn id="123" dur="500"/>
                                        <p:tgtEl>
                                          <p:spTgt spid="3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36"/>
                                        </p:tgtEl>
                                        <p:attrNameLst>
                                          <p:attrName>style.visibility</p:attrName>
                                        </p:attrNameLst>
                                      </p:cBhvr>
                                      <p:to>
                                        <p:strVal val="visible"/>
                                      </p:to>
                                    </p:set>
                                    <p:animEffect transition="in" filter="fade">
                                      <p:cBhvr>
                                        <p:cTn id="126" dur="500"/>
                                        <p:tgtEl>
                                          <p:spTgt spid="3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37"/>
                                        </p:tgtEl>
                                        <p:attrNameLst>
                                          <p:attrName>style.visibility</p:attrName>
                                        </p:attrNameLst>
                                      </p:cBhvr>
                                      <p:to>
                                        <p:strVal val="visible"/>
                                      </p:to>
                                    </p:set>
                                    <p:animEffect transition="in" filter="fade">
                                      <p:cBhvr>
                                        <p:cTn id="129" dur="500"/>
                                        <p:tgtEl>
                                          <p:spTgt spid="37"/>
                                        </p:tgtEl>
                                      </p:cBhvr>
                                    </p:animEffect>
                                  </p:childTnLst>
                                </p:cTn>
                              </p:par>
                            </p:childTnLst>
                          </p:cTn>
                        </p:par>
                      </p:childTnLst>
                    </p:cTn>
                  </p:par>
                  <p:par>
                    <p:cTn id="140" fill="hold">
                      <p:stCondLst>
                        <p:cond delay="indefinite"/>
                      </p:stCondLst>
                      <p:childTnLst>
                        <p:par>
                          <p:cTn id="141" fill="hold">
                            <p:stCondLst>
                              <p:cond delay="0"/>
                            </p:stCondLst>
                            <p:childTnLst>
                              <p:par>
                                <p:cTn id="132" presetID="23" presetClass="entr" presetSubtype="16" fill="hold" grpId="0" nodeType="clickEffect">
                                  <p:stCondLst>
                                    <p:cond delay="0"/>
                                  </p:stCondLst>
                                  <p:childTnLst>
                                    <p:set>
                                      <p:cBhvr>
                                        <p:cTn id="133" dur="1" fill="hold">
                                          <p:stCondLst>
                                            <p:cond delay="0"/>
                                          </p:stCondLst>
                                        </p:cTn>
                                        <p:tgtEl>
                                          <p:spTgt spid="38"/>
                                        </p:tgtEl>
                                        <p:attrNameLst>
                                          <p:attrName>style.visibility</p:attrName>
                                        </p:attrNameLst>
                                      </p:cBhvr>
                                      <p:to>
                                        <p:strVal val="visible"/>
                                      </p:to>
                                    </p:set>
                                    <p:animScale>
                                      <p:cBhvr>
                                        <p:cTn id="134" dur="500" fill="hold"/>
                                        <p:tgtEl>
                                          <p:spTgt spid="38"/>
                                        </p:tgtEl>
                                      </p:cBhvr>
                                      <p:from x="0" y="0"/>
                                      <p:to x="100000" y="100000"/>
                                    </p:animScale>
                                    <p:animEffect transition="in" filter="fade">
                                      <p:cBhvr>
                                        <p:cTn id="135" dur="500"/>
                                        <p:tgtEl>
                                          <p:spTgt spid="38"/>
                                        </p:tgtEl>
                                      </p:cBhvr>
                                    </p:animEffect>
                                  </p:childTnLst>
                                </p:cTn>
                              </p:par>
                              <p:par>
                                <p:cTn id="136" presetID="23" presetClass="entr" presetSubtype="16" fill="hold" grpId="0" nodeType="withEffect">
                                  <p:stCondLst>
                                    <p:cond delay="0"/>
                                  </p:stCondLst>
                                  <p:childTnLst>
                                    <p:set>
                                      <p:cBhvr>
                                        <p:cTn id="137" dur="1" fill="hold">
                                          <p:stCondLst>
                                            <p:cond delay="0"/>
                                          </p:stCondLst>
                                        </p:cTn>
                                        <p:tgtEl>
                                          <p:spTgt spid="39"/>
                                        </p:tgtEl>
                                        <p:attrNameLst>
                                          <p:attrName>style.visibility</p:attrName>
                                        </p:attrNameLst>
                                      </p:cBhvr>
                                      <p:to>
                                        <p:strVal val="visible"/>
                                      </p:to>
                                    </p:set>
                                    <p:animScale>
                                      <p:cBhvr>
                                        <p:cTn id="138" dur="500" fill="hold"/>
                                        <p:tgtEl>
                                          <p:spTgt spid="39"/>
                                        </p:tgtEl>
                                      </p:cBhvr>
                                      <p:from x="0" y="0"/>
                                      <p:to x="100000" y="100000"/>
                                    </p:animScale>
                                    <p:animEffect transition="in" filter="fade">
                                      <p:cBhvr>
                                        <p:cTn id="13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8023860" cy="346695"/>
          </a:xfrm>
          <a:prstGeom prst="rect">
            <a:avLst/>
          </a:prstGeom>
          <a:noFill/>
          <a:ln/>
        </p:spPr>
        <p:txBody>
          <a:bodyPr wrap="none" lIns="0" tIns="0" rIns="0" bIns="0" rtlCol="0" anchor="ctr"/>
          <a:lstStyle/>
          <a:p>
            <a:pPr algn="l" indent="0" marL="0">
              <a:lnSpc>
                <a:spcPts val="2730"/>
              </a:lnSpc>
              <a:buNone/>
            </a:pPr>
            <a:r>
              <a:rPr lang="en-US" sz="2100" b="1" dirty="0">
                <a:solidFill>
                  <a:srgbClr val="37352F"/>
                </a:solidFill>
                <a:latin typeface="Noto Sans Thai" pitchFamily="34" charset="0"/>
                <a:ea typeface="Noto Sans Thai" pitchFamily="34" charset="-122"/>
                <a:cs typeface="Noto Sans Thai" pitchFamily="34" charset="-120"/>
              </a:rPr>
              <a:t>บทที่ 4: Storytelling ผ่าน Touchpoints</a:t>
            </a:r>
            <a:endParaRPr lang="en-US" sz="2100" dirty="0"/>
          </a:p>
        </p:txBody>
      </p:sp>
      <p:sp>
        <p:nvSpPr>
          <p:cNvPr id="3" name="static"/>
          <p:cNvSpPr txBox="1"/>
          <p:nvPr/>
        </p:nvSpPr>
        <p:spPr>
          <a:xfrm>
            <a:off x="609600" y="1222995"/>
            <a:ext cx="6686550" cy="228600"/>
          </a:xfrm>
          <a:prstGeom prst="rect">
            <a:avLst/>
          </a:prstGeom>
          <a:noFill/>
          <a:ln/>
        </p:spPr>
        <p:txBody>
          <a:bodyPr wrap="none" lIns="0" tIns="0" rIns="0" bIns="0" rtlCol="0" anchor="ctr"/>
          <a:lstStyle/>
          <a:p>
            <a:pPr algn="l" indent="0" marL="0">
              <a:lnSpc>
                <a:spcPts val="1800"/>
              </a:lnSpc>
              <a:buNone/>
            </a:pPr>
            <a:r>
              <a:rPr lang="en-US" sz="1200" dirty="0">
                <a:solidFill>
                  <a:srgbClr val="37352F"/>
                </a:solidFill>
                <a:latin typeface="Noto Sans Thai" pitchFamily="34" charset="0"/>
                <a:ea typeface="Noto Sans Thai" pitchFamily="34" charset="-122"/>
                <a:cs typeface="Noto Sans Thai" pitchFamily="34" charset="-120"/>
              </a:rPr>
              <a:t>เปลี่ยน Ritual ประจำวันให้เป็น Brand Loyalty</a:t>
            </a:r>
            <a:endParaRPr lang="en-US" sz="1200"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Part 3 · การนำ Experience ไปปฏิบัติจริง</a:t>
            </a:r>
            <a:endParaRPr lang="en-US" sz="825" dirty="0"/>
          </a:p>
        </p:txBody>
      </p:sp>
      <p:sp>
        <p:nvSpPr>
          <p:cNvPr id="5" name="!!tkey4-1"/>
          <p:cNvSpPr/>
          <p:nvPr/>
        </p:nvSpPr>
        <p:spPr>
          <a:xfrm>
            <a:off x="6438900" y="419100"/>
            <a:ext cx="2095500" cy="266700"/>
          </a:xfrm>
          <a:prstGeom prst="roundRect">
            <a:avLst>
              <a:gd name="adj" fmla="val 10714"/>
            </a:avLst>
          </a:prstGeom>
          <a:solidFill>
            <a:srgbClr val="FDECC8"/>
          </a:solidFill>
          <a:ln/>
        </p:spPr>
      </p:sp>
      <p:sp>
        <p:nvSpPr>
          <p:cNvPr id="6" name="!!tkey4-2"/>
          <p:cNvSpPr txBox="1"/>
          <p:nvPr/>
        </p:nvSpPr>
        <p:spPr>
          <a:xfrm>
            <a:off x="6438900" y="4191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ขยาย Human Experience สู่ทุกสาขา</a:t>
            </a:r>
            <a:endParaRPr lang="en-US" sz="900" dirty="0"/>
          </a:p>
        </p:txBody>
      </p:sp>
      <p:sp>
        <p:nvSpPr>
          <p:cNvPr id="7" name="b1:rise"/>
          <p:cNvSpPr/>
          <p:nvPr/>
        </p:nvSpPr>
        <p:spPr>
          <a:xfrm>
            <a:off x="609600" y="1676400"/>
            <a:ext cx="2566988" cy="1666875"/>
          </a:xfrm>
          <a:prstGeom prst="roundRect">
            <a:avLst>
              <a:gd name="adj" fmla="val 2286"/>
            </a:avLst>
          </a:prstGeom>
          <a:solidFill>
            <a:srgbClr val="FFFFFF"/>
          </a:solidFill>
          <a:ln w="6350">
            <a:solidFill>
              <a:srgbClr val="E9E9E7"/>
            </a:solidFill>
            <a:prstDash val="solid"/>
          </a:ln>
        </p:spPr>
      </p:sp>
      <p:sp>
        <p:nvSpPr>
          <p:cNvPr id="8" name="b1:rise"/>
          <p:cNvSpPr txBox="1"/>
          <p:nvPr/>
        </p:nvSpPr>
        <p:spPr>
          <a:xfrm>
            <a:off x="766763" y="1833562"/>
            <a:ext cx="295269" cy="284783"/>
          </a:xfrm>
          <a:prstGeom prst="rect">
            <a:avLst/>
          </a:prstGeom>
          <a:noFill/>
          <a:ln/>
        </p:spPr>
        <p:txBody>
          <a:bodyPr wrap="none" lIns="0" tIns="0" rIns="0" bIns="0" rtlCol="0" anchor="ctr"/>
          <a:lstStyle/>
          <a:p>
            <a:pPr algn="l" indent="0" marL="0">
              <a:lnSpc>
                <a:spcPts val="2242"/>
              </a:lnSpc>
              <a:buNone/>
            </a:pPr>
            <a:r>
              <a:rPr lang="en-US" sz="1725" dirty="0">
                <a:solidFill>
                  <a:srgbClr val="37352F"/>
                </a:solidFill>
                <a:latin typeface="Noto Sans Thai" pitchFamily="34" charset="0"/>
                <a:ea typeface="Noto Sans Thai" pitchFamily="34" charset="-122"/>
                <a:cs typeface="Noto Sans Thai" pitchFamily="34" charset="-120"/>
              </a:rPr>
              <a:t>👥</a:t>
            </a:r>
            <a:endParaRPr lang="en-US" sz="1725" dirty="0"/>
          </a:p>
        </p:txBody>
      </p:sp>
      <p:sp>
        <p:nvSpPr>
          <p:cNvPr id="9" name="b1:rise"/>
          <p:cNvSpPr txBox="1"/>
          <p:nvPr/>
        </p:nvSpPr>
        <p:spPr>
          <a:xfrm>
            <a:off x="1116360" y="1902619"/>
            <a:ext cx="728287"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Touchpoint 1</a:t>
            </a:r>
            <a:endParaRPr lang="en-US" sz="825" dirty="0"/>
          </a:p>
        </p:txBody>
      </p:sp>
      <p:sp>
        <p:nvSpPr>
          <p:cNvPr id="10" name="b1:rise"/>
          <p:cNvSpPr txBox="1"/>
          <p:nvPr/>
        </p:nvSpPr>
        <p:spPr>
          <a:xfrm>
            <a:off x="766763" y="2185020"/>
            <a:ext cx="2342769" cy="453330"/>
          </a:xfrm>
          <a:prstGeom prst="rect">
            <a:avLst/>
          </a:prstGeom>
          <a:noFill/>
          <a:ln/>
        </p:spPr>
        <p:txBody>
          <a:bodyPr wrap="square" lIns="0" tIns="0" rIns="0" bIns="0" rtlCol="0" anchor="t"/>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Personalization &amp; Connection</a:t>
            </a:r>
            <a:endParaRPr lang="en-US" sz="1275" dirty="0"/>
          </a:p>
        </p:txBody>
      </p:sp>
      <p:sp>
        <p:nvSpPr>
          <p:cNvPr id="11" name="b1:rise"/>
          <p:cNvSpPr txBox="1"/>
          <p:nvPr/>
        </p:nvSpPr>
        <p:spPr>
          <a:xfrm>
            <a:off x="766763" y="2705026"/>
            <a:ext cx="2342769" cy="597843"/>
          </a:xfrm>
          <a:prstGeom prst="rect">
            <a:avLst/>
          </a:prstGeom>
          <a:noFill/>
          <a:ln/>
        </p:spPr>
        <p:txBody>
          <a:bodyPr wrap="square" lIns="0" tIns="0" rIns="0" bIns="0" rtlCol="0" anchor="t"/>
          <a:lstStyle/>
          <a:p>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เขียนชื่อลูกค้าบนแก้ว Barista สบตาขณะให้บริการ และเครื่องดื่ม Handcrafted ที่ Customize ได้</a:t>
            </a:r>
            <a:endParaRPr lang="en-US" sz="1013" dirty="0"/>
          </a:p>
        </p:txBody>
      </p:sp>
      <p:sp>
        <p:nvSpPr>
          <p:cNvPr id="12" name="b2:rise"/>
          <p:cNvSpPr/>
          <p:nvPr/>
        </p:nvSpPr>
        <p:spPr>
          <a:xfrm>
            <a:off x="3290887" y="1676400"/>
            <a:ext cx="2566988" cy="1666875"/>
          </a:xfrm>
          <a:prstGeom prst="roundRect">
            <a:avLst>
              <a:gd name="adj" fmla="val 2286"/>
            </a:avLst>
          </a:prstGeom>
          <a:solidFill>
            <a:srgbClr val="FFFFFF"/>
          </a:solidFill>
          <a:ln w="6350">
            <a:solidFill>
              <a:srgbClr val="E9E9E7"/>
            </a:solidFill>
            <a:prstDash val="solid"/>
          </a:ln>
        </p:spPr>
      </p:sp>
      <p:sp>
        <p:nvSpPr>
          <p:cNvPr id="13" name="b2:rise"/>
          <p:cNvSpPr txBox="1"/>
          <p:nvPr/>
        </p:nvSpPr>
        <p:spPr>
          <a:xfrm>
            <a:off x="3448050" y="1833562"/>
            <a:ext cx="295269" cy="284783"/>
          </a:xfrm>
          <a:prstGeom prst="rect">
            <a:avLst/>
          </a:prstGeom>
          <a:noFill/>
          <a:ln/>
        </p:spPr>
        <p:txBody>
          <a:bodyPr wrap="none" lIns="0" tIns="0" rIns="0" bIns="0" rtlCol="0" anchor="ctr"/>
          <a:lstStyle/>
          <a:p>
            <a:pPr algn="l" indent="0" marL="0">
              <a:lnSpc>
                <a:spcPts val="2242"/>
              </a:lnSpc>
              <a:buNone/>
            </a:pPr>
            <a:r>
              <a:rPr lang="en-US" sz="1725" dirty="0">
                <a:solidFill>
                  <a:srgbClr val="37352F"/>
                </a:solidFill>
                <a:latin typeface="Noto Sans Thai" pitchFamily="34" charset="0"/>
                <a:ea typeface="Noto Sans Thai" pitchFamily="34" charset="-122"/>
                <a:cs typeface="Noto Sans Thai" pitchFamily="34" charset="-120"/>
              </a:rPr>
              <a:t>✅</a:t>
            </a:r>
            <a:endParaRPr lang="en-US" sz="1725" dirty="0"/>
          </a:p>
        </p:txBody>
      </p:sp>
      <p:sp>
        <p:nvSpPr>
          <p:cNvPr id="14" name="b2:rise"/>
          <p:cNvSpPr txBox="1"/>
          <p:nvPr/>
        </p:nvSpPr>
        <p:spPr>
          <a:xfrm>
            <a:off x="3797647" y="1902619"/>
            <a:ext cx="728287"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Touchpoint 2</a:t>
            </a:r>
            <a:endParaRPr lang="en-US" sz="825" dirty="0"/>
          </a:p>
        </p:txBody>
      </p:sp>
      <p:sp>
        <p:nvSpPr>
          <p:cNvPr id="15" name="b2:rise"/>
          <p:cNvSpPr txBox="1"/>
          <p:nvPr/>
        </p:nvSpPr>
        <p:spPr>
          <a:xfrm>
            <a:off x="3448050" y="2185020"/>
            <a:ext cx="2432876" cy="226665"/>
          </a:xfrm>
          <a:prstGeom prst="rect">
            <a:avLst/>
          </a:prstGeom>
          <a:noFill/>
          <a:ln/>
        </p:spPr>
        <p:txBody>
          <a:bodyPr wrap="none" lIns="0" tIns="0" rIns="0" bIns="0" rtlCol="0" anchor="ctr"/>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Sensory Consistency</a:t>
            </a:r>
            <a:endParaRPr lang="en-US" sz="1275" dirty="0"/>
          </a:p>
        </p:txBody>
      </p:sp>
      <p:sp>
        <p:nvSpPr>
          <p:cNvPr id="16" name="b2:rise"/>
          <p:cNvSpPr txBox="1"/>
          <p:nvPr/>
        </p:nvSpPr>
        <p:spPr>
          <a:xfrm>
            <a:off x="3448050" y="2478360"/>
            <a:ext cx="2342769" cy="398562"/>
          </a:xfrm>
          <a:prstGeom prst="rect">
            <a:avLst/>
          </a:prstGeom>
          <a:noFill/>
          <a:ln/>
        </p:spPr>
        <p:txBody>
          <a:bodyPr wrap="square" lIns="0" tIns="0" rIns="0" bIns="0" rtlCol="0" anchor="t"/>
          <a:lstStyle/>
          <a:p>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Ambient Design, กลิ่น Signature และ Playlist ที่คัดสรร เหมือนกันทุกสาขาทั่วโลก</a:t>
            </a:r>
            <a:endParaRPr lang="en-US" sz="1013" dirty="0"/>
          </a:p>
        </p:txBody>
      </p:sp>
      <p:sp>
        <p:nvSpPr>
          <p:cNvPr id="17" name="b3:rise"/>
          <p:cNvSpPr/>
          <p:nvPr/>
        </p:nvSpPr>
        <p:spPr>
          <a:xfrm>
            <a:off x="5972175" y="1676400"/>
            <a:ext cx="2562225" cy="1666875"/>
          </a:xfrm>
          <a:prstGeom prst="roundRect">
            <a:avLst>
              <a:gd name="adj" fmla="val 2286"/>
            </a:avLst>
          </a:prstGeom>
          <a:solidFill>
            <a:srgbClr val="FFFFFF"/>
          </a:solidFill>
          <a:ln w="6350">
            <a:solidFill>
              <a:srgbClr val="E9E9E7"/>
            </a:solidFill>
            <a:prstDash val="solid"/>
          </a:ln>
        </p:spPr>
      </p:sp>
      <p:sp>
        <p:nvSpPr>
          <p:cNvPr id="18" name="b3:rise"/>
          <p:cNvSpPr txBox="1"/>
          <p:nvPr/>
        </p:nvSpPr>
        <p:spPr>
          <a:xfrm>
            <a:off x="6129338" y="1833562"/>
            <a:ext cx="295269" cy="284783"/>
          </a:xfrm>
          <a:prstGeom prst="rect">
            <a:avLst/>
          </a:prstGeom>
          <a:noFill/>
          <a:ln/>
        </p:spPr>
        <p:txBody>
          <a:bodyPr wrap="none" lIns="0" tIns="0" rIns="0" bIns="0" rtlCol="0" anchor="ctr"/>
          <a:lstStyle/>
          <a:p>
            <a:pPr algn="l" indent="0" marL="0">
              <a:lnSpc>
                <a:spcPts val="2242"/>
              </a:lnSpc>
              <a:buNone/>
            </a:pPr>
            <a:r>
              <a:rPr lang="en-US" sz="1725" dirty="0">
                <a:solidFill>
                  <a:srgbClr val="37352F"/>
                </a:solidFill>
                <a:latin typeface="Noto Sans Thai" pitchFamily="34" charset="0"/>
                <a:ea typeface="Noto Sans Thai" pitchFamily="34" charset="-122"/>
                <a:cs typeface="Noto Sans Thai" pitchFamily="34" charset="-120"/>
              </a:rPr>
              <a:t>🏠</a:t>
            </a:r>
            <a:endParaRPr lang="en-US" sz="1725" dirty="0"/>
          </a:p>
        </p:txBody>
      </p:sp>
      <p:sp>
        <p:nvSpPr>
          <p:cNvPr id="19" name="b3:rise"/>
          <p:cNvSpPr txBox="1"/>
          <p:nvPr/>
        </p:nvSpPr>
        <p:spPr>
          <a:xfrm>
            <a:off x="6478935" y="1902619"/>
            <a:ext cx="728287"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Touchpoint 3</a:t>
            </a:r>
            <a:endParaRPr lang="en-US" sz="825" dirty="0"/>
          </a:p>
        </p:txBody>
      </p:sp>
      <p:sp>
        <p:nvSpPr>
          <p:cNvPr id="20" name="b3:rise"/>
          <p:cNvSpPr txBox="1"/>
          <p:nvPr/>
        </p:nvSpPr>
        <p:spPr>
          <a:xfrm>
            <a:off x="6129338" y="2185020"/>
            <a:ext cx="2427732" cy="226665"/>
          </a:xfrm>
          <a:prstGeom prst="rect">
            <a:avLst/>
          </a:prstGeom>
          <a:noFill/>
          <a:ln/>
        </p:spPr>
        <p:txBody>
          <a:bodyPr wrap="none" lIns="0" tIns="0" rIns="0" bIns="0" rtlCol="0" anchor="ctr"/>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Community Customization</a:t>
            </a:r>
            <a:endParaRPr lang="en-US" sz="1275" dirty="0"/>
          </a:p>
        </p:txBody>
      </p:sp>
      <p:sp>
        <p:nvSpPr>
          <p:cNvPr id="21" name="b3:rise"/>
          <p:cNvSpPr txBox="1"/>
          <p:nvPr/>
        </p:nvSpPr>
        <p:spPr>
          <a:xfrm>
            <a:off x="6129338" y="2478360"/>
            <a:ext cx="2337816" cy="597843"/>
          </a:xfrm>
          <a:prstGeom prst="rect">
            <a:avLst/>
          </a:prstGeom>
          <a:noFill/>
          <a:ln/>
        </p:spPr>
        <p:txBody>
          <a:bodyPr wrap="square" lIns="0" tIns="0" rIns="0" bIns="0" rtlCol="0" anchor="t"/>
          <a:lstStyle/>
          <a:p>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สถาปัตยกรรมร้านที่สะท้อน Heritage ของย่านนั้น ๆ โดยยังคง Core Values ของแบรนด์</a:t>
            </a:r>
            <a:endParaRPr lang="en-US" sz="1013" dirty="0"/>
          </a:p>
        </p:txBody>
      </p:sp>
      <p:sp>
        <p:nvSpPr>
          <p:cNvPr id="22" name="b4:fade"/>
          <p:cNvSpPr txBox="1"/>
          <p:nvPr/>
        </p:nvSpPr>
        <p:spPr>
          <a:xfrm>
            <a:off x="609600" y="4127897"/>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Noto Sans Thai" pitchFamily="34" charset="0"/>
                <a:ea typeface="Noto Sans Thai" pitchFamily="34" charset="-122"/>
                <a:cs typeface="Noto Sans Thai" pitchFamily="34" charset="-120"/>
              </a:rPr>
              <a:t>➡️</a:t>
            </a:r>
            <a:endParaRPr lang="en-US" sz="1125" dirty="0"/>
          </a:p>
        </p:txBody>
      </p:sp>
      <p:sp>
        <p:nvSpPr>
          <p:cNvPr id="23" name="b4:fade"/>
          <p:cNvSpPr txBox="1"/>
          <p:nvPr/>
        </p:nvSpPr>
        <p:spPr>
          <a:xfrm>
            <a:off x="883146" y="4124325"/>
            <a:ext cx="6391120" cy="192881"/>
          </a:xfrm>
          <a:prstGeom prst="rect">
            <a:avLst/>
          </a:prstGeom>
          <a:noFill/>
          <a:ln/>
        </p:spPr>
        <p:txBody>
          <a:bodyPr wrap="none" lIns="0" tIns="0" rIns="0" bIns="0" rtlCol="0" anchor="ctr"/>
          <a:lstStyle/>
          <a:p>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เมื่อ Lifestyle ของลูกค้าเปลี่ยนไป Starbucks ต้องพา "The Third Place" เข้าสู่</a:t>
            </a:r>
            <a:pPr algn="l" indent="0" marL="0">
              <a:lnSpc>
                <a:spcPts val="1519"/>
              </a:lnSpc>
              <a:buNone/>
            </a:pPr>
            <a:r>
              <a:rPr lang="en-US" sz="1013" b="1" dirty="0">
                <a:solidFill>
                  <a:srgbClr val="448361"/>
                </a:solidFill>
                <a:latin typeface="Noto Sans Thai" pitchFamily="34" charset="0"/>
                <a:ea typeface="Noto Sans Thai" pitchFamily="34" charset="-122"/>
                <a:cs typeface="Noto Sans Thai" pitchFamily="34" charset="-120"/>
              </a:rPr>
              <a:t>ยุค Digital</a:t>
            </a:r>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a:t>
            </a:r>
            <a:endParaRPr lang="en-US" sz="1013" dirty="0"/>
          </a:p>
        </p:txBody>
      </p:sp>
      <p:sp>
        <p:nvSpPr>
          <p:cNvPr id="24" name="!!tkey5-1"/>
          <p:cNvSpPr/>
          <p:nvPr/>
        </p:nvSpPr>
        <p:spPr>
          <a:xfrm>
            <a:off x="6438900" y="4572000"/>
            <a:ext cx="2095500" cy="266700"/>
          </a:xfrm>
          <a:prstGeom prst="roundRect">
            <a:avLst>
              <a:gd name="adj" fmla="val 10714"/>
            </a:avLst>
          </a:prstGeom>
          <a:solidFill>
            <a:srgbClr val="FDECC8"/>
          </a:solidFill>
          <a:ln/>
        </p:spPr>
      </p:sp>
      <p:sp>
        <p:nvSpPr>
          <p:cNvPr id="25" name="!!tkey5-2"/>
          <p:cNvSpPr txBox="1"/>
          <p:nvPr/>
        </p:nvSpPr>
        <p:spPr>
          <a:xfrm>
            <a:off x="6438900" y="45720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Digital Third Place</a:t>
            </a:r>
            <a:endParaRPr lang="en-US" sz="900" dirty="0"/>
          </a:p>
        </p:txBody>
      </p:sp>
      <p:sp>
        <p:nvSpPr>
          <p:cNvPr id="26" name="static"/>
          <p:cNvSpPr txBox="1"/>
          <p:nvPr/>
        </p:nvSpPr>
        <p:spPr>
          <a:xfrm>
            <a:off x="609600" y="4667250"/>
            <a:ext cx="2624361" cy="171450"/>
          </a:xfrm>
          <a:prstGeom prst="rect">
            <a:avLst/>
          </a:prstGeom>
          <a:noFill/>
          <a:ln/>
        </p:spPr>
        <p:txBody>
          <a:bodyPr wrap="none" lIns="0" tIns="0" rIns="0" bIns="0" rtlCol="0" anchor="ctr"/>
          <a:lstStyle/>
          <a:p>
            <a:pPr algn="l" indent="0" marL="0">
              <a:lnSpc>
                <a:spcPts val="1350"/>
              </a:lnSpc>
              <a:buNone/>
            </a:pPr>
            <a:r>
              <a:rPr lang="en-US" sz="900" dirty="0">
                <a:solidFill>
                  <a:srgbClr val="787774"/>
                </a:solidFill>
                <a:latin typeface="Noto Sans Thai" pitchFamily="34" charset="0"/>
                <a:ea typeface="Noto Sans Thai" pitchFamily="34" charset="-122"/>
                <a:cs typeface="Noto Sans Thai" pitchFamily="34" charset="-120"/>
              </a:rPr>
              <a:t>สไลด์ 5 จาก 8 · Part 3 · การนำ Experience ไปปฏิบัติจริง</a:t>
            </a:r>
            <a:endParaRPr lang="en-US" sz="900" dirty="0"/>
          </a:p>
        </p:txBody>
      </p:sp>
      <p:sp>
        <p:nvSpPr>
          <p:cNvPr id="27" name="static"/>
          <p:cNvSpPr/>
          <p:nvPr/>
        </p:nvSpPr>
        <p:spPr>
          <a:xfrm>
            <a:off x="3424461" y="4724400"/>
            <a:ext cx="57150" cy="57150"/>
          </a:xfrm>
          <a:prstGeom prst="roundRect">
            <a:avLst>
              <a:gd name="adj" fmla="val 50000"/>
            </a:avLst>
          </a:prstGeom>
          <a:solidFill>
            <a:srgbClr val="787774"/>
          </a:solidFill>
          <a:ln/>
        </p:spPr>
      </p:sp>
      <p:sp>
        <p:nvSpPr>
          <p:cNvPr id="28" name="static"/>
          <p:cNvSpPr/>
          <p:nvPr/>
        </p:nvSpPr>
        <p:spPr>
          <a:xfrm>
            <a:off x="3529236" y="4724400"/>
            <a:ext cx="57150" cy="57150"/>
          </a:xfrm>
          <a:prstGeom prst="roundRect">
            <a:avLst>
              <a:gd name="adj" fmla="val 50000"/>
            </a:avLst>
          </a:prstGeom>
          <a:solidFill>
            <a:srgbClr val="787774"/>
          </a:solidFill>
          <a:ln/>
        </p:spPr>
      </p:sp>
      <p:sp>
        <p:nvSpPr>
          <p:cNvPr id="29" name="static"/>
          <p:cNvSpPr/>
          <p:nvPr/>
        </p:nvSpPr>
        <p:spPr>
          <a:xfrm>
            <a:off x="3634011" y="4724400"/>
            <a:ext cx="57150" cy="57150"/>
          </a:xfrm>
          <a:prstGeom prst="roundRect">
            <a:avLst>
              <a:gd name="adj" fmla="val 50000"/>
            </a:avLst>
          </a:prstGeom>
          <a:solidFill>
            <a:srgbClr val="787774"/>
          </a:solidFill>
          <a:ln/>
        </p:spPr>
      </p:sp>
      <p:sp>
        <p:nvSpPr>
          <p:cNvPr id="30" name="static"/>
          <p:cNvSpPr/>
          <p:nvPr/>
        </p:nvSpPr>
        <p:spPr>
          <a:xfrm>
            <a:off x="3738786" y="4724400"/>
            <a:ext cx="57150" cy="57150"/>
          </a:xfrm>
          <a:prstGeom prst="roundRect">
            <a:avLst>
              <a:gd name="adj" fmla="val 50000"/>
            </a:avLst>
          </a:prstGeom>
          <a:solidFill>
            <a:srgbClr val="787774"/>
          </a:solidFill>
          <a:ln/>
        </p:spPr>
      </p:sp>
      <p:sp>
        <p:nvSpPr>
          <p:cNvPr id="31" name="static"/>
          <p:cNvSpPr/>
          <p:nvPr/>
        </p:nvSpPr>
        <p:spPr>
          <a:xfrm>
            <a:off x="3843561" y="4724400"/>
            <a:ext cx="171450" cy="57150"/>
          </a:xfrm>
          <a:prstGeom prst="roundRect">
            <a:avLst>
              <a:gd name="adj" fmla="val 50000"/>
            </a:avLst>
          </a:prstGeom>
          <a:solidFill>
            <a:srgbClr val="37352F"/>
          </a:solidFill>
          <a:ln/>
        </p:spPr>
      </p:sp>
      <p:sp>
        <p:nvSpPr>
          <p:cNvPr id="32" name="static"/>
          <p:cNvSpPr/>
          <p:nvPr/>
        </p:nvSpPr>
        <p:spPr>
          <a:xfrm>
            <a:off x="4062636" y="4724400"/>
            <a:ext cx="57150" cy="57150"/>
          </a:xfrm>
          <a:prstGeom prst="roundRect">
            <a:avLst>
              <a:gd name="adj" fmla="val 50000"/>
            </a:avLst>
          </a:prstGeom>
          <a:solidFill>
            <a:srgbClr val="E3E2E0"/>
          </a:solidFill>
          <a:ln/>
        </p:spPr>
      </p:sp>
      <p:sp>
        <p:nvSpPr>
          <p:cNvPr id="33" name="static"/>
          <p:cNvSpPr/>
          <p:nvPr/>
        </p:nvSpPr>
        <p:spPr>
          <a:xfrm>
            <a:off x="4167411" y="4724400"/>
            <a:ext cx="57150" cy="57150"/>
          </a:xfrm>
          <a:prstGeom prst="roundRect">
            <a:avLst>
              <a:gd name="adj" fmla="val 50000"/>
            </a:avLst>
          </a:prstGeom>
          <a:solidFill>
            <a:srgbClr val="E3E2E0"/>
          </a:solidFill>
          <a:ln/>
        </p:spPr>
      </p:sp>
      <p:sp>
        <p:nvSpPr>
          <p:cNvPr id="34" name="static"/>
          <p:cNvSpPr/>
          <p:nvPr/>
        </p:nvSpPr>
        <p:spPr>
          <a:xfrm>
            <a:off x="4272186" y="4724400"/>
            <a:ext cx="57150" cy="57150"/>
          </a:xfrm>
          <a:prstGeom prst="roundRect">
            <a:avLst>
              <a:gd name="adj" fmla="val 50000"/>
            </a:avLst>
          </a:prstGeom>
          <a:solidFill>
            <a:srgbClr val="E3E2E0"/>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700"/>
                                        <p:tgtEl>
                                          <p:spTgt spid="7"/>
                                        </p:tgtEl>
                                      </p:cBhvr>
                                    </p:animEffect>
                                    <p:anim calcmode="lin" valueType="num">
                                      <p:cBhvr additive="base">
                                        <p:cTn id="6" dur="700" fill="hold"/>
                                        <p:tgtEl>
                                          <p:spTgt spid="7"/>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700"/>
                                        <p:tgtEl>
                                          <p:spTgt spid="8"/>
                                        </p:tgtEl>
                                      </p:cBhvr>
                                    </p:animEffect>
                                    <p:anim calcmode="lin" valueType="num">
                                      <p:cBhvr additive="base">
                                        <p:cTn id="10" dur="700" fill="hold"/>
                                        <p:tgtEl>
                                          <p:spTgt spid="8"/>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additive="base">
                                        <p:cTn id="14" dur="700" fill="hold"/>
                                        <p:tgtEl>
                                          <p:spTgt spid="9"/>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anim calcmode="lin" valueType="num">
                                      <p:cBhvr additive="base">
                                        <p:cTn id="18" dur="700" fill="hold"/>
                                        <p:tgtEl>
                                          <p:spTgt spid="10"/>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00"/>
                                        <p:tgtEl>
                                          <p:spTgt spid="11"/>
                                        </p:tgtEl>
                                      </p:cBhvr>
                                    </p:animEffect>
                                    <p:anim calcmode="lin" valueType="num">
                                      <p:cBhvr additive="base">
                                        <p:cTn id="22" dur="700" fill="hold"/>
                                        <p:tgtEl>
                                          <p:spTgt spid="11"/>
                                        </p:tgtEl>
                                        <p:attrNameLst>
                                          <p:attrName>ppt_y</p:attrName>
                                        </p:attrNameLst>
                                      </p:cBhvr>
                                      <p:tavLst>
                                        <p:tav tm="0">
                                          <p:val>
                                            <p:strVal val="#ppt_y+.08"/>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700"/>
                                        <p:tgtEl>
                                          <p:spTgt spid="12"/>
                                        </p:tgtEl>
                                      </p:cBhvr>
                                    </p:animEffect>
                                    <p:anim calcmode="lin" valueType="num">
                                      <p:cBhvr additive="base">
                                        <p:cTn id="28" dur="700" fill="hold"/>
                                        <p:tgtEl>
                                          <p:spTgt spid="12"/>
                                        </p:tgtEl>
                                        <p:attrNameLst>
                                          <p:attrName>ppt_y</p:attrName>
                                        </p:attrNameLst>
                                      </p:cBhvr>
                                      <p:tavLst>
                                        <p:tav tm="0">
                                          <p:val>
                                            <p:strVal val="#ppt_y+.0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700"/>
                                        <p:tgtEl>
                                          <p:spTgt spid="13"/>
                                        </p:tgtEl>
                                      </p:cBhvr>
                                    </p:animEffect>
                                    <p:anim calcmode="lin" valueType="num">
                                      <p:cBhvr additive="base">
                                        <p:cTn id="32" dur="700" fill="hold"/>
                                        <p:tgtEl>
                                          <p:spTgt spid="13"/>
                                        </p:tgtEl>
                                        <p:attrNameLst>
                                          <p:attrName>ppt_y</p:attrName>
                                        </p:attrNameLst>
                                      </p:cBhvr>
                                      <p:tavLst>
                                        <p:tav tm="0">
                                          <p:val>
                                            <p:strVal val="#ppt_y+.0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700"/>
                                        <p:tgtEl>
                                          <p:spTgt spid="14"/>
                                        </p:tgtEl>
                                      </p:cBhvr>
                                    </p:animEffect>
                                    <p:anim calcmode="lin" valueType="num">
                                      <p:cBhvr additive="base">
                                        <p:cTn id="36" dur="700" fill="hold"/>
                                        <p:tgtEl>
                                          <p:spTgt spid="14"/>
                                        </p:tgtEl>
                                        <p:attrNameLst>
                                          <p:attrName>ppt_y</p:attrName>
                                        </p:attrNameLst>
                                      </p:cBhvr>
                                      <p:tavLst>
                                        <p:tav tm="0">
                                          <p:val>
                                            <p:strVal val="#ppt_y+.0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700"/>
                                        <p:tgtEl>
                                          <p:spTgt spid="15"/>
                                        </p:tgtEl>
                                      </p:cBhvr>
                                    </p:animEffect>
                                    <p:anim calcmode="lin" valueType="num">
                                      <p:cBhvr additive="base">
                                        <p:cTn id="40" dur="700" fill="hold"/>
                                        <p:tgtEl>
                                          <p:spTgt spid="15"/>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700"/>
                                        <p:tgtEl>
                                          <p:spTgt spid="16"/>
                                        </p:tgtEl>
                                      </p:cBhvr>
                                    </p:animEffect>
                                    <p:anim calcmode="lin" valueType="num">
                                      <p:cBhvr additive="base">
                                        <p:cTn id="44" dur="700" fill="hold"/>
                                        <p:tgtEl>
                                          <p:spTgt spid="16"/>
                                        </p:tgtEl>
                                        <p:attrNameLst>
                                          <p:attrName>ppt_y</p:attrName>
                                        </p:attrNameLst>
                                      </p:cBhvr>
                                      <p:tavLst>
                                        <p:tav tm="0">
                                          <p:val>
                                            <p:strVal val="#ppt_y+.08"/>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700"/>
                                        <p:tgtEl>
                                          <p:spTgt spid="17"/>
                                        </p:tgtEl>
                                      </p:cBhvr>
                                    </p:animEffect>
                                    <p:anim calcmode="lin" valueType="num">
                                      <p:cBhvr additive="base">
                                        <p:cTn id="50" dur="700" fill="hold"/>
                                        <p:tgtEl>
                                          <p:spTgt spid="17"/>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700"/>
                                        <p:tgtEl>
                                          <p:spTgt spid="18"/>
                                        </p:tgtEl>
                                      </p:cBhvr>
                                    </p:animEffect>
                                    <p:anim calcmode="lin" valueType="num">
                                      <p:cBhvr additive="base">
                                        <p:cTn id="54" dur="700" fill="hold"/>
                                        <p:tgtEl>
                                          <p:spTgt spid="18"/>
                                        </p:tgtEl>
                                        <p:attrNameLst>
                                          <p:attrName>ppt_y</p:attrName>
                                        </p:attrNameLst>
                                      </p:cBhvr>
                                      <p:tavLst>
                                        <p:tav tm="0">
                                          <p:val>
                                            <p:strVal val="#ppt_y+.0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700"/>
                                        <p:tgtEl>
                                          <p:spTgt spid="19"/>
                                        </p:tgtEl>
                                      </p:cBhvr>
                                    </p:animEffect>
                                    <p:anim calcmode="lin" valueType="num">
                                      <p:cBhvr additive="base">
                                        <p:cTn id="58" dur="700" fill="hold"/>
                                        <p:tgtEl>
                                          <p:spTgt spid="19"/>
                                        </p:tgtEl>
                                        <p:attrNameLst>
                                          <p:attrName>ppt_y</p:attrName>
                                        </p:attrNameLst>
                                      </p:cBhvr>
                                      <p:tavLst>
                                        <p:tav tm="0">
                                          <p:val>
                                            <p:strVal val="#ppt_y+.0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700"/>
                                        <p:tgtEl>
                                          <p:spTgt spid="20"/>
                                        </p:tgtEl>
                                      </p:cBhvr>
                                    </p:animEffect>
                                    <p:anim calcmode="lin" valueType="num">
                                      <p:cBhvr additive="base">
                                        <p:cTn id="62" dur="700" fill="hold"/>
                                        <p:tgtEl>
                                          <p:spTgt spid="20"/>
                                        </p:tgtEl>
                                        <p:attrNameLst>
                                          <p:attrName>ppt_y</p:attrName>
                                        </p:attrNameLst>
                                      </p:cBhvr>
                                      <p:tavLst>
                                        <p:tav tm="0">
                                          <p:val>
                                            <p:strVal val="#ppt_y+.08"/>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700"/>
                                        <p:tgtEl>
                                          <p:spTgt spid="21"/>
                                        </p:tgtEl>
                                      </p:cBhvr>
                                    </p:animEffect>
                                    <p:anim calcmode="lin" valueType="num">
                                      <p:cBhvr additive="base">
                                        <p:cTn id="66" dur="700" fill="hold"/>
                                        <p:tgtEl>
                                          <p:spTgt spid="21"/>
                                        </p:tgtEl>
                                        <p:attrNameLst>
                                          <p:attrName>ppt_y</p:attrName>
                                        </p:attrNameLst>
                                      </p:cBhvr>
                                      <p:tavLst>
                                        <p:tav tm="0">
                                          <p:val>
                                            <p:strVal val="#ppt_y+.08"/>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childTnLst>
                          </p:cTn>
                        </p:par>
                      </p:childTnLst>
                    </p:cTn>
                  </p:par>
                  <p:par>
                    <p:cTn id="85" fill="hold">
                      <p:stCondLst>
                        <p:cond delay="indefinite"/>
                      </p:stCondLst>
                      <p:childTnLst>
                        <p:par>
                          <p:cTn id="86" fill="hold">
                            <p:stCondLst>
                              <p:cond delay="0"/>
                            </p:stCondLst>
                            <p:childTnLst>
                              <p:par>
                                <p:cTn id="77" presetID="23" presetClass="entr" presetSubtype="16"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animScale>
                                      <p:cBhvr>
                                        <p:cTn id="79" dur="500" fill="hold"/>
                                        <p:tgtEl>
                                          <p:spTgt spid="24"/>
                                        </p:tgtEl>
                                      </p:cBhvr>
                                      <p:from x="0" y="0"/>
                                      <p:to x="100000" y="100000"/>
                                    </p:animScale>
                                    <p:animEffect transition="in" filter="fade">
                                      <p:cBhvr>
                                        <p:cTn id="80" dur="500"/>
                                        <p:tgtEl>
                                          <p:spTgt spid="24"/>
                                        </p:tgtEl>
                                      </p:cBhvr>
                                    </p:animEffect>
                                  </p:childTnLst>
                                </p:cTn>
                              </p:par>
                              <p:par>
                                <p:cTn id="81" presetID="23" presetClass="entr" presetSubtype="16"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Scale>
                                      <p:cBhvr>
                                        <p:cTn id="83" dur="500" fill="hold"/>
                                        <p:tgtEl>
                                          <p:spTgt spid="25"/>
                                        </p:tgtEl>
                                      </p:cBhvr>
                                      <p:from x="0" y="0"/>
                                      <p:to x="100000" y="100000"/>
                                    </p:animScale>
                                    <p:animEffect transition="in" filter="fade">
                                      <p:cBhvr>
                                        <p:cTn id="8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46695"/>
          </a:xfrm>
          <a:prstGeom prst="rect">
            <a:avLst/>
          </a:prstGeom>
          <a:noFill/>
          <a:ln/>
        </p:spPr>
        <p:txBody>
          <a:bodyPr wrap="none" lIns="0" tIns="0" rIns="0" bIns="0" rtlCol="0" anchor="ctr"/>
          <a:lstStyle/>
          <a:p>
            <a:pPr algn="l" indent="0" marL="0">
              <a:lnSpc>
                <a:spcPts val="2730"/>
              </a:lnSpc>
              <a:buNone/>
            </a:pPr>
            <a:r>
              <a:rPr lang="en-US" sz="2100" b="1" dirty="0">
                <a:solidFill>
                  <a:srgbClr val="37352F"/>
                </a:solidFill>
                <a:latin typeface="Noto Sans Thai" pitchFamily="34" charset="0"/>
                <a:ea typeface="Noto Sans Thai" pitchFamily="34" charset="-122"/>
                <a:cs typeface="Noto Sans Thai" pitchFamily="34" charset="-120"/>
              </a:rPr>
              <a:t>บทที่ 5: Digital "Third Place"</a:t>
            </a:r>
            <a:endParaRPr lang="en-US" sz="2100" dirty="0"/>
          </a:p>
        </p:txBody>
      </p:sp>
      <p:sp>
        <p:nvSpPr>
          <p:cNvPr id="3" name="static"/>
          <p:cNvSpPr txBox="1"/>
          <p:nvPr/>
        </p:nvSpPr>
        <p:spPr>
          <a:xfrm>
            <a:off x="609600" y="1222995"/>
            <a:ext cx="6686550" cy="228600"/>
          </a:xfrm>
          <a:prstGeom prst="rect">
            <a:avLst/>
          </a:prstGeom>
          <a:noFill/>
          <a:ln/>
        </p:spPr>
        <p:txBody>
          <a:bodyPr wrap="none" lIns="0" tIns="0" rIns="0" bIns="0" rtlCol="0" anchor="ctr"/>
          <a:lstStyle/>
          <a:p>
            <a:pPr algn="l" indent="0" marL="0">
              <a:lnSpc>
                <a:spcPts val="1800"/>
              </a:lnSpc>
              <a:buNone/>
            </a:pPr>
            <a:r>
              <a:rPr lang="en-US" sz="1200" dirty="0">
                <a:solidFill>
                  <a:srgbClr val="37352F"/>
                </a:solidFill>
                <a:latin typeface="Noto Sans Thai" pitchFamily="34" charset="0"/>
                <a:ea typeface="Noto Sans Thai" pitchFamily="34" charset="-122"/>
                <a:cs typeface="Noto Sans Thai" pitchFamily="34" charset="-120"/>
              </a:rPr>
              <a:t>ผสาน Physical Hospitality เข้ากับ Digital Convenience</a:t>
            </a:r>
            <a:endParaRPr lang="en-US" sz="1200"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Part 3 · วิวัฒนาการยุคใหม่</a:t>
            </a:r>
            <a:endParaRPr lang="en-US" sz="825" dirty="0"/>
          </a:p>
        </p:txBody>
      </p:sp>
      <p:sp>
        <p:nvSpPr>
          <p:cNvPr id="5" name="!!tkey5-1"/>
          <p:cNvSpPr/>
          <p:nvPr/>
        </p:nvSpPr>
        <p:spPr>
          <a:xfrm>
            <a:off x="6438900" y="419100"/>
            <a:ext cx="2095500" cy="266700"/>
          </a:xfrm>
          <a:prstGeom prst="roundRect">
            <a:avLst>
              <a:gd name="adj" fmla="val 10714"/>
            </a:avLst>
          </a:prstGeom>
          <a:solidFill>
            <a:srgbClr val="FDECC8"/>
          </a:solidFill>
          <a:ln/>
        </p:spPr>
      </p:sp>
      <p:sp>
        <p:nvSpPr>
          <p:cNvPr id="6" name="!!tkey5-2"/>
          <p:cNvSpPr txBox="1"/>
          <p:nvPr/>
        </p:nvSpPr>
        <p:spPr>
          <a:xfrm>
            <a:off x="6438900" y="4191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Digital Third Place</a:t>
            </a:r>
            <a:endParaRPr lang="en-US" sz="900" dirty="0"/>
          </a:p>
        </p:txBody>
      </p:sp>
      <p:sp>
        <p:nvSpPr>
          <p:cNvPr id="7" name="b1:rise"/>
          <p:cNvSpPr/>
          <p:nvPr/>
        </p:nvSpPr>
        <p:spPr>
          <a:xfrm>
            <a:off x="609600" y="1676400"/>
            <a:ext cx="3286125" cy="942975"/>
          </a:xfrm>
          <a:prstGeom prst="roundRect">
            <a:avLst>
              <a:gd name="adj" fmla="val 4040"/>
            </a:avLst>
          </a:prstGeom>
          <a:solidFill>
            <a:srgbClr val="FFFFFF"/>
          </a:solidFill>
          <a:ln w="6350">
            <a:solidFill>
              <a:srgbClr val="E9E9E7"/>
            </a:solidFill>
            <a:prstDash val="solid"/>
          </a:ln>
        </p:spPr>
      </p:sp>
      <p:sp>
        <p:nvSpPr>
          <p:cNvPr id="8" name="b1:rise"/>
          <p:cNvSpPr txBox="1"/>
          <p:nvPr/>
        </p:nvSpPr>
        <p:spPr>
          <a:xfrm>
            <a:off x="766763" y="1814513"/>
            <a:ext cx="247263" cy="666750"/>
          </a:xfrm>
          <a:prstGeom prst="rect">
            <a:avLst/>
          </a:prstGeom>
          <a:noFill/>
          <a:ln/>
        </p:spPr>
        <p:txBody>
          <a:bodyPr wrap="square" lIns="0" tIns="0" rIns="0" bIns="0" rtlCol="0" anchor="t"/>
          <a:lstStyle/>
          <a:p>
            <a:pPr algn="l" indent="0" marL="0">
              <a:lnSpc>
                <a:spcPts val="1950"/>
              </a:lnSpc>
              <a:buNone/>
            </a:pPr>
            <a:r>
              <a:rPr lang="en-US" sz="1500" dirty="0">
                <a:solidFill>
                  <a:srgbClr val="37352F"/>
                </a:solidFill>
                <a:latin typeface="Noto Sans Thai" pitchFamily="34" charset="0"/>
                <a:ea typeface="Noto Sans Thai" pitchFamily="34" charset="-122"/>
                <a:cs typeface="Noto Sans Thai" pitchFamily="34" charset="-120"/>
              </a:rPr>
              <a:t>⭐</a:t>
            </a:r>
            <a:endParaRPr lang="en-US" sz="1500" dirty="0"/>
          </a:p>
        </p:txBody>
      </p:sp>
      <p:sp>
        <p:nvSpPr>
          <p:cNvPr id="9" name="b1:rise"/>
          <p:cNvSpPr txBox="1"/>
          <p:nvPr/>
        </p:nvSpPr>
        <p:spPr>
          <a:xfrm>
            <a:off x="1099765" y="1814513"/>
            <a:ext cx="2849901" cy="213345"/>
          </a:xfrm>
          <a:prstGeom prst="rect">
            <a:avLst/>
          </a:prstGeom>
          <a:noFill/>
          <a:ln/>
        </p:spPr>
        <p:txBody>
          <a:bodyPr wrap="none" lIns="0" tIns="0" rIns="0" bIns="0" rtlCol="0" anchor="ctr"/>
          <a:lstStyle/>
          <a:p>
            <a:pPr algn="l" indent="0" marL="0">
              <a:lnSpc>
                <a:spcPts val="1680"/>
              </a:lnSpc>
              <a:buNone/>
            </a:pPr>
            <a:r>
              <a:rPr lang="en-US" sz="1200" b="1" dirty="0">
                <a:solidFill>
                  <a:srgbClr val="37352F"/>
                </a:solidFill>
                <a:latin typeface="Noto Sans Thai" pitchFamily="34" charset="0"/>
                <a:ea typeface="Noto Sans Thai" pitchFamily="34" charset="-122"/>
                <a:cs typeface="Noto Sans Thai" pitchFamily="34" charset="-120"/>
              </a:rPr>
              <a:t>Starbucks Rewards App</a:t>
            </a:r>
            <a:endParaRPr lang="en-US" sz="1200" dirty="0"/>
          </a:p>
        </p:txBody>
      </p:sp>
      <p:sp>
        <p:nvSpPr>
          <p:cNvPr id="10" name="b1:rise"/>
          <p:cNvSpPr txBox="1"/>
          <p:nvPr/>
        </p:nvSpPr>
        <p:spPr>
          <a:xfrm>
            <a:off x="1099765" y="2065958"/>
            <a:ext cx="2744349" cy="383828"/>
          </a:xfrm>
          <a:prstGeom prst="rect">
            <a:avLst/>
          </a:prstGeom>
          <a:noFill/>
          <a:ln/>
        </p:spPr>
        <p:txBody>
          <a:bodyPr wrap="square" lIns="0" tIns="0" rIns="0" bIns="0" rtlCol="0" anchor="t"/>
          <a:lstStyle/>
          <a:p>
            <a:pPr algn="l" indent="0" marL="0">
              <a:lnSpc>
                <a:spcPts val="1511"/>
              </a:lnSpc>
              <a:buNone/>
            </a:pPr>
            <a:r>
              <a:rPr lang="en-US" sz="975" dirty="0">
                <a:solidFill>
                  <a:srgbClr val="37352F"/>
                </a:solidFill>
                <a:latin typeface="Noto Sans Thai" pitchFamily="34" charset="0"/>
                <a:ea typeface="Noto Sans Thai" pitchFamily="34" charset="-122"/>
                <a:cs typeface="Noto Sans Thai" pitchFamily="34" charset="-120"/>
              </a:rPr>
              <a:t>Loyalty Program แบบ Gamified มี </a:t>
            </a:r>
            <a:pPr algn="l" indent="0" marL="0">
              <a:lnSpc>
                <a:spcPts val="1511"/>
              </a:lnSpc>
              <a:buNone/>
            </a:pPr>
            <a:r>
              <a:rPr lang="en-US" sz="975" b="1" dirty="0">
                <a:solidFill>
                  <a:srgbClr val="448361"/>
                </a:solidFill>
                <a:latin typeface="Noto Sans Thai" pitchFamily="34" charset="0"/>
                <a:ea typeface="Noto Sans Thai" pitchFamily="34" charset="-122"/>
                <a:cs typeface="Noto Sans Thai" pitchFamily="34" charset="-120"/>
              </a:rPr>
              <a:t>Active Member กว่า 30 ล้านคน</a:t>
            </a:r>
            <a:endParaRPr lang="en-US" sz="975" dirty="0"/>
          </a:p>
        </p:txBody>
      </p:sp>
      <p:sp>
        <p:nvSpPr>
          <p:cNvPr id="11" name="b2:rise"/>
          <p:cNvSpPr/>
          <p:nvPr/>
        </p:nvSpPr>
        <p:spPr>
          <a:xfrm>
            <a:off x="4010025" y="1676400"/>
            <a:ext cx="3286125" cy="942975"/>
          </a:xfrm>
          <a:prstGeom prst="roundRect">
            <a:avLst>
              <a:gd name="adj" fmla="val 4040"/>
            </a:avLst>
          </a:prstGeom>
          <a:solidFill>
            <a:srgbClr val="FFFFFF"/>
          </a:solidFill>
          <a:ln w="6350">
            <a:solidFill>
              <a:srgbClr val="E9E9E7"/>
            </a:solidFill>
            <a:prstDash val="solid"/>
          </a:ln>
        </p:spPr>
      </p:sp>
      <p:sp>
        <p:nvSpPr>
          <p:cNvPr id="12" name="b2:rise"/>
          <p:cNvSpPr txBox="1"/>
          <p:nvPr/>
        </p:nvSpPr>
        <p:spPr>
          <a:xfrm>
            <a:off x="4167187" y="1814513"/>
            <a:ext cx="247263" cy="666750"/>
          </a:xfrm>
          <a:prstGeom prst="rect">
            <a:avLst/>
          </a:prstGeom>
          <a:noFill/>
          <a:ln/>
        </p:spPr>
        <p:txBody>
          <a:bodyPr wrap="square" lIns="0" tIns="0" rIns="0" bIns="0" rtlCol="0" anchor="t"/>
          <a:lstStyle/>
          <a:p>
            <a:pPr algn="l" indent="0" marL="0">
              <a:lnSpc>
                <a:spcPts val="1950"/>
              </a:lnSpc>
              <a:buNone/>
            </a:pPr>
            <a:r>
              <a:rPr lang="en-US" sz="1500" dirty="0">
                <a:solidFill>
                  <a:srgbClr val="37352F"/>
                </a:solidFill>
                <a:latin typeface="Noto Sans Thai" pitchFamily="34" charset="0"/>
                <a:ea typeface="Noto Sans Thai" pitchFamily="34" charset="-122"/>
                <a:cs typeface="Noto Sans Thai" pitchFamily="34" charset="-120"/>
              </a:rPr>
              <a:t>⚡</a:t>
            </a:r>
            <a:endParaRPr lang="en-US" sz="1500" dirty="0"/>
          </a:p>
        </p:txBody>
      </p:sp>
      <p:sp>
        <p:nvSpPr>
          <p:cNvPr id="13" name="b2:rise"/>
          <p:cNvSpPr txBox="1"/>
          <p:nvPr/>
        </p:nvSpPr>
        <p:spPr>
          <a:xfrm>
            <a:off x="4500190" y="1814513"/>
            <a:ext cx="2849901" cy="213345"/>
          </a:xfrm>
          <a:prstGeom prst="rect">
            <a:avLst/>
          </a:prstGeom>
          <a:noFill/>
          <a:ln/>
        </p:spPr>
        <p:txBody>
          <a:bodyPr wrap="none" lIns="0" tIns="0" rIns="0" bIns="0" rtlCol="0" anchor="ctr"/>
          <a:lstStyle/>
          <a:p>
            <a:pPr algn="l" indent="0" marL="0">
              <a:lnSpc>
                <a:spcPts val="1680"/>
              </a:lnSpc>
              <a:buNone/>
            </a:pPr>
            <a:r>
              <a:rPr lang="en-US" sz="1200" b="1" dirty="0">
                <a:solidFill>
                  <a:srgbClr val="37352F"/>
                </a:solidFill>
                <a:latin typeface="Noto Sans Thai" pitchFamily="34" charset="0"/>
                <a:ea typeface="Noto Sans Thai" pitchFamily="34" charset="-122"/>
                <a:cs typeface="Noto Sans Thai" pitchFamily="34" charset="-120"/>
              </a:rPr>
              <a:t>Mobile Order &amp; Pay</a:t>
            </a:r>
            <a:endParaRPr lang="en-US" sz="1200" dirty="0"/>
          </a:p>
        </p:txBody>
      </p:sp>
      <p:sp>
        <p:nvSpPr>
          <p:cNvPr id="14" name="b2:rise"/>
          <p:cNvSpPr txBox="1"/>
          <p:nvPr/>
        </p:nvSpPr>
        <p:spPr>
          <a:xfrm>
            <a:off x="4500190" y="2065958"/>
            <a:ext cx="2849901" cy="191914"/>
          </a:xfrm>
          <a:prstGeom prst="rect">
            <a:avLst/>
          </a:prstGeom>
          <a:noFill/>
          <a:ln/>
        </p:spPr>
        <p:txBody>
          <a:bodyPr wrap="none" lIns="0" tIns="0" rIns="0" bIns="0" rtlCol="0" anchor="ctr"/>
          <a:lstStyle/>
          <a:p>
            <a:pPr algn="l" indent="0" marL="0">
              <a:lnSpc>
                <a:spcPts val="1511"/>
              </a:lnSpc>
              <a:buNone/>
            </a:pPr>
            <a:r>
              <a:rPr lang="en-US" sz="975" dirty="0">
                <a:solidFill>
                  <a:srgbClr val="37352F"/>
                </a:solidFill>
                <a:latin typeface="Noto Sans Thai" pitchFamily="34" charset="0"/>
                <a:ea typeface="Noto Sans Thai" pitchFamily="34" charset="-122"/>
                <a:cs typeface="Noto Sans Thai" pitchFamily="34" charset="-120"/>
              </a:rPr>
              <a:t>สั่งและจ่ายล่วงหน้า สะดวก ไร้ Friction</a:t>
            </a:r>
            <a:endParaRPr lang="en-US" sz="975" dirty="0"/>
          </a:p>
        </p:txBody>
      </p:sp>
      <p:sp>
        <p:nvSpPr>
          <p:cNvPr id="15" name="b3:rise"/>
          <p:cNvSpPr/>
          <p:nvPr/>
        </p:nvSpPr>
        <p:spPr>
          <a:xfrm>
            <a:off x="609600" y="2733675"/>
            <a:ext cx="3286125" cy="942975"/>
          </a:xfrm>
          <a:prstGeom prst="roundRect">
            <a:avLst>
              <a:gd name="adj" fmla="val 4040"/>
            </a:avLst>
          </a:prstGeom>
          <a:solidFill>
            <a:srgbClr val="FFFFFF"/>
          </a:solidFill>
          <a:ln w="6350">
            <a:solidFill>
              <a:srgbClr val="E9E9E7"/>
            </a:solidFill>
            <a:prstDash val="solid"/>
          </a:ln>
        </p:spPr>
      </p:sp>
      <p:sp>
        <p:nvSpPr>
          <p:cNvPr id="16" name="b3:rise"/>
          <p:cNvSpPr txBox="1"/>
          <p:nvPr/>
        </p:nvSpPr>
        <p:spPr>
          <a:xfrm>
            <a:off x="766763" y="2871788"/>
            <a:ext cx="247263" cy="666750"/>
          </a:xfrm>
          <a:prstGeom prst="rect">
            <a:avLst/>
          </a:prstGeom>
          <a:noFill/>
          <a:ln/>
        </p:spPr>
        <p:txBody>
          <a:bodyPr wrap="square" lIns="0" tIns="0" rIns="0" bIns="0" rtlCol="0" anchor="t"/>
          <a:lstStyle/>
          <a:p>
            <a:pPr algn="l" indent="0" marL="0">
              <a:lnSpc>
                <a:spcPts val="1950"/>
              </a:lnSpc>
              <a:buNone/>
            </a:pPr>
            <a:r>
              <a:rPr lang="en-US" sz="1500" dirty="0">
                <a:solidFill>
                  <a:srgbClr val="37352F"/>
                </a:solidFill>
                <a:latin typeface="Noto Sans Thai" pitchFamily="34" charset="0"/>
                <a:ea typeface="Noto Sans Thai" pitchFamily="34" charset="-122"/>
                <a:cs typeface="Noto Sans Thai" pitchFamily="34" charset="-120"/>
              </a:rPr>
              <a:t>💡</a:t>
            </a:r>
            <a:endParaRPr lang="en-US" sz="1500" dirty="0"/>
          </a:p>
        </p:txBody>
      </p:sp>
      <p:sp>
        <p:nvSpPr>
          <p:cNvPr id="17" name="b3:rise"/>
          <p:cNvSpPr txBox="1"/>
          <p:nvPr/>
        </p:nvSpPr>
        <p:spPr>
          <a:xfrm>
            <a:off x="1099765" y="2871788"/>
            <a:ext cx="2849901" cy="213345"/>
          </a:xfrm>
          <a:prstGeom prst="rect">
            <a:avLst/>
          </a:prstGeom>
          <a:noFill/>
          <a:ln/>
        </p:spPr>
        <p:txBody>
          <a:bodyPr wrap="none" lIns="0" tIns="0" rIns="0" bIns="0" rtlCol="0" anchor="ctr"/>
          <a:lstStyle/>
          <a:p>
            <a:pPr algn="l" indent="0" marL="0">
              <a:lnSpc>
                <a:spcPts val="1680"/>
              </a:lnSpc>
              <a:buNone/>
            </a:pPr>
            <a:r>
              <a:rPr lang="en-US" sz="1200" b="1" dirty="0">
                <a:solidFill>
                  <a:srgbClr val="37352F"/>
                </a:solidFill>
                <a:latin typeface="Noto Sans Thai" pitchFamily="34" charset="0"/>
                <a:ea typeface="Noto Sans Thai" pitchFamily="34" charset="-122"/>
                <a:cs typeface="Noto Sans Thai" pitchFamily="34" charset="-120"/>
              </a:rPr>
              <a:t>Digital Personalization</a:t>
            </a:r>
            <a:endParaRPr lang="en-US" sz="1200" dirty="0"/>
          </a:p>
        </p:txBody>
      </p:sp>
      <p:sp>
        <p:nvSpPr>
          <p:cNvPr id="18" name="b3:rise"/>
          <p:cNvSpPr txBox="1"/>
          <p:nvPr/>
        </p:nvSpPr>
        <p:spPr>
          <a:xfrm>
            <a:off x="1099765" y="3123233"/>
            <a:ext cx="2744349" cy="383828"/>
          </a:xfrm>
          <a:prstGeom prst="rect">
            <a:avLst/>
          </a:prstGeom>
          <a:noFill/>
          <a:ln/>
        </p:spPr>
        <p:txBody>
          <a:bodyPr wrap="square" lIns="0" tIns="0" rIns="0" bIns="0" rtlCol="0" anchor="t"/>
          <a:lstStyle/>
          <a:p>
            <a:pPr algn="l" indent="0" marL="0">
              <a:lnSpc>
                <a:spcPts val="1511"/>
              </a:lnSpc>
              <a:buNone/>
            </a:pPr>
            <a:r>
              <a:rPr lang="en-US" sz="975" dirty="0">
                <a:solidFill>
                  <a:srgbClr val="37352F"/>
                </a:solidFill>
                <a:latin typeface="Noto Sans Thai" pitchFamily="34" charset="0"/>
                <a:ea typeface="Noto Sans Thai" pitchFamily="34" charset="-122"/>
                <a:cs typeface="Noto Sans Thai" pitchFamily="34" charset="-120"/>
              </a:rPr>
              <a:t>Recommendation Engine ที่ขับเคลื่อนด้วย AI ปรับข้อเสนอให้ตรงรสนิยมของแต่ละคน</a:t>
            </a:r>
            <a:endParaRPr lang="en-US" sz="975" dirty="0"/>
          </a:p>
        </p:txBody>
      </p:sp>
      <p:sp>
        <p:nvSpPr>
          <p:cNvPr id="19" name="b4:rise"/>
          <p:cNvSpPr/>
          <p:nvPr/>
        </p:nvSpPr>
        <p:spPr>
          <a:xfrm>
            <a:off x="4010025" y="2733675"/>
            <a:ext cx="3286125" cy="942975"/>
          </a:xfrm>
          <a:prstGeom prst="roundRect">
            <a:avLst>
              <a:gd name="adj" fmla="val 4040"/>
            </a:avLst>
          </a:prstGeom>
          <a:solidFill>
            <a:srgbClr val="FFFFFF"/>
          </a:solidFill>
          <a:ln w="6350">
            <a:solidFill>
              <a:srgbClr val="E9E9E7"/>
            </a:solidFill>
            <a:prstDash val="solid"/>
          </a:ln>
        </p:spPr>
      </p:sp>
      <p:sp>
        <p:nvSpPr>
          <p:cNvPr id="20" name="b4:rise"/>
          <p:cNvSpPr txBox="1"/>
          <p:nvPr/>
        </p:nvSpPr>
        <p:spPr>
          <a:xfrm>
            <a:off x="4167187" y="2871788"/>
            <a:ext cx="247263" cy="666750"/>
          </a:xfrm>
          <a:prstGeom prst="rect">
            <a:avLst/>
          </a:prstGeom>
          <a:noFill/>
          <a:ln/>
        </p:spPr>
        <p:txBody>
          <a:bodyPr wrap="square" lIns="0" tIns="0" rIns="0" bIns="0" rtlCol="0" anchor="t"/>
          <a:lstStyle/>
          <a:p>
            <a:pPr algn="l" indent="0" marL="0">
              <a:lnSpc>
                <a:spcPts val="1950"/>
              </a:lnSpc>
              <a:buNone/>
            </a:pPr>
            <a:r>
              <a:rPr lang="en-US" sz="1500" dirty="0">
                <a:solidFill>
                  <a:srgbClr val="37352F"/>
                </a:solidFill>
                <a:latin typeface="Noto Sans Thai" pitchFamily="34" charset="0"/>
                <a:ea typeface="Noto Sans Thai" pitchFamily="34" charset="-122"/>
                <a:cs typeface="Noto Sans Thai" pitchFamily="34" charset="-120"/>
              </a:rPr>
              <a:t>🌍</a:t>
            </a:r>
            <a:endParaRPr lang="en-US" sz="1500" dirty="0"/>
          </a:p>
        </p:txBody>
      </p:sp>
      <p:sp>
        <p:nvSpPr>
          <p:cNvPr id="21" name="b4:rise"/>
          <p:cNvSpPr txBox="1"/>
          <p:nvPr/>
        </p:nvSpPr>
        <p:spPr>
          <a:xfrm>
            <a:off x="4500190" y="2871788"/>
            <a:ext cx="2849901" cy="213345"/>
          </a:xfrm>
          <a:prstGeom prst="rect">
            <a:avLst/>
          </a:prstGeom>
          <a:noFill/>
          <a:ln/>
        </p:spPr>
        <p:txBody>
          <a:bodyPr wrap="none" lIns="0" tIns="0" rIns="0" bIns="0" rtlCol="0" anchor="ctr"/>
          <a:lstStyle/>
          <a:p>
            <a:pPr algn="l" indent="0" marL="0">
              <a:lnSpc>
                <a:spcPts val="1680"/>
              </a:lnSpc>
              <a:buNone/>
            </a:pPr>
            <a:r>
              <a:rPr lang="en-US" sz="1200" b="1" dirty="0">
                <a:solidFill>
                  <a:srgbClr val="37352F"/>
                </a:solidFill>
                <a:latin typeface="Noto Sans Thai" pitchFamily="34" charset="0"/>
                <a:ea typeface="Noto Sans Thai" pitchFamily="34" charset="-122"/>
                <a:cs typeface="Noto Sans Thai" pitchFamily="34" charset="-120"/>
              </a:rPr>
              <a:t>Modern Omnichannel</a:t>
            </a:r>
            <a:endParaRPr lang="en-US" sz="1200" dirty="0"/>
          </a:p>
        </p:txBody>
      </p:sp>
      <p:sp>
        <p:nvSpPr>
          <p:cNvPr id="22" name="b4:rise"/>
          <p:cNvSpPr txBox="1"/>
          <p:nvPr/>
        </p:nvSpPr>
        <p:spPr>
          <a:xfrm>
            <a:off x="4500190" y="3123233"/>
            <a:ext cx="2744349" cy="383828"/>
          </a:xfrm>
          <a:prstGeom prst="rect">
            <a:avLst/>
          </a:prstGeom>
          <a:noFill/>
          <a:ln/>
        </p:spPr>
        <p:txBody>
          <a:bodyPr wrap="square" lIns="0" tIns="0" rIns="0" bIns="0" rtlCol="0" anchor="t"/>
          <a:lstStyle/>
          <a:p>
            <a:pPr algn="l" indent="0" marL="0">
              <a:lnSpc>
                <a:spcPts val="1511"/>
              </a:lnSpc>
              <a:buNone/>
            </a:pPr>
            <a:r>
              <a:rPr lang="en-US" sz="975" dirty="0">
                <a:solidFill>
                  <a:srgbClr val="37352F"/>
                </a:solidFill>
                <a:latin typeface="Noto Sans Thai" pitchFamily="34" charset="0"/>
                <a:ea typeface="Noto Sans Thai" pitchFamily="34" charset="-122"/>
                <a:cs typeface="Noto Sans Thai" pitchFamily="34" charset="-120"/>
              </a:rPr>
              <a:t>รักษา Human Connection ไว้ ทั้งผ่าน Drive-thru และ Delivery</a:t>
            </a:r>
            <a:endParaRPr lang="en-US" sz="975" dirty="0"/>
          </a:p>
        </p:txBody>
      </p:sp>
      <p:pic>
        <p:nvPicPr>
          <p:cNvPr id="23" name="b5:pop (Phone showing the Starbucks Rewards app with order ahead, pay in store and a recommended drink)" descr="/home/user/slide-present-en/starbucks-presentation/assets/phone-app.png">    </p:cNvPr>
          <p:cNvPicPr>
            <a:picLocks noChangeAspect="1"/>
          </p:cNvPicPr>
          <p:nvPr/>
        </p:nvPicPr>
        <p:blipFill>
          <a:blip r:embed="rId1"/>
          <a:stretch>
            <a:fillRect/>
          </a:stretch>
        </p:blipFill>
        <p:spPr>
          <a:xfrm>
            <a:off x="7410450" y="1714500"/>
            <a:ext cx="1123950" cy="1685925"/>
          </a:xfrm>
          <a:prstGeom prst="rect">
            <a:avLst/>
          </a:prstGeom>
        </p:spPr>
      </p:pic>
      <p:sp>
        <p:nvSpPr>
          <p:cNvPr id="24" name="b6:fade"/>
          <p:cNvSpPr/>
          <p:nvPr/>
        </p:nvSpPr>
        <p:spPr>
          <a:xfrm>
            <a:off x="609600" y="3790950"/>
            <a:ext cx="7924800" cy="402431"/>
          </a:xfrm>
          <a:prstGeom prst="roundRect">
            <a:avLst>
              <a:gd name="adj" fmla="val 9467"/>
            </a:avLst>
          </a:prstGeom>
          <a:solidFill>
            <a:srgbClr val="F1F1EF"/>
          </a:solidFill>
          <a:ln/>
        </p:spPr>
      </p:sp>
      <p:sp>
        <p:nvSpPr>
          <p:cNvPr id="25" name="b6:fade"/>
          <p:cNvSpPr txBox="1"/>
          <p:nvPr/>
        </p:nvSpPr>
        <p:spPr>
          <a:xfrm>
            <a:off x="762000" y="3899297"/>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Noto Sans Thai" pitchFamily="34" charset="0"/>
                <a:ea typeface="Noto Sans Thai" pitchFamily="34" charset="-122"/>
                <a:cs typeface="Noto Sans Thai" pitchFamily="34" charset="-120"/>
              </a:rPr>
              <a:t>➡️</a:t>
            </a:r>
            <a:endParaRPr lang="en-US" sz="1125" dirty="0"/>
          </a:p>
        </p:txBody>
      </p:sp>
      <p:sp>
        <p:nvSpPr>
          <p:cNvPr id="26" name="b6:fade"/>
          <p:cNvSpPr txBox="1"/>
          <p:nvPr/>
        </p:nvSpPr>
        <p:spPr>
          <a:xfrm>
            <a:off x="1054596" y="3895725"/>
            <a:ext cx="7913596" cy="192881"/>
          </a:xfrm>
          <a:prstGeom prst="rect">
            <a:avLst/>
          </a:prstGeom>
          <a:noFill/>
          <a:ln/>
        </p:spPr>
        <p:txBody>
          <a:bodyPr wrap="none" lIns="0" tIns="0" rIns="0" bIns="0" rtlCol="0" anchor="ctr"/>
          <a:lstStyle/>
          <a:p>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เมื่อเชี่ยวชาญทั้ง Physical Experience และ Digital Innovation แล้ว </a:t>
            </a:r>
            <a:pPr algn="l" indent="0" marL="0">
              <a:lnSpc>
                <a:spcPts val="1519"/>
              </a:lnSpc>
              <a:buNone/>
            </a:pPr>
            <a:r>
              <a:rPr lang="en-US" sz="1013" b="1" dirty="0">
                <a:solidFill>
                  <a:srgbClr val="448361"/>
                </a:solidFill>
                <a:latin typeface="Noto Sans Thai" pitchFamily="34" charset="0"/>
                <a:ea typeface="Noto Sans Thai" pitchFamily="34" charset="-122"/>
                <a:cs typeface="Noto Sans Thai" pitchFamily="34" charset="-120"/>
              </a:rPr>
              <a:t>Global Business Impact</a:t>
            </a:r>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 เป็นอย่างไร?</a:t>
            </a:r>
            <a:endParaRPr lang="en-US" sz="1013" dirty="0"/>
          </a:p>
        </p:txBody>
      </p:sp>
      <p:sp>
        <p:nvSpPr>
          <p:cNvPr id="27" name="!!tkey6-1"/>
          <p:cNvSpPr/>
          <p:nvPr/>
        </p:nvSpPr>
        <p:spPr>
          <a:xfrm>
            <a:off x="6438900" y="4572000"/>
            <a:ext cx="2095500" cy="266700"/>
          </a:xfrm>
          <a:prstGeom prst="roundRect">
            <a:avLst>
              <a:gd name="adj" fmla="val 10714"/>
            </a:avLst>
          </a:prstGeom>
          <a:solidFill>
            <a:srgbClr val="FDECC8"/>
          </a:solidFill>
          <a:ln/>
        </p:spPr>
      </p:sp>
      <p:sp>
        <p:nvSpPr>
          <p:cNvPr id="28" name="!!tkey6-2"/>
          <p:cNvSpPr txBox="1"/>
          <p:nvPr/>
        </p:nvSpPr>
        <p:spPr>
          <a:xfrm>
            <a:off x="6438900" y="45720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Global Reach &amp; Scale</a:t>
            </a:r>
            <a:endParaRPr lang="en-US" sz="900" dirty="0"/>
          </a:p>
        </p:txBody>
      </p:sp>
      <p:sp>
        <p:nvSpPr>
          <p:cNvPr id="29" name="static"/>
          <p:cNvSpPr txBox="1"/>
          <p:nvPr/>
        </p:nvSpPr>
        <p:spPr>
          <a:xfrm>
            <a:off x="609600" y="4667250"/>
            <a:ext cx="1938710" cy="171450"/>
          </a:xfrm>
          <a:prstGeom prst="rect">
            <a:avLst/>
          </a:prstGeom>
          <a:noFill/>
          <a:ln/>
        </p:spPr>
        <p:txBody>
          <a:bodyPr wrap="none" lIns="0" tIns="0" rIns="0" bIns="0" rtlCol="0" anchor="ctr"/>
          <a:lstStyle/>
          <a:p>
            <a:pPr algn="l" indent="0" marL="0">
              <a:lnSpc>
                <a:spcPts val="1350"/>
              </a:lnSpc>
              <a:buNone/>
            </a:pPr>
            <a:r>
              <a:rPr lang="en-US" sz="900" dirty="0">
                <a:solidFill>
                  <a:srgbClr val="787774"/>
                </a:solidFill>
                <a:latin typeface="Noto Sans Thai" pitchFamily="34" charset="0"/>
                <a:ea typeface="Noto Sans Thai" pitchFamily="34" charset="-122"/>
                <a:cs typeface="Noto Sans Thai" pitchFamily="34" charset="-120"/>
              </a:rPr>
              <a:t>สไลด์ 6 จาก 8 · Part 3 · วิวัฒนาการยุคใหม่</a:t>
            </a:r>
            <a:endParaRPr lang="en-US" sz="900" dirty="0"/>
          </a:p>
        </p:txBody>
      </p:sp>
      <p:sp>
        <p:nvSpPr>
          <p:cNvPr id="30" name="static"/>
          <p:cNvSpPr/>
          <p:nvPr/>
        </p:nvSpPr>
        <p:spPr>
          <a:xfrm>
            <a:off x="2738810" y="4724400"/>
            <a:ext cx="57150" cy="57150"/>
          </a:xfrm>
          <a:prstGeom prst="roundRect">
            <a:avLst>
              <a:gd name="adj" fmla="val 50000"/>
            </a:avLst>
          </a:prstGeom>
          <a:solidFill>
            <a:srgbClr val="787774"/>
          </a:solidFill>
          <a:ln/>
        </p:spPr>
      </p:sp>
      <p:sp>
        <p:nvSpPr>
          <p:cNvPr id="31" name="static"/>
          <p:cNvSpPr/>
          <p:nvPr/>
        </p:nvSpPr>
        <p:spPr>
          <a:xfrm>
            <a:off x="2843585" y="4724400"/>
            <a:ext cx="57150" cy="57150"/>
          </a:xfrm>
          <a:prstGeom prst="roundRect">
            <a:avLst>
              <a:gd name="adj" fmla="val 50000"/>
            </a:avLst>
          </a:prstGeom>
          <a:solidFill>
            <a:srgbClr val="787774"/>
          </a:solidFill>
          <a:ln/>
        </p:spPr>
      </p:sp>
      <p:sp>
        <p:nvSpPr>
          <p:cNvPr id="32" name="static"/>
          <p:cNvSpPr/>
          <p:nvPr/>
        </p:nvSpPr>
        <p:spPr>
          <a:xfrm>
            <a:off x="2948360" y="4724400"/>
            <a:ext cx="57150" cy="57150"/>
          </a:xfrm>
          <a:prstGeom prst="roundRect">
            <a:avLst>
              <a:gd name="adj" fmla="val 50000"/>
            </a:avLst>
          </a:prstGeom>
          <a:solidFill>
            <a:srgbClr val="787774"/>
          </a:solidFill>
          <a:ln/>
        </p:spPr>
      </p:sp>
      <p:sp>
        <p:nvSpPr>
          <p:cNvPr id="33" name="static"/>
          <p:cNvSpPr/>
          <p:nvPr/>
        </p:nvSpPr>
        <p:spPr>
          <a:xfrm>
            <a:off x="3053135" y="4724400"/>
            <a:ext cx="57150" cy="57150"/>
          </a:xfrm>
          <a:prstGeom prst="roundRect">
            <a:avLst>
              <a:gd name="adj" fmla="val 50000"/>
            </a:avLst>
          </a:prstGeom>
          <a:solidFill>
            <a:srgbClr val="787774"/>
          </a:solidFill>
          <a:ln/>
        </p:spPr>
      </p:sp>
      <p:sp>
        <p:nvSpPr>
          <p:cNvPr id="34" name="static"/>
          <p:cNvSpPr/>
          <p:nvPr/>
        </p:nvSpPr>
        <p:spPr>
          <a:xfrm>
            <a:off x="3157910" y="4724400"/>
            <a:ext cx="57150" cy="57150"/>
          </a:xfrm>
          <a:prstGeom prst="roundRect">
            <a:avLst>
              <a:gd name="adj" fmla="val 50000"/>
            </a:avLst>
          </a:prstGeom>
          <a:solidFill>
            <a:srgbClr val="787774"/>
          </a:solidFill>
          <a:ln/>
        </p:spPr>
      </p:sp>
      <p:sp>
        <p:nvSpPr>
          <p:cNvPr id="35" name="static"/>
          <p:cNvSpPr/>
          <p:nvPr/>
        </p:nvSpPr>
        <p:spPr>
          <a:xfrm>
            <a:off x="3262685" y="4724400"/>
            <a:ext cx="171450" cy="57150"/>
          </a:xfrm>
          <a:prstGeom prst="roundRect">
            <a:avLst>
              <a:gd name="adj" fmla="val 50000"/>
            </a:avLst>
          </a:prstGeom>
          <a:solidFill>
            <a:srgbClr val="37352F"/>
          </a:solidFill>
          <a:ln/>
        </p:spPr>
      </p:sp>
      <p:sp>
        <p:nvSpPr>
          <p:cNvPr id="36" name="static"/>
          <p:cNvSpPr/>
          <p:nvPr/>
        </p:nvSpPr>
        <p:spPr>
          <a:xfrm>
            <a:off x="3481760" y="4724400"/>
            <a:ext cx="57150" cy="57150"/>
          </a:xfrm>
          <a:prstGeom prst="roundRect">
            <a:avLst>
              <a:gd name="adj" fmla="val 50000"/>
            </a:avLst>
          </a:prstGeom>
          <a:solidFill>
            <a:srgbClr val="E3E2E0"/>
          </a:solidFill>
          <a:ln/>
        </p:spPr>
      </p:sp>
      <p:sp>
        <p:nvSpPr>
          <p:cNvPr id="37" name="static"/>
          <p:cNvSpPr/>
          <p:nvPr/>
        </p:nvSpPr>
        <p:spPr>
          <a:xfrm>
            <a:off x="3586535" y="4724400"/>
            <a:ext cx="57150" cy="57150"/>
          </a:xfrm>
          <a:prstGeom prst="roundRect">
            <a:avLst>
              <a:gd name="adj" fmla="val 50000"/>
            </a:avLst>
          </a:prstGeom>
          <a:solidFill>
            <a:srgbClr val="E3E2E0"/>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700"/>
                                        <p:tgtEl>
                                          <p:spTgt spid="7"/>
                                        </p:tgtEl>
                                      </p:cBhvr>
                                    </p:animEffect>
                                    <p:anim calcmode="lin" valueType="num">
                                      <p:cBhvr additive="base">
                                        <p:cTn id="6" dur="700" fill="hold"/>
                                        <p:tgtEl>
                                          <p:spTgt spid="7"/>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700"/>
                                        <p:tgtEl>
                                          <p:spTgt spid="8"/>
                                        </p:tgtEl>
                                      </p:cBhvr>
                                    </p:animEffect>
                                    <p:anim calcmode="lin" valueType="num">
                                      <p:cBhvr additive="base">
                                        <p:cTn id="10" dur="700" fill="hold"/>
                                        <p:tgtEl>
                                          <p:spTgt spid="8"/>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additive="base">
                                        <p:cTn id="14" dur="700" fill="hold"/>
                                        <p:tgtEl>
                                          <p:spTgt spid="9"/>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anim calcmode="lin" valueType="num">
                                      <p:cBhvr additive="base">
                                        <p:cTn id="18" dur="700" fill="hold"/>
                                        <p:tgtEl>
                                          <p:spTgt spid="10"/>
                                        </p:tgtEl>
                                        <p:attrNameLst>
                                          <p:attrName>ppt_y</p:attrName>
                                        </p:attrNameLst>
                                      </p:cBhvr>
                                      <p:tavLst>
                                        <p:tav tm="0">
                                          <p:val>
                                            <p:strVal val="#ppt_y+.08"/>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700"/>
                                        <p:tgtEl>
                                          <p:spTgt spid="11"/>
                                        </p:tgtEl>
                                      </p:cBhvr>
                                    </p:animEffect>
                                    <p:anim calcmode="lin" valueType="num">
                                      <p:cBhvr additive="base">
                                        <p:cTn id="24" dur="700" fill="hold"/>
                                        <p:tgtEl>
                                          <p:spTgt spid="11"/>
                                        </p:tgtEl>
                                        <p:attrNameLst>
                                          <p:attrName>ppt_y</p:attrName>
                                        </p:attrNameLst>
                                      </p:cBhvr>
                                      <p:tavLst>
                                        <p:tav tm="0">
                                          <p:val>
                                            <p:strVal val="#ppt_y+.08"/>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700"/>
                                        <p:tgtEl>
                                          <p:spTgt spid="12"/>
                                        </p:tgtEl>
                                      </p:cBhvr>
                                    </p:animEffect>
                                    <p:anim calcmode="lin" valueType="num">
                                      <p:cBhvr additive="base">
                                        <p:cTn id="28" dur="700" fill="hold"/>
                                        <p:tgtEl>
                                          <p:spTgt spid="12"/>
                                        </p:tgtEl>
                                        <p:attrNameLst>
                                          <p:attrName>ppt_y</p:attrName>
                                        </p:attrNameLst>
                                      </p:cBhvr>
                                      <p:tavLst>
                                        <p:tav tm="0">
                                          <p:val>
                                            <p:strVal val="#ppt_y+.0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700"/>
                                        <p:tgtEl>
                                          <p:spTgt spid="13"/>
                                        </p:tgtEl>
                                      </p:cBhvr>
                                    </p:animEffect>
                                    <p:anim calcmode="lin" valueType="num">
                                      <p:cBhvr additive="base">
                                        <p:cTn id="32" dur="700" fill="hold"/>
                                        <p:tgtEl>
                                          <p:spTgt spid="13"/>
                                        </p:tgtEl>
                                        <p:attrNameLst>
                                          <p:attrName>ppt_y</p:attrName>
                                        </p:attrNameLst>
                                      </p:cBhvr>
                                      <p:tavLst>
                                        <p:tav tm="0">
                                          <p:val>
                                            <p:strVal val="#ppt_y+.0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700"/>
                                        <p:tgtEl>
                                          <p:spTgt spid="14"/>
                                        </p:tgtEl>
                                      </p:cBhvr>
                                    </p:animEffect>
                                    <p:anim calcmode="lin" valueType="num">
                                      <p:cBhvr additive="base">
                                        <p:cTn id="36" dur="700" fill="hold"/>
                                        <p:tgtEl>
                                          <p:spTgt spid="14"/>
                                        </p:tgtEl>
                                        <p:attrNameLst>
                                          <p:attrName>ppt_y</p:attrName>
                                        </p:attrNameLst>
                                      </p:cBhvr>
                                      <p:tavLst>
                                        <p:tav tm="0">
                                          <p:val>
                                            <p:strVal val="#ppt_y+.08"/>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700"/>
                                        <p:tgtEl>
                                          <p:spTgt spid="15"/>
                                        </p:tgtEl>
                                      </p:cBhvr>
                                    </p:animEffect>
                                    <p:anim calcmode="lin" valueType="num">
                                      <p:cBhvr additive="base">
                                        <p:cTn id="42" dur="700" fill="hold"/>
                                        <p:tgtEl>
                                          <p:spTgt spid="15"/>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700"/>
                                        <p:tgtEl>
                                          <p:spTgt spid="16"/>
                                        </p:tgtEl>
                                      </p:cBhvr>
                                    </p:animEffect>
                                    <p:anim calcmode="lin" valueType="num">
                                      <p:cBhvr additive="base">
                                        <p:cTn id="46" dur="700" fill="hold"/>
                                        <p:tgtEl>
                                          <p:spTgt spid="16"/>
                                        </p:tgtEl>
                                        <p:attrNameLst>
                                          <p:attrName>ppt_y</p:attrName>
                                        </p:attrNameLst>
                                      </p:cBhvr>
                                      <p:tavLst>
                                        <p:tav tm="0">
                                          <p:val>
                                            <p:strVal val="#ppt_y+.0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700"/>
                                        <p:tgtEl>
                                          <p:spTgt spid="17"/>
                                        </p:tgtEl>
                                      </p:cBhvr>
                                    </p:animEffect>
                                    <p:anim calcmode="lin" valueType="num">
                                      <p:cBhvr additive="base">
                                        <p:cTn id="50" dur="700" fill="hold"/>
                                        <p:tgtEl>
                                          <p:spTgt spid="17"/>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700"/>
                                        <p:tgtEl>
                                          <p:spTgt spid="18"/>
                                        </p:tgtEl>
                                      </p:cBhvr>
                                    </p:animEffect>
                                    <p:anim calcmode="lin" valueType="num">
                                      <p:cBhvr additive="base">
                                        <p:cTn id="54" dur="700" fill="hold"/>
                                        <p:tgtEl>
                                          <p:spTgt spid="18"/>
                                        </p:tgtEl>
                                        <p:attrNameLst>
                                          <p:attrName>ppt_y</p:attrName>
                                        </p:attrNameLst>
                                      </p:cBhvr>
                                      <p:tavLst>
                                        <p:tav tm="0">
                                          <p:val>
                                            <p:strVal val="#ppt_y+.08"/>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700"/>
                                        <p:tgtEl>
                                          <p:spTgt spid="19"/>
                                        </p:tgtEl>
                                      </p:cBhvr>
                                    </p:animEffect>
                                    <p:anim calcmode="lin" valueType="num">
                                      <p:cBhvr additive="base">
                                        <p:cTn id="60" dur="700" fill="hold"/>
                                        <p:tgtEl>
                                          <p:spTgt spid="19"/>
                                        </p:tgtEl>
                                        <p:attrNameLst>
                                          <p:attrName>ppt_y</p:attrName>
                                        </p:attrNameLst>
                                      </p:cBhvr>
                                      <p:tavLst>
                                        <p:tav tm="0">
                                          <p:val>
                                            <p:strVal val="#ppt_y+.08"/>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700"/>
                                        <p:tgtEl>
                                          <p:spTgt spid="20"/>
                                        </p:tgtEl>
                                      </p:cBhvr>
                                    </p:animEffect>
                                    <p:anim calcmode="lin" valueType="num">
                                      <p:cBhvr additive="base">
                                        <p:cTn id="64" dur="700" fill="hold"/>
                                        <p:tgtEl>
                                          <p:spTgt spid="20"/>
                                        </p:tgtEl>
                                        <p:attrNameLst>
                                          <p:attrName>ppt_y</p:attrName>
                                        </p:attrNameLst>
                                      </p:cBhvr>
                                      <p:tavLst>
                                        <p:tav tm="0">
                                          <p:val>
                                            <p:strVal val="#ppt_y+.0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700"/>
                                        <p:tgtEl>
                                          <p:spTgt spid="21"/>
                                        </p:tgtEl>
                                      </p:cBhvr>
                                    </p:animEffect>
                                    <p:anim calcmode="lin" valueType="num">
                                      <p:cBhvr additive="base">
                                        <p:cTn id="68" dur="700" fill="hold"/>
                                        <p:tgtEl>
                                          <p:spTgt spid="21"/>
                                        </p:tgtEl>
                                        <p:attrNameLst>
                                          <p:attrName>ppt_y</p:attrName>
                                        </p:attrNameLst>
                                      </p:cBhvr>
                                      <p:tavLst>
                                        <p:tav tm="0">
                                          <p:val>
                                            <p:strVal val="#ppt_y+.0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700"/>
                                        <p:tgtEl>
                                          <p:spTgt spid="22"/>
                                        </p:tgtEl>
                                      </p:cBhvr>
                                    </p:animEffect>
                                    <p:anim calcmode="lin" valueType="num">
                                      <p:cBhvr additive="base">
                                        <p:cTn id="72" dur="700" fill="hold"/>
                                        <p:tgtEl>
                                          <p:spTgt spid="22"/>
                                        </p:tgtEl>
                                        <p:attrNameLst>
                                          <p:attrName>ppt_y</p:attrName>
                                        </p:attrNameLst>
                                      </p:cBhvr>
                                      <p:tavLst>
                                        <p:tav tm="0">
                                          <p:val>
                                            <p:strVal val="#ppt_y+.08"/>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75" presetID="23" presetClass="entr" presetSubtype="16"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Scale>
                                      <p:cBhvr>
                                        <p:cTn id="77" dur="500" fill="hold"/>
                                        <p:tgtEl>
                                          <p:spTgt spid="23"/>
                                        </p:tgtEl>
                                      </p:cBhvr>
                                      <p:from x="0" y="0"/>
                                      <p:to x="100000" y="100000"/>
                                    </p:animScale>
                                    <p:animEffect transition="in" filter="fade">
                                      <p:cBhvr>
                                        <p:cTn id="78" dur="500"/>
                                        <p:tgtEl>
                                          <p:spTgt spid="23"/>
                                        </p:tgtEl>
                                      </p:cBhvr>
                                    </p:animEffect>
                                  </p:childTnLst>
                                </p:cTn>
                              </p:par>
                            </p:childTnLst>
                          </p:cTn>
                        </p:par>
                      </p:childTnLst>
                    </p:cTn>
                  </p:par>
                  <p:par>
                    <p:cTn id="90" fill="hold">
                      <p:stCondLst>
                        <p:cond delay="indefinite"/>
                      </p:stCondLst>
                      <p:childTnLst>
                        <p:par>
                          <p:cTn id="91"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00"/>
                                        <p:tgtEl>
                                          <p:spTgt spid="2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500"/>
                                        <p:tgtEl>
                                          <p:spTgt spid="26"/>
                                        </p:tgtEl>
                                      </p:cBhvr>
                                    </p:animEffect>
                                  </p:childTnLst>
                                </p:cTn>
                              </p:par>
                            </p:childTnLst>
                          </p:cTn>
                        </p:par>
                      </p:childTnLst>
                    </p:cTn>
                  </p:par>
                  <p:par>
                    <p:cTn id="100" fill="hold">
                      <p:stCondLst>
                        <p:cond delay="indefinite"/>
                      </p:stCondLst>
                      <p:childTnLst>
                        <p:par>
                          <p:cTn id="101" fill="hold">
                            <p:stCondLst>
                              <p:cond delay="0"/>
                            </p:stCondLst>
                            <p:childTnLst>
                              <p:par>
                                <p:cTn id="92" presetID="23" presetClass="entr" presetSubtype="16" fill="hold" grpId="0" nodeType="clickEffect">
                                  <p:stCondLst>
                                    <p:cond delay="0"/>
                                  </p:stCondLst>
                                  <p:childTnLst>
                                    <p:set>
                                      <p:cBhvr>
                                        <p:cTn id="93" dur="1" fill="hold">
                                          <p:stCondLst>
                                            <p:cond delay="0"/>
                                          </p:stCondLst>
                                        </p:cTn>
                                        <p:tgtEl>
                                          <p:spTgt spid="27"/>
                                        </p:tgtEl>
                                        <p:attrNameLst>
                                          <p:attrName>style.visibility</p:attrName>
                                        </p:attrNameLst>
                                      </p:cBhvr>
                                      <p:to>
                                        <p:strVal val="visible"/>
                                      </p:to>
                                    </p:set>
                                    <p:animScale>
                                      <p:cBhvr>
                                        <p:cTn id="94" dur="500" fill="hold"/>
                                        <p:tgtEl>
                                          <p:spTgt spid="27"/>
                                        </p:tgtEl>
                                      </p:cBhvr>
                                      <p:from x="0" y="0"/>
                                      <p:to x="100000" y="100000"/>
                                    </p:animScale>
                                    <p:animEffect transition="in" filter="fade">
                                      <p:cBhvr>
                                        <p:cTn id="95" dur="500"/>
                                        <p:tgtEl>
                                          <p:spTgt spid="27"/>
                                        </p:tgtEl>
                                      </p:cBhvr>
                                    </p:animEffect>
                                  </p:childTnLst>
                                </p:cTn>
                              </p:par>
                              <p:par>
                                <p:cTn id="96" presetID="23" presetClass="entr" presetSubtype="16" fill="hold" grpId="0" nodeType="withEffect">
                                  <p:stCondLst>
                                    <p:cond delay="0"/>
                                  </p:stCondLst>
                                  <p:childTnLst>
                                    <p:set>
                                      <p:cBhvr>
                                        <p:cTn id="97" dur="1" fill="hold">
                                          <p:stCondLst>
                                            <p:cond delay="0"/>
                                          </p:stCondLst>
                                        </p:cTn>
                                        <p:tgtEl>
                                          <p:spTgt spid="28"/>
                                        </p:tgtEl>
                                        <p:attrNameLst>
                                          <p:attrName>style.visibility</p:attrName>
                                        </p:attrNameLst>
                                      </p:cBhvr>
                                      <p:to>
                                        <p:strVal val="visible"/>
                                      </p:to>
                                    </p:set>
                                    <p:animScale>
                                      <p:cBhvr>
                                        <p:cTn id="98" dur="500" fill="hold"/>
                                        <p:tgtEl>
                                          <p:spTgt spid="28"/>
                                        </p:tgtEl>
                                      </p:cBhvr>
                                      <p:from x="0" y="0"/>
                                      <p:to x="100000" y="100000"/>
                                    </p:animScale>
                                    <p:animEffect transition="in" filter="fade">
                                      <p:cBhvr>
                                        <p:cTn id="9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46695"/>
          </a:xfrm>
          <a:prstGeom prst="rect">
            <a:avLst/>
          </a:prstGeom>
          <a:noFill/>
          <a:ln/>
        </p:spPr>
        <p:txBody>
          <a:bodyPr wrap="none" lIns="0" tIns="0" rIns="0" bIns="0" rtlCol="0" anchor="ctr"/>
          <a:lstStyle/>
          <a:p>
            <a:pPr algn="l" indent="0" marL="0">
              <a:lnSpc>
                <a:spcPts val="2730"/>
              </a:lnSpc>
              <a:buNone/>
            </a:pPr>
            <a:r>
              <a:rPr lang="en-US" sz="2100" b="1" dirty="0">
                <a:solidFill>
                  <a:srgbClr val="37352F"/>
                </a:solidFill>
                <a:latin typeface="Noto Sans Thai" pitchFamily="34" charset="0"/>
                <a:ea typeface="Noto Sans Thai" pitchFamily="34" charset="-122"/>
                <a:cs typeface="Noto Sans Thai" pitchFamily="34" charset="-120"/>
              </a:rPr>
              <a:t>บทที่ 6: Global Reach &amp; Scale</a:t>
            </a:r>
            <a:endParaRPr lang="en-US" sz="2100" dirty="0"/>
          </a:p>
        </p:txBody>
      </p:sp>
      <p:sp>
        <p:nvSpPr>
          <p:cNvPr id="3" name="static"/>
          <p:cNvSpPr txBox="1"/>
          <p:nvPr/>
        </p:nvSpPr>
        <p:spPr>
          <a:xfrm>
            <a:off x="609600" y="1222995"/>
            <a:ext cx="6686550" cy="228600"/>
          </a:xfrm>
          <a:prstGeom prst="rect">
            <a:avLst/>
          </a:prstGeom>
          <a:noFill/>
          <a:ln/>
        </p:spPr>
        <p:txBody>
          <a:bodyPr wrap="none" lIns="0" tIns="0" rIns="0" bIns="0" rtlCol="0" anchor="ctr"/>
          <a:lstStyle/>
          <a:p>
            <a:pPr algn="l" indent="0" marL="0">
              <a:lnSpc>
                <a:spcPts val="1800"/>
              </a:lnSpc>
              <a:buNone/>
            </a:pPr>
            <a:r>
              <a:rPr lang="en-US" sz="1200" dirty="0">
                <a:solidFill>
                  <a:srgbClr val="37352F"/>
                </a:solidFill>
                <a:latin typeface="Noto Sans Thai" pitchFamily="34" charset="0"/>
                <a:ea typeface="Noto Sans Thai" pitchFamily="34" charset="-122"/>
                <a:cs typeface="Noto Sans Thai" pitchFamily="34" charset="-120"/>
              </a:rPr>
              <a:t>ขยาย Narrative ข้ามพรมแดน</a:t>
            </a:r>
            <a:endParaRPr lang="en-US" sz="1200"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Part 4 · Global Impact</a:t>
            </a:r>
            <a:endParaRPr lang="en-US" sz="825" dirty="0"/>
          </a:p>
        </p:txBody>
      </p:sp>
      <p:sp>
        <p:nvSpPr>
          <p:cNvPr id="5" name="!!tkey6-1"/>
          <p:cNvSpPr/>
          <p:nvPr/>
        </p:nvSpPr>
        <p:spPr>
          <a:xfrm>
            <a:off x="6438900" y="419100"/>
            <a:ext cx="2095500" cy="266700"/>
          </a:xfrm>
          <a:prstGeom prst="roundRect">
            <a:avLst>
              <a:gd name="adj" fmla="val 10714"/>
            </a:avLst>
          </a:prstGeom>
          <a:solidFill>
            <a:srgbClr val="FDECC8"/>
          </a:solidFill>
          <a:ln/>
        </p:spPr>
      </p:sp>
      <p:sp>
        <p:nvSpPr>
          <p:cNvPr id="6" name="!!tkey6-2"/>
          <p:cNvSpPr txBox="1"/>
          <p:nvPr/>
        </p:nvSpPr>
        <p:spPr>
          <a:xfrm>
            <a:off x="6438900" y="4191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Global Reach &amp; Scale</a:t>
            </a:r>
            <a:endParaRPr lang="en-US" sz="900" dirty="0"/>
          </a:p>
        </p:txBody>
      </p:sp>
      <p:sp>
        <p:nvSpPr>
          <p:cNvPr id="7" name="b1:pop"/>
          <p:cNvSpPr/>
          <p:nvPr/>
        </p:nvSpPr>
        <p:spPr>
          <a:xfrm>
            <a:off x="609600" y="1676400"/>
            <a:ext cx="2952750" cy="1085850"/>
          </a:xfrm>
          <a:prstGeom prst="roundRect">
            <a:avLst>
              <a:gd name="adj" fmla="val 3509"/>
            </a:avLst>
          </a:prstGeom>
          <a:solidFill>
            <a:srgbClr val="F7F7F5"/>
          </a:solidFill>
          <a:ln w="6350">
            <a:solidFill>
              <a:srgbClr val="E9E9E7"/>
            </a:solidFill>
            <a:prstDash val="solid"/>
          </a:ln>
        </p:spPr>
      </p:sp>
      <p:sp>
        <p:nvSpPr>
          <p:cNvPr id="8" name="b1:pop"/>
          <p:cNvSpPr txBox="1"/>
          <p:nvPr/>
        </p:nvSpPr>
        <p:spPr>
          <a:xfrm>
            <a:off x="804862" y="1845022"/>
            <a:ext cx="2767203" cy="533400"/>
          </a:xfrm>
          <a:prstGeom prst="rect">
            <a:avLst/>
          </a:prstGeom>
          <a:noFill/>
          <a:ln/>
        </p:spPr>
        <p:txBody>
          <a:bodyPr wrap="none" lIns="0" tIns="0" rIns="0" bIns="0" rtlCol="0" anchor="ctr"/>
          <a:lstStyle/>
          <a:p>
            <a:pPr algn="l" indent="0" marL="0">
              <a:lnSpc>
                <a:spcPts val="4200"/>
              </a:lnSpc>
              <a:buNone/>
            </a:pPr>
            <a:r>
              <a:rPr lang="en-US" sz="4200" b="1" dirty="0">
                <a:solidFill>
                  <a:srgbClr val="37352F"/>
                </a:solidFill>
                <a:latin typeface="Noto Sans Thai" pitchFamily="34" charset="0"/>
                <a:ea typeface="Noto Sans Thai" pitchFamily="34" charset="-122"/>
                <a:cs typeface="Noto Sans Thai" pitchFamily="34" charset="-120"/>
              </a:rPr>
              <a:t>38,000+</a:t>
            </a:r>
            <a:endParaRPr lang="en-US" sz="4200" dirty="0"/>
          </a:p>
        </p:txBody>
      </p:sp>
      <p:sp>
        <p:nvSpPr>
          <p:cNvPr id="9" name="b1:pop"/>
          <p:cNvSpPr txBox="1"/>
          <p:nvPr/>
        </p:nvSpPr>
        <p:spPr>
          <a:xfrm>
            <a:off x="804862" y="2406997"/>
            <a:ext cx="2767203" cy="186630"/>
          </a:xfrm>
          <a:prstGeom prst="rect">
            <a:avLst/>
          </a:prstGeom>
          <a:noFill/>
          <a:ln/>
        </p:spPr>
        <p:txBody>
          <a:bodyPr wrap="none" lIns="0" tIns="0" rIns="0" bIns="0" rtlCol="0" anchor="ctr"/>
          <a:lstStyle/>
          <a:p>
            <a:pPr algn="l" indent="0" marL="0">
              <a:lnSpc>
                <a:spcPts val="1470"/>
              </a:lnSpc>
              <a:buNone/>
            </a:pPr>
            <a:r>
              <a:rPr lang="en-US" sz="1050" dirty="0">
                <a:solidFill>
                  <a:srgbClr val="787774"/>
                </a:solidFill>
                <a:latin typeface="Noto Sans Thai" pitchFamily="34" charset="0"/>
                <a:ea typeface="Noto Sans Thai" pitchFamily="34" charset="-122"/>
                <a:cs typeface="Noto Sans Thai" pitchFamily="34" charset="-120"/>
              </a:rPr>
              <a:t>สาขาทั่วโลก</a:t>
            </a:r>
            <a:endParaRPr lang="en-US" sz="1050" dirty="0"/>
          </a:p>
        </p:txBody>
      </p:sp>
      <p:sp>
        <p:nvSpPr>
          <p:cNvPr id="10" name="b2:pop"/>
          <p:cNvSpPr/>
          <p:nvPr/>
        </p:nvSpPr>
        <p:spPr>
          <a:xfrm>
            <a:off x="609600" y="2876550"/>
            <a:ext cx="2952750" cy="1085850"/>
          </a:xfrm>
          <a:prstGeom prst="roundRect">
            <a:avLst>
              <a:gd name="adj" fmla="val 3509"/>
            </a:avLst>
          </a:prstGeom>
          <a:solidFill>
            <a:srgbClr val="F7F7F5"/>
          </a:solidFill>
          <a:ln w="6350">
            <a:solidFill>
              <a:srgbClr val="E9E9E7"/>
            </a:solidFill>
            <a:prstDash val="solid"/>
          </a:ln>
        </p:spPr>
      </p:sp>
      <p:sp>
        <p:nvSpPr>
          <p:cNvPr id="11" name="b2:pop"/>
          <p:cNvSpPr txBox="1"/>
          <p:nvPr/>
        </p:nvSpPr>
        <p:spPr>
          <a:xfrm>
            <a:off x="804862" y="3045172"/>
            <a:ext cx="1789938" cy="533400"/>
          </a:xfrm>
          <a:prstGeom prst="rect">
            <a:avLst/>
          </a:prstGeom>
          <a:noFill/>
          <a:ln/>
        </p:spPr>
        <p:txBody>
          <a:bodyPr wrap="none" lIns="0" tIns="0" rIns="0" bIns="0" rtlCol="0" anchor="ctr"/>
          <a:lstStyle/>
          <a:p>
            <a:pPr algn="l" indent="0" marL="0">
              <a:lnSpc>
                <a:spcPts val="4200"/>
              </a:lnSpc>
              <a:buNone/>
            </a:pPr>
            <a:r>
              <a:rPr lang="en-US" sz="4200" b="1" dirty="0">
                <a:solidFill>
                  <a:srgbClr val="37352F"/>
                </a:solidFill>
                <a:latin typeface="Noto Sans Thai" pitchFamily="34" charset="0"/>
                <a:ea typeface="Noto Sans Thai" pitchFamily="34" charset="-122"/>
                <a:cs typeface="Noto Sans Thai" pitchFamily="34" charset="-120"/>
              </a:rPr>
              <a:t>80+</a:t>
            </a:r>
            <a:endParaRPr lang="en-US" sz="4200" dirty="0"/>
          </a:p>
        </p:txBody>
      </p:sp>
      <p:sp>
        <p:nvSpPr>
          <p:cNvPr id="12" name="b2:pop"/>
          <p:cNvSpPr txBox="1"/>
          <p:nvPr/>
        </p:nvSpPr>
        <p:spPr>
          <a:xfrm>
            <a:off x="804862" y="3607147"/>
            <a:ext cx="1789938" cy="186630"/>
          </a:xfrm>
          <a:prstGeom prst="rect">
            <a:avLst/>
          </a:prstGeom>
          <a:noFill/>
          <a:ln/>
        </p:spPr>
        <p:txBody>
          <a:bodyPr wrap="none" lIns="0" tIns="0" rIns="0" bIns="0" rtlCol="0" anchor="ctr"/>
          <a:lstStyle/>
          <a:p>
            <a:pPr algn="l" indent="0" marL="0">
              <a:lnSpc>
                <a:spcPts val="1470"/>
              </a:lnSpc>
              <a:buNone/>
            </a:pPr>
            <a:r>
              <a:rPr lang="en-US" sz="1050" dirty="0">
                <a:solidFill>
                  <a:srgbClr val="787774"/>
                </a:solidFill>
                <a:latin typeface="Noto Sans Thai" pitchFamily="34" charset="0"/>
                <a:ea typeface="Noto Sans Thai" pitchFamily="34" charset="-122"/>
                <a:cs typeface="Noto Sans Thai" pitchFamily="34" charset="-120"/>
              </a:rPr>
              <a:t>ตลาดทั่วโลก</a:t>
            </a:r>
            <a:endParaRPr lang="en-US" sz="1050" dirty="0"/>
          </a:p>
        </p:txBody>
      </p:sp>
      <p:pic>
        <p:nvPicPr>
          <p:cNvPr id="13" name="b2:pop (Globe with gold dots marking Starbucks markets)" descr="/home/user/slide-present-en/starbucks-presentation/assets/globe.png">    </p:cNvPr>
          <p:cNvPicPr>
            <a:picLocks noChangeAspect="1"/>
          </p:cNvPicPr>
          <p:nvPr/>
        </p:nvPicPr>
        <p:blipFill>
          <a:blip r:embed="rId1"/>
          <a:stretch>
            <a:fillRect/>
          </a:stretch>
        </p:blipFill>
        <p:spPr>
          <a:xfrm>
            <a:off x="2557463" y="3014663"/>
            <a:ext cx="809625" cy="809625"/>
          </a:xfrm>
          <a:prstGeom prst="rect">
            <a:avLst/>
          </a:prstGeom>
        </p:spPr>
      </p:pic>
      <p:sp>
        <p:nvSpPr>
          <p:cNvPr id="14" name="b3:rise"/>
          <p:cNvSpPr/>
          <p:nvPr/>
        </p:nvSpPr>
        <p:spPr>
          <a:xfrm>
            <a:off x="3714750" y="1676400"/>
            <a:ext cx="4819650" cy="2286000"/>
          </a:xfrm>
          <a:prstGeom prst="roundRect">
            <a:avLst>
              <a:gd name="adj" fmla="val 1667"/>
            </a:avLst>
          </a:prstGeom>
          <a:solidFill>
            <a:srgbClr val="FFFFFF"/>
          </a:solidFill>
          <a:ln w="6350">
            <a:solidFill>
              <a:srgbClr val="E9E9E7"/>
            </a:solidFill>
            <a:prstDash val="solid"/>
          </a:ln>
        </p:spPr>
      </p:sp>
      <p:sp>
        <p:nvSpPr>
          <p:cNvPr id="15" name="b3:rise"/>
          <p:cNvSpPr txBox="1"/>
          <p:nvPr/>
        </p:nvSpPr>
        <p:spPr>
          <a:xfrm>
            <a:off x="3910012" y="1852612"/>
            <a:ext cx="4783455"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Key growth strategy</a:t>
            </a:r>
            <a:endParaRPr lang="en-US" sz="825" dirty="0"/>
          </a:p>
        </p:txBody>
      </p:sp>
      <p:sp>
        <p:nvSpPr>
          <p:cNvPr id="16" name="b3:rise"/>
          <p:cNvSpPr txBox="1"/>
          <p:nvPr/>
        </p:nvSpPr>
        <p:spPr>
          <a:xfrm>
            <a:off x="3910012" y="2123108"/>
            <a:ext cx="256773" cy="247650"/>
          </a:xfrm>
          <a:prstGeom prst="rect">
            <a:avLst/>
          </a:prstGeom>
          <a:noFill/>
          <a:ln/>
        </p:spPr>
        <p:txBody>
          <a:bodyPr wrap="none" lIns="0" tIns="0" rIns="0" bIns="0" rtlCol="0" anchor="ctr"/>
          <a:lstStyle/>
          <a:p>
            <a:pPr algn="l" indent="0" marL="0">
              <a:lnSpc>
                <a:spcPts val="1950"/>
              </a:lnSpc>
              <a:buNone/>
            </a:pPr>
            <a:r>
              <a:rPr lang="en-US" sz="1500" dirty="0">
                <a:solidFill>
                  <a:srgbClr val="37352F"/>
                </a:solidFill>
                <a:latin typeface="Noto Sans Thai" pitchFamily="34" charset="0"/>
                <a:ea typeface="Noto Sans Thai" pitchFamily="34" charset="-122"/>
                <a:cs typeface="Noto Sans Thai" pitchFamily="34" charset="-120"/>
              </a:rPr>
              <a:t>👥</a:t>
            </a:r>
            <a:endParaRPr lang="en-US" sz="1500" dirty="0"/>
          </a:p>
        </p:txBody>
      </p:sp>
      <p:sp>
        <p:nvSpPr>
          <p:cNvPr id="17" name="b3:rise"/>
          <p:cNvSpPr txBox="1"/>
          <p:nvPr/>
        </p:nvSpPr>
        <p:spPr>
          <a:xfrm>
            <a:off x="4243015" y="2123108"/>
            <a:ext cx="4423812" cy="213345"/>
          </a:xfrm>
          <a:prstGeom prst="rect">
            <a:avLst/>
          </a:prstGeom>
          <a:noFill/>
          <a:ln/>
        </p:spPr>
        <p:txBody>
          <a:bodyPr wrap="none" lIns="0" tIns="0" rIns="0" bIns="0" rtlCol="0" anchor="ctr"/>
          <a:lstStyle/>
          <a:p>
            <a:pPr algn="l" indent="0" marL="0">
              <a:lnSpc>
                <a:spcPts val="1680"/>
              </a:lnSpc>
              <a:buNone/>
            </a:pPr>
            <a:r>
              <a:rPr lang="en-US" sz="1200" b="1" dirty="0">
                <a:solidFill>
                  <a:srgbClr val="37352F"/>
                </a:solidFill>
                <a:latin typeface="Noto Sans Thai" pitchFamily="34" charset="0"/>
                <a:ea typeface="Noto Sans Thai" pitchFamily="34" charset="-122"/>
                <a:cs typeface="Noto Sans Thai" pitchFamily="34" charset="-120"/>
              </a:rPr>
              <a:t>Strategic joint ventures</a:t>
            </a:r>
            <a:endParaRPr lang="en-US" sz="1200" dirty="0"/>
          </a:p>
        </p:txBody>
      </p:sp>
      <p:sp>
        <p:nvSpPr>
          <p:cNvPr id="18" name="b3:rise"/>
          <p:cNvSpPr txBox="1"/>
          <p:nvPr/>
        </p:nvSpPr>
        <p:spPr>
          <a:xfrm>
            <a:off x="4243015" y="2355503"/>
            <a:ext cx="4423812" cy="191914"/>
          </a:xfrm>
          <a:prstGeom prst="rect">
            <a:avLst/>
          </a:prstGeom>
          <a:noFill/>
          <a:ln/>
        </p:spPr>
        <p:txBody>
          <a:bodyPr wrap="none" lIns="0" tIns="0" rIns="0" bIns="0" rtlCol="0" anchor="ctr"/>
          <a:lstStyle/>
          <a:p>
            <a:pPr algn="l" indent="0" marL="0">
              <a:lnSpc>
                <a:spcPts val="1511"/>
              </a:lnSpc>
              <a:buNone/>
            </a:pPr>
            <a:r>
              <a:rPr lang="en-US" sz="975" dirty="0">
                <a:solidFill>
                  <a:srgbClr val="37352F"/>
                </a:solidFill>
                <a:latin typeface="Noto Sans Thai" pitchFamily="34" charset="0"/>
                <a:ea typeface="Noto Sans Thai" pitchFamily="34" charset="-122"/>
                <a:cs typeface="Noto Sans Thai" pitchFamily="34" charset="-120"/>
              </a:rPr>
              <a:t>จับมือ Partner ท้องถิ่นเพื่อเข้าสู่และเติบโตในตลาดใหม่</a:t>
            </a:r>
            <a:endParaRPr lang="en-US" sz="975" dirty="0"/>
          </a:p>
        </p:txBody>
      </p:sp>
      <p:sp>
        <p:nvSpPr>
          <p:cNvPr id="19" name="b3:rise"/>
          <p:cNvSpPr txBox="1"/>
          <p:nvPr/>
        </p:nvSpPr>
        <p:spPr>
          <a:xfrm>
            <a:off x="3910012" y="2671242"/>
            <a:ext cx="256773" cy="247650"/>
          </a:xfrm>
          <a:prstGeom prst="rect">
            <a:avLst/>
          </a:prstGeom>
          <a:noFill/>
          <a:ln/>
        </p:spPr>
        <p:txBody>
          <a:bodyPr wrap="none" lIns="0" tIns="0" rIns="0" bIns="0" rtlCol="0" anchor="ctr"/>
          <a:lstStyle/>
          <a:p>
            <a:pPr algn="l" indent="0" marL="0">
              <a:lnSpc>
                <a:spcPts val="1950"/>
              </a:lnSpc>
              <a:buNone/>
            </a:pPr>
            <a:r>
              <a:rPr lang="en-US" sz="1500" dirty="0">
                <a:solidFill>
                  <a:srgbClr val="37352F"/>
                </a:solidFill>
                <a:latin typeface="Noto Sans Thai" pitchFamily="34" charset="0"/>
                <a:ea typeface="Noto Sans Thai" pitchFamily="34" charset="-122"/>
                <a:cs typeface="Noto Sans Thai" pitchFamily="34" charset="-120"/>
              </a:rPr>
              <a:t>🌍</a:t>
            </a:r>
            <a:endParaRPr lang="en-US" sz="1500" dirty="0"/>
          </a:p>
        </p:txBody>
      </p:sp>
      <p:sp>
        <p:nvSpPr>
          <p:cNvPr id="20" name="b3:rise"/>
          <p:cNvSpPr txBox="1"/>
          <p:nvPr/>
        </p:nvSpPr>
        <p:spPr>
          <a:xfrm>
            <a:off x="4243015" y="2671242"/>
            <a:ext cx="4423812" cy="213345"/>
          </a:xfrm>
          <a:prstGeom prst="rect">
            <a:avLst/>
          </a:prstGeom>
          <a:noFill/>
          <a:ln/>
        </p:spPr>
        <p:txBody>
          <a:bodyPr wrap="none" lIns="0" tIns="0" rIns="0" bIns="0" rtlCol="0" anchor="ctr"/>
          <a:lstStyle/>
          <a:p>
            <a:pPr algn="l" indent="0" marL="0">
              <a:lnSpc>
                <a:spcPts val="1680"/>
              </a:lnSpc>
              <a:buNone/>
            </a:pPr>
            <a:r>
              <a:rPr lang="en-US" sz="1200" b="1" dirty="0">
                <a:solidFill>
                  <a:srgbClr val="37352F"/>
                </a:solidFill>
                <a:latin typeface="Noto Sans Thai" pitchFamily="34" charset="0"/>
                <a:ea typeface="Noto Sans Thai" pitchFamily="34" charset="-122"/>
                <a:cs typeface="Noto Sans Thai" pitchFamily="34" charset="-120"/>
              </a:rPr>
              <a:t>Market customization</a:t>
            </a:r>
            <a:endParaRPr lang="en-US" sz="1200" dirty="0"/>
          </a:p>
        </p:txBody>
      </p:sp>
      <p:sp>
        <p:nvSpPr>
          <p:cNvPr id="21" name="b3:rise"/>
          <p:cNvSpPr txBox="1"/>
          <p:nvPr/>
        </p:nvSpPr>
        <p:spPr>
          <a:xfrm>
            <a:off x="4243015" y="2903637"/>
            <a:ext cx="4423812" cy="191914"/>
          </a:xfrm>
          <a:prstGeom prst="rect">
            <a:avLst/>
          </a:prstGeom>
          <a:noFill/>
          <a:ln/>
        </p:spPr>
        <p:txBody>
          <a:bodyPr wrap="none" lIns="0" tIns="0" rIns="0" bIns="0" rtlCol="0" anchor="ctr"/>
          <a:lstStyle/>
          <a:p>
            <a:pPr algn="l" indent="0" marL="0">
              <a:lnSpc>
                <a:spcPts val="1511"/>
              </a:lnSpc>
              <a:buNone/>
            </a:pPr>
            <a:r>
              <a:rPr lang="en-US" sz="975" dirty="0">
                <a:solidFill>
                  <a:srgbClr val="37352F"/>
                </a:solidFill>
                <a:latin typeface="Noto Sans Thai" pitchFamily="34" charset="0"/>
                <a:ea typeface="Noto Sans Thai" pitchFamily="34" charset="-122"/>
                <a:cs typeface="Noto Sans Thai" pitchFamily="34" charset="-120"/>
              </a:rPr>
              <a:t>เมนูท้องถิ่น เช่น Teavana และเครื่องดื่ม Matcha ในเอเชีย</a:t>
            </a:r>
            <a:endParaRPr lang="en-US" sz="975" dirty="0"/>
          </a:p>
        </p:txBody>
      </p:sp>
      <p:sp>
        <p:nvSpPr>
          <p:cNvPr id="22" name="b3:rise"/>
          <p:cNvSpPr txBox="1"/>
          <p:nvPr/>
        </p:nvSpPr>
        <p:spPr>
          <a:xfrm>
            <a:off x="3910012" y="3219376"/>
            <a:ext cx="256773" cy="247650"/>
          </a:xfrm>
          <a:prstGeom prst="rect">
            <a:avLst/>
          </a:prstGeom>
          <a:noFill/>
          <a:ln/>
        </p:spPr>
        <p:txBody>
          <a:bodyPr wrap="none" lIns="0" tIns="0" rIns="0" bIns="0" rtlCol="0" anchor="ctr"/>
          <a:lstStyle/>
          <a:p>
            <a:pPr algn="l" indent="0" marL="0">
              <a:lnSpc>
                <a:spcPts val="1950"/>
              </a:lnSpc>
              <a:buNone/>
            </a:pPr>
            <a:r>
              <a:rPr lang="en-US" sz="1500" dirty="0">
                <a:solidFill>
                  <a:srgbClr val="37352F"/>
                </a:solidFill>
                <a:latin typeface="Noto Sans Thai" pitchFamily="34" charset="0"/>
                <a:ea typeface="Noto Sans Thai" pitchFamily="34" charset="-122"/>
                <a:cs typeface="Noto Sans Thai" pitchFamily="34" charset="-120"/>
              </a:rPr>
              <a:t>⭐</a:t>
            </a:r>
            <a:endParaRPr lang="en-US" sz="1500" dirty="0"/>
          </a:p>
        </p:txBody>
      </p:sp>
      <p:sp>
        <p:nvSpPr>
          <p:cNvPr id="23" name="b3:rise"/>
          <p:cNvSpPr txBox="1"/>
          <p:nvPr/>
        </p:nvSpPr>
        <p:spPr>
          <a:xfrm>
            <a:off x="4243015" y="3219376"/>
            <a:ext cx="4423812" cy="213345"/>
          </a:xfrm>
          <a:prstGeom prst="rect">
            <a:avLst/>
          </a:prstGeom>
          <a:noFill/>
          <a:ln/>
        </p:spPr>
        <p:txBody>
          <a:bodyPr wrap="none" lIns="0" tIns="0" rIns="0" bIns="0" rtlCol="0" anchor="ctr"/>
          <a:lstStyle/>
          <a:p>
            <a:pPr algn="l" indent="0" marL="0">
              <a:lnSpc>
                <a:spcPts val="1680"/>
              </a:lnSpc>
              <a:buNone/>
            </a:pPr>
            <a:r>
              <a:rPr lang="en-US" sz="1200" b="1" dirty="0">
                <a:solidFill>
                  <a:srgbClr val="37352F"/>
                </a:solidFill>
                <a:latin typeface="Noto Sans Thai" pitchFamily="34" charset="0"/>
                <a:ea typeface="Noto Sans Thai" pitchFamily="34" charset="-122"/>
                <a:cs typeface="Noto Sans Thai" pitchFamily="34" charset="-120"/>
              </a:rPr>
              <a:t>Reserve Roasteries</a:t>
            </a:r>
            <a:endParaRPr lang="en-US" sz="1200" dirty="0"/>
          </a:p>
        </p:txBody>
      </p:sp>
      <p:sp>
        <p:nvSpPr>
          <p:cNvPr id="24" name="b3:rise"/>
          <p:cNvSpPr txBox="1"/>
          <p:nvPr/>
        </p:nvSpPr>
        <p:spPr>
          <a:xfrm>
            <a:off x="4243015" y="3451771"/>
            <a:ext cx="4423812" cy="191914"/>
          </a:xfrm>
          <a:prstGeom prst="rect">
            <a:avLst/>
          </a:prstGeom>
          <a:noFill/>
          <a:ln/>
        </p:spPr>
        <p:txBody>
          <a:bodyPr wrap="none" lIns="0" tIns="0" rIns="0" bIns="0" rtlCol="0" anchor="ctr"/>
          <a:lstStyle/>
          <a:p>
            <a:pPr algn="l" indent="0" marL="0">
              <a:lnSpc>
                <a:spcPts val="1511"/>
              </a:lnSpc>
              <a:buNone/>
            </a:pPr>
            <a:r>
              <a:rPr lang="en-US" sz="975" dirty="0">
                <a:solidFill>
                  <a:srgbClr val="37352F"/>
                </a:solidFill>
                <a:latin typeface="Noto Sans Thai" pitchFamily="34" charset="0"/>
                <a:ea typeface="Noto Sans Thai" pitchFamily="34" charset="-122"/>
                <a:cs typeface="Noto Sans Thai" pitchFamily="34" charset="-120"/>
              </a:rPr>
              <a:t>Flagship ระดับ High-End ที่ทำหน้าที่เป็น Storyteller ของแบรนด์</a:t>
            </a:r>
            <a:endParaRPr lang="en-US" sz="975" dirty="0"/>
          </a:p>
        </p:txBody>
      </p:sp>
      <p:sp>
        <p:nvSpPr>
          <p:cNvPr id="25" name="b4:fade"/>
          <p:cNvSpPr txBox="1"/>
          <p:nvPr/>
        </p:nvSpPr>
        <p:spPr>
          <a:xfrm>
            <a:off x="609600" y="4127897"/>
            <a:ext cx="192560" cy="185738"/>
          </a:xfrm>
          <a:prstGeom prst="rect">
            <a:avLst/>
          </a:prstGeom>
          <a:noFill/>
          <a:ln/>
        </p:spPr>
        <p:txBody>
          <a:bodyPr wrap="none" lIns="0" tIns="0" rIns="0" bIns="0" rtlCol="0" anchor="ctr"/>
          <a:lstStyle/>
          <a:p>
            <a:pPr algn="l" indent="0" marL="0">
              <a:lnSpc>
                <a:spcPts val="1463"/>
              </a:lnSpc>
              <a:buNone/>
            </a:pPr>
            <a:r>
              <a:rPr lang="en-US" sz="1125" dirty="0">
                <a:solidFill>
                  <a:srgbClr val="37352F"/>
                </a:solidFill>
                <a:latin typeface="Noto Sans Thai" pitchFamily="34" charset="0"/>
                <a:ea typeface="Noto Sans Thai" pitchFamily="34" charset="-122"/>
                <a:cs typeface="Noto Sans Thai" pitchFamily="34" charset="-120"/>
              </a:rPr>
              <a:t>➡️</a:t>
            </a:r>
            <a:endParaRPr lang="en-US" sz="1125" dirty="0"/>
          </a:p>
        </p:txBody>
      </p:sp>
      <p:sp>
        <p:nvSpPr>
          <p:cNvPr id="26" name="b4:fade"/>
          <p:cNvSpPr txBox="1"/>
          <p:nvPr/>
        </p:nvSpPr>
        <p:spPr>
          <a:xfrm>
            <a:off x="883146" y="4124325"/>
            <a:ext cx="6391120" cy="192881"/>
          </a:xfrm>
          <a:prstGeom prst="rect">
            <a:avLst/>
          </a:prstGeom>
          <a:noFill/>
          <a:ln/>
        </p:spPr>
        <p:txBody>
          <a:bodyPr wrap="none" lIns="0" tIns="0" rIns="0" bIns="0" rtlCol="0" anchor="ctr"/>
          <a:lstStyle/>
          <a:p>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แล้ว </a:t>
            </a:r>
            <a:pPr algn="l" indent="0" marL="0">
              <a:lnSpc>
                <a:spcPts val="1519"/>
              </a:lnSpc>
              <a:buNone/>
            </a:pPr>
            <a:r>
              <a:rPr lang="en-US" sz="1013" b="1" dirty="0">
                <a:solidFill>
                  <a:srgbClr val="448361"/>
                </a:solidFill>
                <a:latin typeface="Noto Sans Thai" pitchFamily="34" charset="0"/>
                <a:ea typeface="Noto Sans Thai" pitchFamily="34" charset="-122"/>
                <a:cs typeface="Noto Sans Thai" pitchFamily="34" charset="-120"/>
              </a:rPr>
              <a:t>Business Leader</a:t>
            </a:r>
            <a:pPr algn="l" indent="0" marL="0">
              <a:lnSpc>
                <a:spcPts val="1519"/>
              </a:lnSpc>
              <a:buNone/>
            </a:pPr>
            <a:r>
              <a:rPr lang="en-US" sz="1013" dirty="0">
                <a:solidFill>
                  <a:srgbClr val="37352F"/>
                </a:solidFill>
                <a:latin typeface="Noto Sans Thai" pitchFamily="34" charset="0"/>
                <a:ea typeface="Noto Sans Thai" pitchFamily="34" charset="-122"/>
                <a:cs typeface="Noto Sans Thai" pitchFamily="34" charset="-120"/>
              </a:rPr>
              <a:t> เรียนรู้อะไรได้บ้างจากเรื่องราวนี้?</a:t>
            </a:r>
            <a:endParaRPr lang="en-US" sz="1013" dirty="0"/>
          </a:p>
        </p:txBody>
      </p:sp>
      <p:sp>
        <p:nvSpPr>
          <p:cNvPr id="27" name="!!tkey7-1"/>
          <p:cNvSpPr/>
          <p:nvPr/>
        </p:nvSpPr>
        <p:spPr>
          <a:xfrm>
            <a:off x="6438900" y="4572000"/>
            <a:ext cx="2095500" cy="266700"/>
          </a:xfrm>
          <a:prstGeom prst="roundRect">
            <a:avLst>
              <a:gd name="adj" fmla="val 10714"/>
            </a:avLst>
          </a:prstGeom>
          <a:solidFill>
            <a:srgbClr val="FDECC8"/>
          </a:solidFill>
          <a:ln/>
        </p:spPr>
      </p:sp>
      <p:sp>
        <p:nvSpPr>
          <p:cNvPr id="28" name="!!tkey7-2"/>
          <p:cNvSpPr txBox="1"/>
          <p:nvPr/>
        </p:nvSpPr>
        <p:spPr>
          <a:xfrm>
            <a:off x="6438900" y="45720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บทเรียนสำหรับ Business Leaders</a:t>
            </a:r>
            <a:endParaRPr lang="en-US" sz="900" dirty="0"/>
          </a:p>
        </p:txBody>
      </p:sp>
      <p:sp>
        <p:nvSpPr>
          <p:cNvPr id="29" name="static"/>
          <p:cNvSpPr txBox="1"/>
          <p:nvPr/>
        </p:nvSpPr>
        <p:spPr>
          <a:xfrm>
            <a:off x="609600" y="4667250"/>
            <a:ext cx="1879029" cy="171450"/>
          </a:xfrm>
          <a:prstGeom prst="rect">
            <a:avLst/>
          </a:prstGeom>
          <a:noFill/>
          <a:ln/>
        </p:spPr>
        <p:txBody>
          <a:bodyPr wrap="none" lIns="0" tIns="0" rIns="0" bIns="0" rtlCol="0" anchor="ctr"/>
          <a:lstStyle/>
          <a:p>
            <a:pPr algn="l" indent="0" marL="0">
              <a:lnSpc>
                <a:spcPts val="1350"/>
              </a:lnSpc>
              <a:buNone/>
            </a:pPr>
            <a:r>
              <a:rPr lang="en-US" sz="900" dirty="0">
                <a:solidFill>
                  <a:srgbClr val="787774"/>
                </a:solidFill>
                <a:latin typeface="Noto Sans Thai" pitchFamily="34" charset="0"/>
                <a:ea typeface="Noto Sans Thai" pitchFamily="34" charset="-122"/>
                <a:cs typeface="Noto Sans Thai" pitchFamily="34" charset="-120"/>
              </a:rPr>
              <a:t>สไลด์ 7 จาก 8 · Part 4 · Global Impact</a:t>
            </a:r>
            <a:endParaRPr lang="en-US" sz="900" dirty="0"/>
          </a:p>
        </p:txBody>
      </p:sp>
      <p:sp>
        <p:nvSpPr>
          <p:cNvPr id="30" name="static"/>
          <p:cNvSpPr/>
          <p:nvPr/>
        </p:nvSpPr>
        <p:spPr>
          <a:xfrm>
            <a:off x="2679129" y="4724400"/>
            <a:ext cx="57150" cy="57150"/>
          </a:xfrm>
          <a:prstGeom prst="roundRect">
            <a:avLst>
              <a:gd name="adj" fmla="val 50000"/>
            </a:avLst>
          </a:prstGeom>
          <a:solidFill>
            <a:srgbClr val="787774"/>
          </a:solidFill>
          <a:ln/>
        </p:spPr>
      </p:sp>
      <p:sp>
        <p:nvSpPr>
          <p:cNvPr id="31" name="static"/>
          <p:cNvSpPr/>
          <p:nvPr/>
        </p:nvSpPr>
        <p:spPr>
          <a:xfrm>
            <a:off x="2783904" y="4724400"/>
            <a:ext cx="57150" cy="57150"/>
          </a:xfrm>
          <a:prstGeom prst="roundRect">
            <a:avLst>
              <a:gd name="adj" fmla="val 50000"/>
            </a:avLst>
          </a:prstGeom>
          <a:solidFill>
            <a:srgbClr val="787774"/>
          </a:solidFill>
          <a:ln/>
        </p:spPr>
      </p:sp>
      <p:sp>
        <p:nvSpPr>
          <p:cNvPr id="32" name="static"/>
          <p:cNvSpPr/>
          <p:nvPr/>
        </p:nvSpPr>
        <p:spPr>
          <a:xfrm>
            <a:off x="2888679" y="4724400"/>
            <a:ext cx="57150" cy="57150"/>
          </a:xfrm>
          <a:prstGeom prst="roundRect">
            <a:avLst>
              <a:gd name="adj" fmla="val 50000"/>
            </a:avLst>
          </a:prstGeom>
          <a:solidFill>
            <a:srgbClr val="787774"/>
          </a:solidFill>
          <a:ln/>
        </p:spPr>
      </p:sp>
      <p:sp>
        <p:nvSpPr>
          <p:cNvPr id="33" name="static"/>
          <p:cNvSpPr/>
          <p:nvPr/>
        </p:nvSpPr>
        <p:spPr>
          <a:xfrm>
            <a:off x="2993454" y="4724400"/>
            <a:ext cx="57150" cy="57150"/>
          </a:xfrm>
          <a:prstGeom prst="roundRect">
            <a:avLst>
              <a:gd name="adj" fmla="val 50000"/>
            </a:avLst>
          </a:prstGeom>
          <a:solidFill>
            <a:srgbClr val="787774"/>
          </a:solidFill>
          <a:ln/>
        </p:spPr>
      </p:sp>
      <p:sp>
        <p:nvSpPr>
          <p:cNvPr id="34" name="static"/>
          <p:cNvSpPr/>
          <p:nvPr/>
        </p:nvSpPr>
        <p:spPr>
          <a:xfrm>
            <a:off x="3098229" y="4724400"/>
            <a:ext cx="57150" cy="57150"/>
          </a:xfrm>
          <a:prstGeom prst="roundRect">
            <a:avLst>
              <a:gd name="adj" fmla="val 50000"/>
            </a:avLst>
          </a:prstGeom>
          <a:solidFill>
            <a:srgbClr val="787774"/>
          </a:solidFill>
          <a:ln/>
        </p:spPr>
      </p:sp>
      <p:sp>
        <p:nvSpPr>
          <p:cNvPr id="35" name="static"/>
          <p:cNvSpPr/>
          <p:nvPr/>
        </p:nvSpPr>
        <p:spPr>
          <a:xfrm>
            <a:off x="3203004" y="4724400"/>
            <a:ext cx="57150" cy="57150"/>
          </a:xfrm>
          <a:prstGeom prst="roundRect">
            <a:avLst>
              <a:gd name="adj" fmla="val 50000"/>
            </a:avLst>
          </a:prstGeom>
          <a:solidFill>
            <a:srgbClr val="787774"/>
          </a:solidFill>
          <a:ln/>
        </p:spPr>
      </p:sp>
      <p:sp>
        <p:nvSpPr>
          <p:cNvPr id="36" name="static"/>
          <p:cNvSpPr/>
          <p:nvPr/>
        </p:nvSpPr>
        <p:spPr>
          <a:xfrm>
            <a:off x="3307779" y="4724400"/>
            <a:ext cx="171450" cy="57150"/>
          </a:xfrm>
          <a:prstGeom prst="roundRect">
            <a:avLst>
              <a:gd name="adj" fmla="val 50000"/>
            </a:avLst>
          </a:prstGeom>
          <a:solidFill>
            <a:srgbClr val="37352F"/>
          </a:solidFill>
          <a:ln/>
        </p:spPr>
      </p:sp>
      <p:sp>
        <p:nvSpPr>
          <p:cNvPr id="37" name="static"/>
          <p:cNvSpPr/>
          <p:nvPr/>
        </p:nvSpPr>
        <p:spPr>
          <a:xfrm>
            <a:off x="3526854" y="4724400"/>
            <a:ext cx="57150" cy="57150"/>
          </a:xfrm>
          <a:prstGeom prst="roundRect">
            <a:avLst>
              <a:gd name="adj" fmla="val 50000"/>
            </a:avLst>
          </a:prstGeom>
          <a:solidFill>
            <a:srgbClr val="E3E2E0"/>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23" presetClass="entr" presetSubtype="16"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Scale>
                                      <p:cBhvr>
                                        <p:cTn id="5" dur="500" fill="hold"/>
                                        <p:tgtEl>
                                          <p:spTgt spid="7"/>
                                        </p:tgtEl>
                                      </p:cBhvr>
                                      <p:from x="0" y="0"/>
                                      <p:to x="100000" y="100000"/>
                                    </p:animScale>
                                    <p:animEffect transition="in" filter="fade">
                                      <p:cBhvr>
                                        <p:cTn id="6" dur="500"/>
                                        <p:tgtEl>
                                          <p:spTgt spid="7"/>
                                        </p:tgtEl>
                                      </p:cBhvr>
                                    </p:animEffect>
                                  </p:childTnLst>
                                </p:cTn>
                              </p:par>
                              <p:par>
                                <p:cTn id="7" presetID="23" presetClass="entr" presetSubtype="16"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Scale>
                                      <p:cBhvr>
                                        <p:cTn id="9" dur="500" fill="hold"/>
                                        <p:tgtEl>
                                          <p:spTgt spid="8"/>
                                        </p:tgtEl>
                                      </p:cBhvr>
                                      <p:from x="0" y="0"/>
                                      <p:to x="100000" y="100000"/>
                                    </p:animScale>
                                    <p:animEffect transition="in" filter="fade">
                                      <p:cBhvr>
                                        <p:cTn id="10" dur="500"/>
                                        <p:tgtEl>
                                          <p:spTgt spid="8"/>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Scale>
                                      <p:cBhvr>
                                        <p:cTn id="13" dur="500" fill="hold"/>
                                        <p:tgtEl>
                                          <p:spTgt spid="9"/>
                                        </p:tgtEl>
                                      </p:cBhvr>
                                      <p:from x="0" y="0"/>
                                      <p:to x="100000" y="100000"/>
                                    </p:animScale>
                                    <p:animEffect transition="in" filter="fade">
                                      <p:cBhvr>
                                        <p:cTn id="14"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Scale>
                                      <p:cBhvr>
                                        <p:cTn id="19" dur="500" fill="hold"/>
                                        <p:tgtEl>
                                          <p:spTgt spid="10"/>
                                        </p:tgtEl>
                                      </p:cBhvr>
                                      <p:from x="0" y="0"/>
                                      <p:to x="100000" y="100000"/>
                                    </p:animScale>
                                    <p:animEffect transition="in" filter="fade">
                                      <p:cBhvr>
                                        <p:cTn id="20" dur="500"/>
                                        <p:tgtEl>
                                          <p:spTgt spid="10"/>
                                        </p:tgtEl>
                                      </p:cBhvr>
                                    </p:animEffect>
                                  </p:childTnLst>
                                </p:cTn>
                              </p:par>
                              <p:par>
                                <p:cTn id="21" presetID="23"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Scale>
                                      <p:cBhvr>
                                        <p:cTn id="23" dur="500" fill="hold"/>
                                        <p:tgtEl>
                                          <p:spTgt spid="11"/>
                                        </p:tgtEl>
                                      </p:cBhvr>
                                      <p:from x="0" y="0"/>
                                      <p:to x="100000" y="100000"/>
                                    </p:animScale>
                                    <p:animEffect transition="in" filter="fade">
                                      <p:cBhvr>
                                        <p:cTn id="24" dur="500"/>
                                        <p:tgtEl>
                                          <p:spTgt spid="11"/>
                                        </p:tgtEl>
                                      </p:cBhvr>
                                    </p:animEffect>
                                  </p:childTnLst>
                                </p:cTn>
                              </p:par>
                              <p:par>
                                <p:cTn id="25" presetID="23" presetClass="entr" presetSubtype="16"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Scale>
                                      <p:cBhvr>
                                        <p:cTn id="27" dur="500" fill="hold"/>
                                        <p:tgtEl>
                                          <p:spTgt spid="12"/>
                                        </p:tgtEl>
                                      </p:cBhvr>
                                      <p:from x="0" y="0"/>
                                      <p:to x="100000" y="100000"/>
                                    </p:animScale>
                                    <p:animEffect transition="in" filter="fade">
                                      <p:cBhvr>
                                        <p:cTn id="28" dur="500"/>
                                        <p:tgtEl>
                                          <p:spTgt spid="12"/>
                                        </p:tgtEl>
                                      </p:cBhvr>
                                    </p:animEffect>
                                  </p:childTnLst>
                                </p:cTn>
                              </p:par>
                              <p:par>
                                <p:cTn id="29" presetID="23" presetClass="entr" presetSubtype="16"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Scale>
                                      <p:cBhvr>
                                        <p:cTn id="31" dur="500" fill="hold"/>
                                        <p:tgtEl>
                                          <p:spTgt spid="13"/>
                                        </p:tgtEl>
                                      </p:cBhvr>
                                      <p:from x="0" y="0"/>
                                      <p:to x="100000" y="100000"/>
                                    </p:animScale>
                                    <p:animEffect transition="in" filter="fade">
                                      <p:cBhvr>
                                        <p:cTn id="32" dur="500"/>
                                        <p:tgtEl>
                                          <p:spTgt spid="13"/>
                                        </p:tgtEl>
                                      </p:cBhvr>
                                    </p:animEffect>
                                  </p:childTnLst>
                                </p:cTn>
                              </p:par>
                            </p:childTnLst>
                          </p:cTn>
                        </p:par>
                      </p:childTnLst>
                    </p:cTn>
                  </p:par>
                  <p:par>
                    <p:cTn id="79" fill="hold">
                      <p:stCondLst>
                        <p:cond delay="indefinite"/>
                      </p:stCondLst>
                      <p:childTnLst>
                        <p:par>
                          <p:cTn id="80"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700"/>
                                        <p:tgtEl>
                                          <p:spTgt spid="14"/>
                                        </p:tgtEl>
                                      </p:cBhvr>
                                    </p:animEffect>
                                    <p:anim calcmode="lin" valueType="num">
                                      <p:cBhvr additive="base">
                                        <p:cTn id="38" dur="700" fill="hold"/>
                                        <p:tgtEl>
                                          <p:spTgt spid="14"/>
                                        </p:tgtEl>
                                        <p:attrNameLst>
                                          <p:attrName>ppt_y</p:attrName>
                                        </p:attrNameLst>
                                      </p:cBhvr>
                                      <p:tavLst>
                                        <p:tav tm="0">
                                          <p:val>
                                            <p:strVal val="#ppt_y+.0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700"/>
                                        <p:tgtEl>
                                          <p:spTgt spid="15"/>
                                        </p:tgtEl>
                                      </p:cBhvr>
                                    </p:animEffect>
                                    <p:anim calcmode="lin" valueType="num">
                                      <p:cBhvr additive="base">
                                        <p:cTn id="42" dur="700" fill="hold"/>
                                        <p:tgtEl>
                                          <p:spTgt spid="15"/>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700"/>
                                        <p:tgtEl>
                                          <p:spTgt spid="16"/>
                                        </p:tgtEl>
                                      </p:cBhvr>
                                    </p:animEffect>
                                    <p:anim calcmode="lin" valueType="num">
                                      <p:cBhvr additive="base">
                                        <p:cTn id="46" dur="700" fill="hold"/>
                                        <p:tgtEl>
                                          <p:spTgt spid="16"/>
                                        </p:tgtEl>
                                        <p:attrNameLst>
                                          <p:attrName>ppt_y</p:attrName>
                                        </p:attrNameLst>
                                      </p:cBhvr>
                                      <p:tavLst>
                                        <p:tav tm="0">
                                          <p:val>
                                            <p:strVal val="#ppt_y+.0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700"/>
                                        <p:tgtEl>
                                          <p:spTgt spid="17"/>
                                        </p:tgtEl>
                                      </p:cBhvr>
                                    </p:animEffect>
                                    <p:anim calcmode="lin" valueType="num">
                                      <p:cBhvr additive="base">
                                        <p:cTn id="50" dur="700" fill="hold"/>
                                        <p:tgtEl>
                                          <p:spTgt spid="17"/>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700"/>
                                        <p:tgtEl>
                                          <p:spTgt spid="18"/>
                                        </p:tgtEl>
                                      </p:cBhvr>
                                    </p:animEffect>
                                    <p:anim calcmode="lin" valueType="num">
                                      <p:cBhvr additive="base">
                                        <p:cTn id="54" dur="700" fill="hold"/>
                                        <p:tgtEl>
                                          <p:spTgt spid="18"/>
                                        </p:tgtEl>
                                        <p:attrNameLst>
                                          <p:attrName>ppt_y</p:attrName>
                                        </p:attrNameLst>
                                      </p:cBhvr>
                                      <p:tavLst>
                                        <p:tav tm="0">
                                          <p:val>
                                            <p:strVal val="#ppt_y+.0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700"/>
                                        <p:tgtEl>
                                          <p:spTgt spid="19"/>
                                        </p:tgtEl>
                                      </p:cBhvr>
                                    </p:animEffect>
                                    <p:anim calcmode="lin" valueType="num">
                                      <p:cBhvr additive="base">
                                        <p:cTn id="58" dur="700" fill="hold"/>
                                        <p:tgtEl>
                                          <p:spTgt spid="19"/>
                                        </p:tgtEl>
                                        <p:attrNameLst>
                                          <p:attrName>ppt_y</p:attrName>
                                        </p:attrNameLst>
                                      </p:cBhvr>
                                      <p:tavLst>
                                        <p:tav tm="0">
                                          <p:val>
                                            <p:strVal val="#ppt_y+.0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700"/>
                                        <p:tgtEl>
                                          <p:spTgt spid="20"/>
                                        </p:tgtEl>
                                      </p:cBhvr>
                                    </p:animEffect>
                                    <p:anim calcmode="lin" valueType="num">
                                      <p:cBhvr additive="base">
                                        <p:cTn id="62" dur="700" fill="hold"/>
                                        <p:tgtEl>
                                          <p:spTgt spid="20"/>
                                        </p:tgtEl>
                                        <p:attrNameLst>
                                          <p:attrName>ppt_y</p:attrName>
                                        </p:attrNameLst>
                                      </p:cBhvr>
                                      <p:tavLst>
                                        <p:tav tm="0">
                                          <p:val>
                                            <p:strVal val="#ppt_y+.08"/>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700"/>
                                        <p:tgtEl>
                                          <p:spTgt spid="21"/>
                                        </p:tgtEl>
                                      </p:cBhvr>
                                    </p:animEffect>
                                    <p:anim calcmode="lin" valueType="num">
                                      <p:cBhvr additive="base">
                                        <p:cTn id="66" dur="700" fill="hold"/>
                                        <p:tgtEl>
                                          <p:spTgt spid="21"/>
                                        </p:tgtEl>
                                        <p:attrNameLst>
                                          <p:attrName>ppt_y</p:attrName>
                                        </p:attrNameLst>
                                      </p:cBhvr>
                                      <p:tavLst>
                                        <p:tav tm="0">
                                          <p:val>
                                            <p:strVal val="#ppt_y+.08"/>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700"/>
                                        <p:tgtEl>
                                          <p:spTgt spid="22"/>
                                        </p:tgtEl>
                                      </p:cBhvr>
                                    </p:animEffect>
                                    <p:anim calcmode="lin" valueType="num">
                                      <p:cBhvr additive="base">
                                        <p:cTn id="70" dur="700" fill="hold"/>
                                        <p:tgtEl>
                                          <p:spTgt spid="22"/>
                                        </p:tgtEl>
                                        <p:attrNameLst>
                                          <p:attrName>ppt_y</p:attrName>
                                        </p:attrNameLst>
                                      </p:cBhvr>
                                      <p:tavLst>
                                        <p:tav tm="0">
                                          <p:val>
                                            <p:strVal val="#ppt_y+.08"/>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700"/>
                                        <p:tgtEl>
                                          <p:spTgt spid="23"/>
                                        </p:tgtEl>
                                      </p:cBhvr>
                                    </p:animEffect>
                                    <p:anim calcmode="lin" valueType="num">
                                      <p:cBhvr additive="base">
                                        <p:cTn id="74" dur="700" fill="hold"/>
                                        <p:tgtEl>
                                          <p:spTgt spid="23"/>
                                        </p:tgtEl>
                                        <p:attrNameLst>
                                          <p:attrName>ppt_y</p:attrName>
                                        </p:attrNameLst>
                                      </p:cBhvr>
                                      <p:tavLst>
                                        <p:tav tm="0">
                                          <p:val>
                                            <p:strVal val="#ppt_y+.08"/>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700"/>
                                        <p:tgtEl>
                                          <p:spTgt spid="24"/>
                                        </p:tgtEl>
                                      </p:cBhvr>
                                    </p:animEffect>
                                    <p:anim calcmode="lin" valueType="num">
                                      <p:cBhvr additive="base">
                                        <p:cTn id="78" dur="700" fill="hold"/>
                                        <p:tgtEl>
                                          <p:spTgt spid="24"/>
                                        </p:tgtEl>
                                        <p:attrNameLst>
                                          <p:attrName>ppt_y</p:attrName>
                                        </p:attrNameLst>
                                      </p:cBhvr>
                                      <p:tavLst>
                                        <p:tav tm="0">
                                          <p:val>
                                            <p:strVal val="#ppt_y+.08"/>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500"/>
                                        <p:tgtEl>
                                          <p:spTgt spid="26"/>
                                        </p:tgtEl>
                                      </p:cBhvr>
                                    </p:animEffect>
                                  </p:childTnLst>
                                </p:cTn>
                              </p:par>
                            </p:childTnLst>
                          </p:cTn>
                        </p:par>
                      </p:childTnLst>
                    </p:cTn>
                  </p:par>
                  <p:par>
                    <p:cTn id="97" fill="hold">
                      <p:stCondLst>
                        <p:cond delay="indefinite"/>
                      </p:stCondLst>
                      <p:childTnLst>
                        <p:par>
                          <p:cTn id="98" fill="hold">
                            <p:stCondLst>
                              <p:cond delay="0"/>
                            </p:stCondLst>
                            <p:childTnLst>
                              <p:par>
                                <p:cTn id="89" presetID="23" presetClass="entr" presetSubtype="16" fill="hold" grpId="0" nodeType="clickEffect">
                                  <p:stCondLst>
                                    <p:cond delay="0"/>
                                  </p:stCondLst>
                                  <p:childTnLst>
                                    <p:set>
                                      <p:cBhvr>
                                        <p:cTn id="90" dur="1" fill="hold">
                                          <p:stCondLst>
                                            <p:cond delay="0"/>
                                          </p:stCondLst>
                                        </p:cTn>
                                        <p:tgtEl>
                                          <p:spTgt spid="27"/>
                                        </p:tgtEl>
                                        <p:attrNameLst>
                                          <p:attrName>style.visibility</p:attrName>
                                        </p:attrNameLst>
                                      </p:cBhvr>
                                      <p:to>
                                        <p:strVal val="visible"/>
                                      </p:to>
                                    </p:set>
                                    <p:animScale>
                                      <p:cBhvr>
                                        <p:cTn id="91" dur="500" fill="hold"/>
                                        <p:tgtEl>
                                          <p:spTgt spid="27"/>
                                        </p:tgtEl>
                                      </p:cBhvr>
                                      <p:from x="0" y="0"/>
                                      <p:to x="100000" y="100000"/>
                                    </p:animScale>
                                    <p:animEffect transition="in" filter="fade">
                                      <p:cBhvr>
                                        <p:cTn id="92" dur="500"/>
                                        <p:tgtEl>
                                          <p:spTgt spid="27"/>
                                        </p:tgtEl>
                                      </p:cBhvr>
                                    </p:animEffect>
                                  </p:childTnLst>
                                </p:cTn>
                              </p:par>
                              <p:par>
                                <p:cTn id="93" presetID="23" presetClass="entr" presetSubtype="16"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Scale>
                                      <p:cBhvr>
                                        <p:cTn id="95" dur="500" fill="hold"/>
                                        <p:tgtEl>
                                          <p:spTgt spid="28"/>
                                        </p:tgtEl>
                                      </p:cBhvr>
                                      <p:from x="0" y="0"/>
                                      <p:to x="100000" y="100000"/>
                                    </p:animScale>
                                    <p:animEffect transition="in" filter="fade">
                                      <p:cBhvr>
                                        <p:cTn id="9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tatic"/>
          <p:cNvSpPr txBox="1"/>
          <p:nvPr/>
        </p:nvSpPr>
        <p:spPr>
          <a:xfrm>
            <a:off x="609600" y="819150"/>
            <a:ext cx="6686550" cy="346695"/>
          </a:xfrm>
          <a:prstGeom prst="rect">
            <a:avLst/>
          </a:prstGeom>
          <a:noFill/>
          <a:ln/>
        </p:spPr>
        <p:txBody>
          <a:bodyPr wrap="none" lIns="0" tIns="0" rIns="0" bIns="0" rtlCol="0" anchor="ctr"/>
          <a:lstStyle/>
          <a:p>
            <a:pPr algn="l" indent="0" marL="0">
              <a:lnSpc>
                <a:spcPts val="2730"/>
              </a:lnSpc>
              <a:buNone/>
            </a:pPr>
            <a:r>
              <a:rPr lang="en-US" sz="2100" b="1" dirty="0">
                <a:solidFill>
                  <a:srgbClr val="37352F"/>
                </a:solidFill>
                <a:latin typeface="Noto Sans Thai" pitchFamily="34" charset="0"/>
                <a:ea typeface="Noto Sans Thai" pitchFamily="34" charset="-122"/>
                <a:cs typeface="Noto Sans Thai" pitchFamily="34" charset="-120"/>
              </a:rPr>
              <a:t>บทเรียนทางธุรกิจที่สำคัญ &amp; สรุป</a:t>
            </a:r>
            <a:endParaRPr lang="en-US" sz="2100" dirty="0"/>
          </a:p>
        </p:txBody>
      </p:sp>
      <p:sp>
        <p:nvSpPr>
          <p:cNvPr id="3" name="static"/>
          <p:cNvSpPr txBox="1"/>
          <p:nvPr/>
        </p:nvSpPr>
        <p:spPr>
          <a:xfrm>
            <a:off x="609600" y="1222995"/>
            <a:ext cx="6686550" cy="228600"/>
          </a:xfrm>
          <a:prstGeom prst="rect">
            <a:avLst/>
          </a:prstGeom>
          <a:noFill/>
          <a:ln/>
        </p:spPr>
        <p:txBody>
          <a:bodyPr wrap="none" lIns="0" tIns="0" rIns="0" bIns="0" rtlCol="0" anchor="ctr"/>
          <a:lstStyle/>
          <a:p>
            <a:pPr algn="l" indent="0" marL="0">
              <a:lnSpc>
                <a:spcPts val="1800"/>
              </a:lnSpc>
              <a:buNone/>
            </a:pPr>
            <a:r>
              <a:rPr lang="en-US" sz="1200" dirty="0">
                <a:solidFill>
                  <a:srgbClr val="37352F"/>
                </a:solidFill>
                <a:latin typeface="Noto Sans Thai" pitchFamily="34" charset="0"/>
                <a:ea typeface="Noto Sans Thai" pitchFamily="34" charset="-122"/>
                <a:cs typeface="Noto Sans Thai" pitchFamily="34" charset="-120"/>
              </a:rPr>
              <a:t>สิ่งที่ Business Leader เรียนรู้ได้จาก Starbucks</a:t>
            </a:r>
            <a:endParaRPr lang="en-US" sz="1200" dirty="0"/>
          </a:p>
        </p:txBody>
      </p:sp>
      <p:sp>
        <p:nvSpPr>
          <p:cNvPr id="4" name="static"/>
          <p:cNvSpPr txBox="1"/>
          <p:nvPr/>
        </p:nvSpPr>
        <p:spPr>
          <a:xfrm>
            <a:off x="609600" y="457200"/>
            <a:ext cx="4114800"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Part 4 · บทสรุป &amp; MBA Takeaways</a:t>
            </a:r>
            <a:endParaRPr lang="en-US" sz="825" dirty="0"/>
          </a:p>
        </p:txBody>
      </p:sp>
      <p:sp>
        <p:nvSpPr>
          <p:cNvPr id="5" name="!!tkey7-1"/>
          <p:cNvSpPr/>
          <p:nvPr/>
        </p:nvSpPr>
        <p:spPr>
          <a:xfrm>
            <a:off x="6438900" y="419100"/>
            <a:ext cx="2095500" cy="266700"/>
          </a:xfrm>
          <a:prstGeom prst="roundRect">
            <a:avLst>
              <a:gd name="adj" fmla="val 10714"/>
            </a:avLst>
          </a:prstGeom>
          <a:solidFill>
            <a:srgbClr val="FDECC8"/>
          </a:solidFill>
          <a:ln/>
        </p:spPr>
      </p:sp>
      <p:sp>
        <p:nvSpPr>
          <p:cNvPr id="6" name="!!tkey7-2"/>
          <p:cNvSpPr txBox="1"/>
          <p:nvPr/>
        </p:nvSpPr>
        <p:spPr>
          <a:xfrm>
            <a:off x="6438900" y="419100"/>
            <a:ext cx="2095500" cy="266700"/>
          </a:xfrm>
          <a:prstGeom prst="rect">
            <a:avLst/>
          </a:prstGeom>
          <a:noFill/>
          <a:ln/>
        </p:spPr>
        <p:txBody>
          <a:bodyPr wrap="none" lIns="114300" tIns="0" rIns="114300" bIns="0" rtlCol="0" anchor="ctr"/>
          <a:lstStyle/>
          <a:p>
            <a:pPr algn="ctr" indent="0" marL="0">
              <a:lnSpc>
                <a:spcPts val="1350"/>
              </a:lnSpc>
              <a:buNone/>
            </a:pPr>
            <a:r>
              <a:rPr lang="en-US" sz="900" b="1" dirty="0">
                <a:solidFill>
                  <a:srgbClr val="402C1B"/>
                </a:solidFill>
                <a:latin typeface="Noto Sans Thai" pitchFamily="34" charset="0"/>
                <a:ea typeface="Noto Sans Thai" pitchFamily="34" charset="-122"/>
                <a:cs typeface="Noto Sans Thai" pitchFamily="34" charset="-120"/>
              </a:rPr>
              <a:t>บทเรียนสำหรับ Business Leaders</a:t>
            </a:r>
            <a:endParaRPr lang="en-US" sz="900" dirty="0"/>
          </a:p>
        </p:txBody>
      </p:sp>
      <p:sp>
        <p:nvSpPr>
          <p:cNvPr id="7" name="b1:rise"/>
          <p:cNvSpPr/>
          <p:nvPr/>
        </p:nvSpPr>
        <p:spPr>
          <a:xfrm>
            <a:off x="609600" y="1676400"/>
            <a:ext cx="2566988" cy="1257300"/>
          </a:xfrm>
          <a:prstGeom prst="roundRect">
            <a:avLst>
              <a:gd name="adj" fmla="val 3030"/>
            </a:avLst>
          </a:prstGeom>
          <a:solidFill>
            <a:srgbClr val="FFFFFF"/>
          </a:solidFill>
          <a:ln w="6350">
            <a:solidFill>
              <a:srgbClr val="E9E9E7"/>
            </a:solidFill>
            <a:prstDash val="solid"/>
          </a:ln>
        </p:spPr>
      </p:sp>
      <p:sp>
        <p:nvSpPr>
          <p:cNvPr id="8" name="b1:rise"/>
          <p:cNvSpPr txBox="1"/>
          <p:nvPr/>
        </p:nvSpPr>
        <p:spPr>
          <a:xfrm>
            <a:off x="766763" y="1833562"/>
            <a:ext cx="2432876"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บทเรียนที่ 1</a:t>
            </a:r>
            <a:endParaRPr lang="en-US" sz="825" dirty="0"/>
          </a:p>
        </p:txBody>
      </p:sp>
      <p:sp>
        <p:nvSpPr>
          <p:cNvPr id="9" name="b1:rise"/>
          <p:cNvSpPr txBox="1"/>
          <p:nvPr/>
        </p:nvSpPr>
        <p:spPr>
          <a:xfrm>
            <a:off x="766763" y="2027858"/>
            <a:ext cx="2432876" cy="226665"/>
          </a:xfrm>
          <a:prstGeom prst="rect">
            <a:avLst/>
          </a:prstGeom>
          <a:noFill/>
          <a:ln/>
        </p:spPr>
        <p:txBody>
          <a:bodyPr wrap="none" lIns="0" tIns="0" rIns="0" bIns="0" rtlCol="0" anchor="ctr"/>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Product vs. Experience</a:t>
            </a:r>
            <a:endParaRPr lang="en-US" sz="1275" dirty="0"/>
          </a:p>
        </p:txBody>
      </p:sp>
      <p:sp>
        <p:nvSpPr>
          <p:cNvPr id="10" name="b1:rise"/>
          <p:cNvSpPr txBox="1"/>
          <p:nvPr/>
        </p:nvSpPr>
        <p:spPr>
          <a:xfrm>
            <a:off x="766763" y="2302148"/>
            <a:ext cx="2342769" cy="597843"/>
          </a:xfrm>
          <a:prstGeom prst="rect">
            <a:avLst/>
          </a:prstGeom>
          <a:noFill/>
          <a:ln/>
        </p:spPr>
        <p:txBody>
          <a:bodyPr wrap="square" lIns="0" tIns="0" rIns="0" bIns="0" rtlCol="0" anchor="t"/>
          <a:lstStyle/>
          <a:p>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Product ถูกทำให้เป็น Commodity ได้ แต่ Brand Experience สร้าง Competitive Moat</a:t>
            </a:r>
            <a:endParaRPr lang="en-US" sz="1013" dirty="0"/>
          </a:p>
        </p:txBody>
      </p:sp>
      <p:sp>
        <p:nvSpPr>
          <p:cNvPr id="11" name="b2:rise"/>
          <p:cNvSpPr/>
          <p:nvPr/>
        </p:nvSpPr>
        <p:spPr>
          <a:xfrm>
            <a:off x="3290887" y="1676400"/>
            <a:ext cx="2566988" cy="1257300"/>
          </a:xfrm>
          <a:prstGeom prst="roundRect">
            <a:avLst>
              <a:gd name="adj" fmla="val 3030"/>
            </a:avLst>
          </a:prstGeom>
          <a:solidFill>
            <a:srgbClr val="FFFFFF"/>
          </a:solidFill>
          <a:ln w="6350">
            <a:solidFill>
              <a:srgbClr val="E9E9E7"/>
            </a:solidFill>
            <a:prstDash val="solid"/>
          </a:ln>
        </p:spPr>
      </p:sp>
      <p:sp>
        <p:nvSpPr>
          <p:cNvPr id="12" name="b2:rise"/>
          <p:cNvSpPr txBox="1"/>
          <p:nvPr/>
        </p:nvSpPr>
        <p:spPr>
          <a:xfrm>
            <a:off x="3448050" y="1833562"/>
            <a:ext cx="2432876"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บทเรียนที่ 2</a:t>
            </a:r>
            <a:endParaRPr lang="en-US" sz="825" dirty="0"/>
          </a:p>
        </p:txBody>
      </p:sp>
      <p:sp>
        <p:nvSpPr>
          <p:cNvPr id="13" name="b2:rise"/>
          <p:cNvSpPr txBox="1"/>
          <p:nvPr/>
        </p:nvSpPr>
        <p:spPr>
          <a:xfrm>
            <a:off x="3448050" y="2027858"/>
            <a:ext cx="2432876" cy="226665"/>
          </a:xfrm>
          <a:prstGeom prst="rect">
            <a:avLst/>
          </a:prstGeom>
          <a:noFill/>
          <a:ln/>
        </p:spPr>
        <p:txBody>
          <a:bodyPr wrap="none" lIns="0" tIns="0" rIns="0" bIns="0" rtlCol="0" anchor="ctr"/>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Authenticity &amp; Consistency</a:t>
            </a:r>
            <a:endParaRPr lang="en-US" sz="1275" dirty="0"/>
          </a:p>
        </p:txBody>
      </p:sp>
      <p:sp>
        <p:nvSpPr>
          <p:cNvPr id="14" name="b2:rise"/>
          <p:cNvSpPr txBox="1"/>
          <p:nvPr/>
        </p:nvSpPr>
        <p:spPr>
          <a:xfrm>
            <a:off x="3448050" y="2302148"/>
            <a:ext cx="2342769" cy="398562"/>
          </a:xfrm>
          <a:prstGeom prst="rect">
            <a:avLst/>
          </a:prstGeom>
          <a:noFill/>
          <a:ln/>
        </p:spPr>
        <p:txBody>
          <a:bodyPr wrap="square" lIns="0" tIns="0" rIns="0" bIns="0" rtlCol="0" anchor="t"/>
          <a:lstStyle/>
          <a:p>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Core Brand Values ต้องคงที่ แม้ขยายทั่วโลกอย่างรวดเร็ว</a:t>
            </a:r>
            <a:endParaRPr lang="en-US" sz="1013" dirty="0"/>
          </a:p>
        </p:txBody>
      </p:sp>
      <p:sp>
        <p:nvSpPr>
          <p:cNvPr id="15" name="b3:rise"/>
          <p:cNvSpPr/>
          <p:nvPr/>
        </p:nvSpPr>
        <p:spPr>
          <a:xfrm>
            <a:off x="5972175" y="1676400"/>
            <a:ext cx="2562225" cy="1257300"/>
          </a:xfrm>
          <a:prstGeom prst="roundRect">
            <a:avLst>
              <a:gd name="adj" fmla="val 3030"/>
            </a:avLst>
          </a:prstGeom>
          <a:solidFill>
            <a:srgbClr val="FFFFFF"/>
          </a:solidFill>
          <a:ln w="6350">
            <a:solidFill>
              <a:srgbClr val="E9E9E7"/>
            </a:solidFill>
            <a:prstDash val="solid"/>
          </a:ln>
        </p:spPr>
      </p:sp>
      <p:sp>
        <p:nvSpPr>
          <p:cNvPr id="16" name="b3:rise"/>
          <p:cNvSpPr txBox="1"/>
          <p:nvPr/>
        </p:nvSpPr>
        <p:spPr>
          <a:xfrm>
            <a:off x="6129338" y="1833562"/>
            <a:ext cx="2427732" cy="146670"/>
          </a:xfrm>
          <a:prstGeom prst="rect">
            <a:avLst/>
          </a:prstGeom>
          <a:noFill/>
          <a:ln/>
        </p:spPr>
        <p:txBody>
          <a:bodyPr wrap="none" lIns="0" tIns="0" rIns="0" bIns="0" rtlCol="0" anchor="ctr"/>
          <a:lstStyle/>
          <a:p>
            <a:pPr algn="l" indent="0" marL="0">
              <a:lnSpc>
                <a:spcPts val="1155"/>
              </a:lnSpc>
              <a:buNone/>
            </a:pPr>
            <a:r>
              <a:rPr lang="en-US" sz="825" b="1" dirty="0">
                <a:solidFill>
                  <a:srgbClr val="787774"/>
                </a:solidFill>
                <a:latin typeface="Noto Sans Thai" pitchFamily="34" charset="0"/>
                <a:ea typeface="Noto Sans Thai" pitchFamily="34" charset="-122"/>
                <a:cs typeface="Noto Sans Thai" pitchFamily="34" charset="-120"/>
              </a:rPr>
              <a:t>บทเรียนที่ 3</a:t>
            </a:r>
            <a:endParaRPr lang="en-US" sz="825" dirty="0"/>
          </a:p>
        </p:txBody>
      </p:sp>
      <p:sp>
        <p:nvSpPr>
          <p:cNvPr id="17" name="b3:rise"/>
          <p:cNvSpPr txBox="1"/>
          <p:nvPr/>
        </p:nvSpPr>
        <p:spPr>
          <a:xfrm>
            <a:off x="6129338" y="2027858"/>
            <a:ext cx="2427732" cy="226665"/>
          </a:xfrm>
          <a:prstGeom prst="rect">
            <a:avLst/>
          </a:prstGeom>
          <a:noFill/>
          <a:ln/>
        </p:spPr>
        <p:txBody>
          <a:bodyPr wrap="none" lIns="0" tIns="0" rIns="0" bIns="0" rtlCol="0" anchor="ctr"/>
          <a:lstStyle/>
          <a:p>
            <a:pPr algn="l" indent="0" marL="0">
              <a:lnSpc>
                <a:spcPts val="1785"/>
              </a:lnSpc>
              <a:buNone/>
            </a:pPr>
            <a:r>
              <a:rPr lang="en-US" sz="1275" b="1" dirty="0">
                <a:solidFill>
                  <a:srgbClr val="37352F"/>
                </a:solidFill>
                <a:latin typeface="Noto Sans Thai" pitchFamily="34" charset="0"/>
                <a:ea typeface="Noto Sans Thai" pitchFamily="34" charset="-122"/>
                <a:cs typeface="Noto Sans Thai" pitchFamily="34" charset="-120"/>
              </a:rPr>
              <a:t>Strategic Adaptability</a:t>
            </a:r>
            <a:endParaRPr lang="en-US" sz="1275" dirty="0"/>
          </a:p>
        </p:txBody>
      </p:sp>
      <p:sp>
        <p:nvSpPr>
          <p:cNvPr id="18" name="b3:rise"/>
          <p:cNvSpPr txBox="1"/>
          <p:nvPr/>
        </p:nvSpPr>
        <p:spPr>
          <a:xfrm>
            <a:off x="6129338" y="2302148"/>
            <a:ext cx="2337816" cy="597843"/>
          </a:xfrm>
          <a:prstGeom prst="rect">
            <a:avLst/>
          </a:prstGeom>
          <a:noFill/>
          <a:ln/>
        </p:spPr>
        <p:txBody>
          <a:bodyPr wrap="square" lIns="0" tIns="0" rIns="0" bIns="0" rtlCol="0" anchor="t"/>
          <a:lstStyle/>
          <a:p>
            <a:pPr algn="l" indent="0" marL="0">
              <a:lnSpc>
                <a:spcPts val="1569"/>
              </a:lnSpc>
              <a:buNone/>
            </a:pPr>
            <a:r>
              <a:rPr lang="en-US" sz="1013" dirty="0">
                <a:solidFill>
                  <a:srgbClr val="37352F"/>
                </a:solidFill>
                <a:latin typeface="Noto Sans Thai" pitchFamily="34" charset="0"/>
                <a:ea typeface="Noto Sans Thai" pitchFamily="34" charset="-122"/>
                <a:cs typeface="Noto Sans Thai" pitchFamily="34" charset="-120"/>
              </a:rPr>
              <a:t>ผสานบรรยากาศ Third Place แบบ Physical เข้ากับ Digital Ecosystem ที่ล้ำสมัย</a:t>
            </a:r>
            <a:endParaRPr lang="en-US" sz="1013" dirty="0"/>
          </a:p>
        </p:txBody>
      </p:sp>
      <p:sp>
        <p:nvSpPr>
          <p:cNvPr id="19" name="b4:fade"/>
          <p:cNvSpPr/>
          <p:nvPr/>
        </p:nvSpPr>
        <p:spPr>
          <a:xfrm>
            <a:off x="609600" y="3048000"/>
            <a:ext cx="7924800" cy="838200"/>
          </a:xfrm>
          <a:prstGeom prst="rect">
            <a:avLst/>
          </a:prstGeom>
          <a:solidFill>
            <a:srgbClr val="F7F7F5"/>
          </a:solidFill>
          <a:ln/>
        </p:spPr>
      </p:sp>
      <p:sp>
        <p:nvSpPr>
          <p:cNvPr id="20" name="b4:fade"/>
          <p:cNvSpPr txBox="1"/>
          <p:nvPr/>
        </p:nvSpPr>
        <p:spPr>
          <a:xfrm>
            <a:off x="866775" y="3181350"/>
            <a:ext cx="274695" cy="571500"/>
          </a:xfrm>
          <a:prstGeom prst="rect">
            <a:avLst/>
          </a:prstGeom>
          <a:noFill/>
          <a:ln/>
        </p:spPr>
        <p:txBody>
          <a:bodyPr wrap="none" lIns="0" tIns="0" rIns="0" bIns="0" rtlCol="0" anchor="ctr"/>
          <a:lstStyle/>
          <a:p>
            <a:pPr algn="l" indent="0" marL="0">
              <a:lnSpc>
                <a:spcPts val="4500"/>
              </a:lnSpc>
              <a:buNone/>
            </a:pPr>
            <a:r>
              <a:rPr lang="en-US" sz="4500" b="1" dirty="0">
                <a:solidFill>
                  <a:srgbClr val="B9B9B7"/>
                </a:solidFill>
                <a:latin typeface="Noto Sans Thai" pitchFamily="34" charset="0"/>
                <a:ea typeface="Noto Sans Thai" pitchFamily="34" charset="-122"/>
                <a:cs typeface="Noto Sans Thai" pitchFamily="34" charset="-120"/>
              </a:rPr>
              <a:t>“</a:t>
            </a:r>
            <a:endParaRPr lang="en-US" sz="4500" dirty="0"/>
          </a:p>
        </p:txBody>
      </p:sp>
      <p:sp>
        <p:nvSpPr>
          <p:cNvPr id="21" name="b4:fade"/>
          <p:cNvSpPr txBox="1"/>
          <p:nvPr/>
        </p:nvSpPr>
        <p:spPr>
          <a:xfrm>
            <a:off x="1254472" y="3349005"/>
            <a:ext cx="7615434" cy="236190"/>
          </a:xfrm>
          <a:prstGeom prst="rect">
            <a:avLst/>
          </a:prstGeom>
          <a:noFill/>
          <a:ln/>
        </p:spPr>
        <p:txBody>
          <a:bodyPr wrap="none" lIns="0" tIns="0" rIns="0" bIns="0" rtlCol="0" anchor="ctr"/>
          <a:lstStyle/>
          <a:p>
            <a:pPr algn="l" indent="0" marL="0">
              <a:lnSpc>
                <a:spcPts val="1860"/>
              </a:lnSpc>
              <a:buNone/>
            </a:pPr>
            <a:r>
              <a:rPr lang="en-US" sz="1200" i="1" dirty="0">
                <a:solidFill>
                  <a:srgbClr val="37352F"/>
                </a:solidFill>
                <a:latin typeface="Noto Sans Thai" pitchFamily="34" charset="0"/>
                <a:ea typeface="Noto Sans Thai" pitchFamily="34" charset="-122"/>
                <a:cs typeface="Noto Sans Thai" pitchFamily="34" charset="-120"/>
              </a:rPr>
              <a:t>ในโลกที่ Digital และโดดเดี่ยวมากขึ้นทุกที ความโหยหา Human Connection ที่แท้จริงไม่เคยยิ่งใหญ่เท่านี้มาก่อน</a:t>
            </a:r>
            <a:endParaRPr lang="en-US" sz="1200" dirty="0"/>
          </a:p>
        </p:txBody>
      </p:sp>
      <p:sp>
        <p:nvSpPr>
          <p:cNvPr id="22" name="b5:pop"/>
          <p:cNvSpPr txBox="1"/>
          <p:nvPr/>
        </p:nvSpPr>
        <p:spPr>
          <a:xfrm>
            <a:off x="609600" y="4155728"/>
            <a:ext cx="218277" cy="194295"/>
          </a:xfrm>
          <a:prstGeom prst="rect">
            <a:avLst/>
          </a:prstGeom>
          <a:noFill/>
          <a:ln/>
        </p:spPr>
        <p:txBody>
          <a:bodyPr wrap="none" lIns="0" tIns="0" rIns="0" bIns="0" rtlCol="0" anchor="ctr"/>
          <a:lstStyle/>
          <a:p>
            <a:pPr algn="l" indent="0" marL="0">
              <a:lnSpc>
                <a:spcPts val="1530"/>
              </a:lnSpc>
              <a:buNone/>
            </a:pPr>
            <a:r>
              <a:rPr lang="en-US" sz="1275" dirty="0">
                <a:solidFill>
                  <a:srgbClr val="37352F"/>
                </a:solidFill>
                <a:latin typeface="Noto Sans Thai" pitchFamily="34" charset="0"/>
                <a:ea typeface="Noto Sans Thai" pitchFamily="34" charset="-122"/>
                <a:cs typeface="Noto Sans Thai" pitchFamily="34" charset="-120"/>
              </a:rPr>
              <a:t>💬</a:t>
            </a:r>
            <a:endParaRPr lang="en-US" sz="1275" dirty="0"/>
          </a:p>
        </p:txBody>
      </p:sp>
      <p:sp>
        <p:nvSpPr>
          <p:cNvPr id="23" name="b5:pop"/>
          <p:cNvSpPr txBox="1"/>
          <p:nvPr/>
        </p:nvSpPr>
        <p:spPr>
          <a:xfrm>
            <a:off x="887909" y="4152900"/>
            <a:ext cx="8258211" cy="200025"/>
          </a:xfrm>
          <a:prstGeom prst="rect">
            <a:avLst/>
          </a:prstGeom>
          <a:noFill/>
          <a:ln/>
        </p:spPr>
        <p:txBody>
          <a:bodyPr wrap="none" lIns="0" tIns="0" rIns="0" bIns="0" rtlCol="0" anchor="ctr"/>
          <a:lstStyle/>
          <a:p>
            <a:pPr algn="l" indent="0" marL="0">
              <a:lnSpc>
                <a:spcPts val="1575"/>
              </a:lnSpc>
              <a:buNone/>
            </a:pPr>
            <a:r>
              <a:rPr lang="en-US" sz="1125" b="1" dirty="0">
                <a:solidFill>
                  <a:srgbClr val="37352F"/>
                </a:solidFill>
                <a:latin typeface="Noto Sans Thai" pitchFamily="34" charset="0"/>
                <a:ea typeface="Noto Sans Thai" pitchFamily="34" charset="-122"/>
                <a:cs typeface="Noto Sans Thai" pitchFamily="34" charset="-120"/>
              </a:rPr>
              <a:t>ขอบคุณครับ/ค่ะ ยินดีรับทุกคำถามจากเพื่อน ๆ ในชั้นเรียน</a:t>
            </a:r>
            <a:endParaRPr lang="en-US" sz="1125" dirty="0"/>
          </a:p>
        </p:txBody>
      </p:sp>
      <p:sp>
        <p:nvSpPr>
          <p:cNvPr id="24" name="static"/>
          <p:cNvSpPr txBox="1"/>
          <p:nvPr/>
        </p:nvSpPr>
        <p:spPr>
          <a:xfrm>
            <a:off x="609600" y="4667250"/>
            <a:ext cx="1836465" cy="171450"/>
          </a:xfrm>
          <a:prstGeom prst="rect">
            <a:avLst/>
          </a:prstGeom>
          <a:noFill/>
          <a:ln/>
        </p:spPr>
        <p:txBody>
          <a:bodyPr wrap="none" lIns="0" tIns="0" rIns="0" bIns="0" rtlCol="0" anchor="ctr"/>
          <a:lstStyle/>
          <a:p>
            <a:pPr algn="l" indent="0" marL="0">
              <a:lnSpc>
                <a:spcPts val="1350"/>
              </a:lnSpc>
              <a:buNone/>
            </a:pPr>
            <a:r>
              <a:rPr lang="en-US" sz="900" dirty="0">
                <a:solidFill>
                  <a:srgbClr val="787774"/>
                </a:solidFill>
                <a:latin typeface="Noto Sans Thai" pitchFamily="34" charset="0"/>
                <a:ea typeface="Noto Sans Thai" pitchFamily="34" charset="-122"/>
                <a:cs typeface="Noto Sans Thai" pitchFamily="34" charset="-120"/>
              </a:rPr>
              <a:t>สไลด์ 8 จาก 8 · Part 4 · MBA Lessons</a:t>
            </a:r>
            <a:endParaRPr lang="en-US" sz="900" dirty="0"/>
          </a:p>
        </p:txBody>
      </p:sp>
      <p:sp>
        <p:nvSpPr>
          <p:cNvPr id="25" name="static"/>
          <p:cNvSpPr/>
          <p:nvPr/>
        </p:nvSpPr>
        <p:spPr>
          <a:xfrm>
            <a:off x="2636565" y="4724400"/>
            <a:ext cx="57150" cy="57150"/>
          </a:xfrm>
          <a:prstGeom prst="roundRect">
            <a:avLst>
              <a:gd name="adj" fmla="val 50000"/>
            </a:avLst>
          </a:prstGeom>
          <a:solidFill>
            <a:srgbClr val="787774"/>
          </a:solidFill>
          <a:ln/>
        </p:spPr>
      </p:sp>
      <p:sp>
        <p:nvSpPr>
          <p:cNvPr id="26" name="static"/>
          <p:cNvSpPr/>
          <p:nvPr/>
        </p:nvSpPr>
        <p:spPr>
          <a:xfrm>
            <a:off x="2741340" y="4724400"/>
            <a:ext cx="57150" cy="57150"/>
          </a:xfrm>
          <a:prstGeom prst="roundRect">
            <a:avLst>
              <a:gd name="adj" fmla="val 50000"/>
            </a:avLst>
          </a:prstGeom>
          <a:solidFill>
            <a:srgbClr val="787774"/>
          </a:solidFill>
          <a:ln/>
        </p:spPr>
      </p:sp>
      <p:sp>
        <p:nvSpPr>
          <p:cNvPr id="27" name="static"/>
          <p:cNvSpPr/>
          <p:nvPr/>
        </p:nvSpPr>
        <p:spPr>
          <a:xfrm>
            <a:off x="2846115" y="4724400"/>
            <a:ext cx="57150" cy="57150"/>
          </a:xfrm>
          <a:prstGeom prst="roundRect">
            <a:avLst>
              <a:gd name="adj" fmla="val 50000"/>
            </a:avLst>
          </a:prstGeom>
          <a:solidFill>
            <a:srgbClr val="787774"/>
          </a:solidFill>
          <a:ln/>
        </p:spPr>
      </p:sp>
      <p:sp>
        <p:nvSpPr>
          <p:cNvPr id="28" name="static"/>
          <p:cNvSpPr/>
          <p:nvPr/>
        </p:nvSpPr>
        <p:spPr>
          <a:xfrm>
            <a:off x="2950890" y="4724400"/>
            <a:ext cx="57150" cy="57150"/>
          </a:xfrm>
          <a:prstGeom prst="roundRect">
            <a:avLst>
              <a:gd name="adj" fmla="val 50000"/>
            </a:avLst>
          </a:prstGeom>
          <a:solidFill>
            <a:srgbClr val="787774"/>
          </a:solidFill>
          <a:ln/>
        </p:spPr>
      </p:sp>
      <p:sp>
        <p:nvSpPr>
          <p:cNvPr id="29" name="static"/>
          <p:cNvSpPr/>
          <p:nvPr/>
        </p:nvSpPr>
        <p:spPr>
          <a:xfrm>
            <a:off x="3055665" y="4724400"/>
            <a:ext cx="57150" cy="57150"/>
          </a:xfrm>
          <a:prstGeom prst="roundRect">
            <a:avLst>
              <a:gd name="adj" fmla="val 50000"/>
            </a:avLst>
          </a:prstGeom>
          <a:solidFill>
            <a:srgbClr val="787774"/>
          </a:solidFill>
          <a:ln/>
        </p:spPr>
      </p:sp>
      <p:sp>
        <p:nvSpPr>
          <p:cNvPr id="30" name="static"/>
          <p:cNvSpPr/>
          <p:nvPr/>
        </p:nvSpPr>
        <p:spPr>
          <a:xfrm>
            <a:off x="3160440" y="4724400"/>
            <a:ext cx="57150" cy="57150"/>
          </a:xfrm>
          <a:prstGeom prst="roundRect">
            <a:avLst>
              <a:gd name="adj" fmla="val 50000"/>
            </a:avLst>
          </a:prstGeom>
          <a:solidFill>
            <a:srgbClr val="787774"/>
          </a:solidFill>
          <a:ln/>
        </p:spPr>
      </p:sp>
      <p:sp>
        <p:nvSpPr>
          <p:cNvPr id="31" name="static"/>
          <p:cNvSpPr/>
          <p:nvPr/>
        </p:nvSpPr>
        <p:spPr>
          <a:xfrm>
            <a:off x="3265215" y="4724400"/>
            <a:ext cx="57150" cy="57150"/>
          </a:xfrm>
          <a:prstGeom prst="roundRect">
            <a:avLst>
              <a:gd name="adj" fmla="val 50000"/>
            </a:avLst>
          </a:prstGeom>
          <a:solidFill>
            <a:srgbClr val="787774"/>
          </a:solidFill>
          <a:ln/>
        </p:spPr>
      </p:sp>
      <p:sp>
        <p:nvSpPr>
          <p:cNvPr id="32" name="static"/>
          <p:cNvSpPr/>
          <p:nvPr/>
        </p:nvSpPr>
        <p:spPr>
          <a:xfrm>
            <a:off x="3369990" y="4724400"/>
            <a:ext cx="171450" cy="57150"/>
          </a:xfrm>
          <a:prstGeom prst="roundRect">
            <a:avLst>
              <a:gd name="adj" fmla="val 50000"/>
            </a:avLst>
          </a:prstGeom>
          <a:solidFill>
            <a:srgbClr val="37352F"/>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700"/>
                                        <p:tgtEl>
                                          <p:spTgt spid="7"/>
                                        </p:tgtEl>
                                      </p:cBhvr>
                                    </p:animEffect>
                                    <p:anim calcmode="lin" valueType="num">
                                      <p:cBhvr additive="base">
                                        <p:cTn id="6" dur="700" fill="hold"/>
                                        <p:tgtEl>
                                          <p:spTgt spid="7"/>
                                        </p:tgtEl>
                                        <p:attrNameLst>
                                          <p:attrName>ppt_y</p:attrName>
                                        </p:attrNameLst>
                                      </p:cBhvr>
                                      <p:tavLst>
                                        <p:tav tm="0">
                                          <p:val>
                                            <p:strVal val="#ppt_y+.08"/>
                                          </p:val>
                                        </p:tav>
                                        <p:tav tm="100000">
                                          <p:val>
                                            <p:strVal val="#ppt_y"/>
                                          </p:val>
                                        </p:tav>
                                      </p:tavLst>
                                    </p:anim>
                                  </p:childTnLst>
                                </p:cTn>
                              </p:par>
                              <p:par>
                                <p:cTn id="7" presetID="42"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700"/>
                                        <p:tgtEl>
                                          <p:spTgt spid="8"/>
                                        </p:tgtEl>
                                      </p:cBhvr>
                                    </p:animEffect>
                                    <p:anim calcmode="lin" valueType="num">
                                      <p:cBhvr additive="base">
                                        <p:cTn id="10" dur="700" fill="hold"/>
                                        <p:tgtEl>
                                          <p:spTgt spid="8"/>
                                        </p:tgtEl>
                                        <p:attrNameLst>
                                          <p:attrName>ppt_y</p:attrName>
                                        </p:attrNameLst>
                                      </p:cBhvr>
                                      <p:tavLst>
                                        <p:tav tm="0">
                                          <p:val>
                                            <p:strVal val="#ppt_y+.08"/>
                                          </p:val>
                                        </p:tav>
                                        <p:tav tm="100000">
                                          <p:val>
                                            <p:strVal val="#ppt_y"/>
                                          </p:val>
                                        </p:tav>
                                      </p:tavLst>
                                    </p:anim>
                                  </p:childTnLst>
                                </p:cTn>
                              </p:par>
                              <p:par>
                                <p:cTn id="11" presetID="42"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additive="base">
                                        <p:cTn id="14" dur="700" fill="hold"/>
                                        <p:tgtEl>
                                          <p:spTgt spid="9"/>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anim calcmode="lin" valueType="num">
                                      <p:cBhvr additive="base">
                                        <p:cTn id="18" dur="700" fill="hold"/>
                                        <p:tgtEl>
                                          <p:spTgt spid="10"/>
                                        </p:tgtEl>
                                        <p:attrNameLst>
                                          <p:attrName>ppt_y</p:attrName>
                                        </p:attrNameLst>
                                      </p:cBhvr>
                                      <p:tavLst>
                                        <p:tav tm="0">
                                          <p:val>
                                            <p:strVal val="#ppt_y+.08"/>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700"/>
                                        <p:tgtEl>
                                          <p:spTgt spid="11"/>
                                        </p:tgtEl>
                                      </p:cBhvr>
                                    </p:animEffect>
                                    <p:anim calcmode="lin" valueType="num">
                                      <p:cBhvr additive="base">
                                        <p:cTn id="24" dur="700" fill="hold"/>
                                        <p:tgtEl>
                                          <p:spTgt spid="11"/>
                                        </p:tgtEl>
                                        <p:attrNameLst>
                                          <p:attrName>ppt_y</p:attrName>
                                        </p:attrNameLst>
                                      </p:cBhvr>
                                      <p:tavLst>
                                        <p:tav tm="0">
                                          <p:val>
                                            <p:strVal val="#ppt_y+.08"/>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700"/>
                                        <p:tgtEl>
                                          <p:spTgt spid="12"/>
                                        </p:tgtEl>
                                      </p:cBhvr>
                                    </p:animEffect>
                                    <p:anim calcmode="lin" valueType="num">
                                      <p:cBhvr additive="base">
                                        <p:cTn id="28" dur="700" fill="hold"/>
                                        <p:tgtEl>
                                          <p:spTgt spid="12"/>
                                        </p:tgtEl>
                                        <p:attrNameLst>
                                          <p:attrName>ppt_y</p:attrName>
                                        </p:attrNameLst>
                                      </p:cBhvr>
                                      <p:tavLst>
                                        <p:tav tm="0">
                                          <p:val>
                                            <p:strVal val="#ppt_y+.0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700"/>
                                        <p:tgtEl>
                                          <p:spTgt spid="13"/>
                                        </p:tgtEl>
                                      </p:cBhvr>
                                    </p:animEffect>
                                    <p:anim calcmode="lin" valueType="num">
                                      <p:cBhvr additive="base">
                                        <p:cTn id="32" dur="700" fill="hold"/>
                                        <p:tgtEl>
                                          <p:spTgt spid="13"/>
                                        </p:tgtEl>
                                        <p:attrNameLst>
                                          <p:attrName>ppt_y</p:attrName>
                                        </p:attrNameLst>
                                      </p:cBhvr>
                                      <p:tavLst>
                                        <p:tav tm="0">
                                          <p:val>
                                            <p:strVal val="#ppt_y+.0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700"/>
                                        <p:tgtEl>
                                          <p:spTgt spid="14"/>
                                        </p:tgtEl>
                                      </p:cBhvr>
                                    </p:animEffect>
                                    <p:anim calcmode="lin" valueType="num">
                                      <p:cBhvr additive="base">
                                        <p:cTn id="36" dur="700" fill="hold"/>
                                        <p:tgtEl>
                                          <p:spTgt spid="14"/>
                                        </p:tgtEl>
                                        <p:attrNameLst>
                                          <p:attrName>ppt_y</p:attrName>
                                        </p:attrNameLst>
                                      </p:cBhvr>
                                      <p:tavLst>
                                        <p:tav tm="0">
                                          <p:val>
                                            <p:strVal val="#ppt_y+.08"/>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700"/>
                                        <p:tgtEl>
                                          <p:spTgt spid="15"/>
                                        </p:tgtEl>
                                      </p:cBhvr>
                                    </p:animEffect>
                                    <p:anim calcmode="lin" valueType="num">
                                      <p:cBhvr additive="base">
                                        <p:cTn id="42" dur="700" fill="hold"/>
                                        <p:tgtEl>
                                          <p:spTgt spid="15"/>
                                        </p:tgtEl>
                                        <p:attrNameLst>
                                          <p:attrName>ppt_y</p:attrName>
                                        </p:attrNameLst>
                                      </p:cBhvr>
                                      <p:tavLst>
                                        <p:tav tm="0">
                                          <p:val>
                                            <p:strVal val="#ppt_y+.0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700"/>
                                        <p:tgtEl>
                                          <p:spTgt spid="16"/>
                                        </p:tgtEl>
                                      </p:cBhvr>
                                    </p:animEffect>
                                    <p:anim calcmode="lin" valueType="num">
                                      <p:cBhvr additive="base">
                                        <p:cTn id="46" dur="700" fill="hold"/>
                                        <p:tgtEl>
                                          <p:spTgt spid="16"/>
                                        </p:tgtEl>
                                        <p:attrNameLst>
                                          <p:attrName>ppt_y</p:attrName>
                                        </p:attrNameLst>
                                      </p:cBhvr>
                                      <p:tavLst>
                                        <p:tav tm="0">
                                          <p:val>
                                            <p:strVal val="#ppt_y+.0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700"/>
                                        <p:tgtEl>
                                          <p:spTgt spid="17"/>
                                        </p:tgtEl>
                                      </p:cBhvr>
                                    </p:animEffect>
                                    <p:anim calcmode="lin" valueType="num">
                                      <p:cBhvr additive="base">
                                        <p:cTn id="50" dur="700" fill="hold"/>
                                        <p:tgtEl>
                                          <p:spTgt spid="17"/>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700"/>
                                        <p:tgtEl>
                                          <p:spTgt spid="18"/>
                                        </p:tgtEl>
                                      </p:cBhvr>
                                    </p:animEffect>
                                    <p:anim calcmode="lin" valueType="num">
                                      <p:cBhvr additive="base">
                                        <p:cTn id="54" dur="700" fill="hold"/>
                                        <p:tgtEl>
                                          <p:spTgt spid="18"/>
                                        </p:tgtEl>
                                        <p:attrNameLst>
                                          <p:attrName>ppt_y</p:attrName>
                                        </p:attrNameLst>
                                      </p:cBhvr>
                                      <p:tavLst>
                                        <p:tav tm="0">
                                          <p:val>
                                            <p:strVal val="#ppt_y+.08"/>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childTnLst>
                          </p:cTn>
                        </p:par>
                      </p:childTnLst>
                    </p:cTn>
                  </p:par>
                  <p:par>
                    <p:cTn id="76" fill="hold">
                      <p:stCondLst>
                        <p:cond delay="indefinite"/>
                      </p:stCondLst>
                      <p:childTnLst>
                        <p:par>
                          <p:cTn id="77" fill="hold">
                            <p:stCondLst>
                              <p:cond delay="0"/>
                            </p:stCondLst>
                            <p:childTnLst>
                              <p:par>
                                <p:cTn id="68" presetID="23" presetClass="entr" presetSubtype="16" fill="hold" grpId="0" nodeType="clickEffect">
                                  <p:stCondLst>
                                    <p:cond delay="0"/>
                                  </p:stCondLst>
                                  <p:childTnLst>
                                    <p:set>
                                      <p:cBhvr>
                                        <p:cTn id="69" dur="1" fill="hold">
                                          <p:stCondLst>
                                            <p:cond delay="0"/>
                                          </p:stCondLst>
                                        </p:cTn>
                                        <p:tgtEl>
                                          <p:spTgt spid="22"/>
                                        </p:tgtEl>
                                        <p:attrNameLst>
                                          <p:attrName>style.visibility</p:attrName>
                                        </p:attrNameLst>
                                      </p:cBhvr>
                                      <p:to>
                                        <p:strVal val="visible"/>
                                      </p:to>
                                    </p:set>
                                    <p:animScale>
                                      <p:cBhvr>
                                        <p:cTn id="70" dur="500" fill="hold"/>
                                        <p:tgtEl>
                                          <p:spTgt spid="22"/>
                                        </p:tgtEl>
                                      </p:cBhvr>
                                      <p:from x="0" y="0"/>
                                      <p:to x="100000" y="100000"/>
                                    </p:animScale>
                                    <p:animEffect transition="in" filter="fade">
                                      <p:cBhvr>
                                        <p:cTn id="71" dur="500"/>
                                        <p:tgtEl>
                                          <p:spTgt spid="22"/>
                                        </p:tgtEl>
                                      </p:cBhvr>
                                    </p:animEffect>
                                  </p:childTnLst>
                                </p:cTn>
                              </p:par>
                              <p:par>
                                <p:cTn id="72" presetID="23" presetClass="entr" presetSubtype="16"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Scale>
                                      <p:cBhvr>
                                        <p:cTn id="74" dur="500" fill="hold"/>
                                        <p:tgtEl>
                                          <p:spTgt spid="23"/>
                                        </p:tgtEl>
                                      </p:cBhvr>
                                      <p:from x="0" y="0"/>
                                      <p:to x="100000" y="100000"/>
                                    </p:animScale>
                                    <p:animEffect transition="in" filter="fade">
                                      <p:cBhvr>
                                        <p:cTn id="7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Starbucks Storytelling Masterclass</dc:title>
  <dc:subject>PptxGenJS Presentation</dc:subject>
  <dc:creator>Chayanun Sungsa-ard</dc:creator>
  <cp:lastModifiedBy>Chayanun Sungsa-ard</cp:lastModifiedBy>
  <cp:revision>1</cp:revision>
  <dcterms:created xsi:type="dcterms:W3CDTF">2026-10-10T16:22:19Z</dcterms:created>
  <dcterms:modified xsi:type="dcterms:W3CDTF">2026-10-10T16:22:19Z</dcterms:modified>
</cp:coreProperties>
</file>